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5V09M86ySwYXHHFnNuKlPPKgl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17시 15분 강의장으로 모여 주세요.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4조 -&gt; 1조 -&gt; 3조 -&gt; 5조 -&gt; 2조</a:t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사용자 지정 레이아웃">
  <p:cSld name="2_사용자 지정 레이아웃">
    <p:bg>
      <p:bgPr>
        <a:solidFill>
          <a:srgbClr val="4B465E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사용자 지정 레이아웃">
  <p:cSld name="3_사용자 지정 레이아웃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 flipH="1" rot="10800000">
            <a:off x="0" y="6119161"/>
            <a:ext cx="12192000" cy="7417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사용자 지정 레이아웃">
  <p:cSld name="10_사용자 지정 레이아웃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335360" y="1211626"/>
            <a:ext cx="11617291" cy="5001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719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970"/>
              <a:buFont typeface="Arial"/>
              <a:buChar char="•"/>
              <a:defRPr sz="27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96240" lvl="1" marL="914400" algn="l">
              <a:lnSpc>
                <a:spcPct val="130000"/>
              </a:lnSpc>
              <a:spcBef>
                <a:spcPts val="667"/>
              </a:spcBef>
              <a:spcAft>
                <a:spcPts val="0"/>
              </a:spcAft>
              <a:buClr>
                <a:srgbClr val="3F3F3F"/>
              </a:buClr>
              <a:buSzPts val="2640"/>
              <a:buFont typeface="Arial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68300" lvl="2" marL="1371600" algn="l">
              <a:lnSpc>
                <a:spcPct val="130000"/>
              </a:lnSpc>
              <a:spcBef>
                <a:spcPts val="667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0360" lvl="3" marL="1828800" algn="l">
              <a:lnSpc>
                <a:spcPct val="130000"/>
              </a:lnSpc>
              <a:spcBef>
                <a:spcPts val="667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Arial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9405" lvl="4" marL="2286000" algn="l">
              <a:lnSpc>
                <a:spcPct val="130000"/>
              </a:lnSpc>
              <a:spcBef>
                <a:spcPts val="667"/>
              </a:spcBef>
              <a:spcAft>
                <a:spcPts val="0"/>
              </a:spcAft>
              <a:buClr>
                <a:srgbClr val="3F3F3F"/>
              </a:buClr>
              <a:buSzPts val="1430"/>
              <a:buFont typeface="Arial"/>
              <a:buChar char="•"/>
              <a:defRPr sz="13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type="title"/>
          </p:nvPr>
        </p:nvSpPr>
        <p:spPr>
          <a:xfrm>
            <a:off x="527382" y="28842"/>
            <a:ext cx="11240293" cy="7087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600" lIns="101225" spcFirstLastPara="1" rIns="101225" wrap="square" tIns="506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algun Gothic"/>
              <a:buNone/>
              <a:defRPr b="1"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5029936" y="6562303"/>
            <a:ext cx="1920000" cy="2778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사용자 지정 레이아웃">
  <p:cSld name="11_사용자 지정 레이아웃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335360" y="1211626"/>
            <a:ext cx="11617291" cy="5001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719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970"/>
              <a:buFont typeface="Arial"/>
              <a:buChar char="•"/>
              <a:defRPr sz="27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96240" lvl="1" marL="914400" algn="l">
              <a:lnSpc>
                <a:spcPct val="130000"/>
              </a:lnSpc>
              <a:spcBef>
                <a:spcPts val="667"/>
              </a:spcBef>
              <a:spcAft>
                <a:spcPts val="0"/>
              </a:spcAft>
              <a:buClr>
                <a:srgbClr val="3F3F3F"/>
              </a:buClr>
              <a:buSzPts val="2640"/>
              <a:buFont typeface="Arial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68300" lvl="2" marL="1371600" algn="l">
              <a:lnSpc>
                <a:spcPct val="130000"/>
              </a:lnSpc>
              <a:spcBef>
                <a:spcPts val="667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0360" lvl="3" marL="1828800" algn="l">
              <a:lnSpc>
                <a:spcPct val="130000"/>
              </a:lnSpc>
              <a:spcBef>
                <a:spcPts val="667"/>
              </a:spcBef>
              <a:spcAft>
                <a:spcPts val="0"/>
              </a:spcAft>
              <a:buClr>
                <a:srgbClr val="3F3F3F"/>
              </a:buClr>
              <a:buSzPts val="1760"/>
              <a:buFont typeface="Arial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9405" lvl="4" marL="2286000" algn="l">
              <a:lnSpc>
                <a:spcPct val="130000"/>
              </a:lnSpc>
              <a:spcBef>
                <a:spcPts val="667"/>
              </a:spcBef>
              <a:spcAft>
                <a:spcPts val="0"/>
              </a:spcAft>
              <a:buClr>
                <a:srgbClr val="3F3F3F"/>
              </a:buClr>
              <a:buSzPts val="1430"/>
              <a:buFont typeface="Arial"/>
              <a:buChar char="•"/>
              <a:defRPr sz="13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type="title"/>
          </p:nvPr>
        </p:nvSpPr>
        <p:spPr>
          <a:xfrm>
            <a:off x="527382" y="28842"/>
            <a:ext cx="11240293" cy="7087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600" lIns="101225" spcFirstLastPara="1" rIns="101225" wrap="square" tIns="506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algun Gothic"/>
              <a:buNone/>
              <a:defRPr b="1" sz="2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5029936" y="6562303"/>
            <a:ext cx="1920000" cy="2778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sz="1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bg>
      <p:bgPr>
        <a:gradFill>
          <a:gsLst>
            <a:gs pos="0">
              <a:srgbClr val="BBFFE6"/>
            </a:gs>
            <a:gs pos="100000">
              <a:srgbClr val="55CFD1"/>
            </a:gs>
          </a:gsLst>
          <a:lin ang="0" scaled="0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4"/>
          <p:cNvGrpSpPr/>
          <p:nvPr/>
        </p:nvGrpSpPr>
        <p:grpSpPr>
          <a:xfrm>
            <a:off x="1355785" y="1122363"/>
            <a:ext cx="9027209" cy="4252575"/>
            <a:chOff x="956306" y="1185729"/>
            <a:chExt cx="9484030" cy="4486542"/>
          </a:xfrm>
        </p:grpSpPr>
        <p:sp>
          <p:nvSpPr>
            <p:cNvPr id="28" name="Google Shape;28;p14"/>
            <p:cNvSpPr/>
            <p:nvPr/>
          </p:nvSpPr>
          <p:spPr>
            <a:xfrm>
              <a:off x="3852729" y="1185729"/>
              <a:ext cx="4486542" cy="4486542"/>
            </a:xfrm>
            <a:prstGeom prst="diamond">
              <a:avLst/>
            </a:prstGeom>
            <a:noFill/>
            <a:ln cap="flat" cmpd="sng" w="508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" name="Google Shape;29;p14"/>
            <p:cNvSpPr/>
            <p:nvPr/>
          </p:nvSpPr>
          <p:spPr>
            <a:xfrm>
              <a:off x="4113020" y="1446020"/>
              <a:ext cx="3965960" cy="3965960"/>
            </a:xfrm>
            <a:prstGeom prst="diamond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" name="Google Shape;30;p14"/>
            <p:cNvSpPr/>
            <p:nvPr/>
          </p:nvSpPr>
          <p:spPr>
            <a:xfrm>
              <a:off x="2079833" y="2026243"/>
              <a:ext cx="2805513" cy="2805513"/>
            </a:xfrm>
            <a:prstGeom prst="diamond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" name="Google Shape;31;p14"/>
            <p:cNvSpPr/>
            <p:nvPr/>
          </p:nvSpPr>
          <p:spPr>
            <a:xfrm>
              <a:off x="7196805" y="2026243"/>
              <a:ext cx="2805513" cy="2805513"/>
            </a:xfrm>
            <a:prstGeom prst="diamond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" name="Google Shape;32;p14"/>
            <p:cNvSpPr/>
            <p:nvPr/>
          </p:nvSpPr>
          <p:spPr>
            <a:xfrm>
              <a:off x="7038617" y="3962042"/>
              <a:ext cx="666573" cy="666573"/>
            </a:xfrm>
            <a:prstGeom prst="diamond">
              <a:avLst/>
            </a:prstGeom>
            <a:solidFill>
              <a:schemeClr val="lt1">
                <a:alpha val="80000"/>
              </a:schemeClr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" name="Google Shape;33;p14"/>
            <p:cNvSpPr/>
            <p:nvPr/>
          </p:nvSpPr>
          <p:spPr>
            <a:xfrm>
              <a:off x="7745693" y="4122010"/>
              <a:ext cx="491475" cy="506606"/>
            </a:xfrm>
            <a:prstGeom prst="diamond">
              <a:avLst/>
            </a:prstGeom>
            <a:solidFill>
              <a:schemeClr val="lt1">
                <a:alpha val="50196"/>
              </a:schemeClr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" name="Google Shape;34;p14"/>
            <p:cNvSpPr/>
            <p:nvPr/>
          </p:nvSpPr>
          <p:spPr>
            <a:xfrm>
              <a:off x="7657120" y="4375313"/>
              <a:ext cx="491475" cy="506606"/>
            </a:xfrm>
            <a:prstGeom prst="diamond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" name="Google Shape;35;p14"/>
            <p:cNvSpPr/>
            <p:nvPr/>
          </p:nvSpPr>
          <p:spPr>
            <a:xfrm>
              <a:off x="9510843" y="2804846"/>
              <a:ext cx="491475" cy="506606"/>
            </a:xfrm>
            <a:prstGeom prst="diamond">
              <a:avLst/>
            </a:prstGeom>
            <a:solidFill>
              <a:schemeClr val="lt1">
                <a:alpha val="50196"/>
              </a:schemeClr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" name="Google Shape;36;p14"/>
            <p:cNvSpPr/>
            <p:nvPr/>
          </p:nvSpPr>
          <p:spPr>
            <a:xfrm>
              <a:off x="9756580" y="1849386"/>
              <a:ext cx="491475" cy="506606"/>
            </a:xfrm>
            <a:prstGeom prst="diamond">
              <a:avLst/>
            </a:prstGeom>
            <a:solidFill>
              <a:schemeClr val="lt1">
                <a:alpha val="50196"/>
              </a:schemeClr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" name="Google Shape;37;p14"/>
            <p:cNvSpPr/>
            <p:nvPr/>
          </p:nvSpPr>
          <p:spPr>
            <a:xfrm>
              <a:off x="3693964" y="4201993"/>
              <a:ext cx="491475" cy="506606"/>
            </a:xfrm>
            <a:prstGeom prst="diamond">
              <a:avLst/>
            </a:prstGeom>
            <a:solidFill>
              <a:schemeClr val="lt1">
                <a:alpha val="50196"/>
              </a:schemeClr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" name="Google Shape;38;p14"/>
            <p:cNvSpPr/>
            <p:nvPr/>
          </p:nvSpPr>
          <p:spPr>
            <a:xfrm>
              <a:off x="4557089" y="5042508"/>
              <a:ext cx="491475" cy="506606"/>
            </a:xfrm>
            <a:prstGeom prst="diamond">
              <a:avLst/>
            </a:prstGeom>
            <a:solidFill>
              <a:schemeClr val="lt1">
                <a:alpha val="50196"/>
              </a:schemeClr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" name="Google Shape;39;p14"/>
            <p:cNvSpPr/>
            <p:nvPr/>
          </p:nvSpPr>
          <p:spPr>
            <a:xfrm>
              <a:off x="4350165" y="2355992"/>
              <a:ext cx="666573" cy="666573"/>
            </a:xfrm>
            <a:prstGeom prst="diamond">
              <a:avLst/>
            </a:prstGeom>
            <a:solidFill>
              <a:schemeClr val="lt1">
                <a:alpha val="50196"/>
              </a:schemeClr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" name="Google Shape;40;p14"/>
            <p:cNvSpPr/>
            <p:nvPr/>
          </p:nvSpPr>
          <p:spPr>
            <a:xfrm>
              <a:off x="2006838" y="2694686"/>
              <a:ext cx="666573" cy="666573"/>
            </a:xfrm>
            <a:prstGeom prst="diamond">
              <a:avLst/>
            </a:prstGeom>
            <a:solidFill>
              <a:schemeClr val="lt1">
                <a:alpha val="50196"/>
              </a:schemeClr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" name="Google Shape;41;p14"/>
            <p:cNvSpPr/>
            <p:nvPr/>
          </p:nvSpPr>
          <p:spPr>
            <a:xfrm>
              <a:off x="2531511" y="4789205"/>
              <a:ext cx="328169" cy="338272"/>
            </a:xfrm>
            <a:prstGeom prst="diamond">
              <a:avLst/>
            </a:prstGeom>
            <a:solidFill>
              <a:schemeClr val="lt1">
                <a:alpha val="80000"/>
              </a:schemeClr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" name="Google Shape;42;p14"/>
            <p:cNvSpPr/>
            <p:nvPr/>
          </p:nvSpPr>
          <p:spPr>
            <a:xfrm>
              <a:off x="10112167" y="3623770"/>
              <a:ext cx="328169" cy="338272"/>
            </a:xfrm>
            <a:prstGeom prst="diamond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" name="Google Shape;43;p14"/>
            <p:cNvSpPr/>
            <p:nvPr/>
          </p:nvSpPr>
          <p:spPr>
            <a:xfrm>
              <a:off x="1567573" y="2635710"/>
              <a:ext cx="328169" cy="338272"/>
            </a:xfrm>
            <a:prstGeom prst="diamond">
              <a:avLst/>
            </a:prstGeom>
            <a:solidFill>
              <a:schemeClr val="lt1">
                <a:alpha val="80000"/>
              </a:schemeClr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" name="Google Shape;44;p14"/>
            <p:cNvSpPr/>
            <p:nvPr/>
          </p:nvSpPr>
          <p:spPr>
            <a:xfrm>
              <a:off x="956306" y="3090727"/>
              <a:ext cx="328169" cy="338272"/>
            </a:xfrm>
            <a:prstGeom prst="diamond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사용자 지정 레이아웃">
  <p:cSld name="6_사용자 지정 레이아웃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08001" y="837138"/>
            <a:ext cx="11376000" cy="141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sp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5"/>
          <p:cNvSpPr/>
          <p:nvPr/>
        </p:nvSpPr>
        <p:spPr>
          <a:xfrm>
            <a:off x="199871" y="190682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48;p15"/>
          <p:cNvSpPr txBox="1"/>
          <p:nvPr/>
        </p:nvSpPr>
        <p:spPr>
          <a:xfrm>
            <a:off x="215461" y="231786"/>
            <a:ext cx="540399" cy="461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50" spcFirstLastPara="1" rIns="9135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00</a:t>
            </a:r>
            <a:endParaRPr/>
          </a:p>
        </p:txBody>
      </p:sp>
      <p:sp>
        <p:nvSpPr>
          <p:cNvPr id="49" name="Google Shape;49;p15"/>
          <p:cNvSpPr txBox="1"/>
          <p:nvPr>
            <p:ph type="title"/>
          </p:nvPr>
        </p:nvSpPr>
        <p:spPr>
          <a:xfrm>
            <a:off x="778689" y="138491"/>
            <a:ext cx="11005312" cy="424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50" spcFirstLastPara="1" rIns="91350" wrap="square" tIns="456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465E"/>
              </a:buClr>
              <a:buSzPts val="2400"/>
              <a:buFont typeface="Malgun Gothic"/>
              <a:buNone/>
              <a:defRPr b="1" sz="2400">
                <a:solidFill>
                  <a:srgbClr val="4B465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2" type="body"/>
          </p:nvPr>
        </p:nvSpPr>
        <p:spPr>
          <a:xfrm>
            <a:off x="778689" y="563152"/>
            <a:ext cx="11005312" cy="244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100"/>
              <a:buNone/>
              <a:defRPr sz="1100">
                <a:solidFill>
                  <a:srgbClr val="66666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사용자 지정 레이아웃">
  <p:cSld name="5_사용자 지정 레이아웃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/>
          <p:nvPr/>
        </p:nvSpPr>
        <p:spPr>
          <a:xfrm>
            <a:off x="408000" y="581440"/>
            <a:ext cx="11376000" cy="45719"/>
          </a:xfrm>
          <a:prstGeom prst="rect">
            <a:avLst/>
          </a:prstGeom>
          <a:gradFill>
            <a:gsLst>
              <a:gs pos="0">
                <a:srgbClr val="2B7C7D"/>
              </a:gs>
              <a:gs pos="50000">
                <a:srgbClr val="3FB4B5"/>
              </a:gs>
              <a:gs pos="100000">
                <a:srgbClr val="4BD7DA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408000" y="765138"/>
            <a:ext cx="11375999" cy="141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sp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type="title"/>
          </p:nvPr>
        </p:nvSpPr>
        <p:spPr>
          <a:xfrm>
            <a:off x="408000" y="156779"/>
            <a:ext cx="3589311" cy="424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50" spcFirstLastPara="1" rIns="91350" wrap="square" tIns="456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465E"/>
              </a:buClr>
              <a:buSzPts val="2400"/>
              <a:buFont typeface="Malgun Gothic"/>
              <a:buNone/>
              <a:defRPr b="1" sz="2400">
                <a:solidFill>
                  <a:srgbClr val="4B465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/>
          <p:nvPr/>
        </p:nvSpPr>
        <p:spPr>
          <a:xfrm>
            <a:off x="0" y="6443884"/>
            <a:ext cx="12192000" cy="447737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8"/>
          <p:cNvSpPr txBox="1"/>
          <p:nvPr>
            <p:ph idx="12" type="sldNum"/>
          </p:nvPr>
        </p:nvSpPr>
        <p:spPr>
          <a:xfrm>
            <a:off x="11712624" y="6669360"/>
            <a:ext cx="479376" cy="2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9"/>
          <p:cNvSpPr/>
          <p:nvPr/>
        </p:nvSpPr>
        <p:spPr>
          <a:xfrm>
            <a:off x="0" y="6605899"/>
            <a:ext cx="12192000" cy="252101"/>
          </a:xfrm>
          <a:prstGeom prst="rect">
            <a:avLst/>
          </a:prstGeom>
          <a:solidFill>
            <a:srgbClr val="55CFD1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/>
        </p:nvSpPr>
        <p:spPr>
          <a:xfrm>
            <a:off x="2639616" y="2996952"/>
            <a:ext cx="286328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회고 안내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4295800" y="4089901"/>
            <a:ext cx="2727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EBF9F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13시 30분에 시작합니다</a:t>
            </a:r>
            <a:endParaRPr b="1" sz="1800">
              <a:solidFill>
                <a:srgbClr val="EBF9F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1127448" y="332656"/>
            <a:ext cx="9073008" cy="5855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16시 30분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부터 조별로 회고를 진행해 주세요. (25분)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발표자 정해 주세요.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“1.3 (실습) 팀과제 제출 양식.</a:t>
            </a:r>
            <a:r>
              <a:rPr b="1"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docx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 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소감란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작성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시행 착오, 어려웠던 점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수월 했던 점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 소감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강사에 대해 아쉬웠던 점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카페에 글제목: “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XX조 팀과제“ 글을 생성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하고 파일이름을  “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xx조 회고.docx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 변경하여 업로드 해주세요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17시 05분</a:t>
            </a:r>
            <a:r>
              <a:rPr b="1"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강의장으로 모여 주세요.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* 시간이 되는 한도에서 조별로 회고 발표가 있겠습니다 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* 순서 :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527382" y="28842"/>
            <a:ext cx="11240293" cy="7087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600" lIns="101225" spcFirstLastPara="1" rIns="101225" wrap="square" tIns="506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algun Gothic"/>
              <a:buNone/>
            </a:pPr>
            <a:r>
              <a:rPr lang="ko-KR"/>
              <a:t>실습 – 팀과제 진행 회고</a:t>
            </a:r>
            <a:endParaRPr/>
          </a:p>
        </p:txBody>
      </p:sp>
      <p:grpSp>
        <p:nvGrpSpPr>
          <p:cNvPr id="76" name="Google Shape;76;p3"/>
          <p:cNvGrpSpPr/>
          <p:nvPr/>
        </p:nvGrpSpPr>
        <p:grpSpPr>
          <a:xfrm>
            <a:off x="12135" y="1028734"/>
            <a:ext cx="11495600" cy="1597803"/>
            <a:chOff x="5697733" y="843558"/>
            <a:chExt cx="8621700" cy="1198353"/>
          </a:xfrm>
        </p:grpSpPr>
        <p:sp>
          <p:nvSpPr>
            <p:cNvPr id="77" name="Google Shape;77;p3"/>
            <p:cNvSpPr txBox="1"/>
            <p:nvPr/>
          </p:nvSpPr>
          <p:spPr>
            <a:xfrm>
              <a:off x="6168786" y="843558"/>
              <a:ext cx="909961" cy="350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156BD"/>
                </a:buClr>
                <a:buSzPts val="1900"/>
                <a:buFont typeface="Arial"/>
                <a:buNone/>
              </a:pPr>
              <a:r>
                <a:rPr b="1" lang="ko-KR" sz="1900">
                  <a:solidFill>
                    <a:srgbClr val="4156BD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1. 진행 소감</a:t>
              </a:r>
              <a:endParaRPr/>
            </a:p>
          </p:txBody>
        </p:sp>
        <p:sp>
          <p:nvSpPr>
            <p:cNvPr id="78" name="Google Shape;78;p3"/>
            <p:cNvSpPr txBox="1"/>
            <p:nvPr/>
          </p:nvSpPr>
          <p:spPr>
            <a:xfrm>
              <a:off x="5697733" y="1412811"/>
              <a:ext cx="8621700" cy="6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52000" lvl="1" marL="714375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Noto Sans Symbols"/>
                <a:buChar char="▪"/>
              </a:pPr>
              <a:r>
                <a:rPr b="0" i="0" lang="ko-KR" sz="1200" u="none" cap="none" strike="noStrike">
                  <a:solidFill>
                    <a:srgbClr val="1E1E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시행착오</a:t>
              </a:r>
              <a:endParaRPr/>
            </a:p>
            <a:p>
              <a:pPr indent="-252000" lvl="1" marL="714375" marR="0" rtl="0" algn="l">
                <a:lnSpc>
                  <a:spcPct val="11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Noto Sans Symbols"/>
                <a:buChar char="▪"/>
              </a:pPr>
              <a:r>
                <a:rPr b="0" i="0" lang="ko-KR" sz="1200" u="none" cap="none" strike="noStrike">
                  <a:solidFill>
                    <a:srgbClr val="1E1E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우리는 왜 어려웠나 vs. 우리는 왜 수월했나?</a:t>
              </a:r>
              <a:endParaRPr/>
            </a:p>
            <a:p>
              <a:pPr indent="-252000" lvl="1" marL="714375" marR="0" rtl="0" algn="l">
                <a:lnSpc>
                  <a:spcPct val="11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Noto Sans Symbols"/>
                <a:buChar char="▪"/>
              </a:pPr>
              <a:r>
                <a:rPr b="0" i="0" lang="ko-KR" sz="1200" u="none" cap="none" strike="noStrike">
                  <a:solidFill>
                    <a:srgbClr val="1E1E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가장 적응이 빨랐던 단계 vs. 가장 고통스런 단계들을 자유롭게 논의합니다</a:t>
              </a:r>
              <a:endParaRPr/>
            </a:p>
          </p:txBody>
        </p:sp>
      </p:grpSp>
      <p:grpSp>
        <p:nvGrpSpPr>
          <p:cNvPr id="79" name="Google Shape;79;p3"/>
          <p:cNvGrpSpPr/>
          <p:nvPr/>
        </p:nvGrpSpPr>
        <p:grpSpPr>
          <a:xfrm>
            <a:off x="-188057" y="2895351"/>
            <a:ext cx="11495600" cy="1575441"/>
            <a:chOff x="5521296" y="1199405"/>
            <a:chExt cx="8621700" cy="1181581"/>
          </a:xfrm>
        </p:grpSpPr>
        <p:sp>
          <p:nvSpPr>
            <p:cNvPr id="80" name="Google Shape;80;p3"/>
            <p:cNvSpPr txBox="1"/>
            <p:nvPr/>
          </p:nvSpPr>
          <p:spPr>
            <a:xfrm>
              <a:off x="6129636" y="1199405"/>
              <a:ext cx="858900" cy="5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156BD"/>
                </a:buClr>
                <a:buSzPts val="1900"/>
                <a:buFont typeface="Arial"/>
                <a:buNone/>
              </a:pPr>
              <a:r>
                <a:rPr b="1" lang="ko-KR" sz="1900">
                  <a:solidFill>
                    <a:srgbClr val="4156BD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 적용소감</a:t>
              </a:r>
              <a:endParaRPr b="1" sz="1900">
                <a:solidFill>
                  <a:srgbClr val="4156BD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" name="Google Shape;81;p3"/>
            <p:cNvSpPr txBox="1"/>
            <p:nvPr/>
          </p:nvSpPr>
          <p:spPr>
            <a:xfrm>
              <a:off x="5521296" y="1751886"/>
              <a:ext cx="8621700" cy="6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52000" lvl="1" marL="714375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Noto Sans Symbols"/>
                <a:buChar char="▪"/>
              </a:pPr>
              <a:r>
                <a:rPr b="0" i="0" lang="ko-KR" sz="1200" u="none" cap="none" strike="noStrike">
                  <a:solidFill>
                    <a:srgbClr val="1E1E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나는 현업에서 이 과정을/ 이 과정 중 어떤 부분을 적용할 수 있을까? </a:t>
              </a:r>
              <a:endParaRPr/>
            </a:p>
            <a:p>
              <a:pPr indent="-252000" lvl="1" marL="714375" marR="0" rtl="0" algn="l">
                <a:lnSpc>
                  <a:spcPct val="11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Noto Sans Symbols"/>
                <a:buChar char="▪"/>
              </a:pPr>
              <a:r>
                <a:rPr b="0" i="0" lang="ko-KR" sz="1200" u="none" cap="none" strike="noStrike">
                  <a:solidFill>
                    <a:srgbClr val="1E1E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가능하다면 어느 부분이 개선이 되어야 할까?</a:t>
              </a:r>
              <a:endParaRPr/>
            </a:p>
            <a:p>
              <a:pPr indent="-252000" lvl="1" marL="714375" marR="0" rtl="0" algn="l">
                <a:lnSpc>
                  <a:spcPct val="11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Noto Sans Symbols"/>
                <a:buChar char="▪"/>
              </a:pPr>
              <a:r>
                <a:rPr b="0" i="0" lang="ko-KR" sz="1200" u="none" cap="none" strike="noStrike">
                  <a:solidFill>
                    <a:srgbClr val="1E1E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다음 AA 과정을 위해 미리 준비해야 할 것 한가지</a:t>
              </a:r>
              <a:endParaRPr/>
            </a:p>
            <a:p>
              <a:pPr indent="-252000" lvl="1" marL="714375" marR="0" rtl="0" algn="l">
                <a:lnSpc>
                  <a:spcPct val="11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Noto Sans Symbols"/>
                <a:buChar char="▪"/>
              </a:pPr>
              <a:r>
                <a:rPr b="0" i="0" lang="ko-KR" sz="1200" u="none" cap="none" strike="noStrike">
                  <a:solidFill>
                    <a:srgbClr val="1E1E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현업에서 이 기법을 적용해서 좋은 성과를 얻기 위해서는 어떻게 해야 할까요?</a:t>
              </a:r>
              <a:endParaRPr/>
            </a:p>
            <a:p>
              <a:pPr indent="-252000" lvl="1" marL="714375" marR="0" rtl="0" algn="l">
                <a:lnSpc>
                  <a:spcPct val="11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Noto Sans Symbols"/>
                <a:buChar char="▪"/>
              </a:pPr>
              <a:r>
                <a:rPr b="0" i="0" lang="ko-KR" sz="1200" u="none" cap="none" strike="noStrike">
                  <a:solidFill>
                    <a:srgbClr val="1E1E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처음부터 개발하는 것이 아니라, 특정 부분만 개발하거나 또는 open source / 구글링 등 기존 코드로부터 개발을 시작하는 경우에는, OOPT(UP)를 어떻게 수정·확장하면 좋을까요?</a:t>
              </a:r>
              <a:endParaRPr/>
            </a:p>
            <a:p>
              <a:pPr indent="-252000" lvl="1" marL="714375" marR="0" rtl="0" algn="l">
                <a:lnSpc>
                  <a:spcPct val="11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Noto Sans Symbols"/>
                <a:buChar char="▪"/>
              </a:pPr>
              <a:r>
                <a:rPr b="0" i="0" lang="ko-KR" sz="1200" u="none" cap="none" strike="noStrike">
                  <a:solidFill>
                    <a:srgbClr val="1E1E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기타</a:t>
              </a:r>
              <a:endParaRPr/>
            </a:p>
          </p:txBody>
        </p:sp>
      </p:grpSp>
      <p:sp>
        <p:nvSpPr>
          <p:cNvPr id="82" name="Google Shape;82;p3"/>
          <p:cNvSpPr txBox="1"/>
          <p:nvPr/>
        </p:nvSpPr>
        <p:spPr>
          <a:xfrm>
            <a:off x="888845" y="6166950"/>
            <a:ext cx="434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156BD"/>
              </a:buClr>
              <a:buSzPts val="1900"/>
              <a:buFont typeface="Arial"/>
              <a:buNone/>
            </a:pPr>
            <a:r>
              <a:rPr b="1" lang="ko-KR" sz="1900">
                <a:solidFill>
                  <a:srgbClr val="4156BD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강사에 대해 아쉬웠던 점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527382" y="28842"/>
            <a:ext cx="11240293" cy="7087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600" lIns="101225" spcFirstLastPara="1" rIns="101225" wrap="square" tIns="506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algun Gothic"/>
              <a:buNone/>
            </a:pPr>
            <a:r>
              <a:rPr lang="ko-KR"/>
              <a:t>실습 - 팀과제 진행 회고 예</a:t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640206" y="932201"/>
            <a:ext cx="2888227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6BD"/>
              </a:buClr>
              <a:buSzPts val="1900"/>
              <a:buFont typeface="Arial"/>
              <a:buNone/>
            </a:pPr>
            <a:r>
              <a:rPr b="1" lang="ko-KR" sz="1900">
                <a:solidFill>
                  <a:srgbClr val="4156BD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지난 3일간의 실습 과정 회고</a:t>
            </a:r>
            <a:endParaRPr/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383" y="1700809"/>
            <a:ext cx="5748720" cy="3686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8022" y="1700808"/>
            <a:ext cx="5492477" cy="2516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7149" y="4197086"/>
            <a:ext cx="4069332" cy="239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1055440" y="1556792"/>
            <a:ext cx="10801200" cy="3362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문서는 까페 글제목: XX조 팀과제에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 파일(“1.3 (실습) 팀과제 제출 양식.docx”)을 파일명 변경 후 카페에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</a:t>
            </a:r>
            <a:r>
              <a:rPr b="1" lang="ko-KR" sz="18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(링크x)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해주세요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글제목: XX조 팀과제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파일명: </a:t>
            </a:r>
            <a:r>
              <a:rPr b="1" i="0" lang="ko-KR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xx조 팀과제.doc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회고을 포함 해야 하고 기존 회고 문서는 삭제 해주세요</a:t>
            </a:r>
            <a:br>
              <a:rPr b="1" i="0" lang="ko-KR" sz="1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18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9월 7일(월) 전까지는 재 업로드 하셔도 됩니다.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해상도 괜찮은지 제출 전에 확인 한번 부탁 드립니다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527382" y="28842"/>
            <a:ext cx="11240293" cy="7087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600" lIns="101225" spcFirstLastPara="1" rIns="101225" wrap="square" tIns="506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algun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/>
        </p:nvSpPr>
        <p:spPr>
          <a:xfrm>
            <a:off x="2639616" y="1772816"/>
            <a:ext cx="141577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회고</a:t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2783632" y="4221088"/>
            <a:ext cx="2656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17시 5분에 시작 합니다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1055440" y="1556792"/>
            <a:ext cx="10801200" cy="3362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문서는 까페 글제목: XX조 팀과제에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 파일(“1.3 (실습) 팀과제 제출 양식.docx”)을 파일명 변경 후 카페에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</a:t>
            </a:r>
            <a:r>
              <a:rPr b="1" lang="ko-KR" sz="18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(링크x)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해주세요</a:t>
            </a:r>
            <a:endParaRPr b="1"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글제목: XX조 팀과제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파일명: </a:t>
            </a:r>
            <a:r>
              <a:rPr b="1" i="0" lang="ko-KR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xx조 팀과제.doc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회고을 포함 해야 하고 기존 회고 문서는 삭제 해주세요</a:t>
            </a:r>
            <a:br>
              <a:rPr b="1" i="0" lang="ko-KR" sz="1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18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9월 7일(월) 전까지는 재 업로드 하셔도 됩니다.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해상도 괜찮은지 제출 전에 확인 한번 부탁 드립니다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2021-06-02T00:51:12Z</dcterms:created>
  <dc:creator>이혜준/HYE JOON YI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