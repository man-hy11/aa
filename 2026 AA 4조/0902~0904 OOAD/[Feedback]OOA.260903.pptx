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451" r:id="rId2"/>
    <p:sldId id="452" r:id="rId3"/>
    <p:sldId id="551" r:id="rId4"/>
    <p:sldId id="554" r:id="rId5"/>
    <p:sldId id="555" r:id="rId6"/>
    <p:sldId id="589" r:id="rId7"/>
    <p:sldId id="602" r:id="rId8"/>
    <p:sldId id="606" r:id="rId9"/>
    <p:sldId id="607" r:id="rId10"/>
    <p:sldId id="608" r:id="rId11"/>
    <p:sldId id="609" r:id="rId12"/>
    <p:sldId id="610" r:id="rId13"/>
    <p:sldId id="614" r:id="rId14"/>
    <p:sldId id="483" r:id="rId15"/>
    <p:sldId id="611" r:id="rId16"/>
    <p:sldId id="565" r:id="rId17"/>
    <p:sldId id="525" r:id="rId18"/>
    <p:sldId id="526" r:id="rId19"/>
    <p:sldId id="528" r:id="rId20"/>
    <p:sldId id="601" r:id="rId21"/>
    <p:sldId id="553" r:id="rId22"/>
    <p:sldId id="464" r:id="rId23"/>
    <p:sldId id="552" r:id="rId24"/>
    <p:sldId id="532" r:id="rId25"/>
    <p:sldId id="599" r:id="rId26"/>
    <p:sldId id="612" r:id="rId27"/>
    <p:sldId id="600" r:id="rId28"/>
    <p:sldId id="595" r:id="rId29"/>
    <p:sldId id="490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9F9"/>
    <a:srgbClr val="D9D9D9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0" autoAdjust="0"/>
    <p:restoredTop sz="92795" autoAdjust="0"/>
  </p:normalViewPr>
  <p:slideViewPr>
    <p:cSldViewPr showGuides="1">
      <p:cViewPr varScale="1">
        <p:scale>
          <a:sx n="117" d="100"/>
          <a:sy n="117" d="100"/>
        </p:scale>
        <p:origin x="29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8B390-C473-4696-98C6-8A0C8FCAAABC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23A25-6988-4880-9B02-B1245A972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483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780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둘다 </a:t>
            </a:r>
            <a:r>
              <a:rPr kumimoji="1" lang="ko-KR" altLang="en-US" sz="12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공통부에</a:t>
            </a:r>
            <a:r>
              <a:rPr kumimoji="1" lang="ko-KR" altLang="en-US" sz="12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대한 표현 방식으로 보이지만</a:t>
            </a:r>
            <a:r>
              <a:rPr kumimoji="1" lang="en-US" altLang="ko-KR" sz="12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12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실제로는 의존성 방향에 대한 표현 방식으로 이해하는 편이 더 좋습니다</a:t>
            </a:r>
            <a:r>
              <a:rPr kumimoji="1" lang="en-US" altLang="ko-KR" sz="12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189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Combo menu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6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제약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 이미 정해져서 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변경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불가능한 설계에 영향을 주는 의사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결정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 </a:t>
            </a:r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“</a:t>
            </a:r>
            <a:r>
              <a:rPr lang="ko-KR" altLang="en-US" sz="1200" dirty="0"/>
              <a:t>비즈니스에 성공하기 위해서는 시장이 원하는 품질과 기준을 결정하여 그것을 만족 하는 </a:t>
            </a:r>
            <a:r>
              <a:rPr lang="en-US" altLang="ko-KR" sz="1200" dirty="0"/>
              <a:t>S/W </a:t>
            </a:r>
            <a:r>
              <a:rPr lang="ko-KR" altLang="en-US" sz="1200" dirty="0"/>
              <a:t>구조를 설계 해야 한다</a:t>
            </a:r>
            <a:r>
              <a:rPr lang="en-US" altLang="ko-KR" sz="1200" dirty="0"/>
              <a:t>.“ special requirement </a:t>
            </a:r>
            <a:r>
              <a:rPr lang="ko-KR" altLang="en-US" sz="1200" dirty="0"/>
              <a:t>작성 시 고려하면 아마도 기능</a:t>
            </a:r>
            <a:r>
              <a:rPr lang="ko-KR" altLang="en-US" sz="1200" baseline="0" dirty="0"/>
              <a:t> 요구 사항을 적거나 애매하게 적는 것을 방지 하지 않을까</a:t>
            </a:r>
            <a:r>
              <a:rPr lang="en-US" altLang="ko-KR" sz="1200" baseline="0" dirty="0"/>
              <a:t>?</a:t>
            </a:r>
            <a:endParaRPr lang="ko-KR" altLang="en-US" sz="1200" dirty="0"/>
          </a:p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723A25-6988-4880-9B02-B1245A972AE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124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004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gradFill>
          <a:gsLst>
            <a:gs pos="0">
              <a:srgbClr val="BBFFE6"/>
            </a:gs>
            <a:gs pos="100000">
              <a:srgbClr val="55CFD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1355785" y="1122363"/>
            <a:ext cx="9027209" cy="4252575"/>
            <a:chOff x="956306" y="1185729"/>
            <a:chExt cx="9484030" cy="4486542"/>
          </a:xfrm>
        </p:grpSpPr>
        <p:sp>
          <p:nvSpPr>
            <p:cNvPr id="13" name="다이아몬드 12"/>
            <p:cNvSpPr/>
            <p:nvPr userDrawn="1"/>
          </p:nvSpPr>
          <p:spPr>
            <a:xfrm>
              <a:off x="3852729" y="1185729"/>
              <a:ext cx="4486542" cy="4486542"/>
            </a:xfrm>
            <a:prstGeom prst="diamond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다이아몬드 13"/>
            <p:cNvSpPr/>
            <p:nvPr userDrawn="1"/>
          </p:nvSpPr>
          <p:spPr>
            <a:xfrm>
              <a:off x="4113020" y="1446020"/>
              <a:ext cx="3965960" cy="3965960"/>
            </a:xfrm>
            <a:prstGeom prst="diamond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다이아몬드 14"/>
            <p:cNvSpPr/>
            <p:nvPr userDrawn="1"/>
          </p:nvSpPr>
          <p:spPr>
            <a:xfrm>
              <a:off x="2079833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다이아몬드 15"/>
            <p:cNvSpPr/>
            <p:nvPr userDrawn="1"/>
          </p:nvSpPr>
          <p:spPr>
            <a:xfrm>
              <a:off x="7196805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다이아몬드 16"/>
            <p:cNvSpPr/>
            <p:nvPr userDrawn="1"/>
          </p:nvSpPr>
          <p:spPr>
            <a:xfrm>
              <a:off x="7038617" y="3962042"/>
              <a:ext cx="666573" cy="666573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다이아몬드 17"/>
            <p:cNvSpPr/>
            <p:nvPr userDrawn="1"/>
          </p:nvSpPr>
          <p:spPr>
            <a:xfrm>
              <a:off x="7745693" y="4122010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다이아몬드 18"/>
            <p:cNvSpPr/>
            <p:nvPr userDrawn="1"/>
          </p:nvSpPr>
          <p:spPr>
            <a:xfrm>
              <a:off x="7657120" y="4375313"/>
              <a:ext cx="491475" cy="506606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다이아몬드 19"/>
            <p:cNvSpPr/>
            <p:nvPr userDrawn="1"/>
          </p:nvSpPr>
          <p:spPr>
            <a:xfrm>
              <a:off x="9510843" y="280484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다이아몬드 20"/>
            <p:cNvSpPr/>
            <p:nvPr userDrawn="1"/>
          </p:nvSpPr>
          <p:spPr>
            <a:xfrm>
              <a:off x="9756580" y="184938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다이아몬드 21"/>
            <p:cNvSpPr/>
            <p:nvPr userDrawn="1"/>
          </p:nvSpPr>
          <p:spPr>
            <a:xfrm>
              <a:off x="3693964" y="4201993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다이아몬드 22"/>
            <p:cNvSpPr/>
            <p:nvPr userDrawn="1"/>
          </p:nvSpPr>
          <p:spPr>
            <a:xfrm>
              <a:off x="4557089" y="5042508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다이아몬드 23"/>
            <p:cNvSpPr/>
            <p:nvPr userDrawn="1"/>
          </p:nvSpPr>
          <p:spPr>
            <a:xfrm>
              <a:off x="4350165" y="2355992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다이아몬드 24"/>
            <p:cNvSpPr/>
            <p:nvPr userDrawn="1"/>
          </p:nvSpPr>
          <p:spPr>
            <a:xfrm>
              <a:off x="2006838" y="2694686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다이아몬드 25"/>
            <p:cNvSpPr/>
            <p:nvPr userDrawn="1"/>
          </p:nvSpPr>
          <p:spPr>
            <a:xfrm>
              <a:off x="2531511" y="4789205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다이아몬드 26"/>
            <p:cNvSpPr/>
            <p:nvPr userDrawn="1"/>
          </p:nvSpPr>
          <p:spPr>
            <a:xfrm>
              <a:off x="10112167" y="3623770"/>
              <a:ext cx="328169" cy="338272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다이아몬드 27"/>
            <p:cNvSpPr/>
            <p:nvPr userDrawn="1"/>
          </p:nvSpPr>
          <p:spPr>
            <a:xfrm>
              <a:off x="1567573" y="2635710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다이아몬드 28"/>
            <p:cNvSpPr/>
            <p:nvPr userDrawn="1"/>
          </p:nvSpPr>
          <p:spPr>
            <a:xfrm>
              <a:off x="956306" y="3090727"/>
              <a:ext cx="328169" cy="338272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074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4B4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29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1" y="837138"/>
            <a:ext cx="11376000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다이아몬드 11"/>
          <p:cNvSpPr/>
          <p:nvPr userDrawn="1"/>
        </p:nvSpPr>
        <p:spPr>
          <a:xfrm>
            <a:off x="199871" y="190682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215461" y="231786"/>
            <a:ext cx="540399" cy="46159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00</a:t>
            </a:r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778689" y="138491"/>
            <a:ext cx="11005312" cy="424661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  <p:sp>
        <p:nvSpPr>
          <p:cNvPr id="15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778689" y="563152"/>
            <a:ext cx="11005312" cy="244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63878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408000" y="581440"/>
            <a:ext cx="11376000" cy="45719"/>
          </a:xfrm>
          <a:prstGeom prst="rect">
            <a:avLst/>
          </a:prstGeom>
          <a:gradFill flip="none" rotWithShape="1">
            <a:gsLst>
              <a:gs pos="0">
                <a:srgbClr val="55CFD1">
                  <a:shade val="30000"/>
                  <a:satMod val="115000"/>
                </a:srgbClr>
              </a:gs>
              <a:gs pos="50000">
                <a:srgbClr val="55CFD1">
                  <a:shade val="67500"/>
                  <a:satMod val="115000"/>
                </a:srgbClr>
              </a:gs>
              <a:gs pos="100000">
                <a:srgbClr val="55CFD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3589311" cy="424661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64787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87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443884"/>
            <a:ext cx="12192000" cy="447737"/>
          </a:xfrm>
          <a:prstGeom prst="rect">
            <a:avLst/>
          </a:prstGeom>
        </p:spPr>
      </p:pic>
      <p:sp>
        <p:nvSpPr>
          <p:cNvPr id="4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11712624" y="6669360"/>
            <a:ext cx="479376" cy="222261"/>
          </a:xfrm>
          <a:prstGeom prst="rect">
            <a:avLst/>
          </a:prstGeom>
        </p:spPr>
        <p:txBody>
          <a:bodyPr lIns="121917" tIns="60958" rIns="121917" bIns="60958"/>
          <a:lstStyle>
            <a:lvl1pPr marL="0" algn="ctr" defTabSz="1219170" rtl="0" eaLnBrk="1" latinLnBrk="1" hangingPunct="1">
              <a:defRPr lang="ko-KR" altLang="en-US" sz="12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022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35360" y="1211626"/>
            <a:ext cx="11617291" cy="5001683"/>
          </a:xfrm>
          <a:prstGeom prst="rect">
            <a:avLst/>
          </a:prstGeom>
        </p:spPr>
        <p:txBody>
          <a:bodyPr/>
          <a:lstStyle>
            <a:lvl1pPr marL="361942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7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21766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4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073124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20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43294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6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794888" indent="-239994">
              <a:lnSpc>
                <a:spcPct val="130000"/>
              </a:lnSpc>
              <a:spcAft>
                <a:spcPts val="667"/>
              </a:spcAft>
              <a:buClr>
                <a:schemeClr val="tx1">
                  <a:lumMod val="75000"/>
                  <a:lumOff val="25000"/>
                </a:schemeClr>
              </a:buClr>
              <a:buSzPct val="110000"/>
              <a:buFont typeface="Arial" panose="020B0604020202020204" pitchFamily="34" charset="0"/>
              <a:buChar char="•"/>
              <a:defRPr sz="1300" spc="-160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633163" y="28842"/>
            <a:ext cx="11240293" cy="708708"/>
          </a:xfrm>
          <a:prstGeom prst="rect">
            <a:avLst/>
          </a:prstGeom>
        </p:spPr>
        <p:txBody>
          <a:bodyPr vert="horz" lIns="101233" tIns="50617" rIns="101233" bIns="50617" rtlCol="0" anchor="ctr">
            <a:normAutofit/>
          </a:bodyPr>
          <a:lstStyle>
            <a:lvl1pPr algn="l">
              <a:defRPr lang="ko-KR" altLang="en-US" sz="3200" b="1" spc="-133" baseline="0" dirty="0">
                <a:ln>
                  <a:solidFill>
                    <a:srgbClr val="2A2D72">
                      <a:alpha val="5000"/>
                    </a:srgbClr>
                  </a:solidFill>
                </a:ln>
                <a:solidFill>
                  <a:schemeClr val="tx1"/>
                </a:solidFill>
                <a:latin typeface="+mj-ea"/>
                <a:cs typeface="Arial" panose="020B0604020202020204" pitchFamily="34" charset="0"/>
              </a:defRPr>
            </a:lvl1pPr>
          </a:lstStyle>
          <a:p>
            <a:pPr lvl="0" algn="l" defTabSz="1012337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029936" y="6562303"/>
            <a:ext cx="1920000" cy="277872"/>
          </a:xfrm>
          <a:prstGeom prst="rect">
            <a:avLst/>
          </a:prstGeom>
        </p:spPr>
        <p:txBody>
          <a:bodyPr lIns="121917" tIns="60958" rIns="121917" bIns="60958"/>
          <a:lstStyle>
            <a:lvl1pPr marL="0" algn="ctr" defTabSz="1219170" rtl="0" eaLnBrk="1" latinLnBrk="1" hangingPunct="1">
              <a:defRPr lang="ko-KR" altLang="en-US" sz="1700" kern="1200" smtClean="0">
                <a:solidFill>
                  <a:schemeClr val="bg1">
                    <a:lumMod val="50000"/>
                  </a:schemeClr>
                </a:solidFill>
                <a:latin typeface="샘물체" pitchFamily="18" charset="-127"/>
                <a:ea typeface="샘물체" pitchFamily="18" charset="-127"/>
                <a:cs typeface="+mn-cs"/>
              </a:defRPr>
            </a:lvl1pPr>
          </a:lstStyle>
          <a:p>
            <a:fld id="{AF33F0E2-3294-4740-8E22-F3EF5A8BEBAB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24420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408000" y="581440"/>
            <a:ext cx="11376000" cy="45719"/>
          </a:xfrm>
          <a:prstGeom prst="rect">
            <a:avLst/>
          </a:prstGeom>
          <a:gradFill flip="none" rotWithShape="1">
            <a:gsLst>
              <a:gs pos="0">
                <a:srgbClr val="55CFD1">
                  <a:shade val="30000"/>
                  <a:satMod val="115000"/>
                </a:srgbClr>
              </a:gs>
              <a:gs pos="50000">
                <a:srgbClr val="55CFD1">
                  <a:shade val="67500"/>
                  <a:satMod val="115000"/>
                </a:srgbClr>
              </a:gs>
              <a:gs pos="100000">
                <a:srgbClr val="55CFD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6000" cy="1439862"/>
          </a:xfrm>
          <a:prstGeom prst="rect">
            <a:avLst/>
          </a:prstGeom>
        </p:spPr>
        <p:txBody>
          <a:bodyPr wrap="none" lIns="36000" rIns="36000" rtlCol="0" anchor="t" anchorCtr="0">
            <a:norm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3589311" cy="424661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9837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0" y="6605899"/>
            <a:ext cx="12192000" cy="252101"/>
          </a:xfrm>
          <a:prstGeom prst="rect">
            <a:avLst/>
          </a:prstGeom>
          <a:solidFill>
            <a:srgbClr val="55CFD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CFA9321B-8E93-4938-ACA9-6254A66BA3E1}" type="slidenum">
              <a:rPr lang="ko-KR" altLang="en-US" sz="1200" smtClean="0">
                <a:solidFill>
                  <a:schemeClr val="bg1"/>
                </a:solidFill>
              </a:rPr>
              <a:pPr algn="r"/>
              <a:t>‹#›</a:t>
            </a:fld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79229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4" r:id="rId5"/>
    <p:sldLayoutId id="2147483666" r:id="rId6"/>
    <p:sldLayoutId id="2147483668" r:id="rId7"/>
    <p:sldLayoutId id="2147483676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36312" y="1758756"/>
            <a:ext cx="769822" cy="3154639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199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5CFD1"/>
                </a:solidFill>
                <a:latin typeface="맑은 고딕" pitchFamily="50" charset="-127"/>
                <a:cs typeface="Arial" panose="020B0604020202020204" pitchFamily="34" charset="0"/>
              </a:rPr>
              <a:t>A</a:t>
            </a:r>
            <a:endParaRPr kumimoji="1" lang="en-US" altLang="ko-KR" sz="199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55CFD1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27448" y="3505196"/>
            <a:ext cx="8496944" cy="584705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buClr>
                <a:srgbClr val="FF5000"/>
              </a:buClr>
              <a:defRPr/>
            </a:pPr>
            <a:r>
              <a:rPr kumimoji="1" lang="en-US" altLang="ko-KR" sz="3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2F2F2"/>
                </a:solidFill>
                <a:latin typeface="맑은 고딕" pitchFamily="50" charset="-127"/>
                <a:cs typeface="Arial" panose="020B0604020202020204" pitchFamily="34" charset="0"/>
              </a:rPr>
              <a:t>OO                 Feedback 26-0903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95800" y="4089901"/>
            <a:ext cx="2593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EBF9F9"/>
                </a:solidFill>
              </a:rPr>
              <a:t>8</a:t>
            </a:r>
            <a:r>
              <a:rPr lang="ko-KR" altLang="en-US" b="1" dirty="0">
                <a:solidFill>
                  <a:srgbClr val="EBF9F9"/>
                </a:solidFill>
              </a:rPr>
              <a:t>시 </a:t>
            </a:r>
            <a:r>
              <a:rPr lang="en-US" altLang="ko-KR" b="1" dirty="0">
                <a:solidFill>
                  <a:srgbClr val="EBF9F9"/>
                </a:solidFill>
              </a:rPr>
              <a:t>30</a:t>
            </a:r>
            <a:r>
              <a:rPr lang="ko-KR" altLang="en-US" b="1" dirty="0">
                <a:solidFill>
                  <a:srgbClr val="EBF9F9"/>
                </a:solidFill>
              </a:rPr>
              <a:t>분에 시작합니다</a:t>
            </a:r>
            <a:endParaRPr lang="en-US" altLang="ko-KR" b="1" dirty="0">
              <a:solidFill>
                <a:srgbClr val="EBF9F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34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0286" y="1916832"/>
            <a:ext cx="9868727" cy="17007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읽을 만한 것을 작성한다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간결하고 읽을 만한 유스케이스는 도움이 되지만 읽기 어려운 유스케이스는 그렇지 않다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 algn="r">
              <a:lnSpc>
                <a:spcPct val="150000"/>
              </a:lnSpc>
            </a:pP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dirty="0" err="1">
                <a:solidFill>
                  <a:schemeClr val="bg1">
                    <a:lumMod val="50000"/>
                  </a:schemeClr>
                </a:solidFill>
              </a:rPr>
              <a:t>UseCases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직각 삼각형 2"/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71464" y="5013176"/>
            <a:ext cx="4079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설계 문서의 독자로는 누가 있을까요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241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3717032"/>
            <a:ext cx="11233248" cy="28500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600" dirty="0"/>
              <a:t>이해관계자는 유스케이스 행위 안에서 폭넓은 관심을 가지고 있는 사람이나 사물이다</a:t>
            </a:r>
            <a:r>
              <a:rPr lang="en-US" altLang="ko-KR" sz="1600" dirty="0"/>
              <a:t>. </a:t>
            </a:r>
            <a:r>
              <a:rPr lang="ko-KR" altLang="en-US" sz="1600" dirty="0"/>
              <a:t>물론</a:t>
            </a:r>
            <a:r>
              <a:rPr lang="en-US" altLang="ko-KR" sz="1600" dirty="0"/>
              <a:t>, </a:t>
            </a:r>
            <a:r>
              <a:rPr lang="ko-KR" altLang="en-US" sz="1600" dirty="0"/>
              <a:t>모든 일차 </a:t>
            </a:r>
            <a:r>
              <a:rPr lang="ko-KR" altLang="en-US" sz="1600" dirty="0" err="1"/>
              <a:t>액터는</a:t>
            </a:r>
            <a:r>
              <a:rPr lang="ko-KR" altLang="en-US" sz="1600" dirty="0"/>
              <a:t> 이해관계자이지만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어떤 이해관계자는 시스템의 동작을 다룰 권한이 있음에도 불구하고 시스템과 직접 상호작용하지 않는다</a:t>
            </a:r>
            <a:r>
              <a:rPr lang="en-US" altLang="ko-KR" sz="1600" dirty="0"/>
              <a:t>. </a:t>
            </a:r>
            <a:r>
              <a:rPr lang="ko-KR" altLang="en-US" sz="1600" dirty="0"/>
              <a:t>시스템 소유주나 회사의 이사회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국내 </a:t>
            </a:r>
            <a:r>
              <a:rPr lang="ko-KR" altLang="en-US" sz="1600" dirty="0" err="1"/>
              <a:t>세무국이나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보험국과</a:t>
            </a:r>
            <a:r>
              <a:rPr lang="ko-KR" altLang="en-US" sz="1600" dirty="0"/>
              <a:t> 같은 정부의 규제이관이 그 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… </a:t>
            </a:r>
            <a:r>
              <a:rPr lang="ko-KR" altLang="en-US" sz="1600" dirty="0"/>
              <a:t>그들의 이해 관계는 시스템이 수행하는 것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시스템이 만드는 로그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시스템이 수행하는 행동을 확인하고 타당성을 검증하는 과정에서 나타난다</a:t>
            </a:r>
            <a:r>
              <a:rPr lang="en-US" altLang="ko-KR" sz="1600" dirty="0"/>
              <a:t>. </a:t>
            </a:r>
            <a:r>
              <a:rPr lang="ko-KR" altLang="en-US" sz="1600" dirty="0">
                <a:solidFill>
                  <a:srgbClr val="FF0000"/>
                </a:solidFill>
              </a:rPr>
              <a:t>유스케이스는 시스템이 이해관계자의 </a:t>
            </a:r>
            <a:r>
              <a:rPr lang="ko-KR" altLang="en-US" sz="1600" u="sng" dirty="0">
                <a:solidFill>
                  <a:srgbClr val="FF0000"/>
                </a:solidFill>
              </a:rPr>
              <a:t>이익을 보호하는지를 보여주어야 </a:t>
            </a:r>
            <a:r>
              <a:rPr lang="ko-KR" altLang="en-US" sz="1600" dirty="0">
                <a:solidFill>
                  <a:srgbClr val="FF0000"/>
                </a:solidFill>
              </a:rPr>
              <a:t>한다</a:t>
            </a:r>
            <a:r>
              <a:rPr lang="en-US" altLang="ko-KR" sz="1600" dirty="0"/>
              <a:t>. </a:t>
            </a:r>
            <a:r>
              <a:rPr lang="ko-KR" altLang="en-US" sz="1600" dirty="0"/>
              <a:t>이것을 소홀히 했을 때 지불하는 대가를 보여주는 이야기를 소개한다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pPr algn="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</a:rPr>
              <a:t>Usecase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3" name="직사각형 2"/>
          <p:cNvSpPr/>
          <p:nvPr/>
        </p:nvSpPr>
        <p:spPr>
          <a:xfrm>
            <a:off x="390462" y="764704"/>
            <a:ext cx="11161240" cy="2281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시나리오는 </a:t>
            </a:r>
            <a:r>
              <a:rPr lang="ko-KR" altLang="en-US" sz="1500" dirty="0" err="1"/>
              <a:t>액터와</a:t>
            </a:r>
            <a:r>
              <a:rPr lang="ko-KR" altLang="en-US" sz="1500" dirty="0"/>
              <a:t> 시스템간의 행위를 기술한다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주어로 시작해서 </a:t>
            </a:r>
            <a:r>
              <a:rPr lang="ko-KR" altLang="en-US" sz="1500" dirty="0" err="1"/>
              <a:t>능동형으로</a:t>
            </a:r>
            <a:r>
              <a:rPr lang="ko-KR" altLang="en-US" sz="1500" dirty="0"/>
              <a:t> 끝낸다</a:t>
            </a:r>
            <a:r>
              <a:rPr lang="en-US" altLang="ko-KR" sz="1500" dirty="0"/>
              <a:t>. (</a:t>
            </a:r>
            <a:r>
              <a:rPr lang="ko-KR" altLang="en-US" sz="1500" dirty="0"/>
              <a:t>수동형 문장이 있는지 확인한다</a:t>
            </a:r>
            <a:r>
              <a:rPr lang="en-US" altLang="ko-KR" sz="1500" dirty="0"/>
              <a:t>.)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아래 순서로 고민을 하면서 작성을 한다</a:t>
            </a:r>
            <a:r>
              <a:rPr lang="en-US" altLang="ko-KR" sz="1500" dirty="0"/>
              <a:t>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/>
              <a:t>Usecase</a:t>
            </a:r>
            <a:r>
              <a:rPr lang="ko-KR" altLang="en-US" sz="1500" dirty="0"/>
              <a:t>이름 </a:t>
            </a:r>
            <a:r>
              <a:rPr lang="en-US" altLang="ko-KR" sz="1500" dirty="0"/>
              <a:t>-&gt; stakeholders &amp;interest -&gt; primary actor- &gt; success end condition -&gt; main scenario-&gt; extensions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500" dirty="0" err="1"/>
              <a:t>Extenstions</a:t>
            </a:r>
            <a:r>
              <a:rPr lang="ko-KR" altLang="en-US" sz="1500" dirty="0"/>
              <a:t>에 </a:t>
            </a:r>
            <a:r>
              <a:rPr lang="ko-KR" altLang="en-US" sz="1500" dirty="0" err="1"/>
              <a:t>메인시나리오</a:t>
            </a:r>
            <a:r>
              <a:rPr lang="ko-KR" altLang="en-US" sz="1500" dirty="0"/>
              <a:t> 수행 중 발생할 수 있는 예외 상황</a:t>
            </a:r>
            <a:r>
              <a:rPr lang="en-US" altLang="ko-KR" sz="1500" dirty="0"/>
              <a:t>, </a:t>
            </a:r>
            <a:r>
              <a:rPr lang="ko-KR" altLang="en-US" sz="1500" dirty="0"/>
              <a:t>대체 상황들이 어떤 것이 있을지 많이 </a:t>
            </a:r>
            <a:r>
              <a:rPr lang="ko-KR" altLang="en-US" sz="1500" dirty="0" err="1"/>
              <a:t>브레인스토밍하여</a:t>
            </a:r>
            <a:r>
              <a:rPr lang="en-US" altLang="ko-KR" sz="1500" dirty="0"/>
              <a:t>, </a:t>
            </a:r>
            <a:r>
              <a:rPr lang="ko-KR" altLang="en-US" sz="1500" dirty="0"/>
              <a:t>해당 상황에서 사용자의 이익을 만족 시키기 위해 해야 하는 행위가 무엇인지를 고민하여 </a:t>
            </a:r>
            <a:r>
              <a:rPr lang="ko-KR" altLang="en-US" sz="1500" dirty="0" err="1"/>
              <a:t>상황별</a:t>
            </a:r>
            <a:r>
              <a:rPr lang="ko-KR" altLang="en-US" sz="1500" dirty="0"/>
              <a:t> 시나리오를 작성한다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ko-KR" altLang="en-US" sz="1500" dirty="0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D3202A16-413A-4306-9D2D-DAA910146DBA}"/>
              </a:ext>
            </a:extLst>
          </p:cNvPr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467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733564" cy="424661"/>
          </a:xfrm>
        </p:spPr>
        <p:txBody>
          <a:bodyPr/>
          <a:lstStyle/>
          <a:p>
            <a:r>
              <a:rPr lang="en-US" altLang="ko-KR" dirty="0"/>
              <a:t>Include &amp; Extend</a:t>
            </a:r>
            <a:endParaRPr lang="ko-KR" altLang="en-US" dirty="0"/>
          </a:p>
        </p:txBody>
      </p:sp>
      <p:sp>
        <p:nvSpPr>
          <p:cNvPr id="4" name="AutoShape 2" descr="https://confluence.samsungds.net/download/attachments/672938761/200386124AB7444724.jpg?version=1&amp;modificationDate=1580204606000&amp;api=v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AutoShape 4" descr="https://confluence.samsungds.net/download/attachments/672938761/200386124AB7444724.jpg?version=1&amp;modificationDate=1580204606000&amp;api=v2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863902" y="1648810"/>
            <a:ext cx="1620000" cy="720000"/>
          </a:xfrm>
          <a:prstGeom prst="ellipse">
            <a:avLst/>
          </a:prstGeom>
          <a:pattFill prst="sm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타원 9"/>
          <p:cNvSpPr/>
          <p:nvPr/>
        </p:nvSpPr>
        <p:spPr>
          <a:xfrm>
            <a:off x="3401828" y="1648810"/>
            <a:ext cx="1620000" cy="720000"/>
          </a:xfrm>
          <a:prstGeom prst="ellipse">
            <a:avLst/>
          </a:prstGeom>
          <a:pattFill prst="lgCheck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1970846" y="1825916"/>
            <a:ext cx="351224" cy="3657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4548008" y="1825916"/>
            <a:ext cx="351224" cy="3657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863903" y="2656920"/>
            <a:ext cx="1620000" cy="720000"/>
          </a:xfrm>
          <a:prstGeom prst="ellipse">
            <a:avLst/>
          </a:prstGeom>
          <a:pattFill prst="sm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타원 13"/>
          <p:cNvSpPr/>
          <p:nvPr/>
        </p:nvSpPr>
        <p:spPr>
          <a:xfrm>
            <a:off x="3401829" y="2656920"/>
            <a:ext cx="1620000" cy="720000"/>
          </a:xfrm>
          <a:prstGeom prst="ellipse">
            <a:avLst/>
          </a:prstGeom>
          <a:pattFill prst="lgCheck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954699" y="2834027"/>
            <a:ext cx="351224" cy="3657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4548008" y="2834028"/>
            <a:ext cx="351224" cy="3657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2767254" y="3495261"/>
            <a:ext cx="351224" cy="3657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stCxn id="13" idx="4"/>
            <a:endCxn id="17" idx="2"/>
          </p:cNvCxnSpPr>
          <p:nvPr/>
        </p:nvCxnSpPr>
        <p:spPr>
          <a:xfrm>
            <a:off x="1673903" y="3376920"/>
            <a:ext cx="1093351" cy="301235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14" idx="4"/>
            <a:endCxn id="17" idx="6"/>
          </p:cNvCxnSpPr>
          <p:nvPr/>
        </p:nvCxnSpPr>
        <p:spPr>
          <a:xfrm flipH="1">
            <a:off x="3118478" y="3376920"/>
            <a:ext cx="1093351" cy="301235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/>
          <p:cNvSpPr/>
          <p:nvPr/>
        </p:nvSpPr>
        <p:spPr>
          <a:xfrm>
            <a:off x="7002142" y="2228784"/>
            <a:ext cx="351224" cy="365787"/>
          </a:xfrm>
          <a:prstGeom prst="ellipse">
            <a:avLst/>
          </a:prstGeom>
          <a:pattFill prst="dashHorz">
            <a:fgClr>
              <a:schemeClr val="accent6"/>
            </a:fgClr>
            <a:bgClr>
              <a:schemeClr val="bg1"/>
            </a:bgClr>
          </a:pattFill>
          <a:ln w="19050"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10566136" y="2244668"/>
            <a:ext cx="351224" cy="365787"/>
          </a:xfrm>
          <a:prstGeom prst="ellipse">
            <a:avLst/>
          </a:prstGeom>
          <a:pattFill prst="wdDnDiag">
            <a:fgClr>
              <a:srgbClr val="70AD47"/>
            </a:fgClr>
            <a:bgClr>
              <a:schemeClr val="bg1"/>
            </a:bgClr>
          </a:pattFill>
          <a:ln w="19050">
            <a:solidFill>
              <a:srgbClr val="70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507032" y="2224874"/>
            <a:ext cx="8947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Include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536831" y="2224874"/>
            <a:ext cx="8490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</a:rPr>
              <a:t>Extend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8151339" y="2656920"/>
            <a:ext cx="1620000" cy="720000"/>
          </a:xfrm>
          <a:prstGeom prst="ellipse">
            <a:avLst/>
          </a:prstGeom>
          <a:pattFill prst="diagBrick">
            <a:fgClr>
              <a:schemeClr val="accent6"/>
            </a:fgClr>
            <a:bgClr>
              <a:schemeClr val="bg1"/>
            </a:bgClr>
          </a:patt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7002142" y="3312367"/>
            <a:ext cx="351224" cy="365787"/>
          </a:xfrm>
          <a:prstGeom prst="ellipse">
            <a:avLst/>
          </a:prstGeom>
          <a:pattFill prst="dashHorz">
            <a:fgClr>
              <a:schemeClr val="accent6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10569311" y="3308353"/>
            <a:ext cx="351224" cy="365787"/>
          </a:xfrm>
          <a:prstGeom prst="ellipse">
            <a:avLst/>
          </a:prstGeom>
          <a:pattFill prst="wdDnDiag">
            <a:fgClr>
              <a:schemeClr val="accent6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5" name="직선 화살표 연결선 34"/>
          <p:cNvCxnSpPr>
            <a:stCxn id="32" idx="6"/>
            <a:endCxn id="31" idx="3"/>
          </p:cNvCxnSpPr>
          <p:nvPr/>
        </p:nvCxnSpPr>
        <p:spPr>
          <a:xfrm flipV="1">
            <a:off x="7353366" y="3271478"/>
            <a:ext cx="1035217" cy="223783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33" idx="2"/>
            <a:endCxn id="31" idx="5"/>
          </p:cNvCxnSpPr>
          <p:nvPr/>
        </p:nvCxnSpPr>
        <p:spPr>
          <a:xfrm flipH="1" flipV="1">
            <a:off x="9534095" y="3271478"/>
            <a:ext cx="1035216" cy="219769"/>
          </a:xfrm>
          <a:prstGeom prst="straightConnector1">
            <a:avLst/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8000" y="781992"/>
            <a:ext cx="11376001" cy="307706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kumimoji="1" lang="ko-KR" altLang="en-US" sz="14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화살표의 방향은 의존 방향을 의미 합니다</a:t>
            </a:r>
            <a:r>
              <a:rPr kumimoji="1" lang="en-US" altLang="ko-KR" sz="14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 </a:t>
            </a:r>
          </a:p>
        </p:txBody>
      </p:sp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33720"/>
              </p:ext>
            </p:extLst>
          </p:nvPr>
        </p:nvGraphicFramePr>
        <p:xfrm>
          <a:off x="407999" y="4365104"/>
          <a:ext cx="11520648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84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Include</a:t>
                      </a:r>
                      <a:endParaRPr lang="ko-KR" altLang="en-US" sz="14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Extend</a:t>
                      </a:r>
                      <a:endParaRPr lang="ko-KR" altLang="en-US" sz="14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해당 유스케이스가 선택사항인가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아니요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예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해당 유스케이스 없이도 기반 유스케이스가 완전한가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아니요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해당 유스케이스를 조건부로 실행하는가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아니요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해당 유스케이스가 기반 유스케이스 행위를 변경시키는가</a:t>
                      </a:r>
                      <a:r>
                        <a:rPr lang="en-US" altLang="ko-KR" sz="1400" dirty="0"/>
                        <a:t>?</a:t>
                      </a:r>
                      <a:endParaRPr lang="ko-KR" altLang="en-US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아니요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예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408000" y="6237312"/>
            <a:ext cx="43942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표 </a:t>
            </a:r>
            <a:r>
              <a:rPr lang="en-US" altLang="ko-KR" sz="1400" dirty="0"/>
              <a:t>5-1 </a:t>
            </a:r>
            <a:r>
              <a:rPr lang="ko-KR" altLang="en-US" sz="1400" dirty="0"/>
              <a:t>포함하기</a:t>
            </a:r>
            <a:r>
              <a:rPr lang="en-US" altLang="ko-KR" sz="1400" dirty="0"/>
              <a:t>(include)</a:t>
            </a:r>
            <a:r>
              <a:rPr lang="ko-KR" altLang="en-US" sz="1400" dirty="0"/>
              <a:t>와</a:t>
            </a:r>
            <a:r>
              <a:rPr lang="en-US" altLang="ko-KR" sz="1400" dirty="0"/>
              <a:t> </a:t>
            </a:r>
            <a:r>
              <a:rPr lang="ko-KR" altLang="en-US" sz="1400" dirty="0"/>
              <a:t>확장하기</a:t>
            </a:r>
            <a:r>
              <a:rPr lang="en-US" altLang="ko-KR" sz="1400" dirty="0"/>
              <a:t>(extend) </a:t>
            </a:r>
            <a:r>
              <a:rPr lang="ko-KR" altLang="en-US" sz="1400" dirty="0"/>
              <a:t>차이점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7177754" y="6237311"/>
            <a:ext cx="46137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(UML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을 활용한 객체지향 분석 설계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그래디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부치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외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400" dirty="0"/>
              <a:t> )</a:t>
            </a:r>
            <a:endParaRPr lang="ko-KR" altLang="en-US" sz="1400" dirty="0"/>
          </a:p>
        </p:txBody>
      </p:sp>
      <p:sp>
        <p:nvSpPr>
          <p:cNvPr id="23" name="타원 22"/>
          <p:cNvSpPr/>
          <p:nvPr/>
        </p:nvSpPr>
        <p:spPr>
          <a:xfrm>
            <a:off x="7002142" y="1648810"/>
            <a:ext cx="1620000" cy="720000"/>
          </a:xfrm>
          <a:prstGeom prst="ellipse">
            <a:avLst/>
          </a:prstGeom>
          <a:pattFill prst="diagBrick">
            <a:fgClr>
              <a:schemeClr val="accent6"/>
            </a:fgClr>
            <a:bgClr>
              <a:schemeClr val="bg1"/>
            </a:bgClr>
          </a:patt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9300536" y="1648810"/>
            <a:ext cx="1620000" cy="720000"/>
          </a:xfrm>
          <a:prstGeom prst="ellipse">
            <a:avLst/>
          </a:prstGeom>
          <a:pattFill prst="diagBrick">
            <a:fgClr>
              <a:schemeClr val="accent6"/>
            </a:fgClr>
            <a:bgClr>
              <a:schemeClr val="bg1"/>
            </a:bgClr>
          </a:patt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0" name="직선 연결선 19"/>
          <p:cNvCxnSpPr>
            <a:stCxn id="25" idx="0"/>
            <a:endCxn id="25" idx="7"/>
          </p:cNvCxnSpPr>
          <p:nvPr/>
        </p:nvCxnSpPr>
        <p:spPr>
          <a:xfrm>
            <a:off x="7177754" y="2228784"/>
            <a:ext cx="124176" cy="53568"/>
          </a:xfrm>
          <a:prstGeom prst="line">
            <a:avLst/>
          </a:prstGeom>
          <a:ln w="3492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26" idx="1"/>
            <a:endCxn id="26" idx="0"/>
          </p:cNvCxnSpPr>
          <p:nvPr/>
        </p:nvCxnSpPr>
        <p:spPr>
          <a:xfrm flipV="1">
            <a:off x="10617572" y="2244668"/>
            <a:ext cx="124176" cy="53568"/>
          </a:xfrm>
          <a:prstGeom prst="line">
            <a:avLst/>
          </a:prstGeom>
          <a:ln w="34925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12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733564" cy="424661"/>
          </a:xfrm>
        </p:spPr>
        <p:txBody>
          <a:bodyPr/>
          <a:lstStyle/>
          <a:p>
            <a:r>
              <a:rPr lang="en-US" altLang="ko-KR" dirty="0"/>
              <a:t>Include &amp; Extend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407368" y="764704"/>
            <a:ext cx="1072919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kumimoji="1" lang="ko-KR" altLang="en-US" sz="1500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유스케이스를</a:t>
            </a:r>
            <a:r>
              <a:rPr kumimoji="1" lang="ko-KR" altLang="en-US" sz="15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두 가지 방법으로 그려 봤습니다</a:t>
            </a:r>
            <a:r>
              <a:rPr kumimoji="1" lang="en-US" altLang="ko-KR" sz="15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67" y="1268760"/>
            <a:ext cx="11488869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01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l="5300" r="5514"/>
          <a:stretch/>
        </p:blipFill>
        <p:spPr>
          <a:xfrm>
            <a:off x="335360" y="1065809"/>
            <a:ext cx="5598656" cy="337130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3267" r="4556"/>
          <a:stretch/>
        </p:blipFill>
        <p:spPr>
          <a:xfrm>
            <a:off x="6142329" y="1065810"/>
            <a:ext cx="5786319" cy="33713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4647" y="260648"/>
            <a:ext cx="11376001" cy="630871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lang="en-US" altLang="ko-KR" sz="1500" dirty="0"/>
              <a:t>Use case Diagram</a:t>
            </a:r>
            <a:r>
              <a:rPr lang="ko-KR" altLang="en-US" sz="1500" dirty="0"/>
              <a:t>은 시스템의 </a:t>
            </a:r>
            <a:r>
              <a:rPr lang="ko-KR" altLang="en-US" sz="1500" b="1" dirty="0"/>
              <a:t>주요 기능</a:t>
            </a:r>
            <a:r>
              <a:rPr lang="ko-KR" altLang="en-US" sz="1500" dirty="0"/>
              <a:t>을 한 눈에 파악하도록 도와야 합니다</a:t>
            </a:r>
          </a:p>
          <a:p>
            <a:pPr marL="742950" lvl="1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lang="ko-KR" altLang="en-US" sz="1500" dirty="0"/>
              <a:t>모든 기능을 억지로 표현하려 하지 마세요</a:t>
            </a:r>
            <a:endParaRPr lang="en-US" altLang="ko-KR" sz="1500" dirty="0"/>
          </a:p>
        </p:txBody>
      </p:sp>
      <p:sp>
        <p:nvSpPr>
          <p:cNvPr id="5" name="TextBox 4"/>
          <p:cNvSpPr txBox="1"/>
          <p:nvPr/>
        </p:nvSpPr>
        <p:spPr>
          <a:xfrm>
            <a:off x="551384" y="4710043"/>
            <a:ext cx="11233248" cy="20313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500" dirty="0"/>
              <a:t>이 장은 짧다</a:t>
            </a:r>
            <a:r>
              <a:rPr lang="en-US" altLang="ko-KR" sz="1500" dirty="0"/>
              <a:t>. </a:t>
            </a:r>
            <a:r>
              <a:rPr lang="ko-KR" altLang="en-US" sz="1500" dirty="0"/>
              <a:t>주제가 단순하기 때문에 짧은 것이 당연하다</a:t>
            </a:r>
            <a:r>
              <a:rPr lang="en-US" altLang="ko-KR" sz="1500" dirty="0"/>
              <a:t>. </a:t>
            </a:r>
            <a:r>
              <a:rPr lang="ko-KR" altLang="en-US" sz="1500" dirty="0"/>
              <a:t>여러분이 유스케이스를 대할 때도 이렇게 단순하게 사용하려는 마음가짐을 가져야 한다</a:t>
            </a:r>
            <a:r>
              <a:rPr lang="en-US" altLang="ko-KR" sz="1500" dirty="0"/>
              <a:t>. </a:t>
            </a:r>
            <a:r>
              <a:rPr lang="ko-KR" altLang="en-US" sz="1500" dirty="0"/>
              <a:t>자칫 복잡한 유스케이스라는 암흑의 길에 발을 들여 놓는다면</a:t>
            </a:r>
            <a:r>
              <a:rPr lang="en-US" altLang="ko-KR" sz="1500" dirty="0"/>
              <a:t>, </a:t>
            </a:r>
            <a:r>
              <a:rPr lang="ko-KR" altLang="en-US" sz="1500" dirty="0"/>
              <a:t>그것이 영원히 여러분의 운명을 지배할 것이다</a:t>
            </a:r>
            <a:r>
              <a:rPr lang="en-US" altLang="ko-KR" sz="1500" dirty="0"/>
              <a:t>. </a:t>
            </a:r>
            <a:r>
              <a:rPr lang="ko-KR" altLang="en-US" sz="1500" dirty="0" err="1"/>
              <a:t>포스를</a:t>
            </a:r>
            <a:r>
              <a:rPr lang="ko-KR" altLang="en-US" sz="1500" dirty="0"/>
              <a:t> 사용하라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ko-KR" altLang="en-US" sz="1500" dirty="0"/>
              <a:t>그리고 유스케이스를 단순하게 유지하라</a:t>
            </a:r>
            <a:r>
              <a:rPr lang="en-US" altLang="ko-KR" sz="1500" dirty="0"/>
              <a:t>. </a:t>
            </a:r>
          </a:p>
          <a:p>
            <a:pPr algn="r"/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 UML 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실전에서는 이것만 쓴다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로버트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C.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마틴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500" dirty="0"/>
              <a:t> </a:t>
            </a:r>
            <a:endParaRPr lang="ko-KR" altLang="en-US" sz="1500" dirty="0"/>
          </a:p>
        </p:txBody>
      </p:sp>
      <p:sp>
        <p:nvSpPr>
          <p:cNvPr id="6" name="직각 삼각형 5"/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656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1584" y="2204864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92D050"/>
                </a:solidFill>
              </a:rPr>
              <a:t>피드백 시간에는 눈에 뛰는 일부를 공유합니다</a:t>
            </a:r>
            <a:r>
              <a:rPr lang="en-US" altLang="ko-KR" dirty="0">
                <a:solidFill>
                  <a:srgbClr val="92D050"/>
                </a:solidFill>
              </a:rPr>
              <a:t>.</a:t>
            </a:r>
            <a:r>
              <a:rPr lang="ko-KR" altLang="en-US" dirty="0">
                <a:solidFill>
                  <a:srgbClr val="92D050"/>
                </a:solidFill>
              </a:rPr>
              <a:t> </a:t>
            </a:r>
            <a:br>
              <a:rPr lang="en-US" altLang="ko-KR" dirty="0">
                <a:solidFill>
                  <a:srgbClr val="92D050"/>
                </a:solidFill>
              </a:rPr>
            </a:br>
            <a:endParaRPr lang="en-US" altLang="ko-KR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92D050"/>
                </a:solidFill>
              </a:rPr>
              <a:t>피드백 시간에 언급한 내용들을 바탕으로 </a:t>
            </a:r>
            <a:br>
              <a:rPr lang="en-US" altLang="ko-KR" dirty="0">
                <a:solidFill>
                  <a:srgbClr val="92D050"/>
                </a:solidFill>
              </a:rPr>
            </a:br>
            <a:r>
              <a:rPr lang="ko-KR" altLang="en-US" dirty="0">
                <a:solidFill>
                  <a:srgbClr val="92D050"/>
                </a:solidFill>
              </a:rPr>
              <a:t>작성 하셨던 모든 것을 리뷰 해보시기를 권고 드립니다</a:t>
            </a:r>
            <a:r>
              <a:rPr lang="en-US" altLang="ko-KR" dirty="0">
                <a:solidFill>
                  <a:srgbClr val="92D05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60503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DEA0523-6019-4E3C-86F2-BAA23BD04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470797"/>
              </p:ext>
            </p:extLst>
          </p:nvPr>
        </p:nvGraphicFramePr>
        <p:xfrm>
          <a:off x="93163" y="63601"/>
          <a:ext cx="7704856" cy="3169920"/>
        </p:xfrm>
        <a:graphic>
          <a:graphicData uri="http://schemas.openxmlformats.org/drawingml/2006/table">
            <a:tbl>
              <a:tblPr/>
              <a:tblGrid>
                <a:gridCol w="1333921">
                  <a:extLst>
                    <a:ext uri="{9D8B030D-6E8A-4147-A177-3AD203B41FA5}">
                      <a16:colId xmlns:a16="http://schemas.microsoft.com/office/drawing/2014/main" val="1774398570"/>
                    </a:ext>
                  </a:extLst>
                </a:gridCol>
                <a:gridCol w="6370935">
                  <a:extLst>
                    <a:ext uri="{9D8B030D-6E8A-4147-A177-3AD203B41FA5}">
                      <a16:colId xmlns:a16="http://schemas.microsoft.com/office/drawing/2014/main" val="907645998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Stakeholders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and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Interests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가맹점주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회원 가입한 계정으로 로그인하여 서비스를 이용하기를 원한다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  <a:p>
                      <a:pPr rtl="0" fontAlgn="ctr"/>
                      <a:r>
                        <a:rPr lang="ko-KR" altLang="en-US" sz="13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사용자가 로그인 기능에 대해 원하는 것 걱정 하는 것이 무엇일지 고민하면 조금은 다르게 작성이 될 것 같습니다</a:t>
                      </a:r>
                      <a:r>
                        <a:rPr lang="en-US" altLang="ko-KR" sz="13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시스템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사용자의 계정 데이터로 권한을 판별하여 적절한 기능을 제공한다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  <a:p>
                      <a:pPr rtl="0" fontAlgn="ctr"/>
                      <a:r>
                        <a:rPr lang="ko-KR" altLang="en-US" sz="13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시스템이 </a:t>
                      </a:r>
                      <a:r>
                        <a:rPr lang="en-US" altLang="ko-KR" sz="13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Stakeholder </a:t>
                      </a:r>
                      <a:r>
                        <a:rPr lang="ko-KR" altLang="en-US" sz="13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일까요</a:t>
                      </a:r>
                      <a:r>
                        <a:rPr lang="en-US" altLang="ko-KR" sz="13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?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지역 상품권 관리자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관리자 권한으로 로그인 하여 시스템의 관리 권한을 얻는다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541734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Preconditions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가맹점주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지역 상품권 관리자는 시스템에 등록된 계정을 가지고 있다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가맹점주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지역 상품권 관리자는 시스템에 </a:t>
                      </a:r>
                      <a:r>
                        <a:rPr lang="ko-KR" altLang="en-US" sz="13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네트워크 연결이 가능한 상태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이다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97440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Success </a:t>
                      </a:r>
                      <a:br>
                        <a:rPr lang="en-US" sz="1300" b="1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Gurantee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로그인 요청 계정의 인증이 완료되고 권한 정보가 확인 되어 로그인 세션이 생성된다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13837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Main Success </a:t>
                      </a:r>
                      <a:br>
                        <a:rPr lang="en-US" sz="1300" b="1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Scenario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1.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로그인 주체가 등록된 계정 정보를 제공하고 로그인을 요청한다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시스템은 제공된 계정 정보의 유효성을 확인한다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   </a:t>
                      </a:r>
                      <a:r>
                        <a:rPr lang="en-US" altLang="ko-KR" sz="1300" b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2,</a:t>
                      </a:r>
                      <a:r>
                        <a:rPr lang="ko-KR" altLang="en-US" sz="1300" b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altLang="ko-KR" sz="1300" b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ko-KR" altLang="en-US" sz="1300" b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번은 같은 내용인 것 같아요</a:t>
                      </a:r>
                      <a:r>
                        <a:rPr lang="en-US" altLang="ko-KR" sz="1300" b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3.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시스템은 로그인 주체를 인증한다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4.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시스템은 로그인 완료 결과를 로그인 주체에게 제공한다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834236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Extension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[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사용자가 입력한 정보가 올바르지 않을 경우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]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2.a.1.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시스템은 사용자에게 로그인 실패 메시지를 제공하고 로그인 화면을 유지한다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7940621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42B7ED02-1789-4AF0-8ED2-95A978193AA2}"/>
              </a:ext>
            </a:extLst>
          </p:cNvPr>
          <p:cNvSpPr/>
          <p:nvPr/>
        </p:nvSpPr>
        <p:spPr>
          <a:xfrm>
            <a:off x="8544272" y="2204864"/>
            <a:ext cx="337506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300" dirty="0">
                <a:solidFill>
                  <a:schemeClr val="accent6"/>
                </a:solidFill>
              </a:rPr>
              <a:t>가능하면 시스템 외부에서 관찰 할 수 없는 내용은 기술하지 않으려 고민해 보아요</a:t>
            </a:r>
            <a:r>
              <a:rPr lang="en-US" altLang="ko-KR" sz="1300" dirty="0">
                <a:solidFill>
                  <a:schemeClr val="accent6"/>
                </a:solidFill>
              </a:rPr>
              <a:t>~</a:t>
            </a:r>
            <a:endParaRPr lang="ko-KR" altLang="en-US" sz="13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234E9-DF44-48AB-8237-8BB0A487B0A9}"/>
              </a:ext>
            </a:extLst>
          </p:cNvPr>
          <p:cNvSpPr txBox="1"/>
          <p:nvPr/>
        </p:nvSpPr>
        <p:spPr>
          <a:xfrm>
            <a:off x="114977" y="3817060"/>
            <a:ext cx="3698448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300" dirty="0"/>
              <a:t>사용자는 아이디와 비밀번호를 입력한다</a:t>
            </a:r>
            <a:r>
              <a:rPr lang="en-US" altLang="ko-KR" sz="13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로그인이 완료 되었음을 알린다</a:t>
            </a:r>
            <a:r>
              <a:rPr lang="en-US" altLang="ko-KR" sz="1300" dirty="0"/>
              <a:t>. </a:t>
            </a:r>
          </a:p>
          <a:p>
            <a:endParaRPr lang="ko-KR" altLang="en-US" sz="1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1F167E-6F04-47BE-ABF2-17C94B777DC1}"/>
              </a:ext>
            </a:extLst>
          </p:cNvPr>
          <p:cNvSpPr txBox="1"/>
          <p:nvPr/>
        </p:nvSpPr>
        <p:spPr>
          <a:xfrm>
            <a:off x="4439816" y="3752655"/>
            <a:ext cx="3698448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300" dirty="0"/>
              <a:t>사용자는 아이디와 비밀번호를 입력한다</a:t>
            </a:r>
            <a:r>
              <a:rPr lang="en-US" altLang="ko-KR" sz="13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300" dirty="0">
                <a:solidFill>
                  <a:schemeClr val="bg1">
                    <a:lumMod val="50000"/>
                  </a:schemeClr>
                </a:solidFill>
              </a:rPr>
              <a:t>시스템은 사용자 정보를 인증한다</a:t>
            </a:r>
            <a:r>
              <a:rPr lang="en-US" altLang="ko-KR" sz="13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로그인이 완료 되었음을 알린다</a:t>
            </a:r>
            <a:r>
              <a:rPr lang="en-US" altLang="ko-KR" sz="1300" dirty="0"/>
              <a:t>. </a:t>
            </a:r>
            <a:endParaRPr lang="ko-KR" alt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31FCA-9E3E-4BAD-B859-BD9E6620F44A}"/>
              </a:ext>
            </a:extLst>
          </p:cNvPr>
          <p:cNvSpPr txBox="1"/>
          <p:nvPr/>
        </p:nvSpPr>
        <p:spPr>
          <a:xfrm>
            <a:off x="8040216" y="3717032"/>
            <a:ext cx="4221027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300" dirty="0"/>
              <a:t>사용자는 로그인을 요청한다</a:t>
            </a:r>
            <a:r>
              <a:rPr lang="en-US" altLang="ko-KR" sz="1300" dirty="0"/>
              <a:t>. 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사용자 인증 정보 입력 화면을 출력한다</a:t>
            </a:r>
            <a:endParaRPr lang="en-US" altLang="ko-KR" sz="1300" dirty="0"/>
          </a:p>
          <a:p>
            <a:pPr marL="342900" indent="-342900">
              <a:buAutoNum type="arabicPeriod"/>
            </a:pPr>
            <a:r>
              <a:rPr lang="ko-KR" altLang="en-US" sz="1300" dirty="0"/>
              <a:t>사용자는 아이디와 비밀번호를 입력한다</a:t>
            </a:r>
            <a:r>
              <a:rPr lang="en-US" altLang="ko-KR" sz="1300" dirty="0"/>
              <a:t>. 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로그인이 완료 되었음을 알린다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449D4-9FBB-4A37-A4FF-2A23710D65B4}"/>
              </a:ext>
            </a:extLst>
          </p:cNvPr>
          <p:cNvSpPr txBox="1"/>
          <p:nvPr/>
        </p:nvSpPr>
        <p:spPr>
          <a:xfrm>
            <a:off x="125286" y="4463204"/>
            <a:ext cx="422102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[1a. </a:t>
            </a:r>
            <a:r>
              <a:rPr lang="ko-KR" altLang="en-US" sz="1300" dirty="0"/>
              <a:t>사용자가 잘못된 계정 정보를 입력 하였을 경우</a:t>
            </a:r>
            <a:r>
              <a:rPr lang="en-US" altLang="ko-KR" sz="1300" dirty="0"/>
              <a:t>]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비밀 번호를 잘못 입력 하였음을 알린다</a:t>
            </a:r>
            <a:r>
              <a:rPr lang="en-US" altLang="ko-KR" sz="1300" dirty="0"/>
              <a:t>.</a:t>
            </a:r>
            <a:endParaRPr lang="ko-KR" alt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C3D5D-0FB3-45BA-B7DB-3F14D6E91B85}"/>
              </a:ext>
            </a:extLst>
          </p:cNvPr>
          <p:cNvSpPr txBox="1"/>
          <p:nvPr/>
        </p:nvSpPr>
        <p:spPr>
          <a:xfrm>
            <a:off x="114977" y="5121864"/>
            <a:ext cx="8324715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/>
              <a:t>[1b. </a:t>
            </a:r>
            <a:r>
              <a:rPr lang="ko-KR" altLang="en-US" sz="1300" dirty="0"/>
              <a:t>사용자가 </a:t>
            </a:r>
            <a:r>
              <a:rPr lang="en-US" altLang="ko-KR" sz="1300" dirty="0"/>
              <a:t>5</a:t>
            </a:r>
            <a:r>
              <a:rPr lang="ko-KR" altLang="en-US" sz="1300" dirty="0"/>
              <a:t>회 이상 비밀 번호를 잘 못 입력 하였을 경우</a:t>
            </a:r>
            <a:r>
              <a:rPr lang="en-US" altLang="ko-KR" sz="1300" dirty="0"/>
              <a:t>]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사용자 이메일로 이상 로그인 시도 감지를 알린다</a:t>
            </a:r>
            <a:r>
              <a:rPr lang="en-US" altLang="ko-KR" sz="1300" dirty="0"/>
              <a:t>.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연속 로그인 실패로 인해 </a:t>
            </a:r>
            <a:r>
              <a:rPr lang="en-US" altLang="ko-KR" sz="1300" dirty="0"/>
              <a:t>1</a:t>
            </a:r>
            <a:r>
              <a:rPr lang="ko-KR" altLang="en-US" sz="1300" dirty="0"/>
              <a:t>시간동안 로그인을 할 수 없음을 알리고 본 </a:t>
            </a:r>
            <a:r>
              <a:rPr lang="ko-KR" altLang="en-US" sz="1300" dirty="0" err="1"/>
              <a:t>유스케이스를</a:t>
            </a:r>
            <a:r>
              <a:rPr lang="ko-KR" altLang="en-US" sz="1300" dirty="0"/>
              <a:t> 종료한다</a:t>
            </a:r>
            <a:r>
              <a:rPr lang="en-US" altLang="ko-KR" sz="1300" dirty="0"/>
              <a:t>. 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82325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B5F304-C253-41B5-88E0-A9271BAEB0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46" b="1455"/>
          <a:stretch/>
        </p:blipFill>
        <p:spPr>
          <a:xfrm>
            <a:off x="6457323" y="4175231"/>
            <a:ext cx="4824536" cy="2695143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8FE2702-3E5B-4FB9-82A3-A57C740A7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796211"/>
              </p:ext>
            </p:extLst>
          </p:nvPr>
        </p:nvGraphicFramePr>
        <p:xfrm>
          <a:off x="119336" y="116632"/>
          <a:ext cx="8856984" cy="3977640"/>
        </p:xfrm>
        <a:graphic>
          <a:graphicData uri="http://schemas.openxmlformats.org/drawingml/2006/table">
            <a:tbl>
              <a:tblPr/>
              <a:tblGrid>
                <a:gridCol w="1874139">
                  <a:extLst>
                    <a:ext uri="{9D8B030D-6E8A-4147-A177-3AD203B41FA5}">
                      <a16:colId xmlns:a16="http://schemas.microsoft.com/office/drawing/2014/main" val="3975998705"/>
                    </a:ext>
                  </a:extLst>
                </a:gridCol>
                <a:gridCol w="6982845">
                  <a:extLst>
                    <a:ext uri="{9D8B030D-6E8A-4147-A177-3AD203B41FA5}">
                      <a16:colId xmlns:a16="http://schemas.microsoft.com/office/drawing/2014/main" val="517938078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Stakeholders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and Interests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dirty="0">
                          <a:effectLst/>
                        </a:rPr>
                        <a:t>사용자</a:t>
                      </a:r>
                      <a:r>
                        <a:rPr lang="en-US" altLang="ko-KR" sz="1300" dirty="0">
                          <a:effectLst/>
                        </a:rPr>
                        <a:t>: </a:t>
                      </a:r>
                      <a:r>
                        <a:rPr lang="ko-KR" altLang="en-US" sz="1300" dirty="0">
                          <a:effectLst/>
                        </a:rPr>
                        <a:t>원하는 액수의 금액만큼 지역 상품권을 구매</a:t>
                      </a:r>
                      <a:br>
                        <a:rPr lang="ko-KR" altLang="en-US" sz="1300" dirty="0">
                          <a:effectLst/>
                        </a:rPr>
                      </a:br>
                      <a:r>
                        <a:rPr lang="ko-KR" altLang="en-US" sz="1300" dirty="0">
                          <a:effectLst/>
                        </a:rPr>
                        <a:t>금융 시스템</a:t>
                      </a:r>
                      <a:r>
                        <a:rPr lang="en-US" altLang="ko-KR" sz="1300" dirty="0">
                          <a:effectLst/>
                        </a:rPr>
                        <a:t>: </a:t>
                      </a:r>
                      <a:r>
                        <a:rPr lang="ko-KR" altLang="en-US" sz="1300" dirty="0">
                          <a:effectLst/>
                        </a:rPr>
                        <a:t>구매에 사용된 금액 처리 </a:t>
                      </a:r>
                      <a:r>
                        <a:rPr lang="en-US" altLang="ko-KR" sz="1300" dirty="0">
                          <a:effectLst/>
                        </a:rPr>
                        <a:t>, </a:t>
                      </a:r>
                      <a:r>
                        <a:rPr lang="ko-KR" altLang="en-US" sz="1300" dirty="0">
                          <a:effectLst/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effectLst/>
                        </a:rPr>
                        <a:t>금융 시스템 관리자나 개발자 처럼 요구 사항에 변경을 요청 할 수 있는 명확한 주체였으면 합니다</a:t>
                      </a:r>
                      <a:r>
                        <a:rPr lang="en-US" altLang="ko-KR" sz="1300" dirty="0">
                          <a:effectLst/>
                        </a:rPr>
                        <a:t>. </a:t>
                      </a:r>
                      <a:endParaRPr lang="ko-KR" altLang="en-US" sz="1300" dirty="0">
                        <a:effectLst/>
                      </a:endParaRP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66844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Preconditions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dirty="0">
                          <a:effectLst/>
                        </a:rPr>
                        <a:t>사용자는 시스템에 은행</a:t>
                      </a:r>
                      <a:r>
                        <a:rPr lang="en-US" altLang="ko-KR" sz="1300" dirty="0">
                          <a:effectLst/>
                        </a:rPr>
                        <a:t>/</a:t>
                      </a:r>
                      <a:r>
                        <a:rPr lang="ko-KR" altLang="en-US" sz="1300" dirty="0">
                          <a:effectLst/>
                        </a:rPr>
                        <a:t>카드사를 연동한 상태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74999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Success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 err="1">
                          <a:effectLst/>
                          <a:latin typeface="Arial" panose="020B0604020202020204" pitchFamily="34" charset="0"/>
                        </a:rPr>
                        <a:t>Gurantee</a:t>
                      </a:r>
                      <a:endParaRPr lang="en-US" sz="1300" b="1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dirty="0">
                          <a:effectLst/>
                        </a:rPr>
                        <a:t>사용자는 요청한 금액 만큼의 지역 상품권을 얻게 되고 요청한 금액만큼의 현금을 소모</a:t>
                      </a:r>
                      <a:r>
                        <a:rPr lang="en-US" altLang="ko-KR" sz="1300" dirty="0">
                          <a:effectLst/>
                        </a:rPr>
                        <a:t>. </a:t>
                      </a:r>
                      <a:r>
                        <a:rPr lang="ko-KR" altLang="en-US" sz="1300" dirty="0">
                          <a:effectLst/>
                        </a:rPr>
                        <a:t>시스템은 남은 예산을 업데이트</a:t>
                      </a:r>
                      <a:r>
                        <a:rPr lang="en-US" altLang="ko-KR" sz="1300" dirty="0">
                          <a:effectLst/>
                        </a:rPr>
                        <a:t>.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692505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Main Success </a:t>
                      </a:r>
                      <a:br>
                        <a:rPr lang="en-US" sz="1300" b="1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Scenario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300" dirty="0">
                          <a:effectLst/>
                        </a:rPr>
                        <a:t>1. </a:t>
                      </a:r>
                      <a:r>
                        <a:rPr lang="ko-KR" altLang="en-US" sz="1300" dirty="0">
                          <a:effectLst/>
                        </a:rPr>
                        <a:t>사용자가 시스템에게 특정 금액의 지역 상품권 구매를 요청한다</a:t>
                      </a:r>
                      <a:r>
                        <a:rPr lang="en-US" altLang="ko-KR" sz="1300" dirty="0">
                          <a:effectLst/>
                        </a:rPr>
                        <a:t>.</a:t>
                      </a:r>
                      <a:br>
                        <a:rPr lang="en-US" altLang="ko-KR" sz="1300" dirty="0"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2. </a:t>
                      </a:r>
                      <a:r>
                        <a:rPr lang="ko-KR" altLang="en-US" sz="1300" dirty="0">
                          <a:effectLst/>
                        </a:rPr>
                        <a:t>시스템은 사용자와 연동된 금융 시스템에 잔액이 남았는지를 문의한다</a:t>
                      </a:r>
                      <a:r>
                        <a:rPr lang="en-US" altLang="ko-KR" sz="1300" dirty="0">
                          <a:effectLst/>
                        </a:rPr>
                        <a:t>.</a:t>
                      </a:r>
                      <a:br>
                        <a:rPr lang="en-US" altLang="ko-KR" sz="1300" dirty="0"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3.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effectLst/>
                        </a:rPr>
                        <a:t>시스템은 한도가 남는지를 확인한다</a:t>
                      </a:r>
                      <a:br>
                        <a:rPr lang="ko-KR" altLang="en-US" sz="1300" dirty="0"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4. </a:t>
                      </a:r>
                      <a:r>
                        <a:rPr lang="ko-KR" altLang="en-US" sz="1300" dirty="0">
                          <a:effectLst/>
                        </a:rPr>
                        <a:t>시스템은 금융 시스템에 요청하여 비용이 지자체에게 지불되도록 요청한다</a:t>
                      </a:r>
                      <a:r>
                        <a:rPr lang="en-US" altLang="ko-KR" sz="1300" dirty="0">
                          <a:effectLst/>
                        </a:rPr>
                        <a:t>.</a:t>
                      </a:r>
                      <a:br>
                        <a:rPr lang="en-US" altLang="ko-KR" sz="1300" dirty="0"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5. </a:t>
                      </a:r>
                      <a:r>
                        <a:rPr lang="ko-KR" altLang="en-US" sz="1300" dirty="0">
                          <a:effectLst/>
                        </a:rPr>
                        <a:t>금융 시스템은 해당 금액을 지자체에게 지불한다</a:t>
                      </a:r>
                      <a:r>
                        <a:rPr lang="en-US" altLang="ko-KR" sz="1300" dirty="0">
                          <a:effectLst/>
                        </a:rPr>
                        <a:t>.</a:t>
                      </a:r>
                      <a:br>
                        <a:rPr lang="en-US" altLang="ko-KR" sz="1300" dirty="0"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6. </a:t>
                      </a:r>
                      <a:r>
                        <a:rPr lang="ko-KR" altLang="en-US" sz="1300" dirty="0">
                          <a:effectLst/>
                        </a:rPr>
                        <a:t>시스템은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effectLst/>
                        </a:rPr>
                        <a:t>플랫폼에</a:t>
                      </a:r>
                      <a:r>
                        <a:rPr lang="ko-KR" altLang="en-US" sz="1300" dirty="0">
                          <a:effectLst/>
                        </a:rPr>
                        <a:t> 특정 금액의 지역 상품권이 구매되었음을 표시한다</a:t>
                      </a:r>
                      <a:r>
                        <a:rPr lang="en-US" altLang="ko-KR" sz="1300" dirty="0">
                          <a:effectLst/>
                        </a:rPr>
                        <a:t>.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effectLst/>
                        </a:rPr>
                        <a:t>플랫폼은 </a:t>
                      </a:r>
                      <a:r>
                        <a:rPr lang="ko-KR" altLang="en-US" sz="1300" dirty="0" err="1">
                          <a:solidFill>
                            <a:srgbClr val="FF0000"/>
                          </a:solidFill>
                          <a:effectLst/>
                        </a:rPr>
                        <a:t>뭘까요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effectLst/>
                        </a:rPr>
                        <a:t>?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6199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>
                          <a:effectLst/>
                          <a:latin typeface="Arial" panose="020B0604020202020204" pitchFamily="34" charset="0"/>
                        </a:rPr>
                        <a:t>Extension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300" dirty="0">
                          <a:effectLst/>
                        </a:rPr>
                        <a:t>[</a:t>
                      </a:r>
                      <a:r>
                        <a:rPr lang="ko-KR" altLang="en-US" sz="1300" dirty="0">
                          <a:effectLst/>
                        </a:rPr>
                        <a:t>금융 시스템이 연동되지 않은 경우</a:t>
                      </a:r>
                      <a:r>
                        <a:rPr lang="en-US" altLang="ko-KR" sz="1300" dirty="0">
                          <a:effectLst/>
                        </a:rPr>
                        <a:t>]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effectLst/>
                        </a:rPr>
                        <a:t>preconditions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effectLst/>
                        </a:rPr>
                        <a:t>에 연동이 되었음 명시한 상태입니다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effectLst/>
                        </a:rPr>
                        <a:t>.</a:t>
                      </a:r>
                      <a:br>
                        <a:rPr lang="en-US" altLang="ko-KR" sz="1300" dirty="0">
                          <a:solidFill>
                            <a:srgbClr val="FF0000"/>
                          </a:solidFill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2.a.1 </a:t>
                      </a:r>
                      <a:r>
                        <a:rPr lang="ko-KR" altLang="en-US" sz="1300" dirty="0">
                          <a:effectLst/>
                        </a:rPr>
                        <a:t>금융 시스템이 연동되지 않았다는 팝업을 띄운다</a:t>
                      </a:r>
                      <a:r>
                        <a:rPr lang="en-US" altLang="ko-KR" sz="1300" dirty="0">
                          <a:effectLst/>
                        </a:rPr>
                        <a:t>.</a:t>
                      </a:r>
                      <a:br>
                        <a:rPr lang="en-US" altLang="ko-KR" sz="1300" dirty="0">
                          <a:effectLst/>
                        </a:rPr>
                      </a:br>
                      <a:br>
                        <a:rPr lang="en-US" altLang="ko-KR" sz="1300" dirty="0"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[</a:t>
                      </a:r>
                      <a:r>
                        <a:rPr lang="ko-KR" altLang="en-US" sz="1300" dirty="0">
                          <a:effectLst/>
                        </a:rPr>
                        <a:t>금융 시스템에 잔액이 부족한 경우</a:t>
                      </a:r>
                      <a:r>
                        <a:rPr lang="en-US" altLang="ko-KR" sz="1300" dirty="0">
                          <a:effectLst/>
                        </a:rPr>
                        <a:t>]</a:t>
                      </a:r>
                      <a:br>
                        <a:rPr lang="en-US" altLang="ko-KR" sz="1300" dirty="0"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2.b.1 </a:t>
                      </a:r>
                      <a:r>
                        <a:rPr lang="ko-KR" altLang="en-US" sz="1300" dirty="0">
                          <a:effectLst/>
                        </a:rPr>
                        <a:t>금융 시스템에 잔액이 부족하다는 팝업을 띄운다</a:t>
                      </a:r>
                      <a:r>
                        <a:rPr lang="en-US" altLang="ko-KR" sz="1300" dirty="0">
                          <a:effectLst/>
                        </a:rPr>
                        <a:t>.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effectLst/>
                        </a:rPr>
                        <a:t>UC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effectLst/>
                        </a:rPr>
                        <a:t>를 종료를 명시 해야 합니다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effectLst/>
                        </a:rPr>
                        <a:t>. </a:t>
                      </a:r>
                      <a:br>
                        <a:rPr lang="en-US" altLang="ko-KR" sz="1300" dirty="0">
                          <a:effectLst/>
                        </a:rPr>
                      </a:br>
                      <a:br>
                        <a:rPr lang="en-US" altLang="ko-KR" sz="1300" dirty="0"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[</a:t>
                      </a:r>
                      <a:r>
                        <a:rPr lang="ko-KR" altLang="en-US" sz="1300" dirty="0">
                          <a:effectLst/>
                        </a:rPr>
                        <a:t>지자체의 발행 한도가 부족한 경우</a:t>
                      </a:r>
                      <a:r>
                        <a:rPr lang="en-US" altLang="ko-KR" sz="1300" dirty="0">
                          <a:effectLst/>
                        </a:rPr>
                        <a:t>]</a:t>
                      </a:r>
                      <a:br>
                        <a:rPr lang="en-US" altLang="ko-KR" sz="1300" dirty="0">
                          <a:effectLst/>
                        </a:rPr>
                      </a:br>
                      <a:r>
                        <a:rPr lang="en-US" altLang="ko-KR" sz="1300" dirty="0">
                          <a:effectLst/>
                        </a:rPr>
                        <a:t>3.a.1 </a:t>
                      </a:r>
                      <a:r>
                        <a:rPr lang="ko-KR" altLang="en-US" sz="1300" dirty="0">
                          <a:effectLst/>
                        </a:rPr>
                        <a:t>발행 한도가 부족하다는 팝업을 띄운다</a:t>
                      </a:r>
                      <a:r>
                        <a:rPr lang="en-US" altLang="ko-KR" sz="1300" dirty="0">
                          <a:effectLst/>
                        </a:rPr>
                        <a:t>. 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  <a:effectLst/>
                        </a:rPr>
                        <a:t>주어가 생략 되었습니다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  <a:effectLst/>
                        </a:rPr>
                        <a:t>!!!!!!!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374878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61B692F2-ED88-4A4A-8C66-92F8DB2C0E65}"/>
              </a:ext>
            </a:extLst>
          </p:cNvPr>
          <p:cNvSpPr/>
          <p:nvPr/>
        </p:nvSpPr>
        <p:spPr>
          <a:xfrm>
            <a:off x="9192345" y="1124744"/>
            <a:ext cx="2520280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300" dirty="0">
                <a:solidFill>
                  <a:schemeClr val="accent6"/>
                </a:solidFill>
              </a:rPr>
              <a:t>가능하면 시스템 외부에서 관찰 할 수 없는 내용은 기술하지 않으려 고민해 보아요</a:t>
            </a:r>
            <a:r>
              <a:rPr lang="en-US" altLang="ko-KR" sz="1300" dirty="0">
                <a:solidFill>
                  <a:schemeClr val="accent6"/>
                </a:solidFill>
              </a:rPr>
              <a:t>~</a:t>
            </a:r>
            <a:endParaRPr lang="ko-KR" altLang="en-US" sz="1300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3112C-FB60-4D76-AFCB-873B380F1440}"/>
              </a:ext>
            </a:extLst>
          </p:cNvPr>
          <p:cNvSpPr txBox="1"/>
          <p:nvPr/>
        </p:nvSpPr>
        <p:spPr>
          <a:xfrm>
            <a:off x="119336" y="4509120"/>
            <a:ext cx="5615342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300" dirty="0"/>
              <a:t>사용자는 구매할 지역 상품권 금액을 입력한다</a:t>
            </a:r>
            <a:r>
              <a:rPr lang="en-US" altLang="ko-KR" sz="1300" dirty="0"/>
              <a:t>. 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금융시스템에 상품권 금액 결제 요청을 한다</a:t>
            </a:r>
            <a:r>
              <a:rPr lang="en-US" altLang="ko-KR" sz="1300" dirty="0"/>
              <a:t>. 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금융 시스템은 상품권 금액을 지자체에 지불한다</a:t>
            </a:r>
            <a:r>
              <a:rPr lang="en-US" altLang="ko-KR" sz="1300" dirty="0"/>
              <a:t>.  </a:t>
            </a:r>
            <a:br>
              <a:rPr lang="en-US" altLang="ko-KR" sz="1300" dirty="0"/>
            </a:br>
            <a:r>
              <a:rPr lang="en-US" altLang="ko-KR" sz="13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300" dirty="0">
                <a:solidFill>
                  <a:schemeClr val="bg1">
                    <a:lumMod val="50000"/>
                  </a:schemeClr>
                </a:solidFill>
              </a:rPr>
              <a:t>지자체에 지불하는 것이 맞는지 모르겠습니다</a:t>
            </a:r>
            <a:r>
              <a:rPr lang="en-US" altLang="ko-KR" sz="1300" dirty="0">
                <a:solidFill>
                  <a:schemeClr val="bg1">
                    <a:lumMod val="50000"/>
                  </a:schemeClr>
                </a:solidFill>
              </a:rPr>
              <a:t>.)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사용자에게 구매한 상품권 금액과 인센티브 금액을 알린다</a:t>
            </a:r>
            <a:r>
              <a:rPr lang="en-US" altLang="ko-KR" sz="1300" dirty="0"/>
              <a:t>.</a:t>
            </a:r>
          </a:p>
          <a:p>
            <a:pPr marL="342900" indent="-342900">
              <a:buAutoNum type="arabicPeriod"/>
            </a:pPr>
            <a:endParaRPr lang="en-US" altLang="ko-KR" sz="1300" dirty="0"/>
          </a:p>
          <a:p>
            <a:r>
              <a:rPr lang="en-US" altLang="ko-KR" sz="1300" dirty="0"/>
              <a:t>[3a.</a:t>
            </a:r>
            <a:r>
              <a:rPr lang="ko-KR" altLang="en-US" sz="1300" dirty="0"/>
              <a:t> 사용자 계좌 잔액이 부족한 경우</a:t>
            </a:r>
            <a:r>
              <a:rPr lang="en-US" altLang="ko-KR" sz="1300" dirty="0"/>
              <a:t>]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금융 시스템은 잔액이 부족함을 알린다</a:t>
            </a:r>
            <a:r>
              <a:rPr lang="en-US" altLang="ko-KR" sz="1300" dirty="0"/>
              <a:t>. </a:t>
            </a:r>
          </a:p>
          <a:p>
            <a:pPr marL="342900" indent="-342900">
              <a:buAutoNum type="arabicPeriod"/>
            </a:pPr>
            <a:r>
              <a:rPr lang="ko-KR" altLang="en-US" sz="1300" dirty="0"/>
              <a:t>시스템은 사용자에게 잔액 부족으로 상품권 구매 할 수 없다고 알리고 본 </a:t>
            </a:r>
            <a:r>
              <a:rPr lang="en-US" altLang="ko-KR" sz="1300" dirty="0"/>
              <a:t>UC</a:t>
            </a:r>
            <a:r>
              <a:rPr lang="ko-KR" altLang="en-US" sz="1300" dirty="0"/>
              <a:t>를 종료한다</a:t>
            </a:r>
            <a:r>
              <a:rPr lang="en-US" altLang="ko-KR" sz="1300" dirty="0"/>
              <a:t>. </a:t>
            </a:r>
          </a:p>
          <a:p>
            <a:pPr marL="342900" indent="-342900">
              <a:buAutoNum type="arabicPeriod"/>
            </a:pPr>
            <a:endParaRPr lang="en-US" altLang="ko-KR" sz="1300" dirty="0"/>
          </a:p>
        </p:txBody>
      </p:sp>
    </p:spTree>
    <p:extLst>
      <p:ext uri="{BB962C8B-B14F-4D97-AF65-F5344CB8AC3E}">
        <p14:creationId xmlns:p14="http://schemas.microsoft.com/office/powerpoint/2010/main" val="3160195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7928CEE-B64E-4F6E-86C6-1C8270057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497" y="2051454"/>
            <a:ext cx="8655921" cy="475821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998FC40-9A01-4526-BE42-846DB9A3D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476672"/>
            <a:ext cx="7160248" cy="316835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D73E766-FB76-4738-90AF-2992E0C7ACD5}"/>
              </a:ext>
            </a:extLst>
          </p:cNvPr>
          <p:cNvSpPr/>
          <p:nvPr/>
        </p:nvSpPr>
        <p:spPr>
          <a:xfrm>
            <a:off x="2927648" y="1124744"/>
            <a:ext cx="410344" cy="4103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3CD57C-7FCE-4B45-90A4-7E0B0DA434F0}"/>
              </a:ext>
            </a:extLst>
          </p:cNvPr>
          <p:cNvSpPr/>
          <p:nvPr/>
        </p:nvSpPr>
        <p:spPr>
          <a:xfrm>
            <a:off x="4727848" y="2708920"/>
            <a:ext cx="410344" cy="4103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B2D51-3331-4B14-8041-97751D6C520D}"/>
              </a:ext>
            </a:extLst>
          </p:cNvPr>
          <p:cNvSpPr txBox="1"/>
          <p:nvPr/>
        </p:nvSpPr>
        <p:spPr>
          <a:xfrm>
            <a:off x="8256240" y="620688"/>
            <a:ext cx="2765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가맹점 결제 취소는 </a:t>
            </a:r>
            <a:r>
              <a:rPr lang="en-US" altLang="ko-KR" sz="1400" dirty="0">
                <a:solidFill>
                  <a:srgbClr val="FF0000"/>
                </a:solidFill>
              </a:rPr>
              <a:t>ID</a:t>
            </a:r>
            <a:r>
              <a:rPr lang="ko-KR" altLang="en-US" sz="1400" dirty="0">
                <a:solidFill>
                  <a:srgbClr val="FF0000"/>
                </a:solidFill>
              </a:rPr>
              <a:t>가 없네요</a:t>
            </a:r>
          </a:p>
        </p:txBody>
      </p:sp>
    </p:spTree>
    <p:extLst>
      <p:ext uri="{BB962C8B-B14F-4D97-AF65-F5344CB8AC3E}">
        <p14:creationId xmlns:p14="http://schemas.microsoft.com/office/powerpoint/2010/main" val="2749499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CF3CC25-E474-464B-B743-FB7A3E6E8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821217"/>
              </p:ext>
            </p:extLst>
          </p:nvPr>
        </p:nvGraphicFramePr>
        <p:xfrm>
          <a:off x="839416" y="764704"/>
          <a:ext cx="9001000" cy="594360"/>
        </p:xfrm>
        <a:graphic>
          <a:graphicData uri="http://schemas.openxmlformats.org/drawingml/2006/table">
            <a:tbl>
              <a:tblPr/>
              <a:tblGrid>
                <a:gridCol w="1369453">
                  <a:extLst>
                    <a:ext uri="{9D8B030D-6E8A-4147-A177-3AD203B41FA5}">
                      <a16:colId xmlns:a16="http://schemas.microsoft.com/office/drawing/2014/main" val="349949198"/>
                    </a:ext>
                  </a:extLst>
                </a:gridCol>
                <a:gridCol w="7631547">
                  <a:extLst>
                    <a:ext uri="{9D8B030D-6E8A-4147-A177-3AD203B41FA5}">
                      <a16:colId xmlns:a16="http://schemas.microsoft.com/office/drawing/2014/main" val="4189919448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Stakeholders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and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Interests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시스템에 접근하여 플랫폼 서비스를 이용하고자 함</a:t>
                      </a:r>
                      <a:b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플랫폼 운영팀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인가된 사용자만 접근하도록 하여 보안을 유지하길 원함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814599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4242240-39F6-403C-A3D6-6F9E43112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679161"/>
              </p:ext>
            </p:extLst>
          </p:nvPr>
        </p:nvGraphicFramePr>
        <p:xfrm>
          <a:off x="839416" y="1772816"/>
          <a:ext cx="9001000" cy="594360"/>
        </p:xfrm>
        <a:graphic>
          <a:graphicData uri="http://schemas.openxmlformats.org/drawingml/2006/table">
            <a:tbl>
              <a:tblPr/>
              <a:tblGrid>
                <a:gridCol w="1339844">
                  <a:extLst>
                    <a:ext uri="{9D8B030D-6E8A-4147-A177-3AD203B41FA5}">
                      <a16:colId xmlns:a16="http://schemas.microsoft.com/office/drawing/2014/main" val="3016257565"/>
                    </a:ext>
                  </a:extLst>
                </a:gridCol>
                <a:gridCol w="7661156">
                  <a:extLst>
                    <a:ext uri="{9D8B030D-6E8A-4147-A177-3AD203B41FA5}">
                      <a16:colId xmlns:a16="http://schemas.microsoft.com/office/drawing/2014/main" val="3393399150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Stakeholders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and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Interests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가맹점주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회원 가입한 계정으로 로그인하여 서비스를 이용하기를 원한다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3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시스템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사용자의 계정 데이터로 권한을 판별하여 적절한 기능을 제공한다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지역 상품권 관리자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관리자 권한으로 로그인 하여 시스템의 관리 권한을 얻는다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73061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6530844-0F22-470D-B23C-DFC8A37DB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122365"/>
              </p:ext>
            </p:extLst>
          </p:nvPr>
        </p:nvGraphicFramePr>
        <p:xfrm>
          <a:off x="832972" y="2672720"/>
          <a:ext cx="9001000" cy="792480"/>
        </p:xfrm>
        <a:graphic>
          <a:graphicData uri="http://schemas.openxmlformats.org/drawingml/2006/table">
            <a:tbl>
              <a:tblPr/>
              <a:tblGrid>
                <a:gridCol w="1412180">
                  <a:extLst>
                    <a:ext uri="{9D8B030D-6E8A-4147-A177-3AD203B41FA5}">
                      <a16:colId xmlns:a16="http://schemas.microsoft.com/office/drawing/2014/main" val="252134587"/>
                    </a:ext>
                  </a:extLst>
                </a:gridCol>
                <a:gridCol w="7588820">
                  <a:extLst>
                    <a:ext uri="{9D8B030D-6E8A-4147-A177-3AD203B41FA5}">
                      <a16:colId xmlns:a16="http://schemas.microsoft.com/office/drawing/2014/main" val="155228711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Stakeholders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and </a:t>
                      </a:r>
                      <a:b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300" b="1" dirty="0">
                          <a:effectLst/>
                          <a:latin typeface="Arial" panose="020B0604020202020204" pitchFamily="34" charset="0"/>
                        </a:rPr>
                        <a:t>Interests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 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필수적인 정보만을 입력하여 간단히 가입 및 로그인을 완료하고 싶다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지역상품권 관리자 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사용자의 취향까지 수집 가능한 모든 정보를 가입 시점에 얻어서 마케팅을 위한 정보로 사용하고 싶다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3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금융시스템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: </a:t>
                      </a:r>
                      <a:r>
                        <a:rPr lang="ko-KR" altLang="en-US" sz="1300" b="0" dirty="0">
                          <a:effectLst/>
                          <a:latin typeface="Arial" panose="020B0604020202020204" pitchFamily="34" charset="0"/>
                        </a:rPr>
                        <a:t>사용자의 정보를 획득하여 결제가 되게 </a:t>
                      </a:r>
                      <a:r>
                        <a:rPr lang="ko-KR" altLang="en-US" sz="1300" b="0" dirty="0" err="1">
                          <a:effectLst/>
                          <a:latin typeface="Arial" panose="020B0604020202020204" pitchFamily="34" charset="0"/>
                        </a:rPr>
                        <a:t>해야한다</a:t>
                      </a:r>
                      <a:r>
                        <a:rPr lang="en-US" altLang="ko-KR" sz="13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51442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6D259E-9450-425D-AC57-9CA5994D26BB}"/>
              </a:ext>
            </a:extLst>
          </p:cNvPr>
          <p:cNvSpPr txBox="1"/>
          <p:nvPr/>
        </p:nvSpPr>
        <p:spPr>
          <a:xfrm>
            <a:off x="839416" y="332656"/>
            <a:ext cx="4480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각각의 </a:t>
            </a:r>
            <a:r>
              <a:rPr lang="en-US" altLang="ko-KR" dirty="0"/>
              <a:t>Use case name</a:t>
            </a:r>
            <a:r>
              <a:rPr lang="ko-KR" altLang="en-US" dirty="0"/>
              <a:t>을 추측해 볼까요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57D7-410C-4953-93F1-AD14F3553598}"/>
              </a:ext>
            </a:extLst>
          </p:cNvPr>
          <p:cNvSpPr txBox="1"/>
          <p:nvPr/>
        </p:nvSpPr>
        <p:spPr>
          <a:xfrm>
            <a:off x="407368" y="3717032"/>
            <a:ext cx="11233248" cy="246381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600" dirty="0"/>
              <a:t>이해관계자는 유스케이스 행위 안에서 폭넓은 관심을 가지고 있는 사람이나 사물이다</a:t>
            </a:r>
            <a:r>
              <a:rPr lang="en-US" altLang="ko-KR" sz="1600" dirty="0"/>
              <a:t>. </a:t>
            </a:r>
            <a:r>
              <a:rPr lang="ko-KR" altLang="en-US" sz="1600" dirty="0"/>
              <a:t>물론</a:t>
            </a:r>
            <a:r>
              <a:rPr lang="en-US" altLang="ko-KR" sz="1600" dirty="0"/>
              <a:t>, </a:t>
            </a:r>
            <a:r>
              <a:rPr lang="ko-KR" altLang="en-US" sz="1600" dirty="0"/>
              <a:t>모든 일차 </a:t>
            </a:r>
            <a:r>
              <a:rPr lang="ko-KR" altLang="en-US" sz="1600" dirty="0" err="1"/>
              <a:t>액터는</a:t>
            </a:r>
            <a:r>
              <a:rPr lang="ko-KR" altLang="en-US" sz="1600" dirty="0"/>
              <a:t> 이해관계자이지만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어떤 이해관계자는 시스템의 동작을 다룰 권한이 있음에도 불구하고 시스템과 직접 상호작용하지 않는다</a:t>
            </a:r>
            <a:r>
              <a:rPr lang="en-US" altLang="ko-KR" sz="1600" dirty="0"/>
              <a:t>. </a:t>
            </a:r>
            <a:r>
              <a:rPr lang="ko-KR" altLang="en-US" sz="1600" dirty="0"/>
              <a:t>시스템 소유주나 회사의 이사회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국내 </a:t>
            </a:r>
            <a:r>
              <a:rPr lang="ko-KR" altLang="en-US" sz="1600" dirty="0" err="1"/>
              <a:t>세무국이나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보험국과</a:t>
            </a:r>
            <a:r>
              <a:rPr lang="ko-KR" altLang="en-US" sz="1600" dirty="0"/>
              <a:t> 같은 정부의 규제이관이 그 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… </a:t>
            </a:r>
            <a:r>
              <a:rPr lang="ko-KR" altLang="en-US" sz="1600" dirty="0"/>
              <a:t>그들의 이해 관계는 시스템이 수행하는 것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시스템이 만드는 로그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시스템이 수행하는 행동을 확인하고 타당성을 검증하는 과정에서 나타난다</a:t>
            </a:r>
            <a:r>
              <a:rPr lang="en-US" altLang="ko-KR" sz="1600" dirty="0"/>
              <a:t>. </a:t>
            </a:r>
            <a:r>
              <a:rPr lang="ko-KR" altLang="en-US" sz="1600" dirty="0"/>
              <a:t>유스케이스는 시스템이 이해관계자의 이익을 보호하는지를 보여주어야 한다</a:t>
            </a:r>
            <a:r>
              <a:rPr lang="en-US" altLang="ko-KR" sz="1600" dirty="0"/>
              <a:t>. </a:t>
            </a:r>
          </a:p>
          <a:p>
            <a:endParaRPr lang="en-US" altLang="ko-KR" sz="1600" dirty="0"/>
          </a:p>
          <a:p>
            <a:pPr algn="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</a:rPr>
              <a:t>Usecase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45308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F88C16C-02E6-44A6-84C0-506FF241C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97671"/>
              </p:ext>
            </p:extLst>
          </p:nvPr>
        </p:nvGraphicFramePr>
        <p:xfrm>
          <a:off x="429278" y="980728"/>
          <a:ext cx="10513168" cy="1920240"/>
        </p:xfrm>
        <a:graphic>
          <a:graphicData uri="http://schemas.openxmlformats.org/drawingml/2006/table">
            <a:tbl>
              <a:tblPr/>
              <a:tblGrid>
                <a:gridCol w="1994314">
                  <a:extLst>
                    <a:ext uri="{9D8B030D-6E8A-4147-A177-3AD203B41FA5}">
                      <a16:colId xmlns:a16="http://schemas.microsoft.com/office/drawing/2014/main" val="2975028034"/>
                    </a:ext>
                  </a:extLst>
                </a:gridCol>
                <a:gridCol w="8518854">
                  <a:extLst>
                    <a:ext uri="{9D8B030D-6E8A-4147-A177-3AD203B41FA5}">
                      <a16:colId xmlns:a16="http://schemas.microsoft.com/office/drawing/2014/main" val="3064883981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Main Success 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Scenario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400" dirty="0">
                          <a:effectLst/>
                        </a:rPr>
                        <a:t>1. </a:t>
                      </a:r>
                      <a:r>
                        <a:rPr lang="ko-KR" altLang="en-US" sz="1400" dirty="0">
                          <a:effectLst/>
                        </a:rPr>
                        <a:t>지역 상품권관리자가 가맹점 관리 화면으로 진입한다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2. </a:t>
                      </a:r>
                      <a:r>
                        <a:rPr lang="ko-KR" altLang="en-US" sz="1400" dirty="0">
                          <a:effectLst/>
                        </a:rPr>
                        <a:t>업종 별 가맹 제한 설정하고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가맹점 승인</a:t>
                      </a:r>
                      <a:r>
                        <a:rPr lang="en-US" altLang="ko-KR" sz="1400" dirty="0">
                          <a:effectLst/>
                        </a:rPr>
                        <a:t>, </a:t>
                      </a:r>
                      <a:r>
                        <a:rPr lang="ko-KR" altLang="en-US" sz="1400" dirty="0">
                          <a:effectLst/>
                        </a:rPr>
                        <a:t>가맹점 해지에 대해서 </a:t>
                      </a:r>
                      <a:r>
                        <a:rPr lang="ko-KR" altLang="en-US" sz="1400" dirty="0" err="1">
                          <a:effectLst/>
                        </a:rPr>
                        <a:t>승락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거부를 설정한다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3. </a:t>
                      </a:r>
                      <a:r>
                        <a:rPr lang="ko-KR" altLang="en-US" sz="1400" dirty="0">
                          <a:effectLst/>
                        </a:rPr>
                        <a:t>설정된 내용을 저장한다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055495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Extension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400" dirty="0">
                          <a:effectLst/>
                        </a:rPr>
                        <a:t>[Database</a:t>
                      </a:r>
                      <a:r>
                        <a:rPr lang="ko-KR" altLang="en-US" sz="1400" dirty="0">
                          <a:effectLst/>
                        </a:rPr>
                        <a:t>에 접근이 되지 </a:t>
                      </a:r>
                      <a:r>
                        <a:rPr lang="ko-KR" altLang="en-US" sz="1400" dirty="0" err="1">
                          <a:effectLst/>
                        </a:rPr>
                        <a:t>않는경우</a:t>
                      </a:r>
                      <a:r>
                        <a:rPr lang="en-US" altLang="ko-KR" sz="1400" dirty="0">
                          <a:effectLst/>
                        </a:rPr>
                        <a:t>]</a:t>
                      </a:r>
                      <a:br>
                        <a:rPr lang="en-US" altLang="ko-KR" sz="1400" dirty="0">
                          <a:effectLst/>
                        </a:rPr>
                      </a:br>
                      <a:r>
                        <a:rPr lang="en-US" altLang="ko-KR" sz="1400" dirty="0">
                          <a:effectLst/>
                        </a:rPr>
                        <a:t>3a. </a:t>
                      </a:r>
                      <a:r>
                        <a:rPr lang="ko-KR" altLang="en-US" sz="1400" dirty="0">
                          <a:effectLst/>
                        </a:rPr>
                        <a:t>지역 상품권 관리자에게 저장불가 상태를 알리고 가맹점 관리 화면을 </a:t>
                      </a:r>
                      <a:r>
                        <a:rPr lang="en-US" altLang="ko-KR" sz="1400" dirty="0">
                          <a:effectLst/>
                        </a:rPr>
                        <a:t>Exit</a:t>
                      </a:r>
                      <a:r>
                        <a:rPr lang="ko-KR" altLang="en-US" sz="1400" dirty="0">
                          <a:effectLst/>
                        </a:rPr>
                        <a:t>하면서 </a:t>
                      </a:r>
                      <a:r>
                        <a:rPr lang="ko-KR" altLang="en-US" sz="1400" dirty="0" err="1">
                          <a:effectLst/>
                        </a:rPr>
                        <a:t>유스케이스를</a:t>
                      </a:r>
                      <a:r>
                        <a:rPr lang="ko-KR" altLang="en-US" sz="1400" dirty="0">
                          <a:effectLst/>
                        </a:rPr>
                        <a:t> 종료한다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58853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Special </a:t>
                      </a:r>
                      <a:br>
                        <a:rPr lang="en-US" sz="1400" b="1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Requirements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400" dirty="0">
                          <a:effectLst/>
                        </a:rPr>
                        <a:t>가맹점에 대한 정보에 대한 삽입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수정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삭제는 </a:t>
                      </a:r>
                      <a:r>
                        <a:rPr lang="en-US" altLang="ko-KR" sz="1400" dirty="0">
                          <a:effectLst/>
                        </a:rPr>
                        <a:t>5</a:t>
                      </a:r>
                      <a:r>
                        <a:rPr lang="ko-KR" altLang="en-US" sz="1400" dirty="0">
                          <a:effectLst/>
                        </a:rPr>
                        <a:t>초 이내에 완료 되어야 한다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91022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>
                          <a:effectLst/>
                          <a:latin typeface="Arial" panose="020B0604020202020204" pitchFamily="34" charset="0"/>
                        </a:rPr>
                        <a:t>Miscellaneous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400" dirty="0">
                          <a:effectLst/>
                        </a:rPr>
                        <a:t>승인</a:t>
                      </a:r>
                      <a:r>
                        <a:rPr lang="en-US" altLang="ko-KR" sz="1400" dirty="0">
                          <a:effectLst/>
                        </a:rPr>
                        <a:t>/</a:t>
                      </a:r>
                      <a:r>
                        <a:rPr lang="ko-KR" altLang="en-US" sz="1400" dirty="0">
                          <a:effectLst/>
                        </a:rPr>
                        <a:t>해지 된 가맹점에 대해서는 가맹점 관리 </a:t>
                      </a:r>
                      <a:r>
                        <a:rPr lang="en-US" altLang="ko-KR" sz="1400" dirty="0">
                          <a:effectLst/>
                        </a:rPr>
                        <a:t>Database</a:t>
                      </a:r>
                      <a:r>
                        <a:rPr lang="ko-KR" altLang="en-US" sz="1400" dirty="0">
                          <a:effectLst/>
                        </a:rPr>
                        <a:t>에 저장되어 </a:t>
                      </a:r>
                      <a:r>
                        <a:rPr lang="ko-KR" altLang="en-US" sz="1400" dirty="0" err="1">
                          <a:effectLst/>
                        </a:rPr>
                        <a:t>관리되어야한다</a:t>
                      </a:r>
                      <a:r>
                        <a:rPr lang="en-US" altLang="ko-KR" sz="1400" dirty="0">
                          <a:effectLst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4316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96ECF47-3C52-4AE7-9D88-CCEB42B3448E}"/>
              </a:ext>
            </a:extLst>
          </p:cNvPr>
          <p:cNvSpPr txBox="1"/>
          <p:nvPr/>
        </p:nvSpPr>
        <p:spPr>
          <a:xfrm>
            <a:off x="263352" y="315356"/>
            <a:ext cx="5671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시스템을 사용하는 다른 쓰임새가 결합되어 있습니다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E91CC4-2A3A-4AB7-BB0F-D5C592C5B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364362"/>
              </p:ext>
            </p:extLst>
          </p:nvPr>
        </p:nvGraphicFramePr>
        <p:xfrm>
          <a:off x="413161" y="3158248"/>
          <a:ext cx="10441160" cy="3413760"/>
        </p:xfrm>
        <a:graphic>
          <a:graphicData uri="http://schemas.openxmlformats.org/drawingml/2006/table">
            <a:tbl>
              <a:tblPr/>
              <a:tblGrid>
                <a:gridCol w="2106451">
                  <a:extLst>
                    <a:ext uri="{9D8B030D-6E8A-4147-A177-3AD203B41FA5}">
                      <a16:colId xmlns:a16="http://schemas.microsoft.com/office/drawing/2014/main" val="442234631"/>
                    </a:ext>
                  </a:extLst>
                </a:gridCol>
                <a:gridCol w="8334709">
                  <a:extLst>
                    <a:ext uri="{9D8B030D-6E8A-4147-A177-3AD203B41FA5}">
                      <a16:colId xmlns:a16="http://schemas.microsoft.com/office/drawing/2014/main" val="3241579535"/>
                    </a:ext>
                  </a:extLst>
                </a:gridCol>
              </a:tblGrid>
              <a:tr h="29603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Main Success 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Scenario</a:t>
                      </a:r>
                    </a:p>
                  </a:txBody>
                  <a:tcPr marL="16482" marR="16482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본 </a:t>
                      </a:r>
                      <a:r>
                        <a:rPr lang="ko-KR" altLang="en-US" sz="1400" b="0" dirty="0" err="1">
                          <a:effectLst/>
                          <a:latin typeface="Arial" panose="020B0604020202020204" pitchFamily="34" charset="0"/>
                        </a:rPr>
                        <a:t>유스케이스는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 사용자가 지역상품권 잔액을 충전하거나 환불하거나 충전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환불 내역을 조회하기 위해 시스템의 해당 메뉴를 선택하며 시작한다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1.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사용자는 충전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환불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내역조회 중 선택한다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1.1.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사용자가 충전을 선택하면 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번으로 이동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환불을 선택하면 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번으로 이동한다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2.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충전</a:t>
                      </a:r>
                      <a:b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2.1.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시스템은 사용자에게 현재 잔액을 표시한다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2.2.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사용자는 충전 금액과 결제 정보를 시스템에 입력한다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2.3.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시스템은 금융시스템에 결제 정보와 연동된 계좌에 충전 금액 만큼 출금을 요청한다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2.4.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시스템은 변경된 잔액을 사용자에게 표시한다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2.5.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본 </a:t>
                      </a:r>
                      <a:r>
                        <a:rPr lang="ko-KR" altLang="en-US" sz="1400" b="0" dirty="0" err="1">
                          <a:effectLst/>
                          <a:latin typeface="Arial" panose="020B0604020202020204" pitchFamily="34" charset="0"/>
                        </a:rPr>
                        <a:t>유스케이스를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 종료한다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3.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환불</a:t>
                      </a:r>
                      <a:b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3.1.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시스템은 사용자에게 현재 잔액을 표시한다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3.2.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사용자는 환불 금액과 환불 계좌를 시스템에 입력한다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3.3.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시스템은 금융시스템에 환불 계좌에 환불 금액 만큼 입금을 요청한다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3.4.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시스템은 변경된 잔액을 사용자에게 표시한다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3.5.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본 </a:t>
                      </a:r>
                      <a:r>
                        <a:rPr lang="ko-KR" altLang="en-US" sz="1400" b="0" dirty="0" err="1">
                          <a:effectLst/>
                          <a:latin typeface="Arial" panose="020B0604020202020204" pitchFamily="34" charset="0"/>
                        </a:rPr>
                        <a:t>유스케이스를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 종료한다</a:t>
                      </a:r>
                    </a:p>
                  </a:txBody>
                  <a:tcPr marL="16482" marR="16482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61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07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1E818A2-0132-491F-B3A4-B1702029A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482299"/>
              </p:ext>
            </p:extLst>
          </p:nvPr>
        </p:nvGraphicFramePr>
        <p:xfrm>
          <a:off x="767408" y="764704"/>
          <a:ext cx="9649072" cy="2346960"/>
        </p:xfrm>
        <a:graphic>
          <a:graphicData uri="http://schemas.openxmlformats.org/drawingml/2006/table">
            <a:tbl>
              <a:tblPr/>
              <a:tblGrid>
                <a:gridCol w="1513857">
                  <a:extLst>
                    <a:ext uri="{9D8B030D-6E8A-4147-A177-3AD203B41FA5}">
                      <a16:colId xmlns:a16="http://schemas.microsoft.com/office/drawing/2014/main" val="201467129"/>
                    </a:ext>
                  </a:extLst>
                </a:gridCol>
                <a:gridCol w="8135215">
                  <a:extLst>
                    <a:ext uri="{9D8B030D-6E8A-4147-A177-3AD203B41FA5}">
                      <a16:colId xmlns:a16="http://schemas.microsoft.com/office/drawing/2014/main" val="355454561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Main Success 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Scenario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1.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사용자는 가입을 위해 해당 플랫폼의 회원 가입 페이지에 접속한다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2.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사용자는 가입에 필요한 정보를 입력한다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3.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사용자는 필수 정보 입력완료 후 </a:t>
                      </a:r>
                      <a:r>
                        <a:rPr lang="ko-KR" altLang="en-US" sz="1400" b="0" u="sng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가입 요청 버튼을 누른다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4.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결재 플랫폼은 가입정보가 </a:t>
                      </a:r>
                      <a:r>
                        <a:rPr lang="ko-KR" altLang="en-US" sz="1400" b="0" dirty="0" err="1">
                          <a:effectLst/>
                          <a:latin typeface="Arial" panose="020B0604020202020204" pitchFamily="34" charset="0"/>
                        </a:rPr>
                        <a:t>올바른지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 확인한다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5.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결재 플랫폼은 </a:t>
                      </a:r>
                      <a:r>
                        <a:rPr lang="ko-KR" altLang="en-US" sz="1400" b="0" strike="sng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가입정보에 문제가 없다면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정보를 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database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에 저장 후 가입이 완료되었음을 사용자에게 알려준다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6.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사용자는 로그인을 위해 해당 플랫폼의 로그인 페이지에 접속한다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7.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사용자는 로그인을 위해 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id, </a:t>
                      </a:r>
                      <a:r>
                        <a:rPr lang="en-US" altLang="ko-KR" sz="1400" b="0" dirty="0" err="1">
                          <a:effectLst/>
                          <a:latin typeface="Arial" panose="020B0604020202020204" pitchFamily="34" charset="0"/>
                        </a:rPr>
                        <a:t>pwd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를 입력하고 로그인 요청 버튼을 누른다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8.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결재 플랫폼은 로그인 정보를 가지고 가입된 회원인지 확인한다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9.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결재 플랫폼은 가입된 회원임이 확인되면 </a:t>
                      </a:r>
                      <a:r>
                        <a:rPr lang="ko-KR" altLang="en-US" sz="1400" b="0" dirty="0" err="1">
                          <a:effectLst/>
                          <a:latin typeface="Arial" panose="020B0604020202020204" pitchFamily="34" charset="0"/>
                        </a:rPr>
                        <a:t>로그인된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 화면으로 전환하고 사용자에게 </a:t>
                      </a:r>
                      <a:r>
                        <a:rPr lang="ko-KR" altLang="en-US" sz="1400" b="0" dirty="0" err="1">
                          <a:effectLst/>
                          <a:latin typeface="Arial" panose="020B0604020202020204" pitchFamily="34" charset="0"/>
                        </a:rPr>
                        <a:t>로그인되었음을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 알려준다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806553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78594CC-21AF-4256-8E10-2995A2D42006}"/>
              </a:ext>
            </a:extLst>
          </p:cNvPr>
          <p:cNvSpPr/>
          <p:nvPr/>
        </p:nvSpPr>
        <p:spPr>
          <a:xfrm>
            <a:off x="623392" y="4077072"/>
            <a:ext cx="11233248" cy="23544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 dirty="0"/>
              <a:t>요구 사항 문서에서 인터페이스를 조작하는 사용자의 동작을 서술하면 다음과 같은 세 가지 문제가 발생한다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문서가 불필요하게 길어진다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요구사항이 불안정해지는데</a:t>
            </a:r>
            <a:r>
              <a:rPr lang="en-US" altLang="ko-KR" sz="1500" dirty="0"/>
              <a:t>, </a:t>
            </a:r>
            <a:r>
              <a:rPr lang="ko-KR" altLang="en-US" sz="1500" dirty="0"/>
              <a:t>이는 사용자 인터페이스 설계 관련 사소한 변경이 </a:t>
            </a:r>
            <a:r>
              <a:rPr lang="en-US" altLang="ko-KR" sz="1500" dirty="0"/>
              <a:t>(</a:t>
            </a:r>
            <a:r>
              <a:rPr lang="ko-KR" altLang="en-US" sz="1500" dirty="0"/>
              <a:t>결국 요구사항도 아닌</a:t>
            </a:r>
            <a:r>
              <a:rPr lang="en-US" altLang="ko-KR" sz="1500" dirty="0"/>
              <a:t>) '</a:t>
            </a:r>
            <a:r>
              <a:rPr lang="ko-KR" altLang="en-US" sz="1500" dirty="0"/>
              <a:t>요구사항</a:t>
            </a:r>
            <a:r>
              <a:rPr lang="en-US" altLang="ko-KR" sz="1500" dirty="0"/>
              <a:t>'</a:t>
            </a:r>
            <a:r>
              <a:rPr lang="ko-KR" altLang="en-US" sz="1500" dirty="0"/>
              <a:t>에 변경을 일으킴을 의미한다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여러분이 그 일을 잘 수행하리라 믿어야 하는 </a:t>
            </a:r>
            <a:r>
              <a:rPr lang="en-US" altLang="ko-KR" sz="1500" dirty="0"/>
              <a:t>UI </a:t>
            </a:r>
            <a:r>
              <a:rPr lang="ko-KR" altLang="en-US" sz="1500" dirty="0"/>
              <a:t>설계자의 일을 빼앗는다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0" lvl="1" algn="r">
              <a:lnSpc>
                <a:spcPct val="140000"/>
              </a:lnSpc>
            </a:pP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sz="1500" dirty="0" err="1">
                <a:solidFill>
                  <a:schemeClr val="bg1">
                    <a:lumMod val="50000"/>
                  </a:schemeClr>
                </a:solidFill>
              </a:rPr>
              <a:t>UseCases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864930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4838" y="620688"/>
            <a:ext cx="26581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왜 아키텍처를 설계 하는가</a:t>
            </a:r>
            <a:r>
              <a:rPr lang="en-US" altLang="ko-KR" sz="1500" dirty="0"/>
              <a:t>?</a:t>
            </a:r>
            <a:endParaRPr lang="ko-KR" altLang="en-US" sz="1500" dirty="0"/>
          </a:p>
        </p:txBody>
      </p:sp>
      <p:sp>
        <p:nvSpPr>
          <p:cNvPr id="3" name="TextBox 2"/>
          <p:cNvSpPr txBox="1"/>
          <p:nvPr/>
        </p:nvSpPr>
        <p:spPr>
          <a:xfrm>
            <a:off x="1004838" y="1527853"/>
            <a:ext cx="419537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/>
              <a:t>비기능</a:t>
            </a:r>
            <a:r>
              <a:rPr lang="ko-KR" altLang="en-US" sz="1500" dirty="0"/>
              <a:t> 요구사항 </a:t>
            </a:r>
            <a:r>
              <a:rPr lang="en-US" altLang="ko-KR" sz="1500" dirty="0"/>
              <a:t>= </a:t>
            </a:r>
            <a:r>
              <a:rPr lang="ko-KR" altLang="en-US" sz="1500" dirty="0"/>
              <a:t>품질 요구사항 </a:t>
            </a:r>
            <a:r>
              <a:rPr lang="en-US" altLang="ko-KR" sz="1500" dirty="0"/>
              <a:t>+ </a:t>
            </a:r>
            <a:r>
              <a:rPr lang="ko-KR" altLang="en-US" sz="1500" dirty="0"/>
              <a:t>제약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4838" y="2435018"/>
            <a:ext cx="77523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품질이란</a:t>
            </a:r>
            <a:r>
              <a:rPr lang="en-US" altLang="ko-KR" sz="1500" dirty="0"/>
              <a:t>?    -&gt; </a:t>
            </a:r>
            <a:r>
              <a:rPr lang="ko-KR" altLang="en-US" sz="1500" dirty="0"/>
              <a:t>품질 속성 </a:t>
            </a:r>
            <a:r>
              <a:rPr lang="en-US" altLang="ko-KR" sz="1500" dirty="0"/>
              <a:t>(</a:t>
            </a:r>
            <a:r>
              <a:rPr lang="ko-KR" altLang="en-US" sz="1500" dirty="0" err="1"/>
              <a:t>확장성</a:t>
            </a:r>
            <a:r>
              <a:rPr lang="en-US" altLang="ko-KR" sz="1500" dirty="0"/>
              <a:t>, </a:t>
            </a:r>
            <a:r>
              <a:rPr lang="ko-KR" altLang="en-US" sz="1500" dirty="0" err="1"/>
              <a:t>재사용성</a:t>
            </a:r>
            <a:r>
              <a:rPr lang="en-US" altLang="ko-KR" sz="1500" dirty="0"/>
              <a:t>……) -&gt; QAW -&gt; Quality Attribute Scenario</a:t>
            </a:r>
          </a:p>
          <a:p>
            <a:r>
              <a:rPr lang="ko-KR" altLang="en-US" sz="1500" dirty="0"/>
              <a:t>제약이란</a:t>
            </a:r>
            <a:r>
              <a:rPr lang="en-US" altLang="ko-KR" sz="1500" dirty="0"/>
              <a:t>?</a:t>
            </a:r>
            <a:endParaRPr lang="ko-KR" altLang="en-US" sz="1500" dirty="0"/>
          </a:p>
        </p:txBody>
      </p:sp>
      <p:sp>
        <p:nvSpPr>
          <p:cNvPr id="5" name="TextBox 4"/>
          <p:cNvSpPr txBox="1"/>
          <p:nvPr/>
        </p:nvSpPr>
        <p:spPr>
          <a:xfrm>
            <a:off x="1004838" y="3573016"/>
            <a:ext cx="8549135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/>
              <a:t>SSD NVME SPEC </a:t>
            </a:r>
            <a:r>
              <a:rPr lang="ko-KR" altLang="en-US" sz="1500" dirty="0"/>
              <a:t>상에 전원 인가 </a:t>
            </a:r>
            <a:r>
              <a:rPr lang="en-US" altLang="ko-KR" sz="1500" dirty="0"/>
              <a:t>1</a:t>
            </a:r>
            <a:r>
              <a:rPr lang="ko-KR" altLang="en-US" sz="1500" dirty="0"/>
              <a:t>초 이내에 </a:t>
            </a:r>
            <a:r>
              <a:rPr lang="en-US" altLang="ko-KR" sz="1500" dirty="0"/>
              <a:t>I/O</a:t>
            </a:r>
            <a:r>
              <a:rPr lang="ko-KR" altLang="en-US" sz="1500" dirty="0"/>
              <a:t>가 가능한 상태가 되어야 한다 명시 되어 있다면 </a:t>
            </a:r>
            <a:endParaRPr lang="en-US" altLang="ko-KR" sz="1500" dirty="0"/>
          </a:p>
          <a:p>
            <a:r>
              <a:rPr lang="ko-KR" altLang="en-US" sz="1500" dirty="0"/>
              <a:t>품질 요구 사항 인가</a:t>
            </a:r>
            <a:r>
              <a:rPr lang="en-US" altLang="ko-KR" sz="1500" dirty="0"/>
              <a:t>?</a:t>
            </a:r>
            <a:r>
              <a:rPr lang="ko-KR" altLang="en-US" sz="1500" dirty="0"/>
              <a:t> 제약 사항 인가</a:t>
            </a:r>
            <a:r>
              <a:rPr lang="en-US" altLang="ko-KR" sz="1500" dirty="0"/>
              <a:t>?</a:t>
            </a:r>
          </a:p>
          <a:p>
            <a:endParaRPr lang="en-US" altLang="ko-KR" sz="1500" dirty="0"/>
          </a:p>
          <a:p>
            <a:endParaRPr lang="en-US" altLang="ko-KR" sz="1500" dirty="0"/>
          </a:p>
          <a:p>
            <a:r>
              <a:rPr lang="ko-KR" altLang="en-US" sz="1500" dirty="0"/>
              <a:t>품질을 어떻게 평가 할 것인가</a:t>
            </a:r>
            <a:r>
              <a:rPr lang="en-US" altLang="ko-KR" sz="1500" dirty="0"/>
              <a:t>?</a:t>
            </a:r>
          </a:p>
        </p:txBody>
      </p: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F58DDB83-177B-4312-87C9-1CF93D77AB14}"/>
              </a:ext>
            </a:extLst>
          </p:cNvPr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094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E178187-2EE2-481B-A9AD-93DDBDF45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462608"/>
              </p:ext>
            </p:extLst>
          </p:nvPr>
        </p:nvGraphicFramePr>
        <p:xfrm>
          <a:off x="658888" y="5594568"/>
          <a:ext cx="9577064" cy="426720"/>
        </p:xfrm>
        <a:graphic>
          <a:graphicData uri="http://schemas.openxmlformats.org/drawingml/2006/table">
            <a:tbl>
              <a:tblPr/>
              <a:tblGrid>
                <a:gridCol w="1512168">
                  <a:extLst>
                    <a:ext uri="{9D8B030D-6E8A-4147-A177-3AD203B41FA5}">
                      <a16:colId xmlns:a16="http://schemas.microsoft.com/office/drawing/2014/main" val="1431084702"/>
                    </a:ext>
                  </a:extLst>
                </a:gridCol>
                <a:gridCol w="8064896">
                  <a:extLst>
                    <a:ext uri="{9D8B030D-6E8A-4147-A177-3AD203B41FA5}">
                      <a16:colId xmlns:a16="http://schemas.microsoft.com/office/drawing/2014/main" val="3517922037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Special 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Requirements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(Security)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가맹점 신청 정보는 암호화되어야 하며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신청자 외 관리자만 조회 가능해야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(Usability)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신청서 작성시 실시간 항목별 유효성 검증 후 </a:t>
                      </a:r>
                      <a:r>
                        <a:rPr lang="ko-KR" altLang="en-US" sz="1400" b="0" dirty="0" err="1">
                          <a:effectLst/>
                          <a:latin typeface="Arial" panose="020B0604020202020204" pitchFamily="34" charset="0"/>
                        </a:rPr>
                        <a:t>오류시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 즉시 안내 메세지를 표시한다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354704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CCA27CB-21C8-49CD-9068-1469EBE3F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867727"/>
              </p:ext>
            </p:extLst>
          </p:nvPr>
        </p:nvGraphicFramePr>
        <p:xfrm>
          <a:off x="623392" y="4082400"/>
          <a:ext cx="9505056" cy="853440"/>
        </p:xfrm>
        <a:graphic>
          <a:graphicData uri="http://schemas.openxmlformats.org/drawingml/2006/table">
            <a:tbl>
              <a:tblPr/>
              <a:tblGrid>
                <a:gridCol w="1512168">
                  <a:extLst>
                    <a:ext uri="{9D8B030D-6E8A-4147-A177-3AD203B41FA5}">
                      <a16:colId xmlns:a16="http://schemas.microsoft.com/office/drawing/2014/main" val="1471255698"/>
                    </a:ext>
                  </a:extLst>
                </a:gridCol>
                <a:gridCol w="7992888">
                  <a:extLst>
                    <a:ext uri="{9D8B030D-6E8A-4147-A177-3AD203B41FA5}">
                      <a16:colId xmlns:a16="http://schemas.microsoft.com/office/drawing/2014/main" val="3882400771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Special 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Requirements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만 명 이상이 동시에 충전을 요청해도 서비스가 중단되지 않아야 하며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평균 대기 시간은 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초 이내여야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대기 발생시 진행 상태를 표시해야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계좌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카드 정보는 암호화하여 처리한다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10429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E49AD5-EE6C-4EF1-87DB-15DC2E4F1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674347"/>
              </p:ext>
            </p:extLst>
          </p:nvPr>
        </p:nvGraphicFramePr>
        <p:xfrm>
          <a:off x="658888" y="2852936"/>
          <a:ext cx="9469560" cy="853440"/>
        </p:xfrm>
        <a:graphic>
          <a:graphicData uri="http://schemas.openxmlformats.org/drawingml/2006/table">
            <a:tbl>
              <a:tblPr/>
              <a:tblGrid>
                <a:gridCol w="1620688">
                  <a:extLst>
                    <a:ext uri="{9D8B030D-6E8A-4147-A177-3AD203B41FA5}">
                      <a16:colId xmlns:a16="http://schemas.microsoft.com/office/drawing/2014/main" val="737222739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337180237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Special 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Requirements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인센티브 한도 관리 권한이 있는 관리자만 설정 및 수정 기능을 사용할 수 있어야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적용 시점 이후에 발생한 인센티브 발행 요청부터 새로운 한도를 적용해야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지자체별 한도와 정책을 </a:t>
                      </a:r>
                      <a:r>
                        <a:rPr lang="ko-KR" altLang="en-US" sz="1400" b="0" dirty="0" err="1">
                          <a:effectLst/>
                          <a:latin typeface="Arial" panose="020B0604020202020204" pitchFamily="34" charset="0"/>
                        </a:rPr>
                        <a:t>설정값으로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 관리하여 정책 변경 비용과 시스템 수정 범위를 최소화해야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5704622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C5DF247-77BD-4F4F-9A80-2A16923D8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544191"/>
              </p:ext>
            </p:extLst>
          </p:nvPr>
        </p:nvGraphicFramePr>
        <p:xfrm>
          <a:off x="623067" y="273968"/>
          <a:ext cx="10729192" cy="2133600"/>
        </p:xfrm>
        <a:graphic>
          <a:graphicData uri="http://schemas.openxmlformats.org/drawingml/2006/table">
            <a:tbl>
              <a:tblPr/>
              <a:tblGrid>
                <a:gridCol w="1915214">
                  <a:extLst>
                    <a:ext uri="{9D8B030D-6E8A-4147-A177-3AD203B41FA5}">
                      <a16:colId xmlns:a16="http://schemas.microsoft.com/office/drawing/2014/main" val="2355638570"/>
                    </a:ext>
                  </a:extLst>
                </a:gridCol>
                <a:gridCol w="8813978">
                  <a:extLst>
                    <a:ext uri="{9D8B030D-6E8A-4147-A177-3AD203B41FA5}">
                      <a16:colId xmlns:a16="http://schemas.microsoft.com/office/drawing/2014/main" val="1140531011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Special </a:t>
                      </a:r>
                      <a:b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Requirements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해지 시점 처리 방식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즉시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/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익일 차단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)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은 파라미터로 지정하며 배치 로직 수정이 없어야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해지 이력은 수정 불가 형태로 보존하며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통합 후에도 원 지자체 식별자로 조회 가능해야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해지 처리는 원자적으로 수행되어 상태 변경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결제 차단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이력 기록이 부분 적용되지 않아야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  <a:p>
                      <a:pPr rtl="0" fontAlgn="ctr"/>
                      <a:r>
                        <a:rPr lang="en-US" altLang="ko-KR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위의 시나리오로 작성이 되어야 하는 내용들로 </a:t>
                      </a:r>
                      <a:r>
                        <a:rPr lang="ko-KR" altLang="en-US" sz="1400" b="0" dirty="0" err="1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비기능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 요구 사항이 아닙니다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.)</a:t>
                      </a:r>
                    </a:p>
                    <a:p>
                      <a:pPr rtl="0" fontAlgn="ctr"/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해지 반영 후 결제 차단은 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분 이내에 결제 승인 계통에 적용되어야 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716237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</a:rPr>
                        <a:t>Miscellaneous</a:t>
                      </a: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해지 유형은 자진 해지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직권 해지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,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폐업 해지로 구분하여 코드로 관리한다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해지 후 재가맹은 신규 신청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(UC_09) </a:t>
                      </a: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절차를 다시 거친다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b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ko-KR" altLang="en-US" sz="1400" b="0" dirty="0">
                          <a:effectLst/>
                          <a:latin typeface="Arial" panose="020B0604020202020204" pitchFamily="34" charset="0"/>
                        </a:rPr>
                        <a:t>직권 해지 가맹점은 일정 기간 재신청을 제한할 수 있다</a:t>
                      </a:r>
                      <a:r>
                        <a:rPr lang="en-US" altLang="ko-KR" sz="1400" b="0" dirty="0"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기능 요구 사항으로 보입니다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.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요구 사항 분석이 끝났을 때 시나리오로 작성이 되어 있어야 합니다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. )</a:t>
                      </a:r>
                      <a:endParaRPr lang="en-US" altLang="ko-KR" sz="14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2860" marR="2286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11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733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6068" y="620688"/>
            <a:ext cx="8940411" cy="541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문서간 </a:t>
            </a:r>
            <a:r>
              <a:rPr lang="en-US" altLang="ko-KR" sz="1400" dirty="0">
                <a:solidFill>
                  <a:schemeClr val="bg1"/>
                </a:solidFill>
              </a:rPr>
              <a:t>Traceability</a:t>
            </a:r>
            <a:r>
              <a:rPr lang="ko-KR" altLang="en-US" sz="1400" dirty="0">
                <a:solidFill>
                  <a:schemeClr val="bg1"/>
                </a:solidFill>
              </a:rPr>
              <a:t>를 고려하여 넘버링 하여 작성해주세요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</a:rPr>
              <a:t>Stakeholder and Interest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해당 기능에 관심이 있는 사람들을 찾아 내고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그들의 이해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그들이 원하는 이익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그들이 걱정하는 손해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r>
              <a:rPr lang="ko-KR" altLang="en-US" sz="1400" dirty="0">
                <a:solidFill>
                  <a:schemeClr val="bg1"/>
                </a:solidFill>
              </a:rPr>
              <a:t>를 작성합니다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그리고 그들이 왜 그런 이해를 </a:t>
            </a:r>
            <a:r>
              <a:rPr lang="ko-KR" altLang="en-US" sz="1400" dirty="0" err="1">
                <a:solidFill>
                  <a:schemeClr val="bg1"/>
                </a:solidFill>
              </a:rPr>
              <a:t>따지는에</a:t>
            </a:r>
            <a:r>
              <a:rPr lang="ko-KR" altLang="en-US" sz="1400" dirty="0">
                <a:solidFill>
                  <a:schemeClr val="bg1"/>
                </a:solidFill>
              </a:rPr>
              <a:t> 대한 동기를 고민해 보는 것이 도움이 </a:t>
            </a:r>
            <a:r>
              <a:rPr lang="ko-KR" altLang="en-US" sz="1400" dirty="0" err="1">
                <a:solidFill>
                  <a:schemeClr val="bg1"/>
                </a:solidFill>
              </a:rPr>
              <a:t>될듯합니다</a:t>
            </a:r>
            <a:r>
              <a:rPr lang="en-US" altLang="ko-KR" sz="1400">
                <a:solidFill>
                  <a:schemeClr val="bg1"/>
                </a:solidFill>
              </a:rPr>
              <a:t>.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모든 시나리오는 이들의 이해를 최대한 보호 할 수 있도록 작성 </a:t>
            </a:r>
            <a:r>
              <a:rPr lang="ko-KR" altLang="en-US" sz="1400" dirty="0" err="1">
                <a:solidFill>
                  <a:schemeClr val="bg1"/>
                </a:solidFill>
              </a:rPr>
              <a:t>되어야합니다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시나리오는 </a:t>
            </a:r>
            <a:r>
              <a:rPr lang="ko-KR" altLang="en-US" sz="1400" dirty="0" err="1">
                <a:solidFill>
                  <a:schemeClr val="bg1"/>
                </a:solidFill>
              </a:rPr>
              <a:t>액터와</a:t>
            </a:r>
            <a:r>
              <a:rPr lang="ko-KR" altLang="en-US" sz="1400" dirty="0">
                <a:solidFill>
                  <a:schemeClr val="bg1"/>
                </a:solidFill>
              </a:rPr>
              <a:t> 시스템이 주고 받는 행위를 기술합니다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주어를 생략하지 마시고 능동으로 작성해 주세요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보통은 시스템 외부에서 관찰 가능한 행위를 기술하는 것이 좋습니다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보통은 </a:t>
            </a:r>
            <a:r>
              <a:rPr lang="ko-KR" altLang="en-US" sz="1400" dirty="0" err="1">
                <a:solidFill>
                  <a:schemeClr val="bg1"/>
                </a:solidFill>
              </a:rPr>
              <a:t>액터가</a:t>
            </a:r>
            <a:r>
              <a:rPr lang="ko-KR" altLang="en-US" sz="1400" dirty="0">
                <a:solidFill>
                  <a:schemeClr val="bg1"/>
                </a:solidFill>
              </a:rPr>
              <a:t> 요청하고 시스템이 반응하는 형식이 좋습니다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모든 시스템의 행위는 예외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대체 시나리오가 생성 될 수 있는 갈림길이 될 수 있습니다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  <a:br>
              <a:rPr lang="en-US" altLang="ko-KR" sz="1400" dirty="0">
                <a:solidFill>
                  <a:schemeClr val="bg1"/>
                </a:solidFill>
              </a:rPr>
            </a:b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</a:rPr>
              <a:t>Special Requirement </a:t>
            </a:r>
            <a:r>
              <a:rPr lang="ko-KR" altLang="en-US" sz="1400" dirty="0">
                <a:solidFill>
                  <a:schemeClr val="bg1"/>
                </a:solidFill>
              </a:rPr>
              <a:t>는 </a:t>
            </a:r>
            <a:r>
              <a:rPr lang="ko-KR" altLang="en-US" sz="1400" dirty="0" err="1">
                <a:solidFill>
                  <a:schemeClr val="bg1"/>
                </a:solidFill>
              </a:rPr>
              <a:t>비기능</a:t>
            </a:r>
            <a:r>
              <a:rPr lang="ko-KR" altLang="en-US" sz="1400" dirty="0">
                <a:solidFill>
                  <a:schemeClr val="bg1"/>
                </a:solidFill>
              </a:rPr>
              <a:t> 요구사항을 작성합니다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타인이 작성한 </a:t>
            </a:r>
            <a:r>
              <a:rPr lang="en-US" altLang="ko-KR" sz="1400" dirty="0">
                <a:solidFill>
                  <a:schemeClr val="bg1"/>
                </a:solidFill>
              </a:rPr>
              <a:t>UML</a:t>
            </a:r>
            <a:r>
              <a:rPr lang="ko-KR" altLang="en-US" sz="1400" dirty="0">
                <a:solidFill>
                  <a:schemeClr val="bg1"/>
                </a:solidFill>
              </a:rPr>
              <a:t>은 관대하게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본인이 작성하는 </a:t>
            </a:r>
            <a:r>
              <a:rPr lang="en-US" altLang="ko-KR" sz="1400" dirty="0">
                <a:solidFill>
                  <a:schemeClr val="bg1"/>
                </a:solidFill>
              </a:rPr>
              <a:t>UML</a:t>
            </a:r>
            <a:r>
              <a:rPr lang="ko-KR" altLang="en-US" sz="1400" dirty="0">
                <a:solidFill>
                  <a:schemeClr val="bg1"/>
                </a:solidFill>
              </a:rPr>
              <a:t>은 강하게 리뷰 하시길 </a:t>
            </a:r>
            <a:r>
              <a:rPr lang="ko-KR" altLang="en-US" sz="1400" dirty="0" err="1">
                <a:solidFill>
                  <a:schemeClr val="bg1"/>
                </a:solidFill>
              </a:rPr>
              <a:t>부탁드립니다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bg1"/>
                </a:solidFill>
              </a:rPr>
              <a:t>교육이니 만큼 최대한 </a:t>
            </a:r>
            <a:r>
              <a:rPr lang="en-US" altLang="ko-KR" sz="1400" dirty="0">
                <a:solidFill>
                  <a:schemeClr val="bg1"/>
                </a:solidFill>
              </a:rPr>
              <a:t>UML</a:t>
            </a:r>
            <a:r>
              <a:rPr lang="ko-KR" altLang="en-US" sz="1400" dirty="0">
                <a:solidFill>
                  <a:schemeClr val="bg1"/>
                </a:solidFill>
              </a:rPr>
              <a:t>이 정한 </a:t>
            </a:r>
            <a:r>
              <a:rPr lang="ko-KR" altLang="en-US" sz="1400" dirty="0" err="1">
                <a:solidFill>
                  <a:schemeClr val="bg1"/>
                </a:solidFill>
              </a:rPr>
              <a:t>노테이션에</a:t>
            </a:r>
            <a:r>
              <a:rPr lang="ko-KR" altLang="en-US" sz="1400" dirty="0">
                <a:solidFill>
                  <a:schemeClr val="bg1"/>
                </a:solidFill>
              </a:rPr>
              <a:t> 맞게 사용하셨으면 좋겠습니다</a:t>
            </a:r>
            <a:br>
              <a:rPr lang="en-US" altLang="ko-KR" sz="1400" dirty="0">
                <a:solidFill>
                  <a:schemeClr val="bg1"/>
                </a:solidFill>
              </a:rPr>
            </a:b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949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" t="1373"/>
          <a:stretch/>
        </p:blipFill>
        <p:spPr bwMode="auto">
          <a:xfrm>
            <a:off x="1127448" y="980728"/>
            <a:ext cx="10081120" cy="5310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0019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실습 산출물 목표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633163" y="1028733"/>
            <a:ext cx="5935557" cy="49244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247529" indent="-247529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312" indent="-206274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509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5513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85172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15211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45248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5286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05325" indent="-165020" algn="l" defTabSz="660076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53419">
              <a:lnSpc>
                <a:spcPct val="160000"/>
              </a:lnSpc>
              <a:buNone/>
            </a:pPr>
            <a:r>
              <a:rPr lang="en-US" altLang="ko-KR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일간 </a:t>
            </a:r>
            <a:r>
              <a:rPr lang="en-US" altLang="ko-KR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OOA</a:t>
            </a:r>
            <a:r>
              <a:rPr lang="ko-KR" altLang="en-US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와 </a:t>
            </a:r>
            <a:r>
              <a:rPr lang="en-US" altLang="ko-KR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OOD</a:t>
            </a:r>
            <a:r>
              <a:rPr lang="ko-KR" altLang="en-US" sz="2000" b="1" spc="-133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156BD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를 반복적으로 수행하여 산출물 작성</a:t>
            </a:r>
            <a:endParaRPr lang="en-US" altLang="ko-KR" sz="2000" b="1" spc="-133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156BD"/>
              </a:solidFill>
              <a:cs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71" y="1812360"/>
            <a:ext cx="11329259" cy="3892909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427307" y="2084851"/>
            <a:ext cx="2764704" cy="1383096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744405" y="1123924"/>
            <a:ext cx="1936856" cy="33855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ko-KR" altLang="en-US" sz="1400" dirty="0"/>
              <a:t>실습</a:t>
            </a:r>
            <a:r>
              <a:rPr lang="en-US" altLang="ko-KR" sz="1400" dirty="0"/>
              <a:t>#1 2</a:t>
            </a:r>
            <a:r>
              <a:rPr lang="ko-KR" altLang="en-US" sz="1400" dirty="0"/>
              <a:t>일차 산출물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805548" y="1108876"/>
            <a:ext cx="1807281" cy="353603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066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241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7368" y="3861048"/>
            <a:ext cx="11233248" cy="29361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200" b="1" dirty="0"/>
              <a:t>확장 목록을 정당화한다</a:t>
            </a:r>
            <a:r>
              <a:rPr lang="en-US" altLang="ko-KR" sz="1200" b="1" dirty="0"/>
              <a:t>.</a:t>
            </a:r>
          </a:p>
          <a:p>
            <a:r>
              <a:rPr lang="ko-KR" altLang="en-US" sz="1200" dirty="0"/>
              <a:t>정당화</a:t>
            </a:r>
            <a:r>
              <a:rPr lang="en-US" altLang="ko-KR" sz="1200" dirty="0"/>
              <a:t>(</a:t>
            </a:r>
            <a:r>
              <a:rPr lang="en-US" altLang="ko-KR" sz="1200" dirty="0" err="1"/>
              <a:t>rotaionalization</a:t>
            </a:r>
            <a:r>
              <a:rPr lang="en-US" altLang="ko-KR" sz="1200" dirty="0"/>
              <a:t>)</a:t>
            </a:r>
            <a:r>
              <a:rPr lang="ko-KR" altLang="en-US" sz="1200" dirty="0"/>
              <a:t>활동의 목적은 확장 목록을 가능한 짧게 줄이는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이상적인 확장 조건 목록은 시스템이 반드시 처리 해야 하는 꼭 필요한 조건을 모두 보여준다</a:t>
            </a:r>
            <a:r>
              <a:rPr lang="en-US" altLang="ko-KR" sz="1200" dirty="0"/>
              <a:t>. </a:t>
            </a:r>
            <a:r>
              <a:rPr lang="ko-KR" altLang="en-US" sz="1200" dirty="0"/>
              <a:t>긴 요구 사항 문서는 언제나 읽기 어렵고 장황한 설명은 유지 보수가 어려움을 기억하기 바란다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시스템이 반드시 조건을 감지 할 수 있어야 한다</a:t>
            </a:r>
            <a:r>
              <a:rPr lang="en-US" altLang="ko-KR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시스템이 조건 감지를 반드시 처리해야 한다</a:t>
            </a:r>
            <a:r>
              <a:rPr lang="en-US" altLang="ko-KR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r>
              <a:rPr lang="ko-KR" altLang="en-US" sz="1200" dirty="0"/>
              <a:t>감지 할 수 없는 조건을 삭제하기 전에</a:t>
            </a:r>
            <a:r>
              <a:rPr lang="en-US" altLang="ko-KR" sz="1200" dirty="0"/>
              <a:t>, </a:t>
            </a:r>
            <a:r>
              <a:rPr lang="ko-KR" altLang="en-US" sz="1200" dirty="0"/>
              <a:t>가능한 감지할 수 있도록 만든다</a:t>
            </a:r>
            <a:r>
              <a:rPr lang="en-US" altLang="ko-KR" sz="1200" dirty="0"/>
              <a:t>. </a:t>
            </a:r>
            <a:r>
              <a:rPr lang="ko-KR" altLang="en-US" sz="1200" b="1" dirty="0"/>
              <a:t>고객이 현금인출카드를 </a:t>
            </a:r>
            <a:r>
              <a:rPr lang="ko-KR" altLang="en-US" sz="1200" b="1" dirty="0" err="1"/>
              <a:t>읽어버렸다</a:t>
            </a:r>
            <a:r>
              <a:rPr lang="ko-KR" altLang="en-US" sz="1200" dirty="0" err="1"/>
              <a:t>와</a:t>
            </a:r>
            <a:r>
              <a:rPr lang="ko-KR" altLang="en-US" sz="1200" dirty="0"/>
              <a:t> 같은 조건은 시스템이 감지할 수 있는 동등한 조건이 없으므로 삭제한다</a:t>
            </a:r>
            <a:r>
              <a:rPr lang="en-US" altLang="ko-KR" sz="1200" dirty="0"/>
              <a:t>. </a:t>
            </a:r>
            <a:r>
              <a:rPr lang="ko-KR" altLang="en-US" sz="1200" dirty="0"/>
              <a:t>감지할 수 없는 조건인 </a:t>
            </a:r>
            <a:r>
              <a:rPr lang="ko-KR" altLang="en-US" sz="1200" b="1" dirty="0"/>
              <a:t>고객이 비밀번호를 </a:t>
            </a:r>
            <a:r>
              <a:rPr lang="ko-KR" altLang="en-US" sz="1200" b="1" dirty="0" err="1"/>
              <a:t>잊어버렸다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</a:t>
            </a:r>
            <a:r>
              <a:rPr lang="ko-KR" altLang="en-US" sz="1200" b="1" dirty="0"/>
              <a:t>비밀번호 입력 시간 초과</a:t>
            </a:r>
            <a:r>
              <a:rPr lang="ko-KR" altLang="en-US" sz="1200" dirty="0"/>
              <a:t>와 같이 시스템이 감지 할 수 있는 것으로 바꾼다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pPr algn="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</a:rPr>
              <a:t>Usecase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62438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/>
          <p:cNvSpPr txBox="1"/>
          <p:nvPr/>
        </p:nvSpPr>
        <p:spPr>
          <a:xfrm>
            <a:off x="408000" y="781992"/>
            <a:ext cx="11376001" cy="1307980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/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kumimoji="1" lang="ko-KR" altLang="en-US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시스템이 무엇을 할지에 대한 기능 요구를 기술합니다</a:t>
            </a:r>
            <a:r>
              <a:rPr kumimoji="1" lang="en-US" altLang="ko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</a:t>
            </a:r>
            <a:r>
              <a:rPr kumimoji="1" lang="ko-KR" altLang="en-US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endParaRPr kumimoji="1" lang="en-US" altLang="ko-KR" sz="1600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kumimoji="1" lang="ko-KR" altLang="en-US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시스템의 사용자나 외부 시스템과의 상호작용을 정의하고 이해관계자들과의 의사 소통에 활용합니다</a:t>
            </a:r>
            <a:r>
              <a:rPr kumimoji="1" lang="en-US" altLang="ko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 </a:t>
            </a:r>
            <a:endParaRPr lang="en-US" altLang="ko-KR" sz="1600" dirty="0"/>
          </a:p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lang="ko-KR" altLang="en-US" sz="1600" dirty="0"/>
              <a:t>누가 시스템을 어떻게 사용하는지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시스템은 무엇을 사용하는지 기술합니다</a:t>
            </a:r>
            <a:r>
              <a:rPr lang="en-US" altLang="ko-KR" sz="1600" dirty="0"/>
              <a:t>.</a:t>
            </a:r>
          </a:p>
          <a:p>
            <a:pPr marL="285750" indent="-285750" defTabSz="912813" fontAlgn="base">
              <a:spcBef>
                <a:spcPts val="600"/>
              </a:spcBef>
              <a:spcAft>
                <a:spcPct val="0"/>
              </a:spcAft>
              <a:buClr>
                <a:srgbClr val="55CFD1"/>
              </a:buClr>
              <a:buFont typeface="Wingdings" panose="05000000000000000000" pitchFamily="2" charset="2"/>
              <a:buChar char="u"/>
              <a:defRPr/>
            </a:pPr>
            <a:r>
              <a:rPr kumimoji="1" lang="ko-KR" altLang="en-US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해당 기능이 내부적으로 어떻게 수행되는지는 기술하지 않습니다</a:t>
            </a:r>
            <a:r>
              <a:rPr kumimoji="1" lang="en-US" altLang="ko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408000" y="156779"/>
            <a:ext cx="1603191" cy="424661"/>
          </a:xfrm>
        </p:spPr>
        <p:txBody>
          <a:bodyPr/>
          <a:lstStyle/>
          <a:p>
            <a:r>
              <a:rPr lang="en-US" altLang="ko-KR" dirty="0"/>
              <a:t>Use cases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08000" y="2924944"/>
            <a:ext cx="11376001" cy="270227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600" dirty="0"/>
              <a:t>유스케이스는 반드시 </a:t>
            </a:r>
            <a:r>
              <a:rPr lang="ko-KR" altLang="en-US" sz="1600" dirty="0" err="1"/>
              <a:t>액터</a:t>
            </a:r>
            <a:r>
              <a:rPr lang="ko-KR" altLang="en-US" sz="1600" dirty="0"/>
              <a:t> 관점에서 </a:t>
            </a:r>
            <a:r>
              <a:rPr lang="ko-KR" altLang="en-US" sz="1600" dirty="0" err="1"/>
              <a:t>액터에게</a:t>
            </a:r>
            <a:r>
              <a:rPr lang="ko-KR" altLang="en-US" sz="1600" dirty="0"/>
              <a:t> 가치를 제공하는 활동의 완전한 흐름이어야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유스케이스를 야콥슨 등은 다음과 같이 정의한다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유스케이스는 시스템의 일부 기능만을 사용하는</a:t>
            </a:r>
            <a:r>
              <a:rPr lang="en-US" altLang="ko-KR" sz="1600" dirty="0"/>
              <a:t>, </a:t>
            </a:r>
            <a:r>
              <a:rPr lang="ko-KR" altLang="en-US" sz="1600" dirty="0"/>
              <a:t>일종의 시스템을 사용하는 구체적인 방식이다</a:t>
            </a:r>
            <a:r>
              <a:rPr lang="en-US" altLang="ko-KR" sz="1600" dirty="0"/>
              <a:t>. … </a:t>
            </a:r>
            <a:r>
              <a:rPr lang="ko-KR" altLang="en-US" sz="1600" dirty="0"/>
              <a:t>유스케이스는 </a:t>
            </a:r>
            <a:r>
              <a:rPr lang="ko-KR" altLang="en-US" sz="1600" b="1" dirty="0" err="1">
                <a:solidFill>
                  <a:srgbClr val="FF0000"/>
                </a:solidFill>
              </a:rPr>
              <a:t>액터와</a:t>
            </a:r>
            <a:r>
              <a:rPr lang="ko-KR" altLang="en-US" sz="1600" b="1" dirty="0">
                <a:solidFill>
                  <a:srgbClr val="FF0000"/>
                </a:solidFill>
              </a:rPr>
              <a:t> 시스템이 대화를 통해 </a:t>
            </a:r>
            <a:r>
              <a:rPr lang="ko-KR" altLang="en-US" sz="1600" b="1" dirty="0"/>
              <a:t>관련 업무를 </a:t>
            </a:r>
            <a:r>
              <a:rPr lang="ko-KR" altLang="en-US" sz="1600" b="1" dirty="0">
                <a:solidFill>
                  <a:srgbClr val="FF0000"/>
                </a:solidFill>
              </a:rPr>
              <a:t>순차적</a:t>
            </a:r>
            <a:r>
              <a:rPr lang="ko-KR" altLang="en-US" sz="1600" b="1" dirty="0"/>
              <a:t>으로 처리하는 구체적인 절차</a:t>
            </a:r>
            <a:r>
              <a:rPr lang="ko-KR" altLang="en-US" sz="1600" dirty="0"/>
              <a:t>다</a:t>
            </a:r>
            <a:r>
              <a:rPr lang="en-US" altLang="ko-KR" sz="1600" dirty="0"/>
              <a:t>. …. </a:t>
            </a:r>
            <a:r>
              <a:rPr lang="ko-KR" altLang="en-US" sz="1600" b="1" dirty="0">
                <a:solidFill>
                  <a:srgbClr val="FF0000"/>
                </a:solidFill>
              </a:rPr>
              <a:t>사용자 관점</a:t>
            </a:r>
            <a:r>
              <a:rPr lang="ko-KR" altLang="en-US" sz="1600" dirty="0"/>
              <a:t>에서 볼 때</a:t>
            </a:r>
            <a:r>
              <a:rPr lang="en-US" altLang="ko-KR" sz="1600" dirty="0"/>
              <a:t>, </a:t>
            </a:r>
            <a:r>
              <a:rPr lang="ko-KR" altLang="en-US" sz="1600" dirty="0"/>
              <a:t>각 유스케이스는 시스템에서 벌어지는 하나의 완전한 이벤트 진행이다</a:t>
            </a:r>
            <a:r>
              <a:rPr lang="en-US" altLang="ko-KR" sz="1600" dirty="0"/>
              <a:t>. </a:t>
            </a:r>
          </a:p>
          <a:p>
            <a:endParaRPr lang="en-US" altLang="ko-KR" sz="1600" dirty="0"/>
          </a:p>
          <a:p>
            <a:pPr algn="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 UML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을 활용한 객체지향 분석 설계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그래디 부치 외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92813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376" y="1124744"/>
            <a:ext cx="11233248" cy="16693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500" dirty="0"/>
              <a:t>구축하려는 시스템의 문맥과 시스템이 제공하는 기능을 묘사하는데 유스케이스 다이어그램을 사용한다</a:t>
            </a:r>
            <a:r>
              <a:rPr lang="en-US" altLang="ko-KR" sz="1500" dirty="0"/>
              <a:t>. </a:t>
            </a:r>
            <a:r>
              <a:rPr lang="ko-KR" altLang="en-US" sz="1500" dirty="0"/>
              <a:t>유스케이스 다이어그램은 </a:t>
            </a:r>
            <a:r>
              <a:rPr lang="ko-KR" altLang="en-US" sz="1500" b="1" dirty="0"/>
              <a:t>누가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혹은 무엇이</a:t>
            </a:r>
            <a:r>
              <a:rPr lang="en-US" altLang="ko-KR" sz="1500" b="1" dirty="0"/>
              <a:t>) </a:t>
            </a:r>
            <a:r>
              <a:rPr lang="ko-KR" altLang="en-US" sz="1500" b="1" dirty="0"/>
              <a:t>시스템과 상호작용하는지 묘사</a:t>
            </a:r>
            <a:r>
              <a:rPr lang="ko-KR" altLang="en-US" sz="1500" dirty="0"/>
              <a:t>한다</a:t>
            </a:r>
            <a:r>
              <a:rPr lang="en-US" altLang="ko-KR" sz="1500" dirty="0"/>
              <a:t>. </a:t>
            </a:r>
            <a:r>
              <a:rPr lang="ko-KR" altLang="en-US" sz="1500" dirty="0"/>
              <a:t>다시 말해</a:t>
            </a:r>
            <a:r>
              <a:rPr lang="en-US" altLang="ko-KR" sz="1500" dirty="0"/>
              <a:t>, </a:t>
            </a:r>
            <a:r>
              <a:rPr lang="ko-KR" altLang="en-US" sz="1500" dirty="0"/>
              <a:t>유스케이스 다이어그램은 </a:t>
            </a:r>
            <a:r>
              <a:rPr lang="ko-KR" altLang="en-US" sz="1500" b="1" dirty="0"/>
              <a:t>바깥 세상</a:t>
            </a:r>
            <a:r>
              <a:rPr lang="ko-KR" altLang="en-US" sz="1500" dirty="0"/>
              <a:t>에서 시스템이 무엇을 하기 원하는지 보여준다</a:t>
            </a:r>
            <a:r>
              <a:rPr lang="en-US" altLang="ko-KR" sz="1500" dirty="0"/>
              <a:t>.</a:t>
            </a:r>
          </a:p>
          <a:p>
            <a:endParaRPr lang="en-US" altLang="ko-KR" sz="1500" dirty="0"/>
          </a:p>
          <a:p>
            <a:pPr algn="r"/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 UML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을 활용한 객체지향 분석 설계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그래디 부치 외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500" dirty="0"/>
              <a:t> </a:t>
            </a:r>
            <a:endParaRPr lang="ko-KR" altLang="en-US" sz="1500" dirty="0"/>
          </a:p>
        </p:txBody>
      </p:sp>
      <p:sp>
        <p:nvSpPr>
          <p:cNvPr id="3" name="직각 삼각형 2"/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79376" y="3588698"/>
            <a:ext cx="11233248" cy="23544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 dirty="0"/>
              <a:t>요구 사항 문서에서 인터페이스를 조작하는 사용자의 동작을 서술하면 다음과 같은 세 가지 문제가 발생한다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문서가 불필요하게 길어진다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요구사항이 불안정해지는데</a:t>
            </a:r>
            <a:r>
              <a:rPr lang="en-US" altLang="ko-KR" sz="1500" dirty="0"/>
              <a:t>, </a:t>
            </a:r>
            <a:r>
              <a:rPr lang="ko-KR" altLang="en-US" sz="1500" dirty="0"/>
              <a:t>이는 사용자 인터페이스 설계 관련 사소한 변경이 </a:t>
            </a:r>
            <a:r>
              <a:rPr lang="en-US" altLang="ko-KR" sz="1500" dirty="0"/>
              <a:t>(</a:t>
            </a:r>
            <a:r>
              <a:rPr lang="ko-KR" altLang="en-US" sz="1500" dirty="0"/>
              <a:t>결국 </a:t>
            </a:r>
            <a:r>
              <a:rPr lang="ko-KR" altLang="en-US" sz="1500" dirty="0" err="1"/>
              <a:t>요구상도</a:t>
            </a:r>
            <a:r>
              <a:rPr lang="ko-KR" altLang="en-US" sz="1500" dirty="0"/>
              <a:t> 아닌</a:t>
            </a:r>
            <a:r>
              <a:rPr lang="en-US" altLang="ko-KR" sz="1500" dirty="0"/>
              <a:t>) '</a:t>
            </a:r>
            <a:r>
              <a:rPr lang="ko-KR" altLang="en-US" sz="1500" dirty="0"/>
              <a:t>요구사항</a:t>
            </a:r>
            <a:r>
              <a:rPr lang="en-US" altLang="ko-KR" sz="1500" dirty="0"/>
              <a:t>'</a:t>
            </a:r>
            <a:r>
              <a:rPr lang="ko-KR" altLang="en-US" sz="1500" dirty="0"/>
              <a:t>에 변경을 일으킴을 의미한다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여러분이 그 일을 잘 수행하리라 믿어야 하는 </a:t>
            </a:r>
            <a:r>
              <a:rPr lang="en-US" altLang="ko-KR" sz="1500" dirty="0"/>
              <a:t>UI </a:t>
            </a:r>
            <a:r>
              <a:rPr lang="ko-KR" altLang="en-US" sz="1500" dirty="0"/>
              <a:t>설계자의 일을 빼앗는다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0" lvl="1" algn="r">
              <a:lnSpc>
                <a:spcPct val="140000"/>
              </a:lnSpc>
            </a:pP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sz="1500" dirty="0" err="1">
                <a:solidFill>
                  <a:schemeClr val="bg1">
                    <a:lumMod val="50000"/>
                  </a:schemeClr>
                </a:solidFill>
              </a:rPr>
              <a:t>UseCases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1687746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52016" y="2708920"/>
            <a:ext cx="11376000" cy="3513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Stakeholders &amp; Interests</a:t>
            </a:r>
          </a:p>
          <a:p>
            <a:pPr lvl="1">
              <a:lnSpc>
                <a:spcPct val="130000"/>
              </a:lnSpc>
            </a:pPr>
            <a:r>
              <a:rPr lang="ko-KR" altLang="en-US" sz="1500" dirty="0"/>
              <a:t>이해 당사자는 개발하는 시스템의 기능 및 품질에 대해 변경 요청을 할 수 있는 존재들입니다</a:t>
            </a:r>
            <a:r>
              <a:rPr lang="en-US" altLang="ko-KR" sz="1500" dirty="0"/>
              <a:t>. (</a:t>
            </a:r>
            <a:r>
              <a:rPr lang="ko-KR" altLang="en-US" sz="1500" dirty="0"/>
              <a:t>개발</a:t>
            </a:r>
            <a:r>
              <a:rPr lang="en-US" altLang="ko-KR" sz="1500" dirty="0"/>
              <a:t>, </a:t>
            </a:r>
            <a:r>
              <a:rPr lang="ko-KR" altLang="en-US" sz="1500" dirty="0"/>
              <a:t>검증</a:t>
            </a:r>
            <a:r>
              <a:rPr lang="en-US" altLang="ko-KR" sz="1500" dirty="0"/>
              <a:t>, </a:t>
            </a:r>
            <a:r>
              <a:rPr lang="ko-KR" altLang="en-US" sz="1500" dirty="0"/>
              <a:t>마케팅 담당자</a:t>
            </a:r>
            <a:r>
              <a:rPr lang="en-US" altLang="ko-KR" sz="1500" dirty="0"/>
              <a:t>, </a:t>
            </a:r>
            <a:r>
              <a:rPr lang="ko-KR" altLang="en-US" sz="1500" dirty="0"/>
              <a:t>정부 기관</a:t>
            </a:r>
            <a:r>
              <a:rPr lang="en-US" altLang="ko-KR" sz="1500" dirty="0"/>
              <a:t>, </a:t>
            </a:r>
            <a:r>
              <a:rPr lang="ko-KR" altLang="en-US" sz="1500" dirty="0"/>
              <a:t>소비자</a:t>
            </a:r>
            <a:r>
              <a:rPr lang="en-US" altLang="ko-KR" sz="1500" dirty="0"/>
              <a:t>, </a:t>
            </a:r>
            <a:r>
              <a:rPr lang="ko-KR" altLang="en-US" sz="1500" dirty="0"/>
              <a:t>제조 팀장</a:t>
            </a:r>
            <a:r>
              <a:rPr lang="en-US" altLang="ko-KR" sz="1500" dirty="0"/>
              <a:t>…..) </a:t>
            </a:r>
          </a:p>
          <a:p>
            <a:pPr lvl="1">
              <a:lnSpc>
                <a:spcPct val="130000"/>
              </a:lnSpc>
            </a:pPr>
            <a:r>
              <a:rPr lang="en-US" altLang="ko-KR" sz="1500" dirty="0"/>
              <a:t>Use case</a:t>
            </a:r>
            <a:r>
              <a:rPr lang="ko-KR" altLang="en-US" sz="1500" dirty="0"/>
              <a:t>의 이해 당사자가 빠진 사람이 없는지 확인해야 합니다</a:t>
            </a:r>
            <a:r>
              <a:rPr lang="en-US" altLang="ko-KR" sz="1500" dirty="0"/>
              <a:t>. </a:t>
            </a:r>
            <a:r>
              <a:rPr lang="ko-KR" altLang="en-US" sz="1500" dirty="0"/>
              <a:t>고려 하지 않은 이해 당사자는 개발 중 기능에 대한 추가 요구를 할 수 있고 이는 큰 </a:t>
            </a:r>
            <a:r>
              <a:rPr lang="en-US" altLang="ko-KR" sz="1500" dirty="0"/>
              <a:t>Risk</a:t>
            </a:r>
            <a:r>
              <a:rPr lang="ko-KR" altLang="en-US" sz="1500" dirty="0"/>
              <a:t>가 됩니다</a:t>
            </a:r>
            <a:r>
              <a:rPr lang="en-US" altLang="ko-KR" sz="1500" dirty="0"/>
              <a:t>.</a:t>
            </a:r>
          </a:p>
          <a:p>
            <a:pPr lvl="1">
              <a:lnSpc>
                <a:spcPct val="130000"/>
              </a:lnSpc>
            </a:pPr>
            <a:r>
              <a:rPr lang="ko-KR" altLang="en-US" sz="1500" dirty="0"/>
              <a:t> 이해 당사자가 이 기능을 통해 얻고자 하는 이익이나 관심사가 무엇인지 기술 합니다</a:t>
            </a:r>
            <a:r>
              <a:rPr lang="en-US" altLang="ko-KR" sz="1500" dirty="0"/>
              <a:t>.</a:t>
            </a:r>
          </a:p>
          <a:p>
            <a:pPr lvl="1">
              <a:lnSpc>
                <a:spcPct val="130000"/>
              </a:lnSpc>
            </a:pPr>
            <a:endParaRPr lang="en-US" altLang="ko-KR" sz="15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Extensions</a:t>
            </a:r>
          </a:p>
          <a:p>
            <a:pPr lvl="1">
              <a:lnSpc>
                <a:spcPct val="130000"/>
              </a:lnSpc>
            </a:pPr>
            <a:r>
              <a:rPr lang="ko-KR" altLang="en-US" sz="1500" dirty="0"/>
              <a:t>메인 시나리오 수행 중 발생할 수 있는 예외 상황</a:t>
            </a:r>
            <a:r>
              <a:rPr lang="en-US" altLang="ko-KR" sz="1500" dirty="0"/>
              <a:t>, </a:t>
            </a:r>
            <a:r>
              <a:rPr lang="ko-KR" altLang="en-US" sz="1500" dirty="0"/>
              <a:t>대체 상황들이 어떠한 것이 있는지 충분히 </a:t>
            </a:r>
            <a:r>
              <a:rPr lang="ko-KR" altLang="en-US" sz="1500" dirty="0" err="1"/>
              <a:t>브레인스토밍합니다</a:t>
            </a:r>
            <a:r>
              <a:rPr lang="en-US" altLang="ko-KR" sz="1500" dirty="0"/>
              <a:t>.</a:t>
            </a:r>
          </a:p>
          <a:p>
            <a:pPr lvl="1">
              <a:lnSpc>
                <a:spcPct val="130000"/>
              </a:lnSpc>
            </a:pPr>
            <a:r>
              <a:rPr lang="ko-KR" altLang="en-US" sz="1500" dirty="0"/>
              <a:t>예외</a:t>
            </a:r>
            <a:r>
              <a:rPr lang="en-US" altLang="ko-KR" sz="1500" dirty="0"/>
              <a:t>, </a:t>
            </a:r>
            <a:r>
              <a:rPr lang="ko-KR" altLang="en-US" sz="1500" dirty="0"/>
              <a:t>대체 상황에서 </a:t>
            </a:r>
            <a:r>
              <a:rPr lang="ko-KR" altLang="en-US" sz="1500" b="1" dirty="0"/>
              <a:t>이해 당사자들의 이익을 최대한 만족 </a:t>
            </a:r>
            <a:r>
              <a:rPr lang="ko-KR" altLang="en-US" sz="1500" dirty="0"/>
              <a:t>시키기 위해 해야 하는 행위가 무엇인지를 </a:t>
            </a:r>
            <a:r>
              <a:rPr lang="ko-KR" altLang="en-US" sz="1500" dirty="0" err="1"/>
              <a:t>상황별</a:t>
            </a:r>
            <a:r>
              <a:rPr lang="ko-KR" altLang="en-US" sz="1500" dirty="0"/>
              <a:t> 시나리오로 작성합니다</a:t>
            </a:r>
            <a:r>
              <a:rPr lang="en-US" altLang="ko-KR" sz="1500" dirty="0"/>
              <a:t>. </a:t>
            </a:r>
          </a:p>
        </p:txBody>
      </p:sp>
      <p:sp>
        <p:nvSpPr>
          <p:cNvPr id="4" name="직각 삼각형 3"/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0168" y="995835"/>
            <a:ext cx="11376000" cy="138499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500" dirty="0"/>
              <a:t>소프트웨어 개발 프로젝트가 실패하는 몇 가지 공통된 요인을 알 수 있다</a:t>
            </a:r>
            <a:r>
              <a:rPr lang="en-US" altLang="ko-KR" sz="1500" dirty="0"/>
              <a:t>. </a:t>
            </a:r>
            <a:r>
              <a:rPr lang="ko-KR" altLang="en-US" sz="1500" dirty="0"/>
              <a:t>그 중 하나가 </a:t>
            </a:r>
            <a:r>
              <a:rPr lang="ko-KR" altLang="en-US" sz="1500" b="1" dirty="0">
                <a:solidFill>
                  <a:srgbClr val="FF0000"/>
                </a:solidFill>
              </a:rPr>
              <a:t>핵심 이해당사자 간 대화가 부족</a:t>
            </a:r>
            <a:r>
              <a:rPr lang="ko-KR" altLang="en-US" sz="1500" dirty="0"/>
              <a:t>하거나 전혀 없었다는 사실이다</a:t>
            </a:r>
            <a:r>
              <a:rPr lang="en-US" altLang="ko-KR" sz="1500" dirty="0"/>
              <a:t>…. </a:t>
            </a:r>
            <a:r>
              <a:rPr lang="ko-KR" altLang="en-US" sz="1500" dirty="0"/>
              <a:t>따라서 개발 조직이 </a:t>
            </a:r>
            <a:r>
              <a:rPr lang="ko-KR" altLang="en-US" sz="1500" b="1" dirty="0">
                <a:solidFill>
                  <a:srgbClr val="FF0000"/>
                </a:solidFill>
              </a:rPr>
              <a:t>현업</a:t>
            </a:r>
            <a:r>
              <a:rPr lang="en-US" altLang="ko-KR" sz="1500" b="1" dirty="0">
                <a:solidFill>
                  <a:srgbClr val="FF0000"/>
                </a:solidFill>
              </a:rPr>
              <a:t>(</a:t>
            </a:r>
            <a:r>
              <a:rPr lang="ko-KR" altLang="en-US" sz="1500" b="1" dirty="0">
                <a:solidFill>
                  <a:srgbClr val="FF0000"/>
                </a:solidFill>
              </a:rPr>
              <a:t>고객</a:t>
            </a:r>
            <a:r>
              <a:rPr lang="en-US" altLang="ko-KR" sz="1500" b="1" dirty="0">
                <a:solidFill>
                  <a:srgbClr val="FF0000"/>
                </a:solidFill>
              </a:rPr>
              <a:t>)</a:t>
            </a:r>
            <a:r>
              <a:rPr lang="ko-KR" altLang="en-US" sz="1500" b="1" dirty="0">
                <a:solidFill>
                  <a:srgbClr val="FF0000"/>
                </a:solidFill>
              </a:rPr>
              <a:t>을 </a:t>
            </a:r>
            <a:r>
              <a:rPr lang="ko-KR" altLang="en-US" sz="1500" b="1" dirty="0"/>
              <a:t>성가시게 하지 않으면서도 </a:t>
            </a:r>
            <a:r>
              <a:rPr lang="ko-KR" altLang="en-US" sz="1500" b="1" dirty="0">
                <a:solidFill>
                  <a:srgbClr val="FF0000"/>
                </a:solidFill>
              </a:rPr>
              <a:t>무엇을 원하는지 명확히 이해</a:t>
            </a:r>
            <a:r>
              <a:rPr lang="ko-KR" altLang="en-US" sz="1500" dirty="0"/>
              <a:t>할 수 있는 시스템 개발 방안이 필요하다</a:t>
            </a:r>
            <a:endParaRPr lang="en-US" altLang="ko-KR" sz="1500" dirty="0"/>
          </a:p>
          <a:p>
            <a:pPr algn="r"/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 UML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을 활용한 객체지향 분석 설계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그래디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 부치 외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500" dirty="0"/>
              <a:t> 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044337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3717032"/>
            <a:ext cx="11233248" cy="28500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600" dirty="0"/>
              <a:t>이해관계자는 유스케이스 행위 안에서 폭넓은 관심을 가지고 있는 사람이나 사물이다</a:t>
            </a:r>
            <a:r>
              <a:rPr lang="en-US" altLang="ko-KR" sz="1600" dirty="0"/>
              <a:t>. </a:t>
            </a:r>
            <a:r>
              <a:rPr lang="ko-KR" altLang="en-US" sz="1600" dirty="0"/>
              <a:t>물론</a:t>
            </a:r>
            <a:r>
              <a:rPr lang="en-US" altLang="ko-KR" sz="1600" dirty="0"/>
              <a:t>, </a:t>
            </a:r>
            <a:r>
              <a:rPr lang="ko-KR" altLang="en-US" sz="1600" dirty="0"/>
              <a:t>모든 일차 </a:t>
            </a:r>
            <a:r>
              <a:rPr lang="ko-KR" altLang="en-US" sz="1600" dirty="0" err="1"/>
              <a:t>액터는</a:t>
            </a:r>
            <a:r>
              <a:rPr lang="ko-KR" altLang="en-US" sz="1600" dirty="0"/>
              <a:t> 이해관계자이지만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어떤 이해관계자는 시스템의 동작을 다룰 권한이 있음에도 불구하고 시스템과 직접 상호작용하지 않는다</a:t>
            </a:r>
            <a:r>
              <a:rPr lang="en-US" altLang="ko-KR" sz="1600" dirty="0"/>
              <a:t>. </a:t>
            </a:r>
            <a:r>
              <a:rPr lang="ko-KR" altLang="en-US" sz="1600" dirty="0"/>
              <a:t>시스템 소유주나 회사의 이사회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국내 </a:t>
            </a:r>
            <a:r>
              <a:rPr lang="ko-KR" altLang="en-US" sz="1600" dirty="0" err="1"/>
              <a:t>세무국이나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보험국과</a:t>
            </a:r>
            <a:r>
              <a:rPr lang="ko-KR" altLang="en-US" sz="1600" dirty="0"/>
              <a:t> 같은 정부의 규제이관이 그 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… </a:t>
            </a:r>
            <a:r>
              <a:rPr lang="ko-KR" altLang="en-US" sz="1600" dirty="0"/>
              <a:t>그들의 이해 관계는 시스템이 수행하는 것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시스템이 만드는 로그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시스템이 수행하는 행동을 확인하고 타당성을 검증하는 과정에서 나타난다</a:t>
            </a:r>
            <a:r>
              <a:rPr lang="en-US" altLang="ko-KR" sz="1600" dirty="0"/>
              <a:t>. </a:t>
            </a:r>
            <a:r>
              <a:rPr lang="ko-KR" altLang="en-US" sz="1600" dirty="0"/>
              <a:t>유스케이스는 시스템이 이해관계자의 이익을 보호하는지를 보여주어야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이것을 소홀히 했을 때 지불하는 대가를 보여주는 이야기를 소개한다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pPr algn="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</a:rPr>
              <a:t>Usecase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951000"/>
              </p:ext>
            </p:extLst>
          </p:nvPr>
        </p:nvGraphicFramePr>
        <p:xfrm>
          <a:off x="947428" y="1196752"/>
          <a:ext cx="10153128" cy="1899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8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6189">
                <a:tc>
                  <a:txBody>
                    <a:bodyPr/>
                    <a:lstStyle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case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추상화 수준으로 사용자와 시스템 간의 상호작용이 얼마나 상세하게 기술되는지를 나타냅니다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indent="-171450" algn="l" fontAlgn="ctr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Summary 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Level: 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이는 가장 높은 수준의 추상화로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시스템 또는 주요 부분의 기능을 나타냅니다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b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예를 들어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"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온라인 쇼핑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이에 해당됩니다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71450" indent="-171450" algn="l" fontAlgn="ctr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User-goal 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Level: 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이는 사용자의 목표를 달성하는 데 필요한 상호작용을 나타냅니다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b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예를 들어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"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상품 검색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"", "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장바구니에 상품 추가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 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등이 이에 해당됩니다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 </a:t>
                      </a:r>
                    </a:p>
                    <a:p>
                      <a:pPr marL="171450" indent="-171450" algn="l" fontAlgn="ctr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1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Subfunction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Level: </a:t>
                      </a:r>
                      <a:r>
                        <a:rPr lang="ko-KR" altLang="en-US" sz="1200" u="none" strike="noStrike" dirty="0">
                          <a:effectLst/>
                        </a:rPr>
                        <a:t>시나리오 조각을 나타냅니다 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여러 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 goal level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동일한 시나리오가 공통으로 사용될 경우 </a:t>
                      </a:r>
                      <a:r>
                        <a:rPr lang="en-US" altLang="ko-KR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subfunction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level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분리하여 사용할 수 있습니다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혹은 </a:t>
                      </a:r>
                      <a:r>
                        <a:rPr lang="en-US" altLang="ko-KR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Extention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기술한 항목이 충분히 커서 </a:t>
                      </a:r>
                      <a:r>
                        <a:rPr lang="ko-KR" altLang="en-US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가독성을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높이기 위해 </a:t>
                      </a:r>
                      <a:r>
                        <a:rPr lang="en-US" altLang="ko-KR" sz="12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subfunction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level</a:t>
                      </a:r>
                      <a:r>
                        <a:rPr lang="ko-KR" altLang="en-US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떼어 내어 작성 할 수 있습니다</a:t>
                      </a:r>
                      <a:r>
                        <a:rPr lang="en-US" altLang="ko-KR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44000" marR="144000" marT="72000" marB="72000" anchor="ctr">
                    <a:solidFill>
                      <a:srgbClr val="EB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5214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1556792"/>
            <a:ext cx="11233248" cy="425462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500" b="1" dirty="0"/>
              <a:t>확장 목록을 정당화한다</a:t>
            </a:r>
            <a:r>
              <a:rPr lang="en-US" altLang="ko-KR" sz="1500" b="1" dirty="0"/>
              <a:t>.</a:t>
            </a:r>
          </a:p>
          <a:p>
            <a:r>
              <a:rPr lang="ko-KR" altLang="en-US" sz="1500" dirty="0"/>
              <a:t>정당화</a:t>
            </a:r>
            <a:r>
              <a:rPr lang="en-US" altLang="ko-KR" sz="1500" dirty="0"/>
              <a:t>(</a:t>
            </a:r>
            <a:r>
              <a:rPr lang="en-US" altLang="ko-KR" sz="1500" dirty="0" err="1"/>
              <a:t>rotaionalization</a:t>
            </a:r>
            <a:r>
              <a:rPr lang="en-US" altLang="ko-KR" sz="1500" dirty="0"/>
              <a:t>)</a:t>
            </a:r>
            <a:r>
              <a:rPr lang="ko-KR" altLang="en-US" sz="1500" dirty="0"/>
              <a:t>활동의 목적은 확장 목록을 가능한 짧게 줄이는 것이다</a:t>
            </a:r>
            <a:r>
              <a:rPr lang="en-US" altLang="ko-KR" sz="1500" dirty="0"/>
              <a:t>. </a:t>
            </a:r>
            <a:r>
              <a:rPr lang="ko-KR" altLang="en-US" sz="1500" dirty="0"/>
              <a:t>이상적인 확장 조건 목록은 시스템이 반드시 처리 해야 하는 꼭 필요한 조건을 모두 보여준다</a:t>
            </a:r>
            <a:r>
              <a:rPr lang="en-US" altLang="ko-KR" sz="1500" dirty="0"/>
              <a:t>. </a:t>
            </a:r>
            <a:r>
              <a:rPr lang="ko-KR" altLang="en-US" sz="1500" dirty="0"/>
              <a:t>긴 요구 사항 문서는 언제나 읽기 어렵고 장황한 설명은 유지 보수가 어려움을 기억하기 바란다</a:t>
            </a:r>
            <a:r>
              <a:rPr lang="en-US" altLang="ko-KR" sz="1500" dirty="0"/>
              <a:t>. </a:t>
            </a:r>
          </a:p>
          <a:p>
            <a:r>
              <a:rPr lang="en-US" altLang="ko-KR" sz="1500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시스템이 반드시 조건을 감지 할 수 있어야 한다</a:t>
            </a:r>
            <a:r>
              <a:rPr lang="en-US" altLang="ko-KR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시스템이 조건 감지를 반드시 처리해야 한다</a:t>
            </a:r>
            <a:r>
              <a:rPr lang="en-US" altLang="ko-KR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r>
              <a:rPr lang="ko-KR" altLang="en-US" sz="1500" dirty="0"/>
              <a:t>감지 할 수 없는 조건을 삭제하기 전에</a:t>
            </a:r>
            <a:r>
              <a:rPr lang="en-US" altLang="ko-KR" sz="1500" dirty="0"/>
              <a:t>, </a:t>
            </a:r>
            <a:r>
              <a:rPr lang="ko-KR" altLang="en-US" sz="1500" dirty="0"/>
              <a:t>가능한 감지할 수 있도록 만든다</a:t>
            </a:r>
            <a:r>
              <a:rPr lang="en-US" altLang="ko-KR" sz="1500" dirty="0"/>
              <a:t>. </a:t>
            </a:r>
            <a:r>
              <a:rPr lang="ko-KR" altLang="en-US" sz="1500" b="1" dirty="0"/>
              <a:t>고객이 현금인출카드를 </a:t>
            </a:r>
            <a:r>
              <a:rPr lang="ko-KR" altLang="en-US" sz="1500" b="1" dirty="0" err="1"/>
              <a:t>읽어버렸다</a:t>
            </a:r>
            <a:r>
              <a:rPr lang="ko-KR" altLang="en-US" sz="1500" dirty="0" err="1"/>
              <a:t>와</a:t>
            </a:r>
            <a:r>
              <a:rPr lang="ko-KR" altLang="en-US" sz="1500" dirty="0"/>
              <a:t> 같은 조건은 시스템이 감지할 수 있는 동등한 조건이 없으므로 삭제한다</a:t>
            </a:r>
            <a:r>
              <a:rPr lang="en-US" altLang="ko-KR" sz="1500" dirty="0"/>
              <a:t>. </a:t>
            </a:r>
            <a:r>
              <a:rPr lang="ko-KR" altLang="en-US" sz="1500" dirty="0"/>
              <a:t>감지할 수 없는 조건인 </a:t>
            </a:r>
            <a:r>
              <a:rPr lang="ko-KR" altLang="en-US" sz="1500" b="1" dirty="0"/>
              <a:t>고객이 비밀번호를 </a:t>
            </a:r>
            <a:r>
              <a:rPr lang="ko-KR" altLang="en-US" sz="1500" b="1" dirty="0" err="1"/>
              <a:t>잊어버렸다</a:t>
            </a:r>
            <a:r>
              <a:rPr lang="ko-KR" altLang="en-US" sz="1500" dirty="0" err="1"/>
              <a:t>를</a:t>
            </a:r>
            <a:r>
              <a:rPr lang="ko-KR" altLang="en-US" sz="1500" dirty="0"/>
              <a:t> </a:t>
            </a:r>
            <a:r>
              <a:rPr lang="ko-KR" altLang="en-US" sz="1500" b="1" dirty="0"/>
              <a:t>비밀번호 입력 시간 초과</a:t>
            </a:r>
            <a:r>
              <a:rPr lang="ko-KR" altLang="en-US" sz="1500" dirty="0"/>
              <a:t>와 같이 시스템이 감지 할 수 있는 것으로 바꾼다</a:t>
            </a:r>
            <a:r>
              <a:rPr lang="en-US" altLang="ko-KR" sz="1500" dirty="0"/>
              <a:t>.</a:t>
            </a:r>
          </a:p>
          <a:p>
            <a:endParaRPr lang="en-US" altLang="ko-KR" sz="1500" dirty="0"/>
          </a:p>
          <a:p>
            <a:pPr algn="r"/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sz="1500" dirty="0" err="1">
                <a:solidFill>
                  <a:schemeClr val="bg1">
                    <a:lumMod val="50000"/>
                  </a:schemeClr>
                </a:solidFill>
              </a:rPr>
              <a:t>Usecase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500" dirty="0"/>
              <a:t> </a:t>
            </a:r>
            <a:endParaRPr lang="ko-KR" altLang="en-US" sz="1500" dirty="0"/>
          </a:p>
        </p:txBody>
      </p:sp>
      <p:sp>
        <p:nvSpPr>
          <p:cNvPr id="3" name="직각 삼각형 2"/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511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9376" y="1124744"/>
            <a:ext cx="11233248" cy="16693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500" dirty="0"/>
              <a:t>구축하려는 시스템의 문맥과 시스템이 제공하는 기능을 묘사하는데 유스케이스 다이어그램을 사용한다</a:t>
            </a:r>
            <a:r>
              <a:rPr lang="en-US" altLang="ko-KR" sz="1500" dirty="0"/>
              <a:t>. </a:t>
            </a:r>
            <a:r>
              <a:rPr lang="ko-KR" altLang="en-US" sz="1500" dirty="0"/>
              <a:t>유스케이스 다이어그램은 </a:t>
            </a:r>
            <a:r>
              <a:rPr lang="ko-KR" altLang="en-US" sz="1500" b="1" dirty="0"/>
              <a:t>누가</a:t>
            </a:r>
            <a:r>
              <a:rPr lang="en-US" altLang="ko-KR" sz="1500" b="1" dirty="0"/>
              <a:t>(</a:t>
            </a:r>
            <a:r>
              <a:rPr lang="ko-KR" altLang="en-US" sz="1500" b="1" dirty="0"/>
              <a:t>혹은 무엇이</a:t>
            </a:r>
            <a:r>
              <a:rPr lang="en-US" altLang="ko-KR" sz="1500" b="1" dirty="0"/>
              <a:t>) </a:t>
            </a:r>
            <a:r>
              <a:rPr lang="ko-KR" altLang="en-US" sz="1500" b="1" dirty="0"/>
              <a:t>시스템과 상호작용하는지 묘사</a:t>
            </a:r>
            <a:r>
              <a:rPr lang="ko-KR" altLang="en-US" sz="1500" dirty="0"/>
              <a:t>한다</a:t>
            </a:r>
            <a:r>
              <a:rPr lang="en-US" altLang="ko-KR" sz="1500" dirty="0"/>
              <a:t>. </a:t>
            </a:r>
            <a:r>
              <a:rPr lang="ko-KR" altLang="en-US" sz="1500" dirty="0"/>
              <a:t>다시 말해</a:t>
            </a:r>
            <a:r>
              <a:rPr lang="en-US" altLang="ko-KR" sz="1500" dirty="0"/>
              <a:t>, </a:t>
            </a:r>
            <a:r>
              <a:rPr lang="ko-KR" altLang="en-US" sz="1500" dirty="0"/>
              <a:t>유스케이스 다이어그램은 </a:t>
            </a:r>
            <a:r>
              <a:rPr lang="ko-KR" altLang="en-US" sz="1500" b="1" dirty="0"/>
              <a:t>바깥 세상</a:t>
            </a:r>
            <a:r>
              <a:rPr lang="ko-KR" altLang="en-US" sz="1500" dirty="0"/>
              <a:t>에서 시스템이 무엇을 하기 원하는지 보여준다</a:t>
            </a:r>
            <a:r>
              <a:rPr lang="en-US" altLang="ko-KR" sz="1500" dirty="0"/>
              <a:t>.</a:t>
            </a:r>
          </a:p>
          <a:p>
            <a:endParaRPr lang="en-US" altLang="ko-KR" sz="1500" dirty="0"/>
          </a:p>
          <a:p>
            <a:pPr algn="r"/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 UML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을 활용한 객체지향 분석 설계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그래디 부치 외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500" dirty="0"/>
              <a:t> </a:t>
            </a:r>
            <a:endParaRPr lang="ko-KR" altLang="en-US" sz="1500" dirty="0"/>
          </a:p>
        </p:txBody>
      </p:sp>
      <p:sp>
        <p:nvSpPr>
          <p:cNvPr id="3" name="직각 삼각형 2"/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79376" y="3588698"/>
            <a:ext cx="11233248" cy="23544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500" dirty="0"/>
              <a:t>요구 사항 문서에서 인터페이스를 조작하는 사용자의 동작을 서술하면 다음과 같은 세 가지 문제가 발생한다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문서가 불필요하게 길어진다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요구사항이 불안정해지는데</a:t>
            </a:r>
            <a:r>
              <a:rPr lang="en-US" altLang="ko-KR" sz="1500" dirty="0"/>
              <a:t>, </a:t>
            </a:r>
            <a:r>
              <a:rPr lang="ko-KR" altLang="en-US" sz="1500" dirty="0"/>
              <a:t>이는 사용자 인터페이스 설계 관련 사소한 변경이 </a:t>
            </a:r>
            <a:r>
              <a:rPr lang="en-US" altLang="ko-KR" sz="1500" dirty="0"/>
              <a:t>(</a:t>
            </a:r>
            <a:r>
              <a:rPr lang="ko-KR" altLang="en-US" sz="1500" dirty="0"/>
              <a:t>결국 요구사항도 아닌</a:t>
            </a:r>
            <a:r>
              <a:rPr lang="en-US" altLang="ko-KR" sz="1500" dirty="0"/>
              <a:t>) '</a:t>
            </a:r>
            <a:r>
              <a:rPr lang="ko-KR" altLang="en-US" sz="1500" dirty="0"/>
              <a:t>요구사항</a:t>
            </a:r>
            <a:r>
              <a:rPr lang="en-US" altLang="ko-KR" sz="1500" dirty="0"/>
              <a:t>'</a:t>
            </a:r>
            <a:r>
              <a:rPr lang="ko-KR" altLang="en-US" sz="1500" dirty="0"/>
              <a:t>에 변경을 일으킴을 의미한다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500" dirty="0"/>
              <a:t>여러분이 그 일을 잘 수행하리라 믿어야 하는 </a:t>
            </a:r>
            <a:r>
              <a:rPr lang="en-US" altLang="ko-KR" sz="1500" dirty="0"/>
              <a:t>UI </a:t>
            </a:r>
            <a:r>
              <a:rPr lang="ko-KR" altLang="en-US" sz="1500" dirty="0"/>
              <a:t>설계자의 일을 빼앗는다</a:t>
            </a:r>
            <a:r>
              <a:rPr lang="en-US" altLang="ko-KR" sz="1500" dirty="0"/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0" lvl="1" algn="r">
              <a:lnSpc>
                <a:spcPct val="140000"/>
              </a:lnSpc>
            </a:pP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sz="1500" dirty="0" err="1">
                <a:solidFill>
                  <a:schemeClr val="bg1">
                    <a:lumMod val="50000"/>
                  </a:schemeClr>
                </a:solidFill>
              </a:rPr>
              <a:t>UseCases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</a:rPr>
              <a:t> –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500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849958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008" y="1950231"/>
            <a:ext cx="5602271" cy="3337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l="5300" r="5514"/>
          <a:stretch/>
        </p:blipFill>
        <p:spPr>
          <a:xfrm>
            <a:off x="335360" y="1916832"/>
            <a:ext cx="5598656" cy="3371302"/>
          </a:xfrm>
          <a:prstGeom prst="rect">
            <a:avLst/>
          </a:prstGeom>
        </p:spPr>
      </p:pic>
      <p:sp>
        <p:nvSpPr>
          <p:cNvPr id="5" name="직각 삼각형 4"/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088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7368" y="3717032"/>
            <a:ext cx="11233248" cy="285001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40000"/>
              </a:lnSpc>
            </a:lvl1pPr>
          </a:lstStyle>
          <a:p>
            <a:r>
              <a:rPr lang="ko-KR" altLang="en-US" sz="1600" dirty="0"/>
              <a:t>이해관계자는 유스케이스 행위 안에서 폭넓은 관심을 가지고 있는 사람이나 사물이다</a:t>
            </a:r>
            <a:r>
              <a:rPr lang="en-US" altLang="ko-KR" sz="1600" dirty="0"/>
              <a:t>. </a:t>
            </a:r>
            <a:r>
              <a:rPr lang="ko-KR" altLang="en-US" sz="1600" dirty="0"/>
              <a:t>물론</a:t>
            </a:r>
            <a:r>
              <a:rPr lang="en-US" altLang="ko-KR" sz="1600" dirty="0"/>
              <a:t>, </a:t>
            </a:r>
            <a:r>
              <a:rPr lang="ko-KR" altLang="en-US" sz="1600" dirty="0"/>
              <a:t>모든 일차 </a:t>
            </a:r>
            <a:r>
              <a:rPr lang="ko-KR" altLang="en-US" sz="1600" dirty="0" err="1"/>
              <a:t>액터는</a:t>
            </a:r>
            <a:r>
              <a:rPr lang="ko-KR" altLang="en-US" sz="1600" dirty="0"/>
              <a:t> 이해관계자이지만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어떤 이해관계자는 시스템의 동작을 다룰 권한이 있음에도 불구하고 시스템과 직접 상호작용하지 않는다</a:t>
            </a:r>
            <a:r>
              <a:rPr lang="en-US" altLang="ko-KR" sz="1600" dirty="0"/>
              <a:t>. </a:t>
            </a:r>
            <a:r>
              <a:rPr lang="ko-KR" altLang="en-US" sz="1600" dirty="0"/>
              <a:t>시스템 소유주나 회사의 이사회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국내 </a:t>
            </a:r>
            <a:r>
              <a:rPr lang="ko-KR" altLang="en-US" sz="1600" dirty="0" err="1"/>
              <a:t>세무국이나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보험국과</a:t>
            </a:r>
            <a:r>
              <a:rPr lang="ko-KR" altLang="en-US" sz="1600" dirty="0"/>
              <a:t> 같은 정부의 규제이관이 그 예다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… </a:t>
            </a:r>
            <a:r>
              <a:rPr lang="ko-KR" altLang="en-US" sz="1600" dirty="0"/>
              <a:t>그들의 이해 관계는 시스템이 수행하는 것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시스템이 만드는 로그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시스템이 수행하는 행동을 확인하고 타당성을 검증하는 과정에서 나타난다</a:t>
            </a:r>
            <a:r>
              <a:rPr lang="en-US" altLang="ko-KR" sz="1600" dirty="0"/>
              <a:t>. </a:t>
            </a:r>
            <a:r>
              <a:rPr lang="ko-KR" altLang="en-US" sz="1600" dirty="0"/>
              <a:t>유스케이스는 시스템이 이해관계자의 이익을 보호하는지를 보여주어야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이것을 소홀히 했을 때 지불하는 대가를 보여주는 이야기를 소개한다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pPr algn="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Writing Effective </a:t>
            </a:r>
            <a:r>
              <a:rPr lang="en-US" altLang="ko-KR" sz="1600" dirty="0" err="1">
                <a:solidFill>
                  <a:schemeClr val="bg1">
                    <a:lumMod val="50000"/>
                  </a:schemeClr>
                </a:solidFill>
              </a:rPr>
              <a:t>Usecase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–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앨리스터</a:t>
            </a:r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600" dirty="0" err="1">
                <a:solidFill>
                  <a:schemeClr val="bg1">
                    <a:lumMod val="50000"/>
                  </a:schemeClr>
                </a:solidFill>
              </a:rPr>
              <a:t>코오번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3" name="직각 삼각형 2"/>
          <p:cNvSpPr/>
          <p:nvPr/>
        </p:nvSpPr>
        <p:spPr>
          <a:xfrm rot="5400000">
            <a:off x="0" y="0"/>
            <a:ext cx="914400" cy="914400"/>
          </a:xfrm>
          <a:prstGeom prst="rtTriangl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256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657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lIns="36000" tIns="36000" rIns="36000" bIns="36000" rtlCol="0" anchor="ctr"/>
      <a:lstStyle>
        <a:defPPr algn="ctr">
          <a:defRPr sz="12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6791</TotalTime>
  <Words>3262</Words>
  <Application>Microsoft Office PowerPoint</Application>
  <PresentationFormat>와이드스크린</PresentationFormat>
  <Paragraphs>255</Paragraphs>
  <Slides>29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맑은 고딕</vt:lpstr>
      <vt:lpstr>샘물체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Include &amp; Extend</vt:lpstr>
      <vt:lpstr>Include &amp; Extend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 산출물 목표</vt:lpstr>
      <vt:lpstr>PowerPoint 프레젠테이션</vt:lpstr>
      <vt:lpstr>PowerPoint 프레젠테이션</vt:lpstr>
      <vt:lpstr>Use cases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이혜준/HYE JOON YI</dc:creator>
  <cp:lastModifiedBy>User</cp:lastModifiedBy>
  <cp:revision>1204</cp:revision>
  <cp:lastPrinted>2025-11-26T23:33:15Z</cp:lastPrinted>
  <dcterms:created xsi:type="dcterms:W3CDTF">2021-06-02T00:51:12Z</dcterms:created>
  <dcterms:modified xsi:type="dcterms:W3CDTF">2026-09-02T23:06:06Z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