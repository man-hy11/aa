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4"/>
  </p:notesMasterIdLst>
  <p:sldIdLst>
    <p:sldId id="285" r:id="rId2"/>
    <p:sldId id="332" r:id="rId3"/>
    <p:sldId id="287" r:id="rId4"/>
    <p:sldId id="288" r:id="rId5"/>
    <p:sldId id="289" r:id="rId6"/>
    <p:sldId id="290" r:id="rId7"/>
    <p:sldId id="291" r:id="rId8"/>
    <p:sldId id="292" r:id="rId9"/>
    <p:sldId id="293" r:id="rId10"/>
    <p:sldId id="294" r:id="rId11"/>
    <p:sldId id="378" r:id="rId12"/>
    <p:sldId id="379" r:id="rId13"/>
    <p:sldId id="295" r:id="rId14"/>
    <p:sldId id="325" r:id="rId15"/>
    <p:sldId id="296" r:id="rId16"/>
    <p:sldId id="385" r:id="rId17"/>
    <p:sldId id="387" r:id="rId18"/>
    <p:sldId id="388" r:id="rId19"/>
    <p:sldId id="333" r:id="rId20"/>
    <p:sldId id="444" r:id="rId21"/>
    <p:sldId id="443" r:id="rId22"/>
    <p:sldId id="328" r:id="rId23"/>
    <p:sldId id="381" r:id="rId24"/>
    <p:sldId id="377" r:id="rId25"/>
    <p:sldId id="323" r:id="rId26"/>
    <p:sldId id="297" r:id="rId27"/>
    <p:sldId id="298" r:id="rId28"/>
    <p:sldId id="299" r:id="rId29"/>
    <p:sldId id="326" r:id="rId30"/>
    <p:sldId id="451" r:id="rId31"/>
    <p:sldId id="301" r:id="rId32"/>
    <p:sldId id="453" r:id="rId33"/>
    <p:sldId id="452" r:id="rId34"/>
    <p:sldId id="462" r:id="rId35"/>
    <p:sldId id="464" r:id="rId36"/>
    <p:sldId id="495" r:id="rId37"/>
    <p:sldId id="496" r:id="rId38"/>
    <p:sldId id="497" r:id="rId39"/>
    <p:sldId id="498" r:id="rId40"/>
    <p:sldId id="499" r:id="rId41"/>
    <p:sldId id="468" r:id="rId42"/>
    <p:sldId id="303" r:id="rId43"/>
    <p:sldId id="304" r:id="rId44"/>
    <p:sldId id="305" r:id="rId45"/>
    <p:sldId id="309" r:id="rId46"/>
    <p:sldId id="306" r:id="rId47"/>
    <p:sldId id="307" r:id="rId48"/>
    <p:sldId id="329" r:id="rId49"/>
    <p:sldId id="308" r:id="rId50"/>
    <p:sldId id="310" r:id="rId51"/>
    <p:sldId id="311" r:id="rId52"/>
    <p:sldId id="312" r:id="rId53"/>
    <p:sldId id="454" r:id="rId54"/>
    <p:sldId id="456" r:id="rId55"/>
    <p:sldId id="457" r:id="rId56"/>
    <p:sldId id="455" r:id="rId57"/>
    <p:sldId id="459" r:id="rId58"/>
    <p:sldId id="485" r:id="rId59"/>
    <p:sldId id="460" r:id="rId60"/>
    <p:sldId id="461" r:id="rId61"/>
    <p:sldId id="490" r:id="rId62"/>
    <p:sldId id="491" r:id="rId63"/>
    <p:sldId id="313" r:id="rId64"/>
    <p:sldId id="314" r:id="rId65"/>
    <p:sldId id="315" r:id="rId66"/>
    <p:sldId id="316" r:id="rId67"/>
    <p:sldId id="317" r:id="rId68"/>
    <p:sldId id="318" r:id="rId69"/>
    <p:sldId id="319" r:id="rId70"/>
    <p:sldId id="320" r:id="rId71"/>
    <p:sldId id="445" r:id="rId72"/>
    <p:sldId id="433" r:id="rId73"/>
    <p:sldId id="321" r:id="rId74"/>
    <p:sldId id="322" r:id="rId75"/>
    <p:sldId id="478" r:id="rId76"/>
    <p:sldId id="470" r:id="rId77"/>
    <p:sldId id="471" r:id="rId78"/>
    <p:sldId id="472" r:id="rId79"/>
    <p:sldId id="473" r:id="rId80"/>
    <p:sldId id="474" r:id="rId81"/>
    <p:sldId id="475" r:id="rId82"/>
    <p:sldId id="476" r:id="rId83"/>
    <p:sldId id="479" r:id="rId84"/>
    <p:sldId id="492" r:id="rId85"/>
    <p:sldId id="494" r:id="rId86"/>
    <p:sldId id="363" r:id="rId87"/>
    <p:sldId id="364" r:id="rId88"/>
    <p:sldId id="365" r:id="rId89"/>
    <p:sldId id="366" r:id="rId90"/>
    <p:sldId id="367" r:id="rId91"/>
    <p:sldId id="368" r:id="rId92"/>
    <p:sldId id="369" r:id="rId93"/>
    <p:sldId id="370" r:id="rId94"/>
    <p:sldId id="371" r:id="rId95"/>
    <p:sldId id="372" r:id="rId96"/>
    <p:sldId id="373" r:id="rId97"/>
    <p:sldId id="374" r:id="rId98"/>
    <p:sldId id="375" r:id="rId99"/>
    <p:sldId id="376" r:id="rId100"/>
    <p:sldId id="446" r:id="rId101"/>
    <p:sldId id="447" r:id="rId102"/>
    <p:sldId id="448" r:id="rId103"/>
    <p:sldId id="449" r:id="rId104"/>
    <p:sldId id="450" r:id="rId105"/>
    <p:sldId id="434" r:id="rId106"/>
    <p:sldId id="334" r:id="rId107"/>
    <p:sldId id="343" r:id="rId108"/>
    <p:sldId id="360" r:id="rId109"/>
    <p:sldId id="406" r:id="rId110"/>
    <p:sldId id="391" r:id="rId111"/>
    <p:sldId id="401" r:id="rId112"/>
    <p:sldId id="405" r:id="rId1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8B064BF5-6EC7-4357-B58A-FEF1CAE2FD45}">
          <p14:sldIdLst>
            <p14:sldId id="285"/>
            <p14:sldId id="332"/>
            <p14:sldId id="287"/>
            <p14:sldId id="288"/>
            <p14:sldId id="289"/>
            <p14:sldId id="290"/>
            <p14:sldId id="291"/>
            <p14:sldId id="292"/>
            <p14:sldId id="293"/>
            <p14:sldId id="294"/>
            <p14:sldId id="378"/>
            <p14:sldId id="379"/>
            <p14:sldId id="295"/>
            <p14:sldId id="325"/>
            <p14:sldId id="296"/>
            <p14:sldId id="385"/>
            <p14:sldId id="387"/>
            <p14:sldId id="388"/>
            <p14:sldId id="333"/>
            <p14:sldId id="444"/>
            <p14:sldId id="443"/>
            <p14:sldId id="328"/>
            <p14:sldId id="381"/>
            <p14:sldId id="377"/>
            <p14:sldId id="323"/>
            <p14:sldId id="297"/>
            <p14:sldId id="298"/>
            <p14:sldId id="299"/>
            <p14:sldId id="326"/>
            <p14:sldId id="451"/>
            <p14:sldId id="301"/>
            <p14:sldId id="453"/>
            <p14:sldId id="452"/>
            <p14:sldId id="462"/>
            <p14:sldId id="464"/>
            <p14:sldId id="495"/>
            <p14:sldId id="496"/>
            <p14:sldId id="497"/>
            <p14:sldId id="498"/>
            <p14:sldId id="499"/>
            <p14:sldId id="468"/>
            <p14:sldId id="303"/>
            <p14:sldId id="304"/>
            <p14:sldId id="305"/>
            <p14:sldId id="309"/>
            <p14:sldId id="306"/>
            <p14:sldId id="307"/>
            <p14:sldId id="329"/>
            <p14:sldId id="308"/>
            <p14:sldId id="310"/>
            <p14:sldId id="311"/>
            <p14:sldId id="312"/>
            <p14:sldId id="454"/>
            <p14:sldId id="456"/>
            <p14:sldId id="457"/>
            <p14:sldId id="455"/>
            <p14:sldId id="459"/>
            <p14:sldId id="485"/>
            <p14:sldId id="460"/>
            <p14:sldId id="461"/>
            <p14:sldId id="490"/>
            <p14:sldId id="491"/>
            <p14:sldId id="313"/>
            <p14:sldId id="314"/>
            <p14:sldId id="315"/>
            <p14:sldId id="316"/>
            <p14:sldId id="317"/>
            <p14:sldId id="318"/>
            <p14:sldId id="319"/>
            <p14:sldId id="320"/>
            <p14:sldId id="445"/>
            <p14:sldId id="433"/>
            <p14:sldId id="321"/>
            <p14:sldId id="322"/>
            <p14:sldId id="478"/>
            <p14:sldId id="470"/>
            <p14:sldId id="471"/>
            <p14:sldId id="472"/>
            <p14:sldId id="473"/>
            <p14:sldId id="474"/>
            <p14:sldId id="475"/>
            <p14:sldId id="476"/>
            <p14:sldId id="479"/>
            <p14:sldId id="492"/>
            <p14:sldId id="494"/>
            <p14:sldId id="363"/>
            <p14:sldId id="364"/>
          </p14:sldIdLst>
        </p14:section>
        <p14:section name="제목 없는 구역" id="{840C70C8-8039-44E3-AC5A-B64A755759E2}">
          <p14:sldIdLst>
            <p14:sldId id="365"/>
            <p14:sldId id="366"/>
            <p14:sldId id="367"/>
            <p14:sldId id="368"/>
            <p14:sldId id="369"/>
            <p14:sldId id="370"/>
            <p14:sldId id="371"/>
            <p14:sldId id="372"/>
            <p14:sldId id="373"/>
            <p14:sldId id="374"/>
            <p14:sldId id="375"/>
            <p14:sldId id="376"/>
            <p14:sldId id="446"/>
            <p14:sldId id="447"/>
            <p14:sldId id="448"/>
            <p14:sldId id="449"/>
            <p14:sldId id="450"/>
            <p14:sldId id="434"/>
            <p14:sldId id="334"/>
            <p14:sldId id="343"/>
            <p14:sldId id="360"/>
            <p14:sldId id="406"/>
            <p14:sldId id="391"/>
            <p14:sldId id="401"/>
            <p14:sldId id="405"/>
          </p14:sldIdLst>
        </p14:section>
      </p14:sectionLst>
    </p:ex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EBF9F9"/>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65" autoAdjust="0"/>
    <p:restoredTop sz="93109" autoAdjust="0"/>
  </p:normalViewPr>
  <p:slideViewPr>
    <p:cSldViewPr showGuides="1">
      <p:cViewPr>
        <p:scale>
          <a:sx n="90" d="100"/>
          <a:sy n="90" d="100"/>
        </p:scale>
        <p:origin x="-64" y="-22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8B390-C473-4696-98C6-8A0C8FCAAABC}" type="datetimeFigureOut">
              <a:rPr lang="ko-KR" altLang="en-US" smtClean="0"/>
              <a:t>2026-08-28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23A25-6988-4880-9B02-B1245A972AE9}" type="slidenum">
              <a:rPr lang="ko-KR" altLang="en-US" smtClean="0"/>
              <a:t>‹#›</a:t>
            </a:fld>
            <a:endParaRPr lang="ko-KR" altLang="en-US"/>
          </a:p>
        </p:txBody>
      </p:sp>
    </p:spTree>
    <p:extLst>
      <p:ext uri="{BB962C8B-B14F-4D97-AF65-F5344CB8AC3E}">
        <p14:creationId xmlns:p14="http://schemas.microsoft.com/office/powerpoint/2010/main" val="36334837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ko.wikipedia.org/w/index.php?title=%EC%9D%B4%EB%B0%94_%EC%95%BC%EC%BD%A5%EC%8A%A8&amp;action=edit&amp;redlink=1" TargetMode="External"/><Relationship Id="rId3" Type="http://schemas.openxmlformats.org/officeDocument/2006/relationships/hyperlink" Target="https://ko.wikipedia.org/wiki/1955%EB%85%84" TargetMode="External"/><Relationship Id="rId7" Type="http://schemas.openxmlformats.org/officeDocument/2006/relationships/hyperlink" Target="https://ko.wikipedia.org/w/index.php?title=%EB%9E%98%EC%85%94%EB%84%90_%EC%86%8C%ED%94%84%ED%8A%B8%EC%9B%A8%EC%96%B4&amp;action=edit&amp;redlink=1"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ko.wikipedia.org/wiki/%EC%86%8C%ED%94%84%ED%8A%B8%EC%9B%A8%EC%96%B4" TargetMode="External"/><Relationship Id="rId5" Type="http://schemas.openxmlformats.org/officeDocument/2006/relationships/hyperlink" Target="https://ko.wikipedia.org/wiki/%EB%AF%B8%EA%B5%AD" TargetMode="External"/><Relationship Id="rId10" Type="http://schemas.openxmlformats.org/officeDocument/2006/relationships/hyperlink" Target="https://ko.wikipedia.org/wiki/UML" TargetMode="External"/><Relationship Id="rId4" Type="http://schemas.openxmlformats.org/officeDocument/2006/relationships/hyperlink" Target="https://ko.wikipedia.org/wiki/2%EC%9B%94_27%EC%9D%BC" TargetMode="External"/><Relationship Id="rId9" Type="http://schemas.openxmlformats.org/officeDocument/2006/relationships/hyperlink" Target="https://ko.wikipedia.org/w/index.php?title=%EC%A0%9C%EC%9E%84%EC%8A%A4_%EB%9F%BC%EB%B0%94&amp;action=edit&amp;redlink=1"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a:t>
            </a:fld>
            <a:endParaRPr lang="ko-KR" altLang="en-US"/>
          </a:p>
        </p:txBody>
      </p:sp>
    </p:spTree>
    <p:extLst>
      <p:ext uri="{BB962C8B-B14F-4D97-AF65-F5344CB8AC3E}">
        <p14:creationId xmlns:p14="http://schemas.microsoft.com/office/powerpoint/2010/main" val="4149696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b="1" dirty="0" smtClean="0">
                <a:effectLst/>
              </a:rPr>
              <a:t>- </a:t>
            </a:r>
            <a:r>
              <a:rPr lang="en-US" altLang="ko-KR" dirty="0" smtClean="0"/>
              <a:t>UML</a:t>
            </a:r>
            <a:r>
              <a:rPr lang="ko-KR" altLang="en-US" dirty="0" smtClean="0"/>
              <a:t>이란 </a:t>
            </a:r>
            <a:r>
              <a:rPr lang="en-US" altLang="ko-KR" dirty="0" smtClean="0"/>
              <a:t>Unified Modeling Language</a:t>
            </a:r>
            <a:r>
              <a:rPr lang="ko-KR" altLang="en-US" dirty="0" smtClean="0"/>
              <a:t>의 약자로 </a:t>
            </a:r>
            <a:r>
              <a:rPr lang="en-US" altLang="ko-KR" dirty="0" smtClean="0"/>
              <a:t>1997</a:t>
            </a:r>
            <a:r>
              <a:rPr lang="ko-KR" altLang="en-US" dirty="0" smtClean="0"/>
              <a:t>년 </a:t>
            </a:r>
            <a:r>
              <a:rPr lang="en-US" altLang="ko-KR" dirty="0" smtClean="0"/>
              <a:t>OMG(Object Management Group)</a:t>
            </a:r>
            <a:r>
              <a:rPr lang="ko-KR" altLang="en-US" dirty="0" smtClean="0"/>
              <a:t>에서 표준으로 채택한 통합모델링언어 입니다</a:t>
            </a:r>
            <a:r>
              <a:rPr lang="en-US" altLang="ko-KR" dirty="0" smtClean="0"/>
              <a:t>. </a:t>
            </a:r>
            <a:r>
              <a:rPr lang="ko-KR" altLang="en-US" dirty="0" smtClean="0"/>
              <a:t>즉</a:t>
            </a:r>
            <a:r>
              <a:rPr lang="en-US" altLang="ko-KR" dirty="0" smtClean="0"/>
              <a:t>, </a:t>
            </a:r>
            <a:r>
              <a:rPr lang="ko-KR" altLang="en-US" dirty="0" smtClean="0"/>
              <a:t>모델을 만드는 표준언어인 것입니다</a:t>
            </a:r>
            <a:r>
              <a:rPr lang="en-US" altLang="ko-KR" dirty="0" smtClean="0"/>
              <a:t>. </a:t>
            </a:r>
            <a:r>
              <a:rPr lang="ko-KR" altLang="en-US" dirty="0" smtClean="0"/>
              <a:t>모델이란 것은 어떤 것을 실제로 만들 때 이렇게 만들면 잘 작동할지 미리 검증해 보는 것이며 실제 물건을 만드는 비용보다 비용이 훨씬 적을 경우에 모델을 만들어 설계를 검사합니다</a:t>
            </a:r>
            <a:r>
              <a:rPr lang="en-US" altLang="ko-KR" dirty="0" smtClean="0"/>
              <a:t>.</a:t>
            </a:r>
            <a:endParaRPr lang="en-US" altLang="ko-KR" dirty="0" smtClean="0">
              <a:effectLst/>
            </a:endParaRPr>
          </a:p>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b="1" dirty="0" smtClean="0">
              <a:effectLst/>
            </a:endParaRPr>
          </a:p>
          <a:p>
            <a:r>
              <a:rPr lang="ko-KR" altLang="en-US" dirty="0" smtClean="0"/>
              <a:t>다른 사람들과의 의사소통 또는 설계 논의</a:t>
            </a:r>
          </a:p>
          <a:p>
            <a:r>
              <a:rPr lang="ko-KR" altLang="en-US" dirty="0" smtClean="0"/>
              <a:t>전체 시스템의 구조 및 클래스의 의존성 파악</a:t>
            </a:r>
          </a:p>
          <a:p>
            <a:r>
              <a:rPr lang="ko-KR" altLang="en-US" dirty="0" smtClean="0"/>
              <a:t>유지보수를 위한 설계의 </a:t>
            </a:r>
            <a:r>
              <a:rPr lang="en-US" altLang="ko-KR" dirty="0" smtClean="0"/>
              <a:t>back-end </a:t>
            </a:r>
            <a:r>
              <a:rPr lang="ko-KR" altLang="en-US" dirty="0" smtClean="0"/>
              <a:t>문서</a:t>
            </a:r>
          </a:p>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b="1" dirty="0" smtClean="0">
              <a:effectLst/>
            </a:endParaRPr>
          </a:p>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b="1" dirty="0" smtClean="0">
              <a:effectLst/>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b="1" dirty="0" smtClean="0">
                <a:effectLst/>
              </a:rPr>
              <a:t>- </a:t>
            </a:r>
            <a:r>
              <a:rPr lang="ko-KR" altLang="en-US" b="1" dirty="0" smtClean="0">
                <a:effectLst/>
              </a:rPr>
              <a:t>그래디 </a:t>
            </a:r>
            <a:r>
              <a:rPr lang="ko-KR" altLang="en-US" b="1" dirty="0" err="1" smtClean="0">
                <a:effectLst/>
              </a:rPr>
              <a:t>부치</a:t>
            </a:r>
            <a:r>
              <a:rPr lang="en-US" altLang="ko-KR" dirty="0" smtClean="0">
                <a:effectLst/>
              </a:rPr>
              <a:t>(Grady </a:t>
            </a:r>
            <a:r>
              <a:rPr lang="en-US" altLang="ko-KR" dirty="0" err="1" smtClean="0">
                <a:effectLst/>
              </a:rPr>
              <a:t>Booch</a:t>
            </a:r>
            <a:r>
              <a:rPr lang="en-US" altLang="ko-KR" dirty="0" smtClean="0">
                <a:effectLst/>
              </a:rPr>
              <a:t>, </a:t>
            </a:r>
            <a:r>
              <a:rPr lang="en-US" altLang="ko-KR" dirty="0" smtClean="0">
                <a:effectLst/>
                <a:hlinkClick r:id="rId3" tooltip="1955년"/>
              </a:rPr>
              <a:t>1955</a:t>
            </a:r>
            <a:r>
              <a:rPr lang="ko-KR" altLang="en-US" dirty="0" smtClean="0">
                <a:effectLst/>
                <a:hlinkClick r:id="rId3" tooltip="1955년"/>
              </a:rPr>
              <a:t>년</a:t>
            </a:r>
            <a:r>
              <a:rPr lang="ko-KR" altLang="en-US" dirty="0" smtClean="0">
                <a:effectLst/>
              </a:rPr>
              <a:t> </a:t>
            </a:r>
            <a:r>
              <a:rPr lang="en-US" altLang="ko-KR" dirty="0" smtClean="0">
                <a:effectLst/>
                <a:hlinkClick r:id="rId4" tooltip="2월 27일"/>
              </a:rPr>
              <a:t>2</a:t>
            </a:r>
            <a:r>
              <a:rPr lang="ko-KR" altLang="en-US" dirty="0" smtClean="0">
                <a:effectLst/>
                <a:hlinkClick r:id="rId4" tooltip="2월 27일"/>
              </a:rPr>
              <a:t>월 </a:t>
            </a:r>
            <a:r>
              <a:rPr lang="en-US" altLang="ko-KR" dirty="0" smtClean="0">
                <a:effectLst/>
                <a:hlinkClick r:id="rId4" tooltip="2월 27일"/>
              </a:rPr>
              <a:t>27</a:t>
            </a:r>
            <a:r>
              <a:rPr lang="ko-KR" altLang="en-US" dirty="0" smtClean="0">
                <a:effectLst/>
                <a:hlinkClick r:id="rId4" tooltip="2월 27일"/>
              </a:rPr>
              <a:t>일</a:t>
            </a:r>
            <a:r>
              <a:rPr lang="ko-KR" altLang="en-US" dirty="0" smtClean="0">
                <a:effectLst/>
              </a:rPr>
              <a:t> </a:t>
            </a:r>
            <a:r>
              <a:rPr lang="en-US" altLang="ko-KR" dirty="0" smtClean="0">
                <a:effectLst/>
              </a:rPr>
              <a:t>~ )</a:t>
            </a:r>
            <a:r>
              <a:rPr lang="ko-KR" altLang="en-US" dirty="0" smtClean="0">
                <a:effectLst/>
              </a:rPr>
              <a:t>는 </a:t>
            </a:r>
            <a:r>
              <a:rPr lang="ko-KR" altLang="en-US" dirty="0" smtClean="0">
                <a:effectLst/>
                <a:hlinkClick r:id="rId5" tooltip="미국"/>
              </a:rPr>
              <a:t>미국</a:t>
            </a:r>
            <a:r>
              <a:rPr lang="ko-KR" altLang="en-US" dirty="0" smtClean="0">
                <a:effectLst/>
              </a:rPr>
              <a:t>의 </a:t>
            </a:r>
            <a:r>
              <a:rPr lang="ko-KR" altLang="en-US" dirty="0" smtClean="0">
                <a:effectLst/>
                <a:hlinkClick r:id="rId6" tooltip="소프트웨어"/>
              </a:rPr>
              <a:t>소프트웨어</a:t>
            </a:r>
            <a:r>
              <a:rPr lang="ko-KR" altLang="en-US" dirty="0" smtClean="0">
                <a:effectLst/>
              </a:rPr>
              <a:t> 개발자이다</a:t>
            </a:r>
            <a:r>
              <a:rPr lang="en-US" altLang="ko-KR" dirty="0" smtClean="0">
                <a:effectLst/>
              </a:rPr>
              <a:t>. </a:t>
            </a:r>
            <a:r>
              <a:rPr lang="ko-KR" altLang="en-US" dirty="0" err="1" smtClean="0">
                <a:effectLst/>
                <a:hlinkClick r:id="rId7" tooltip="래셔널 소프트웨어 (없는 문서)"/>
              </a:rPr>
              <a:t>래셔널</a:t>
            </a:r>
            <a:r>
              <a:rPr lang="ko-KR" altLang="en-US" dirty="0" smtClean="0">
                <a:effectLst/>
                <a:hlinkClick r:id="rId7" tooltip="래셔널 소프트웨어 (없는 문서)"/>
              </a:rPr>
              <a:t> 소프트웨어</a:t>
            </a:r>
            <a:r>
              <a:rPr lang="ko-KR" altLang="en-US" dirty="0" smtClean="0">
                <a:effectLst/>
              </a:rPr>
              <a:t>의 수석 과학자이다</a:t>
            </a:r>
            <a:r>
              <a:rPr lang="en-US" altLang="ko-KR" dirty="0" smtClean="0">
                <a:effectLst/>
              </a:rPr>
              <a:t>. </a:t>
            </a:r>
            <a:r>
              <a:rPr lang="ko-KR" altLang="en-US" dirty="0" err="1" smtClean="0">
                <a:effectLst/>
                <a:hlinkClick r:id="rId8" tooltip="이바 야콥슨 (없는 문서)"/>
              </a:rPr>
              <a:t>이바</a:t>
            </a:r>
            <a:r>
              <a:rPr lang="ko-KR" altLang="en-US" dirty="0" smtClean="0">
                <a:effectLst/>
                <a:hlinkClick r:id="rId8" tooltip="이바 야콥슨 (없는 문서)"/>
              </a:rPr>
              <a:t> 야콥슨</a:t>
            </a:r>
            <a:r>
              <a:rPr lang="en-US" altLang="ko-KR" dirty="0" smtClean="0">
                <a:effectLst/>
              </a:rPr>
              <a:t>, </a:t>
            </a:r>
            <a:r>
              <a:rPr lang="ko-KR" altLang="en-US" dirty="0" err="1" smtClean="0">
                <a:effectLst/>
                <a:hlinkClick r:id="rId9" tooltip="제임스 럼바 (없는 문서)"/>
              </a:rPr>
              <a:t>제임스</a:t>
            </a:r>
            <a:r>
              <a:rPr lang="ko-KR" altLang="en-US" dirty="0" smtClean="0">
                <a:effectLst/>
                <a:hlinkClick r:id="rId9" tooltip="제임스 럼바 (없는 문서)"/>
              </a:rPr>
              <a:t> </a:t>
            </a:r>
            <a:r>
              <a:rPr lang="ko-KR" altLang="en-US" dirty="0" err="1" smtClean="0">
                <a:effectLst/>
                <a:hlinkClick r:id="rId9" tooltip="제임스 럼바 (없는 문서)"/>
              </a:rPr>
              <a:t>럼바</a:t>
            </a:r>
            <a:r>
              <a:rPr lang="ko-KR" altLang="en-US" dirty="0" err="1" smtClean="0">
                <a:effectLst/>
              </a:rPr>
              <a:t>와</a:t>
            </a:r>
            <a:r>
              <a:rPr lang="ko-KR" altLang="en-US" dirty="0" smtClean="0">
                <a:effectLst/>
              </a:rPr>
              <a:t> 함께 </a:t>
            </a:r>
            <a:r>
              <a:rPr lang="en-US" altLang="ko-KR" dirty="0" smtClean="0">
                <a:effectLst/>
                <a:hlinkClick r:id="rId10" tooltip="UML"/>
              </a:rPr>
              <a:t>UML</a:t>
            </a:r>
            <a:r>
              <a:rPr lang="ko-KR" altLang="en-US" dirty="0" smtClean="0">
                <a:effectLst/>
              </a:rPr>
              <a:t>을 개발한 것으로 유명하다</a:t>
            </a:r>
            <a:r>
              <a:rPr lang="en-US" altLang="ko-KR" dirty="0" smtClean="0">
                <a:effectLst/>
              </a:rPr>
              <a:t>. </a:t>
            </a:r>
          </a:p>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dirty="0" smtClean="0">
              <a:effectLst/>
            </a:endParaRPr>
          </a:p>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a:t>
            </a:fld>
            <a:endParaRPr lang="ko-KR" altLang="en-US"/>
          </a:p>
        </p:txBody>
      </p:sp>
    </p:spTree>
    <p:extLst>
      <p:ext uri="{BB962C8B-B14F-4D97-AF65-F5344CB8AC3E}">
        <p14:creationId xmlns:p14="http://schemas.microsoft.com/office/powerpoint/2010/main" val="69577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dirty="0" smtClean="0">
              <a:effectLst/>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dirty="0" smtClean="0">
                <a:effectLst/>
              </a:rPr>
              <a:t>[OOAD]</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effectLst/>
              </a:rPr>
              <a:t>객체 지향 분석 및 디자인</a:t>
            </a:r>
            <a:r>
              <a:rPr lang="en-US" altLang="ko-KR" dirty="0" smtClean="0">
                <a:effectLst/>
              </a:rPr>
              <a:t>(Object-Oriented Analysis and Design, </a:t>
            </a:r>
            <a:r>
              <a:rPr lang="ko-KR" altLang="en-US" dirty="0" smtClean="0">
                <a:effectLst/>
              </a:rPr>
              <a:t>일명 </a:t>
            </a:r>
            <a:r>
              <a:rPr lang="en-US" altLang="ko-KR" dirty="0" smtClean="0">
                <a:effectLst/>
              </a:rPr>
              <a:t>OOAD)</a:t>
            </a:r>
            <a:r>
              <a:rPr lang="ko-KR" altLang="en-US" dirty="0" smtClean="0">
                <a:effectLst/>
              </a:rPr>
              <a:t>은 객체 지향 프로그래밍 을 적용 하고 개발 수명주기 </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effectLst/>
              </a:rPr>
              <a:t>전반에 걸쳐 시각적 모델링을 사용하여 응용 프로그램</a:t>
            </a:r>
            <a:r>
              <a:rPr lang="en-US" altLang="ko-KR" dirty="0" smtClean="0">
                <a:effectLst/>
              </a:rPr>
              <a:t>, </a:t>
            </a:r>
            <a:r>
              <a:rPr lang="ko-KR" altLang="en-US" dirty="0" smtClean="0">
                <a:effectLst/>
              </a:rPr>
              <a:t>시스템 또는 비즈니스를 분석 및 설계하는 데 널리 사용되는 기술 방식으로 </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effectLst/>
              </a:rPr>
              <a:t>이해 관계자 커뮤니케이션 및 제품을 향상시킨다</a:t>
            </a:r>
            <a:r>
              <a:rPr lang="en-US" altLang="ko-KR" dirty="0" smtClean="0">
                <a:effectLst/>
              </a:rPr>
              <a:t>.</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effectLst/>
              </a:rPr>
              <a:t>분석에서 문제를 어떻게 정의하는가 보다는 문제 조사를 강조한다</a:t>
            </a:r>
            <a:r>
              <a:rPr lang="en-US" altLang="ko-KR" dirty="0" smtClean="0">
                <a:effectLst/>
              </a:rPr>
              <a:t>. </a:t>
            </a:r>
            <a:r>
              <a:rPr lang="ko-KR" altLang="en-US" dirty="0" smtClean="0">
                <a:effectLst/>
              </a:rPr>
              <a:t>디자인에서 </a:t>
            </a:r>
            <a:r>
              <a:rPr lang="en-US" altLang="ko-KR" dirty="0" smtClean="0">
                <a:effectLst/>
              </a:rPr>
              <a:t>SW</a:t>
            </a:r>
            <a:r>
              <a:rPr lang="ko-KR" altLang="en-US" dirty="0" smtClean="0">
                <a:effectLst/>
              </a:rPr>
              <a:t>적인 개념적 해결을 강조한다</a:t>
            </a:r>
            <a:r>
              <a:rPr lang="en-US" altLang="ko-KR" dirty="0" smtClean="0">
                <a:effectLst/>
              </a:rPr>
              <a:t>.</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effectLst/>
              </a:rPr>
              <a:t>시스템이 요구 </a:t>
            </a:r>
            <a:r>
              <a:rPr lang="ko-KR" altLang="en-US" dirty="0" err="1" smtClean="0">
                <a:effectLst/>
              </a:rPr>
              <a:t>사항를</a:t>
            </a:r>
            <a:r>
              <a:rPr lang="ko-KR" altLang="en-US" dirty="0" smtClean="0">
                <a:effectLst/>
              </a:rPr>
              <a:t> 충족하는지 여부를 따지면서 말이다</a:t>
            </a:r>
            <a:r>
              <a:rPr lang="en-US" altLang="ko-KR" dirty="0" smtClean="0">
                <a:effectLst/>
              </a:rPr>
              <a:t>.</a:t>
            </a: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dirty="0" smtClean="0">
                <a:effectLst/>
              </a:rPr>
              <a:t>OOAD </a:t>
            </a:r>
            <a:r>
              <a:rPr lang="ko-KR" altLang="en-US" dirty="0" smtClean="0">
                <a:effectLst/>
              </a:rPr>
              <a:t>접근법은 </a:t>
            </a:r>
            <a:r>
              <a:rPr lang="ko-KR" altLang="en-US" dirty="0" err="1" smtClean="0">
                <a:effectLst/>
              </a:rPr>
              <a:t>유즈케이스</a:t>
            </a:r>
            <a:r>
              <a:rPr lang="ko-KR" altLang="en-US" dirty="0" smtClean="0">
                <a:effectLst/>
              </a:rPr>
              <a:t> 접근법</a:t>
            </a:r>
            <a:r>
              <a:rPr lang="en-US" altLang="ko-KR" dirty="0" smtClean="0">
                <a:effectLst/>
              </a:rPr>
              <a:t>, </a:t>
            </a:r>
            <a:r>
              <a:rPr lang="ko-KR" altLang="en-US" dirty="0" smtClean="0">
                <a:effectLst/>
              </a:rPr>
              <a:t>아키텍처 중심</a:t>
            </a:r>
            <a:r>
              <a:rPr lang="en-US" altLang="ko-KR" dirty="0" smtClean="0">
                <a:effectLst/>
              </a:rPr>
              <a:t>, </a:t>
            </a:r>
            <a:r>
              <a:rPr lang="ko-KR" altLang="en-US" dirty="0" smtClean="0">
                <a:effectLst/>
              </a:rPr>
              <a:t>반복 및 </a:t>
            </a:r>
            <a:r>
              <a:rPr lang="ko-KR" altLang="en-US" dirty="0" err="1" smtClean="0">
                <a:effectLst/>
              </a:rPr>
              <a:t>증분</a:t>
            </a:r>
            <a:r>
              <a:rPr lang="en-US" altLang="ko-KR" dirty="0" smtClean="0">
                <a:effectLst/>
              </a:rPr>
              <a:t>, </a:t>
            </a:r>
            <a:r>
              <a:rPr lang="ko-KR" altLang="en-US" dirty="0" smtClean="0">
                <a:effectLst/>
              </a:rPr>
              <a:t>통합 프로세스</a:t>
            </a:r>
            <a:r>
              <a:rPr lang="en-US" altLang="ko-KR" dirty="0" smtClean="0">
                <a:effectLst/>
              </a:rPr>
              <a:t>(UP)</a:t>
            </a:r>
            <a:r>
              <a:rPr lang="ko-KR" altLang="en-US" dirty="0" smtClean="0">
                <a:effectLst/>
              </a:rPr>
              <a:t>가 있다</a:t>
            </a:r>
            <a:r>
              <a:rPr lang="en-US" altLang="ko-KR" dirty="0" smtClean="0">
                <a:effectLst/>
              </a:rPr>
              <a:t>.</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err="1" smtClean="0">
                <a:effectLst/>
              </a:rPr>
              <a:t>유즈케이스는</a:t>
            </a:r>
            <a:r>
              <a:rPr lang="ko-KR" altLang="en-US" dirty="0" smtClean="0">
                <a:effectLst/>
              </a:rPr>
              <a:t> 시스템의 동작을 정의하는 주요 모델링 도구이다</a:t>
            </a:r>
            <a:r>
              <a:rPr lang="en-US" altLang="ko-KR" dirty="0" smtClean="0">
                <a:effectLst/>
              </a:rPr>
              <a:t>.</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effectLst/>
              </a:rPr>
              <a:t>아키텍처 중심은 기본적인 소프트웨어 아키텍처가 시스템의 사양</a:t>
            </a:r>
            <a:r>
              <a:rPr lang="en-US" altLang="ko-KR" dirty="0" smtClean="0">
                <a:effectLst/>
              </a:rPr>
              <a:t>, </a:t>
            </a:r>
            <a:r>
              <a:rPr lang="ko-KR" altLang="en-US" dirty="0" smtClean="0">
                <a:effectLst/>
              </a:rPr>
              <a:t>구축 및 문서화를 도출한다</a:t>
            </a:r>
            <a:r>
              <a:rPr lang="en-US" altLang="ko-KR" dirty="0" smtClean="0">
                <a:effectLst/>
              </a:rPr>
              <a:t>.</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effectLst/>
              </a:rPr>
              <a:t>반복 및 </a:t>
            </a:r>
            <a:r>
              <a:rPr lang="ko-KR" altLang="en-US" dirty="0" err="1" smtClean="0">
                <a:effectLst/>
              </a:rPr>
              <a:t>증분</a:t>
            </a:r>
            <a:r>
              <a:rPr lang="ko-KR" altLang="en-US" dirty="0" smtClean="0">
                <a:effectLst/>
              </a:rPr>
              <a:t> 개발은 지속적인 테스트를 거친다</a:t>
            </a:r>
            <a:r>
              <a:rPr lang="en-US" altLang="ko-KR" dirty="0" smtClean="0">
                <a:effectLst/>
              </a:rPr>
              <a:t>.</a:t>
            </a: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dirty="0" smtClean="0">
                <a:effectLst/>
              </a:rPr>
              <a:t>UP</a:t>
            </a:r>
            <a:r>
              <a:rPr lang="ko-KR" altLang="en-US" dirty="0" smtClean="0">
                <a:effectLst/>
              </a:rPr>
              <a:t>는 </a:t>
            </a:r>
            <a:r>
              <a:rPr lang="en-US" altLang="ko-KR" dirty="0" smtClean="0">
                <a:effectLst/>
              </a:rPr>
              <a:t>OOAD </a:t>
            </a:r>
            <a:r>
              <a:rPr lang="ko-KR" altLang="en-US" dirty="0" smtClean="0">
                <a:effectLst/>
              </a:rPr>
              <a:t>지원을 위한 다양한 </a:t>
            </a:r>
            <a:r>
              <a:rPr lang="en-US" altLang="ko-KR" dirty="0" smtClean="0">
                <a:effectLst/>
              </a:rPr>
              <a:t>UML </a:t>
            </a:r>
            <a:r>
              <a:rPr lang="ko-KR" altLang="en-US" dirty="0" smtClean="0">
                <a:effectLst/>
              </a:rPr>
              <a:t>기술을 언제</a:t>
            </a:r>
            <a:r>
              <a:rPr lang="en-US" altLang="ko-KR" dirty="0" smtClean="0">
                <a:effectLst/>
              </a:rPr>
              <a:t>, </a:t>
            </a:r>
            <a:r>
              <a:rPr lang="ko-KR" altLang="en-US" dirty="0" smtClean="0">
                <a:effectLst/>
              </a:rPr>
              <a:t>어떻게 사용하는지를 보여준다</a:t>
            </a:r>
            <a:r>
              <a:rPr lang="en-US" altLang="ko-KR" dirty="0" smtClean="0">
                <a:effectLst/>
              </a:rPr>
              <a:t>. </a:t>
            </a:r>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5</a:t>
            </a:fld>
            <a:endParaRPr lang="ko-KR" altLang="en-US"/>
          </a:p>
        </p:txBody>
      </p:sp>
    </p:spTree>
    <p:extLst>
      <p:ext uri="{BB962C8B-B14F-4D97-AF65-F5344CB8AC3E}">
        <p14:creationId xmlns:p14="http://schemas.microsoft.com/office/powerpoint/2010/main" val="2231376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a:t>
            </a:fld>
            <a:endParaRPr lang="ko-KR" altLang="en-US"/>
          </a:p>
        </p:txBody>
      </p:sp>
    </p:spTree>
    <p:extLst>
      <p:ext uri="{BB962C8B-B14F-4D97-AF65-F5344CB8AC3E}">
        <p14:creationId xmlns:p14="http://schemas.microsoft.com/office/powerpoint/2010/main" val="4189349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smtClean="0">
                <a:effectLst/>
              </a:rPr>
              <a:t>예를 들어 </a:t>
            </a:r>
            <a:r>
              <a:rPr lang="ko-KR" altLang="en-US" dirty="0" err="1" smtClean="0">
                <a:effectLst/>
              </a:rPr>
              <a:t>네트위크를</a:t>
            </a:r>
            <a:r>
              <a:rPr lang="ko-KR" altLang="en-US" dirty="0" smtClean="0">
                <a:effectLst/>
              </a:rPr>
              <a:t> 모델링 할 때 </a:t>
            </a:r>
            <a:r>
              <a:rPr lang="en-US" altLang="ko-KR" dirty="0" smtClean="0">
                <a:effectLst/>
              </a:rPr>
              <a:t>&lt;&lt;</a:t>
            </a:r>
            <a:r>
              <a:rPr lang="ko-KR" altLang="en-US" dirty="0" smtClean="0">
                <a:effectLst/>
              </a:rPr>
              <a:t>라우터</a:t>
            </a:r>
            <a:r>
              <a:rPr lang="en-US" altLang="ko-KR" dirty="0" smtClean="0">
                <a:effectLst/>
              </a:rPr>
              <a:t>&gt;&gt;, &lt;&lt;</a:t>
            </a:r>
            <a:r>
              <a:rPr lang="ko-KR" altLang="en-US" dirty="0" smtClean="0">
                <a:effectLst/>
              </a:rPr>
              <a:t>스위치</a:t>
            </a:r>
            <a:r>
              <a:rPr lang="en-US" altLang="ko-KR" dirty="0" smtClean="0">
                <a:effectLst/>
              </a:rPr>
              <a:t>&gt;&gt;, &lt;&lt;</a:t>
            </a:r>
            <a:r>
              <a:rPr lang="ko-KR" altLang="en-US" dirty="0" smtClean="0">
                <a:effectLst/>
              </a:rPr>
              <a:t>허브</a:t>
            </a:r>
            <a:r>
              <a:rPr lang="en-US" altLang="ko-KR" dirty="0" smtClean="0">
                <a:effectLst/>
              </a:rPr>
              <a:t>&gt;&gt; </a:t>
            </a:r>
            <a:r>
              <a:rPr lang="ko-KR" altLang="en-US" dirty="0" smtClean="0">
                <a:effectLst/>
              </a:rPr>
              <a:t>등에 대한 모델 요소가 필요 할 수 있습니다</a:t>
            </a:r>
            <a:r>
              <a:rPr lang="en-US" altLang="ko-KR" dirty="0" smtClean="0">
                <a:effectLst/>
              </a:rPr>
              <a:t>.</a:t>
            </a:r>
          </a:p>
          <a:p>
            <a:r>
              <a:rPr lang="ko-KR" altLang="en-US" dirty="0" smtClean="0">
                <a:effectLst/>
              </a:rPr>
              <a:t>스테레오타입은 기존의 </a:t>
            </a:r>
            <a:r>
              <a:rPr lang="ko-KR" altLang="en-US" dirty="0" err="1" smtClean="0">
                <a:effectLst/>
              </a:rPr>
              <a:t>모델요소와</a:t>
            </a:r>
            <a:r>
              <a:rPr lang="ko-KR" altLang="en-US" dirty="0" smtClean="0">
                <a:effectLst/>
              </a:rPr>
              <a:t> 유사하나 정확히 같은 의미를 가지지 않을 때 기존의 </a:t>
            </a:r>
            <a:r>
              <a:rPr lang="ko-KR" altLang="en-US" dirty="0" err="1" smtClean="0">
                <a:effectLst/>
              </a:rPr>
              <a:t>모델요소를</a:t>
            </a:r>
            <a:r>
              <a:rPr lang="ko-KR" altLang="en-US" dirty="0" smtClean="0">
                <a:effectLst/>
              </a:rPr>
              <a:t> 기반으로 </a:t>
            </a:r>
            <a:r>
              <a:rPr lang="en-US" altLang="ko-KR" dirty="0" smtClean="0">
                <a:effectLst/>
              </a:rPr>
              <a:t>UML</a:t>
            </a:r>
            <a:r>
              <a:rPr lang="ko-KR" altLang="en-US" dirty="0" smtClean="0">
                <a:effectLst/>
              </a:rPr>
              <a:t>의 어휘를 확장하는 방법입니다</a:t>
            </a:r>
            <a:r>
              <a:rPr lang="en-US" altLang="ko-KR" dirty="0" smtClean="0">
                <a:effectLst/>
              </a:rPr>
              <a:t>. </a:t>
            </a:r>
          </a:p>
          <a:p>
            <a:r>
              <a:rPr lang="en-US" altLang="ko-KR" dirty="0" smtClean="0">
                <a:effectLst/>
              </a:rPr>
              <a:t>UML</a:t>
            </a:r>
            <a:r>
              <a:rPr lang="ko-KR" altLang="en-US" dirty="0" smtClean="0">
                <a:effectLst/>
              </a:rPr>
              <a:t>은 다수의 표준 스테레오타입을 정의하여 제공하고 있어</a:t>
            </a:r>
            <a:r>
              <a:rPr lang="en-US" altLang="ko-KR" dirty="0" smtClean="0">
                <a:effectLst/>
              </a:rPr>
              <a:t>, </a:t>
            </a:r>
            <a:r>
              <a:rPr lang="ko-KR" altLang="en-US" dirty="0" smtClean="0">
                <a:effectLst/>
              </a:rPr>
              <a:t>기존 모델 요소에 표준 스테레오타입을 설정하여 확장 할 수 있습니다</a:t>
            </a:r>
            <a:r>
              <a:rPr lang="en-US" altLang="ko-KR" dirty="0" smtClean="0">
                <a:effectLst/>
              </a:rPr>
              <a:t>. </a:t>
            </a:r>
            <a:br>
              <a:rPr lang="en-US" altLang="ko-KR" dirty="0" smtClean="0">
                <a:effectLst/>
              </a:rPr>
            </a:br>
            <a:endParaRPr lang="en-US" altLang="ko-KR" dirty="0" smtClean="0">
              <a:effectLst/>
            </a:endParaRPr>
          </a:p>
          <a:p>
            <a:r>
              <a:rPr lang="en-US" altLang="ko-KR" dirty="0" smtClean="0">
                <a:effectLst/>
              </a:rPr>
              <a:t>UML</a:t>
            </a:r>
            <a:r>
              <a:rPr lang="ko-KR" altLang="en-US" dirty="0" smtClean="0">
                <a:effectLst/>
              </a:rPr>
              <a:t>을 </a:t>
            </a:r>
            <a:r>
              <a:rPr lang="ko-KR" altLang="en-US" dirty="0" err="1" smtClean="0">
                <a:effectLst/>
              </a:rPr>
              <a:t>사용하다보면</a:t>
            </a:r>
            <a:r>
              <a:rPr lang="ko-KR" altLang="en-US" dirty="0" smtClean="0">
                <a:effectLst/>
              </a:rPr>
              <a:t> </a:t>
            </a:r>
            <a:r>
              <a:rPr lang="en-US" altLang="ko-KR" dirty="0" smtClean="0">
                <a:effectLst/>
              </a:rPr>
              <a:t>UML </a:t>
            </a:r>
            <a:r>
              <a:rPr lang="ko-KR" altLang="en-US" dirty="0" err="1" smtClean="0">
                <a:effectLst/>
              </a:rPr>
              <a:t>모델요소와</a:t>
            </a:r>
            <a:r>
              <a:rPr lang="ko-KR" altLang="en-US" dirty="0" smtClean="0">
                <a:effectLst/>
              </a:rPr>
              <a:t> 표준 스테레오타입으로는 자신이 표현하려는 것과 비슷한 것은 있지만</a:t>
            </a:r>
            <a:r>
              <a:rPr lang="en-US" altLang="ko-KR" dirty="0" smtClean="0">
                <a:effectLst/>
              </a:rPr>
              <a:t>, </a:t>
            </a:r>
            <a:r>
              <a:rPr lang="ko-KR" altLang="en-US" dirty="0" smtClean="0">
                <a:effectLst/>
              </a:rPr>
              <a:t>정확히 일치하는 것이 없을 때</a:t>
            </a:r>
            <a:r>
              <a:rPr lang="en-US" altLang="ko-KR" dirty="0" smtClean="0">
                <a:effectLst/>
              </a:rPr>
              <a:t>, </a:t>
            </a:r>
            <a:r>
              <a:rPr lang="ko-KR" altLang="en-US" dirty="0" smtClean="0">
                <a:effectLst/>
              </a:rPr>
              <a:t>스테레오타입을 새로 정의 하여 사용할 수 있습니다</a:t>
            </a:r>
            <a:r>
              <a:rPr lang="en-US" altLang="ko-KR" dirty="0" smtClean="0">
                <a:effectLst/>
              </a:rPr>
              <a:t>. </a:t>
            </a:r>
            <a:br>
              <a:rPr lang="en-US" altLang="ko-KR" dirty="0" smtClean="0">
                <a:effectLst/>
              </a:rPr>
            </a:br>
            <a:r>
              <a:rPr lang="en-US" altLang="ko-KR" dirty="0" smtClean="0">
                <a:effectLst/>
              </a:rPr>
              <a:t>UML </a:t>
            </a:r>
            <a:r>
              <a:rPr lang="ko-KR" altLang="en-US" dirty="0" smtClean="0">
                <a:effectLst/>
              </a:rPr>
              <a:t>사용자에 의해 만들어져 사용되는 스테레오타입을 사용자 정의 </a:t>
            </a:r>
            <a:r>
              <a:rPr lang="ko-KR" altLang="en-US" dirty="0" err="1" smtClean="0">
                <a:effectLst/>
              </a:rPr>
              <a:t>스테레오타입이라고</a:t>
            </a:r>
            <a:r>
              <a:rPr lang="ko-KR" altLang="en-US" dirty="0" smtClean="0">
                <a:effectLst/>
              </a:rPr>
              <a:t> 합니다</a:t>
            </a:r>
            <a:r>
              <a:rPr lang="en-US" altLang="ko-KR" dirty="0" smtClean="0">
                <a:effectLst/>
              </a:rPr>
              <a:t>. </a:t>
            </a:r>
          </a:p>
          <a:p>
            <a:endParaRPr lang="en-US" altLang="ko-KR" dirty="0" smtClean="0">
              <a:effectLst/>
            </a:endParaRPr>
          </a:p>
          <a:p>
            <a:endParaRPr lang="en-US" altLang="ko-KR" dirty="0" smtClean="0">
              <a:effectLst/>
            </a:endParaRPr>
          </a:p>
          <a:p>
            <a:r>
              <a:rPr lang="en-US" altLang="ko-KR" dirty="0" smtClean="0">
                <a:effectLst/>
              </a:rPr>
              <a:t>UML</a:t>
            </a:r>
            <a:r>
              <a:rPr lang="ko-KR" altLang="en-US" dirty="0" smtClean="0">
                <a:effectLst/>
              </a:rPr>
              <a:t>은 지속적으로 변하고 있고</a:t>
            </a:r>
            <a:r>
              <a:rPr lang="en-US" altLang="ko-KR" dirty="0" smtClean="0">
                <a:effectLst/>
              </a:rPr>
              <a:t>, </a:t>
            </a:r>
            <a:r>
              <a:rPr lang="ko-KR" altLang="en-US" dirty="0" smtClean="0">
                <a:effectLst/>
              </a:rPr>
              <a:t>이러한 변화는 </a:t>
            </a:r>
            <a:r>
              <a:rPr lang="ko-KR" altLang="en-US" dirty="0" err="1" smtClean="0">
                <a:effectLst/>
              </a:rPr>
              <a:t>버전번호로</a:t>
            </a:r>
            <a:r>
              <a:rPr lang="ko-KR" altLang="en-US" dirty="0" smtClean="0">
                <a:effectLst/>
              </a:rPr>
              <a:t> 반영됩니다</a:t>
            </a:r>
            <a:r>
              <a:rPr lang="en-US" altLang="ko-KR" dirty="0" smtClean="0">
                <a:effectLst/>
              </a:rPr>
              <a:t>. </a:t>
            </a:r>
            <a:r>
              <a:rPr lang="ko-KR" altLang="en-US" dirty="0" smtClean="0">
                <a:effectLst/>
              </a:rPr>
              <a:t>스테레오타입은 이전 </a:t>
            </a:r>
            <a:r>
              <a:rPr lang="en-US" altLang="ko-KR" dirty="0" smtClean="0">
                <a:effectLst/>
              </a:rPr>
              <a:t>UML </a:t>
            </a:r>
            <a:r>
              <a:rPr lang="ko-KR" altLang="en-US" dirty="0" smtClean="0">
                <a:effectLst/>
              </a:rPr>
              <a:t>버전에서 새로운 </a:t>
            </a:r>
            <a:r>
              <a:rPr lang="en-US" altLang="ko-KR" dirty="0" smtClean="0">
                <a:effectLst/>
              </a:rPr>
              <a:t>UML </a:t>
            </a:r>
            <a:r>
              <a:rPr lang="ko-KR" altLang="en-US" dirty="0" smtClean="0">
                <a:effectLst/>
              </a:rPr>
              <a:t>버전으로 갱신될 때 중요하게 다루어집니다</a:t>
            </a:r>
            <a:r>
              <a:rPr lang="en-US" altLang="ko-KR" dirty="0" smtClean="0">
                <a:effectLst/>
              </a:rPr>
              <a:t>. </a:t>
            </a:r>
            <a:br>
              <a:rPr lang="en-US" altLang="ko-KR" dirty="0" smtClean="0">
                <a:effectLst/>
              </a:rPr>
            </a:br>
            <a:r>
              <a:rPr lang="ko-KR" altLang="en-US" dirty="0" smtClean="0">
                <a:effectLst/>
              </a:rPr>
              <a:t>발표된 버전을 사용하면서 </a:t>
            </a:r>
            <a:r>
              <a:rPr lang="en-US" altLang="ko-KR" dirty="0" smtClean="0">
                <a:effectLst/>
              </a:rPr>
              <a:t>UML </a:t>
            </a:r>
            <a:r>
              <a:rPr lang="ko-KR" altLang="en-US" dirty="0" smtClean="0">
                <a:effectLst/>
              </a:rPr>
              <a:t>사용자들은 많은 스테레오타입을 만들어 사용하게 되고</a:t>
            </a:r>
            <a:r>
              <a:rPr lang="en-US" altLang="ko-KR" dirty="0" smtClean="0">
                <a:effectLst/>
              </a:rPr>
              <a:t>, </a:t>
            </a:r>
            <a:r>
              <a:rPr lang="ko-KR" altLang="en-US" dirty="0" smtClean="0">
                <a:effectLst/>
              </a:rPr>
              <a:t>이러한 스테레오타입 중에는 일반화되는 것들도 있습니다</a:t>
            </a:r>
            <a:r>
              <a:rPr lang="en-US" altLang="ko-KR" dirty="0" smtClean="0">
                <a:effectLst/>
              </a:rPr>
              <a:t>. </a:t>
            </a:r>
            <a:br>
              <a:rPr lang="en-US" altLang="ko-KR" dirty="0" smtClean="0">
                <a:effectLst/>
              </a:rPr>
            </a:br>
            <a:endParaRPr lang="en-US" altLang="ko-KR" dirty="0" smtClean="0">
              <a:effectLst/>
            </a:endParaRPr>
          </a:p>
          <a:p>
            <a:r>
              <a:rPr lang="ko-KR" altLang="en-US" dirty="0" smtClean="0">
                <a:effectLst/>
              </a:rPr>
              <a:t>새로운 </a:t>
            </a:r>
            <a:r>
              <a:rPr lang="en-US" altLang="ko-KR" dirty="0" smtClean="0">
                <a:effectLst/>
              </a:rPr>
              <a:t>UML </a:t>
            </a:r>
            <a:r>
              <a:rPr lang="ko-KR" altLang="en-US" dirty="0" smtClean="0">
                <a:effectLst/>
              </a:rPr>
              <a:t>버전을 만들 때</a:t>
            </a:r>
            <a:r>
              <a:rPr lang="en-US" altLang="ko-KR" dirty="0" smtClean="0">
                <a:effectLst/>
              </a:rPr>
              <a:t>, </a:t>
            </a:r>
            <a:r>
              <a:rPr lang="ko-KR" altLang="en-US" dirty="0" smtClean="0">
                <a:effectLst/>
              </a:rPr>
              <a:t>일반화된 스테레오타입들은 표준화된 스테레오타입으로 </a:t>
            </a:r>
            <a:r>
              <a:rPr lang="en-US" altLang="ko-KR" dirty="0" smtClean="0">
                <a:effectLst/>
              </a:rPr>
              <a:t>UML</a:t>
            </a:r>
            <a:r>
              <a:rPr lang="ko-KR" altLang="en-US" dirty="0" smtClean="0">
                <a:effectLst/>
              </a:rPr>
              <a:t>에 </a:t>
            </a:r>
            <a:r>
              <a:rPr lang="ko-KR" altLang="en-US" dirty="0" err="1" smtClean="0">
                <a:effectLst/>
              </a:rPr>
              <a:t>명세됩니다</a:t>
            </a:r>
            <a:r>
              <a:rPr lang="en-US" altLang="ko-KR" dirty="0" smtClean="0">
                <a:effectLst/>
              </a:rPr>
              <a:t>. </a:t>
            </a:r>
            <a:br>
              <a:rPr lang="en-US" altLang="ko-KR" dirty="0" smtClean="0">
                <a:effectLst/>
              </a:rPr>
            </a:br>
            <a:r>
              <a:rPr lang="ko-KR" altLang="en-US" dirty="0" smtClean="0">
                <a:effectLst/>
              </a:rPr>
              <a:t>예를 들어</a:t>
            </a:r>
            <a:r>
              <a:rPr lang="en-US" altLang="ko-KR" dirty="0" smtClean="0">
                <a:effectLst/>
              </a:rPr>
              <a:t>, </a:t>
            </a:r>
            <a:r>
              <a:rPr lang="ko-KR" altLang="en-US" dirty="0" err="1" smtClean="0">
                <a:effectLst/>
              </a:rPr>
              <a:t>유스케이스는</a:t>
            </a:r>
            <a:r>
              <a:rPr lang="ko-KR" altLang="en-US" dirty="0" smtClean="0">
                <a:effectLst/>
              </a:rPr>
              <a:t> 모델링 시에 일반적으로 사용되기 때문에 새로운 </a:t>
            </a:r>
            <a:r>
              <a:rPr lang="en-US" altLang="ko-KR" dirty="0" smtClean="0">
                <a:effectLst/>
              </a:rPr>
              <a:t>UML </a:t>
            </a:r>
            <a:r>
              <a:rPr lang="ko-KR" altLang="en-US" dirty="0" smtClean="0">
                <a:effectLst/>
              </a:rPr>
              <a:t>버전에서 표준 스테레오타입으로 정의됩니다</a:t>
            </a:r>
            <a:r>
              <a:rPr lang="en-US" altLang="ko-KR" dirty="0" smtClean="0">
                <a:effectLst/>
              </a:rPr>
              <a:t>. </a:t>
            </a:r>
          </a:p>
          <a:p>
            <a:r>
              <a:rPr lang="en-US" altLang="ko-KR" dirty="0" smtClean="0">
                <a:effectLst/>
              </a:rPr>
              <a:t/>
            </a:r>
            <a:br>
              <a:rPr lang="en-US" altLang="ko-KR" dirty="0" smtClean="0">
                <a:effectLst/>
              </a:rPr>
            </a:br>
            <a:endParaRPr lang="en-US" altLang="ko-KR" dirty="0" smtClean="0">
              <a:effectLst/>
            </a:endParaRPr>
          </a:p>
          <a:p>
            <a:r>
              <a:rPr lang="en-US" altLang="ko-KR" dirty="0" smtClean="0">
                <a:effectLst/>
              </a:rPr>
              <a:t>※ UML</a:t>
            </a:r>
            <a:r>
              <a:rPr lang="ko-KR" altLang="en-US" dirty="0" smtClean="0">
                <a:effectLst/>
              </a:rPr>
              <a:t>에서 추상화를 위한 </a:t>
            </a:r>
            <a:r>
              <a:rPr lang="en-US" altLang="ko-KR" dirty="0" smtClean="0">
                <a:effectLst/>
              </a:rPr>
              <a:t>modeling element</a:t>
            </a:r>
            <a:r>
              <a:rPr lang="ko-KR" altLang="en-US" dirty="0" smtClean="0">
                <a:effectLst/>
              </a:rPr>
              <a:t>를 </a:t>
            </a:r>
            <a:r>
              <a:rPr lang="en-US" altLang="ko-KR" dirty="0" smtClean="0">
                <a:effectLst/>
              </a:rPr>
              <a:t>classifier</a:t>
            </a:r>
            <a:r>
              <a:rPr lang="ko-KR" altLang="en-US" dirty="0" smtClean="0">
                <a:effectLst/>
              </a:rPr>
              <a:t>라고 총칭합니다</a:t>
            </a:r>
            <a:r>
              <a:rPr lang="en-US" altLang="ko-KR" dirty="0" smtClean="0">
                <a:effectLst/>
              </a:rPr>
              <a:t>.  UML</a:t>
            </a:r>
            <a:r>
              <a:rPr lang="ko-KR" altLang="en-US" dirty="0" smtClean="0">
                <a:effectLst/>
              </a:rPr>
              <a:t>에서 가장 대표적인 </a:t>
            </a:r>
            <a:r>
              <a:rPr lang="en-US" altLang="ko-KR" dirty="0" smtClean="0">
                <a:effectLst/>
              </a:rPr>
              <a:t>classifier</a:t>
            </a:r>
            <a:r>
              <a:rPr lang="ko-KR" altLang="en-US" dirty="0" smtClean="0">
                <a:effectLst/>
              </a:rPr>
              <a:t>로써  클래스가 있으며</a:t>
            </a:r>
            <a:r>
              <a:rPr lang="en-US" altLang="ko-KR" dirty="0" smtClean="0">
                <a:effectLst/>
              </a:rPr>
              <a:t>,  </a:t>
            </a:r>
            <a:r>
              <a:rPr lang="ko-KR" altLang="en-US" dirty="0" smtClean="0">
                <a:effectLst/>
              </a:rPr>
              <a:t>클래스 이외의 다양한 </a:t>
            </a:r>
            <a:r>
              <a:rPr lang="en-US" altLang="ko-KR" dirty="0" smtClean="0">
                <a:effectLst/>
              </a:rPr>
              <a:t>classifier</a:t>
            </a:r>
            <a:r>
              <a:rPr lang="ko-KR" altLang="en-US" dirty="0" smtClean="0">
                <a:effectLst/>
              </a:rPr>
              <a:t>들이 사용됩니다</a:t>
            </a:r>
            <a:r>
              <a:rPr lang="en-US" altLang="ko-KR" dirty="0" smtClean="0">
                <a:effectLst/>
              </a:rPr>
              <a:t>.</a:t>
            </a:r>
          </a:p>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7</a:t>
            </a:fld>
            <a:endParaRPr lang="ko-KR" altLang="en-US"/>
          </a:p>
        </p:txBody>
      </p:sp>
    </p:spTree>
    <p:extLst>
      <p:ext uri="{BB962C8B-B14F-4D97-AF65-F5344CB8AC3E}">
        <p14:creationId xmlns:p14="http://schemas.microsoft.com/office/powerpoint/2010/main" val="1749974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8</a:t>
            </a:fld>
            <a:endParaRPr lang="ko-KR" altLang="en-US"/>
          </a:p>
        </p:txBody>
      </p:sp>
    </p:spTree>
    <p:extLst>
      <p:ext uri="{BB962C8B-B14F-4D97-AF65-F5344CB8AC3E}">
        <p14:creationId xmlns:p14="http://schemas.microsoft.com/office/powerpoint/2010/main" val="2469213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a:t>
            </a:fld>
            <a:endParaRPr lang="ko-KR" altLang="en-US"/>
          </a:p>
        </p:txBody>
      </p:sp>
    </p:spTree>
    <p:extLst>
      <p:ext uri="{BB962C8B-B14F-4D97-AF65-F5344CB8AC3E}">
        <p14:creationId xmlns:p14="http://schemas.microsoft.com/office/powerpoint/2010/main" val="3936145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10</a:t>
            </a:fld>
            <a:endParaRPr lang="ko-KR" altLang="en-US"/>
          </a:p>
        </p:txBody>
      </p:sp>
    </p:spTree>
    <p:extLst>
      <p:ext uri="{BB962C8B-B14F-4D97-AF65-F5344CB8AC3E}">
        <p14:creationId xmlns:p14="http://schemas.microsoft.com/office/powerpoint/2010/main" val="2314851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smtClean="0"/>
              <a:t>도메인 전문가와 자주 소통 할 수 있다면 좋겠지만 그럴 수 없을 수도 있다</a:t>
            </a:r>
            <a:r>
              <a:rPr lang="en-US" altLang="ko-KR" dirty="0" smtClean="0"/>
              <a:t>.</a:t>
            </a:r>
          </a:p>
          <a:p>
            <a:r>
              <a:rPr lang="ko-KR" altLang="en-US" dirty="0" smtClean="0"/>
              <a:t>도메인 전문가는  </a:t>
            </a:r>
            <a:r>
              <a:rPr lang="en-US" altLang="ko-KR" dirty="0" smtClean="0"/>
              <a:t>S/W </a:t>
            </a:r>
            <a:r>
              <a:rPr lang="ko-KR" altLang="en-US" dirty="0" smtClean="0"/>
              <a:t>전문가가 아니고</a:t>
            </a:r>
            <a:r>
              <a:rPr lang="en-US" altLang="ko-KR" dirty="0" smtClean="0"/>
              <a:t>, </a:t>
            </a:r>
            <a:r>
              <a:rPr lang="ko-KR" altLang="en-US" dirty="0" smtClean="0"/>
              <a:t>개발자는 도메인 전문가가 아닐 수도 있다</a:t>
            </a:r>
            <a:r>
              <a:rPr lang="en-US" altLang="ko-KR" dirty="0" smtClean="0"/>
              <a:t>. (</a:t>
            </a:r>
            <a:r>
              <a:rPr lang="ko-KR" altLang="en-US" dirty="0" smtClean="0"/>
              <a:t>그로 인해 전적으로 한쪽의 의견을 받아 들이는 것은 문제가 될 수 있다</a:t>
            </a:r>
            <a:r>
              <a:rPr lang="en-US" altLang="ko-KR" dirty="0" smtClean="0"/>
              <a:t>, </a:t>
            </a:r>
            <a:r>
              <a:rPr lang="ko-KR" altLang="en-US" dirty="0" smtClean="0"/>
              <a:t>어떻게 하면 요구사항</a:t>
            </a:r>
            <a:r>
              <a:rPr lang="ko-KR" altLang="en-US" baseline="0" dirty="0" smtClean="0"/>
              <a:t> 분석 시점에 문제점이 없을지 발견 할 수 있을까</a:t>
            </a:r>
            <a:r>
              <a:rPr lang="en-US" altLang="ko-KR" baseline="0" dirty="0" smtClean="0"/>
              <a:t>?)</a:t>
            </a:r>
          </a:p>
          <a:p>
            <a:endParaRPr lang="en-US" altLang="ko-KR" baseline="0" dirty="0" smtClean="0"/>
          </a:p>
          <a:p>
            <a:r>
              <a:rPr lang="ko-KR" altLang="en-US" baseline="0" dirty="0" smtClean="0"/>
              <a:t>개발자가 도메인 </a:t>
            </a:r>
            <a:r>
              <a:rPr lang="ko-KR" altLang="en-US" baseline="0" dirty="0" err="1" smtClean="0"/>
              <a:t>전문가여야</a:t>
            </a:r>
            <a:r>
              <a:rPr lang="ko-KR" altLang="en-US" baseline="0" dirty="0" smtClean="0"/>
              <a:t> 하는 경우도 많은데</a:t>
            </a:r>
            <a:r>
              <a:rPr lang="en-US" altLang="ko-KR" baseline="0" dirty="0" smtClean="0"/>
              <a:t>… (SPEC</a:t>
            </a:r>
            <a:r>
              <a:rPr lang="ko-KR" altLang="en-US" baseline="0" dirty="0" smtClean="0"/>
              <a:t>을 읽고 구현을 해야 한다던가</a:t>
            </a:r>
            <a:r>
              <a:rPr lang="en-US" altLang="ko-KR" baseline="0" dirty="0" smtClean="0"/>
              <a:t>….)</a:t>
            </a:r>
            <a:endParaRPr lang="en-US" altLang="ko-KR" dirty="0" smtClean="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12</a:t>
            </a:fld>
            <a:endParaRPr lang="ko-KR" altLang="en-US"/>
          </a:p>
        </p:txBody>
      </p:sp>
    </p:spTree>
    <p:extLst>
      <p:ext uri="{BB962C8B-B14F-4D97-AF65-F5344CB8AC3E}">
        <p14:creationId xmlns:p14="http://schemas.microsoft.com/office/powerpoint/2010/main" val="3384997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13</a:t>
            </a:fld>
            <a:endParaRPr lang="ko-KR" altLang="en-US"/>
          </a:p>
        </p:txBody>
      </p:sp>
    </p:spTree>
    <p:extLst>
      <p:ext uri="{BB962C8B-B14F-4D97-AF65-F5344CB8AC3E}">
        <p14:creationId xmlns:p14="http://schemas.microsoft.com/office/powerpoint/2010/main" val="4292159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14</a:t>
            </a:fld>
            <a:endParaRPr lang="ko-KR" altLang="en-US"/>
          </a:p>
        </p:txBody>
      </p:sp>
    </p:spTree>
    <p:extLst>
      <p:ext uri="{BB962C8B-B14F-4D97-AF65-F5344CB8AC3E}">
        <p14:creationId xmlns:p14="http://schemas.microsoft.com/office/powerpoint/2010/main" val="4292159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15</a:t>
            </a:fld>
            <a:endParaRPr lang="ko-KR" altLang="en-US"/>
          </a:p>
        </p:txBody>
      </p:sp>
    </p:spTree>
    <p:extLst>
      <p:ext uri="{BB962C8B-B14F-4D97-AF65-F5344CB8AC3E}">
        <p14:creationId xmlns:p14="http://schemas.microsoft.com/office/powerpoint/2010/main" val="517991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Usecase</a:t>
            </a:r>
            <a:r>
              <a:rPr lang="ko-KR" altLang="en-US" dirty="0" smtClean="0"/>
              <a:t>는 동명사형</a:t>
            </a:r>
            <a:endParaRPr lang="en-US" altLang="ko-KR" dirty="0" smtClean="0"/>
          </a:p>
          <a:p>
            <a:r>
              <a:rPr lang="ko-KR" altLang="en-US" dirty="0" smtClean="0"/>
              <a:t>시나리오는</a:t>
            </a:r>
            <a:r>
              <a:rPr lang="en-US" altLang="ko-KR" dirty="0" smtClean="0"/>
              <a:t> </a:t>
            </a:r>
            <a:r>
              <a:rPr lang="ko-KR" altLang="en-US" dirty="0" smtClean="0"/>
              <a:t>읽기 쉬운 산문이면서 연극 대본</a:t>
            </a:r>
            <a:r>
              <a:rPr lang="ko-KR" altLang="en-US" baseline="0" dirty="0" smtClean="0"/>
              <a:t> 처럼 대화를 주고 받으며 </a:t>
            </a:r>
            <a:r>
              <a:rPr lang="ko-KR" altLang="en-US" dirty="0" err="1" smtClean="0"/>
              <a:t>액터와</a:t>
            </a:r>
            <a:r>
              <a:rPr lang="ko-KR" altLang="en-US" dirty="0" smtClean="0"/>
              <a:t> 시스템간의 행위를 기술한다</a:t>
            </a:r>
            <a:r>
              <a:rPr lang="en-US" altLang="ko-KR" dirty="0" smtClean="0"/>
              <a:t>.</a:t>
            </a:r>
          </a:p>
          <a:p>
            <a:r>
              <a:rPr lang="ko-KR" altLang="en-US" dirty="0" smtClean="0"/>
              <a:t>시나리오는 누가 공을 가지고 있는지 명확하게 기술되어야 한다</a:t>
            </a:r>
            <a:r>
              <a:rPr lang="en-US" altLang="ko-KR" dirty="0" smtClean="0"/>
              <a:t>.</a:t>
            </a:r>
          </a:p>
          <a:p>
            <a:r>
              <a:rPr lang="ko-KR" altLang="en-US" dirty="0" smtClean="0"/>
              <a:t>시나리오는 </a:t>
            </a:r>
            <a:r>
              <a:rPr lang="en-US" altLang="ko-KR" dirty="0" smtClean="0"/>
              <a:t>actor</a:t>
            </a:r>
            <a:r>
              <a:rPr lang="ko-KR" altLang="en-US" dirty="0" smtClean="0"/>
              <a:t>가 목표로 하는 조건에</a:t>
            </a:r>
            <a:r>
              <a:rPr lang="ko-KR" altLang="en-US" baseline="0" dirty="0" smtClean="0"/>
              <a:t> 이루기 위해 단계별로 나아가야 한다</a:t>
            </a:r>
            <a:r>
              <a:rPr lang="en-US" altLang="ko-KR" baseline="0" dirty="0" smtClean="0"/>
              <a:t>.</a:t>
            </a:r>
          </a:p>
          <a:p>
            <a:r>
              <a:rPr lang="ko-KR" altLang="en-US" baseline="0" dirty="0" smtClean="0"/>
              <a:t>단계별로 나아갈 때</a:t>
            </a:r>
            <a:r>
              <a:rPr lang="en-US" altLang="ko-KR" baseline="0" dirty="0" smtClean="0"/>
              <a:t>, </a:t>
            </a:r>
            <a:r>
              <a:rPr lang="ko-KR" altLang="en-US" baseline="0" dirty="0" smtClean="0"/>
              <a:t>적절한 추상화 레벨을 고민해야 하며</a:t>
            </a:r>
            <a:r>
              <a:rPr lang="en-US" altLang="ko-KR" baseline="0" dirty="0" smtClean="0"/>
              <a:t>, 3~9 </a:t>
            </a:r>
            <a:r>
              <a:rPr lang="ko-KR" altLang="en-US" baseline="0" dirty="0" smtClean="0"/>
              <a:t>단계 정도가 적절하다 생각한다</a:t>
            </a:r>
            <a:r>
              <a:rPr lang="en-US" altLang="ko-KR" baseline="0" dirty="0" smtClean="0"/>
              <a:t>.</a:t>
            </a:r>
          </a:p>
          <a:p>
            <a:endParaRPr lang="en-US" altLang="ko-KR" baseline="0" dirty="0" smtClean="0"/>
          </a:p>
          <a:p>
            <a:r>
              <a:rPr lang="en-US" altLang="ko-KR" dirty="0" smtClean="0"/>
              <a:t>- </a:t>
            </a:r>
            <a:r>
              <a:rPr lang="en-US" altLang="ko-KR" dirty="0" err="1" smtClean="0"/>
              <a:t>Usecase</a:t>
            </a:r>
            <a:r>
              <a:rPr lang="ko-KR" altLang="en-US" dirty="0" smtClean="0"/>
              <a:t>이름 </a:t>
            </a:r>
            <a:r>
              <a:rPr lang="en-US" altLang="ko-KR" dirty="0" smtClean="0"/>
              <a:t>-&gt; stakeholders</a:t>
            </a:r>
            <a:r>
              <a:rPr lang="en-US" altLang="ko-KR" baseline="0" dirty="0" smtClean="0"/>
              <a:t> &amp;interest -&gt; primary actor-&gt; success end condition </a:t>
            </a:r>
          </a:p>
          <a:p>
            <a:pPr marL="171450" indent="-171450">
              <a:buFontTx/>
              <a:buChar char="-"/>
            </a:pPr>
            <a:r>
              <a:rPr lang="en-US" altLang="ko-KR" baseline="0" dirty="0" smtClean="0"/>
              <a:t>main scenario-&gt; extensions</a:t>
            </a:r>
          </a:p>
          <a:p>
            <a:pPr marL="171450" indent="-171450">
              <a:buFontTx/>
              <a:buChar char="-"/>
            </a:pPr>
            <a:endParaRPr lang="en-US" altLang="ko-KR" baseline="0" dirty="0" smtClean="0"/>
          </a:p>
          <a:p>
            <a:pPr marL="171450" indent="-171450">
              <a:buFontTx/>
              <a:buChar char="-"/>
            </a:pPr>
            <a:endParaRPr lang="en-US" altLang="ko-KR" baseline="0" dirty="0" smtClean="0"/>
          </a:p>
          <a:p>
            <a:pPr marL="171450" indent="-171450">
              <a:buFontTx/>
              <a:buChar char="-"/>
            </a:pPr>
            <a:r>
              <a:rPr lang="ko-KR" altLang="en-US" baseline="0" dirty="0" err="1" smtClean="0"/>
              <a:t>심박수</a:t>
            </a:r>
            <a:r>
              <a:rPr lang="ko-KR" altLang="en-US" baseline="0" dirty="0" smtClean="0"/>
              <a:t> 측정 기능에 대한 이해 당사자로 국가 기관이 있을 수 있는데</a:t>
            </a:r>
            <a:r>
              <a:rPr lang="en-US" altLang="ko-KR" baseline="0" dirty="0" smtClean="0"/>
              <a:t>.. </a:t>
            </a:r>
            <a:r>
              <a:rPr lang="ko-KR" altLang="en-US" baseline="0" dirty="0" smtClean="0"/>
              <a:t>이를 요구 사항 분석 단계에서 고려하지 못하였다면</a:t>
            </a:r>
            <a:r>
              <a:rPr lang="en-US" altLang="ko-KR" baseline="0" dirty="0" smtClean="0"/>
              <a:t>, </a:t>
            </a:r>
            <a:r>
              <a:rPr lang="ko-KR" altLang="en-US" baseline="0" dirty="0" smtClean="0"/>
              <a:t>출시 시점에 국가의 의료기 처리 법률에 의해 출시를 못하는 불상사가 발생할 수도 있다</a:t>
            </a:r>
            <a:r>
              <a:rPr lang="en-US" altLang="ko-KR" baseline="0" dirty="0" smtClean="0"/>
              <a:t>.</a:t>
            </a:r>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16</a:t>
            </a:fld>
            <a:endParaRPr lang="ko-KR" altLang="en-US"/>
          </a:p>
        </p:txBody>
      </p:sp>
    </p:spTree>
    <p:extLst>
      <p:ext uri="{BB962C8B-B14F-4D97-AF65-F5344CB8AC3E}">
        <p14:creationId xmlns:p14="http://schemas.microsoft.com/office/powerpoint/2010/main" val="4183990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Usecase</a:t>
            </a:r>
            <a:r>
              <a:rPr lang="ko-KR" altLang="en-US" dirty="0" smtClean="0"/>
              <a:t>는 동명사형</a:t>
            </a:r>
            <a:endParaRPr lang="en-US" altLang="ko-KR" dirty="0" smtClean="0"/>
          </a:p>
          <a:p>
            <a:r>
              <a:rPr lang="ko-KR" altLang="en-US" dirty="0" smtClean="0"/>
              <a:t>시나리오는</a:t>
            </a:r>
            <a:r>
              <a:rPr lang="en-US" altLang="ko-KR" dirty="0" smtClean="0"/>
              <a:t> </a:t>
            </a:r>
            <a:r>
              <a:rPr lang="ko-KR" altLang="en-US" dirty="0" smtClean="0"/>
              <a:t>읽기 쉬운 산문이면서 연극 대본</a:t>
            </a:r>
            <a:r>
              <a:rPr lang="ko-KR" altLang="en-US" baseline="0" dirty="0" smtClean="0"/>
              <a:t> 처럼 대화를 주고 받으며 </a:t>
            </a:r>
            <a:r>
              <a:rPr lang="ko-KR" altLang="en-US" dirty="0" err="1" smtClean="0"/>
              <a:t>액터와</a:t>
            </a:r>
            <a:r>
              <a:rPr lang="ko-KR" altLang="en-US" dirty="0" smtClean="0"/>
              <a:t> 시스템간의 행위를 기술한다</a:t>
            </a:r>
            <a:r>
              <a:rPr lang="en-US" altLang="ko-KR" dirty="0" smtClean="0"/>
              <a:t>.</a:t>
            </a:r>
          </a:p>
          <a:p>
            <a:r>
              <a:rPr lang="ko-KR" altLang="en-US" dirty="0" smtClean="0"/>
              <a:t>시나리오는 누가 공을 가지고 있는지 명확하게 기술되어야 한다</a:t>
            </a:r>
            <a:r>
              <a:rPr lang="en-US" altLang="ko-KR" dirty="0" smtClean="0"/>
              <a:t>.</a:t>
            </a:r>
          </a:p>
          <a:p>
            <a:r>
              <a:rPr lang="ko-KR" altLang="en-US" dirty="0" smtClean="0"/>
              <a:t>시나리오는 </a:t>
            </a:r>
            <a:r>
              <a:rPr lang="en-US" altLang="ko-KR" dirty="0" smtClean="0"/>
              <a:t>actor</a:t>
            </a:r>
            <a:r>
              <a:rPr lang="ko-KR" altLang="en-US" dirty="0" smtClean="0"/>
              <a:t>가 목표로 하는 조건에</a:t>
            </a:r>
            <a:r>
              <a:rPr lang="ko-KR" altLang="en-US" baseline="0" dirty="0" smtClean="0"/>
              <a:t> 이루기 위해 단계별로 나아가야 한다</a:t>
            </a:r>
            <a:r>
              <a:rPr lang="en-US" altLang="ko-KR" baseline="0" dirty="0" smtClean="0"/>
              <a:t>.</a:t>
            </a:r>
          </a:p>
          <a:p>
            <a:r>
              <a:rPr lang="ko-KR" altLang="en-US" baseline="0" dirty="0" smtClean="0"/>
              <a:t>단계별로 나아갈 때</a:t>
            </a:r>
            <a:r>
              <a:rPr lang="en-US" altLang="ko-KR" baseline="0" dirty="0" smtClean="0"/>
              <a:t>, </a:t>
            </a:r>
            <a:r>
              <a:rPr lang="ko-KR" altLang="en-US" baseline="0" dirty="0" smtClean="0"/>
              <a:t>적절한 추상화 레벨을 고민해야 하며</a:t>
            </a:r>
            <a:r>
              <a:rPr lang="en-US" altLang="ko-KR" baseline="0" dirty="0" smtClean="0"/>
              <a:t>, 3~9 </a:t>
            </a:r>
            <a:r>
              <a:rPr lang="ko-KR" altLang="en-US" baseline="0" dirty="0" smtClean="0"/>
              <a:t>단계 정도가 적절하다 생각한다</a:t>
            </a:r>
            <a:r>
              <a:rPr lang="en-US" altLang="ko-KR" baseline="0" dirty="0" smtClean="0"/>
              <a:t>.</a:t>
            </a:r>
          </a:p>
          <a:p>
            <a:endParaRPr lang="en-US" altLang="ko-KR" baseline="0" dirty="0" smtClean="0"/>
          </a:p>
          <a:p>
            <a:r>
              <a:rPr lang="en-US" altLang="ko-KR" dirty="0" smtClean="0"/>
              <a:t>- </a:t>
            </a:r>
            <a:r>
              <a:rPr lang="en-US" altLang="ko-KR" dirty="0" err="1" smtClean="0"/>
              <a:t>Usecase</a:t>
            </a:r>
            <a:r>
              <a:rPr lang="ko-KR" altLang="en-US" dirty="0" smtClean="0"/>
              <a:t>이름 </a:t>
            </a:r>
            <a:r>
              <a:rPr lang="en-US" altLang="ko-KR" dirty="0" smtClean="0"/>
              <a:t>-&gt; stakeholders</a:t>
            </a:r>
            <a:r>
              <a:rPr lang="en-US" altLang="ko-KR" baseline="0" dirty="0" smtClean="0"/>
              <a:t> &amp;interest -&gt; primary actor-&gt; success end condition </a:t>
            </a:r>
          </a:p>
          <a:p>
            <a:r>
              <a:rPr lang="en-US" altLang="ko-KR" baseline="0" dirty="0" smtClean="0"/>
              <a:t>- main scenario-&gt; extensions</a:t>
            </a:r>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17</a:t>
            </a:fld>
            <a:endParaRPr lang="ko-KR" altLang="en-US"/>
          </a:p>
        </p:txBody>
      </p:sp>
    </p:spTree>
    <p:extLst>
      <p:ext uri="{BB962C8B-B14F-4D97-AF65-F5344CB8AC3E}">
        <p14:creationId xmlns:p14="http://schemas.microsoft.com/office/powerpoint/2010/main" val="4161485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Usecase</a:t>
            </a:r>
            <a:r>
              <a:rPr lang="ko-KR" altLang="en-US" dirty="0" smtClean="0"/>
              <a:t>는 동명사형</a:t>
            </a:r>
            <a:endParaRPr lang="en-US" altLang="ko-KR" dirty="0" smtClean="0"/>
          </a:p>
          <a:p>
            <a:r>
              <a:rPr lang="ko-KR" altLang="en-US" dirty="0" smtClean="0"/>
              <a:t>시나리오는</a:t>
            </a:r>
            <a:r>
              <a:rPr lang="en-US" altLang="ko-KR" dirty="0" smtClean="0"/>
              <a:t> </a:t>
            </a:r>
            <a:r>
              <a:rPr lang="ko-KR" altLang="en-US" dirty="0" smtClean="0"/>
              <a:t>읽기 쉬운 산문이면서 연극 대본</a:t>
            </a:r>
            <a:r>
              <a:rPr lang="ko-KR" altLang="en-US" baseline="0" dirty="0" smtClean="0"/>
              <a:t> 처럼 대화를 주고 받으며 </a:t>
            </a:r>
            <a:r>
              <a:rPr lang="ko-KR" altLang="en-US" dirty="0" err="1" smtClean="0"/>
              <a:t>액터와</a:t>
            </a:r>
            <a:r>
              <a:rPr lang="ko-KR" altLang="en-US" dirty="0" smtClean="0"/>
              <a:t> 시스템간의 행위를 기술한다</a:t>
            </a:r>
            <a:r>
              <a:rPr lang="en-US" altLang="ko-KR" dirty="0" smtClean="0"/>
              <a:t>.</a:t>
            </a:r>
          </a:p>
          <a:p>
            <a:r>
              <a:rPr lang="ko-KR" altLang="en-US" dirty="0" smtClean="0"/>
              <a:t>시나리오는 누가 공을 가지고 있는지 명확하게 기술되어야 한다</a:t>
            </a:r>
            <a:r>
              <a:rPr lang="en-US" altLang="ko-KR" dirty="0" smtClean="0"/>
              <a:t>.</a:t>
            </a:r>
          </a:p>
          <a:p>
            <a:r>
              <a:rPr lang="ko-KR" altLang="en-US" dirty="0" smtClean="0"/>
              <a:t>시나리오는 </a:t>
            </a:r>
            <a:r>
              <a:rPr lang="en-US" altLang="ko-KR" dirty="0" smtClean="0"/>
              <a:t>actor</a:t>
            </a:r>
            <a:r>
              <a:rPr lang="ko-KR" altLang="en-US" dirty="0" smtClean="0"/>
              <a:t>가 목표로 하는 조건에</a:t>
            </a:r>
            <a:r>
              <a:rPr lang="ko-KR" altLang="en-US" baseline="0" dirty="0" smtClean="0"/>
              <a:t> 이루기 위해 단계별로 나아가야 한다</a:t>
            </a:r>
            <a:r>
              <a:rPr lang="en-US" altLang="ko-KR" baseline="0" dirty="0" smtClean="0"/>
              <a:t>.</a:t>
            </a:r>
          </a:p>
          <a:p>
            <a:r>
              <a:rPr lang="ko-KR" altLang="en-US" baseline="0" dirty="0" smtClean="0"/>
              <a:t>단계별로 나아갈 때</a:t>
            </a:r>
            <a:r>
              <a:rPr lang="en-US" altLang="ko-KR" baseline="0" dirty="0" smtClean="0"/>
              <a:t>, </a:t>
            </a:r>
            <a:r>
              <a:rPr lang="ko-KR" altLang="en-US" baseline="0" dirty="0" smtClean="0"/>
              <a:t>적절한 추상화 레벨을 고민해야 하며</a:t>
            </a:r>
            <a:r>
              <a:rPr lang="en-US" altLang="ko-KR" baseline="0" dirty="0" smtClean="0"/>
              <a:t>, 3~9 </a:t>
            </a:r>
            <a:r>
              <a:rPr lang="ko-KR" altLang="en-US" baseline="0" dirty="0" smtClean="0"/>
              <a:t>단계 정도가 적절하다 생각한다</a:t>
            </a:r>
            <a:r>
              <a:rPr lang="en-US" altLang="ko-KR" baseline="0" dirty="0" smtClean="0"/>
              <a:t>.</a:t>
            </a:r>
          </a:p>
          <a:p>
            <a:endParaRPr lang="en-US" altLang="ko-KR" baseline="0" dirty="0" smtClean="0"/>
          </a:p>
          <a:p>
            <a:r>
              <a:rPr lang="en-US" altLang="ko-KR" dirty="0" smtClean="0"/>
              <a:t>- </a:t>
            </a:r>
            <a:r>
              <a:rPr lang="en-US" altLang="ko-KR" dirty="0" err="1" smtClean="0"/>
              <a:t>Usecase</a:t>
            </a:r>
            <a:r>
              <a:rPr lang="ko-KR" altLang="en-US" dirty="0" smtClean="0"/>
              <a:t>이름 </a:t>
            </a:r>
            <a:r>
              <a:rPr lang="en-US" altLang="ko-KR" dirty="0" smtClean="0"/>
              <a:t>-&gt; stakeholders</a:t>
            </a:r>
            <a:r>
              <a:rPr lang="en-US" altLang="ko-KR" baseline="0" dirty="0" smtClean="0"/>
              <a:t> &amp;interest -&gt; primary actor-&gt; success end condition </a:t>
            </a:r>
          </a:p>
          <a:p>
            <a:r>
              <a:rPr lang="en-US" altLang="ko-KR" baseline="0" dirty="0" smtClean="0"/>
              <a:t>- main scenario-&gt; extensions</a:t>
            </a:r>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18</a:t>
            </a:fld>
            <a:endParaRPr lang="ko-KR" altLang="en-US"/>
          </a:p>
        </p:txBody>
      </p:sp>
    </p:spTree>
    <p:extLst>
      <p:ext uri="{BB962C8B-B14F-4D97-AF65-F5344CB8AC3E}">
        <p14:creationId xmlns:p14="http://schemas.microsoft.com/office/powerpoint/2010/main" val="3683089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Usecase</a:t>
            </a:r>
            <a:r>
              <a:rPr lang="ko-KR" altLang="en-US" dirty="0" smtClean="0"/>
              <a:t>는 동명사형</a:t>
            </a:r>
            <a:endParaRPr lang="en-US" altLang="ko-KR" dirty="0" smtClean="0"/>
          </a:p>
          <a:p>
            <a:r>
              <a:rPr lang="ko-KR" altLang="en-US" dirty="0" smtClean="0"/>
              <a:t>시나리오는</a:t>
            </a:r>
            <a:r>
              <a:rPr lang="en-US" altLang="ko-KR" dirty="0" smtClean="0"/>
              <a:t> </a:t>
            </a:r>
            <a:r>
              <a:rPr lang="ko-KR" altLang="en-US" dirty="0" smtClean="0"/>
              <a:t>읽기 쉬운 산문이면서 연극 대본</a:t>
            </a:r>
            <a:r>
              <a:rPr lang="ko-KR" altLang="en-US" baseline="0" dirty="0" smtClean="0"/>
              <a:t> 처럼 대화를 주고 받으며 </a:t>
            </a:r>
            <a:r>
              <a:rPr lang="ko-KR" altLang="en-US" dirty="0" err="1" smtClean="0"/>
              <a:t>액터와</a:t>
            </a:r>
            <a:r>
              <a:rPr lang="ko-KR" altLang="en-US" dirty="0" smtClean="0"/>
              <a:t> 시스템간의 행위를 기술한다</a:t>
            </a:r>
            <a:r>
              <a:rPr lang="en-US" altLang="ko-KR" dirty="0" smtClean="0"/>
              <a:t>.</a:t>
            </a:r>
          </a:p>
          <a:p>
            <a:r>
              <a:rPr lang="ko-KR" altLang="en-US" dirty="0" smtClean="0"/>
              <a:t>시나리오는 누가 공을 가지고 있는지 명확하게 기술되어야 한다</a:t>
            </a:r>
            <a:r>
              <a:rPr lang="en-US" altLang="ko-KR" dirty="0" smtClean="0"/>
              <a:t>.</a:t>
            </a:r>
          </a:p>
          <a:p>
            <a:r>
              <a:rPr lang="ko-KR" altLang="en-US" dirty="0" smtClean="0"/>
              <a:t>시나리오는 </a:t>
            </a:r>
            <a:r>
              <a:rPr lang="en-US" altLang="ko-KR" dirty="0" smtClean="0"/>
              <a:t>actor</a:t>
            </a:r>
            <a:r>
              <a:rPr lang="ko-KR" altLang="en-US" dirty="0" smtClean="0"/>
              <a:t>가 목표로 하는 조건에</a:t>
            </a:r>
            <a:r>
              <a:rPr lang="ko-KR" altLang="en-US" baseline="0" dirty="0" smtClean="0"/>
              <a:t> 이루기 위해 단계별로 나아가야 한다</a:t>
            </a:r>
            <a:r>
              <a:rPr lang="en-US" altLang="ko-KR" baseline="0" dirty="0" smtClean="0"/>
              <a:t>.</a:t>
            </a:r>
          </a:p>
          <a:p>
            <a:r>
              <a:rPr lang="ko-KR" altLang="en-US" baseline="0" dirty="0" smtClean="0"/>
              <a:t>단계별로 나아갈 때</a:t>
            </a:r>
            <a:r>
              <a:rPr lang="en-US" altLang="ko-KR" baseline="0" dirty="0" smtClean="0"/>
              <a:t>, </a:t>
            </a:r>
            <a:r>
              <a:rPr lang="ko-KR" altLang="en-US" baseline="0" dirty="0" smtClean="0"/>
              <a:t>적절한 추상화 레벨을 고민해야 하며</a:t>
            </a:r>
            <a:r>
              <a:rPr lang="en-US" altLang="ko-KR" baseline="0" dirty="0" smtClean="0"/>
              <a:t>, 3~9 </a:t>
            </a:r>
            <a:r>
              <a:rPr lang="ko-KR" altLang="en-US" baseline="0" dirty="0" smtClean="0"/>
              <a:t>단계 정도가 적절하다 생각한다</a:t>
            </a:r>
            <a:r>
              <a:rPr lang="en-US" altLang="ko-KR" baseline="0" dirty="0" smtClean="0"/>
              <a:t>.</a:t>
            </a:r>
          </a:p>
          <a:p>
            <a:endParaRPr lang="en-US" altLang="ko-KR" baseline="0" dirty="0" smtClean="0"/>
          </a:p>
          <a:p>
            <a:r>
              <a:rPr lang="en-US" altLang="ko-KR" dirty="0" smtClean="0"/>
              <a:t>- </a:t>
            </a:r>
            <a:r>
              <a:rPr lang="en-US" altLang="ko-KR" dirty="0" err="1" smtClean="0"/>
              <a:t>Usecase</a:t>
            </a:r>
            <a:r>
              <a:rPr lang="ko-KR" altLang="en-US" dirty="0" smtClean="0"/>
              <a:t>이름 </a:t>
            </a:r>
            <a:r>
              <a:rPr lang="en-US" altLang="ko-KR" dirty="0" smtClean="0"/>
              <a:t>-&gt; stakeholders</a:t>
            </a:r>
            <a:r>
              <a:rPr lang="en-US" altLang="ko-KR" baseline="0" dirty="0" smtClean="0"/>
              <a:t> &amp;interest -&gt; primary actor-&gt; success end condition </a:t>
            </a:r>
          </a:p>
          <a:p>
            <a:r>
              <a:rPr lang="en-US" altLang="ko-KR" baseline="0" dirty="0" smtClean="0"/>
              <a:t>- main scenario-&gt; extensions</a:t>
            </a:r>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19</a:t>
            </a:fld>
            <a:endParaRPr lang="ko-KR" altLang="en-US"/>
          </a:p>
        </p:txBody>
      </p:sp>
    </p:spTree>
    <p:extLst>
      <p:ext uri="{BB962C8B-B14F-4D97-AF65-F5344CB8AC3E}">
        <p14:creationId xmlns:p14="http://schemas.microsoft.com/office/powerpoint/2010/main" val="16133181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smtClean="0"/>
              <a:t>특수한</a:t>
            </a:r>
            <a:r>
              <a:rPr lang="ko-KR" altLang="en-US" baseline="0" dirty="0" smtClean="0"/>
              <a:t> 상황이 아니라면</a:t>
            </a:r>
            <a:r>
              <a:rPr lang="en-US" altLang="ko-KR" baseline="0" dirty="0" smtClean="0"/>
              <a:t>, use case </a:t>
            </a:r>
            <a:r>
              <a:rPr lang="ko-KR" altLang="en-US" baseline="0" dirty="0" smtClean="0"/>
              <a:t>문서를 생산해야 하는 목적이 아닌</a:t>
            </a:r>
            <a:endParaRPr lang="en-US" altLang="ko-KR" baseline="0" dirty="0" smtClean="0"/>
          </a:p>
          <a:p>
            <a:r>
              <a:rPr lang="ko-KR" altLang="en-US" baseline="0" dirty="0" smtClean="0"/>
              <a:t>도메인을 잘 이해하고 기능 요구사항을 잘 분석하여</a:t>
            </a:r>
            <a:r>
              <a:rPr lang="en-US" altLang="ko-KR" baseline="0" dirty="0" smtClean="0"/>
              <a:t>, </a:t>
            </a:r>
            <a:r>
              <a:rPr lang="ko-KR" altLang="en-US" baseline="0" dirty="0" smtClean="0"/>
              <a:t>개발 중간에 미처 분석하지 못했던</a:t>
            </a:r>
            <a:r>
              <a:rPr lang="en-US" altLang="ko-KR" baseline="0" dirty="0" smtClean="0"/>
              <a:t>, </a:t>
            </a:r>
            <a:r>
              <a:rPr lang="ko-KR" altLang="en-US" baseline="0" dirty="0" smtClean="0"/>
              <a:t>하지만 적용하기엔 너무나 이슈가 많은 추가적이 요구 사항이 들어 오는 것을 그나마 예방 하기 위한 </a:t>
            </a:r>
            <a:r>
              <a:rPr lang="en-US" altLang="ko-KR" baseline="0" dirty="0" smtClean="0"/>
              <a:t>tool </a:t>
            </a:r>
            <a:r>
              <a:rPr lang="ko-KR" altLang="en-US" baseline="0" dirty="0" smtClean="0"/>
              <a:t>이라는 생각을 한다</a:t>
            </a:r>
            <a:r>
              <a:rPr lang="en-US" altLang="ko-KR" baseline="0" dirty="0" smtClean="0"/>
              <a:t>. </a:t>
            </a:r>
          </a:p>
          <a:p>
            <a:endParaRPr lang="en-US" altLang="ko-KR" baseline="0" dirty="0" smtClean="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aseline="0" dirty="0" smtClean="0"/>
              <a:t>그렇기에 기능에 관심이 있어 요구 사항에 변경을 만들 수 있는 이해 당사자들이 누가 있을지 고민하고 </a:t>
            </a:r>
            <a:r>
              <a:rPr lang="en-US" altLang="ko-KR" baseline="0" dirty="0" smtClean="0"/>
              <a:t>(</a:t>
            </a:r>
            <a:r>
              <a:rPr lang="en-US" altLang="ko-KR" dirty="0" smtClean="0"/>
              <a:t>Stakeholders &amp; Interests)</a:t>
            </a:r>
            <a:endParaRPr lang="en-US" altLang="ko-KR" baseline="0" dirty="0" smtClean="0"/>
          </a:p>
          <a:p>
            <a:r>
              <a:rPr lang="ko-KR" altLang="en-US" baseline="0" dirty="0" smtClean="0"/>
              <a:t>그 이해 당사자들이 어떤 예외 적인 요구 사항을 추가 할 지 고민하는 것을 </a:t>
            </a:r>
            <a:r>
              <a:rPr lang="en-US" altLang="ko-KR" baseline="0" dirty="0" smtClean="0"/>
              <a:t>(</a:t>
            </a:r>
            <a:r>
              <a:rPr lang="en-US" altLang="ko-KR" baseline="0" dirty="0" err="1" smtClean="0"/>
              <a:t>Extentions</a:t>
            </a:r>
            <a:r>
              <a:rPr lang="en-US" altLang="ko-KR" baseline="0" dirty="0" smtClean="0"/>
              <a:t>)  </a:t>
            </a:r>
            <a:r>
              <a:rPr lang="ko-KR" altLang="en-US" baseline="0" dirty="0" smtClean="0"/>
              <a:t>돕는 툴이란 생각을 해본다</a:t>
            </a:r>
            <a:r>
              <a:rPr lang="en-US" altLang="ko-KR" baseline="0" dirty="0" smtClean="0"/>
              <a:t>.</a:t>
            </a:r>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22</a:t>
            </a:fld>
            <a:endParaRPr lang="ko-KR" altLang="en-US"/>
          </a:p>
        </p:txBody>
      </p:sp>
    </p:spTree>
    <p:extLst>
      <p:ext uri="{BB962C8B-B14F-4D97-AF65-F5344CB8AC3E}">
        <p14:creationId xmlns:p14="http://schemas.microsoft.com/office/powerpoint/2010/main" val="582787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24</a:t>
            </a:fld>
            <a:endParaRPr lang="ko-KR" altLang="en-US"/>
          </a:p>
        </p:txBody>
      </p:sp>
    </p:spTree>
    <p:extLst>
      <p:ext uri="{BB962C8B-B14F-4D97-AF65-F5344CB8AC3E}">
        <p14:creationId xmlns:p14="http://schemas.microsoft.com/office/powerpoint/2010/main" val="2811537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smtClean="0"/>
              <a:t>유스케이스가 제공하는 기능 세부 내용을 어떻게 명시할 수 있을까</a:t>
            </a:r>
            <a:r>
              <a:rPr lang="en-US" altLang="ko-KR" dirty="0" smtClean="0"/>
              <a:t>? </a:t>
            </a:r>
            <a:r>
              <a:rPr lang="ko-KR" altLang="en-US" dirty="0" smtClean="0"/>
              <a:t>어떻게 이벤트의 완전한 진행 과정을 명세할까</a:t>
            </a:r>
            <a:r>
              <a:rPr lang="en-US" altLang="ko-KR" dirty="0" smtClean="0"/>
              <a:t>? </a:t>
            </a:r>
            <a:r>
              <a:rPr lang="ko-KR" altLang="en-US" dirty="0" smtClean="0"/>
              <a:t>최적의 방법은 별도의 </a:t>
            </a:r>
            <a:r>
              <a:rPr lang="en-US" altLang="ko-KR" dirty="0" smtClean="0"/>
              <a:t>(5.6</a:t>
            </a:r>
            <a:r>
              <a:rPr lang="ko-KR" altLang="en-US" dirty="0" smtClean="0"/>
              <a:t>에서</a:t>
            </a:r>
            <a:r>
              <a:rPr lang="en-US" altLang="ko-KR" dirty="0" smtClean="0"/>
              <a:t> </a:t>
            </a:r>
            <a:r>
              <a:rPr lang="ko-KR" altLang="en-US" dirty="0" smtClean="0"/>
              <a:t>논의할 행위 다이어그램과 같은</a:t>
            </a:r>
            <a:r>
              <a:rPr lang="en-US" altLang="ko-KR" dirty="0" smtClean="0"/>
              <a:t>) </a:t>
            </a:r>
            <a:r>
              <a:rPr lang="ko-KR" altLang="en-US" dirty="0" smtClean="0"/>
              <a:t>별도의 </a:t>
            </a:r>
            <a:r>
              <a:rPr lang="en-US" altLang="ko-KR" dirty="0" smtClean="0"/>
              <a:t>UML </a:t>
            </a:r>
            <a:r>
              <a:rPr lang="ko-KR" altLang="en-US" dirty="0" smtClean="0"/>
              <a:t>모델과 문장 형태의 명세서를 작성하는 것이다</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25</a:t>
            </a:fld>
            <a:endParaRPr lang="ko-KR" altLang="en-US"/>
          </a:p>
        </p:txBody>
      </p:sp>
    </p:spTree>
    <p:extLst>
      <p:ext uri="{BB962C8B-B14F-4D97-AF65-F5344CB8AC3E}">
        <p14:creationId xmlns:p14="http://schemas.microsoft.com/office/powerpoint/2010/main" val="3149754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26</a:t>
            </a:fld>
            <a:endParaRPr lang="ko-KR" altLang="en-US"/>
          </a:p>
        </p:txBody>
      </p:sp>
    </p:spTree>
    <p:extLst>
      <p:ext uri="{BB962C8B-B14F-4D97-AF65-F5344CB8AC3E}">
        <p14:creationId xmlns:p14="http://schemas.microsoft.com/office/powerpoint/2010/main" val="17642367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kumimoji="1" lang="ko-KR" altLang="en-US"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둘다 </a:t>
            </a:r>
            <a:r>
              <a:rPr kumimoji="1" lang="ko-KR" altLang="en-US" sz="1200" dirty="0" err="1" smtClean="0">
                <a:ln>
                  <a:solidFill>
                    <a:schemeClr val="bg1">
                      <a:lumMod val="85000"/>
                      <a:alpha val="0"/>
                    </a:schemeClr>
                  </a:solidFill>
                </a:ln>
                <a:solidFill>
                  <a:srgbClr val="4B465E"/>
                </a:solidFill>
                <a:latin typeface="맑은 고딕" pitchFamily="50" charset="-127"/>
                <a:cs typeface="Arial" panose="020B0604020202020204" pitchFamily="34" charset="0"/>
              </a:rPr>
              <a:t>공통부에</a:t>
            </a:r>
            <a:r>
              <a:rPr kumimoji="1" lang="ko-KR" altLang="en-US"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 대한 표현 방식으로 보이지만</a:t>
            </a:r>
            <a:r>
              <a:rPr kumimoji="1" lang="en-US" altLang="ko-KR"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실제로는 의존성 방향에 대한 표현 방식으로 이해하는 편이 더 좋습니다</a:t>
            </a:r>
            <a:r>
              <a:rPr kumimoji="1" lang="en-US" altLang="ko-KR"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27</a:t>
            </a:fld>
            <a:endParaRPr lang="ko-KR" altLang="en-US"/>
          </a:p>
        </p:txBody>
      </p:sp>
    </p:spTree>
    <p:extLst>
      <p:ext uri="{BB962C8B-B14F-4D97-AF65-F5344CB8AC3E}">
        <p14:creationId xmlns:p14="http://schemas.microsoft.com/office/powerpoint/2010/main" val="13071890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Combo menu</a:t>
            </a:r>
          </a:p>
          <a:p>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28</a:t>
            </a:fld>
            <a:endParaRPr lang="ko-KR" altLang="en-US"/>
          </a:p>
        </p:txBody>
      </p:sp>
    </p:spTree>
    <p:extLst>
      <p:ext uri="{BB962C8B-B14F-4D97-AF65-F5344CB8AC3E}">
        <p14:creationId xmlns:p14="http://schemas.microsoft.com/office/powerpoint/2010/main" val="388668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dirty="0" smtClean="0"/>
              <a:t>포함되는 유스케이스나 확장하는 유스케이스 또한 유스케이스이므로 앞서 인용했던 유스케이스 원칙을 준수해야 한다</a:t>
            </a:r>
            <a:r>
              <a:rPr lang="en-US" altLang="ko-KR" sz="1200" dirty="0" smtClean="0"/>
              <a:t>. </a:t>
            </a:r>
            <a:r>
              <a:rPr lang="ko-KR" altLang="en-US" sz="1200" dirty="0" smtClean="0"/>
              <a:t>다시 </a:t>
            </a:r>
            <a:r>
              <a:rPr lang="ko-KR" altLang="en-US" sz="1200" dirty="0" err="1" smtClean="0"/>
              <a:t>말하지면</a:t>
            </a:r>
            <a:r>
              <a:rPr lang="en-US" altLang="ko-KR" sz="1200" dirty="0" smtClean="0"/>
              <a:t>, </a:t>
            </a:r>
            <a:r>
              <a:rPr lang="ko-KR" altLang="en-US" sz="1200" dirty="0" smtClean="0"/>
              <a:t>유스케이스는 </a:t>
            </a:r>
            <a:r>
              <a:rPr lang="ko-KR" altLang="en-US" sz="1200" dirty="0" err="1" smtClean="0"/>
              <a:t>액터에게</a:t>
            </a:r>
            <a:r>
              <a:rPr lang="ko-KR" altLang="en-US" sz="1200" dirty="0" smtClean="0"/>
              <a:t> 가치를 제공해야 한다</a:t>
            </a:r>
            <a:r>
              <a:rPr lang="en-US" altLang="ko-KR" sz="1200" dirty="0" smtClean="0"/>
              <a:t>. </a:t>
            </a:r>
            <a:r>
              <a:rPr lang="ko-KR" altLang="en-US" sz="1200" dirty="0" err="1" smtClean="0"/>
              <a:t>액터</a:t>
            </a:r>
            <a:r>
              <a:rPr lang="ko-KR" altLang="en-US" sz="1200" dirty="0" smtClean="0"/>
              <a:t> 관점에서 </a:t>
            </a:r>
            <a:r>
              <a:rPr lang="ko-KR" altLang="en-US" sz="1200" dirty="0" err="1" smtClean="0"/>
              <a:t>액터가</a:t>
            </a:r>
            <a:r>
              <a:rPr lang="ko-KR" altLang="en-US" sz="1200" dirty="0" smtClean="0"/>
              <a:t> 시스템이 수행하기 원하는 완전한 행위 흐름이다</a:t>
            </a:r>
            <a:r>
              <a:rPr lang="en-US" altLang="ko-KR" sz="1200" dirty="0" smtClean="0"/>
              <a:t>.</a:t>
            </a:r>
          </a:p>
          <a:p>
            <a:r>
              <a:rPr lang="ko-KR" altLang="en-US" sz="1200" dirty="0" smtClean="0"/>
              <a:t>이러한 원칙을 엄격히 따르기만 한다면 포함하기와 확장하기 관계를 사용해 유스케이스를 </a:t>
            </a:r>
            <a:r>
              <a:rPr lang="en-US" altLang="ko-KR" sz="1200" dirty="0" smtClean="0"/>
              <a:t>‘</a:t>
            </a:r>
            <a:r>
              <a:rPr lang="ko-KR" altLang="en-US" sz="1200" dirty="0" smtClean="0"/>
              <a:t>기능분해</a:t>
            </a:r>
            <a:r>
              <a:rPr lang="en-US" altLang="ko-KR" sz="1200" dirty="0" smtClean="0"/>
              <a:t>’</a:t>
            </a:r>
            <a:r>
              <a:rPr lang="ko-KR" altLang="en-US" sz="1200" dirty="0" smtClean="0"/>
              <a:t>하는 또 다른 오류를 범하지는 않을 것이다</a:t>
            </a:r>
            <a:r>
              <a:rPr lang="en-US" altLang="ko-KR" sz="1200" dirty="0" smtClean="0"/>
              <a:t>. </a:t>
            </a:r>
            <a:r>
              <a:rPr lang="ko-KR" altLang="en-US" sz="1200" dirty="0" smtClean="0"/>
              <a:t>기능분해는 유스케이스 모델에서 쉽게 발견되고 가장 널리 행해지는 문제인데</a:t>
            </a:r>
            <a:r>
              <a:rPr lang="en-US" altLang="ko-KR" sz="1200" dirty="0" smtClean="0"/>
              <a:t>, </a:t>
            </a:r>
            <a:r>
              <a:rPr lang="ko-KR" altLang="en-US" sz="1200" dirty="0" smtClean="0"/>
              <a:t>유스케이스를 더욱 작은 단편으로 쪼개서는 </a:t>
            </a:r>
            <a:r>
              <a:rPr lang="en-US" altLang="ko-KR" sz="1200" dirty="0" smtClean="0"/>
              <a:t>include</a:t>
            </a:r>
            <a:r>
              <a:rPr lang="ko-KR" altLang="en-US" sz="1200" dirty="0" smtClean="0"/>
              <a:t>와</a:t>
            </a:r>
            <a:r>
              <a:rPr lang="en-US" altLang="ko-KR" sz="1200" dirty="0" smtClean="0"/>
              <a:t> extend</a:t>
            </a:r>
            <a:r>
              <a:rPr lang="ko-KR" altLang="en-US" sz="1200" dirty="0" smtClean="0"/>
              <a:t>를 사용해서 그것들을 다시 묶는 식이다</a:t>
            </a:r>
            <a:r>
              <a:rPr lang="en-US" altLang="ko-KR" sz="1200" dirty="0" smtClean="0"/>
              <a:t>. </a:t>
            </a:r>
            <a:r>
              <a:rPr lang="ko-KR" altLang="en-US" sz="1200" dirty="0" smtClean="0"/>
              <a:t>이러한 경향은 구조적 분석 설계 방법이 널리 행해졌던 시절의 소프트웨어 개발 경험에 기인한다</a:t>
            </a:r>
            <a:r>
              <a:rPr lang="en-US" altLang="ko-KR" sz="1200" dirty="0" smtClean="0"/>
              <a:t>. </a:t>
            </a:r>
            <a:r>
              <a:rPr lang="ko-KR" altLang="en-US" sz="1200" dirty="0" smtClean="0"/>
              <a:t>구조적 분석 설계 방법은 큰 덩어리의 개발문제를 분해해서 작은 단위로 만드는 것이 원칙이다</a:t>
            </a:r>
            <a:r>
              <a:rPr lang="en-US" altLang="ko-KR" sz="1200" dirty="0" smtClean="0"/>
              <a:t>. </a:t>
            </a:r>
            <a:r>
              <a:rPr lang="ko-KR" altLang="en-US" sz="1200" dirty="0" smtClean="0"/>
              <a:t>그러나 그렇게 하는 것이 유스케이스 원칙에는 위배된다</a:t>
            </a:r>
            <a:r>
              <a:rPr lang="en-US" altLang="ko-KR" sz="1200" dirty="0" smtClean="0"/>
              <a:t>. </a:t>
            </a:r>
          </a:p>
          <a:p>
            <a:r>
              <a:rPr lang="en-US" altLang="ko-KR" sz="1200" dirty="0" smtClean="0"/>
              <a:t>.</a:t>
            </a:r>
          </a:p>
          <a:p>
            <a:endParaRPr lang="en-US" altLang="ko-KR" sz="1200" dirty="0" smtClean="0"/>
          </a:p>
          <a:p>
            <a:pPr algn="r"/>
            <a:r>
              <a:rPr lang="en-US" altLang="ko-KR" sz="1200" dirty="0" smtClean="0">
                <a:solidFill>
                  <a:schemeClr val="bg1">
                    <a:lumMod val="50000"/>
                  </a:schemeClr>
                </a:solidFill>
              </a:rPr>
              <a:t> UML</a:t>
            </a:r>
            <a:r>
              <a:rPr lang="ko-KR" altLang="en-US" sz="1200" dirty="0" smtClean="0">
                <a:solidFill>
                  <a:schemeClr val="bg1">
                    <a:lumMod val="50000"/>
                  </a:schemeClr>
                </a:solidFill>
              </a:rPr>
              <a:t>을 활용한 객체지향 분석 설계 </a:t>
            </a:r>
            <a:r>
              <a:rPr lang="en-US" altLang="ko-KR" sz="1200" dirty="0" smtClean="0">
                <a:solidFill>
                  <a:schemeClr val="bg1">
                    <a:lumMod val="50000"/>
                  </a:schemeClr>
                </a:solidFill>
              </a:rPr>
              <a:t>- </a:t>
            </a:r>
            <a:r>
              <a:rPr lang="ko-KR" altLang="en-US" sz="1200" dirty="0" smtClean="0">
                <a:solidFill>
                  <a:schemeClr val="bg1">
                    <a:lumMod val="50000"/>
                  </a:schemeClr>
                </a:solidFill>
              </a:rPr>
              <a:t>그래디 </a:t>
            </a:r>
            <a:r>
              <a:rPr lang="ko-KR" altLang="en-US" sz="1200" dirty="0" err="1" smtClean="0">
                <a:solidFill>
                  <a:schemeClr val="bg1">
                    <a:lumMod val="50000"/>
                  </a:schemeClr>
                </a:solidFill>
              </a:rPr>
              <a:t>부치</a:t>
            </a:r>
            <a:r>
              <a:rPr lang="ko-KR" altLang="en-US" sz="1200" dirty="0" smtClean="0">
                <a:solidFill>
                  <a:schemeClr val="bg1">
                    <a:lumMod val="50000"/>
                  </a:schemeClr>
                </a:solidFill>
              </a:rPr>
              <a:t> 외</a:t>
            </a:r>
            <a:r>
              <a:rPr lang="en-US" altLang="ko-KR" sz="1200" dirty="0" smtClean="0">
                <a:solidFill>
                  <a:schemeClr val="bg1">
                    <a:lumMod val="50000"/>
                  </a:schemeClr>
                </a:solidFill>
              </a:rPr>
              <a:t>-</a:t>
            </a:r>
            <a:r>
              <a:rPr lang="en-US" altLang="ko-KR" sz="1200" dirty="0" smtClean="0"/>
              <a:t> </a:t>
            </a:r>
            <a:endParaRPr lang="ko-KR" altLang="en-US" sz="1200" dirty="0" smtClean="0"/>
          </a:p>
          <a:p>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29</a:t>
            </a:fld>
            <a:endParaRPr lang="ko-KR" altLang="en-US"/>
          </a:p>
        </p:txBody>
      </p:sp>
    </p:spTree>
    <p:extLst>
      <p:ext uri="{BB962C8B-B14F-4D97-AF65-F5344CB8AC3E}">
        <p14:creationId xmlns:p14="http://schemas.microsoft.com/office/powerpoint/2010/main" val="32948674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31</a:t>
            </a:fld>
            <a:endParaRPr lang="ko-KR" altLang="en-US"/>
          </a:p>
        </p:txBody>
      </p:sp>
    </p:spTree>
    <p:extLst>
      <p:ext uri="{BB962C8B-B14F-4D97-AF65-F5344CB8AC3E}">
        <p14:creationId xmlns:p14="http://schemas.microsoft.com/office/powerpoint/2010/main" val="7525578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32</a:t>
            </a:fld>
            <a:endParaRPr lang="ko-KR" altLang="en-US"/>
          </a:p>
        </p:txBody>
      </p:sp>
    </p:spTree>
    <p:extLst>
      <p:ext uri="{BB962C8B-B14F-4D97-AF65-F5344CB8AC3E}">
        <p14:creationId xmlns:p14="http://schemas.microsoft.com/office/powerpoint/2010/main" val="38706964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36</a:t>
            </a:fld>
            <a:endParaRPr lang="ko-KR" altLang="en-US"/>
          </a:p>
        </p:txBody>
      </p:sp>
    </p:spTree>
    <p:extLst>
      <p:ext uri="{BB962C8B-B14F-4D97-AF65-F5344CB8AC3E}">
        <p14:creationId xmlns:p14="http://schemas.microsoft.com/office/powerpoint/2010/main" val="9745801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37</a:t>
            </a:fld>
            <a:endParaRPr lang="ko-KR" altLang="en-US"/>
          </a:p>
        </p:txBody>
      </p:sp>
    </p:spTree>
    <p:extLst>
      <p:ext uri="{BB962C8B-B14F-4D97-AF65-F5344CB8AC3E}">
        <p14:creationId xmlns:p14="http://schemas.microsoft.com/office/powerpoint/2010/main" val="20735821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38</a:t>
            </a:fld>
            <a:endParaRPr lang="ko-KR" altLang="en-US"/>
          </a:p>
        </p:txBody>
      </p:sp>
    </p:spTree>
    <p:extLst>
      <p:ext uri="{BB962C8B-B14F-4D97-AF65-F5344CB8AC3E}">
        <p14:creationId xmlns:p14="http://schemas.microsoft.com/office/powerpoint/2010/main" val="2635370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39</a:t>
            </a:fld>
            <a:endParaRPr lang="ko-KR" altLang="en-US"/>
          </a:p>
        </p:txBody>
      </p:sp>
    </p:spTree>
    <p:extLst>
      <p:ext uri="{BB962C8B-B14F-4D97-AF65-F5344CB8AC3E}">
        <p14:creationId xmlns:p14="http://schemas.microsoft.com/office/powerpoint/2010/main" val="23875380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40</a:t>
            </a:fld>
            <a:endParaRPr lang="ko-KR" altLang="en-US"/>
          </a:p>
        </p:txBody>
      </p:sp>
    </p:spTree>
    <p:extLst>
      <p:ext uri="{BB962C8B-B14F-4D97-AF65-F5344CB8AC3E}">
        <p14:creationId xmlns:p14="http://schemas.microsoft.com/office/powerpoint/2010/main" val="29198633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http://www.nextree.co.kr/p6753/</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42</a:t>
            </a:fld>
            <a:endParaRPr lang="ko-KR" altLang="en-US"/>
          </a:p>
        </p:txBody>
      </p:sp>
    </p:spTree>
    <p:extLst>
      <p:ext uri="{BB962C8B-B14F-4D97-AF65-F5344CB8AC3E}">
        <p14:creationId xmlns:p14="http://schemas.microsoft.com/office/powerpoint/2010/main" val="19391755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43</a:t>
            </a:fld>
            <a:endParaRPr lang="ko-KR" altLang="en-US"/>
          </a:p>
        </p:txBody>
      </p:sp>
    </p:spTree>
    <p:extLst>
      <p:ext uri="{BB962C8B-B14F-4D97-AF65-F5344CB8AC3E}">
        <p14:creationId xmlns:p14="http://schemas.microsoft.com/office/powerpoint/2010/main" val="12701790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https://www.uml-diagrams.org/sequence-diagrams-combined-fragment.html</a:t>
            </a:r>
          </a:p>
          <a:p>
            <a:r>
              <a:rPr lang="en-US" altLang="ko-KR" dirty="0" smtClean="0"/>
              <a:t>https://www.slideshare.net/iivanoo/modeling-objects-interaction-via-uml-sequence-diagrams-software-design-computer-science-vrije-universiteit-amsterdam-20172018</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44</a:t>
            </a:fld>
            <a:endParaRPr lang="ko-KR" altLang="en-US"/>
          </a:p>
        </p:txBody>
      </p:sp>
    </p:spTree>
    <p:extLst>
      <p:ext uri="{BB962C8B-B14F-4D97-AF65-F5344CB8AC3E}">
        <p14:creationId xmlns:p14="http://schemas.microsoft.com/office/powerpoint/2010/main" val="12931725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https://docs.microsoft.com/ko-kr/visualstudio/modeling/describe-control-flow-with-fragments-on-uml-sequence-diagrams?view=vs-2015</a:t>
            </a:r>
          </a:p>
          <a:p>
            <a:r>
              <a:rPr lang="en-US" altLang="ko-KR" dirty="0" smtClean="0"/>
              <a:t>https://www.win.tue.nl/~jschmalt/teaching/2IX20/reader_software_specification_ch_5.pdf</a:t>
            </a:r>
          </a:p>
          <a:p>
            <a:endParaRPr lang="en-US" altLang="ko-KR" dirty="0" smtClean="0"/>
          </a:p>
          <a:p>
            <a:r>
              <a:rPr lang="en-US" altLang="ko-KR" dirty="0" smtClean="0"/>
              <a:t>https://technical-leader.tistory.com/14</a:t>
            </a:r>
          </a:p>
          <a:p>
            <a:endParaRPr lang="en-US" altLang="ko-KR" dirty="0" smtClean="0"/>
          </a:p>
          <a:p>
            <a:pPr marL="0" marR="0" lvl="0" indent="0" algn="l" defTabSz="914400" rtl="0" eaLnBrk="1" fontAlgn="auto" latinLnBrk="1" hangingPunct="1">
              <a:lnSpc>
                <a:spcPct val="100000"/>
              </a:lnSpc>
              <a:spcBef>
                <a:spcPts val="0"/>
              </a:spcBef>
              <a:spcAft>
                <a:spcPts val="0"/>
              </a:spcAft>
              <a:buClrTx/>
              <a:buSzTx/>
              <a:buFontTx/>
              <a:buNone/>
              <a:tabLst/>
              <a:defRPr/>
            </a:pPr>
            <a:r>
              <a:rPr kumimoji="1" lang="ko-KR" altLang="en-US"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인과 관계가 존재하는 </a:t>
            </a:r>
            <a:r>
              <a:rPr kumimoji="1" lang="en-US" altLang="ko-KR"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a, b</a:t>
            </a:r>
            <a:r>
              <a:rPr kumimoji="1" lang="ko-KR" altLang="en-US"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 순서는 변경 될 수 없으나</a:t>
            </a:r>
            <a:r>
              <a:rPr kumimoji="1" lang="en-US" altLang="ko-KR"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그 사이에 </a:t>
            </a:r>
            <a:r>
              <a:rPr kumimoji="1" lang="en-US" altLang="ko-KR"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d, c, e</a:t>
            </a:r>
            <a:r>
              <a:rPr kumimoji="1" lang="ko-KR" altLang="en-US"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가 수행 될 수 있다</a:t>
            </a:r>
            <a:r>
              <a:rPr kumimoji="1" lang="en-US" altLang="ko-KR" sz="12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45</a:t>
            </a:fld>
            <a:endParaRPr lang="ko-KR" altLang="en-US"/>
          </a:p>
        </p:txBody>
      </p:sp>
    </p:spTree>
    <p:extLst>
      <p:ext uri="{BB962C8B-B14F-4D97-AF65-F5344CB8AC3E}">
        <p14:creationId xmlns:p14="http://schemas.microsoft.com/office/powerpoint/2010/main" val="27673228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46</a:t>
            </a:fld>
            <a:endParaRPr lang="ko-KR" altLang="en-US"/>
          </a:p>
        </p:txBody>
      </p:sp>
    </p:spTree>
    <p:extLst>
      <p:ext uri="{BB962C8B-B14F-4D97-AF65-F5344CB8AC3E}">
        <p14:creationId xmlns:p14="http://schemas.microsoft.com/office/powerpoint/2010/main" val="30262766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smtClean="0"/>
          </a:p>
          <a:p>
            <a:r>
              <a:rPr lang="en-US" altLang="ko-KR" dirty="0" smtClean="0"/>
              <a:t>Loop(min, max)</a:t>
            </a:r>
            <a:r>
              <a:rPr lang="ko-KR" altLang="en-US" dirty="0" smtClean="0"/>
              <a:t>에서 </a:t>
            </a:r>
            <a:r>
              <a:rPr lang="en-US" altLang="ko-KR" dirty="0" smtClean="0"/>
              <a:t>min</a:t>
            </a:r>
            <a:r>
              <a:rPr lang="ko-KR" altLang="en-US" dirty="0" smtClean="0"/>
              <a:t>값과 </a:t>
            </a:r>
            <a:r>
              <a:rPr lang="en-US" altLang="ko-KR" dirty="0" smtClean="0"/>
              <a:t>guard</a:t>
            </a:r>
            <a:r>
              <a:rPr lang="ko-KR" altLang="en-US" dirty="0" smtClean="0"/>
              <a:t>에 따른 동작은</a:t>
            </a:r>
            <a:endParaRPr lang="en-US" altLang="ko-KR" dirty="0" smtClean="0"/>
          </a:p>
          <a:p>
            <a:pPr marL="171450" indent="-171450">
              <a:buFontTx/>
              <a:buChar char="-"/>
            </a:pPr>
            <a:r>
              <a:rPr lang="en-US" altLang="ko-KR" dirty="0" smtClean="0"/>
              <a:t>Guard</a:t>
            </a:r>
            <a:r>
              <a:rPr lang="ko-KR" altLang="en-US" dirty="0" smtClean="0"/>
              <a:t>가 우선시 됨</a:t>
            </a:r>
            <a:r>
              <a:rPr lang="en-US" altLang="ko-KR" dirty="0" smtClean="0"/>
              <a:t>.</a:t>
            </a:r>
          </a:p>
          <a:p>
            <a:pPr marL="171450" indent="-171450">
              <a:buFontTx/>
              <a:buChar char="-"/>
            </a:pPr>
            <a:endParaRPr lang="en-US" altLang="ko-KR" dirty="0" smtClean="0"/>
          </a:p>
          <a:p>
            <a:pPr marL="171450" indent="-171450">
              <a:buFontTx/>
              <a:buChar char="-"/>
            </a:pPr>
            <a:endParaRPr lang="en-US" altLang="ko-KR" dirty="0" smtClean="0"/>
          </a:p>
          <a:p>
            <a:pPr marL="0" indent="0">
              <a:buFontTx/>
              <a:buNone/>
            </a:pPr>
            <a:r>
              <a:rPr lang="en-US" altLang="ko-KR" dirty="0" smtClean="0"/>
              <a:t>Break</a:t>
            </a:r>
            <a:r>
              <a:rPr lang="ko-KR" altLang="en-US" dirty="0" smtClean="0"/>
              <a:t>는 조건이 맞을 경우 현 속한 </a:t>
            </a:r>
            <a:r>
              <a:rPr lang="en-US" altLang="ko-KR" dirty="0" smtClean="0"/>
              <a:t>fragment</a:t>
            </a:r>
            <a:r>
              <a:rPr lang="ko-KR" altLang="en-US" dirty="0" smtClean="0"/>
              <a:t>를 빠져 나감</a:t>
            </a:r>
            <a:endParaRPr lang="en-US" altLang="ko-KR" dirty="0"/>
          </a:p>
          <a:p>
            <a:pPr marL="0" indent="0">
              <a:buFontTx/>
              <a:buNone/>
            </a:pPr>
            <a:r>
              <a:rPr lang="en-US" altLang="ko-KR" dirty="0" smtClean="0"/>
              <a:t>Break</a:t>
            </a:r>
            <a:r>
              <a:rPr lang="ko-KR" altLang="en-US" dirty="0" smtClean="0"/>
              <a:t>를 </a:t>
            </a:r>
            <a:r>
              <a:rPr lang="en-US" altLang="ko-KR" dirty="0" smtClean="0"/>
              <a:t>loop fragment </a:t>
            </a:r>
            <a:r>
              <a:rPr lang="ko-KR" altLang="en-US" dirty="0" smtClean="0"/>
              <a:t>밖에서 사용할 경우</a:t>
            </a:r>
            <a:endParaRPr lang="en-US" altLang="ko-KR" dirty="0" smtClean="0"/>
          </a:p>
          <a:p>
            <a:pPr marL="0" indent="0">
              <a:buFontTx/>
              <a:buNone/>
            </a:pPr>
            <a:r>
              <a:rPr lang="en-US" altLang="ko-KR" dirty="0" smtClean="0"/>
              <a:t> - loop</a:t>
            </a:r>
            <a:r>
              <a:rPr lang="ko-KR" altLang="en-US" dirty="0" smtClean="0"/>
              <a:t>수행 종료 직후</a:t>
            </a:r>
            <a:r>
              <a:rPr lang="en-US" altLang="ko-KR" dirty="0" smtClean="0"/>
              <a:t>, G</a:t>
            </a:r>
            <a:r>
              <a:rPr lang="en-US" altLang="ko-KR" baseline="0" dirty="0" smtClean="0"/>
              <a:t>uard</a:t>
            </a:r>
            <a:r>
              <a:rPr lang="ko-KR" altLang="en-US" baseline="0" dirty="0" smtClean="0"/>
              <a:t>가 </a:t>
            </a:r>
            <a:r>
              <a:rPr lang="en-US" altLang="ko-KR" baseline="0" dirty="0" smtClean="0"/>
              <a:t>true</a:t>
            </a:r>
            <a:r>
              <a:rPr lang="ko-KR" altLang="en-US" baseline="0" dirty="0" smtClean="0"/>
              <a:t>일 경우 현재 </a:t>
            </a:r>
            <a:r>
              <a:rPr lang="en-US" altLang="ko-KR" baseline="0" dirty="0" smtClean="0"/>
              <a:t>fragment</a:t>
            </a:r>
            <a:r>
              <a:rPr lang="ko-KR" altLang="en-US" baseline="0" dirty="0" smtClean="0"/>
              <a:t>를 빠져 나가 더 이상 수행을 하지 않게 됨</a:t>
            </a:r>
            <a:endParaRPr lang="en-US" altLang="ko-KR" dirty="0" smtClean="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47</a:t>
            </a:fld>
            <a:endParaRPr lang="ko-KR" altLang="en-US"/>
          </a:p>
        </p:txBody>
      </p:sp>
    </p:spTree>
    <p:extLst>
      <p:ext uri="{BB962C8B-B14F-4D97-AF65-F5344CB8AC3E}">
        <p14:creationId xmlns:p14="http://schemas.microsoft.com/office/powerpoint/2010/main" val="17357622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49</a:t>
            </a:fld>
            <a:endParaRPr lang="ko-KR" altLang="en-US"/>
          </a:p>
        </p:txBody>
      </p:sp>
    </p:spTree>
    <p:extLst>
      <p:ext uri="{BB962C8B-B14F-4D97-AF65-F5344CB8AC3E}">
        <p14:creationId xmlns:p14="http://schemas.microsoft.com/office/powerpoint/2010/main" val="6920000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Neg</a:t>
            </a:r>
            <a:r>
              <a:rPr lang="en-US" altLang="ko-KR" baseline="0" dirty="0" smtClean="0"/>
              <a:t> – </a:t>
            </a:r>
            <a:r>
              <a:rPr lang="ko-KR" altLang="en-US" baseline="0" dirty="0" smtClean="0"/>
              <a:t>일반적으로 일어나서는 안 되는 시퀀스</a:t>
            </a:r>
            <a:r>
              <a:rPr lang="en-US" altLang="ko-KR" baseline="0" dirty="0" smtClean="0"/>
              <a:t>, </a:t>
            </a:r>
            <a:r>
              <a:rPr lang="ko-KR" altLang="en-US" baseline="0" dirty="0" smtClean="0"/>
              <a:t>시스템에서 발생 할 수 있고 처리 되어야 하지만 일반적은 동작이 아님을 표시한다</a:t>
            </a:r>
            <a:r>
              <a:rPr lang="en-US" altLang="ko-KR" baseline="0" dirty="0" smtClean="0"/>
              <a:t>. </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50</a:t>
            </a:fld>
            <a:endParaRPr lang="ko-KR" altLang="en-US"/>
          </a:p>
        </p:txBody>
      </p:sp>
    </p:spTree>
    <p:extLst>
      <p:ext uri="{BB962C8B-B14F-4D97-AF65-F5344CB8AC3E}">
        <p14:creationId xmlns:p14="http://schemas.microsoft.com/office/powerpoint/2010/main" val="23956033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Ignore {} </a:t>
            </a:r>
            <a:r>
              <a:rPr lang="ko-KR" altLang="en-US" dirty="0" smtClean="0"/>
              <a:t>안에 정의된 </a:t>
            </a:r>
            <a:r>
              <a:rPr lang="en-US" altLang="ko-KR" dirty="0" smtClean="0"/>
              <a:t>message</a:t>
            </a:r>
            <a:r>
              <a:rPr lang="ko-KR" altLang="en-US" dirty="0" smtClean="0"/>
              <a:t>가 실제로는 수행 되지만 다이어그램 상에서는 </a:t>
            </a:r>
            <a:r>
              <a:rPr lang="en-US" altLang="ko-KR" dirty="0" smtClean="0"/>
              <a:t>ignore </a:t>
            </a:r>
            <a:r>
              <a:rPr lang="ko-KR" altLang="en-US" dirty="0" smtClean="0"/>
              <a:t>처리 하여 그리지 않겠다</a:t>
            </a:r>
            <a:r>
              <a:rPr lang="en-US" altLang="ko-KR" dirty="0" smtClean="0"/>
              <a:t>.</a:t>
            </a:r>
          </a:p>
          <a:p>
            <a:r>
              <a:rPr lang="en-US" altLang="ko-KR" dirty="0" smtClean="0"/>
              <a:t>Consider {}</a:t>
            </a:r>
            <a:r>
              <a:rPr lang="ko-KR" altLang="en-US" dirty="0" smtClean="0"/>
              <a:t>안에 정의된 </a:t>
            </a:r>
            <a:r>
              <a:rPr lang="en-US" altLang="ko-KR" dirty="0" smtClean="0"/>
              <a:t>message </a:t>
            </a:r>
            <a:r>
              <a:rPr lang="ko-KR" altLang="en-US" dirty="0" smtClean="0"/>
              <a:t>외에도 다양한 것들이 있지만 그것만 고려해서 그리겠다</a:t>
            </a:r>
            <a:r>
              <a:rPr lang="en-US" altLang="ko-KR" dirty="0" smtClean="0"/>
              <a:t>.</a:t>
            </a:r>
          </a:p>
          <a:p>
            <a:endParaRPr lang="en-US" altLang="ko-KR" dirty="0" smtClean="0"/>
          </a:p>
          <a:p>
            <a:r>
              <a:rPr lang="ko-KR" altLang="en-US" dirty="0" smtClean="0"/>
              <a:t>예제 그림이 좀 </a:t>
            </a:r>
            <a:r>
              <a:rPr lang="ko-KR" altLang="en-US" dirty="0" err="1" smtClean="0"/>
              <a:t>안맞는</a:t>
            </a:r>
            <a:r>
              <a:rPr lang="ko-KR" altLang="en-US" dirty="0" smtClean="0"/>
              <a:t> 것 같기도 하다</a:t>
            </a:r>
            <a:r>
              <a:rPr lang="en-US" altLang="ko-KR" dirty="0" smtClean="0"/>
              <a:t>;;;</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51</a:t>
            </a:fld>
            <a:endParaRPr lang="ko-KR" altLang="en-US"/>
          </a:p>
        </p:txBody>
      </p:sp>
    </p:spTree>
    <p:extLst>
      <p:ext uri="{BB962C8B-B14F-4D97-AF65-F5344CB8AC3E}">
        <p14:creationId xmlns:p14="http://schemas.microsoft.com/office/powerpoint/2010/main" val="35039370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 </a:t>
            </a:r>
            <a:r>
              <a:rPr lang="ko-KR" altLang="en-US" dirty="0" smtClean="0"/>
              <a:t>안의 </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52</a:t>
            </a:fld>
            <a:endParaRPr lang="ko-KR" altLang="en-US"/>
          </a:p>
        </p:txBody>
      </p:sp>
    </p:spTree>
    <p:extLst>
      <p:ext uri="{BB962C8B-B14F-4D97-AF65-F5344CB8AC3E}">
        <p14:creationId xmlns:p14="http://schemas.microsoft.com/office/powerpoint/2010/main" val="8637839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http://www.nextree.co.kr/p6753/</a:t>
            </a:r>
          </a:p>
          <a:p>
            <a:endParaRPr lang="en-US" altLang="ko-KR" dirty="0" smtClean="0"/>
          </a:p>
          <a:p>
            <a:r>
              <a:rPr lang="ko-KR" altLang="en-US" dirty="0" smtClean="0"/>
              <a:t>이 클래스 다이어그램은 굉장히 유용하다</a:t>
            </a:r>
            <a:r>
              <a:rPr lang="en-US" altLang="ko-KR" dirty="0" smtClean="0"/>
              <a:t>. </a:t>
            </a:r>
            <a:r>
              <a:rPr lang="ko-KR" altLang="en-US" dirty="0" smtClean="0"/>
              <a:t>소스코드를 보고 시스템 구성 요소들의 상호 의존 구조를 평가하기보다 </a:t>
            </a:r>
            <a:r>
              <a:rPr lang="ko-KR" altLang="en-US" dirty="0" err="1" smtClean="0"/>
              <a:t>다이그램을</a:t>
            </a:r>
            <a:r>
              <a:rPr lang="ko-KR" altLang="en-US" dirty="0" smtClean="0"/>
              <a:t> 보고 평가하기가 훨씬 쉽다</a:t>
            </a:r>
            <a:r>
              <a:rPr lang="en-US" altLang="ko-KR" dirty="0" smtClean="0"/>
              <a:t>. </a:t>
            </a:r>
            <a:r>
              <a:rPr lang="ko-KR" altLang="en-US" dirty="0" smtClean="0"/>
              <a:t>다이어그램은 의존 관계의 구조를 명확히 보게 해주며</a:t>
            </a:r>
            <a:r>
              <a:rPr lang="en-US" altLang="ko-KR" dirty="0" smtClean="0"/>
              <a:t>, </a:t>
            </a:r>
            <a:r>
              <a:rPr lang="ko-KR" altLang="en-US" dirty="0" smtClean="0"/>
              <a:t>순환 의존이 발생하는 지점을 찾아내서 어떻게 이 순환 고리를 깨는 것이 가장 좋은지 결정할 수 있게 해준다</a:t>
            </a:r>
            <a:r>
              <a:rPr lang="en-US" altLang="ko-KR" dirty="0" smtClean="0"/>
              <a:t>. </a:t>
            </a:r>
            <a:r>
              <a:rPr lang="ko-KR" altLang="en-US" dirty="0" smtClean="0"/>
              <a:t>그리고 추상 클래스가 </a:t>
            </a:r>
            <a:r>
              <a:rPr lang="ko-KR" altLang="en-US" dirty="0" err="1" smtClean="0"/>
              <a:t>컨크리트</a:t>
            </a:r>
            <a:r>
              <a:rPr lang="ko-KR" altLang="en-US" dirty="0" smtClean="0"/>
              <a:t> 클래스에 의존하는 경우도 찾아내서 이런 의존 관계를 재조정할 전략을 결정하게 해준다</a:t>
            </a:r>
            <a:r>
              <a:rPr lang="en-US" altLang="ko-KR" dirty="0" smtClean="0"/>
              <a:t>.</a:t>
            </a:r>
          </a:p>
          <a:p>
            <a:r>
              <a:rPr lang="en-US" altLang="ko-KR" dirty="0" smtClean="0"/>
              <a:t>- UML </a:t>
            </a:r>
            <a:r>
              <a:rPr lang="ko-KR" altLang="en-US" dirty="0" smtClean="0"/>
              <a:t>실전에서는 이것만 쓴다</a:t>
            </a:r>
            <a:r>
              <a:rPr lang="en-US" altLang="ko-KR" dirty="0" smtClean="0"/>
              <a:t>. </a:t>
            </a:r>
            <a:r>
              <a:rPr lang="ko-KR" altLang="en-US" dirty="0" smtClean="0"/>
              <a:t>로버트 </a:t>
            </a:r>
            <a:r>
              <a:rPr lang="en-US" altLang="ko-KR" dirty="0" smtClean="0"/>
              <a:t>C.</a:t>
            </a:r>
            <a:r>
              <a:rPr lang="en-US" altLang="ko-KR" baseline="0" dirty="0" smtClean="0"/>
              <a:t> </a:t>
            </a:r>
            <a:r>
              <a:rPr lang="ko-KR" altLang="en-US" baseline="0" dirty="0" smtClean="0"/>
              <a:t>마틴</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53</a:t>
            </a:fld>
            <a:endParaRPr lang="ko-KR" altLang="en-US"/>
          </a:p>
        </p:txBody>
      </p:sp>
    </p:spTree>
    <p:extLst>
      <p:ext uri="{BB962C8B-B14F-4D97-AF65-F5344CB8AC3E}">
        <p14:creationId xmlns:p14="http://schemas.microsoft.com/office/powerpoint/2010/main" val="16069189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1" indent="0" algn="l" defTabSz="914400" rtl="0" eaLnBrk="1" fontAlgn="auto" latinLnBrk="1" hangingPunct="1">
              <a:lnSpc>
                <a:spcPct val="100000"/>
              </a:lnSpc>
              <a:spcBef>
                <a:spcPts val="0"/>
              </a:spcBef>
              <a:spcAft>
                <a:spcPts val="0"/>
              </a:spcAft>
              <a:buClrTx/>
              <a:buSzTx/>
              <a:buFontTx/>
              <a:buNone/>
              <a:tabLst/>
              <a:defRPr/>
            </a:pPr>
            <a:r>
              <a:rPr lang="en-US" altLang="ko-KR" sz="1300" dirty="0" smtClean="0"/>
              <a:t>Use case</a:t>
            </a:r>
            <a:r>
              <a:rPr lang="ko-KR" altLang="en-US" sz="1300" dirty="0" smtClean="0"/>
              <a:t>는 메인 시나리오와 확장 시나리오가 분리되어 서술되어</a:t>
            </a:r>
            <a:r>
              <a:rPr lang="en-US" altLang="ko-KR" sz="1300" dirty="0" smtClean="0"/>
              <a:t> </a:t>
            </a:r>
            <a:br>
              <a:rPr lang="en-US" altLang="ko-KR" sz="1300" dirty="0" smtClean="0"/>
            </a:br>
            <a:r>
              <a:rPr lang="ko-KR" altLang="en-US" sz="1300" dirty="0" smtClean="0"/>
              <a:t>확장 시나리오가 많거나 길면</a:t>
            </a:r>
            <a:r>
              <a:rPr lang="en-US" altLang="ko-KR" sz="1300" dirty="0" smtClean="0"/>
              <a:t>, </a:t>
            </a:r>
            <a:r>
              <a:rPr lang="ko-KR" altLang="en-US" sz="1300" dirty="0" smtClean="0"/>
              <a:t> 전체적인 흐름을 이해하는 것이 어려울 수 있습니다</a:t>
            </a:r>
            <a:r>
              <a:rPr lang="en-US" altLang="ko-KR" sz="1300" dirty="0" smtClean="0"/>
              <a:t>.</a:t>
            </a:r>
            <a:endParaRPr lang="ko-KR" altLang="en-US" sz="1300" dirty="0" smtClean="0"/>
          </a:p>
          <a:p>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54</a:t>
            </a:fld>
            <a:endParaRPr lang="ko-KR" altLang="en-US"/>
          </a:p>
        </p:txBody>
      </p:sp>
    </p:spTree>
    <p:extLst>
      <p:ext uri="{BB962C8B-B14F-4D97-AF65-F5344CB8AC3E}">
        <p14:creationId xmlns:p14="http://schemas.microsoft.com/office/powerpoint/2010/main" val="15575639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http://www.nextree.co.kr/p6753/</a:t>
            </a:r>
          </a:p>
          <a:p>
            <a:endParaRPr lang="en-US" altLang="ko-KR" dirty="0" smtClean="0"/>
          </a:p>
          <a:p>
            <a:r>
              <a:rPr lang="ko-KR" altLang="en-US" dirty="0" smtClean="0"/>
              <a:t>이 클래스 다이어그램은 굉장히 유용하다</a:t>
            </a:r>
            <a:r>
              <a:rPr lang="en-US" altLang="ko-KR" dirty="0" smtClean="0"/>
              <a:t>. </a:t>
            </a:r>
            <a:r>
              <a:rPr lang="ko-KR" altLang="en-US" dirty="0" smtClean="0"/>
              <a:t>소스코드를 보고 시스템 구성 요소들의 상호 의존 구조를 평가하기보다 </a:t>
            </a:r>
            <a:r>
              <a:rPr lang="ko-KR" altLang="en-US" dirty="0" err="1" smtClean="0"/>
              <a:t>다이그램을</a:t>
            </a:r>
            <a:r>
              <a:rPr lang="ko-KR" altLang="en-US" dirty="0" smtClean="0"/>
              <a:t> 보고 평가하기가 훨씬 쉽다</a:t>
            </a:r>
            <a:r>
              <a:rPr lang="en-US" altLang="ko-KR" dirty="0" smtClean="0"/>
              <a:t>. </a:t>
            </a:r>
            <a:r>
              <a:rPr lang="ko-KR" altLang="en-US" dirty="0" smtClean="0"/>
              <a:t>다이어그램은 의존 관계의 구조를 명확히 보게 해주며</a:t>
            </a:r>
            <a:r>
              <a:rPr lang="en-US" altLang="ko-KR" dirty="0" smtClean="0"/>
              <a:t>, </a:t>
            </a:r>
            <a:r>
              <a:rPr lang="ko-KR" altLang="en-US" dirty="0" smtClean="0"/>
              <a:t>순환 의존이 발생하는 지점을 찾아내서 어떻게 이 순환 고리를 깨는 것이 가장 좋은지 결정할 수 있게 해준다</a:t>
            </a:r>
            <a:r>
              <a:rPr lang="en-US" altLang="ko-KR" dirty="0" smtClean="0"/>
              <a:t>. </a:t>
            </a:r>
            <a:r>
              <a:rPr lang="ko-KR" altLang="en-US" dirty="0" smtClean="0"/>
              <a:t>그리고 추상 클래스가 </a:t>
            </a:r>
            <a:r>
              <a:rPr lang="ko-KR" altLang="en-US" dirty="0" err="1" smtClean="0"/>
              <a:t>컨크리트</a:t>
            </a:r>
            <a:r>
              <a:rPr lang="ko-KR" altLang="en-US" dirty="0" smtClean="0"/>
              <a:t> 클래스에 의존하는 경우도 찾아내서 이런 의존 관계를 재조정할 전략을 결정하게 해준다</a:t>
            </a:r>
            <a:r>
              <a:rPr lang="en-US" altLang="ko-KR" dirty="0" smtClean="0"/>
              <a:t>.</a:t>
            </a:r>
          </a:p>
          <a:p>
            <a:r>
              <a:rPr lang="en-US" altLang="ko-KR" dirty="0" smtClean="0"/>
              <a:t>- UML </a:t>
            </a:r>
            <a:r>
              <a:rPr lang="ko-KR" altLang="en-US" dirty="0" smtClean="0"/>
              <a:t>실전에서는 이것만 쓴다</a:t>
            </a:r>
            <a:r>
              <a:rPr lang="en-US" altLang="ko-KR" dirty="0" smtClean="0"/>
              <a:t>. </a:t>
            </a:r>
            <a:r>
              <a:rPr lang="ko-KR" altLang="en-US" dirty="0" smtClean="0"/>
              <a:t>로버트 </a:t>
            </a:r>
            <a:r>
              <a:rPr lang="en-US" altLang="ko-KR" dirty="0" smtClean="0"/>
              <a:t>C.</a:t>
            </a:r>
            <a:r>
              <a:rPr lang="en-US" altLang="ko-KR" baseline="0" dirty="0" smtClean="0"/>
              <a:t> </a:t>
            </a:r>
            <a:r>
              <a:rPr lang="ko-KR" altLang="en-US" baseline="0" dirty="0" smtClean="0"/>
              <a:t>마틴</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56</a:t>
            </a:fld>
            <a:endParaRPr lang="ko-KR" altLang="en-US"/>
          </a:p>
        </p:txBody>
      </p:sp>
    </p:spTree>
    <p:extLst>
      <p:ext uri="{BB962C8B-B14F-4D97-AF65-F5344CB8AC3E}">
        <p14:creationId xmlns:p14="http://schemas.microsoft.com/office/powerpoint/2010/main" val="16069189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57</a:t>
            </a:fld>
            <a:endParaRPr lang="ko-KR" altLang="en-US"/>
          </a:p>
        </p:txBody>
      </p:sp>
    </p:spTree>
    <p:extLst>
      <p:ext uri="{BB962C8B-B14F-4D97-AF65-F5344CB8AC3E}">
        <p14:creationId xmlns:p14="http://schemas.microsoft.com/office/powerpoint/2010/main" val="5857089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http://www.nextree.co.kr/p6753/</a:t>
            </a:r>
          </a:p>
          <a:p>
            <a:endParaRPr lang="en-US" altLang="ko-KR" dirty="0" smtClean="0"/>
          </a:p>
          <a:p>
            <a:r>
              <a:rPr lang="ko-KR" altLang="en-US" dirty="0" smtClean="0"/>
              <a:t>이 클래스 다이어그램은 굉장히 유용하다</a:t>
            </a:r>
            <a:r>
              <a:rPr lang="en-US" altLang="ko-KR" dirty="0" smtClean="0"/>
              <a:t>. </a:t>
            </a:r>
            <a:r>
              <a:rPr lang="ko-KR" altLang="en-US" dirty="0" smtClean="0"/>
              <a:t>소스코드를 보고 시스템 구성 요소들의 상호 의존 구조를 평가하기보다 </a:t>
            </a:r>
            <a:r>
              <a:rPr lang="ko-KR" altLang="en-US" dirty="0" err="1" smtClean="0"/>
              <a:t>다이그램을</a:t>
            </a:r>
            <a:r>
              <a:rPr lang="ko-KR" altLang="en-US" dirty="0" smtClean="0"/>
              <a:t> 보고 평가하기가 훨씬 쉽다</a:t>
            </a:r>
            <a:r>
              <a:rPr lang="en-US" altLang="ko-KR" dirty="0" smtClean="0"/>
              <a:t>. </a:t>
            </a:r>
            <a:r>
              <a:rPr lang="ko-KR" altLang="en-US" dirty="0" smtClean="0"/>
              <a:t>다이어그램은 의존 관계의 구조를 명확히 보게 해주며</a:t>
            </a:r>
            <a:r>
              <a:rPr lang="en-US" altLang="ko-KR" dirty="0" smtClean="0"/>
              <a:t>, </a:t>
            </a:r>
            <a:r>
              <a:rPr lang="ko-KR" altLang="en-US" dirty="0" smtClean="0"/>
              <a:t>순환 의존이 발생하는 지점을 찾아내서 어떻게 이 순환 고리를 깨는 것이 가장 좋은지 결정할 수 있게 해준다</a:t>
            </a:r>
            <a:r>
              <a:rPr lang="en-US" altLang="ko-KR" dirty="0" smtClean="0"/>
              <a:t>. </a:t>
            </a:r>
            <a:r>
              <a:rPr lang="ko-KR" altLang="en-US" dirty="0" smtClean="0"/>
              <a:t>그리고 추상 클래스가 </a:t>
            </a:r>
            <a:r>
              <a:rPr lang="ko-KR" altLang="en-US" dirty="0" err="1" smtClean="0"/>
              <a:t>컨크리트</a:t>
            </a:r>
            <a:r>
              <a:rPr lang="ko-KR" altLang="en-US" dirty="0" smtClean="0"/>
              <a:t> 클래스에 의존하는 경우도 찾아내서 이런 의존 관계를 재조정할 전략을 결정하게 해준다</a:t>
            </a:r>
            <a:r>
              <a:rPr lang="en-US" altLang="ko-KR" dirty="0" smtClean="0"/>
              <a:t>.</a:t>
            </a:r>
          </a:p>
          <a:p>
            <a:r>
              <a:rPr lang="en-US" altLang="ko-KR" dirty="0" smtClean="0"/>
              <a:t>- UML </a:t>
            </a:r>
            <a:r>
              <a:rPr lang="ko-KR" altLang="en-US" dirty="0" smtClean="0"/>
              <a:t>실전에서는 이것만 쓴다</a:t>
            </a:r>
            <a:r>
              <a:rPr lang="en-US" altLang="ko-KR" dirty="0" smtClean="0"/>
              <a:t>. </a:t>
            </a:r>
            <a:r>
              <a:rPr lang="ko-KR" altLang="en-US" dirty="0" smtClean="0"/>
              <a:t>로버트 </a:t>
            </a:r>
            <a:r>
              <a:rPr lang="en-US" altLang="ko-KR" dirty="0" smtClean="0"/>
              <a:t>C.</a:t>
            </a:r>
            <a:r>
              <a:rPr lang="en-US" altLang="ko-KR" baseline="0" dirty="0" smtClean="0"/>
              <a:t> </a:t>
            </a:r>
            <a:r>
              <a:rPr lang="ko-KR" altLang="en-US" baseline="0" dirty="0" smtClean="0"/>
              <a:t>마틴</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63</a:t>
            </a:fld>
            <a:endParaRPr lang="ko-KR" altLang="en-US"/>
          </a:p>
        </p:txBody>
      </p:sp>
    </p:spTree>
    <p:extLst>
      <p:ext uri="{BB962C8B-B14F-4D97-AF65-F5344CB8AC3E}">
        <p14:creationId xmlns:p14="http://schemas.microsoft.com/office/powerpoint/2010/main" val="16069189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64</a:t>
            </a:fld>
            <a:endParaRPr lang="ko-KR" altLang="en-US"/>
          </a:p>
        </p:txBody>
      </p:sp>
    </p:spTree>
    <p:extLst>
      <p:ext uri="{BB962C8B-B14F-4D97-AF65-F5344CB8AC3E}">
        <p14:creationId xmlns:p14="http://schemas.microsoft.com/office/powerpoint/2010/main" val="7935718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ko-KR" sz="12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Abstract Class/Method</a:t>
            </a:r>
          </a:p>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65</a:t>
            </a:fld>
            <a:endParaRPr lang="ko-KR" altLang="en-US"/>
          </a:p>
        </p:txBody>
      </p:sp>
    </p:spTree>
    <p:extLst>
      <p:ext uri="{BB962C8B-B14F-4D97-AF65-F5344CB8AC3E}">
        <p14:creationId xmlns:p14="http://schemas.microsoft.com/office/powerpoint/2010/main" val="23294356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baseline="0" dirty="0" smtClean="0"/>
          </a:p>
          <a:p>
            <a:r>
              <a:rPr lang="ko-KR" altLang="ko-KR" dirty="0" smtClean="0"/>
              <a:t>클래스가 다른 클래스의 컬렉션 또는 컨테이너인 경우 집계가 발생할 수 있지만 포함된 클래스가 컨테이너에 대한 강력한 수명 주기 종속성을 갖지 않는 경우(기본적으로 컨테이너가 파괴되더라도 해당 콘텐츠는 그렇지 않습니다.) 집계와 연관 사이에 혼동이 있을 수 있습니다. 연관은 포함을 의미하지 않는다는 점에서만 집계와 다릅니다.</a:t>
            </a:r>
            <a:endParaRPr lang="en-US" altLang="ko-KR" dirty="0" smtClean="0"/>
          </a:p>
          <a:p>
            <a:r>
              <a:rPr lang="ko-KR" altLang="en-US" dirty="0" err="1" smtClean="0"/>
              <a:t>다수성</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66</a:t>
            </a:fld>
            <a:endParaRPr lang="ko-KR" altLang="en-US"/>
          </a:p>
        </p:txBody>
      </p:sp>
    </p:spTree>
    <p:extLst>
      <p:ext uri="{BB962C8B-B14F-4D97-AF65-F5344CB8AC3E}">
        <p14:creationId xmlns:p14="http://schemas.microsoft.com/office/powerpoint/2010/main" val="32170553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67</a:t>
            </a:fld>
            <a:endParaRPr lang="ko-KR" altLang="en-US"/>
          </a:p>
        </p:txBody>
      </p:sp>
    </p:spTree>
    <p:extLst>
      <p:ext uri="{BB962C8B-B14F-4D97-AF65-F5344CB8AC3E}">
        <p14:creationId xmlns:p14="http://schemas.microsoft.com/office/powerpoint/2010/main" val="437769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68</a:t>
            </a:fld>
            <a:endParaRPr lang="ko-KR" altLang="en-US"/>
          </a:p>
        </p:txBody>
      </p:sp>
    </p:spTree>
    <p:extLst>
      <p:ext uri="{BB962C8B-B14F-4D97-AF65-F5344CB8AC3E}">
        <p14:creationId xmlns:p14="http://schemas.microsoft.com/office/powerpoint/2010/main" val="474989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69</a:t>
            </a:fld>
            <a:endParaRPr lang="ko-KR" altLang="en-US"/>
          </a:p>
        </p:txBody>
      </p:sp>
    </p:spTree>
    <p:extLst>
      <p:ext uri="{BB962C8B-B14F-4D97-AF65-F5344CB8AC3E}">
        <p14:creationId xmlns:p14="http://schemas.microsoft.com/office/powerpoint/2010/main" val="40441841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smtClean="0"/>
              <a:t>공유 될 수 있기 때문에 </a:t>
            </a:r>
            <a:r>
              <a:rPr lang="en-US" altLang="ko-KR" dirty="0" smtClean="0"/>
              <a:t>, C++</a:t>
            </a:r>
            <a:r>
              <a:rPr lang="ko-KR" altLang="en-US" dirty="0" smtClean="0"/>
              <a:t>에서는 포인터 멤버 변수로 표현이 되는 것이 맞다</a:t>
            </a:r>
            <a:r>
              <a:rPr lang="en-US" altLang="ko-KR" dirty="0" smtClean="0"/>
              <a:t>. </a:t>
            </a:r>
          </a:p>
          <a:p>
            <a:endParaRPr lang="en-US" altLang="ko-KR" dirty="0" smtClean="0"/>
          </a:p>
          <a:p>
            <a:r>
              <a:rPr lang="en-US" altLang="ko-KR" sz="1200" b="1" i="0" kern="1200" dirty="0" smtClean="0">
                <a:solidFill>
                  <a:schemeClr val="tx1"/>
                </a:solidFill>
                <a:effectLst/>
                <a:latin typeface="+mn-lt"/>
                <a:ea typeface="+mn-ea"/>
                <a:cs typeface="+mn-cs"/>
              </a:rPr>
              <a:t>Aggregation</a:t>
            </a:r>
            <a:r>
              <a:rPr lang="en-US" altLang="ko-KR" sz="1200" b="0" i="0" kern="1200" dirty="0" smtClean="0">
                <a:solidFill>
                  <a:schemeClr val="tx1"/>
                </a:solidFill>
                <a:effectLst/>
                <a:latin typeface="+mn-lt"/>
                <a:ea typeface="+mn-ea"/>
                <a:cs typeface="+mn-cs"/>
              </a:rPr>
              <a:t> and </a:t>
            </a:r>
            <a:r>
              <a:rPr lang="en-US" altLang="ko-KR" sz="1200" b="1" i="0" kern="1200" dirty="0" smtClean="0">
                <a:solidFill>
                  <a:schemeClr val="tx1"/>
                </a:solidFill>
                <a:effectLst/>
                <a:latin typeface="+mn-lt"/>
                <a:ea typeface="+mn-ea"/>
                <a:cs typeface="+mn-cs"/>
              </a:rPr>
              <a:t>Composition</a:t>
            </a:r>
            <a:r>
              <a:rPr lang="en-US" altLang="ko-KR" sz="1200" b="0" i="0" kern="1200" dirty="0" smtClean="0">
                <a:solidFill>
                  <a:schemeClr val="tx1"/>
                </a:solidFill>
                <a:effectLst/>
                <a:latin typeface="+mn-lt"/>
                <a:ea typeface="+mn-ea"/>
                <a:cs typeface="+mn-cs"/>
              </a:rPr>
              <a:t> are subsets of association meaning they are </a:t>
            </a:r>
            <a:r>
              <a:rPr lang="en-US" altLang="ko-KR" sz="1200" b="1" i="0" kern="1200" dirty="0" smtClean="0">
                <a:solidFill>
                  <a:schemeClr val="tx1"/>
                </a:solidFill>
                <a:effectLst/>
                <a:latin typeface="+mn-lt"/>
                <a:ea typeface="+mn-ea"/>
                <a:cs typeface="+mn-cs"/>
              </a:rPr>
              <a:t>specific cases of association</a:t>
            </a:r>
            <a:r>
              <a:rPr lang="en-US" altLang="ko-KR" sz="1200" b="0" i="0" kern="1200" dirty="0" smtClean="0">
                <a:solidFill>
                  <a:schemeClr val="tx1"/>
                </a:solidFill>
                <a:effectLst/>
                <a:latin typeface="+mn-lt"/>
                <a:ea typeface="+mn-ea"/>
                <a:cs typeface="+mn-cs"/>
              </a:rPr>
              <a:t>. In both aggregation and composition object of one class "owns" object of another class. But there is a subtle difference:</a:t>
            </a:r>
          </a:p>
          <a:p>
            <a:r>
              <a:rPr lang="en-US" altLang="ko-KR" sz="1200" b="1" i="0" kern="1200" dirty="0" smtClean="0">
                <a:solidFill>
                  <a:schemeClr val="tx1"/>
                </a:solidFill>
                <a:effectLst/>
                <a:latin typeface="+mn-lt"/>
                <a:ea typeface="+mn-ea"/>
                <a:cs typeface="+mn-cs"/>
              </a:rPr>
              <a:t>Aggregation</a:t>
            </a:r>
            <a:r>
              <a:rPr lang="en-US" altLang="ko-KR" sz="1200" b="0" i="0" kern="1200" dirty="0" smtClean="0">
                <a:solidFill>
                  <a:schemeClr val="tx1"/>
                </a:solidFill>
                <a:effectLst/>
                <a:latin typeface="+mn-lt"/>
                <a:ea typeface="+mn-ea"/>
                <a:cs typeface="+mn-cs"/>
              </a:rPr>
              <a:t> implies a relationship where the child can exist independently of the parent. Example: Class (parent) and Student (child). Delete the Class and the Students still exist.</a:t>
            </a:r>
          </a:p>
          <a:p>
            <a:r>
              <a:rPr lang="en-US" altLang="ko-KR" sz="1200" b="1" i="0" kern="1200" dirty="0" smtClean="0">
                <a:solidFill>
                  <a:schemeClr val="tx1"/>
                </a:solidFill>
                <a:effectLst/>
                <a:latin typeface="+mn-lt"/>
                <a:ea typeface="+mn-ea"/>
                <a:cs typeface="+mn-cs"/>
              </a:rPr>
              <a:t>Composition</a:t>
            </a:r>
            <a:r>
              <a:rPr lang="en-US" altLang="ko-KR" sz="1200" b="0" i="0" kern="1200" dirty="0" smtClean="0">
                <a:solidFill>
                  <a:schemeClr val="tx1"/>
                </a:solidFill>
                <a:effectLst/>
                <a:latin typeface="+mn-lt"/>
                <a:ea typeface="+mn-ea"/>
                <a:cs typeface="+mn-cs"/>
              </a:rPr>
              <a:t> implies a relationship where the child cannot exist independent of the parent. Example: House (parent) and Room (child). Rooms don't exist separate to a House.</a:t>
            </a:r>
          </a:p>
          <a:p>
            <a:r>
              <a:rPr lang="en-US" altLang="ko-KR" dirty="0" smtClean="0"/>
              <a:t/>
            </a:r>
            <a:br>
              <a:rPr lang="en-US" altLang="ko-KR" dirty="0" smtClean="0"/>
            </a:b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70</a:t>
            </a:fld>
            <a:endParaRPr lang="ko-KR" altLang="en-US"/>
          </a:p>
        </p:txBody>
      </p:sp>
    </p:spTree>
    <p:extLst>
      <p:ext uri="{BB962C8B-B14F-4D97-AF65-F5344CB8AC3E}">
        <p14:creationId xmlns:p14="http://schemas.microsoft.com/office/powerpoint/2010/main" val="26657898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72</a:t>
            </a:fld>
            <a:endParaRPr lang="ko-KR" altLang="en-US"/>
          </a:p>
        </p:txBody>
      </p:sp>
    </p:spTree>
    <p:extLst>
      <p:ext uri="{BB962C8B-B14F-4D97-AF65-F5344CB8AC3E}">
        <p14:creationId xmlns:p14="http://schemas.microsoft.com/office/powerpoint/2010/main" val="32419098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73</a:t>
            </a:fld>
            <a:endParaRPr lang="ko-KR" altLang="en-US"/>
          </a:p>
        </p:txBody>
      </p:sp>
    </p:spTree>
    <p:extLst>
      <p:ext uri="{BB962C8B-B14F-4D97-AF65-F5344CB8AC3E}">
        <p14:creationId xmlns:p14="http://schemas.microsoft.com/office/powerpoint/2010/main" val="26715193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74</a:t>
            </a:fld>
            <a:endParaRPr lang="ko-KR" altLang="en-US"/>
          </a:p>
        </p:txBody>
      </p:sp>
    </p:spTree>
    <p:extLst>
      <p:ext uri="{BB962C8B-B14F-4D97-AF65-F5344CB8AC3E}">
        <p14:creationId xmlns:p14="http://schemas.microsoft.com/office/powerpoint/2010/main" val="37756015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http://www.nextree.co.kr/p6753/</a:t>
            </a:r>
          </a:p>
          <a:p>
            <a:endParaRPr lang="en-US" altLang="ko-KR" dirty="0" smtClean="0"/>
          </a:p>
          <a:p>
            <a:r>
              <a:rPr lang="ko-KR" altLang="en-US" dirty="0" smtClean="0"/>
              <a:t>이 클래스 다이어그램은 굉장히 유용하다</a:t>
            </a:r>
            <a:r>
              <a:rPr lang="en-US" altLang="ko-KR" dirty="0" smtClean="0"/>
              <a:t>. </a:t>
            </a:r>
            <a:r>
              <a:rPr lang="ko-KR" altLang="en-US" dirty="0" smtClean="0"/>
              <a:t>소스코드를 보고 시스템 구성 요소들의 상호 의존 구조를 평가하기보다 </a:t>
            </a:r>
            <a:r>
              <a:rPr lang="ko-KR" altLang="en-US" dirty="0" err="1" smtClean="0"/>
              <a:t>다이그램을</a:t>
            </a:r>
            <a:r>
              <a:rPr lang="ko-KR" altLang="en-US" dirty="0" smtClean="0"/>
              <a:t> 보고 평가하기가 훨씬 쉽다</a:t>
            </a:r>
            <a:r>
              <a:rPr lang="en-US" altLang="ko-KR" dirty="0" smtClean="0"/>
              <a:t>. </a:t>
            </a:r>
            <a:r>
              <a:rPr lang="ko-KR" altLang="en-US" dirty="0" smtClean="0"/>
              <a:t>다이어그램은 의존 관계의 구조를 명확히 보게 해주며</a:t>
            </a:r>
            <a:r>
              <a:rPr lang="en-US" altLang="ko-KR" dirty="0" smtClean="0"/>
              <a:t>, </a:t>
            </a:r>
            <a:r>
              <a:rPr lang="ko-KR" altLang="en-US" dirty="0" smtClean="0"/>
              <a:t>순환 의존이 발생하는 지점을 찾아내서 어떻게 이 순환 고리를 깨는 것이 가장 좋은지 결정할 수 있게 해준다</a:t>
            </a:r>
            <a:r>
              <a:rPr lang="en-US" altLang="ko-KR" dirty="0" smtClean="0"/>
              <a:t>. </a:t>
            </a:r>
            <a:r>
              <a:rPr lang="ko-KR" altLang="en-US" dirty="0" smtClean="0"/>
              <a:t>그리고 추상 클래스가 </a:t>
            </a:r>
            <a:r>
              <a:rPr lang="ko-KR" altLang="en-US" dirty="0" err="1" smtClean="0"/>
              <a:t>컨크리트</a:t>
            </a:r>
            <a:r>
              <a:rPr lang="ko-KR" altLang="en-US" dirty="0" smtClean="0"/>
              <a:t> 클래스에 의존하는 경우도 찾아내서 이런 의존 관계를 재조정할 전략을 결정하게 해준다</a:t>
            </a:r>
            <a:r>
              <a:rPr lang="en-US" altLang="ko-KR" dirty="0" smtClean="0"/>
              <a:t>.</a:t>
            </a:r>
          </a:p>
          <a:p>
            <a:r>
              <a:rPr lang="en-US" altLang="ko-KR" dirty="0" smtClean="0"/>
              <a:t>- UML </a:t>
            </a:r>
            <a:r>
              <a:rPr lang="ko-KR" altLang="en-US" dirty="0" smtClean="0"/>
              <a:t>실전에서는 이것만 쓴다</a:t>
            </a:r>
            <a:r>
              <a:rPr lang="en-US" altLang="ko-KR" dirty="0" smtClean="0"/>
              <a:t>. </a:t>
            </a:r>
            <a:r>
              <a:rPr lang="ko-KR" altLang="en-US" dirty="0" smtClean="0"/>
              <a:t>로버트 </a:t>
            </a:r>
            <a:r>
              <a:rPr lang="en-US" altLang="ko-KR" dirty="0" smtClean="0"/>
              <a:t>C.</a:t>
            </a:r>
            <a:r>
              <a:rPr lang="en-US" altLang="ko-KR" baseline="0" dirty="0" smtClean="0"/>
              <a:t> </a:t>
            </a:r>
            <a:r>
              <a:rPr lang="ko-KR" altLang="en-US" baseline="0" dirty="0" smtClean="0"/>
              <a:t>마틴</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75</a:t>
            </a:fld>
            <a:endParaRPr lang="ko-KR" altLang="en-US"/>
          </a:p>
        </p:txBody>
      </p:sp>
    </p:spTree>
    <p:extLst>
      <p:ext uri="{BB962C8B-B14F-4D97-AF65-F5344CB8AC3E}">
        <p14:creationId xmlns:p14="http://schemas.microsoft.com/office/powerpoint/2010/main" val="16069189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88</a:t>
            </a:fld>
            <a:endParaRPr lang="ko-KR" altLang="en-US"/>
          </a:p>
        </p:txBody>
      </p:sp>
    </p:spTree>
    <p:extLst>
      <p:ext uri="{BB962C8B-B14F-4D97-AF65-F5344CB8AC3E}">
        <p14:creationId xmlns:p14="http://schemas.microsoft.com/office/powerpoint/2010/main" val="14713291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89</a:t>
            </a:fld>
            <a:endParaRPr lang="ko-KR" altLang="en-US"/>
          </a:p>
        </p:txBody>
      </p:sp>
    </p:spTree>
    <p:extLst>
      <p:ext uri="{BB962C8B-B14F-4D97-AF65-F5344CB8AC3E}">
        <p14:creationId xmlns:p14="http://schemas.microsoft.com/office/powerpoint/2010/main" val="19361549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90</a:t>
            </a:fld>
            <a:endParaRPr lang="ko-KR" altLang="en-US"/>
          </a:p>
        </p:txBody>
      </p:sp>
    </p:spTree>
    <p:extLst>
      <p:ext uri="{BB962C8B-B14F-4D97-AF65-F5344CB8AC3E}">
        <p14:creationId xmlns:p14="http://schemas.microsoft.com/office/powerpoint/2010/main" val="7530818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91</a:t>
            </a:fld>
            <a:endParaRPr lang="ko-KR" altLang="en-US"/>
          </a:p>
        </p:txBody>
      </p:sp>
    </p:spTree>
    <p:extLst>
      <p:ext uri="{BB962C8B-B14F-4D97-AF65-F5344CB8AC3E}">
        <p14:creationId xmlns:p14="http://schemas.microsoft.com/office/powerpoint/2010/main" val="38267240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EA 15.1</a:t>
            </a:r>
          </a:p>
          <a:p>
            <a:r>
              <a:rPr lang="en-US" altLang="ko-KR" dirty="0" smtClean="0"/>
              <a:t>Action</a:t>
            </a:r>
            <a:r>
              <a:rPr lang="ko-KR" altLang="en-US" dirty="0" smtClean="0"/>
              <a:t>을 </a:t>
            </a:r>
            <a:r>
              <a:rPr lang="en-US" altLang="ko-KR" dirty="0" smtClean="0"/>
              <a:t>Object Flow</a:t>
            </a:r>
            <a:r>
              <a:rPr lang="ko-KR" altLang="en-US" dirty="0" smtClean="0"/>
              <a:t>를 사용하여 연결 시 자동으로 </a:t>
            </a:r>
            <a:r>
              <a:rPr lang="en-US" altLang="ko-KR" dirty="0" smtClean="0"/>
              <a:t>action</a:t>
            </a:r>
            <a:r>
              <a:rPr lang="en-US" altLang="ko-KR" baseline="0" dirty="0" smtClean="0"/>
              <a:t> pin</a:t>
            </a:r>
            <a:r>
              <a:rPr lang="ko-KR" altLang="en-US" baseline="0" dirty="0" smtClean="0"/>
              <a:t>이 양쪽에 생성이 되며 연결이 됨</a:t>
            </a:r>
            <a:endParaRPr lang="en-US" altLang="ko-KR" baseline="0" dirty="0" smtClean="0"/>
          </a:p>
          <a:p>
            <a:r>
              <a:rPr lang="en-US" altLang="ko-KR" baseline="0" dirty="0" smtClean="0"/>
              <a:t>Activity</a:t>
            </a:r>
            <a:r>
              <a:rPr lang="ko-KR" altLang="en-US" baseline="0" dirty="0" smtClean="0"/>
              <a:t>를 </a:t>
            </a:r>
            <a:r>
              <a:rPr lang="en-US" altLang="ko-KR" baseline="0" dirty="0" smtClean="0"/>
              <a:t>Object Flow</a:t>
            </a:r>
            <a:r>
              <a:rPr lang="ko-KR" altLang="en-US" baseline="0" dirty="0" smtClean="0"/>
              <a:t>를 사용하여 연결 시도 시 연결이 되지 않음</a:t>
            </a:r>
            <a:r>
              <a:rPr lang="en-US" altLang="ko-KR" baseline="0" dirty="0" smtClean="0"/>
              <a:t>, action pin</a:t>
            </a:r>
            <a:r>
              <a:rPr lang="ko-KR" altLang="en-US" baseline="0" dirty="0" smtClean="0"/>
              <a:t>을 먼저 입력 후 연결하거나 데이터를 설정한 </a:t>
            </a:r>
            <a:r>
              <a:rPr lang="en-US" altLang="ko-KR" baseline="0" dirty="0" smtClean="0"/>
              <a:t>object node</a:t>
            </a:r>
            <a:r>
              <a:rPr lang="ko-KR" altLang="en-US" baseline="0" dirty="0" smtClean="0"/>
              <a:t>일 때 사용이 가능함 </a:t>
            </a:r>
            <a:r>
              <a:rPr lang="en-US" altLang="ko-KR" baseline="0" dirty="0" smtClean="0"/>
              <a:t>(Activity</a:t>
            </a:r>
            <a:r>
              <a:rPr lang="ko-KR" altLang="en-US" baseline="0" dirty="0" smtClean="0"/>
              <a:t>에 </a:t>
            </a:r>
            <a:r>
              <a:rPr lang="en-US" altLang="ko-KR" baseline="0" dirty="0" smtClean="0"/>
              <a:t>control flow</a:t>
            </a:r>
            <a:r>
              <a:rPr lang="ko-KR" altLang="en-US" baseline="0" dirty="0" smtClean="0"/>
              <a:t>연결 방법과 동일</a:t>
            </a:r>
            <a:r>
              <a:rPr lang="en-US" altLang="ko-KR" baseline="0" dirty="0" smtClean="0"/>
              <a:t>) </a:t>
            </a:r>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92</a:t>
            </a:fld>
            <a:endParaRPr lang="ko-KR" altLang="en-US"/>
          </a:p>
        </p:txBody>
      </p:sp>
    </p:spTree>
    <p:extLst>
      <p:ext uri="{BB962C8B-B14F-4D97-AF65-F5344CB8AC3E}">
        <p14:creationId xmlns:p14="http://schemas.microsoft.com/office/powerpoint/2010/main" val="20177781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93</a:t>
            </a:fld>
            <a:endParaRPr lang="ko-KR" altLang="en-US"/>
          </a:p>
        </p:txBody>
      </p:sp>
    </p:spTree>
    <p:extLst>
      <p:ext uri="{BB962C8B-B14F-4D97-AF65-F5344CB8AC3E}">
        <p14:creationId xmlns:p14="http://schemas.microsoft.com/office/powerpoint/2010/main" val="36750153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94</a:t>
            </a:fld>
            <a:endParaRPr lang="ko-KR" altLang="en-US"/>
          </a:p>
        </p:txBody>
      </p:sp>
    </p:spTree>
    <p:extLst>
      <p:ext uri="{BB962C8B-B14F-4D97-AF65-F5344CB8AC3E}">
        <p14:creationId xmlns:p14="http://schemas.microsoft.com/office/powerpoint/2010/main" val="19340256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95</a:t>
            </a:fld>
            <a:endParaRPr lang="ko-KR" altLang="en-US"/>
          </a:p>
        </p:txBody>
      </p:sp>
    </p:spTree>
    <p:extLst>
      <p:ext uri="{BB962C8B-B14F-4D97-AF65-F5344CB8AC3E}">
        <p14:creationId xmlns:p14="http://schemas.microsoft.com/office/powerpoint/2010/main" val="27842624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97</a:t>
            </a:fld>
            <a:endParaRPr lang="ko-KR" altLang="en-US"/>
          </a:p>
        </p:txBody>
      </p:sp>
    </p:spTree>
    <p:extLst>
      <p:ext uri="{BB962C8B-B14F-4D97-AF65-F5344CB8AC3E}">
        <p14:creationId xmlns:p14="http://schemas.microsoft.com/office/powerpoint/2010/main" val="13663090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98</a:t>
            </a:fld>
            <a:endParaRPr lang="ko-KR" altLang="en-US"/>
          </a:p>
        </p:txBody>
      </p:sp>
    </p:spTree>
    <p:extLst>
      <p:ext uri="{BB962C8B-B14F-4D97-AF65-F5344CB8AC3E}">
        <p14:creationId xmlns:p14="http://schemas.microsoft.com/office/powerpoint/2010/main" val="20891951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99</a:t>
            </a:fld>
            <a:endParaRPr lang="ko-KR" altLang="en-US"/>
          </a:p>
        </p:txBody>
      </p:sp>
    </p:spTree>
    <p:extLst>
      <p:ext uri="{BB962C8B-B14F-4D97-AF65-F5344CB8AC3E}">
        <p14:creationId xmlns:p14="http://schemas.microsoft.com/office/powerpoint/2010/main" val="34110727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105</a:t>
            </a:fld>
            <a:endParaRPr lang="ko-KR" altLang="en-US"/>
          </a:p>
        </p:txBody>
      </p:sp>
    </p:spTree>
    <p:extLst>
      <p:ext uri="{BB962C8B-B14F-4D97-AF65-F5344CB8AC3E}">
        <p14:creationId xmlns:p14="http://schemas.microsoft.com/office/powerpoint/2010/main" val="9147808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 have seen a 50-person, 15M$ project succeed with just the main success scenario and a few failures marked, in a simple paragraph text form. This project had excellent in-team communications, which permitted them to work that way.</a:t>
            </a:r>
          </a:p>
          <a:p>
            <a:endParaRPr lang="en-US" altLang="ko-KR" dirty="0" smtClean="0"/>
          </a:p>
          <a:p>
            <a:r>
              <a:rPr lang="en-US" altLang="ko-KR" dirty="0" smtClean="0"/>
              <a:t>The Chrysler Comprehensive Compensation project team, building software to pay all of Chrysler's payroll using the "Extreme Programming" methodology, did not go further than just a sketch of functionality for each use case. They put so little into each use case that they called them "stories" rather than use cases, and wrote them on single cards.  Each story card was really a promise for a conversation between a requirements expert and a developer. Significantly, the entire team of 14 people sat in only two, large, adjacent rooms, and had excellent in-team communications.</a:t>
            </a:r>
            <a:endParaRPr lang="ko-KR" altLang="en-US" dirty="0"/>
          </a:p>
        </p:txBody>
      </p:sp>
      <p:sp>
        <p:nvSpPr>
          <p:cNvPr id="4" name="슬라이드 번호 개체 틀 3"/>
          <p:cNvSpPr>
            <a:spLocks noGrp="1"/>
          </p:cNvSpPr>
          <p:nvPr>
            <p:ph type="sldNum" sz="quarter" idx="10"/>
          </p:nvPr>
        </p:nvSpPr>
        <p:spPr/>
        <p:txBody>
          <a:bodyPr/>
          <a:lstStyle/>
          <a:p>
            <a:fld id="{C2723A25-6988-4880-9B02-B1245A972AE9}" type="slidenum">
              <a:rPr lang="ko-KR" altLang="en-US" smtClean="0"/>
              <a:t>108</a:t>
            </a:fld>
            <a:endParaRPr lang="ko-KR" altLang="en-US"/>
          </a:p>
        </p:txBody>
      </p:sp>
    </p:spTree>
    <p:extLst>
      <p:ext uri="{BB962C8B-B14F-4D97-AF65-F5344CB8AC3E}">
        <p14:creationId xmlns:p14="http://schemas.microsoft.com/office/powerpoint/2010/main" val="18930369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2E717C5-460F-4A32-8DBF-627906F5508C}" type="slidenum">
              <a:rPr lang="ko-KR" altLang="en-US" smtClean="0"/>
              <a:t>109</a:t>
            </a:fld>
            <a:endParaRPr lang="ko-KR" altLang="en-US"/>
          </a:p>
        </p:txBody>
      </p:sp>
    </p:spTree>
    <p:extLst>
      <p:ext uri="{BB962C8B-B14F-4D97-AF65-F5344CB8AC3E}">
        <p14:creationId xmlns:p14="http://schemas.microsoft.com/office/powerpoint/2010/main" val="1471329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bg>
      <p:bgPr>
        <a:gradFill>
          <a:gsLst>
            <a:gs pos="0">
              <a:srgbClr val="BBFFE6"/>
            </a:gs>
            <a:gs pos="100000">
              <a:srgbClr val="55CFD1"/>
            </a:gs>
          </a:gsLst>
          <a:lin ang="0" scaled="0"/>
        </a:gradFill>
        <a:effectLst/>
      </p:bgPr>
    </p:bg>
    <p:spTree>
      <p:nvGrpSpPr>
        <p:cNvPr id="1" name=""/>
        <p:cNvGrpSpPr/>
        <p:nvPr/>
      </p:nvGrpSpPr>
      <p:grpSpPr>
        <a:xfrm>
          <a:off x="0" y="0"/>
          <a:ext cx="0" cy="0"/>
          <a:chOff x="0" y="0"/>
          <a:chExt cx="0" cy="0"/>
        </a:xfrm>
      </p:grpSpPr>
      <p:grpSp>
        <p:nvGrpSpPr>
          <p:cNvPr id="12" name="그룹 11"/>
          <p:cNvGrpSpPr/>
          <p:nvPr userDrawn="1"/>
        </p:nvGrpSpPr>
        <p:grpSpPr>
          <a:xfrm>
            <a:off x="1355785" y="1122363"/>
            <a:ext cx="9027209" cy="4252575"/>
            <a:chOff x="956306" y="1185729"/>
            <a:chExt cx="9484030" cy="4486542"/>
          </a:xfrm>
        </p:grpSpPr>
        <p:sp>
          <p:nvSpPr>
            <p:cNvPr id="13" name="다이아몬드 12"/>
            <p:cNvSpPr/>
            <p:nvPr userDrawn="1"/>
          </p:nvSpPr>
          <p:spPr>
            <a:xfrm>
              <a:off x="3852729" y="1185729"/>
              <a:ext cx="4486542" cy="4486542"/>
            </a:xfrm>
            <a:prstGeom prst="diamond">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다이아몬드 13"/>
            <p:cNvSpPr/>
            <p:nvPr userDrawn="1"/>
          </p:nvSpPr>
          <p:spPr>
            <a:xfrm>
              <a:off x="4113020" y="1446020"/>
              <a:ext cx="3965960" cy="3965960"/>
            </a:xfrm>
            <a:prstGeom prst="diamond">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다이아몬드 14"/>
            <p:cNvSpPr/>
            <p:nvPr userDrawn="1"/>
          </p:nvSpPr>
          <p:spPr>
            <a:xfrm>
              <a:off x="2079833" y="2026243"/>
              <a:ext cx="2805513" cy="2805513"/>
            </a:xfrm>
            <a:prstGeom prst="diamond">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다이아몬드 15"/>
            <p:cNvSpPr/>
            <p:nvPr userDrawn="1"/>
          </p:nvSpPr>
          <p:spPr>
            <a:xfrm>
              <a:off x="7196805" y="2026243"/>
              <a:ext cx="2805513" cy="2805513"/>
            </a:xfrm>
            <a:prstGeom prst="diamond">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다이아몬드 16"/>
            <p:cNvSpPr/>
            <p:nvPr userDrawn="1"/>
          </p:nvSpPr>
          <p:spPr>
            <a:xfrm>
              <a:off x="7038617" y="3962042"/>
              <a:ext cx="666573" cy="666573"/>
            </a:xfrm>
            <a:prstGeom prst="diamond">
              <a:avLst/>
            </a:prstGeom>
            <a:solidFill>
              <a:schemeClr val="bg1">
                <a:alpha val="8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다이아몬드 17"/>
            <p:cNvSpPr/>
            <p:nvPr userDrawn="1"/>
          </p:nvSpPr>
          <p:spPr>
            <a:xfrm>
              <a:off x="7745693" y="4122010"/>
              <a:ext cx="491475" cy="506606"/>
            </a:xfrm>
            <a:prstGeom prst="diamond">
              <a:avLst/>
            </a:prstGeom>
            <a:solidFill>
              <a:schemeClr val="bg1">
                <a:alpha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다이아몬드 18"/>
            <p:cNvSpPr/>
            <p:nvPr userDrawn="1"/>
          </p:nvSpPr>
          <p:spPr>
            <a:xfrm>
              <a:off x="7657120" y="4375313"/>
              <a:ext cx="491475" cy="506606"/>
            </a:xfrm>
            <a:prstGeom prst="diamond">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다이아몬드 19"/>
            <p:cNvSpPr/>
            <p:nvPr userDrawn="1"/>
          </p:nvSpPr>
          <p:spPr>
            <a:xfrm>
              <a:off x="9510843" y="2804846"/>
              <a:ext cx="491475" cy="506606"/>
            </a:xfrm>
            <a:prstGeom prst="diamond">
              <a:avLst/>
            </a:prstGeom>
            <a:solidFill>
              <a:schemeClr val="bg1">
                <a:alpha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다이아몬드 20"/>
            <p:cNvSpPr/>
            <p:nvPr userDrawn="1"/>
          </p:nvSpPr>
          <p:spPr>
            <a:xfrm>
              <a:off x="9756580" y="1849386"/>
              <a:ext cx="491475" cy="506606"/>
            </a:xfrm>
            <a:prstGeom prst="diamond">
              <a:avLst/>
            </a:prstGeom>
            <a:solidFill>
              <a:schemeClr val="bg1">
                <a:alpha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다이아몬드 21"/>
            <p:cNvSpPr/>
            <p:nvPr userDrawn="1"/>
          </p:nvSpPr>
          <p:spPr>
            <a:xfrm>
              <a:off x="3693964" y="4201993"/>
              <a:ext cx="491475" cy="506606"/>
            </a:xfrm>
            <a:prstGeom prst="diamond">
              <a:avLst/>
            </a:prstGeom>
            <a:solidFill>
              <a:schemeClr val="bg1">
                <a:alpha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다이아몬드 22"/>
            <p:cNvSpPr/>
            <p:nvPr userDrawn="1"/>
          </p:nvSpPr>
          <p:spPr>
            <a:xfrm>
              <a:off x="4557089" y="5042508"/>
              <a:ext cx="491475" cy="506606"/>
            </a:xfrm>
            <a:prstGeom prst="diamond">
              <a:avLst/>
            </a:prstGeom>
            <a:solidFill>
              <a:schemeClr val="bg1">
                <a:alpha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다이아몬드 23"/>
            <p:cNvSpPr/>
            <p:nvPr userDrawn="1"/>
          </p:nvSpPr>
          <p:spPr>
            <a:xfrm>
              <a:off x="4350165" y="2355992"/>
              <a:ext cx="666573" cy="666573"/>
            </a:xfrm>
            <a:prstGeom prst="diamond">
              <a:avLst/>
            </a:prstGeom>
            <a:solidFill>
              <a:schemeClr val="bg1">
                <a:alpha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다이아몬드 24"/>
            <p:cNvSpPr/>
            <p:nvPr userDrawn="1"/>
          </p:nvSpPr>
          <p:spPr>
            <a:xfrm>
              <a:off x="2006838" y="2694686"/>
              <a:ext cx="666573" cy="666573"/>
            </a:xfrm>
            <a:prstGeom prst="diamond">
              <a:avLst/>
            </a:prstGeom>
            <a:solidFill>
              <a:schemeClr val="bg1">
                <a:alpha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다이아몬드 25"/>
            <p:cNvSpPr/>
            <p:nvPr userDrawn="1"/>
          </p:nvSpPr>
          <p:spPr>
            <a:xfrm>
              <a:off x="2531511" y="4789205"/>
              <a:ext cx="328169" cy="338272"/>
            </a:xfrm>
            <a:prstGeom prst="diamond">
              <a:avLst/>
            </a:prstGeom>
            <a:solidFill>
              <a:schemeClr val="bg1">
                <a:alpha val="8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다이아몬드 26"/>
            <p:cNvSpPr/>
            <p:nvPr userDrawn="1"/>
          </p:nvSpPr>
          <p:spPr>
            <a:xfrm>
              <a:off x="10112167" y="3623770"/>
              <a:ext cx="328169" cy="338272"/>
            </a:xfrm>
            <a:prstGeom prst="diamond">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다이아몬드 27"/>
            <p:cNvSpPr/>
            <p:nvPr userDrawn="1"/>
          </p:nvSpPr>
          <p:spPr>
            <a:xfrm>
              <a:off x="1567573" y="2635710"/>
              <a:ext cx="328169" cy="338272"/>
            </a:xfrm>
            <a:prstGeom prst="diamond">
              <a:avLst/>
            </a:prstGeom>
            <a:solidFill>
              <a:schemeClr val="bg1">
                <a:alpha val="8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다이아몬드 28"/>
            <p:cNvSpPr/>
            <p:nvPr userDrawn="1"/>
          </p:nvSpPr>
          <p:spPr>
            <a:xfrm>
              <a:off x="956306" y="3090727"/>
              <a:ext cx="328169" cy="338272"/>
            </a:xfrm>
            <a:prstGeom prst="diamond">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60741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bg>
      <p:bgPr>
        <a:solidFill>
          <a:srgbClr val="4B46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291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7_사용자 지정 레이아웃">
    <p:spTree>
      <p:nvGrpSpPr>
        <p:cNvPr id="1" name=""/>
        <p:cNvGrpSpPr/>
        <p:nvPr/>
      </p:nvGrpSpPr>
      <p:grpSpPr>
        <a:xfrm>
          <a:off x="0" y="0"/>
          <a:ext cx="0" cy="0"/>
          <a:chOff x="0" y="0"/>
          <a:chExt cx="0" cy="0"/>
        </a:xfrm>
      </p:grpSpPr>
      <p:sp>
        <p:nvSpPr>
          <p:cNvPr id="8" name="직사각형 7"/>
          <p:cNvSpPr/>
          <p:nvPr userDrawn="1"/>
        </p:nvSpPr>
        <p:spPr>
          <a:xfrm>
            <a:off x="408000" y="581440"/>
            <a:ext cx="11376000" cy="45719"/>
          </a:xfrm>
          <a:prstGeom prst="rect">
            <a:avLst/>
          </a:prstGeom>
          <a:gradFill flip="none" rotWithShape="1">
            <a:gsLst>
              <a:gs pos="0">
                <a:srgbClr val="55CFD1">
                  <a:shade val="30000"/>
                  <a:satMod val="115000"/>
                </a:srgbClr>
              </a:gs>
              <a:gs pos="50000">
                <a:srgbClr val="55CFD1">
                  <a:shade val="67500"/>
                  <a:satMod val="115000"/>
                </a:srgbClr>
              </a:gs>
              <a:gs pos="100000">
                <a:srgbClr val="55CFD1">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ko-KR" altLang="en-US" sz="1200" dirty="0" smtClean="0">
              <a:solidFill>
                <a:schemeClr val="tx1">
                  <a:lumMod val="75000"/>
                </a:schemeClr>
              </a:solidFill>
            </a:endParaRPr>
          </a:p>
        </p:txBody>
      </p:sp>
      <p:sp>
        <p:nvSpPr>
          <p:cNvPr id="18" name="텍스트 개체 틀 17"/>
          <p:cNvSpPr>
            <a:spLocks noGrp="1"/>
          </p:cNvSpPr>
          <p:nvPr>
            <p:ph type="body" sz="quarter" idx="10"/>
          </p:nvPr>
        </p:nvSpPr>
        <p:spPr>
          <a:xfrm>
            <a:off x="408001" y="765138"/>
            <a:ext cx="11376000" cy="1439862"/>
          </a:xfrm>
          <a:prstGeom prst="rect">
            <a:avLst/>
          </a:prstGeom>
        </p:spPr>
        <p:txBody>
          <a:bodyPr wrap="none" lIns="36000" rIns="36000" rtlCol="0" anchor="t" anchorCtr="0">
            <a:normAutofit/>
          </a:bodyPr>
          <a:lstStyle>
            <a:lvl1pPr>
              <a:defRPr lang="ko-KR" altLang="en-US" sz="1800" smtClean="0"/>
            </a:lvl1pPr>
            <a:lvl2pPr>
              <a:defRPr lang="ko-KR" altLang="en-US" sz="1600" smtClean="0"/>
            </a:lvl2pPr>
            <a:lvl3pPr>
              <a:defRPr lang="ko-KR" altLang="en-US" sz="1400" smtClean="0"/>
            </a:lvl3pPr>
            <a:lvl4pPr>
              <a:defRPr lang="ko-KR" altLang="en-US" sz="1200" smtClean="0"/>
            </a:lvl4pPr>
            <a:lvl5pPr>
              <a:defRPr lang="ko-KR" altLang="en-US" sz="1100"/>
            </a:lvl5pPr>
          </a:lstStyle>
          <a:p>
            <a:pPr marL="285750" lvl="0" indent="-285750">
              <a:lnSpc>
                <a:spcPct val="120000"/>
              </a:lnSpc>
              <a:spcBef>
                <a:spcPct val="0"/>
              </a:spcBef>
              <a:buFont typeface="Wingdings" panose="05000000000000000000" pitchFamily="2" charset="2"/>
              <a:buChar char="§"/>
            </a:pPr>
            <a:r>
              <a:rPr lang="ko-KR" altLang="en-US" dirty="0" smtClean="0"/>
              <a:t>마스터 텍스트 스타일 편집</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
        <p:nvSpPr>
          <p:cNvPr id="19" name="제목 1"/>
          <p:cNvSpPr>
            <a:spLocks noGrp="1"/>
          </p:cNvSpPr>
          <p:nvPr>
            <p:ph type="title"/>
          </p:nvPr>
        </p:nvSpPr>
        <p:spPr>
          <a:xfrm>
            <a:off x="408000" y="156779"/>
            <a:ext cx="3589311" cy="424661"/>
          </a:xfrm>
          <a:prstGeom prst="rect">
            <a:avLst/>
          </a:prstGeom>
          <a:noFill/>
        </p:spPr>
        <p:txBody>
          <a:bodyPr wrap="none" lIns="91374" tIns="45685" rIns="91374" bIns="45685">
            <a:spAutoFit/>
          </a:bodyPr>
          <a:lstStyle>
            <a:lvl1pPr>
              <a:defRPr kumimoji="1" lang="ko-KR" altLang="en-US" sz="2400" b="1">
                <a:ln>
                  <a:solidFill>
                    <a:schemeClr val="bg1">
                      <a:lumMod val="85000"/>
                      <a:alpha val="0"/>
                    </a:schemeClr>
                  </a:solidFill>
                </a:ln>
                <a:solidFill>
                  <a:srgbClr val="4B465E"/>
                </a:solidFill>
                <a:latin typeface="맑은 고딕" pitchFamily="50" charset="-127"/>
                <a:ea typeface="+mn-ea"/>
                <a:cs typeface="Arial" panose="020B0604020202020204" pitchFamily="34" charset="0"/>
              </a:defRPr>
            </a:lvl1pPr>
          </a:lstStyle>
          <a:p>
            <a:pPr marL="0" lvl="0" defTabSz="912813" fontAlgn="base">
              <a:spcBef>
                <a:spcPts val="600"/>
              </a:spcBef>
              <a:spcAft>
                <a:spcPct val="0"/>
              </a:spcAft>
            </a:pPr>
            <a:r>
              <a:rPr lang="ko-KR" altLang="en-US" smtClean="0"/>
              <a:t>마스터 제목 스타일 편집</a:t>
            </a:r>
            <a:endParaRPr lang="ko-KR" altLang="en-US"/>
          </a:p>
        </p:txBody>
      </p:sp>
    </p:spTree>
    <p:extLst>
      <p:ext uri="{BB962C8B-B14F-4D97-AF65-F5344CB8AC3E}">
        <p14:creationId xmlns:p14="http://schemas.microsoft.com/office/powerpoint/2010/main" val="2607394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6443884"/>
            <a:ext cx="12192000" cy="447737"/>
          </a:xfrm>
          <a:prstGeom prst="rect">
            <a:avLst/>
          </a:prstGeom>
        </p:spPr>
      </p:pic>
      <p:sp>
        <p:nvSpPr>
          <p:cNvPr id="4" name="슬라이드 번호 개체 틀 2"/>
          <p:cNvSpPr>
            <a:spLocks noGrp="1"/>
          </p:cNvSpPr>
          <p:nvPr>
            <p:ph type="sldNum" sz="quarter" idx="4"/>
          </p:nvPr>
        </p:nvSpPr>
        <p:spPr>
          <a:xfrm>
            <a:off x="11712624" y="6669360"/>
            <a:ext cx="479376" cy="222261"/>
          </a:xfrm>
          <a:prstGeom prst="rect">
            <a:avLst/>
          </a:prstGeom>
        </p:spPr>
        <p:txBody>
          <a:bodyPr lIns="121917" tIns="60958" rIns="121917" bIns="60958"/>
          <a:lstStyle>
            <a:lvl1pPr marL="0" algn="ctr" defTabSz="1219170" rtl="0" eaLnBrk="1" latinLnBrk="1" hangingPunct="1">
              <a:defRPr lang="ko-KR" altLang="en-US" sz="12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Tree>
    <p:extLst>
      <p:ext uri="{BB962C8B-B14F-4D97-AF65-F5344CB8AC3E}">
        <p14:creationId xmlns:p14="http://schemas.microsoft.com/office/powerpoint/2010/main" val="3550224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사용자 지정 레이아웃">
    <p:spTree>
      <p:nvGrpSpPr>
        <p:cNvPr id="1" name=""/>
        <p:cNvGrpSpPr/>
        <p:nvPr/>
      </p:nvGrpSpPr>
      <p:grpSpPr>
        <a:xfrm>
          <a:off x="0" y="0"/>
          <a:ext cx="0" cy="0"/>
          <a:chOff x="0" y="0"/>
          <a:chExt cx="0" cy="0"/>
        </a:xfrm>
      </p:grpSpPr>
      <p:sp>
        <p:nvSpPr>
          <p:cNvPr id="3" name="직사각형 2"/>
          <p:cNvSpPr/>
          <p:nvPr userDrawn="1"/>
        </p:nvSpPr>
        <p:spPr>
          <a:xfrm flipV="1">
            <a:off x="0" y="6119161"/>
            <a:ext cx="12192000" cy="7417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ko-KR" altLang="en-US" sz="1200" smtClean="0">
              <a:solidFill>
                <a:schemeClr val="tx1"/>
              </a:solidFill>
            </a:endParaRPr>
          </a:p>
        </p:txBody>
      </p:sp>
    </p:spTree>
    <p:extLst>
      <p:ext uri="{BB962C8B-B14F-4D97-AF65-F5344CB8AC3E}">
        <p14:creationId xmlns:p14="http://schemas.microsoft.com/office/powerpoint/2010/main" val="2730473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내용 개체 틀 2"/>
          <p:cNvSpPr>
            <a:spLocks noGrp="1"/>
          </p:cNvSpPr>
          <p:nvPr>
            <p:ph idx="1"/>
          </p:nvPr>
        </p:nvSpPr>
        <p:spPr>
          <a:xfrm>
            <a:off x="335360" y="1211626"/>
            <a:ext cx="11617291" cy="5001683"/>
          </a:xfrm>
          <a:prstGeom prst="rect">
            <a:avLst/>
          </a:prstGeom>
        </p:spPr>
        <p:txBody>
          <a:bodyPr/>
          <a:lstStyle>
            <a:lvl1pPr marL="361942" indent="-239994">
              <a:lnSpc>
                <a:spcPct val="130000"/>
              </a:lnSpc>
              <a:spcAft>
                <a:spcPts val="667"/>
              </a:spcAft>
              <a:buClr>
                <a:schemeClr val="tx1">
                  <a:lumMod val="75000"/>
                  <a:lumOff val="25000"/>
                </a:schemeClr>
              </a:buClr>
              <a:buSzPct val="110000"/>
              <a:buFont typeface="Arial" panose="020B0604020202020204" pitchFamily="34" charset="0"/>
              <a:buChar char="•"/>
              <a:defRPr sz="2700" spc="-160" baseline="0">
                <a:latin typeface="맑은 고딕" panose="020B0503020000020004" pitchFamily="50" charset="-127"/>
                <a:ea typeface="맑은 고딕" panose="020B0503020000020004" pitchFamily="50" charset="-127"/>
              </a:defRPr>
            </a:lvl1pPr>
            <a:lvl2pPr marL="721766" indent="-239994">
              <a:lnSpc>
                <a:spcPct val="130000"/>
              </a:lnSpc>
              <a:spcAft>
                <a:spcPts val="667"/>
              </a:spcAft>
              <a:buClr>
                <a:schemeClr val="tx1">
                  <a:lumMod val="75000"/>
                  <a:lumOff val="25000"/>
                </a:schemeClr>
              </a:buClr>
              <a:buSzPct val="110000"/>
              <a:buFont typeface="Arial" panose="020B0604020202020204" pitchFamily="34" charset="0"/>
              <a:buChar char="•"/>
              <a:defRPr sz="2400" spc="-160" baseline="0">
                <a:latin typeface="맑은 고딕" panose="020B0503020000020004" pitchFamily="50" charset="-127"/>
                <a:ea typeface="맑은 고딕" panose="020B0503020000020004" pitchFamily="50" charset="-127"/>
              </a:defRPr>
            </a:lvl2pPr>
            <a:lvl3pPr marL="1073124" indent="-239994">
              <a:lnSpc>
                <a:spcPct val="130000"/>
              </a:lnSpc>
              <a:spcAft>
                <a:spcPts val="667"/>
              </a:spcAft>
              <a:buClr>
                <a:schemeClr val="tx1">
                  <a:lumMod val="75000"/>
                  <a:lumOff val="25000"/>
                </a:schemeClr>
              </a:buClr>
              <a:buSzPct val="110000"/>
              <a:buFont typeface="Arial" panose="020B0604020202020204" pitchFamily="34" charset="0"/>
              <a:buChar char="•"/>
              <a:defRPr sz="2000" spc="-160" baseline="0">
                <a:latin typeface="맑은 고딕" panose="020B0503020000020004" pitchFamily="50" charset="-127"/>
                <a:ea typeface="맑은 고딕" panose="020B0503020000020004" pitchFamily="50" charset="-127"/>
              </a:defRPr>
            </a:lvl3pPr>
            <a:lvl4pPr marL="1432948" indent="-239994">
              <a:lnSpc>
                <a:spcPct val="130000"/>
              </a:lnSpc>
              <a:spcAft>
                <a:spcPts val="667"/>
              </a:spcAft>
              <a:buClr>
                <a:schemeClr val="tx1">
                  <a:lumMod val="75000"/>
                  <a:lumOff val="25000"/>
                </a:schemeClr>
              </a:buClr>
              <a:buSzPct val="110000"/>
              <a:buFont typeface="Arial" panose="020B0604020202020204" pitchFamily="34" charset="0"/>
              <a:buChar char="•"/>
              <a:defRPr sz="1600" spc="-160" baseline="0">
                <a:latin typeface="맑은 고딕" panose="020B0503020000020004" pitchFamily="50" charset="-127"/>
                <a:ea typeface="맑은 고딕" panose="020B0503020000020004" pitchFamily="50" charset="-127"/>
              </a:defRPr>
            </a:lvl4pPr>
            <a:lvl5pPr marL="1794888" indent="-239994">
              <a:lnSpc>
                <a:spcPct val="130000"/>
              </a:lnSpc>
              <a:spcAft>
                <a:spcPts val="667"/>
              </a:spcAft>
              <a:buClr>
                <a:schemeClr val="tx1">
                  <a:lumMod val="75000"/>
                  <a:lumOff val="25000"/>
                </a:schemeClr>
              </a:buClr>
              <a:buSzPct val="110000"/>
              <a:buFont typeface="Arial" panose="020B0604020202020204" pitchFamily="34" charset="0"/>
              <a:buChar char="•"/>
              <a:defRPr sz="1300" spc="-160" baseline="0">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제목 1"/>
          <p:cNvSpPr>
            <a:spLocks noGrp="1"/>
          </p:cNvSpPr>
          <p:nvPr>
            <p:ph type="title"/>
          </p:nvPr>
        </p:nvSpPr>
        <p:spPr>
          <a:xfrm>
            <a:off x="527382" y="28842"/>
            <a:ext cx="11240293" cy="708708"/>
          </a:xfrm>
          <a:prstGeom prst="rect">
            <a:avLst/>
          </a:prstGeom>
        </p:spPr>
        <p:txBody>
          <a:bodyPr vert="horz" lIns="101233" tIns="50617" rIns="101233" bIns="50617" rtlCol="0" anchor="ctr">
            <a:normAutofit/>
          </a:bodyPr>
          <a:lstStyle>
            <a:lvl1pPr algn="l">
              <a:defRPr lang="ko-KR" altLang="en-US" sz="2700" b="1" kern="1200" spc="-133" baseline="0" dirty="0">
                <a:ln>
                  <a:solidFill>
                    <a:srgbClr val="2A2D72">
                      <a:alpha val="5000"/>
                    </a:srgbClr>
                  </a:solidFill>
                </a:ln>
                <a:solidFill>
                  <a:schemeClr val="bg1"/>
                </a:solidFill>
                <a:latin typeface="맑은 고딕" panose="020B0503020000020004" pitchFamily="50" charset="-127"/>
                <a:ea typeface="맑은 고딕" panose="020B0503020000020004" pitchFamily="50" charset="-127"/>
                <a:cs typeface="Arial" panose="020B0604020202020204" pitchFamily="34" charset="0"/>
              </a:defRPr>
            </a:lvl1pPr>
          </a:lstStyle>
          <a:p>
            <a:pPr lvl="0" algn="l" defTabSz="1012337" rtl="0" eaLnBrk="1" latinLnBrk="1" hangingPunct="1">
              <a:lnSpc>
                <a:spcPct val="100000"/>
              </a:lnSpc>
              <a:spcBef>
                <a:spcPct val="0"/>
              </a:spcBef>
              <a:buNone/>
            </a:pPr>
            <a:r>
              <a:rPr lang="ko-KR" altLang="en-US" dirty="0"/>
              <a:t>마스터 제목 스타일 편집</a:t>
            </a:r>
          </a:p>
        </p:txBody>
      </p:sp>
      <p:sp>
        <p:nvSpPr>
          <p:cNvPr id="10" name="슬라이드 번호 개체 틀 2"/>
          <p:cNvSpPr>
            <a:spLocks noGrp="1"/>
          </p:cNvSpPr>
          <p:nvPr>
            <p:ph type="sldNum" sz="quarter" idx="4"/>
          </p:nvPr>
        </p:nvSpPr>
        <p:spPr>
          <a:xfrm>
            <a:off x="5029936" y="6562303"/>
            <a:ext cx="1920000" cy="277872"/>
          </a:xfrm>
          <a:prstGeom prst="rect">
            <a:avLst/>
          </a:prstGeom>
        </p:spPr>
        <p:txBody>
          <a:bodyPr lIns="121917" tIns="60958" rIns="121917" bIns="60958"/>
          <a:lstStyle>
            <a:lvl1pPr marL="0" algn="ctr" defTabSz="1219170" rtl="0" eaLnBrk="1" latinLnBrk="1" hangingPunct="1">
              <a:defRPr lang="ko-KR" altLang="en-US" sz="17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Tree>
    <p:extLst>
      <p:ext uri="{BB962C8B-B14F-4D97-AF65-F5344CB8AC3E}">
        <p14:creationId xmlns:p14="http://schemas.microsoft.com/office/powerpoint/2010/main" val="1705380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내용 개체 틀 2"/>
          <p:cNvSpPr>
            <a:spLocks noGrp="1"/>
          </p:cNvSpPr>
          <p:nvPr>
            <p:ph idx="1"/>
          </p:nvPr>
        </p:nvSpPr>
        <p:spPr>
          <a:xfrm>
            <a:off x="335360" y="1211626"/>
            <a:ext cx="11617291" cy="5001683"/>
          </a:xfrm>
          <a:prstGeom prst="rect">
            <a:avLst/>
          </a:prstGeom>
        </p:spPr>
        <p:txBody>
          <a:bodyPr/>
          <a:lstStyle>
            <a:lvl1pPr marL="361942" indent="-239994">
              <a:lnSpc>
                <a:spcPct val="130000"/>
              </a:lnSpc>
              <a:spcAft>
                <a:spcPts val="667"/>
              </a:spcAft>
              <a:buClr>
                <a:schemeClr val="tx1">
                  <a:lumMod val="75000"/>
                  <a:lumOff val="25000"/>
                </a:schemeClr>
              </a:buClr>
              <a:buSzPct val="110000"/>
              <a:buFont typeface="Arial" panose="020B0604020202020204" pitchFamily="34" charset="0"/>
              <a:buChar char="•"/>
              <a:defRPr sz="2700" spc="-160" baseline="0">
                <a:latin typeface="맑은 고딕" panose="020B0503020000020004" pitchFamily="50" charset="-127"/>
                <a:ea typeface="맑은 고딕" panose="020B0503020000020004" pitchFamily="50" charset="-127"/>
              </a:defRPr>
            </a:lvl1pPr>
            <a:lvl2pPr marL="721766" indent="-239994">
              <a:lnSpc>
                <a:spcPct val="130000"/>
              </a:lnSpc>
              <a:spcAft>
                <a:spcPts val="667"/>
              </a:spcAft>
              <a:buClr>
                <a:schemeClr val="tx1">
                  <a:lumMod val="75000"/>
                  <a:lumOff val="25000"/>
                </a:schemeClr>
              </a:buClr>
              <a:buSzPct val="110000"/>
              <a:buFont typeface="Arial" panose="020B0604020202020204" pitchFamily="34" charset="0"/>
              <a:buChar char="•"/>
              <a:defRPr sz="2400" spc="-160" baseline="0">
                <a:latin typeface="맑은 고딕" panose="020B0503020000020004" pitchFamily="50" charset="-127"/>
                <a:ea typeface="맑은 고딕" panose="020B0503020000020004" pitchFamily="50" charset="-127"/>
              </a:defRPr>
            </a:lvl2pPr>
            <a:lvl3pPr marL="1073124" indent="-239994">
              <a:lnSpc>
                <a:spcPct val="130000"/>
              </a:lnSpc>
              <a:spcAft>
                <a:spcPts val="667"/>
              </a:spcAft>
              <a:buClr>
                <a:schemeClr val="tx1">
                  <a:lumMod val="75000"/>
                  <a:lumOff val="25000"/>
                </a:schemeClr>
              </a:buClr>
              <a:buSzPct val="110000"/>
              <a:buFont typeface="Arial" panose="020B0604020202020204" pitchFamily="34" charset="0"/>
              <a:buChar char="•"/>
              <a:defRPr sz="2000" spc="-160" baseline="0">
                <a:latin typeface="맑은 고딕" panose="020B0503020000020004" pitchFamily="50" charset="-127"/>
                <a:ea typeface="맑은 고딕" panose="020B0503020000020004" pitchFamily="50" charset="-127"/>
              </a:defRPr>
            </a:lvl3pPr>
            <a:lvl4pPr marL="1432948" indent="-239994">
              <a:lnSpc>
                <a:spcPct val="130000"/>
              </a:lnSpc>
              <a:spcAft>
                <a:spcPts val="667"/>
              </a:spcAft>
              <a:buClr>
                <a:schemeClr val="tx1">
                  <a:lumMod val="75000"/>
                  <a:lumOff val="25000"/>
                </a:schemeClr>
              </a:buClr>
              <a:buSzPct val="110000"/>
              <a:buFont typeface="Arial" panose="020B0604020202020204" pitchFamily="34" charset="0"/>
              <a:buChar char="•"/>
              <a:defRPr sz="1600" spc="-160" baseline="0">
                <a:latin typeface="맑은 고딕" panose="020B0503020000020004" pitchFamily="50" charset="-127"/>
                <a:ea typeface="맑은 고딕" panose="020B0503020000020004" pitchFamily="50" charset="-127"/>
              </a:defRPr>
            </a:lvl4pPr>
            <a:lvl5pPr marL="1794888" indent="-239994">
              <a:lnSpc>
                <a:spcPct val="130000"/>
              </a:lnSpc>
              <a:spcAft>
                <a:spcPts val="667"/>
              </a:spcAft>
              <a:buClr>
                <a:schemeClr val="tx1">
                  <a:lumMod val="75000"/>
                  <a:lumOff val="25000"/>
                </a:schemeClr>
              </a:buClr>
              <a:buSzPct val="110000"/>
              <a:buFont typeface="Arial" panose="020B0604020202020204" pitchFamily="34" charset="0"/>
              <a:buChar char="•"/>
              <a:defRPr sz="1300" spc="-160" baseline="0">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제목 1"/>
          <p:cNvSpPr>
            <a:spLocks noGrp="1"/>
          </p:cNvSpPr>
          <p:nvPr>
            <p:ph type="title"/>
          </p:nvPr>
        </p:nvSpPr>
        <p:spPr>
          <a:xfrm>
            <a:off x="633163" y="28842"/>
            <a:ext cx="11240293" cy="708708"/>
          </a:xfrm>
          <a:prstGeom prst="rect">
            <a:avLst/>
          </a:prstGeom>
        </p:spPr>
        <p:txBody>
          <a:bodyPr vert="horz" lIns="101233" tIns="50617" rIns="101233" bIns="50617" rtlCol="0" anchor="ctr">
            <a:normAutofit/>
          </a:bodyPr>
          <a:lstStyle>
            <a:lvl1pPr algn="l">
              <a:defRPr lang="ko-KR" altLang="en-US" sz="3200" b="1" spc="-133" baseline="0" dirty="0">
                <a:ln>
                  <a:solidFill>
                    <a:srgbClr val="2A2D72">
                      <a:alpha val="5000"/>
                    </a:srgbClr>
                  </a:solidFill>
                </a:ln>
                <a:solidFill>
                  <a:schemeClr val="tx1"/>
                </a:solidFill>
                <a:latin typeface="+mj-ea"/>
                <a:cs typeface="Arial" panose="020B0604020202020204" pitchFamily="34" charset="0"/>
              </a:defRPr>
            </a:lvl1pPr>
          </a:lstStyle>
          <a:p>
            <a:pPr lvl="0" algn="l" defTabSz="1012337">
              <a:lnSpc>
                <a:spcPct val="100000"/>
              </a:lnSpc>
            </a:pPr>
            <a:r>
              <a:rPr lang="ko-KR" altLang="en-US" dirty="0"/>
              <a:t>마스터 제목 스타일 편집</a:t>
            </a:r>
          </a:p>
        </p:txBody>
      </p:sp>
      <p:sp>
        <p:nvSpPr>
          <p:cNvPr id="10" name="슬라이드 번호 개체 틀 2"/>
          <p:cNvSpPr>
            <a:spLocks noGrp="1"/>
          </p:cNvSpPr>
          <p:nvPr>
            <p:ph type="sldNum" sz="quarter" idx="4"/>
          </p:nvPr>
        </p:nvSpPr>
        <p:spPr>
          <a:xfrm>
            <a:off x="5029936" y="6562303"/>
            <a:ext cx="1920000" cy="277872"/>
          </a:xfrm>
          <a:prstGeom prst="rect">
            <a:avLst/>
          </a:prstGeom>
        </p:spPr>
        <p:txBody>
          <a:bodyPr lIns="121917" tIns="60958" rIns="121917" bIns="60958"/>
          <a:lstStyle>
            <a:lvl1pPr marL="0" algn="ctr" defTabSz="1219170" rtl="0" eaLnBrk="1" latinLnBrk="1" hangingPunct="1">
              <a:defRPr lang="ko-KR" altLang="en-US" sz="17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Tree>
    <p:extLst>
      <p:ext uri="{BB962C8B-B14F-4D97-AF65-F5344CB8AC3E}">
        <p14:creationId xmlns:p14="http://schemas.microsoft.com/office/powerpoint/2010/main" val="2888485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6_사용자 지정 레이아웃">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제목 1"/>
          <p:cNvSpPr>
            <a:spLocks noGrp="1"/>
          </p:cNvSpPr>
          <p:nvPr>
            <p:ph type="title"/>
          </p:nvPr>
        </p:nvSpPr>
        <p:spPr>
          <a:xfrm>
            <a:off x="475200" y="-1638"/>
            <a:ext cx="11240293" cy="708708"/>
          </a:xfrm>
          <a:prstGeom prst="rect">
            <a:avLst/>
          </a:prstGeom>
        </p:spPr>
        <p:txBody>
          <a:bodyPr vert="horz" lIns="101233" tIns="50617" rIns="101233" bIns="50617" rtlCol="0" anchor="ctr">
            <a:normAutofit/>
          </a:bodyPr>
          <a:lstStyle>
            <a:lvl1pPr algn="l">
              <a:defRPr lang="ko-KR" altLang="en-US" sz="2900" b="1" spc="-133" baseline="0" dirty="0">
                <a:ln>
                  <a:solidFill>
                    <a:srgbClr val="2A2D72">
                      <a:alpha val="5000"/>
                    </a:srgbClr>
                  </a:solidFill>
                </a:ln>
                <a:solidFill>
                  <a:schemeClr val="bg1"/>
                </a:solidFill>
                <a:latin typeface="+mj-ea"/>
                <a:cs typeface="Arial" panose="020B0604020202020204" pitchFamily="34" charset="0"/>
              </a:defRPr>
            </a:lvl1pPr>
          </a:lstStyle>
          <a:p>
            <a:pPr lvl="0" algn="l" defTabSz="1012337">
              <a:lnSpc>
                <a:spcPct val="100000"/>
              </a:lnSpc>
            </a:pPr>
            <a:r>
              <a:rPr lang="ko-KR" altLang="en-US" dirty="0"/>
              <a:t>마스터 제목 스타일 편집</a:t>
            </a:r>
          </a:p>
        </p:txBody>
      </p:sp>
      <p:sp>
        <p:nvSpPr>
          <p:cNvPr id="10" name="슬라이드 번호 개체 틀 2"/>
          <p:cNvSpPr>
            <a:spLocks noGrp="1"/>
          </p:cNvSpPr>
          <p:nvPr>
            <p:ph type="sldNum" sz="quarter" idx="4"/>
          </p:nvPr>
        </p:nvSpPr>
        <p:spPr>
          <a:xfrm>
            <a:off x="5029936" y="6562303"/>
            <a:ext cx="1920000" cy="277872"/>
          </a:xfrm>
          <a:prstGeom prst="rect">
            <a:avLst/>
          </a:prstGeom>
        </p:spPr>
        <p:txBody>
          <a:bodyPr lIns="121917" tIns="60958" rIns="121917" bIns="60958"/>
          <a:lstStyle>
            <a:lvl1pPr marL="0" algn="ctr" defTabSz="1219170" rtl="0" eaLnBrk="1" latinLnBrk="1" hangingPunct="1">
              <a:defRPr lang="ko-KR" altLang="en-US" sz="17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
        <p:nvSpPr>
          <p:cNvPr id="9" name="내용 개체 틀 2"/>
          <p:cNvSpPr>
            <a:spLocks noGrp="1"/>
          </p:cNvSpPr>
          <p:nvPr>
            <p:ph idx="1"/>
          </p:nvPr>
        </p:nvSpPr>
        <p:spPr>
          <a:xfrm>
            <a:off x="335360" y="1038907"/>
            <a:ext cx="11617291" cy="5001683"/>
          </a:xfrm>
          <a:prstGeom prst="rect">
            <a:avLst/>
          </a:prstGeom>
        </p:spPr>
        <p:txBody>
          <a:bodyPr>
            <a:normAutofit/>
          </a:bodyPr>
          <a:lstStyle>
            <a:lvl1pPr marL="361942" indent="-239994">
              <a:lnSpc>
                <a:spcPct val="120000"/>
              </a:lnSpc>
              <a:spcAft>
                <a:spcPts val="667"/>
              </a:spcAft>
              <a:buClr>
                <a:schemeClr val="tx2"/>
              </a:buClr>
              <a:buSzPct val="110000"/>
              <a:buFont typeface="Arial" panose="020B0604020202020204" pitchFamily="34" charset="0"/>
              <a:buChar char="•"/>
              <a:defRPr sz="2100" spc="-93" baseline="0">
                <a:ln>
                  <a:solidFill>
                    <a:schemeClr val="tx1">
                      <a:alpha val="1000"/>
                    </a:schemeClr>
                  </a:solidFill>
                </a:ln>
                <a:latin typeface="맑은 고딕" panose="020B0503020000020004" pitchFamily="50" charset="-127"/>
                <a:ea typeface="맑은 고딕" panose="020B0503020000020004" pitchFamily="50" charset="-127"/>
              </a:defRPr>
            </a:lvl1pPr>
            <a:lvl2pPr marL="721766" indent="-239994">
              <a:lnSpc>
                <a:spcPct val="120000"/>
              </a:lnSpc>
              <a:spcAft>
                <a:spcPts val="667"/>
              </a:spcAft>
              <a:buClr>
                <a:schemeClr val="tx2"/>
              </a:buClr>
              <a:buSzPct val="110000"/>
              <a:buFont typeface="Arial" panose="020B0604020202020204" pitchFamily="34" charset="0"/>
              <a:buChar char="•"/>
              <a:defRPr sz="1900" spc="-93" baseline="0">
                <a:ln>
                  <a:solidFill>
                    <a:schemeClr val="tx1">
                      <a:alpha val="1000"/>
                    </a:schemeClr>
                  </a:solidFill>
                </a:ln>
                <a:latin typeface="맑은 고딕" panose="020B0503020000020004" pitchFamily="50" charset="-127"/>
                <a:ea typeface="맑은 고딕" panose="020B0503020000020004" pitchFamily="50" charset="-127"/>
              </a:defRPr>
            </a:lvl2pPr>
            <a:lvl3pPr marL="1073124" indent="-239994">
              <a:lnSpc>
                <a:spcPct val="120000"/>
              </a:lnSpc>
              <a:spcAft>
                <a:spcPts val="667"/>
              </a:spcAft>
              <a:buClr>
                <a:schemeClr val="tx2"/>
              </a:buClr>
              <a:buSzPct val="110000"/>
              <a:buFont typeface="Arial" panose="020B0604020202020204" pitchFamily="34" charset="0"/>
              <a:buChar char="•"/>
              <a:defRPr sz="1600" spc="-93" baseline="0">
                <a:ln>
                  <a:solidFill>
                    <a:schemeClr val="tx1">
                      <a:alpha val="1000"/>
                    </a:schemeClr>
                  </a:solidFill>
                </a:ln>
                <a:latin typeface="맑은 고딕" panose="020B0503020000020004" pitchFamily="50" charset="-127"/>
                <a:ea typeface="맑은 고딕" panose="020B0503020000020004" pitchFamily="50" charset="-127"/>
              </a:defRPr>
            </a:lvl3pPr>
            <a:lvl4pPr marL="1432948" indent="-239994">
              <a:lnSpc>
                <a:spcPct val="120000"/>
              </a:lnSpc>
              <a:spcAft>
                <a:spcPts val="667"/>
              </a:spcAft>
              <a:buClr>
                <a:schemeClr val="tx2"/>
              </a:buClr>
              <a:buSzPct val="110000"/>
              <a:buFont typeface="Arial" panose="020B0604020202020204" pitchFamily="34" charset="0"/>
              <a:buChar char="•"/>
              <a:defRPr sz="1400" spc="-93" baseline="0">
                <a:ln>
                  <a:solidFill>
                    <a:schemeClr val="tx1">
                      <a:alpha val="1000"/>
                    </a:schemeClr>
                  </a:solidFill>
                </a:ln>
                <a:latin typeface="맑은 고딕" panose="020B0503020000020004" pitchFamily="50" charset="-127"/>
                <a:ea typeface="맑은 고딕" panose="020B0503020000020004" pitchFamily="50" charset="-127"/>
              </a:defRPr>
            </a:lvl4pPr>
            <a:lvl5pPr marL="1794888" indent="-239994">
              <a:lnSpc>
                <a:spcPct val="120000"/>
              </a:lnSpc>
              <a:spcAft>
                <a:spcPts val="667"/>
              </a:spcAft>
              <a:buClr>
                <a:schemeClr val="tx2"/>
              </a:buClr>
              <a:buSzPct val="110000"/>
              <a:buFont typeface="Arial" panose="020B0604020202020204" pitchFamily="34" charset="0"/>
              <a:buChar char="•"/>
              <a:defRPr sz="1100" spc="-93" baseline="0">
                <a:ln>
                  <a:solidFill>
                    <a:schemeClr val="tx1">
                      <a:alpha val="1000"/>
                    </a:schemeClr>
                  </a:solidFill>
                </a:ln>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249233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8_사용자 지정 레이아웃">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제목 1"/>
          <p:cNvSpPr>
            <a:spLocks noGrp="1"/>
          </p:cNvSpPr>
          <p:nvPr>
            <p:ph type="title"/>
          </p:nvPr>
        </p:nvSpPr>
        <p:spPr>
          <a:xfrm>
            <a:off x="475200" y="-1638"/>
            <a:ext cx="11240293" cy="708708"/>
          </a:xfrm>
          <a:prstGeom prst="rect">
            <a:avLst/>
          </a:prstGeom>
        </p:spPr>
        <p:txBody>
          <a:bodyPr vert="horz" lIns="101233" tIns="50617" rIns="101233" bIns="50617" rtlCol="0" anchor="ctr">
            <a:normAutofit/>
          </a:bodyPr>
          <a:lstStyle>
            <a:lvl1pPr algn="l">
              <a:defRPr lang="ko-KR" altLang="en-US" sz="2900" b="1" spc="-133" baseline="0" dirty="0">
                <a:ln>
                  <a:solidFill>
                    <a:srgbClr val="2A2D72">
                      <a:alpha val="5000"/>
                    </a:srgbClr>
                  </a:solidFill>
                </a:ln>
                <a:solidFill>
                  <a:schemeClr val="bg1"/>
                </a:solidFill>
                <a:latin typeface="+mj-ea"/>
                <a:cs typeface="Arial" panose="020B0604020202020204" pitchFamily="34" charset="0"/>
              </a:defRPr>
            </a:lvl1pPr>
          </a:lstStyle>
          <a:p>
            <a:pPr lvl="0" algn="l" defTabSz="1012337">
              <a:lnSpc>
                <a:spcPct val="100000"/>
              </a:lnSpc>
            </a:pPr>
            <a:r>
              <a:rPr lang="ko-KR" altLang="en-US" dirty="0"/>
              <a:t>마스터 제목 스타일 편집</a:t>
            </a:r>
          </a:p>
        </p:txBody>
      </p:sp>
      <p:sp>
        <p:nvSpPr>
          <p:cNvPr id="10" name="슬라이드 번호 개체 틀 2"/>
          <p:cNvSpPr>
            <a:spLocks noGrp="1"/>
          </p:cNvSpPr>
          <p:nvPr>
            <p:ph type="sldNum" sz="quarter" idx="4"/>
          </p:nvPr>
        </p:nvSpPr>
        <p:spPr>
          <a:xfrm>
            <a:off x="5029936" y="6562303"/>
            <a:ext cx="1920000" cy="277872"/>
          </a:xfrm>
          <a:prstGeom prst="rect">
            <a:avLst/>
          </a:prstGeom>
        </p:spPr>
        <p:txBody>
          <a:bodyPr lIns="121917" tIns="60958" rIns="121917" bIns="60958"/>
          <a:lstStyle>
            <a:lvl1pPr marL="0" algn="ctr" defTabSz="1219170" rtl="0" eaLnBrk="1" latinLnBrk="1" hangingPunct="1">
              <a:defRPr lang="ko-KR" altLang="en-US" sz="17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
        <p:nvSpPr>
          <p:cNvPr id="9" name="내용 개체 틀 2"/>
          <p:cNvSpPr>
            <a:spLocks noGrp="1"/>
          </p:cNvSpPr>
          <p:nvPr>
            <p:ph idx="1"/>
          </p:nvPr>
        </p:nvSpPr>
        <p:spPr>
          <a:xfrm>
            <a:off x="335360" y="1038907"/>
            <a:ext cx="11617291" cy="5001683"/>
          </a:xfrm>
          <a:prstGeom prst="rect">
            <a:avLst/>
          </a:prstGeom>
        </p:spPr>
        <p:txBody>
          <a:bodyPr>
            <a:normAutofit/>
          </a:bodyPr>
          <a:lstStyle>
            <a:lvl1pPr marL="361942" indent="-239994">
              <a:lnSpc>
                <a:spcPct val="120000"/>
              </a:lnSpc>
              <a:spcAft>
                <a:spcPts val="667"/>
              </a:spcAft>
              <a:buClr>
                <a:schemeClr val="tx2"/>
              </a:buClr>
              <a:buSzPct val="110000"/>
              <a:buFont typeface="Arial" panose="020B0604020202020204" pitchFamily="34" charset="0"/>
              <a:buChar char="•"/>
              <a:defRPr sz="2100" spc="-93" baseline="0">
                <a:ln>
                  <a:solidFill>
                    <a:schemeClr val="tx1">
                      <a:alpha val="1000"/>
                    </a:schemeClr>
                  </a:solidFill>
                </a:ln>
                <a:latin typeface="맑은 고딕" panose="020B0503020000020004" pitchFamily="50" charset="-127"/>
                <a:ea typeface="맑은 고딕" panose="020B0503020000020004" pitchFamily="50" charset="-127"/>
              </a:defRPr>
            </a:lvl1pPr>
            <a:lvl2pPr marL="721766" indent="-239994">
              <a:lnSpc>
                <a:spcPct val="120000"/>
              </a:lnSpc>
              <a:spcAft>
                <a:spcPts val="667"/>
              </a:spcAft>
              <a:buClr>
                <a:schemeClr val="tx2"/>
              </a:buClr>
              <a:buSzPct val="110000"/>
              <a:buFont typeface="Arial" panose="020B0604020202020204" pitchFamily="34" charset="0"/>
              <a:buChar char="•"/>
              <a:defRPr sz="1900" spc="-93" baseline="0">
                <a:ln>
                  <a:solidFill>
                    <a:schemeClr val="tx1">
                      <a:alpha val="1000"/>
                    </a:schemeClr>
                  </a:solidFill>
                </a:ln>
                <a:latin typeface="맑은 고딕" panose="020B0503020000020004" pitchFamily="50" charset="-127"/>
                <a:ea typeface="맑은 고딕" panose="020B0503020000020004" pitchFamily="50" charset="-127"/>
              </a:defRPr>
            </a:lvl2pPr>
            <a:lvl3pPr marL="1073124" indent="-239994">
              <a:lnSpc>
                <a:spcPct val="120000"/>
              </a:lnSpc>
              <a:spcAft>
                <a:spcPts val="667"/>
              </a:spcAft>
              <a:buClr>
                <a:schemeClr val="tx2"/>
              </a:buClr>
              <a:buSzPct val="110000"/>
              <a:buFont typeface="Arial" panose="020B0604020202020204" pitchFamily="34" charset="0"/>
              <a:buChar char="•"/>
              <a:defRPr sz="1600" spc="-93" baseline="0">
                <a:ln>
                  <a:solidFill>
                    <a:schemeClr val="tx1">
                      <a:alpha val="1000"/>
                    </a:schemeClr>
                  </a:solidFill>
                </a:ln>
                <a:latin typeface="맑은 고딕" panose="020B0503020000020004" pitchFamily="50" charset="-127"/>
                <a:ea typeface="맑은 고딕" panose="020B0503020000020004" pitchFamily="50" charset="-127"/>
              </a:defRPr>
            </a:lvl3pPr>
            <a:lvl4pPr marL="1432948" indent="-239994">
              <a:lnSpc>
                <a:spcPct val="120000"/>
              </a:lnSpc>
              <a:spcAft>
                <a:spcPts val="667"/>
              </a:spcAft>
              <a:buClr>
                <a:schemeClr val="tx2"/>
              </a:buClr>
              <a:buSzPct val="110000"/>
              <a:buFont typeface="Arial" panose="020B0604020202020204" pitchFamily="34" charset="0"/>
              <a:buChar char="•"/>
              <a:defRPr sz="1400" spc="-93" baseline="0">
                <a:ln>
                  <a:solidFill>
                    <a:schemeClr val="tx1">
                      <a:alpha val="1000"/>
                    </a:schemeClr>
                  </a:solidFill>
                </a:ln>
                <a:latin typeface="맑은 고딕" panose="020B0503020000020004" pitchFamily="50" charset="-127"/>
                <a:ea typeface="맑은 고딕" panose="020B0503020000020004" pitchFamily="50" charset="-127"/>
              </a:defRPr>
            </a:lvl4pPr>
            <a:lvl5pPr marL="1794888" indent="-239994">
              <a:lnSpc>
                <a:spcPct val="120000"/>
              </a:lnSpc>
              <a:spcAft>
                <a:spcPts val="667"/>
              </a:spcAft>
              <a:buClr>
                <a:schemeClr val="tx2"/>
              </a:buClr>
              <a:buSzPct val="110000"/>
              <a:buFont typeface="Arial" panose="020B0604020202020204" pitchFamily="34" charset="0"/>
              <a:buChar char="•"/>
              <a:defRPr sz="1100" spc="-93" baseline="0">
                <a:ln>
                  <a:solidFill>
                    <a:schemeClr val="tx1">
                      <a:alpha val="1000"/>
                    </a:schemeClr>
                  </a:solidFill>
                </a:ln>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249233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9_사용자 지정 레이아웃">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제목 1"/>
          <p:cNvSpPr>
            <a:spLocks noGrp="1"/>
          </p:cNvSpPr>
          <p:nvPr>
            <p:ph type="title"/>
          </p:nvPr>
        </p:nvSpPr>
        <p:spPr>
          <a:xfrm>
            <a:off x="475200" y="-1638"/>
            <a:ext cx="11240293" cy="708708"/>
          </a:xfrm>
          <a:prstGeom prst="rect">
            <a:avLst/>
          </a:prstGeom>
        </p:spPr>
        <p:txBody>
          <a:bodyPr vert="horz" lIns="101233" tIns="50617" rIns="101233" bIns="50617" rtlCol="0" anchor="ctr">
            <a:normAutofit/>
          </a:bodyPr>
          <a:lstStyle>
            <a:lvl1pPr algn="l">
              <a:defRPr lang="ko-KR" altLang="en-US" sz="2900" b="1" spc="-133" baseline="0" dirty="0">
                <a:ln>
                  <a:solidFill>
                    <a:srgbClr val="2A2D72">
                      <a:alpha val="5000"/>
                    </a:srgbClr>
                  </a:solidFill>
                </a:ln>
                <a:solidFill>
                  <a:schemeClr val="bg1"/>
                </a:solidFill>
                <a:latin typeface="+mj-ea"/>
                <a:cs typeface="Arial" panose="020B0604020202020204" pitchFamily="34" charset="0"/>
              </a:defRPr>
            </a:lvl1pPr>
          </a:lstStyle>
          <a:p>
            <a:pPr lvl="0" algn="l" defTabSz="1012337">
              <a:lnSpc>
                <a:spcPct val="100000"/>
              </a:lnSpc>
            </a:pPr>
            <a:r>
              <a:rPr lang="ko-KR" altLang="en-US" dirty="0"/>
              <a:t>마스터 제목 스타일 편집</a:t>
            </a:r>
          </a:p>
        </p:txBody>
      </p:sp>
      <p:sp>
        <p:nvSpPr>
          <p:cNvPr id="10" name="슬라이드 번호 개체 틀 2"/>
          <p:cNvSpPr>
            <a:spLocks noGrp="1"/>
          </p:cNvSpPr>
          <p:nvPr>
            <p:ph type="sldNum" sz="quarter" idx="4"/>
          </p:nvPr>
        </p:nvSpPr>
        <p:spPr>
          <a:xfrm>
            <a:off x="5029936" y="6562303"/>
            <a:ext cx="1920000" cy="277872"/>
          </a:xfrm>
          <a:prstGeom prst="rect">
            <a:avLst/>
          </a:prstGeom>
        </p:spPr>
        <p:txBody>
          <a:bodyPr lIns="121917" tIns="60958" rIns="121917" bIns="60958"/>
          <a:lstStyle>
            <a:lvl1pPr marL="0" algn="ctr" defTabSz="1219170" rtl="0" eaLnBrk="1" latinLnBrk="1" hangingPunct="1">
              <a:defRPr lang="ko-KR" altLang="en-US" sz="17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
        <p:nvSpPr>
          <p:cNvPr id="9" name="내용 개체 틀 2"/>
          <p:cNvSpPr>
            <a:spLocks noGrp="1"/>
          </p:cNvSpPr>
          <p:nvPr>
            <p:ph idx="1"/>
          </p:nvPr>
        </p:nvSpPr>
        <p:spPr>
          <a:xfrm>
            <a:off x="335360" y="1038907"/>
            <a:ext cx="11617291" cy="5001683"/>
          </a:xfrm>
          <a:prstGeom prst="rect">
            <a:avLst/>
          </a:prstGeom>
        </p:spPr>
        <p:txBody>
          <a:bodyPr>
            <a:normAutofit/>
          </a:bodyPr>
          <a:lstStyle>
            <a:lvl1pPr marL="361942" indent="-239994">
              <a:lnSpc>
                <a:spcPct val="120000"/>
              </a:lnSpc>
              <a:spcAft>
                <a:spcPts val="667"/>
              </a:spcAft>
              <a:buClr>
                <a:schemeClr val="tx2"/>
              </a:buClr>
              <a:buSzPct val="110000"/>
              <a:buFont typeface="Arial" panose="020B0604020202020204" pitchFamily="34" charset="0"/>
              <a:buChar char="•"/>
              <a:defRPr sz="2100" spc="-93" baseline="0">
                <a:ln>
                  <a:solidFill>
                    <a:schemeClr val="tx1">
                      <a:alpha val="1000"/>
                    </a:schemeClr>
                  </a:solidFill>
                </a:ln>
                <a:latin typeface="맑은 고딕" panose="020B0503020000020004" pitchFamily="50" charset="-127"/>
                <a:ea typeface="맑은 고딕" panose="020B0503020000020004" pitchFamily="50" charset="-127"/>
              </a:defRPr>
            </a:lvl1pPr>
            <a:lvl2pPr marL="721766" indent="-239994">
              <a:lnSpc>
                <a:spcPct val="120000"/>
              </a:lnSpc>
              <a:spcAft>
                <a:spcPts val="667"/>
              </a:spcAft>
              <a:buClr>
                <a:schemeClr val="tx2"/>
              </a:buClr>
              <a:buSzPct val="110000"/>
              <a:buFont typeface="Arial" panose="020B0604020202020204" pitchFamily="34" charset="0"/>
              <a:buChar char="•"/>
              <a:defRPr sz="1900" spc="-93" baseline="0">
                <a:ln>
                  <a:solidFill>
                    <a:schemeClr val="tx1">
                      <a:alpha val="1000"/>
                    </a:schemeClr>
                  </a:solidFill>
                </a:ln>
                <a:latin typeface="맑은 고딕" panose="020B0503020000020004" pitchFamily="50" charset="-127"/>
                <a:ea typeface="맑은 고딕" panose="020B0503020000020004" pitchFamily="50" charset="-127"/>
              </a:defRPr>
            </a:lvl2pPr>
            <a:lvl3pPr marL="1073124" indent="-239994">
              <a:lnSpc>
                <a:spcPct val="120000"/>
              </a:lnSpc>
              <a:spcAft>
                <a:spcPts val="667"/>
              </a:spcAft>
              <a:buClr>
                <a:schemeClr val="tx2"/>
              </a:buClr>
              <a:buSzPct val="110000"/>
              <a:buFont typeface="Arial" panose="020B0604020202020204" pitchFamily="34" charset="0"/>
              <a:buChar char="•"/>
              <a:defRPr sz="1600" spc="-93" baseline="0">
                <a:ln>
                  <a:solidFill>
                    <a:schemeClr val="tx1">
                      <a:alpha val="1000"/>
                    </a:schemeClr>
                  </a:solidFill>
                </a:ln>
                <a:latin typeface="맑은 고딕" panose="020B0503020000020004" pitchFamily="50" charset="-127"/>
                <a:ea typeface="맑은 고딕" panose="020B0503020000020004" pitchFamily="50" charset="-127"/>
              </a:defRPr>
            </a:lvl3pPr>
            <a:lvl4pPr marL="1432948" indent="-239994">
              <a:lnSpc>
                <a:spcPct val="120000"/>
              </a:lnSpc>
              <a:spcAft>
                <a:spcPts val="667"/>
              </a:spcAft>
              <a:buClr>
                <a:schemeClr val="tx2"/>
              </a:buClr>
              <a:buSzPct val="110000"/>
              <a:buFont typeface="Arial" panose="020B0604020202020204" pitchFamily="34" charset="0"/>
              <a:buChar char="•"/>
              <a:defRPr sz="1400" spc="-93" baseline="0">
                <a:ln>
                  <a:solidFill>
                    <a:schemeClr val="tx1">
                      <a:alpha val="1000"/>
                    </a:schemeClr>
                  </a:solidFill>
                </a:ln>
                <a:latin typeface="맑은 고딕" panose="020B0503020000020004" pitchFamily="50" charset="-127"/>
                <a:ea typeface="맑은 고딕" panose="020B0503020000020004" pitchFamily="50" charset="-127"/>
              </a:defRPr>
            </a:lvl4pPr>
            <a:lvl5pPr marL="1794888" indent="-239994">
              <a:lnSpc>
                <a:spcPct val="120000"/>
              </a:lnSpc>
              <a:spcAft>
                <a:spcPts val="667"/>
              </a:spcAft>
              <a:buClr>
                <a:schemeClr val="tx2"/>
              </a:buClr>
              <a:buSzPct val="110000"/>
              <a:buFont typeface="Arial" panose="020B0604020202020204" pitchFamily="34" charset="0"/>
              <a:buChar char="•"/>
              <a:defRPr sz="1100" spc="-93" baseline="0">
                <a:ln>
                  <a:solidFill>
                    <a:schemeClr val="tx1">
                      <a:alpha val="1000"/>
                    </a:schemeClr>
                  </a:solidFill>
                </a:ln>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249233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0_사용자 지정 레이아웃">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제목 1"/>
          <p:cNvSpPr>
            <a:spLocks noGrp="1"/>
          </p:cNvSpPr>
          <p:nvPr>
            <p:ph type="title"/>
          </p:nvPr>
        </p:nvSpPr>
        <p:spPr>
          <a:xfrm>
            <a:off x="475200" y="-1638"/>
            <a:ext cx="11240293" cy="708708"/>
          </a:xfrm>
          <a:prstGeom prst="rect">
            <a:avLst/>
          </a:prstGeom>
        </p:spPr>
        <p:txBody>
          <a:bodyPr vert="horz" lIns="101233" tIns="50617" rIns="101233" bIns="50617" rtlCol="0" anchor="ctr">
            <a:normAutofit/>
          </a:bodyPr>
          <a:lstStyle>
            <a:lvl1pPr algn="l">
              <a:defRPr lang="ko-KR" altLang="en-US" sz="2900" b="1" spc="-133" baseline="0" dirty="0">
                <a:ln>
                  <a:solidFill>
                    <a:srgbClr val="2A2D72">
                      <a:alpha val="5000"/>
                    </a:srgbClr>
                  </a:solidFill>
                </a:ln>
                <a:solidFill>
                  <a:schemeClr val="bg1"/>
                </a:solidFill>
                <a:latin typeface="+mj-ea"/>
                <a:cs typeface="Arial" panose="020B0604020202020204" pitchFamily="34" charset="0"/>
              </a:defRPr>
            </a:lvl1pPr>
          </a:lstStyle>
          <a:p>
            <a:pPr lvl="0" algn="l" defTabSz="1012337">
              <a:lnSpc>
                <a:spcPct val="100000"/>
              </a:lnSpc>
            </a:pPr>
            <a:r>
              <a:rPr lang="ko-KR" altLang="en-US" dirty="0"/>
              <a:t>마스터 제목 스타일 편집</a:t>
            </a:r>
          </a:p>
        </p:txBody>
      </p:sp>
      <p:sp>
        <p:nvSpPr>
          <p:cNvPr id="10" name="슬라이드 번호 개체 틀 2"/>
          <p:cNvSpPr>
            <a:spLocks noGrp="1"/>
          </p:cNvSpPr>
          <p:nvPr>
            <p:ph type="sldNum" sz="quarter" idx="4"/>
          </p:nvPr>
        </p:nvSpPr>
        <p:spPr>
          <a:xfrm>
            <a:off x="5029936" y="6562303"/>
            <a:ext cx="1920000" cy="277872"/>
          </a:xfrm>
          <a:prstGeom prst="rect">
            <a:avLst/>
          </a:prstGeom>
        </p:spPr>
        <p:txBody>
          <a:bodyPr lIns="121917" tIns="60958" rIns="121917" bIns="60958"/>
          <a:lstStyle>
            <a:lvl1pPr marL="0" algn="ctr" defTabSz="1219170" rtl="0" eaLnBrk="1" latinLnBrk="1" hangingPunct="1">
              <a:defRPr lang="ko-KR" altLang="en-US" sz="17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
        <p:nvSpPr>
          <p:cNvPr id="9" name="내용 개체 틀 2"/>
          <p:cNvSpPr>
            <a:spLocks noGrp="1"/>
          </p:cNvSpPr>
          <p:nvPr>
            <p:ph idx="1"/>
          </p:nvPr>
        </p:nvSpPr>
        <p:spPr>
          <a:xfrm>
            <a:off x="335360" y="1038907"/>
            <a:ext cx="11617291" cy="5001683"/>
          </a:xfrm>
          <a:prstGeom prst="rect">
            <a:avLst/>
          </a:prstGeom>
        </p:spPr>
        <p:txBody>
          <a:bodyPr>
            <a:normAutofit/>
          </a:bodyPr>
          <a:lstStyle>
            <a:lvl1pPr marL="361942" indent="-239994">
              <a:lnSpc>
                <a:spcPct val="120000"/>
              </a:lnSpc>
              <a:spcAft>
                <a:spcPts val="667"/>
              </a:spcAft>
              <a:buClr>
                <a:schemeClr val="tx2"/>
              </a:buClr>
              <a:buSzPct val="110000"/>
              <a:buFont typeface="Arial" panose="020B0604020202020204" pitchFamily="34" charset="0"/>
              <a:buChar char="•"/>
              <a:defRPr sz="2100" spc="-93" baseline="0">
                <a:ln>
                  <a:solidFill>
                    <a:schemeClr val="tx1">
                      <a:alpha val="1000"/>
                    </a:schemeClr>
                  </a:solidFill>
                </a:ln>
                <a:latin typeface="맑은 고딕" panose="020B0503020000020004" pitchFamily="50" charset="-127"/>
                <a:ea typeface="맑은 고딕" panose="020B0503020000020004" pitchFamily="50" charset="-127"/>
              </a:defRPr>
            </a:lvl1pPr>
            <a:lvl2pPr marL="721766" indent="-239994">
              <a:lnSpc>
                <a:spcPct val="120000"/>
              </a:lnSpc>
              <a:spcAft>
                <a:spcPts val="667"/>
              </a:spcAft>
              <a:buClr>
                <a:schemeClr val="tx2"/>
              </a:buClr>
              <a:buSzPct val="110000"/>
              <a:buFont typeface="Arial" panose="020B0604020202020204" pitchFamily="34" charset="0"/>
              <a:buChar char="•"/>
              <a:defRPr sz="1900" spc="-93" baseline="0">
                <a:ln>
                  <a:solidFill>
                    <a:schemeClr val="tx1">
                      <a:alpha val="1000"/>
                    </a:schemeClr>
                  </a:solidFill>
                </a:ln>
                <a:latin typeface="맑은 고딕" panose="020B0503020000020004" pitchFamily="50" charset="-127"/>
                <a:ea typeface="맑은 고딕" panose="020B0503020000020004" pitchFamily="50" charset="-127"/>
              </a:defRPr>
            </a:lvl2pPr>
            <a:lvl3pPr marL="1073124" indent="-239994">
              <a:lnSpc>
                <a:spcPct val="120000"/>
              </a:lnSpc>
              <a:spcAft>
                <a:spcPts val="667"/>
              </a:spcAft>
              <a:buClr>
                <a:schemeClr val="tx2"/>
              </a:buClr>
              <a:buSzPct val="110000"/>
              <a:buFont typeface="Arial" panose="020B0604020202020204" pitchFamily="34" charset="0"/>
              <a:buChar char="•"/>
              <a:defRPr sz="1600" spc="-93" baseline="0">
                <a:ln>
                  <a:solidFill>
                    <a:schemeClr val="tx1">
                      <a:alpha val="1000"/>
                    </a:schemeClr>
                  </a:solidFill>
                </a:ln>
                <a:latin typeface="맑은 고딕" panose="020B0503020000020004" pitchFamily="50" charset="-127"/>
                <a:ea typeface="맑은 고딕" panose="020B0503020000020004" pitchFamily="50" charset="-127"/>
              </a:defRPr>
            </a:lvl3pPr>
            <a:lvl4pPr marL="1432948" indent="-239994">
              <a:lnSpc>
                <a:spcPct val="120000"/>
              </a:lnSpc>
              <a:spcAft>
                <a:spcPts val="667"/>
              </a:spcAft>
              <a:buClr>
                <a:schemeClr val="tx2"/>
              </a:buClr>
              <a:buSzPct val="110000"/>
              <a:buFont typeface="Arial" panose="020B0604020202020204" pitchFamily="34" charset="0"/>
              <a:buChar char="•"/>
              <a:defRPr sz="1400" spc="-93" baseline="0">
                <a:ln>
                  <a:solidFill>
                    <a:schemeClr val="tx1">
                      <a:alpha val="1000"/>
                    </a:schemeClr>
                  </a:solidFill>
                </a:ln>
                <a:latin typeface="맑은 고딕" panose="020B0503020000020004" pitchFamily="50" charset="-127"/>
                <a:ea typeface="맑은 고딕" panose="020B0503020000020004" pitchFamily="50" charset="-127"/>
              </a:defRPr>
            </a:lvl4pPr>
            <a:lvl5pPr marL="1794888" indent="-239994">
              <a:lnSpc>
                <a:spcPct val="120000"/>
              </a:lnSpc>
              <a:spcAft>
                <a:spcPts val="667"/>
              </a:spcAft>
              <a:buClr>
                <a:schemeClr val="tx2"/>
              </a:buClr>
              <a:buSzPct val="110000"/>
              <a:buFont typeface="Arial" panose="020B0604020202020204" pitchFamily="34" charset="0"/>
              <a:buChar char="•"/>
              <a:defRPr sz="1100" spc="-93" baseline="0">
                <a:ln>
                  <a:solidFill>
                    <a:schemeClr val="tx1">
                      <a:alpha val="1000"/>
                    </a:schemeClr>
                  </a:solidFill>
                </a:ln>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249233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1_사용자 지정 레이아웃">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제목 1"/>
          <p:cNvSpPr>
            <a:spLocks noGrp="1"/>
          </p:cNvSpPr>
          <p:nvPr>
            <p:ph type="title"/>
          </p:nvPr>
        </p:nvSpPr>
        <p:spPr>
          <a:xfrm>
            <a:off x="475200" y="-1638"/>
            <a:ext cx="11240293" cy="708708"/>
          </a:xfrm>
          <a:prstGeom prst="rect">
            <a:avLst/>
          </a:prstGeom>
        </p:spPr>
        <p:txBody>
          <a:bodyPr vert="horz" lIns="101233" tIns="50617" rIns="101233" bIns="50617" rtlCol="0" anchor="ctr">
            <a:normAutofit/>
          </a:bodyPr>
          <a:lstStyle>
            <a:lvl1pPr algn="l">
              <a:defRPr lang="ko-KR" altLang="en-US" sz="2900" b="1" spc="-133" baseline="0" dirty="0">
                <a:ln>
                  <a:solidFill>
                    <a:srgbClr val="2A2D72">
                      <a:alpha val="5000"/>
                    </a:srgbClr>
                  </a:solidFill>
                </a:ln>
                <a:solidFill>
                  <a:schemeClr val="bg1"/>
                </a:solidFill>
                <a:latin typeface="+mj-ea"/>
                <a:cs typeface="Arial" panose="020B0604020202020204" pitchFamily="34" charset="0"/>
              </a:defRPr>
            </a:lvl1pPr>
          </a:lstStyle>
          <a:p>
            <a:pPr lvl="0" algn="l" defTabSz="1012337">
              <a:lnSpc>
                <a:spcPct val="100000"/>
              </a:lnSpc>
            </a:pPr>
            <a:r>
              <a:rPr lang="ko-KR" altLang="en-US" dirty="0"/>
              <a:t>마스터 제목 스타일 편집</a:t>
            </a:r>
          </a:p>
        </p:txBody>
      </p:sp>
      <p:sp>
        <p:nvSpPr>
          <p:cNvPr id="10" name="슬라이드 번호 개체 틀 2"/>
          <p:cNvSpPr>
            <a:spLocks noGrp="1"/>
          </p:cNvSpPr>
          <p:nvPr>
            <p:ph type="sldNum" sz="quarter" idx="4"/>
          </p:nvPr>
        </p:nvSpPr>
        <p:spPr>
          <a:xfrm>
            <a:off x="5029936" y="6562303"/>
            <a:ext cx="1920000" cy="277872"/>
          </a:xfrm>
          <a:prstGeom prst="rect">
            <a:avLst/>
          </a:prstGeom>
        </p:spPr>
        <p:txBody>
          <a:bodyPr lIns="121917" tIns="60958" rIns="121917" bIns="60958"/>
          <a:lstStyle>
            <a:lvl1pPr marL="0" algn="ctr" defTabSz="1219170" rtl="0" eaLnBrk="1" latinLnBrk="1" hangingPunct="1">
              <a:defRPr lang="ko-KR" altLang="en-US" sz="17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
        <p:nvSpPr>
          <p:cNvPr id="9" name="내용 개체 틀 2"/>
          <p:cNvSpPr>
            <a:spLocks noGrp="1"/>
          </p:cNvSpPr>
          <p:nvPr>
            <p:ph idx="1"/>
          </p:nvPr>
        </p:nvSpPr>
        <p:spPr>
          <a:xfrm>
            <a:off x="335360" y="1038907"/>
            <a:ext cx="11617291" cy="5001683"/>
          </a:xfrm>
          <a:prstGeom prst="rect">
            <a:avLst/>
          </a:prstGeom>
        </p:spPr>
        <p:txBody>
          <a:bodyPr>
            <a:normAutofit/>
          </a:bodyPr>
          <a:lstStyle>
            <a:lvl1pPr marL="361942" indent="-239994">
              <a:lnSpc>
                <a:spcPct val="120000"/>
              </a:lnSpc>
              <a:spcAft>
                <a:spcPts val="667"/>
              </a:spcAft>
              <a:buClr>
                <a:schemeClr val="tx2"/>
              </a:buClr>
              <a:buSzPct val="110000"/>
              <a:buFont typeface="Arial" panose="020B0604020202020204" pitchFamily="34" charset="0"/>
              <a:buChar char="•"/>
              <a:defRPr sz="2100" spc="-93" baseline="0">
                <a:ln>
                  <a:solidFill>
                    <a:schemeClr val="tx1">
                      <a:alpha val="1000"/>
                    </a:schemeClr>
                  </a:solidFill>
                </a:ln>
                <a:latin typeface="맑은 고딕" panose="020B0503020000020004" pitchFamily="50" charset="-127"/>
                <a:ea typeface="맑은 고딕" panose="020B0503020000020004" pitchFamily="50" charset="-127"/>
              </a:defRPr>
            </a:lvl1pPr>
            <a:lvl2pPr marL="721766" indent="-239994">
              <a:lnSpc>
                <a:spcPct val="120000"/>
              </a:lnSpc>
              <a:spcAft>
                <a:spcPts val="667"/>
              </a:spcAft>
              <a:buClr>
                <a:schemeClr val="tx2"/>
              </a:buClr>
              <a:buSzPct val="110000"/>
              <a:buFont typeface="Arial" panose="020B0604020202020204" pitchFamily="34" charset="0"/>
              <a:buChar char="•"/>
              <a:defRPr sz="1900" spc="-93" baseline="0">
                <a:ln>
                  <a:solidFill>
                    <a:schemeClr val="tx1">
                      <a:alpha val="1000"/>
                    </a:schemeClr>
                  </a:solidFill>
                </a:ln>
                <a:latin typeface="맑은 고딕" panose="020B0503020000020004" pitchFamily="50" charset="-127"/>
                <a:ea typeface="맑은 고딕" panose="020B0503020000020004" pitchFamily="50" charset="-127"/>
              </a:defRPr>
            </a:lvl2pPr>
            <a:lvl3pPr marL="1073124" indent="-239994">
              <a:lnSpc>
                <a:spcPct val="120000"/>
              </a:lnSpc>
              <a:spcAft>
                <a:spcPts val="667"/>
              </a:spcAft>
              <a:buClr>
                <a:schemeClr val="tx2"/>
              </a:buClr>
              <a:buSzPct val="110000"/>
              <a:buFont typeface="Arial" panose="020B0604020202020204" pitchFamily="34" charset="0"/>
              <a:buChar char="•"/>
              <a:defRPr sz="1600" spc="-93" baseline="0">
                <a:ln>
                  <a:solidFill>
                    <a:schemeClr val="tx1">
                      <a:alpha val="1000"/>
                    </a:schemeClr>
                  </a:solidFill>
                </a:ln>
                <a:latin typeface="맑은 고딕" panose="020B0503020000020004" pitchFamily="50" charset="-127"/>
                <a:ea typeface="맑은 고딕" panose="020B0503020000020004" pitchFamily="50" charset="-127"/>
              </a:defRPr>
            </a:lvl3pPr>
            <a:lvl4pPr marL="1432948" indent="-239994">
              <a:lnSpc>
                <a:spcPct val="120000"/>
              </a:lnSpc>
              <a:spcAft>
                <a:spcPts val="667"/>
              </a:spcAft>
              <a:buClr>
                <a:schemeClr val="tx2"/>
              </a:buClr>
              <a:buSzPct val="110000"/>
              <a:buFont typeface="Arial" panose="020B0604020202020204" pitchFamily="34" charset="0"/>
              <a:buChar char="•"/>
              <a:defRPr sz="1400" spc="-93" baseline="0">
                <a:ln>
                  <a:solidFill>
                    <a:schemeClr val="tx1">
                      <a:alpha val="1000"/>
                    </a:schemeClr>
                  </a:solidFill>
                </a:ln>
                <a:latin typeface="맑은 고딕" panose="020B0503020000020004" pitchFamily="50" charset="-127"/>
                <a:ea typeface="맑은 고딕" panose="020B0503020000020004" pitchFamily="50" charset="-127"/>
              </a:defRPr>
            </a:lvl4pPr>
            <a:lvl5pPr marL="1794888" indent="-239994">
              <a:lnSpc>
                <a:spcPct val="120000"/>
              </a:lnSpc>
              <a:spcAft>
                <a:spcPts val="667"/>
              </a:spcAft>
              <a:buClr>
                <a:schemeClr val="tx2"/>
              </a:buClr>
              <a:buSzPct val="110000"/>
              <a:buFont typeface="Arial" panose="020B0604020202020204" pitchFamily="34" charset="0"/>
              <a:buChar char="•"/>
              <a:defRPr sz="1100" spc="-93" baseline="0">
                <a:ln>
                  <a:solidFill>
                    <a:schemeClr val="tx1">
                      <a:alpha val="1000"/>
                    </a:schemeClr>
                  </a:solidFill>
                </a:ln>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249233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직사각형 6"/>
          <p:cNvSpPr/>
          <p:nvPr userDrawn="1"/>
        </p:nvSpPr>
        <p:spPr>
          <a:xfrm>
            <a:off x="0" y="6605899"/>
            <a:ext cx="12192000" cy="252101"/>
          </a:xfrm>
          <a:prstGeom prst="rect">
            <a:avLst/>
          </a:prstGeom>
          <a:solidFill>
            <a:srgbClr val="55CFD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fld id="{CFA9321B-8E93-4938-ACA9-6254A66BA3E1}" type="slidenum">
              <a:rPr lang="ko-KR" altLang="en-US" sz="1200" smtClean="0">
                <a:solidFill>
                  <a:schemeClr val="bg1"/>
                </a:solidFill>
              </a:rPr>
              <a:pPr algn="r"/>
              <a:t>‹#›</a:t>
            </a:fld>
            <a:endParaRPr lang="ko-KR" altLang="en-US" sz="1200"/>
          </a:p>
        </p:txBody>
      </p:sp>
    </p:spTree>
    <p:extLst>
      <p:ext uri="{BB962C8B-B14F-4D97-AF65-F5344CB8AC3E}">
        <p14:creationId xmlns:p14="http://schemas.microsoft.com/office/powerpoint/2010/main" val="279229263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3" r:id="rId3"/>
    <p:sldLayoutId id="2147483666" r:id="rId4"/>
    <p:sldLayoutId id="2147483667" r:id="rId5"/>
    <p:sldLayoutId id="2147483668"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emf"/><Relationship Id="rId4" Type="http://schemas.openxmlformats.org/officeDocument/2006/relationships/image" Target="../media/image27.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36.jpe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64.png"/></Relationships>
</file>

<file path=ppt/slides/_rels/slide5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72.jpeg"/></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74.png"/></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76.png"/></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71.png"/></Relationships>
</file>

<file path=ppt/slides/_rels/slide7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82.png"/></Relationships>
</file>

<file path=ppt/slides/_rels/slide7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hyperlink" Target="https://cppcodetips.wordpress.com/2013/12/23/uml-class-diagram-explained-with-c-samples/"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99.gif"/></Relationships>
</file>

<file path=ppt/slides/_rels/slide91.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notesSlide" Target="../notesSlides/notesSlide61.xml"/><Relationship Id="rId1" Type="http://schemas.openxmlformats.org/officeDocument/2006/relationships/slideLayout" Target="../slideLayouts/slideLayout3.xml"/><Relationship Id="rId6" Type="http://schemas.openxmlformats.org/officeDocument/2006/relationships/image" Target="../media/image104.emf"/><Relationship Id="rId5" Type="http://schemas.openxmlformats.org/officeDocument/2006/relationships/image" Target="../media/image103.emf"/><Relationship Id="rId4" Type="http://schemas.openxmlformats.org/officeDocument/2006/relationships/image" Target="../media/image102.emf"/></Relationships>
</file>

<file path=ppt/slides/_rels/slide93.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notesSlide" Target="../notesSlides/notesSlide62.xml"/><Relationship Id="rId1" Type="http://schemas.openxmlformats.org/officeDocument/2006/relationships/slideLayout" Target="../slideLayouts/slideLayout3.xml"/><Relationship Id="rId5" Type="http://schemas.openxmlformats.org/officeDocument/2006/relationships/image" Target="../media/image107.emf"/><Relationship Id="rId4" Type="http://schemas.openxmlformats.org/officeDocument/2006/relationships/image" Target="../media/image106.emf"/></Relationships>
</file>

<file path=ppt/slides/_rels/slide94.xml.rels><?xml version="1.0" encoding="UTF-8" standalone="yes"?>
<Relationships xmlns="http://schemas.openxmlformats.org/package/2006/relationships"><Relationship Id="rId3" Type="http://schemas.openxmlformats.org/officeDocument/2006/relationships/image" Target="../media/image108.gif"/><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110.png"/></Relationships>
</file>

<file path=ppt/slides/_rels/slide9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3.xml"/><Relationship Id="rId4" Type="http://schemas.openxmlformats.org/officeDocument/2006/relationships/image" Target="../media/image113.png"/></Relationships>
</file>

<file path=ppt/slides/_rels/slide9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65.xml"/><Relationship Id="rId1" Type="http://schemas.openxmlformats.org/officeDocument/2006/relationships/slideLayout" Target="../slideLayouts/slideLayout3.xml"/><Relationship Id="rId4" Type="http://schemas.openxmlformats.org/officeDocument/2006/relationships/image" Target="../media/image115.png"/></Relationships>
</file>

<file path=ppt/slides/_rels/slide9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66.xml"/><Relationship Id="rId1" Type="http://schemas.openxmlformats.org/officeDocument/2006/relationships/slideLayout" Target="../slideLayouts/slideLayout3.xml"/><Relationship Id="rId4" Type="http://schemas.openxmlformats.org/officeDocument/2006/relationships/image" Target="../media/image117.png"/></Relationships>
</file>

<file path=ppt/slides/_rels/slide99.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notesSlide" Target="../notesSlides/notesSlide67.xml"/><Relationship Id="rId1" Type="http://schemas.openxmlformats.org/officeDocument/2006/relationships/slideLayout" Target="../slideLayouts/slideLayout3.xml"/><Relationship Id="rId6" Type="http://schemas.openxmlformats.org/officeDocument/2006/relationships/image" Target="../media/image121.png"/><Relationship Id="rId5" Type="http://schemas.openxmlformats.org/officeDocument/2006/relationships/image" Target="../media/image120.emf"/><Relationship Id="rId4" Type="http://schemas.openxmlformats.org/officeDocument/2006/relationships/image" Target="../media/image119.e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50032" y="2678928"/>
            <a:ext cx="291934" cy="584705"/>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en-US" altLang="ko-KR" sz="32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sp>
        <p:nvSpPr>
          <p:cNvPr id="5" name="TextBox 4"/>
          <p:cNvSpPr txBox="1"/>
          <p:nvPr/>
        </p:nvSpPr>
        <p:spPr>
          <a:xfrm>
            <a:off x="5154143" y="3106218"/>
            <a:ext cx="1883716" cy="1015592"/>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en-US" altLang="ko-KR" sz="60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UML</a:t>
            </a:r>
            <a:endParaRPr kumimoji="1" lang="en-US" altLang="ko-KR" sz="6000" b="1"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6" name="TextBox 5"/>
          <p:cNvSpPr txBox="1"/>
          <p:nvPr/>
        </p:nvSpPr>
        <p:spPr>
          <a:xfrm>
            <a:off x="5772901" y="4410636"/>
            <a:ext cx="646199" cy="276928"/>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ko-KR" altLang="en-US" sz="12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이혜</a:t>
            </a:r>
            <a:r>
              <a:rPr kumimoji="1" lang="ko-KR" altLang="en-US" sz="1200" b="1" dirty="0">
                <a:ln>
                  <a:solidFill>
                    <a:schemeClr val="bg1">
                      <a:lumMod val="85000"/>
                      <a:alpha val="0"/>
                    </a:schemeClr>
                  </a:solidFill>
                </a:ln>
                <a:solidFill>
                  <a:srgbClr val="4B465E"/>
                </a:solidFill>
                <a:latin typeface="맑은 고딕" pitchFamily="50" charset="-127"/>
                <a:cs typeface="Arial" panose="020B0604020202020204" pitchFamily="34" charset="0"/>
              </a:rPr>
              <a:t>준</a:t>
            </a:r>
            <a:endParaRPr kumimoji="1" lang="en-US" altLang="ko-KR" sz="1200" b="1"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39184885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0"/>
          </p:nvPr>
        </p:nvSpPr>
        <p:spPr/>
        <p:txBody>
          <a:bodyPr/>
          <a:lstStyle/>
          <a:p>
            <a:endParaRPr lang="ko-KR" altLang="en-US"/>
          </a:p>
        </p:txBody>
      </p:sp>
      <p:sp>
        <p:nvSpPr>
          <p:cNvPr id="2" name="제목 1"/>
          <p:cNvSpPr>
            <a:spLocks noGrp="1"/>
          </p:cNvSpPr>
          <p:nvPr>
            <p:ph type="title"/>
          </p:nvPr>
        </p:nvSpPr>
        <p:spPr/>
        <p:txBody>
          <a:bodyPr/>
          <a:lstStyle/>
          <a:p>
            <a:r>
              <a:rPr lang="en-US" altLang="ko-KR" dirty="0"/>
              <a:t>Revision History</a:t>
            </a:r>
            <a:endParaRPr lang="ko-KR" altLang="en-US" dirty="0"/>
          </a:p>
        </p:txBody>
      </p:sp>
      <p:graphicFrame>
        <p:nvGraphicFramePr>
          <p:cNvPr id="7" name="표 6"/>
          <p:cNvGraphicFramePr>
            <a:graphicFrameLocks noGrp="1"/>
          </p:cNvGraphicFramePr>
          <p:nvPr>
            <p:extLst>
              <p:ext uri="{D42A27DB-BD31-4B8C-83A1-F6EECF244321}">
                <p14:modId xmlns:p14="http://schemas.microsoft.com/office/powerpoint/2010/main" val="242206757"/>
              </p:ext>
            </p:extLst>
          </p:nvPr>
        </p:nvGraphicFramePr>
        <p:xfrm>
          <a:off x="479376" y="719666"/>
          <a:ext cx="11305256" cy="4429309"/>
        </p:xfrm>
        <a:graphic>
          <a:graphicData uri="http://schemas.openxmlformats.org/drawingml/2006/table">
            <a:tbl>
              <a:tblPr firstRow="1" bandRow="1">
                <a:tableStyleId>{5C22544A-7EE6-4342-B048-85BDC9FD1C3A}</a:tableStyleId>
              </a:tblPr>
              <a:tblGrid>
                <a:gridCol w="432048">
                  <a:extLst>
                    <a:ext uri="{9D8B030D-6E8A-4147-A177-3AD203B41FA5}">
                      <a16:colId xmlns="" xmlns:a16="http://schemas.microsoft.com/office/drawing/2014/main" val="2853926298"/>
                    </a:ext>
                  </a:extLst>
                </a:gridCol>
                <a:gridCol w="1080120">
                  <a:extLst>
                    <a:ext uri="{9D8B030D-6E8A-4147-A177-3AD203B41FA5}">
                      <a16:colId xmlns="" xmlns:a16="http://schemas.microsoft.com/office/drawing/2014/main" val="1510207017"/>
                    </a:ext>
                  </a:extLst>
                </a:gridCol>
                <a:gridCol w="1368152">
                  <a:extLst>
                    <a:ext uri="{9D8B030D-6E8A-4147-A177-3AD203B41FA5}">
                      <a16:colId xmlns="" xmlns:a16="http://schemas.microsoft.com/office/drawing/2014/main" val="2891268528"/>
                    </a:ext>
                  </a:extLst>
                </a:gridCol>
                <a:gridCol w="8424936">
                  <a:extLst>
                    <a:ext uri="{9D8B030D-6E8A-4147-A177-3AD203B41FA5}">
                      <a16:colId xmlns="" xmlns:a16="http://schemas.microsoft.com/office/drawing/2014/main" val="1210699394"/>
                    </a:ext>
                  </a:extLst>
                </a:gridCol>
              </a:tblGrid>
              <a:tr h="326851">
                <a:tc>
                  <a:txBody>
                    <a:bodyPr/>
                    <a:lstStyle/>
                    <a:p>
                      <a:pPr algn="ctr" latinLnBrk="1"/>
                      <a:r>
                        <a:rPr lang="en-US" altLang="ko-KR" sz="1000" dirty="0" smtClean="0"/>
                        <a:t>#</a:t>
                      </a:r>
                      <a:endParaRPr lang="ko-KR" altLang="en-US" sz="1000" dirty="0"/>
                    </a:p>
                  </a:txBody>
                  <a:tcPr/>
                </a:tc>
                <a:tc>
                  <a:txBody>
                    <a:bodyPr/>
                    <a:lstStyle/>
                    <a:p>
                      <a:pPr algn="ctr" latinLnBrk="1"/>
                      <a:r>
                        <a:rPr lang="en-US" altLang="ko-KR" sz="1000" dirty="0" smtClean="0"/>
                        <a:t>Date</a:t>
                      </a:r>
                      <a:endParaRPr lang="ko-KR" altLang="en-US" sz="1000" dirty="0"/>
                    </a:p>
                  </a:txBody>
                  <a:tcPr/>
                </a:tc>
                <a:tc>
                  <a:txBody>
                    <a:bodyPr/>
                    <a:lstStyle/>
                    <a:p>
                      <a:pPr algn="ctr" latinLnBrk="1"/>
                      <a:r>
                        <a:rPr lang="ko-KR" altLang="en-US" sz="1000" dirty="0" smtClean="0"/>
                        <a:t>작성</a:t>
                      </a:r>
                      <a:endParaRPr lang="ko-KR" altLang="en-US" sz="1000" dirty="0"/>
                    </a:p>
                  </a:txBody>
                  <a:tcPr/>
                </a:tc>
                <a:tc>
                  <a:txBody>
                    <a:bodyPr/>
                    <a:lstStyle/>
                    <a:p>
                      <a:pPr latinLnBrk="1"/>
                      <a:r>
                        <a:rPr lang="ko-KR" altLang="en-US" sz="1000" dirty="0" err="1" smtClean="0"/>
                        <a:t>변경점</a:t>
                      </a:r>
                      <a:endParaRPr lang="ko-KR" altLang="en-US" sz="1000" dirty="0"/>
                    </a:p>
                  </a:txBody>
                  <a:tcPr/>
                </a:tc>
                <a:extLst>
                  <a:ext uri="{0D108BD9-81ED-4DB2-BD59-A6C34878D82A}">
                    <a16:rowId xmlns="" xmlns:a16="http://schemas.microsoft.com/office/drawing/2014/main" val="156979896"/>
                  </a:ext>
                </a:extLst>
              </a:tr>
              <a:tr h="150235">
                <a:tc>
                  <a:txBody>
                    <a:bodyPr/>
                    <a:lstStyle/>
                    <a:p>
                      <a:pPr algn="ctr" latinLnBrk="1"/>
                      <a:r>
                        <a:rPr lang="en-US" altLang="ko-KR" sz="1000" dirty="0" smtClean="0">
                          <a:latin typeface="+mn-ea"/>
                          <a:ea typeface="+mn-ea"/>
                        </a:rPr>
                        <a:t>1</a:t>
                      </a:r>
                      <a:endParaRPr lang="ko-KR" altLang="en-US" sz="1000" dirty="0">
                        <a:latin typeface="+mn-ea"/>
                        <a:ea typeface="+mn-ea"/>
                      </a:endParaRPr>
                    </a:p>
                  </a:txBody>
                  <a:tcPr/>
                </a:tc>
                <a:tc>
                  <a:txBody>
                    <a:bodyPr/>
                    <a:lstStyle/>
                    <a:p>
                      <a:pPr algn="ctr" latinLnBrk="1"/>
                      <a:r>
                        <a:rPr lang="en-US" altLang="ko-KR" sz="1000" dirty="0" smtClean="0">
                          <a:latin typeface="+mn-ea"/>
                          <a:ea typeface="+mn-ea"/>
                        </a:rPr>
                        <a:t>24-04-11</a:t>
                      </a:r>
                      <a:endParaRPr lang="ko-KR" altLang="en-US" sz="1000" dirty="0">
                        <a:latin typeface="+mn-ea"/>
                        <a:ea typeface="+mn-ea"/>
                      </a:endParaRPr>
                    </a:p>
                  </a:txBody>
                  <a:tcPr/>
                </a:tc>
                <a:tc>
                  <a:txBody>
                    <a:bodyPr/>
                    <a:lstStyle/>
                    <a:p>
                      <a:pPr algn="ctr" latinLnBrk="1"/>
                      <a:r>
                        <a:rPr lang="en-US" altLang="ko-KR" sz="1000" dirty="0" smtClean="0">
                          <a:latin typeface="+mn-ea"/>
                          <a:ea typeface="+mn-ea"/>
                        </a:rPr>
                        <a:t>DS </a:t>
                      </a:r>
                      <a:r>
                        <a:rPr lang="ko-KR" altLang="en-US" sz="1000" dirty="0" err="1"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smtClean="0">
                          <a:latin typeface="+mn-ea"/>
                          <a:ea typeface="+mn-ea"/>
                        </a:rPr>
                        <a:t>UML </a:t>
                      </a:r>
                      <a:r>
                        <a:rPr lang="ko-KR" altLang="en-US" sz="1000" dirty="0" smtClean="0">
                          <a:latin typeface="+mn-ea"/>
                          <a:ea typeface="+mn-ea"/>
                        </a:rPr>
                        <a:t>기초 및 </a:t>
                      </a:r>
                      <a:r>
                        <a:rPr lang="en-US" altLang="ko-KR" sz="1000" dirty="0" err="1" smtClean="0">
                          <a:latin typeface="+mn-ea"/>
                          <a:ea typeface="+mn-ea"/>
                        </a:rPr>
                        <a:t>usecase</a:t>
                      </a:r>
                      <a:r>
                        <a:rPr lang="en-US" altLang="ko-KR" sz="1000" dirty="0" smtClean="0">
                          <a:latin typeface="+mn-ea"/>
                          <a:ea typeface="+mn-ea"/>
                        </a:rPr>
                        <a:t> D, sequence D, class D </a:t>
                      </a:r>
                      <a:r>
                        <a:rPr lang="ko-KR" altLang="en-US" sz="1000" dirty="0" smtClean="0">
                          <a:latin typeface="+mn-ea"/>
                          <a:ea typeface="+mn-ea"/>
                        </a:rPr>
                        <a:t>내용 구성</a:t>
                      </a:r>
                      <a:endParaRPr lang="ko-KR" altLang="en-US" sz="1000" dirty="0">
                        <a:latin typeface="+mn-ea"/>
                        <a:ea typeface="+mn-ea"/>
                      </a:endParaRPr>
                    </a:p>
                  </a:txBody>
                  <a:tcPr/>
                </a:tc>
                <a:extLst>
                  <a:ext uri="{0D108BD9-81ED-4DB2-BD59-A6C34878D82A}">
                    <a16:rowId xmlns="" xmlns:a16="http://schemas.microsoft.com/office/drawing/2014/main" val="2720899450"/>
                  </a:ext>
                </a:extLst>
              </a:tr>
              <a:tr h="122419">
                <a:tc>
                  <a:txBody>
                    <a:bodyPr/>
                    <a:lstStyle/>
                    <a:p>
                      <a:pPr algn="ctr" latinLnBrk="1"/>
                      <a:r>
                        <a:rPr lang="en-US" altLang="ko-KR" sz="1000" dirty="0" smtClean="0">
                          <a:latin typeface="+mn-ea"/>
                          <a:ea typeface="+mn-ea"/>
                        </a:rPr>
                        <a:t>2</a:t>
                      </a:r>
                      <a:endParaRPr lang="ko-KR" altLang="en-US" sz="1000" dirty="0">
                        <a:latin typeface="+mn-ea"/>
                        <a:ea typeface="+mn-ea"/>
                      </a:endParaRPr>
                    </a:p>
                  </a:txBody>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24-04-16</a:t>
                      </a:r>
                      <a:endParaRPr lang="ko-KR" altLang="en-US" sz="1000" dirty="0">
                        <a:latin typeface="+mn-ea"/>
                        <a:ea typeface="+mn-ea"/>
                      </a:endParaRPr>
                    </a:p>
                  </a:txBody>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DS </a:t>
                      </a:r>
                      <a:r>
                        <a:rPr lang="ko-KR" altLang="en-US" sz="1000" dirty="0" err="1"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smtClean="0">
                          <a:latin typeface="+mn-ea"/>
                          <a:ea typeface="+mn-ea"/>
                        </a:rPr>
                        <a:t>Loop fragment</a:t>
                      </a:r>
                      <a:r>
                        <a:rPr lang="ko-KR" altLang="en-US" sz="1000" dirty="0" smtClean="0">
                          <a:latin typeface="+mn-ea"/>
                          <a:ea typeface="+mn-ea"/>
                        </a:rPr>
                        <a:t>에서 </a:t>
                      </a:r>
                      <a:r>
                        <a:rPr lang="en-US" altLang="ko-KR" sz="1000" dirty="0" smtClean="0">
                          <a:latin typeface="+mn-ea"/>
                          <a:ea typeface="+mn-ea"/>
                        </a:rPr>
                        <a:t>min, guard</a:t>
                      </a:r>
                      <a:r>
                        <a:rPr lang="ko-KR" altLang="en-US" sz="1000" dirty="0" smtClean="0">
                          <a:latin typeface="+mn-ea"/>
                          <a:ea typeface="+mn-ea"/>
                        </a:rPr>
                        <a:t>같이 설정 시 해석 근거 추가</a:t>
                      </a:r>
                      <a:r>
                        <a:rPr lang="en-US" altLang="ko-KR" sz="1000" dirty="0" smtClean="0">
                          <a:latin typeface="+mn-ea"/>
                          <a:ea typeface="+mn-ea"/>
                        </a:rPr>
                        <a:t>,</a:t>
                      </a:r>
                      <a:r>
                        <a:rPr lang="ko-KR" altLang="en-US" sz="1000" baseline="0" dirty="0" smtClean="0">
                          <a:latin typeface="+mn-ea"/>
                          <a:ea typeface="+mn-ea"/>
                        </a:rPr>
                        <a:t> </a:t>
                      </a:r>
                      <a:r>
                        <a:rPr lang="en-US" altLang="ko-KR" sz="1000" dirty="0" smtClean="0">
                          <a:latin typeface="+mn-ea"/>
                          <a:ea typeface="+mn-ea"/>
                        </a:rPr>
                        <a:t>Ref fragment </a:t>
                      </a:r>
                      <a:r>
                        <a:rPr lang="ko-KR" altLang="en-US" sz="1000" dirty="0" smtClean="0">
                          <a:latin typeface="+mn-ea"/>
                          <a:ea typeface="+mn-ea"/>
                        </a:rPr>
                        <a:t>설명 추가</a:t>
                      </a:r>
                      <a:r>
                        <a:rPr lang="en-US" altLang="ko-KR" sz="1000" dirty="0" smtClean="0">
                          <a:latin typeface="+mn-ea"/>
                          <a:ea typeface="+mn-ea"/>
                        </a:rPr>
                        <a:t> </a:t>
                      </a:r>
                      <a:endParaRPr lang="ko-KR" altLang="en-US" sz="1000" dirty="0">
                        <a:latin typeface="+mn-ea"/>
                        <a:ea typeface="+mn-ea"/>
                      </a:endParaRPr>
                    </a:p>
                  </a:txBody>
                  <a:tcPr/>
                </a:tc>
                <a:extLst>
                  <a:ext uri="{0D108BD9-81ED-4DB2-BD59-A6C34878D82A}">
                    <a16:rowId xmlns="" xmlns:a16="http://schemas.microsoft.com/office/drawing/2014/main" val="509731995"/>
                  </a:ext>
                </a:extLst>
              </a:tr>
              <a:tr h="0">
                <a:tc>
                  <a:txBody>
                    <a:bodyPr/>
                    <a:lstStyle/>
                    <a:p>
                      <a:pPr algn="ctr" latinLnBrk="1"/>
                      <a:r>
                        <a:rPr lang="en-US" altLang="ko-KR" sz="1000" dirty="0" smtClean="0">
                          <a:latin typeface="+mn-ea"/>
                          <a:ea typeface="+mn-ea"/>
                        </a:rPr>
                        <a:t>3</a:t>
                      </a:r>
                      <a:endParaRPr lang="ko-KR" altLang="en-US" sz="1000" dirty="0">
                        <a:latin typeface="+mn-ea"/>
                        <a:ea typeface="+mn-ea"/>
                      </a:endParaRPr>
                    </a:p>
                  </a:txBody>
                  <a:tcPr/>
                </a:tc>
                <a:tc>
                  <a:txBody>
                    <a:bodyPr/>
                    <a:lstStyle/>
                    <a:p>
                      <a:pPr algn="ctr" latinLnBrk="1"/>
                      <a:r>
                        <a:rPr lang="en-US" altLang="ko-KR" sz="1000" dirty="0" smtClean="0">
                          <a:latin typeface="+mn-ea"/>
                          <a:ea typeface="+mn-ea"/>
                        </a:rPr>
                        <a:t>24-06-10</a:t>
                      </a:r>
                      <a:endParaRPr lang="ko-KR" altLang="en-US" sz="1000" dirty="0">
                        <a:latin typeface="+mn-ea"/>
                        <a:ea typeface="+mn-ea"/>
                      </a:endParaRPr>
                    </a:p>
                  </a:txBody>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DS </a:t>
                      </a:r>
                      <a:r>
                        <a:rPr lang="ko-KR" altLang="en-US" sz="1000" dirty="0"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smtClean="0">
                          <a:latin typeface="+mn-ea"/>
                          <a:ea typeface="+mn-ea"/>
                        </a:rPr>
                        <a:t>Fully dressed-up scenario </a:t>
                      </a:r>
                      <a:r>
                        <a:rPr lang="ko-KR" altLang="en-US" sz="1000" dirty="0" smtClean="0">
                          <a:latin typeface="+mn-ea"/>
                          <a:ea typeface="+mn-ea"/>
                        </a:rPr>
                        <a:t>예제 추가</a:t>
                      </a:r>
                      <a:endParaRPr lang="ko-KR" altLang="en-US" sz="1000" dirty="0">
                        <a:latin typeface="+mn-ea"/>
                        <a:ea typeface="+mn-ea"/>
                      </a:endParaRPr>
                    </a:p>
                  </a:txBody>
                  <a:tcPr/>
                </a:tc>
                <a:extLst>
                  <a:ext uri="{0D108BD9-81ED-4DB2-BD59-A6C34878D82A}">
                    <a16:rowId xmlns="" xmlns:a16="http://schemas.microsoft.com/office/drawing/2014/main" val="2365794003"/>
                  </a:ext>
                </a:extLst>
              </a:tr>
              <a:tr h="138795">
                <a:tc>
                  <a:txBody>
                    <a:bodyPr/>
                    <a:lstStyle/>
                    <a:p>
                      <a:pPr algn="ctr" latinLnBrk="1"/>
                      <a:r>
                        <a:rPr lang="en-US" altLang="ko-KR" sz="1000" dirty="0" smtClean="0">
                          <a:latin typeface="+mn-ea"/>
                          <a:ea typeface="+mn-ea"/>
                        </a:rPr>
                        <a:t>4</a:t>
                      </a:r>
                      <a:endParaRPr lang="ko-KR" altLang="en-US" sz="1000" dirty="0">
                        <a:latin typeface="+mn-ea"/>
                        <a:ea typeface="+mn-ea"/>
                      </a:endParaRPr>
                    </a:p>
                  </a:txBody>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24-06-12</a:t>
                      </a:r>
                      <a:endParaRPr lang="ko-KR" altLang="en-US" sz="1000" dirty="0">
                        <a:latin typeface="+mn-ea"/>
                        <a:ea typeface="+mn-ea"/>
                      </a:endParaRPr>
                    </a:p>
                  </a:txBody>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DS </a:t>
                      </a:r>
                      <a:r>
                        <a:rPr lang="ko-KR" altLang="en-US" sz="1000" dirty="0"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smtClean="0">
                          <a:latin typeface="+mn-ea"/>
                          <a:ea typeface="+mn-ea"/>
                        </a:rPr>
                        <a:t>24-3</a:t>
                      </a:r>
                      <a:r>
                        <a:rPr lang="ko-KR" altLang="en-US" sz="1000" dirty="0" smtClean="0">
                          <a:latin typeface="+mn-ea"/>
                          <a:ea typeface="+mn-ea"/>
                        </a:rPr>
                        <a:t>차 </a:t>
                      </a:r>
                      <a:r>
                        <a:rPr lang="en-US" altLang="ko-KR" sz="1000" dirty="0" smtClean="0">
                          <a:latin typeface="+mn-ea"/>
                          <a:ea typeface="+mn-ea"/>
                        </a:rPr>
                        <a:t>OOAD</a:t>
                      </a:r>
                      <a:r>
                        <a:rPr lang="en-US" altLang="ko-KR" sz="1000" baseline="0" dirty="0" smtClean="0">
                          <a:latin typeface="+mn-ea"/>
                          <a:ea typeface="+mn-ea"/>
                        </a:rPr>
                        <a:t> </a:t>
                      </a:r>
                      <a:r>
                        <a:rPr lang="ko-KR" altLang="en-US" sz="1000" baseline="0" dirty="0" smtClean="0">
                          <a:latin typeface="+mn-ea"/>
                          <a:ea typeface="+mn-ea"/>
                        </a:rPr>
                        <a:t>실습 피드백 공유 내용 첨부</a:t>
                      </a:r>
                      <a:endParaRPr lang="ko-KR" altLang="en-US" sz="1000" dirty="0">
                        <a:latin typeface="+mn-ea"/>
                        <a:ea typeface="+mn-ea"/>
                      </a:endParaRPr>
                    </a:p>
                  </a:txBody>
                  <a:tcPr/>
                </a:tc>
                <a:extLst>
                  <a:ext uri="{0D108BD9-81ED-4DB2-BD59-A6C34878D82A}">
                    <a16:rowId xmlns="" xmlns:a16="http://schemas.microsoft.com/office/drawing/2014/main" val="1065504329"/>
                  </a:ext>
                </a:extLst>
              </a:tr>
              <a:tr h="133075">
                <a:tc>
                  <a:txBody>
                    <a:bodyPr/>
                    <a:lstStyle/>
                    <a:p>
                      <a:pPr algn="ctr" latinLnBrk="1"/>
                      <a:r>
                        <a:rPr lang="en-US" altLang="ko-KR" sz="1000" dirty="0" smtClean="0">
                          <a:latin typeface="+mn-ea"/>
                          <a:ea typeface="+mn-ea"/>
                        </a:rPr>
                        <a:t>5</a:t>
                      </a:r>
                      <a:endParaRPr lang="ko-KR" altLang="en-US" sz="1000" dirty="0">
                        <a:latin typeface="+mn-ea"/>
                        <a:ea typeface="+mn-ea"/>
                      </a:endParaRPr>
                    </a:p>
                  </a:txBody>
                  <a:tcPr/>
                </a:tc>
                <a:tc>
                  <a:txBody>
                    <a:bodyPr/>
                    <a:lstStyle/>
                    <a:p>
                      <a:pPr algn="ctr" latinLnBrk="1"/>
                      <a:r>
                        <a:rPr lang="en-US" altLang="ko-KR" sz="1000" dirty="0" smtClean="0">
                          <a:latin typeface="+mn-ea"/>
                          <a:ea typeface="+mn-ea"/>
                        </a:rPr>
                        <a:t>24-07-23</a:t>
                      </a:r>
                      <a:endParaRPr lang="ko-KR" altLang="en-US" sz="1000" dirty="0">
                        <a:latin typeface="+mn-ea"/>
                        <a:ea typeface="+mn-ea"/>
                      </a:endParaRPr>
                    </a:p>
                  </a:txBody>
                  <a:tcPr/>
                </a:tc>
                <a:tc>
                  <a:txBody>
                    <a:bodyPr/>
                    <a:lstStyle/>
                    <a:p>
                      <a:pPr algn="ctr" latinLnBrk="1"/>
                      <a:r>
                        <a:rPr lang="en-US" altLang="ko-KR" sz="1000" dirty="0" smtClean="0">
                          <a:latin typeface="+mn-ea"/>
                          <a:ea typeface="+mn-ea"/>
                        </a:rPr>
                        <a:t>DS </a:t>
                      </a:r>
                      <a:r>
                        <a:rPr lang="ko-KR" altLang="en-US" sz="1000" dirty="0" err="1"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smtClean="0">
                          <a:latin typeface="+mn-ea"/>
                          <a:ea typeface="+mn-ea"/>
                        </a:rPr>
                        <a:t>Use case </a:t>
                      </a:r>
                      <a:r>
                        <a:rPr lang="ko-KR" altLang="en-US" sz="1000" dirty="0" smtClean="0">
                          <a:latin typeface="+mn-ea"/>
                          <a:ea typeface="+mn-ea"/>
                        </a:rPr>
                        <a:t>예시와 설명 추가</a:t>
                      </a:r>
                      <a:endParaRPr lang="ko-KR" altLang="en-US" sz="1000" dirty="0">
                        <a:latin typeface="+mn-ea"/>
                        <a:ea typeface="+mn-ea"/>
                      </a:endParaRPr>
                    </a:p>
                  </a:txBody>
                  <a:tcPr/>
                </a:tc>
                <a:extLst>
                  <a:ext uri="{0D108BD9-81ED-4DB2-BD59-A6C34878D82A}">
                    <a16:rowId xmlns="" xmlns:a16="http://schemas.microsoft.com/office/drawing/2014/main" val="2766408309"/>
                  </a:ext>
                </a:extLst>
              </a:tr>
              <a:tr h="146787">
                <a:tc>
                  <a:txBody>
                    <a:bodyPr/>
                    <a:lstStyle/>
                    <a:p>
                      <a:pPr algn="ctr" latinLnBrk="1"/>
                      <a:r>
                        <a:rPr lang="en-US" altLang="ko-KR" sz="1000" dirty="0" smtClean="0">
                          <a:latin typeface="+mn-ea"/>
                          <a:ea typeface="+mn-ea"/>
                        </a:rPr>
                        <a:t>6</a:t>
                      </a:r>
                      <a:endParaRPr lang="ko-KR" altLang="en-US" sz="1000" dirty="0">
                        <a:latin typeface="+mn-ea"/>
                        <a:ea typeface="+mn-ea"/>
                      </a:endParaRPr>
                    </a:p>
                  </a:txBody>
                  <a:tcPr/>
                </a:tc>
                <a:tc>
                  <a:txBody>
                    <a:bodyPr/>
                    <a:lstStyle/>
                    <a:p>
                      <a:pPr algn="ctr" latinLnBrk="1"/>
                      <a:r>
                        <a:rPr lang="en-US" altLang="ko-KR" sz="1000" dirty="0" smtClean="0">
                          <a:latin typeface="+mn-ea"/>
                          <a:ea typeface="+mn-ea"/>
                        </a:rPr>
                        <a:t>25-06-04</a:t>
                      </a:r>
                      <a:endParaRPr lang="ko-KR" altLang="en-US" sz="1000" dirty="0">
                        <a:latin typeface="+mn-ea"/>
                        <a:ea typeface="+mn-ea"/>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DS </a:t>
                      </a:r>
                      <a:r>
                        <a:rPr lang="ko-KR" altLang="en-US" sz="1000" dirty="0" err="1"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smtClean="0">
                          <a:latin typeface="+mn-ea"/>
                          <a:ea typeface="+mn-ea"/>
                        </a:rPr>
                        <a:t>Aggregation </a:t>
                      </a:r>
                      <a:r>
                        <a:rPr lang="ko-KR" altLang="en-US" sz="1000" dirty="0" smtClean="0">
                          <a:latin typeface="+mn-ea"/>
                          <a:ea typeface="+mn-ea"/>
                        </a:rPr>
                        <a:t>설명 추가</a:t>
                      </a:r>
                      <a:endParaRPr lang="ko-KR" altLang="en-US" sz="1000" dirty="0">
                        <a:latin typeface="+mn-ea"/>
                        <a:ea typeface="+mn-ea"/>
                      </a:endParaRPr>
                    </a:p>
                  </a:txBody>
                  <a:tcPr/>
                </a:tc>
                <a:extLst>
                  <a:ext uri="{0D108BD9-81ED-4DB2-BD59-A6C34878D82A}">
                    <a16:rowId xmlns="" xmlns:a16="http://schemas.microsoft.com/office/drawing/2014/main" val="1246821814"/>
                  </a:ext>
                </a:extLst>
              </a:tr>
              <a:tr h="0">
                <a:tc>
                  <a:txBody>
                    <a:bodyPr/>
                    <a:lstStyle/>
                    <a:p>
                      <a:pPr algn="ctr" latinLnBrk="1"/>
                      <a:r>
                        <a:rPr lang="en-US" altLang="ko-KR" sz="1000" dirty="0" smtClean="0">
                          <a:latin typeface="+mn-ea"/>
                          <a:ea typeface="+mn-ea"/>
                        </a:rPr>
                        <a:t>7</a:t>
                      </a:r>
                      <a:endParaRPr lang="ko-KR" altLang="en-US" sz="1000" dirty="0">
                        <a:latin typeface="+mn-ea"/>
                        <a:ea typeface="+mn-ea"/>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25-06-18</a:t>
                      </a:r>
                      <a:endParaRPr lang="ko-KR" altLang="en-US" sz="1000" dirty="0">
                        <a:latin typeface="+mn-ea"/>
                        <a:ea typeface="+mn-ea"/>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DS </a:t>
                      </a:r>
                      <a:r>
                        <a:rPr lang="ko-KR" altLang="en-US" sz="1000" dirty="0" err="1"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err="1" smtClean="0">
                          <a:latin typeface="+mn-ea"/>
                          <a:ea typeface="+mn-ea"/>
                        </a:rPr>
                        <a:t>Usecase</a:t>
                      </a:r>
                      <a:r>
                        <a:rPr lang="en-US" altLang="ko-KR" sz="1000" dirty="0" smtClean="0">
                          <a:latin typeface="+mn-ea"/>
                          <a:ea typeface="+mn-ea"/>
                        </a:rPr>
                        <a:t> Diagram</a:t>
                      </a:r>
                      <a:r>
                        <a:rPr lang="en-US" altLang="ko-KR" sz="1000" baseline="0" dirty="0" smtClean="0">
                          <a:latin typeface="+mn-ea"/>
                          <a:ea typeface="+mn-ea"/>
                        </a:rPr>
                        <a:t> </a:t>
                      </a:r>
                      <a:r>
                        <a:rPr lang="ko-KR" altLang="en-US" sz="1000" baseline="0" dirty="0" smtClean="0">
                          <a:latin typeface="+mn-ea"/>
                          <a:ea typeface="+mn-ea"/>
                        </a:rPr>
                        <a:t>예제 </a:t>
                      </a:r>
                      <a:r>
                        <a:rPr lang="en-US" altLang="ko-KR" sz="1000" baseline="0" dirty="0" smtClean="0">
                          <a:latin typeface="+mn-ea"/>
                          <a:ea typeface="+mn-ea"/>
                        </a:rPr>
                        <a:t>renewal</a:t>
                      </a:r>
                      <a:endParaRPr lang="ko-KR" altLang="en-US" sz="1000" dirty="0">
                        <a:latin typeface="+mn-ea"/>
                        <a:ea typeface="+mn-ea"/>
                      </a:endParaRPr>
                    </a:p>
                  </a:txBody>
                  <a:tcPr/>
                </a:tc>
                <a:extLst>
                  <a:ext uri="{0D108BD9-81ED-4DB2-BD59-A6C34878D82A}">
                    <a16:rowId xmlns="" xmlns:a16="http://schemas.microsoft.com/office/drawing/2014/main" val="2555026063"/>
                  </a:ext>
                </a:extLst>
              </a:tr>
              <a:tr h="0">
                <a:tc>
                  <a:txBody>
                    <a:bodyPr/>
                    <a:lstStyle/>
                    <a:p>
                      <a:pPr algn="ctr" latinLnBrk="1"/>
                      <a:r>
                        <a:rPr lang="en-US" altLang="ko-KR" sz="1000" dirty="0" smtClean="0">
                          <a:latin typeface="+mn-ea"/>
                          <a:ea typeface="+mn-ea"/>
                        </a:rPr>
                        <a:t>8</a:t>
                      </a:r>
                      <a:endParaRPr lang="ko-KR" altLang="en-US" sz="1000" dirty="0">
                        <a:latin typeface="+mn-ea"/>
                        <a:ea typeface="+mn-ea"/>
                      </a:endParaRPr>
                    </a:p>
                  </a:txBody>
                  <a:tcPr/>
                </a:tc>
                <a:tc>
                  <a:txBody>
                    <a:bodyPr/>
                    <a:lstStyle/>
                    <a:p>
                      <a:pPr algn="ctr" latinLnBrk="1"/>
                      <a:r>
                        <a:rPr lang="en-US" altLang="ko-KR" sz="1000" dirty="0" smtClean="0">
                          <a:latin typeface="+mn-ea"/>
                          <a:ea typeface="+mn-ea"/>
                        </a:rPr>
                        <a:t>25-08-17</a:t>
                      </a:r>
                      <a:endParaRPr lang="ko-KR" altLang="en-US" sz="1000" dirty="0">
                        <a:latin typeface="+mn-ea"/>
                        <a:ea typeface="+mn-ea"/>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DS </a:t>
                      </a:r>
                      <a:r>
                        <a:rPr lang="ko-KR" altLang="en-US" sz="1000" dirty="0" smtClean="0">
                          <a:latin typeface="+mn-ea"/>
                          <a:ea typeface="+mn-ea"/>
                        </a:rPr>
                        <a:t>이혜준</a:t>
                      </a:r>
                      <a:endParaRPr lang="ko-KR" altLang="en-US" sz="1000" dirty="0">
                        <a:latin typeface="+mn-ea"/>
                        <a:ea typeface="+mn-ea"/>
                      </a:endParaRPr>
                    </a:p>
                  </a:txBody>
                  <a:tcPr/>
                </a:tc>
                <a:tc>
                  <a:txBody>
                    <a:bodyPr/>
                    <a:lstStyle/>
                    <a:p>
                      <a:pPr latinLnBrk="1"/>
                      <a:r>
                        <a:rPr lang="en-US" altLang="ko-KR" sz="1000" dirty="0" smtClean="0">
                          <a:latin typeface="+mn-ea"/>
                          <a:ea typeface="+mn-ea"/>
                        </a:rPr>
                        <a:t>System</a:t>
                      </a:r>
                      <a:r>
                        <a:rPr lang="en-US" altLang="ko-KR" sz="1000" baseline="0" dirty="0" smtClean="0">
                          <a:latin typeface="+mn-ea"/>
                          <a:ea typeface="+mn-ea"/>
                        </a:rPr>
                        <a:t> Sequence Diagram, Domain Model </a:t>
                      </a:r>
                      <a:r>
                        <a:rPr lang="ko-KR" altLang="en-US" sz="1000" baseline="0" dirty="0" smtClean="0">
                          <a:latin typeface="+mn-ea"/>
                          <a:ea typeface="+mn-ea"/>
                        </a:rPr>
                        <a:t>설명 추가</a:t>
                      </a:r>
                      <a:endParaRPr lang="ko-KR" altLang="en-US" sz="1000" dirty="0">
                        <a:latin typeface="+mn-ea"/>
                        <a:ea typeface="+mn-ea"/>
                      </a:endParaRPr>
                    </a:p>
                  </a:txBody>
                  <a:tcPr/>
                </a:tc>
                <a:extLst>
                  <a:ext uri="{0D108BD9-81ED-4DB2-BD59-A6C34878D82A}">
                    <a16:rowId xmlns="" xmlns:a16="http://schemas.microsoft.com/office/drawing/2014/main" val="2282970031"/>
                  </a:ext>
                </a:extLst>
              </a:tr>
              <a:tr h="143731">
                <a:tc>
                  <a:txBody>
                    <a:bodyPr/>
                    <a:lstStyle/>
                    <a:p>
                      <a:pPr algn="ctr" latinLnBrk="1"/>
                      <a:r>
                        <a:rPr lang="en-US" altLang="ko-KR" sz="1000" dirty="0" smtClean="0">
                          <a:latin typeface="+mn-ea"/>
                          <a:ea typeface="+mn-ea"/>
                        </a:rPr>
                        <a:t>9</a:t>
                      </a:r>
                      <a:endParaRPr lang="ko-KR" altLang="en-US" sz="1000" dirty="0">
                        <a:latin typeface="+mn-ea"/>
                        <a:ea typeface="+mn-ea"/>
                      </a:endParaRPr>
                    </a:p>
                  </a:txBody>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25-11-26</a:t>
                      </a:r>
                      <a:endParaRPr lang="ko-KR" altLang="en-US" sz="1000" dirty="0">
                        <a:latin typeface="+mn-ea"/>
                        <a:ea typeface="+mn-ea"/>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smtClean="0">
                          <a:latin typeface="+mn-ea"/>
                          <a:ea typeface="+mn-ea"/>
                        </a:rPr>
                        <a:t>DS </a:t>
                      </a:r>
                      <a:r>
                        <a:rPr lang="ko-KR" altLang="en-US" sz="1000" dirty="0" smtClean="0">
                          <a:latin typeface="+mn-ea"/>
                          <a:ea typeface="+mn-ea"/>
                        </a:rPr>
                        <a:t>이혜준</a:t>
                      </a:r>
                      <a:endParaRPr lang="ko-KR" altLang="en-US" sz="1000" dirty="0">
                        <a:latin typeface="+mn-ea"/>
                        <a:ea typeface="+mn-ea"/>
                      </a:endParaRPr>
                    </a:p>
                  </a:txBody>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smtClean="0">
                          <a:latin typeface="+mn-ea"/>
                          <a:ea typeface="+mn-ea"/>
                        </a:rPr>
                        <a:t>Domain Model </a:t>
                      </a:r>
                      <a:r>
                        <a:rPr lang="ko-KR" altLang="en-US" sz="1000" baseline="0" dirty="0" smtClean="0">
                          <a:latin typeface="+mn-ea"/>
                          <a:ea typeface="+mn-ea"/>
                        </a:rPr>
                        <a:t>예제 및</a:t>
                      </a:r>
                      <a:r>
                        <a:rPr lang="en-US" altLang="ko-KR" sz="1000" baseline="0" dirty="0" smtClean="0">
                          <a:latin typeface="+mn-ea"/>
                          <a:ea typeface="+mn-ea"/>
                        </a:rPr>
                        <a:t> </a:t>
                      </a:r>
                      <a:r>
                        <a:rPr lang="ko-KR" altLang="en-US" sz="1000" baseline="0" dirty="0" smtClean="0">
                          <a:latin typeface="+mn-ea"/>
                          <a:ea typeface="+mn-ea"/>
                        </a:rPr>
                        <a:t>설명 추가</a:t>
                      </a:r>
                      <a:endParaRPr lang="ko-KR" altLang="en-US" sz="1000" dirty="0">
                        <a:latin typeface="+mn-ea"/>
                        <a:ea typeface="+mn-ea"/>
                      </a:endParaRPr>
                    </a:p>
                  </a:txBody>
                  <a:tcPr/>
                </a:tc>
                <a:extLst>
                  <a:ext uri="{0D108BD9-81ED-4DB2-BD59-A6C34878D82A}">
                    <a16:rowId xmlns="" xmlns:a16="http://schemas.microsoft.com/office/drawing/2014/main" val="1179523603"/>
                  </a:ext>
                </a:extLst>
              </a:tr>
              <a:tr h="273643">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latinLnBrk="1"/>
                      <a:endParaRPr lang="ko-KR" altLang="en-US" sz="1000" dirty="0">
                        <a:latin typeface="+mn-ea"/>
                        <a:ea typeface="+mn-ea"/>
                      </a:endParaRPr>
                    </a:p>
                  </a:txBody>
                  <a:tcPr/>
                </a:tc>
                <a:extLst>
                  <a:ext uri="{0D108BD9-81ED-4DB2-BD59-A6C34878D82A}">
                    <a16:rowId xmlns="" xmlns:a16="http://schemas.microsoft.com/office/drawing/2014/main" val="2682574531"/>
                  </a:ext>
                </a:extLst>
              </a:tr>
              <a:tr h="326851">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latinLnBrk="1"/>
                      <a:endParaRPr lang="ko-KR" altLang="en-US" sz="1000" dirty="0">
                        <a:latin typeface="+mn-ea"/>
                        <a:ea typeface="+mn-ea"/>
                      </a:endParaRPr>
                    </a:p>
                  </a:txBody>
                  <a:tcPr/>
                </a:tc>
                <a:extLst>
                  <a:ext uri="{0D108BD9-81ED-4DB2-BD59-A6C34878D82A}">
                    <a16:rowId xmlns="" xmlns:a16="http://schemas.microsoft.com/office/drawing/2014/main" val="3837378047"/>
                  </a:ext>
                </a:extLst>
              </a:tr>
              <a:tr h="326851">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latinLnBrk="1"/>
                      <a:endParaRPr lang="ko-KR" altLang="en-US" sz="1000" dirty="0">
                        <a:latin typeface="+mn-ea"/>
                        <a:ea typeface="+mn-ea"/>
                      </a:endParaRPr>
                    </a:p>
                  </a:txBody>
                  <a:tcPr/>
                </a:tc>
                <a:extLst>
                  <a:ext uri="{0D108BD9-81ED-4DB2-BD59-A6C34878D82A}">
                    <a16:rowId xmlns="" xmlns:a16="http://schemas.microsoft.com/office/drawing/2014/main" val="85293288"/>
                  </a:ext>
                </a:extLst>
              </a:tr>
              <a:tr h="326851">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latinLnBrk="1"/>
                      <a:endParaRPr lang="ko-KR" altLang="en-US" sz="1000" dirty="0">
                        <a:latin typeface="+mn-ea"/>
                        <a:ea typeface="+mn-ea"/>
                      </a:endParaRPr>
                    </a:p>
                  </a:txBody>
                  <a:tcPr/>
                </a:tc>
                <a:extLst>
                  <a:ext uri="{0D108BD9-81ED-4DB2-BD59-A6C34878D82A}">
                    <a16:rowId xmlns="" xmlns:a16="http://schemas.microsoft.com/office/drawing/2014/main" val="1559685062"/>
                  </a:ext>
                </a:extLst>
              </a:tr>
              <a:tr h="326851">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latinLnBrk="1"/>
                      <a:endParaRPr lang="ko-KR" altLang="en-US" sz="1000" dirty="0">
                        <a:latin typeface="+mn-ea"/>
                        <a:ea typeface="+mn-ea"/>
                      </a:endParaRPr>
                    </a:p>
                  </a:txBody>
                  <a:tcPr/>
                </a:tc>
                <a:extLst>
                  <a:ext uri="{0D108BD9-81ED-4DB2-BD59-A6C34878D82A}">
                    <a16:rowId xmlns="" xmlns:a16="http://schemas.microsoft.com/office/drawing/2014/main" val="4233396037"/>
                  </a:ext>
                </a:extLst>
              </a:tr>
              <a:tr h="326851">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algn="ctr" latinLnBrk="1"/>
                      <a:endParaRPr lang="ko-KR" altLang="en-US" sz="1000" dirty="0">
                        <a:latin typeface="+mn-ea"/>
                        <a:ea typeface="+mn-ea"/>
                      </a:endParaRPr>
                    </a:p>
                  </a:txBody>
                  <a:tcPr/>
                </a:tc>
                <a:tc>
                  <a:txBody>
                    <a:bodyPr/>
                    <a:lstStyle/>
                    <a:p>
                      <a:pPr latinLnBrk="1"/>
                      <a:endParaRPr lang="ko-KR" altLang="en-US" sz="1000" dirty="0">
                        <a:latin typeface="+mn-ea"/>
                        <a:ea typeface="+mn-ea"/>
                      </a:endParaRPr>
                    </a:p>
                  </a:txBody>
                  <a:tcPr/>
                </a:tc>
                <a:extLst>
                  <a:ext uri="{0D108BD9-81ED-4DB2-BD59-A6C34878D82A}">
                    <a16:rowId xmlns="" xmlns:a16="http://schemas.microsoft.com/office/drawing/2014/main" val="3704261080"/>
                  </a:ext>
                </a:extLst>
              </a:tr>
            </a:tbl>
          </a:graphicData>
        </a:graphic>
      </p:graphicFrame>
    </p:spTree>
    <p:extLst>
      <p:ext uri="{BB962C8B-B14F-4D97-AF65-F5344CB8AC3E}">
        <p14:creationId xmlns:p14="http://schemas.microsoft.com/office/powerpoint/2010/main" val="301062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1</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1090230"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smtClean="0">
                <a:ln>
                  <a:solidFill>
                    <a:schemeClr val="bg1">
                      <a:lumMod val="85000"/>
                      <a:alpha val="0"/>
                    </a:schemeClr>
                  </a:solidFill>
                </a:ln>
                <a:solidFill>
                  <a:srgbClr val="F2F2F2"/>
                </a:solidFill>
                <a:latin typeface="맑은 고딕" pitchFamily="50" charset="-127"/>
                <a:cs typeface="Arial" panose="020B0604020202020204" pitchFamily="34" charset="0"/>
              </a:rPr>
              <a:t>UML</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
        <p:nvSpPr>
          <p:cNvPr id="2" name="TextBox 1"/>
          <p:cNvSpPr txBox="1"/>
          <p:nvPr/>
        </p:nvSpPr>
        <p:spPr>
          <a:xfrm>
            <a:off x="3863752" y="3612882"/>
            <a:ext cx="2783134" cy="369332"/>
          </a:xfrm>
          <a:prstGeom prst="rect">
            <a:avLst/>
          </a:prstGeom>
          <a:noFill/>
        </p:spPr>
        <p:txBody>
          <a:bodyPr wrap="none" rtlCol="0">
            <a:spAutoFit/>
          </a:bodyPr>
          <a:lstStyle/>
          <a:p>
            <a:r>
              <a:rPr lang="en-US" altLang="ko-KR" dirty="0" smtClean="0">
                <a:solidFill>
                  <a:schemeClr val="bg1"/>
                </a:solidFill>
              </a:rPr>
              <a:t>11</a:t>
            </a:r>
            <a:r>
              <a:rPr lang="ko-KR" altLang="en-US" dirty="0" smtClean="0">
                <a:solidFill>
                  <a:schemeClr val="bg1"/>
                </a:solidFill>
              </a:rPr>
              <a:t>시 </a:t>
            </a:r>
            <a:r>
              <a:rPr lang="en-US" altLang="ko-KR" smtClean="0">
                <a:solidFill>
                  <a:schemeClr val="bg1"/>
                </a:solidFill>
              </a:rPr>
              <a:t>00</a:t>
            </a:r>
            <a:r>
              <a:rPr lang="ko-KR" altLang="en-US" dirty="0" smtClean="0">
                <a:solidFill>
                  <a:schemeClr val="bg1"/>
                </a:solidFill>
              </a:rPr>
              <a:t>분에 시작 합니다</a:t>
            </a:r>
            <a:endParaRPr lang="ko-KR" altLang="en-US" dirty="0">
              <a:solidFill>
                <a:schemeClr val="bg1"/>
              </a:solidFill>
            </a:endParaRPr>
          </a:p>
        </p:txBody>
      </p:sp>
    </p:spTree>
    <p:extLst>
      <p:ext uri="{BB962C8B-B14F-4D97-AF65-F5344CB8AC3E}">
        <p14:creationId xmlns:p14="http://schemas.microsoft.com/office/powerpoint/2010/main" val="36222298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399168" y="849946"/>
            <a:ext cx="9977488" cy="2123588"/>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en-US" altLang="ko-KR" sz="1500" dirty="0"/>
              <a:t>1997</a:t>
            </a:r>
            <a:r>
              <a:rPr lang="ko-KR" altLang="en-US" sz="1500" dirty="0"/>
              <a:t>년 </a:t>
            </a:r>
            <a:r>
              <a:rPr lang="en-US" altLang="ko-KR" sz="1500" dirty="0"/>
              <a:t>OMG(Object Management Group)</a:t>
            </a:r>
            <a:r>
              <a:rPr lang="ko-KR" altLang="en-US" sz="1500" dirty="0"/>
              <a:t>에서 표준으로 채택한 </a:t>
            </a:r>
            <a:r>
              <a:rPr lang="ko-KR" altLang="en-US" sz="1500" dirty="0" smtClean="0"/>
              <a:t>통합 모델링 언어입니다</a:t>
            </a:r>
            <a:r>
              <a:rPr lang="en-US" altLang="ko-KR" sz="1500" dirty="0" smtClean="0"/>
              <a:t>.</a:t>
            </a:r>
          </a:p>
          <a:p>
            <a:pPr marL="742950" lvl="1" indent="-285750" defTabSz="912813" fontAlgn="base">
              <a:spcBef>
                <a:spcPts val="600"/>
              </a:spcBef>
              <a:spcAft>
                <a:spcPct val="0"/>
              </a:spcAft>
              <a:buClr>
                <a:srgbClr val="55CFD1"/>
              </a:buClr>
              <a:buFont typeface="Wingdings" panose="05000000000000000000" pitchFamily="2" charset="2"/>
              <a:buChar char="§"/>
              <a:defRPr/>
            </a:pPr>
            <a:r>
              <a:rPr lang="ko-KR" altLang="en-US" sz="1500" dirty="0" err="1" smtClean="0"/>
              <a:t>그레디</a:t>
            </a:r>
            <a:r>
              <a:rPr lang="ko-KR" altLang="en-US" sz="1500" dirty="0" smtClean="0"/>
              <a:t> 부치</a:t>
            </a:r>
            <a:r>
              <a:rPr lang="en-US" altLang="ko-KR" sz="1500" dirty="0" smtClean="0"/>
              <a:t>, </a:t>
            </a:r>
            <a:r>
              <a:rPr lang="ko-KR" altLang="en-US" sz="1500" dirty="0" err="1" smtClean="0"/>
              <a:t>이바</a:t>
            </a:r>
            <a:r>
              <a:rPr lang="ko-KR" altLang="en-US" sz="1500" dirty="0" smtClean="0"/>
              <a:t> 야콥슨</a:t>
            </a:r>
            <a:r>
              <a:rPr lang="en-US" altLang="ko-KR" sz="1500" dirty="0" smtClean="0"/>
              <a:t>, </a:t>
            </a:r>
            <a:r>
              <a:rPr lang="ko-KR" altLang="en-US" sz="1500" dirty="0" smtClean="0"/>
              <a:t>제임스 </a:t>
            </a:r>
            <a:r>
              <a:rPr lang="ko-KR" altLang="en-US" sz="1500" dirty="0" err="1" smtClean="0"/>
              <a:t>럼바가</a:t>
            </a:r>
            <a:r>
              <a:rPr lang="ko-KR" altLang="en-US" sz="1500" dirty="0" smtClean="0"/>
              <a:t> 함께 </a:t>
            </a:r>
            <a:r>
              <a:rPr lang="en-US" altLang="ko-KR" sz="1500" dirty="0" smtClean="0"/>
              <a:t>UML</a:t>
            </a:r>
            <a:r>
              <a:rPr lang="ko-KR" altLang="en-US" sz="1500" dirty="0" smtClean="0"/>
              <a:t>을 개발하였습니다</a:t>
            </a:r>
            <a:r>
              <a:rPr lang="en-US" altLang="ko-KR" sz="1500" dirty="0" smtClean="0"/>
              <a:t>.</a:t>
            </a:r>
          </a:p>
          <a:p>
            <a:pPr marL="742950" lvl="1" indent="-285750" defTabSz="912813" fontAlgn="base">
              <a:spcBef>
                <a:spcPts val="600"/>
              </a:spcBef>
              <a:spcAft>
                <a:spcPct val="0"/>
              </a:spcAft>
              <a:buClr>
                <a:srgbClr val="55CFD1"/>
              </a:buClr>
              <a:buFont typeface="Wingdings" panose="05000000000000000000" pitchFamily="2" charset="2"/>
              <a:buChar char="§"/>
              <a:defRPr/>
            </a:pPr>
            <a:r>
              <a:rPr lang="ko-KR" altLang="en-US" sz="1500" dirty="0" smtClean="0"/>
              <a:t>모델은 </a:t>
            </a:r>
            <a:r>
              <a:rPr lang="ko-KR" altLang="en-US" sz="1500" dirty="0"/>
              <a:t>어떤 것을 실제로 만들 때 </a:t>
            </a:r>
            <a:r>
              <a:rPr lang="ko-KR" altLang="en-US" sz="1500" dirty="0" smtClean="0"/>
              <a:t>이렇게 만들면 </a:t>
            </a:r>
            <a:r>
              <a:rPr lang="ko-KR" altLang="en-US" sz="1500" dirty="0"/>
              <a:t>잘 작동할지 미리 검증해 보는 </a:t>
            </a:r>
            <a:r>
              <a:rPr lang="ko-KR" altLang="en-US" sz="1500" dirty="0" smtClean="0"/>
              <a:t>것입니다 </a:t>
            </a:r>
            <a:endParaRPr lang="en-US" altLang="ko-KR" sz="1500" dirty="0" smtClean="0"/>
          </a:p>
          <a:p>
            <a:pPr marL="742950" lvl="1" indent="-285750" defTabSz="912813" fontAlgn="base">
              <a:spcBef>
                <a:spcPts val="600"/>
              </a:spcBef>
              <a:spcAft>
                <a:spcPct val="0"/>
              </a:spcAft>
              <a:buClr>
                <a:srgbClr val="55CFD1"/>
              </a:buClr>
              <a:buFont typeface="Wingdings" panose="05000000000000000000" pitchFamily="2" charset="2"/>
              <a:buChar char="§"/>
              <a:defRPr/>
            </a:pPr>
            <a:r>
              <a:rPr lang="ko-KR" altLang="en-US" sz="1500" dirty="0"/>
              <a:t>실제 물건을 만드는 비용보다 </a:t>
            </a:r>
            <a:r>
              <a:rPr lang="ko-KR" altLang="en-US" sz="1500" dirty="0" smtClean="0"/>
              <a:t>모델링 비용이 </a:t>
            </a:r>
            <a:r>
              <a:rPr lang="ko-KR" altLang="en-US" sz="1500" dirty="0"/>
              <a:t>훨씬 적을 경우에 모델을 만들어 설계를 </a:t>
            </a:r>
            <a:r>
              <a:rPr lang="ko-KR" altLang="en-US" sz="1500" dirty="0" smtClean="0"/>
              <a:t>검사합니다</a:t>
            </a:r>
            <a:endParaRPr lang="en-US" altLang="ko-KR" sz="1500" dirty="0" smtClean="0"/>
          </a:p>
          <a:p>
            <a:pPr marL="285750" indent="-285750" defTabSz="912813" fontAlgn="base">
              <a:spcBef>
                <a:spcPts val="600"/>
              </a:spcBef>
              <a:spcAft>
                <a:spcPct val="0"/>
              </a:spcAft>
              <a:buClr>
                <a:srgbClr val="55CFD1"/>
              </a:buClr>
              <a:buFont typeface="Wingdings" panose="05000000000000000000" pitchFamily="2" charset="2"/>
              <a:buChar char="u"/>
              <a:defRPr/>
            </a:pPr>
            <a:endParaRPr lang="en-US" altLang="ko-KR" sz="1400" dirty="0"/>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8" name="그림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2482" y="2203394"/>
            <a:ext cx="7618542" cy="4243766"/>
          </a:xfrm>
          <a:prstGeom prst="rect">
            <a:avLst/>
          </a:prstGeom>
        </p:spPr>
      </p:pic>
      <p:sp>
        <p:nvSpPr>
          <p:cNvPr id="9" name="제목 8"/>
          <p:cNvSpPr>
            <a:spLocks noGrp="1"/>
          </p:cNvSpPr>
          <p:nvPr>
            <p:ph type="title"/>
          </p:nvPr>
        </p:nvSpPr>
        <p:spPr>
          <a:xfrm>
            <a:off x="408000" y="156779"/>
            <a:ext cx="5217962" cy="757060"/>
          </a:xfrm>
        </p:spPr>
        <p:txBody>
          <a:bodyPr/>
          <a:lstStyle/>
          <a:p>
            <a:r>
              <a:rPr lang="en-US" altLang="ko-KR" dirty="0"/>
              <a:t>UML (Unified Modeling language)</a:t>
            </a:r>
            <a:br>
              <a:rPr lang="en-US" altLang="ko-KR" dirty="0"/>
            </a:br>
            <a:endParaRPr lang="ko-KR" altLang="en-US" dirty="0"/>
          </a:p>
        </p:txBody>
      </p:sp>
    </p:spTree>
    <p:extLst>
      <p:ext uri="{BB962C8B-B14F-4D97-AF65-F5344CB8AC3E}">
        <p14:creationId xmlns:p14="http://schemas.microsoft.com/office/powerpoint/2010/main" val="41211714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그룹 21"/>
          <p:cNvGrpSpPr/>
          <p:nvPr/>
        </p:nvGrpSpPr>
        <p:grpSpPr>
          <a:xfrm>
            <a:off x="1301587" y="1796376"/>
            <a:ext cx="3960000" cy="1182153"/>
            <a:chOff x="1728676" y="3130134"/>
            <a:chExt cx="1782727" cy="2436970"/>
          </a:xfrm>
        </p:grpSpPr>
        <p:sp>
          <p:nvSpPr>
            <p:cNvPr id="18" name="TextBox 17"/>
            <p:cNvSpPr txBox="1"/>
            <p:nvPr/>
          </p:nvSpPr>
          <p:spPr>
            <a:xfrm>
              <a:off x="1841505" y="3778041"/>
              <a:ext cx="1533498" cy="1789063"/>
            </a:xfrm>
            <a:prstGeom prst="rect">
              <a:avLst/>
            </a:prstGeom>
            <a:noFill/>
          </p:spPr>
          <p:txBody>
            <a:bodyPr wrap="square" lIns="91374" tIns="45685" rIns="91374" bIns="45685">
              <a:spAutoFit/>
            </a:bodyPr>
            <a:lstStyle/>
            <a:p>
              <a:pPr defTabSz="912813" fontAlgn="base">
                <a:lnSpc>
                  <a:spcPct val="120000"/>
                </a:lnSpc>
                <a:spcBef>
                  <a:spcPts val="600"/>
                </a:spcBef>
                <a:spcAft>
                  <a:spcPct val="0"/>
                </a:spcAft>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UML</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등의 도안을 통한</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모델링의 목적은 주로 문서화하는 것이 아니라 이해하기 위한 것이다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endPar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19" name="TextBox 18"/>
            <p:cNvSpPr txBox="1"/>
            <p:nvPr/>
          </p:nvSpPr>
          <p:spPr>
            <a:xfrm>
              <a:off x="1728676" y="3130134"/>
              <a:ext cx="1782727" cy="307706"/>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UML</a:t>
              </a:r>
              <a:r>
                <a:rPr kumimoji="1" lang="ko-KR" altLang="en-US"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과 패턴의 적용</a:t>
              </a:r>
              <a:endParaRPr kumimoji="1" lang="en-US" altLang="ko-KR" sz="1400" b="1"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grpSp>
      <p:grpSp>
        <p:nvGrpSpPr>
          <p:cNvPr id="23" name="그룹 22"/>
          <p:cNvGrpSpPr/>
          <p:nvPr/>
        </p:nvGrpSpPr>
        <p:grpSpPr>
          <a:xfrm>
            <a:off x="1301587" y="3724605"/>
            <a:ext cx="3960000" cy="1783659"/>
            <a:chOff x="1847941" y="3130134"/>
            <a:chExt cx="1533498" cy="4385199"/>
          </a:xfrm>
        </p:grpSpPr>
        <p:sp>
          <p:nvSpPr>
            <p:cNvPr id="24" name="TextBox 23"/>
            <p:cNvSpPr txBox="1"/>
            <p:nvPr/>
          </p:nvSpPr>
          <p:spPr>
            <a:xfrm>
              <a:off x="1847941" y="3985207"/>
              <a:ext cx="1533498" cy="3530126"/>
            </a:xfrm>
            <a:prstGeom prst="rect">
              <a:avLst/>
            </a:prstGeom>
            <a:noFill/>
          </p:spPr>
          <p:txBody>
            <a:bodyPr wrap="square" lIns="91374" tIns="45685" rIns="91374" bIns="45685">
              <a:spAutoFit/>
            </a:bodyPr>
            <a:lstStyle/>
            <a:p>
              <a:pPr algn="ctr" defTabSz="912813" fontAlgn="base">
                <a:lnSpc>
                  <a:spcPct val="120000"/>
                </a:lnSpc>
                <a:spcBef>
                  <a:spcPts val="600"/>
                </a:spcBef>
                <a:spcAft>
                  <a:spcPct val="0"/>
                </a:spcAft>
                <a:defRPr/>
              </a:pP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“스케치</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(sketch),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청사진</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(blueprint),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프로그래밍 언어</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(programming language)</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이다</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a:t>
              </a:r>
            </a:p>
            <a:p>
              <a:pPr algn="ctr" defTabSz="912813" fontAlgn="base">
                <a:lnSpc>
                  <a:spcPct val="120000"/>
                </a:lnSpc>
                <a:spcBef>
                  <a:spcPts val="600"/>
                </a:spcBef>
                <a:spcAft>
                  <a:spcPct val="0"/>
                </a:spcAft>
                <a:defRPr/>
              </a:pP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적어도 필자의 편견으로는</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이 셋 중에서 가장 보편적인 것은 </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UML</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을 스케치로 생각하는 것이다</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a:t>
              </a:r>
            </a:p>
          </p:txBody>
        </p:sp>
        <p:sp>
          <p:nvSpPr>
            <p:cNvPr id="25" name="TextBox 24"/>
            <p:cNvSpPr txBox="1"/>
            <p:nvPr/>
          </p:nvSpPr>
          <p:spPr>
            <a:xfrm>
              <a:off x="1949889" y="3130134"/>
              <a:ext cx="1340297" cy="307706"/>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en-US" altLang="ko-KR" sz="1400" b="1" dirty="0">
                  <a:ln>
                    <a:solidFill>
                      <a:schemeClr val="bg1">
                        <a:lumMod val="85000"/>
                        <a:alpha val="0"/>
                      </a:schemeClr>
                    </a:solidFill>
                  </a:ln>
                  <a:solidFill>
                    <a:srgbClr val="4B465E"/>
                  </a:solidFill>
                  <a:latin typeface="맑은 고딕" pitchFamily="50" charset="-127"/>
                  <a:cs typeface="Arial" panose="020B0604020202020204" pitchFamily="34" charset="0"/>
                </a:rPr>
                <a:t>UML </a:t>
              </a: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Distilled</a:t>
              </a:r>
              <a:endParaRPr kumimoji="1" lang="en-US" altLang="ko-KR" sz="1400" b="1"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grpSp>
      <p:grpSp>
        <p:nvGrpSpPr>
          <p:cNvPr id="26" name="그룹 25"/>
          <p:cNvGrpSpPr/>
          <p:nvPr/>
        </p:nvGrpSpPr>
        <p:grpSpPr>
          <a:xfrm>
            <a:off x="7201011" y="2956774"/>
            <a:ext cx="3960000" cy="1033383"/>
            <a:chOff x="1836877" y="3130134"/>
            <a:chExt cx="1566321" cy="2641682"/>
          </a:xfrm>
        </p:grpSpPr>
        <p:sp>
          <p:nvSpPr>
            <p:cNvPr id="27" name="TextBox 26"/>
            <p:cNvSpPr txBox="1"/>
            <p:nvPr/>
          </p:nvSpPr>
          <p:spPr>
            <a:xfrm>
              <a:off x="1853288" y="3869827"/>
              <a:ext cx="1533498" cy="1901989"/>
            </a:xfrm>
            <a:prstGeom prst="rect">
              <a:avLst/>
            </a:prstGeom>
            <a:noFill/>
          </p:spPr>
          <p:txBody>
            <a:bodyPr wrap="square" lIns="91374" tIns="45685" rIns="91374" bIns="45685">
              <a:spAutoFit/>
            </a:bodyPr>
            <a:lstStyle/>
            <a:p>
              <a:pPr algn="ctr" defTabSz="912813" fontAlgn="base">
                <a:lnSpc>
                  <a:spcPct val="120000"/>
                </a:lnSpc>
                <a:spcBef>
                  <a:spcPts val="600"/>
                </a:spcBef>
                <a:spcAft>
                  <a:spcPct val="0"/>
                </a:spcAft>
                <a:defRPr/>
              </a:pP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“간혹 사람들이 </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UML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다이어그램과 같은 도구에 집착해서 그리기 쉬운 방향으로 모델을 왜곡하곤 한다”</a:t>
              </a:r>
              <a:endPar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28" name="TextBox 27"/>
            <p:cNvSpPr txBox="1"/>
            <p:nvPr/>
          </p:nvSpPr>
          <p:spPr>
            <a:xfrm>
              <a:off x="1836877" y="3130134"/>
              <a:ext cx="1566321" cy="307706"/>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ko-KR" altLang="en-US" sz="1400" b="1" dirty="0">
                  <a:ln>
                    <a:solidFill>
                      <a:schemeClr val="bg1">
                        <a:lumMod val="85000"/>
                        <a:alpha val="0"/>
                      </a:schemeClr>
                    </a:solidFill>
                  </a:ln>
                  <a:solidFill>
                    <a:srgbClr val="4B465E"/>
                  </a:solidFill>
                  <a:latin typeface="맑은 고딕" pitchFamily="50" charset="-127"/>
                  <a:cs typeface="Arial" panose="020B0604020202020204" pitchFamily="34" charset="0"/>
                </a:rPr>
                <a:t>도메인 주도 설계</a:t>
              </a:r>
              <a:endParaRPr kumimoji="1" lang="en-US" altLang="ko-KR" sz="1400" b="1"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grpSp>
      <p:grpSp>
        <p:nvGrpSpPr>
          <p:cNvPr id="29" name="그룹 28"/>
          <p:cNvGrpSpPr/>
          <p:nvPr/>
        </p:nvGrpSpPr>
        <p:grpSpPr>
          <a:xfrm>
            <a:off x="7201011" y="4934765"/>
            <a:ext cx="3960000" cy="823321"/>
            <a:chOff x="1626082" y="3130134"/>
            <a:chExt cx="1987911" cy="1365691"/>
          </a:xfrm>
        </p:grpSpPr>
        <p:sp>
          <p:nvSpPr>
            <p:cNvPr id="30" name="TextBox 29"/>
            <p:cNvSpPr txBox="1"/>
            <p:nvPr/>
          </p:nvSpPr>
          <p:spPr>
            <a:xfrm>
              <a:off x="1853288" y="3627966"/>
              <a:ext cx="1533498" cy="867859"/>
            </a:xfrm>
            <a:prstGeom prst="rect">
              <a:avLst/>
            </a:prstGeom>
            <a:noFill/>
          </p:spPr>
          <p:txBody>
            <a:bodyPr wrap="square" lIns="91374" tIns="45685" rIns="91374" bIns="45685">
              <a:spAutoFit/>
            </a:bodyPr>
            <a:lstStyle/>
            <a:p>
              <a:pPr algn="ctr" defTabSz="912813" fontAlgn="base">
                <a:lnSpc>
                  <a:spcPct val="120000"/>
                </a:lnSpc>
                <a:spcBef>
                  <a:spcPts val="600"/>
                </a:spcBef>
                <a:spcAft>
                  <a:spcPct val="0"/>
                </a:spcAft>
                <a:defRPr/>
              </a:pP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UML</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은 언어라는 것을 기억하라”</a:t>
              </a:r>
              <a:endPar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31" name="TextBox 30"/>
            <p:cNvSpPr txBox="1"/>
            <p:nvPr/>
          </p:nvSpPr>
          <p:spPr>
            <a:xfrm>
              <a:off x="1626082" y="3130134"/>
              <a:ext cx="1987911" cy="307706"/>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ko-KR" altLang="en-US" sz="1400" b="1" dirty="0">
                  <a:ln>
                    <a:solidFill>
                      <a:schemeClr val="bg1">
                        <a:lumMod val="85000"/>
                        <a:alpha val="0"/>
                      </a:schemeClr>
                    </a:solidFill>
                  </a:ln>
                  <a:solidFill>
                    <a:srgbClr val="4B465E"/>
                  </a:solidFill>
                  <a:latin typeface="맑은 고딕" pitchFamily="50" charset="-127"/>
                  <a:cs typeface="Arial" panose="020B0604020202020204" pitchFamily="34" charset="0"/>
                </a:rPr>
                <a:t>객체지향 분석 및 설계</a:t>
              </a:r>
              <a:endParaRPr kumimoji="1" lang="en-US" altLang="ko-KR" sz="1400" b="1"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grpSp>
      <p:grpSp>
        <p:nvGrpSpPr>
          <p:cNvPr id="32" name="그룹 31"/>
          <p:cNvGrpSpPr/>
          <p:nvPr/>
        </p:nvGrpSpPr>
        <p:grpSpPr>
          <a:xfrm>
            <a:off x="7201011" y="1271142"/>
            <a:ext cx="3960000" cy="858905"/>
            <a:chOff x="1853288" y="2616266"/>
            <a:chExt cx="1533498" cy="1612574"/>
          </a:xfrm>
        </p:grpSpPr>
        <p:sp>
          <p:nvSpPr>
            <p:cNvPr id="33" name="TextBox 32"/>
            <p:cNvSpPr txBox="1"/>
            <p:nvPr/>
          </p:nvSpPr>
          <p:spPr>
            <a:xfrm>
              <a:off x="1853288" y="3102448"/>
              <a:ext cx="1533498" cy="1126392"/>
            </a:xfrm>
            <a:prstGeom prst="rect">
              <a:avLst/>
            </a:prstGeom>
            <a:noFill/>
          </p:spPr>
          <p:txBody>
            <a:bodyPr wrap="square" lIns="91374" tIns="45685" rIns="91374" bIns="45685">
              <a:spAutoFit/>
            </a:bodyPr>
            <a:lstStyle/>
            <a:p>
              <a:pPr algn="ctr" defTabSz="912813" fontAlgn="base">
                <a:lnSpc>
                  <a:spcPct val="120000"/>
                </a:lnSpc>
                <a:spcBef>
                  <a:spcPts val="600"/>
                </a:spcBef>
                <a:spcAft>
                  <a:spcPct val="0"/>
                </a:spcAft>
                <a:defRPr/>
              </a:pP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“적절한 상세 수준에서 </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UML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다이어그램을 작성하라”</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endPar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34" name="TextBox 33"/>
            <p:cNvSpPr txBox="1"/>
            <p:nvPr/>
          </p:nvSpPr>
          <p:spPr>
            <a:xfrm>
              <a:off x="1882147" y="2616266"/>
              <a:ext cx="1504639" cy="307706"/>
            </a:xfrm>
            <a:prstGeom prst="rect">
              <a:avLst/>
            </a:prstGeom>
            <a:noFill/>
          </p:spPr>
          <p:txBody>
            <a:bodyPr wrap="none" lIns="91374" tIns="45685" rIns="91374" bIns="45685">
              <a:spAutoFit/>
            </a:bodyPr>
            <a:lstStyle/>
            <a:p>
              <a:pPr algn="ctr" defTabSz="912813" fontAlgn="base">
                <a:spcBef>
                  <a:spcPts val="600"/>
                </a:spcBef>
                <a:spcAft>
                  <a:spcPct val="0"/>
                </a:spcAft>
                <a:defRPr/>
              </a:pPr>
              <a:r>
                <a:rPr kumimoji="1" lang="en-US" altLang="ko-KR" sz="1400" b="1" dirty="0">
                  <a:ln>
                    <a:solidFill>
                      <a:schemeClr val="bg1">
                        <a:lumMod val="85000"/>
                        <a:alpha val="0"/>
                      </a:schemeClr>
                    </a:solidFill>
                  </a:ln>
                  <a:solidFill>
                    <a:srgbClr val="4B465E"/>
                  </a:solidFill>
                  <a:latin typeface="맑은 고딕" pitchFamily="50" charset="-127"/>
                  <a:cs typeface="Arial" panose="020B0604020202020204" pitchFamily="34" charset="0"/>
                </a:rPr>
                <a:t>Code Complete</a:t>
              </a:r>
            </a:p>
          </p:txBody>
        </p:sp>
      </p:grpSp>
      <p:sp>
        <p:nvSpPr>
          <p:cNvPr id="8" name="제목 7"/>
          <p:cNvSpPr>
            <a:spLocks noGrp="1"/>
          </p:cNvSpPr>
          <p:nvPr>
            <p:ph type="title"/>
          </p:nvPr>
        </p:nvSpPr>
        <p:spPr>
          <a:xfrm>
            <a:off x="408000" y="156779"/>
            <a:ext cx="6834502" cy="757060"/>
          </a:xfrm>
        </p:spPr>
        <p:txBody>
          <a:bodyPr/>
          <a:lstStyle/>
          <a:p>
            <a:r>
              <a:rPr lang="en-US" altLang="ko-KR" dirty="0" smtClean="0"/>
              <a:t>UML (Unified </a:t>
            </a:r>
            <a:r>
              <a:rPr lang="en-US" altLang="ko-KR" dirty="0"/>
              <a:t>Modeling </a:t>
            </a:r>
            <a:r>
              <a:rPr lang="en-US" altLang="ko-KR" dirty="0" smtClean="0"/>
              <a:t>language)</a:t>
            </a:r>
            <a:r>
              <a:rPr lang="en-US" altLang="ko-KR" dirty="0"/>
              <a:t/>
            </a:r>
            <a:br>
              <a:rPr lang="en-US" altLang="ko-KR" dirty="0"/>
            </a:br>
            <a:endParaRPr lang="ko-KR" altLang="en-US" dirty="0"/>
          </a:p>
        </p:txBody>
      </p:sp>
    </p:spTree>
    <p:extLst>
      <p:ext uri="{BB962C8B-B14F-4D97-AF65-F5344CB8AC3E}">
        <p14:creationId xmlns:p14="http://schemas.microsoft.com/office/powerpoint/2010/main" val="41625442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2</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7992376"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Stereotypes, Tagged Values, Constraints</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4381504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20586" y="791909"/>
            <a:ext cx="10501986" cy="2846863"/>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UML</a:t>
            </a: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에서 제공하는 기본 요소 외에 새로운 모델 요소를 추가 하기 위해 </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사용합니다</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기존에 정의 되어 있는 </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classifier</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 </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Stereotype</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을 추가하여 새로운 모델 요소를 정의할 수  있습니다</a:t>
            </a: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600" dirty="0"/>
              <a:t>예를 들어 </a:t>
            </a:r>
            <a:r>
              <a:rPr lang="ko-KR" altLang="en-US" sz="1600" dirty="0" err="1"/>
              <a:t>네트위크를</a:t>
            </a:r>
            <a:r>
              <a:rPr lang="ko-KR" altLang="en-US" sz="1600" dirty="0"/>
              <a:t> 모델링 할 때 </a:t>
            </a:r>
            <a:r>
              <a:rPr lang="en-US" altLang="ko-KR" sz="1600" dirty="0"/>
              <a:t>&lt;&lt;</a:t>
            </a:r>
            <a:r>
              <a:rPr lang="ko-KR" altLang="en-US" sz="1600" dirty="0"/>
              <a:t>라우터</a:t>
            </a:r>
            <a:r>
              <a:rPr lang="en-US" altLang="ko-KR" sz="1600" dirty="0"/>
              <a:t>&gt;&gt;, &lt;&lt;</a:t>
            </a:r>
            <a:r>
              <a:rPr lang="ko-KR" altLang="en-US" sz="1600" dirty="0"/>
              <a:t>스위치</a:t>
            </a:r>
            <a:r>
              <a:rPr lang="en-US" altLang="ko-KR" sz="1600" dirty="0"/>
              <a:t>&gt;&gt;, &lt;&lt;</a:t>
            </a:r>
            <a:r>
              <a:rPr lang="ko-KR" altLang="en-US" sz="1600" dirty="0"/>
              <a:t>허브</a:t>
            </a:r>
            <a:r>
              <a:rPr lang="en-US" altLang="ko-KR" sz="1600" dirty="0"/>
              <a:t>&gt;&gt; </a:t>
            </a:r>
            <a:r>
              <a:rPr lang="ko-KR" altLang="en-US" sz="1600" dirty="0"/>
              <a:t>등에 대한 모델 요소가 필요 할 수 있습니다</a:t>
            </a:r>
            <a:r>
              <a:rPr lang="en-US" altLang="ko-KR" sz="1600" dirty="0"/>
              <a:t>.</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12" name="Picture 2" descr="C:\Users\samsung\Downloads\다운로드.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208" y="3161523"/>
            <a:ext cx="4842419" cy="2243138"/>
          </a:xfrm>
          <a:prstGeom prst="rect">
            <a:avLst/>
          </a:prstGeom>
          <a:noFill/>
          <a:extLst>
            <a:ext uri="{909E8E84-426E-40DD-AFC4-6F175D3DCCD1}">
              <a14:hiddenFill xmlns:a14="http://schemas.microsoft.com/office/drawing/2010/main">
                <a:solidFill>
                  <a:srgbClr val="FFFFFF"/>
                </a:solidFill>
              </a14:hiddenFill>
            </a:ext>
          </a:extLst>
        </p:spPr>
      </p:pic>
      <p:pic>
        <p:nvPicPr>
          <p:cNvPr id="7" name="그림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4208" y="1436229"/>
            <a:ext cx="2536505" cy="571500"/>
          </a:xfrm>
          <a:prstGeom prst="rect">
            <a:avLst/>
          </a:prstGeom>
        </p:spPr>
      </p:pic>
      <p:sp>
        <p:nvSpPr>
          <p:cNvPr id="9" name="직사각형 8"/>
          <p:cNvSpPr/>
          <p:nvPr/>
        </p:nvSpPr>
        <p:spPr>
          <a:xfrm>
            <a:off x="794012" y="5825093"/>
            <a:ext cx="10242596" cy="430887"/>
          </a:xfrm>
          <a:prstGeom prst="rect">
            <a:avLst/>
          </a:prstGeom>
        </p:spPr>
        <p:txBody>
          <a:bodyPr wrap="square">
            <a:spAutoFit/>
          </a:bodyPr>
          <a:lstStyle/>
          <a:p>
            <a:r>
              <a:rPr lang="en-US" altLang="ko-KR" sz="1100" dirty="0"/>
              <a:t>※ UML</a:t>
            </a:r>
            <a:r>
              <a:rPr lang="ko-KR" altLang="en-US" sz="1100" dirty="0"/>
              <a:t>에서 추상화를 위한 </a:t>
            </a:r>
            <a:r>
              <a:rPr lang="en-US" altLang="ko-KR" sz="1100" dirty="0"/>
              <a:t>modeling element</a:t>
            </a:r>
            <a:r>
              <a:rPr lang="ko-KR" altLang="en-US" sz="1100" dirty="0"/>
              <a:t>를 </a:t>
            </a:r>
            <a:r>
              <a:rPr lang="en-US" altLang="ko-KR" sz="1100" dirty="0"/>
              <a:t>classifier</a:t>
            </a:r>
            <a:r>
              <a:rPr lang="ko-KR" altLang="en-US" sz="1100" dirty="0"/>
              <a:t>라고 총칭합니다</a:t>
            </a:r>
            <a:r>
              <a:rPr lang="en-US" altLang="ko-KR" sz="1100" dirty="0"/>
              <a:t>.  UML</a:t>
            </a:r>
            <a:r>
              <a:rPr lang="ko-KR" altLang="en-US" sz="1100" dirty="0"/>
              <a:t>에서 가장 대표적인 </a:t>
            </a:r>
            <a:r>
              <a:rPr lang="en-US" altLang="ko-KR" sz="1100" dirty="0"/>
              <a:t>classifier</a:t>
            </a:r>
            <a:r>
              <a:rPr lang="ko-KR" altLang="en-US" sz="1100" dirty="0"/>
              <a:t>로써  클래스가 있으며</a:t>
            </a:r>
            <a:r>
              <a:rPr lang="en-US" altLang="ko-KR" sz="1100" dirty="0"/>
              <a:t>,  </a:t>
            </a:r>
            <a:r>
              <a:rPr lang="ko-KR" altLang="en-US" sz="1100" dirty="0"/>
              <a:t>클래스 이외의 다양한 </a:t>
            </a:r>
            <a:r>
              <a:rPr lang="en-US" altLang="ko-KR" sz="1100" dirty="0"/>
              <a:t>classifier</a:t>
            </a:r>
            <a:r>
              <a:rPr lang="ko-KR" altLang="en-US" sz="1100" dirty="0"/>
              <a:t>들이 사용됩니다</a:t>
            </a:r>
            <a:r>
              <a:rPr lang="en-US" altLang="ko-KR" sz="1100" dirty="0"/>
              <a:t>.</a:t>
            </a:r>
          </a:p>
        </p:txBody>
      </p:sp>
      <p:sp>
        <p:nvSpPr>
          <p:cNvPr id="8" name="제목 7"/>
          <p:cNvSpPr>
            <a:spLocks noGrp="1"/>
          </p:cNvSpPr>
          <p:nvPr>
            <p:ph type="title"/>
          </p:nvPr>
        </p:nvSpPr>
        <p:spPr>
          <a:xfrm>
            <a:off x="408000" y="156779"/>
            <a:ext cx="1907568" cy="757060"/>
          </a:xfrm>
        </p:spPr>
        <p:txBody>
          <a:bodyPr/>
          <a:lstStyle/>
          <a:p>
            <a:r>
              <a:rPr lang="en-US" altLang="ko-KR" dirty="0"/>
              <a:t>Stereotypes</a:t>
            </a:r>
            <a:br>
              <a:rPr lang="en-US" altLang="ko-KR" dirty="0"/>
            </a:br>
            <a:endParaRPr lang="ko-KR" altLang="en-US" dirty="0"/>
          </a:p>
        </p:txBody>
      </p:sp>
    </p:spTree>
    <p:extLst>
      <p:ext uri="{BB962C8B-B14F-4D97-AF65-F5344CB8AC3E}">
        <p14:creationId xmlns:p14="http://schemas.microsoft.com/office/powerpoint/2010/main" val="31258342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07999" y="759541"/>
            <a:ext cx="11376001" cy="3816359"/>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모델 요소에 추가 정보를 추가 하여</a:t>
            </a: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모델 요소의 특성을 확장하는데 사용합니다</a:t>
            </a: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속성 이름과 값을 쌍으로 설정 할 수 있습니다</a:t>
            </a: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 </a:t>
            </a: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값이 </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true</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일 경우 생략 할 수 있습니다</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b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br>
            <a:r>
              <a:rPr kumimoji="1" lang="en-US" altLang="ko-KR" sz="1600" dirty="0" smtClean="0">
                <a:ln>
                  <a:solidFill>
                    <a:schemeClr val="bg1">
                      <a:lumMod val="85000"/>
                      <a:alpha val="0"/>
                    </a:schemeClr>
                  </a:solidFill>
                </a:ln>
                <a:solidFill>
                  <a:schemeClr val="bg1">
                    <a:lumMod val="50000"/>
                  </a:schemeClr>
                </a:solidFill>
                <a:latin typeface="맑은 고딕" pitchFamily="50" charset="-127"/>
                <a:cs typeface="Arial" panose="020B0604020202020204" pitchFamily="34" charset="0"/>
              </a:rPr>
              <a:t>{abstract = true} </a:t>
            </a:r>
            <a:r>
              <a:rPr kumimoji="1" lang="ko-KR" altLang="en-US" sz="1600" dirty="0" smtClean="0">
                <a:ln>
                  <a:solidFill>
                    <a:schemeClr val="bg1">
                      <a:lumMod val="85000"/>
                      <a:alpha val="0"/>
                    </a:schemeClr>
                  </a:solidFill>
                </a:ln>
                <a:solidFill>
                  <a:schemeClr val="bg1">
                    <a:lumMod val="50000"/>
                  </a:schemeClr>
                </a:solidFill>
                <a:latin typeface="맑은 고딕" pitchFamily="50" charset="-127"/>
                <a:cs typeface="Arial" panose="020B0604020202020204" pitchFamily="34" charset="0"/>
              </a:rPr>
              <a:t>→</a:t>
            </a:r>
            <a:r>
              <a:rPr kumimoji="1" lang="en-US" altLang="ko-KR" sz="1600" dirty="0" smtClean="0">
                <a:ln>
                  <a:solidFill>
                    <a:schemeClr val="bg1">
                      <a:lumMod val="85000"/>
                      <a:alpha val="0"/>
                    </a:schemeClr>
                  </a:solidFill>
                </a:ln>
                <a:solidFill>
                  <a:schemeClr val="bg1">
                    <a:lumMod val="50000"/>
                  </a:schemeClr>
                </a:solidFill>
                <a:latin typeface="맑은 고딕" pitchFamily="50" charset="-127"/>
                <a:cs typeface="Arial" panose="020B0604020202020204" pitchFamily="34" charset="0"/>
              </a:rPr>
              <a:t> </a:t>
            </a:r>
            <a:r>
              <a:rPr kumimoji="1" lang="en-US" altLang="ko-KR" sz="1600" dirty="0">
                <a:ln>
                  <a:solidFill>
                    <a:schemeClr val="bg1">
                      <a:lumMod val="85000"/>
                      <a:alpha val="0"/>
                    </a:schemeClr>
                  </a:solidFill>
                </a:ln>
                <a:solidFill>
                  <a:schemeClr val="bg1">
                    <a:lumMod val="50000"/>
                  </a:schemeClr>
                </a:solidFill>
                <a:latin typeface="맑은 고딕" pitchFamily="50" charset="-127"/>
                <a:cs typeface="Arial" panose="020B0604020202020204" pitchFamily="34" charset="0"/>
              </a:rPr>
              <a:t>{abstract}</a:t>
            </a:r>
            <a:endParaRPr kumimoji="1" lang="en-US" altLang="ko-KR" sz="1600" dirty="0" smtClean="0">
              <a:ln>
                <a:solidFill>
                  <a:schemeClr val="bg1">
                    <a:lumMod val="85000"/>
                    <a:alpha val="0"/>
                  </a:schemeClr>
                </a:solidFill>
              </a:ln>
              <a:solidFill>
                <a:schemeClr val="bg1">
                  <a:lumMod val="50000"/>
                </a:schemeClr>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endParaRPr>
          </a:p>
          <a:p>
            <a:pPr defTabSz="912813" fontAlgn="base">
              <a:spcBef>
                <a:spcPts val="600"/>
              </a:spcBef>
              <a:spcAft>
                <a:spcPct val="0"/>
              </a:spcAft>
              <a:buClr>
                <a:srgbClr val="55CFD1"/>
              </a:buClr>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8" name="그림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520" y="3140968"/>
            <a:ext cx="4140206" cy="1104055"/>
          </a:xfrm>
          <a:prstGeom prst="rect">
            <a:avLst/>
          </a:prstGeom>
        </p:spPr>
      </p:pic>
      <p:sp>
        <p:nvSpPr>
          <p:cNvPr id="7" name="제목 6"/>
          <p:cNvSpPr>
            <a:spLocks noGrp="1"/>
          </p:cNvSpPr>
          <p:nvPr>
            <p:ph type="title"/>
          </p:nvPr>
        </p:nvSpPr>
        <p:spPr>
          <a:xfrm>
            <a:off x="408000" y="156779"/>
            <a:ext cx="2291584" cy="757060"/>
          </a:xfrm>
        </p:spPr>
        <p:txBody>
          <a:bodyPr/>
          <a:lstStyle/>
          <a:p>
            <a:r>
              <a:rPr lang="en-US" altLang="ko-KR" dirty="0"/>
              <a:t>Tagged Values</a:t>
            </a:r>
            <a:br>
              <a:rPr lang="en-US" altLang="ko-KR" dirty="0"/>
            </a:br>
            <a:endParaRPr lang="ko-KR" altLang="en-US" dirty="0"/>
          </a:p>
        </p:txBody>
      </p:sp>
    </p:spTree>
    <p:extLst>
      <p:ext uri="{BB962C8B-B14F-4D97-AF65-F5344CB8AC3E}">
        <p14:creationId xmlns:p14="http://schemas.microsoft.com/office/powerpoint/2010/main" val="37914283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20585" y="767633"/>
            <a:ext cx="11163415" cy="2923807"/>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항상 지켜야 하는  내용이나 조건을 지정하기 위한 특성입니다</a:t>
            </a: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Note </a:t>
            </a: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요소를 사용하여  </a:t>
            </a:r>
            <a:r>
              <a:rPr kumimoji="1" lang="ko-KR" altLang="en-US" sz="1600" b="1" dirty="0">
                <a:ln>
                  <a:solidFill>
                    <a:schemeClr val="bg1">
                      <a:lumMod val="85000"/>
                      <a:alpha val="0"/>
                    </a:schemeClr>
                  </a:solidFill>
                </a:ln>
                <a:solidFill>
                  <a:srgbClr val="4B465E"/>
                </a:solidFill>
                <a:latin typeface="맑은 고딕" pitchFamily="50" charset="-127"/>
                <a:cs typeface="Arial" panose="020B0604020202020204" pitchFamily="34" charset="0"/>
              </a:rPr>
              <a:t>중괄호 </a:t>
            </a:r>
            <a:r>
              <a:rPr kumimoji="1" lang="en-US" altLang="ko-KR" sz="1600" b="1" dirty="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내에 제약 사항을 기술합니다</a:t>
            </a: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endParaRPr>
          </a:p>
          <a:p>
            <a:pPr defTabSz="912813" fontAlgn="base">
              <a:spcBef>
                <a:spcPts val="600"/>
              </a:spcBef>
              <a:spcAft>
                <a:spcPct val="0"/>
              </a:spcAft>
              <a:buClr>
                <a:srgbClr val="55CFD1"/>
              </a:buClr>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7" name="그림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6160" y="3022335"/>
            <a:ext cx="5112263" cy="1338210"/>
          </a:xfrm>
          <a:prstGeom prst="rect">
            <a:avLst/>
          </a:prstGeom>
        </p:spPr>
      </p:pic>
      <p:sp>
        <p:nvSpPr>
          <p:cNvPr id="8" name="제목 7"/>
          <p:cNvSpPr>
            <a:spLocks noGrp="1"/>
          </p:cNvSpPr>
          <p:nvPr>
            <p:ph type="title"/>
          </p:nvPr>
        </p:nvSpPr>
        <p:spPr>
          <a:xfrm>
            <a:off x="408000" y="156779"/>
            <a:ext cx="1843641" cy="424661"/>
          </a:xfrm>
        </p:spPr>
        <p:txBody>
          <a:bodyPr/>
          <a:lstStyle/>
          <a:p>
            <a:r>
              <a:rPr lang="en-US" altLang="ko-KR" dirty="0" smtClean="0"/>
              <a:t>Constraints</a:t>
            </a:r>
            <a:endParaRPr lang="ko-KR" altLang="en-US" dirty="0"/>
          </a:p>
        </p:txBody>
      </p:sp>
    </p:spTree>
    <p:extLst>
      <p:ext uri="{BB962C8B-B14F-4D97-AF65-F5344CB8AC3E}">
        <p14:creationId xmlns:p14="http://schemas.microsoft.com/office/powerpoint/2010/main" val="19043843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3</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1882113"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Use case</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13729537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1415639" cy="424661"/>
          </a:xfrm>
        </p:spPr>
        <p:txBody>
          <a:bodyPr/>
          <a:lstStyle/>
          <a:p>
            <a:r>
              <a:rPr lang="ko-KR" altLang="en-US" dirty="0" smtClean="0"/>
              <a:t>요구사항</a:t>
            </a:r>
            <a:endParaRPr lang="ko-KR" altLang="en-US" dirty="0"/>
          </a:p>
        </p:txBody>
      </p:sp>
      <p:sp>
        <p:nvSpPr>
          <p:cNvPr id="4" name="TextBox 3"/>
          <p:cNvSpPr txBox="1"/>
          <p:nvPr/>
        </p:nvSpPr>
        <p:spPr>
          <a:xfrm>
            <a:off x="408000" y="1888324"/>
            <a:ext cx="11376000" cy="1346138"/>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500" dirty="0" smtClean="0"/>
              <a:t>소프트웨어 개발 프로젝트가 실패하는 몇 가지 공통된 요인을 알 수 있다</a:t>
            </a:r>
            <a:r>
              <a:rPr lang="en-US" altLang="ko-KR" sz="1500" dirty="0" smtClean="0"/>
              <a:t>. </a:t>
            </a:r>
            <a:r>
              <a:rPr lang="ko-KR" altLang="en-US" sz="1500" dirty="0" smtClean="0"/>
              <a:t>그 중 하나가 핵심 이해당사자 간 대화가 부족하거나 전혀 없었다는 사실이다</a:t>
            </a:r>
            <a:r>
              <a:rPr lang="en-US" altLang="ko-KR" sz="1500" dirty="0" smtClean="0"/>
              <a:t>…. </a:t>
            </a:r>
            <a:r>
              <a:rPr lang="ko-KR" altLang="en-US" sz="1500" dirty="0" smtClean="0"/>
              <a:t>따라서 개발 조직이 현업</a:t>
            </a:r>
            <a:r>
              <a:rPr lang="en-US" altLang="ko-KR" sz="1500" dirty="0" smtClean="0"/>
              <a:t>(</a:t>
            </a:r>
            <a:r>
              <a:rPr lang="ko-KR" altLang="en-US" sz="1500" dirty="0"/>
              <a:t>고객</a:t>
            </a:r>
            <a:r>
              <a:rPr lang="en-US" altLang="ko-KR" sz="1500" dirty="0" smtClean="0"/>
              <a:t>)</a:t>
            </a:r>
            <a:r>
              <a:rPr lang="ko-KR" altLang="en-US" sz="1500" dirty="0" smtClean="0"/>
              <a:t>을 성가시게 하지 않으면서도 무엇을 원하는지 명확히 이해할 수 있는 시스템 개발 방안이 필요하다</a:t>
            </a:r>
            <a:endParaRPr lang="en-US" altLang="ko-KR" sz="1500" dirty="0" smtClean="0"/>
          </a:p>
          <a:p>
            <a:pPr algn="r"/>
            <a:r>
              <a:rPr lang="en-US" altLang="ko-KR" sz="1500" dirty="0" smtClean="0">
                <a:solidFill>
                  <a:schemeClr val="bg1">
                    <a:lumMod val="50000"/>
                  </a:schemeClr>
                </a:solidFill>
              </a:rPr>
              <a:t> UML</a:t>
            </a:r>
            <a:r>
              <a:rPr lang="ko-KR" altLang="en-US" sz="1500" dirty="0" smtClean="0">
                <a:solidFill>
                  <a:schemeClr val="bg1">
                    <a:lumMod val="50000"/>
                  </a:schemeClr>
                </a:solidFill>
              </a:rPr>
              <a:t>을 활용한 객체지향 분석 설계 </a:t>
            </a:r>
            <a:r>
              <a:rPr lang="en-US" altLang="ko-KR" sz="1500" dirty="0" smtClean="0">
                <a:solidFill>
                  <a:schemeClr val="bg1">
                    <a:lumMod val="50000"/>
                  </a:schemeClr>
                </a:solidFill>
              </a:rPr>
              <a:t>- </a:t>
            </a:r>
            <a:r>
              <a:rPr lang="ko-KR" altLang="en-US" sz="1500" dirty="0" err="1" smtClean="0">
                <a:solidFill>
                  <a:schemeClr val="bg1">
                    <a:lumMod val="50000"/>
                  </a:schemeClr>
                </a:solidFill>
              </a:rPr>
              <a:t>그래디</a:t>
            </a:r>
            <a:r>
              <a:rPr lang="ko-KR" altLang="en-US" sz="1500" dirty="0" smtClean="0">
                <a:solidFill>
                  <a:schemeClr val="bg1">
                    <a:lumMod val="50000"/>
                  </a:schemeClr>
                </a:solidFill>
              </a:rPr>
              <a:t> 부치 외</a:t>
            </a:r>
            <a:r>
              <a:rPr lang="en-US" altLang="ko-KR" sz="1500" dirty="0" smtClean="0">
                <a:solidFill>
                  <a:schemeClr val="bg1">
                    <a:lumMod val="50000"/>
                  </a:schemeClr>
                </a:solidFill>
              </a:rPr>
              <a:t>-</a:t>
            </a:r>
            <a:r>
              <a:rPr lang="en-US" altLang="ko-KR" sz="1500" dirty="0" smtClean="0"/>
              <a:t> </a:t>
            </a:r>
            <a:endParaRPr lang="ko-KR" altLang="en-US" sz="1500" dirty="0"/>
          </a:p>
        </p:txBody>
      </p:sp>
      <p:sp>
        <p:nvSpPr>
          <p:cNvPr id="5" name="TextBox 4"/>
          <p:cNvSpPr txBox="1"/>
          <p:nvPr/>
        </p:nvSpPr>
        <p:spPr>
          <a:xfrm>
            <a:off x="407999" y="3501008"/>
            <a:ext cx="11376001" cy="2638799"/>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500" dirty="0" smtClean="0"/>
              <a:t>요구사항은 첫 단추와 같다</a:t>
            </a:r>
            <a:r>
              <a:rPr lang="en-US" altLang="ko-KR" sz="1500" dirty="0" smtClean="0"/>
              <a:t>. </a:t>
            </a:r>
            <a:r>
              <a:rPr lang="ko-KR" altLang="en-US" sz="1500" dirty="0" smtClean="0"/>
              <a:t>첫 단추를 잘못 끼우면 모든 단추가 잘못 끼워지듯이 요구사항을 올바르게 이해하지 못하면 요구하지 않은 엉뚱한 기능을 만들게 된다</a:t>
            </a:r>
            <a:r>
              <a:rPr lang="en-US" altLang="ko-KR" sz="1500" dirty="0" smtClean="0"/>
              <a:t>. </a:t>
            </a:r>
            <a:r>
              <a:rPr lang="ko-KR" altLang="en-US" sz="1500" dirty="0" smtClean="0"/>
              <a:t>단추는 풀어서 다시 끼우기 쉽지만 작성한 코드는 그렇지 않다</a:t>
            </a:r>
            <a:r>
              <a:rPr lang="en-US" altLang="ko-KR" sz="1500" dirty="0" smtClean="0"/>
              <a:t>. </a:t>
            </a:r>
          </a:p>
          <a:p>
            <a:r>
              <a:rPr lang="en-US" altLang="ko-KR" sz="1500" dirty="0" smtClean="0"/>
              <a:t>…</a:t>
            </a:r>
          </a:p>
          <a:p>
            <a:r>
              <a:rPr lang="ko-KR" altLang="en-US" sz="1500" dirty="0" smtClean="0"/>
              <a:t>요구사항을 올바르게 이해하려면 어떻게 해야 하나</a:t>
            </a:r>
            <a:r>
              <a:rPr lang="en-US" altLang="ko-KR" sz="1500" dirty="0" smtClean="0"/>
              <a:t>? </a:t>
            </a:r>
            <a:r>
              <a:rPr lang="ko-KR" altLang="en-US" sz="1500" dirty="0" smtClean="0"/>
              <a:t>여러 방법이 있겠지만 비교적 간단한 방법이 있다</a:t>
            </a:r>
            <a:r>
              <a:rPr lang="en-US" altLang="ko-KR" sz="1500" dirty="0" smtClean="0"/>
              <a:t>. </a:t>
            </a:r>
            <a:r>
              <a:rPr lang="ko-KR" altLang="en-US" sz="1500" dirty="0" smtClean="0"/>
              <a:t>그것은 바로 개발자와 전문가가 직접 대화하는 것이다</a:t>
            </a:r>
            <a:r>
              <a:rPr lang="en-US" altLang="ko-KR" sz="1500" dirty="0" smtClean="0"/>
              <a:t>. </a:t>
            </a:r>
            <a:r>
              <a:rPr lang="ko-KR" altLang="en-US" sz="1500" dirty="0" smtClean="0"/>
              <a:t>개발자와 전문가 사이에 내용을 전파하는 전달자가 많으면 많을수록 정보가 왜곡되고 손실이 발생하게 되며</a:t>
            </a:r>
            <a:r>
              <a:rPr lang="en-US" altLang="ko-KR" sz="1500" dirty="0" smtClean="0"/>
              <a:t>, </a:t>
            </a:r>
            <a:r>
              <a:rPr lang="ko-KR" altLang="en-US" sz="1500" dirty="0" smtClean="0"/>
              <a:t>개발자는 최초에 전문가가 요구한 것과는 다른 무언가를 만들게 된다</a:t>
            </a:r>
            <a:r>
              <a:rPr lang="en-US" altLang="ko-KR" sz="1500" dirty="0" smtClean="0"/>
              <a:t>.</a:t>
            </a:r>
            <a:endParaRPr lang="en-US" altLang="ko-KR" sz="1500" dirty="0"/>
          </a:p>
          <a:p>
            <a:endParaRPr lang="en-US" altLang="ko-KR" sz="1500" dirty="0" smtClean="0"/>
          </a:p>
          <a:p>
            <a:pPr algn="r"/>
            <a:r>
              <a:rPr lang="en-US" altLang="ko-KR" sz="1500" dirty="0" smtClean="0">
                <a:solidFill>
                  <a:schemeClr val="bg1">
                    <a:lumMod val="50000"/>
                  </a:schemeClr>
                </a:solidFill>
              </a:rPr>
              <a:t> </a:t>
            </a:r>
            <a:r>
              <a:rPr lang="ko-KR" altLang="en-US" sz="1500" dirty="0" smtClean="0">
                <a:solidFill>
                  <a:schemeClr val="bg1">
                    <a:lumMod val="50000"/>
                  </a:schemeClr>
                </a:solidFill>
              </a:rPr>
              <a:t>도메인 주도 개발 시작하기 </a:t>
            </a:r>
            <a:r>
              <a:rPr lang="en-US" altLang="ko-KR" sz="1500" dirty="0" smtClean="0">
                <a:solidFill>
                  <a:schemeClr val="bg1">
                    <a:lumMod val="50000"/>
                  </a:schemeClr>
                </a:solidFill>
              </a:rPr>
              <a:t>- </a:t>
            </a:r>
            <a:r>
              <a:rPr lang="ko-KR" altLang="en-US" sz="1500" dirty="0" smtClean="0">
                <a:solidFill>
                  <a:schemeClr val="bg1">
                    <a:lumMod val="50000"/>
                  </a:schemeClr>
                </a:solidFill>
              </a:rPr>
              <a:t>최범석</a:t>
            </a:r>
            <a:r>
              <a:rPr lang="en-US" altLang="ko-KR" sz="1500" dirty="0" smtClean="0">
                <a:solidFill>
                  <a:schemeClr val="bg1">
                    <a:lumMod val="50000"/>
                  </a:schemeClr>
                </a:solidFill>
              </a:rPr>
              <a:t>-</a:t>
            </a:r>
            <a:r>
              <a:rPr lang="en-US" altLang="ko-KR" sz="1500" dirty="0" smtClean="0"/>
              <a:t> </a:t>
            </a:r>
            <a:endParaRPr lang="ko-KR" altLang="en-US" sz="1500" dirty="0"/>
          </a:p>
        </p:txBody>
      </p:sp>
      <p:sp>
        <p:nvSpPr>
          <p:cNvPr id="7" name="TextBox 6"/>
          <p:cNvSpPr txBox="1"/>
          <p:nvPr/>
        </p:nvSpPr>
        <p:spPr>
          <a:xfrm>
            <a:off x="408000" y="781992"/>
            <a:ext cx="11376001" cy="33848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당연한 이야기지만 요구사항을 올바르게 이해하지 못하면</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 S/W</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를 개발에 성공할 수 없습니다</a:t>
            </a: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27920641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title"/>
          </p:nvPr>
        </p:nvSpPr>
        <p:spPr>
          <a:xfrm>
            <a:off x="408000" y="156779"/>
            <a:ext cx="1107862" cy="424661"/>
          </a:xfrm>
        </p:spPr>
        <p:txBody>
          <a:bodyPr/>
          <a:lstStyle/>
          <a:p>
            <a:r>
              <a:rPr lang="ko-KR" altLang="en-US" dirty="0" smtClean="0"/>
              <a:t>도메인</a:t>
            </a:r>
            <a:endParaRPr lang="ko-KR" altLang="en-US" dirty="0"/>
          </a:p>
        </p:txBody>
      </p:sp>
      <p:sp>
        <p:nvSpPr>
          <p:cNvPr id="5" name="TextBox 4"/>
          <p:cNvSpPr txBox="1"/>
          <p:nvPr/>
        </p:nvSpPr>
        <p:spPr>
          <a:xfrm>
            <a:off x="408000" y="1573332"/>
            <a:ext cx="11382202" cy="1992469"/>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500" dirty="0" smtClean="0"/>
              <a:t>개발자 입장에서 바라보면 온라인 서점은 구현해야 할 소프트웨어의 대상이 된다</a:t>
            </a:r>
            <a:r>
              <a:rPr lang="en-US" altLang="ko-KR" sz="1500" dirty="0" smtClean="0"/>
              <a:t>. </a:t>
            </a:r>
            <a:r>
              <a:rPr lang="ko-KR" altLang="en-US" sz="1500" dirty="0" smtClean="0"/>
              <a:t>온라인 서점 소프트웨어는 온라인으로 책을 판매하는데 필요한 상품 조회</a:t>
            </a:r>
            <a:r>
              <a:rPr lang="en-US" altLang="ko-KR" sz="1500" dirty="0" smtClean="0"/>
              <a:t>, </a:t>
            </a:r>
            <a:r>
              <a:rPr lang="ko-KR" altLang="en-US" sz="1500" dirty="0" smtClean="0"/>
              <a:t>구매</a:t>
            </a:r>
            <a:r>
              <a:rPr lang="en-US" altLang="ko-KR" sz="1500" dirty="0" smtClean="0"/>
              <a:t>, </a:t>
            </a:r>
            <a:r>
              <a:rPr lang="ko-KR" altLang="en-US" sz="1500" dirty="0" smtClean="0"/>
              <a:t>결제</a:t>
            </a:r>
            <a:r>
              <a:rPr lang="en-US" altLang="ko-KR" sz="1500" dirty="0" smtClean="0"/>
              <a:t>, </a:t>
            </a:r>
            <a:r>
              <a:rPr lang="ko-KR" altLang="en-US" sz="1500" dirty="0" smtClean="0"/>
              <a:t>배송 추적 등의 기능을 제공해야 한다</a:t>
            </a:r>
            <a:r>
              <a:rPr lang="en-US" altLang="ko-KR" sz="1500" dirty="0" smtClean="0"/>
              <a:t>. </a:t>
            </a:r>
            <a:r>
              <a:rPr lang="ko-KR" altLang="en-US" sz="1500" dirty="0" smtClean="0"/>
              <a:t>이때 온라인 서점은 </a:t>
            </a:r>
            <a:r>
              <a:rPr lang="ko-KR" altLang="en-US" sz="1500" b="1" dirty="0" smtClean="0"/>
              <a:t>소프트웨어로 해결하고자 하는 문제 영역</a:t>
            </a:r>
            <a:r>
              <a:rPr lang="en-US" altLang="ko-KR" sz="1500" dirty="0" smtClean="0"/>
              <a:t>, </a:t>
            </a:r>
            <a:r>
              <a:rPr lang="ko-KR" altLang="en-US" sz="1500" dirty="0" smtClean="0"/>
              <a:t>즉 도메인에 해당한다</a:t>
            </a:r>
            <a:r>
              <a:rPr lang="en-US" altLang="ko-KR" sz="1500" dirty="0" smtClean="0"/>
              <a:t>.  </a:t>
            </a:r>
          </a:p>
          <a:p>
            <a:r>
              <a:rPr lang="ko-KR" altLang="en-US" sz="1500" dirty="0" smtClean="0"/>
              <a:t>한 도메인은 다시 하위 도메인으로 나눌 수 있다</a:t>
            </a:r>
            <a:r>
              <a:rPr lang="en-US" altLang="ko-KR" sz="1500" dirty="0" smtClean="0"/>
              <a:t>. </a:t>
            </a:r>
            <a:r>
              <a:rPr lang="ko-KR" altLang="en-US" sz="1500" dirty="0" smtClean="0"/>
              <a:t>예를 들어 온라인 서점 도메인은 </a:t>
            </a:r>
            <a:r>
              <a:rPr lang="en-US" altLang="ko-KR" sz="1500" dirty="0" smtClean="0"/>
              <a:t>[</a:t>
            </a:r>
            <a:r>
              <a:rPr lang="ko-KR" altLang="en-US" sz="1500" dirty="0" smtClean="0"/>
              <a:t>그림 </a:t>
            </a:r>
            <a:r>
              <a:rPr lang="en-US" altLang="ko-KR" sz="1500" dirty="0" smtClean="0"/>
              <a:t>1.1]</a:t>
            </a:r>
            <a:r>
              <a:rPr lang="ko-KR" altLang="en-US" sz="1500" dirty="0" smtClean="0"/>
              <a:t>과 같이 몇 개의 하위 도메인으로 나눌 수 있다</a:t>
            </a:r>
            <a:r>
              <a:rPr lang="en-US" altLang="ko-KR" sz="1500" dirty="0" smtClean="0"/>
              <a:t>.</a:t>
            </a:r>
          </a:p>
          <a:p>
            <a:pPr algn="r"/>
            <a:r>
              <a:rPr lang="en-US" altLang="ko-KR" sz="1500" dirty="0" smtClean="0">
                <a:solidFill>
                  <a:schemeClr val="bg1">
                    <a:lumMod val="50000"/>
                  </a:schemeClr>
                </a:solidFill>
              </a:rPr>
              <a:t> </a:t>
            </a:r>
            <a:r>
              <a:rPr lang="ko-KR" altLang="en-US" sz="1500" dirty="0" smtClean="0">
                <a:solidFill>
                  <a:schemeClr val="bg1">
                    <a:lumMod val="50000"/>
                  </a:schemeClr>
                </a:solidFill>
              </a:rPr>
              <a:t>도메인 주도 개발 시작하기 </a:t>
            </a:r>
            <a:r>
              <a:rPr lang="en-US" altLang="ko-KR" sz="1500" dirty="0" smtClean="0">
                <a:solidFill>
                  <a:schemeClr val="bg1">
                    <a:lumMod val="50000"/>
                  </a:schemeClr>
                </a:solidFill>
              </a:rPr>
              <a:t>- </a:t>
            </a:r>
            <a:r>
              <a:rPr lang="ko-KR" altLang="en-US" sz="1500" dirty="0" smtClean="0">
                <a:solidFill>
                  <a:schemeClr val="bg1">
                    <a:lumMod val="50000"/>
                  </a:schemeClr>
                </a:solidFill>
              </a:rPr>
              <a:t>최범석</a:t>
            </a:r>
            <a:r>
              <a:rPr lang="en-US" altLang="ko-KR" sz="1500" dirty="0" smtClean="0">
                <a:solidFill>
                  <a:schemeClr val="bg1">
                    <a:lumMod val="50000"/>
                  </a:schemeClr>
                </a:solidFill>
              </a:rPr>
              <a:t>-</a:t>
            </a:r>
            <a:r>
              <a:rPr lang="en-US" altLang="ko-KR" sz="1500" dirty="0" smtClean="0"/>
              <a:t> </a:t>
            </a:r>
            <a:endParaRPr lang="ko-KR" altLang="en-US" sz="1500" dirty="0"/>
          </a:p>
        </p:txBody>
      </p:sp>
      <p:pic>
        <p:nvPicPr>
          <p:cNvPr id="2" name="그림 1"/>
          <p:cNvPicPr>
            <a:picLocks noChangeAspect="1"/>
          </p:cNvPicPr>
          <p:nvPr/>
        </p:nvPicPr>
        <p:blipFill>
          <a:blip r:embed="rId3"/>
          <a:stretch>
            <a:fillRect/>
          </a:stretch>
        </p:blipFill>
        <p:spPr>
          <a:xfrm>
            <a:off x="1919536" y="3919661"/>
            <a:ext cx="3200846" cy="2594972"/>
          </a:xfrm>
          <a:prstGeom prst="rect">
            <a:avLst/>
          </a:prstGeom>
        </p:spPr>
      </p:pic>
      <p:pic>
        <p:nvPicPr>
          <p:cNvPr id="3" name="그림 2"/>
          <p:cNvPicPr>
            <a:picLocks noChangeAspect="1"/>
          </p:cNvPicPr>
          <p:nvPr/>
        </p:nvPicPr>
        <p:blipFill>
          <a:blip r:embed="rId4"/>
          <a:stretch>
            <a:fillRect/>
          </a:stretch>
        </p:blipFill>
        <p:spPr>
          <a:xfrm>
            <a:off x="7629173" y="3573016"/>
            <a:ext cx="4012490" cy="2955067"/>
          </a:xfrm>
          <a:prstGeom prst="rect">
            <a:avLst/>
          </a:prstGeom>
        </p:spPr>
      </p:pic>
      <p:pic>
        <p:nvPicPr>
          <p:cNvPr id="9" name="그림 8"/>
          <p:cNvPicPr>
            <a:picLocks noChangeAspect="1"/>
          </p:cNvPicPr>
          <p:nvPr/>
        </p:nvPicPr>
        <p:blipFill>
          <a:blip r:embed="rId5"/>
          <a:stretch>
            <a:fillRect/>
          </a:stretch>
        </p:blipFill>
        <p:spPr>
          <a:xfrm>
            <a:off x="10560496" y="6090439"/>
            <a:ext cx="1082915" cy="348524"/>
          </a:xfrm>
          <a:prstGeom prst="rect">
            <a:avLst/>
          </a:prstGeom>
        </p:spPr>
      </p:pic>
      <p:sp>
        <p:nvSpPr>
          <p:cNvPr id="8" name="TextBox 7"/>
          <p:cNvSpPr txBox="1"/>
          <p:nvPr/>
        </p:nvSpPr>
        <p:spPr>
          <a:xfrm>
            <a:off x="408000" y="692696"/>
            <a:ext cx="11376001" cy="661649"/>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SW</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개발을 성공적으로 진행하기 위해서는 </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S/W</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로 해결하고자 하는 문제 영역을 잘 이해할 필요가 있습니다</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도메인 전문가는 </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S/W </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전문가가 아니고</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개발자는 도메인 전문가가 아닐 수 있습니다</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spTree>
    <p:extLst>
      <p:ext uri="{BB962C8B-B14F-4D97-AF65-F5344CB8AC3E}">
        <p14:creationId xmlns:p14="http://schemas.microsoft.com/office/powerpoint/2010/main" val="23466600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408000" y="781992"/>
            <a:ext cx="11376001" cy="1307980"/>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시스템이 무엇을 </a:t>
            </a: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할지에 대한 기능 </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요구를 기술합니다</a:t>
            </a:r>
            <a:r>
              <a:rPr kumimoji="1" lang="en-US" altLang="ko-KR" sz="1600" dirty="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600" dirty="0">
                <a:ln>
                  <a:solidFill>
                    <a:schemeClr val="bg1">
                      <a:lumMod val="85000"/>
                      <a:alpha val="0"/>
                    </a:schemeClr>
                  </a:solidFill>
                </a:ln>
                <a:solidFill>
                  <a:srgbClr val="4B465E"/>
                </a:solidFill>
                <a:latin typeface="맑은 고딕" pitchFamily="50" charset="-127"/>
                <a:cs typeface="Arial" panose="020B0604020202020204" pitchFamily="34" charset="0"/>
              </a:rPr>
              <a:t> </a:t>
            </a:r>
            <a:endPar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시스템의 사용자나 외부 시스템과의 상호작용을 </a:t>
            </a:r>
            <a:r>
              <a:rPr kumimoji="1" lang="ko-KR" altLang="en-US" sz="1600" smtClean="0">
                <a:ln>
                  <a:solidFill>
                    <a:schemeClr val="bg1">
                      <a:lumMod val="85000"/>
                      <a:alpha val="0"/>
                    </a:schemeClr>
                  </a:solidFill>
                </a:ln>
                <a:solidFill>
                  <a:srgbClr val="4B465E"/>
                </a:solidFill>
                <a:latin typeface="맑은 고딕" pitchFamily="50" charset="-127"/>
                <a:cs typeface="Arial" panose="020B0604020202020204" pitchFamily="34" charset="0"/>
              </a:rPr>
              <a:t>정의하고 이해관계자들과의 </a:t>
            </a: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의사 소통에 활용합니다</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endParaRPr lang="en-US" altLang="ko-KR" sz="1600" dirty="0" smtClean="0"/>
          </a:p>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600" dirty="0" smtClean="0"/>
              <a:t>누가 시스템을 어떻게 사용하는지</a:t>
            </a:r>
            <a:r>
              <a:rPr lang="en-US" altLang="ko-KR" sz="1600" dirty="0" smtClean="0"/>
              <a:t>, </a:t>
            </a:r>
            <a:r>
              <a:rPr lang="ko-KR" altLang="en-US" sz="1600" dirty="0" smtClean="0"/>
              <a:t>시스템은 무엇을 사용하는지 기술합니다</a:t>
            </a:r>
            <a:r>
              <a:rPr lang="en-US" altLang="ko-KR" sz="1600" dirty="0" smtClean="0"/>
              <a: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해당 기능이 내부적으로 어떻게 수행되는지는 기술하지 않습니다</a:t>
            </a:r>
            <a:r>
              <a:rPr kumimoji="1" lang="en-US" altLang="ko-KR" sz="16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p:txBody>
      </p:sp>
      <p:sp>
        <p:nvSpPr>
          <p:cNvPr id="7" name="제목 6"/>
          <p:cNvSpPr>
            <a:spLocks noGrp="1"/>
          </p:cNvSpPr>
          <p:nvPr>
            <p:ph type="title"/>
          </p:nvPr>
        </p:nvSpPr>
        <p:spPr>
          <a:xfrm>
            <a:off x="408000" y="156779"/>
            <a:ext cx="1603191" cy="424661"/>
          </a:xfrm>
        </p:spPr>
        <p:txBody>
          <a:bodyPr/>
          <a:lstStyle/>
          <a:p>
            <a:r>
              <a:rPr lang="en-US" altLang="ko-KR" dirty="0"/>
              <a:t>Use </a:t>
            </a:r>
            <a:r>
              <a:rPr lang="en-US" altLang="ko-KR" dirty="0" smtClean="0"/>
              <a:t>cases</a:t>
            </a:r>
            <a:endParaRPr lang="ko-KR" altLang="en-US" dirty="0"/>
          </a:p>
        </p:txBody>
      </p:sp>
      <p:sp>
        <p:nvSpPr>
          <p:cNvPr id="13" name="TextBox 12"/>
          <p:cNvSpPr txBox="1"/>
          <p:nvPr/>
        </p:nvSpPr>
        <p:spPr>
          <a:xfrm>
            <a:off x="408000" y="2924944"/>
            <a:ext cx="11376001" cy="2702278"/>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600" dirty="0" smtClean="0"/>
              <a:t>유스케이스는 반드시 </a:t>
            </a:r>
            <a:r>
              <a:rPr lang="ko-KR" altLang="en-US" sz="1600" dirty="0" err="1" smtClean="0"/>
              <a:t>액터</a:t>
            </a:r>
            <a:r>
              <a:rPr lang="ko-KR" altLang="en-US" sz="1600" dirty="0" smtClean="0"/>
              <a:t> 관점에서 </a:t>
            </a:r>
            <a:r>
              <a:rPr lang="ko-KR" altLang="en-US" sz="1600" dirty="0" err="1" smtClean="0"/>
              <a:t>액터에게</a:t>
            </a:r>
            <a:r>
              <a:rPr lang="ko-KR" altLang="en-US" sz="1600" dirty="0" smtClean="0"/>
              <a:t> 가치를 제공하는 활동의 완전한 흐름이어야 한다</a:t>
            </a:r>
            <a:r>
              <a:rPr lang="en-US" altLang="ko-KR" sz="1600" dirty="0" smtClean="0"/>
              <a:t>. </a:t>
            </a:r>
            <a:r>
              <a:rPr lang="ko-KR" altLang="en-US" sz="1600" dirty="0" smtClean="0"/>
              <a:t>유스케이스를 야콥슨 등은 다음과 같이 정의한다</a:t>
            </a:r>
            <a:r>
              <a:rPr lang="en-US" altLang="ko-KR" sz="1600" dirty="0" smtClean="0"/>
              <a:t>.</a:t>
            </a:r>
          </a:p>
          <a:p>
            <a:endParaRPr lang="en-US" altLang="ko-KR" sz="1600" dirty="0" smtClean="0"/>
          </a:p>
          <a:p>
            <a:pPr lvl="1">
              <a:lnSpc>
                <a:spcPct val="120000"/>
              </a:lnSpc>
            </a:pPr>
            <a:r>
              <a:rPr lang="ko-KR" altLang="en-US" sz="1600" dirty="0" smtClean="0"/>
              <a:t>유스케이스는 시스템의 일부 기능만을 사용하는</a:t>
            </a:r>
            <a:r>
              <a:rPr lang="en-US" altLang="ko-KR" sz="1600" dirty="0" smtClean="0"/>
              <a:t>, </a:t>
            </a:r>
            <a:r>
              <a:rPr lang="ko-KR" altLang="en-US" sz="1600" dirty="0" smtClean="0"/>
              <a:t>일종의 시스템을 사용하는 구체적인 방식이다</a:t>
            </a:r>
            <a:r>
              <a:rPr lang="en-US" altLang="ko-KR" sz="1600" dirty="0" smtClean="0"/>
              <a:t>. … </a:t>
            </a:r>
            <a:r>
              <a:rPr lang="ko-KR" altLang="en-US" sz="1600" dirty="0" smtClean="0"/>
              <a:t>유스케이스는 </a:t>
            </a:r>
            <a:r>
              <a:rPr lang="ko-KR" altLang="en-US" sz="1600" b="1" dirty="0" err="1" smtClean="0"/>
              <a:t>액터와</a:t>
            </a:r>
            <a:r>
              <a:rPr lang="ko-KR" altLang="en-US" sz="1600" b="1" dirty="0" smtClean="0"/>
              <a:t> 시스템이 대화를 통해 관련 업무를 순차적으로 처리하는 구체적인 절차</a:t>
            </a:r>
            <a:r>
              <a:rPr lang="ko-KR" altLang="en-US" sz="1600" dirty="0" smtClean="0"/>
              <a:t>다</a:t>
            </a:r>
            <a:r>
              <a:rPr lang="en-US" altLang="ko-KR" sz="1600" dirty="0" smtClean="0"/>
              <a:t>. …. </a:t>
            </a:r>
            <a:r>
              <a:rPr lang="ko-KR" altLang="en-US" sz="1600" dirty="0" smtClean="0"/>
              <a:t>사용자 관점에서 볼 때</a:t>
            </a:r>
            <a:r>
              <a:rPr lang="en-US" altLang="ko-KR" sz="1600" dirty="0" smtClean="0"/>
              <a:t>, </a:t>
            </a:r>
            <a:r>
              <a:rPr lang="ko-KR" altLang="en-US" sz="1600" dirty="0" smtClean="0"/>
              <a:t>각 유스케이스는 시스템에서 벌어지는 하나의 완전한 이벤트 진행이다</a:t>
            </a:r>
            <a:r>
              <a:rPr lang="en-US" altLang="ko-KR" sz="1600" dirty="0" smtClean="0"/>
              <a:t>. </a:t>
            </a:r>
          </a:p>
          <a:p>
            <a:endParaRPr lang="en-US" altLang="ko-KR" sz="1600" dirty="0" smtClean="0"/>
          </a:p>
          <a:p>
            <a:pPr algn="r"/>
            <a:r>
              <a:rPr lang="en-US" altLang="ko-KR" sz="1600" dirty="0" smtClean="0">
                <a:solidFill>
                  <a:schemeClr val="bg1">
                    <a:lumMod val="50000"/>
                  </a:schemeClr>
                </a:solidFill>
              </a:rPr>
              <a:t> UML</a:t>
            </a:r>
            <a:r>
              <a:rPr lang="ko-KR" altLang="en-US" sz="1600" dirty="0" smtClean="0">
                <a:solidFill>
                  <a:schemeClr val="bg1">
                    <a:lumMod val="50000"/>
                  </a:schemeClr>
                </a:solidFill>
              </a:rPr>
              <a:t>을 활용한 객체지향 분석 설계 </a:t>
            </a:r>
            <a:r>
              <a:rPr lang="en-US" altLang="ko-KR" sz="1600" dirty="0" smtClean="0">
                <a:solidFill>
                  <a:schemeClr val="bg1">
                    <a:lumMod val="50000"/>
                  </a:schemeClr>
                </a:solidFill>
              </a:rPr>
              <a:t>- </a:t>
            </a:r>
            <a:r>
              <a:rPr lang="ko-KR" altLang="en-US" sz="1600" dirty="0" smtClean="0">
                <a:solidFill>
                  <a:schemeClr val="bg1">
                    <a:lumMod val="50000"/>
                  </a:schemeClr>
                </a:solidFill>
              </a:rPr>
              <a:t>그래디 부치 외</a:t>
            </a:r>
            <a:r>
              <a:rPr lang="en-US" altLang="ko-KR" sz="1600" dirty="0" smtClean="0">
                <a:solidFill>
                  <a:schemeClr val="bg1">
                    <a:lumMod val="50000"/>
                  </a:schemeClr>
                </a:solidFill>
              </a:rPr>
              <a:t>-</a:t>
            </a:r>
            <a:r>
              <a:rPr lang="en-US" altLang="ko-KR" sz="1600" dirty="0" smtClean="0"/>
              <a:t> </a:t>
            </a:r>
            <a:endParaRPr lang="ko-KR" altLang="en-US" sz="1600" dirty="0"/>
          </a:p>
        </p:txBody>
      </p:sp>
    </p:spTree>
    <p:extLst>
      <p:ext uri="{BB962C8B-B14F-4D97-AF65-F5344CB8AC3E}">
        <p14:creationId xmlns:p14="http://schemas.microsoft.com/office/powerpoint/2010/main" val="35593268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408000" y="781992"/>
            <a:ext cx="11376001"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Brief, Casual, Fully dressed</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 세가지 형식이 존재합니다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요구 사항을 수집 및 분석을 반복하며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Brief</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에서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Casual, Casual</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에서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fully dressed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형식으로 발전 시켜 나갑니다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sp>
        <p:nvSpPr>
          <p:cNvPr id="7" name="제목 6"/>
          <p:cNvSpPr>
            <a:spLocks noGrp="1"/>
          </p:cNvSpPr>
          <p:nvPr>
            <p:ph type="title"/>
          </p:nvPr>
        </p:nvSpPr>
        <p:spPr>
          <a:xfrm>
            <a:off x="408000" y="156779"/>
            <a:ext cx="2327748" cy="424661"/>
          </a:xfrm>
        </p:spPr>
        <p:txBody>
          <a:bodyPr/>
          <a:lstStyle/>
          <a:p>
            <a:r>
              <a:rPr lang="en-US" altLang="ko-KR" dirty="0"/>
              <a:t>Use </a:t>
            </a:r>
            <a:r>
              <a:rPr lang="en-US" altLang="ko-KR" dirty="0" smtClean="0"/>
              <a:t>cases </a:t>
            </a:r>
            <a:r>
              <a:rPr lang="ko-KR" altLang="en-US" dirty="0" smtClean="0"/>
              <a:t>형식</a:t>
            </a:r>
            <a:endParaRPr lang="ko-KR" altLang="en-US" dirty="0"/>
          </a:p>
        </p:txBody>
      </p:sp>
      <p:sp>
        <p:nvSpPr>
          <p:cNvPr id="5" name="TextBox 4"/>
          <p:cNvSpPr txBox="1"/>
          <p:nvPr/>
        </p:nvSpPr>
        <p:spPr>
          <a:xfrm>
            <a:off x="767408" y="2476243"/>
            <a:ext cx="6370688" cy="2862251"/>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v"/>
              <a:defRPr/>
            </a:pP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Brief </a:t>
            </a: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간결한 하나의 문장으로 요약하여 표현합니다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일반적으로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Main success scenario</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혹은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Happy path</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를 기술합니다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a:p>
            <a:pPr marL="285750" indent="-285750" defTabSz="912813" fontAlgn="base">
              <a:spcBef>
                <a:spcPts val="600"/>
              </a:spcBef>
              <a:spcAft>
                <a:spcPct val="0"/>
              </a:spcAft>
              <a:buClr>
                <a:srgbClr val="55CFD1"/>
              </a:buClr>
              <a:buFont typeface="Wingdings" panose="05000000000000000000" pitchFamily="2" charset="2"/>
              <a:buChar char="v"/>
              <a:defRPr/>
            </a:pP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Casual </a:t>
            </a: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자유로운 여러 개의 단락 형식으로  요구사항을 기술합니다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Main success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scenario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와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Alternate Scenario</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들을 기술합니다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선택적으로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Exceptional scenario</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를 기술 할 수 있습니다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a:p>
            <a:pPr marL="285750" indent="-285750" defTabSz="912813" fontAlgn="base">
              <a:spcBef>
                <a:spcPts val="600"/>
              </a:spcBef>
              <a:spcAft>
                <a:spcPct val="0"/>
              </a:spcAft>
              <a:buClr>
                <a:srgbClr val="55CFD1"/>
              </a:buClr>
              <a:buFont typeface="Wingdings" panose="05000000000000000000" pitchFamily="2" charset="2"/>
              <a:buChar char="v"/>
              <a:defRPr/>
            </a:pP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Fully dressed</a:t>
            </a: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모든 시나리오를 단계 별로 모두 기술하고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use case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 표시되어야 하는 모든 항목들을 기술합니다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18" name="자유형 17"/>
          <p:cNvSpPr/>
          <p:nvPr/>
        </p:nvSpPr>
        <p:spPr>
          <a:xfrm>
            <a:off x="7913949" y="2476243"/>
            <a:ext cx="3545633" cy="1085831"/>
          </a:xfrm>
          <a:custGeom>
            <a:avLst/>
            <a:gdLst>
              <a:gd name="connsiteX0" fmla="*/ 0 w 3545633"/>
              <a:gd name="connsiteY0" fmla="*/ 1791486 h 1791486"/>
              <a:gd name="connsiteX1" fmla="*/ 905069 w 3545633"/>
              <a:gd name="connsiteY1" fmla="*/ 9 h 1791486"/>
              <a:gd name="connsiteX2" fmla="*/ 3545633 w 3545633"/>
              <a:gd name="connsiteY2" fmla="*/ 1763494 h 1791486"/>
              <a:gd name="connsiteX3" fmla="*/ 3545633 w 3545633"/>
              <a:gd name="connsiteY3" fmla="*/ 1763494 h 1791486"/>
            </a:gdLst>
            <a:ahLst/>
            <a:cxnLst>
              <a:cxn ang="0">
                <a:pos x="connsiteX0" y="connsiteY0"/>
              </a:cxn>
              <a:cxn ang="0">
                <a:pos x="connsiteX1" y="connsiteY1"/>
              </a:cxn>
              <a:cxn ang="0">
                <a:pos x="connsiteX2" y="connsiteY2"/>
              </a:cxn>
              <a:cxn ang="0">
                <a:pos x="connsiteX3" y="connsiteY3"/>
              </a:cxn>
            </a:cxnLst>
            <a:rect l="l" t="t" r="r" b="b"/>
            <a:pathLst>
              <a:path w="3545633" h="1791486">
                <a:moveTo>
                  <a:pt x="0" y="1791486"/>
                </a:moveTo>
                <a:cubicBezTo>
                  <a:pt x="157065" y="898080"/>
                  <a:pt x="314130" y="4674"/>
                  <a:pt x="905069" y="9"/>
                </a:cubicBezTo>
                <a:cubicBezTo>
                  <a:pt x="1496008" y="-4656"/>
                  <a:pt x="3545633" y="1763494"/>
                  <a:pt x="3545633" y="1763494"/>
                </a:cubicBezTo>
                <a:lnTo>
                  <a:pt x="3545633" y="1763494"/>
                </a:lnTo>
              </a:path>
            </a:pathLst>
          </a:cu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자유형 20"/>
          <p:cNvSpPr/>
          <p:nvPr/>
        </p:nvSpPr>
        <p:spPr>
          <a:xfrm>
            <a:off x="7895288" y="3543414"/>
            <a:ext cx="3554963" cy="1418063"/>
          </a:xfrm>
          <a:custGeom>
            <a:avLst/>
            <a:gdLst>
              <a:gd name="connsiteX0" fmla="*/ 0 w 3554963"/>
              <a:gd name="connsiteY0" fmla="*/ 9331 h 1418063"/>
              <a:gd name="connsiteX1" fmla="*/ 541175 w 3554963"/>
              <a:gd name="connsiteY1" fmla="*/ 914400 h 1418063"/>
              <a:gd name="connsiteX2" fmla="*/ 1483567 w 3554963"/>
              <a:gd name="connsiteY2" fmla="*/ 671804 h 1418063"/>
              <a:gd name="connsiteX3" fmla="*/ 2220686 w 3554963"/>
              <a:gd name="connsiteY3" fmla="*/ 1408922 h 1418063"/>
              <a:gd name="connsiteX4" fmla="*/ 2836506 w 3554963"/>
              <a:gd name="connsiteY4" fmla="*/ 839755 h 1418063"/>
              <a:gd name="connsiteX5" fmla="*/ 3256383 w 3554963"/>
              <a:gd name="connsiteY5" fmla="*/ 1399592 h 1418063"/>
              <a:gd name="connsiteX6" fmla="*/ 3554963 w 3554963"/>
              <a:gd name="connsiteY6" fmla="*/ 0 h 1418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4963" h="1418063">
                <a:moveTo>
                  <a:pt x="0" y="9331"/>
                </a:moveTo>
                <a:cubicBezTo>
                  <a:pt x="146957" y="406659"/>
                  <a:pt x="293914" y="803988"/>
                  <a:pt x="541175" y="914400"/>
                </a:cubicBezTo>
                <a:cubicBezTo>
                  <a:pt x="788436" y="1024812"/>
                  <a:pt x="1203649" y="589384"/>
                  <a:pt x="1483567" y="671804"/>
                </a:cubicBezTo>
                <a:cubicBezTo>
                  <a:pt x="1763485" y="754224"/>
                  <a:pt x="1995196" y="1380930"/>
                  <a:pt x="2220686" y="1408922"/>
                </a:cubicBezTo>
                <a:cubicBezTo>
                  <a:pt x="2446176" y="1436914"/>
                  <a:pt x="2663890" y="841310"/>
                  <a:pt x="2836506" y="839755"/>
                </a:cubicBezTo>
                <a:cubicBezTo>
                  <a:pt x="3009122" y="838200"/>
                  <a:pt x="3136640" y="1539551"/>
                  <a:pt x="3256383" y="1399592"/>
                </a:cubicBezTo>
                <a:cubicBezTo>
                  <a:pt x="3376126" y="1259633"/>
                  <a:pt x="3465544" y="629816"/>
                  <a:pt x="3554963" y="0"/>
                </a:cubicBezTo>
              </a:path>
            </a:pathLst>
          </a:cu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자유형 21"/>
          <p:cNvSpPr/>
          <p:nvPr/>
        </p:nvSpPr>
        <p:spPr>
          <a:xfrm>
            <a:off x="7885957" y="3552745"/>
            <a:ext cx="2743200" cy="2119318"/>
          </a:xfrm>
          <a:custGeom>
            <a:avLst/>
            <a:gdLst>
              <a:gd name="connsiteX0" fmla="*/ 0 w 2743200"/>
              <a:gd name="connsiteY0" fmla="*/ 0 h 2119318"/>
              <a:gd name="connsiteX1" fmla="*/ 1996751 w 2743200"/>
              <a:gd name="connsiteY1" fmla="*/ 522514 h 2119318"/>
              <a:gd name="connsiteX2" fmla="*/ 1744825 w 2743200"/>
              <a:gd name="connsiteY2" fmla="*/ 1884783 h 2119318"/>
              <a:gd name="connsiteX3" fmla="*/ 2743200 w 2743200"/>
              <a:gd name="connsiteY3" fmla="*/ 2118049 h 2119318"/>
              <a:gd name="connsiteX4" fmla="*/ 2743200 w 2743200"/>
              <a:gd name="connsiteY4" fmla="*/ 2118049 h 2119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0" h="2119318">
                <a:moveTo>
                  <a:pt x="0" y="0"/>
                </a:moveTo>
                <a:cubicBezTo>
                  <a:pt x="852973" y="104192"/>
                  <a:pt x="1705947" y="208384"/>
                  <a:pt x="1996751" y="522514"/>
                </a:cubicBezTo>
                <a:cubicBezTo>
                  <a:pt x="2287555" y="836644"/>
                  <a:pt x="1620417" y="1618861"/>
                  <a:pt x="1744825" y="1884783"/>
                </a:cubicBezTo>
                <a:cubicBezTo>
                  <a:pt x="1869233" y="2150705"/>
                  <a:pt x="2743200" y="2118049"/>
                  <a:pt x="2743200" y="2118049"/>
                </a:cubicBezTo>
                <a:lnTo>
                  <a:pt x="2743200" y="2118049"/>
                </a:lnTo>
              </a:path>
            </a:pathLst>
          </a:custGeom>
          <a:noFill/>
          <a:ln>
            <a:tailEnd type="diamo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 name="직선 연결선 3"/>
          <p:cNvCxnSpPr/>
          <p:nvPr/>
        </p:nvCxnSpPr>
        <p:spPr>
          <a:xfrm flipV="1">
            <a:off x="7904337" y="3543413"/>
            <a:ext cx="3535740" cy="18662"/>
          </a:xfrm>
          <a:prstGeom prst="line">
            <a:avLst/>
          </a:prstGeom>
          <a:ln>
            <a:solidFill>
              <a:schemeClr val="accent2">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238896" y="3339615"/>
            <a:ext cx="2071396" cy="275253"/>
          </a:xfrm>
          <a:prstGeom prst="rect">
            <a:avLst/>
          </a:prstGeom>
        </p:spPr>
        <p:txBody>
          <a:bodyPr wrap="none" rtlCol="0" anchor="b">
            <a:noAutofit/>
          </a:bodyPr>
          <a:lstStyle/>
          <a:p>
            <a:r>
              <a:rPr lang="en-US" altLang="ko-KR" sz="1250" dirty="0" smtClean="0"/>
              <a:t>Main success scenario</a:t>
            </a:r>
            <a:endParaRPr lang="ko-KR" altLang="en-US" sz="1250" dirty="0" smtClean="0"/>
          </a:p>
        </p:txBody>
      </p:sp>
      <p:sp>
        <p:nvSpPr>
          <p:cNvPr id="25" name="TextBox 24"/>
          <p:cNvSpPr txBox="1"/>
          <p:nvPr/>
        </p:nvSpPr>
        <p:spPr>
          <a:xfrm>
            <a:off x="7759853" y="2276872"/>
            <a:ext cx="2071396" cy="275253"/>
          </a:xfrm>
          <a:prstGeom prst="rect">
            <a:avLst/>
          </a:prstGeom>
        </p:spPr>
        <p:txBody>
          <a:bodyPr wrap="none" rtlCol="0" anchor="b">
            <a:noAutofit/>
          </a:bodyPr>
          <a:lstStyle/>
          <a:p>
            <a:r>
              <a:rPr lang="en-US" altLang="ko-KR" sz="1250" dirty="0" smtClean="0"/>
              <a:t>Alternate Scenario</a:t>
            </a:r>
            <a:endParaRPr lang="ko-KR" altLang="en-US" sz="1250" dirty="0" smtClean="0"/>
          </a:p>
        </p:txBody>
      </p:sp>
      <p:sp>
        <p:nvSpPr>
          <p:cNvPr id="26" name="TextBox 25"/>
          <p:cNvSpPr txBox="1"/>
          <p:nvPr/>
        </p:nvSpPr>
        <p:spPr>
          <a:xfrm>
            <a:off x="10363237" y="4320190"/>
            <a:ext cx="2071396" cy="275253"/>
          </a:xfrm>
          <a:prstGeom prst="rect">
            <a:avLst/>
          </a:prstGeom>
        </p:spPr>
        <p:txBody>
          <a:bodyPr wrap="none" rtlCol="0" anchor="b">
            <a:normAutofit lnSpcReduction="10000"/>
          </a:bodyPr>
          <a:lstStyle/>
          <a:p>
            <a:r>
              <a:rPr lang="en-US" altLang="ko-KR" sz="1250" dirty="0" smtClean="0"/>
              <a:t>Alternate Scenario</a:t>
            </a:r>
            <a:endParaRPr lang="ko-KR" altLang="en-US" sz="1250" dirty="0" smtClean="0"/>
          </a:p>
        </p:txBody>
      </p:sp>
      <p:sp>
        <p:nvSpPr>
          <p:cNvPr id="27" name="TextBox 26"/>
          <p:cNvSpPr txBox="1"/>
          <p:nvPr/>
        </p:nvSpPr>
        <p:spPr>
          <a:xfrm>
            <a:off x="9593459" y="5719593"/>
            <a:ext cx="2071396" cy="275253"/>
          </a:xfrm>
          <a:prstGeom prst="rect">
            <a:avLst/>
          </a:prstGeom>
        </p:spPr>
        <p:txBody>
          <a:bodyPr wrap="none" rtlCol="0" anchor="b">
            <a:noAutofit/>
          </a:bodyPr>
          <a:lstStyle/>
          <a:p>
            <a:r>
              <a:rPr lang="en-US" altLang="ko-KR" sz="1250" dirty="0" smtClean="0"/>
              <a:t>Exceptional Scenario</a:t>
            </a:r>
            <a:endParaRPr lang="ko-KR" altLang="en-US" sz="1250" dirty="0" smtClean="0"/>
          </a:p>
        </p:txBody>
      </p:sp>
    </p:spTree>
    <p:extLst>
      <p:ext uri="{BB962C8B-B14F-4D97-AF65-F5344CB8AC3E}">
        <p14:creationId xmlns:p14="http://schemas.microsoft.com/office/powerpoint/2010/main" val="16997375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2080244737"/>
              </p:ext>
            </p:extLst>
          </p:nvPr>
        </p:nvGraphicFramePr>
        <p:xfrm>
          <a:off x="4739952" y="1025520"/>
          <a:ext cx="7212564" cy="5383607"/>
        </p:xfrm>
        <a:graphic>
          <a:graphicData uri="http://schemas.openxmlformats.org/drawingml/2006/table">
            <a:tbl>
              <a:tblPr>
                <a:tableStyleId>{21E4AEA4-8DFA-4A89-87EB-49C32662AFE0}</a:tableStyleId>
              </a:tblPr>
              <a:tblGrid>
                <a:gridCol w="1633380">
                  <a:extLst>
                    <a:ext uri="{9D8B030D-6E8A-4147-A177-3AD203B41FA5}">
                      <a16:colId xmlns="" xmlns:a16="http://schemas.microsoft.com/office/drawing/2014/main" val="1522729565"/>
                    </a:ext>
                  </a:extLst>
                </a:gridCol>
                <a:gridCol w="5579184">
                  <a:extLst>
                    <a:ext uri="{9D8B030D-6E8A-4147-A177-3AD203B41FA5}">
                      <a16:colId xmlns="" xmlns:a16="http://schemas.microsoft.com/office/drawing/2014/main" val="901023827"/>
                    </a:ext>
                  </a:extLst>
                </a:gridCol>
              </a:tblGrid>
              <a:tr h="232457">
                <a:tc>
                  <a:txBody>
                    <a:bodyPr/>
                    <a:lstStyle/>
                    <a:p>
                      <a:pPr algn="ctr"/>
                      <a:r>
                        <a:rPr lang="en-US" altLang="ko-KR" sz="1250" b="1" dirty="0" smtClean="0">
                          <a:effectLst/>
                        </a:rPr>
                        <a:t>Section</a:t>
                      </a:r>
                      <a:endParaRPr lang="ko-KR" altLang="en-US" sz="1250" b="1" dirty="0">
                        <a:effectLst/>
                        <a:latin typeface="+mn-lt"/>
                      </a:endParaRPr>
                    </a:p>
                  </a:txBody>
                  <a:tcPr marL="90000" marR="36000" marT="36000" marB="36000" anchor="ctr">
                    <a:solidFill>
                      <a:srgbClr val="C0EDEE"/>
                    </a:solidFill>
                  </a:tcPr>
                </a:tc>
                <a:tc>
                  <a:txBody>
                    <a:bodyPr/>
                    <a:lstStyle/>
                    <a:p>
                      <a:pPr algn="ctr"/>
                      <a:r>
                        <a:rPr lang="en-US" altLang="ko-KR" sz="1250" b="1" dirty="0" smtClean="0">
                          <a:effectLst/>
                        </a:rPr>
                        <a:t>Comment</a:t>
                      </a:r>
                      <a:endParaRPr lang="ko-KR" altLang="en-US" sz="1250" b="1" dirty="0">
                        <a:effectLst/>
                        <a:latin typeface="+mn-lt"/>
                      </a:endParaRPr>
                    </a:p>
                  </a:txBody>
                  <a:tcPr marL="90000" marR="36000" marT="36000" marB="36000" anchor="ctr">
                    <a:solidFill>
                      <a:srgbClr val="C0EDEE"/>
                    </a:solidFill>
                  </a:tcPr>
                </a:tc>
                <a:extLst>
                  <a:ext uri="{0D108BD9-81ED-4DB2-BD59-A6C34878D82A}">
                    <a16:rowId xmlns="" xmlns:a16="http://schemas.microsoft.com/office/drawing/2014/main" val="1366488404"/>
                  </a:ext>
                </a:extLst>
              </a:tr>
              <a:tr h="232457">
                <a:tc>
                  <a:txBody>
                    <a:bodyPr/>
                    <a:lstStyle/>
                    <a:p>
                      <a:pPr algn="l"/>
                      <a:r>
                        <a:rPr lang="en-US" altLang="ko-KR" sz="1250" b="1" dirty="0" smtClean="0">
                          <a:effectLst/>
                        </a:rPr>
                        <a:t>Use case name</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고객이 음식 주문</a:t>
                      </a:r>
                      <a:endParaRPr lang="ko-KR" altLang="en-US"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1583403306"/>
                  </a:ext>
                </a:extLst>
              </a:tr>
              <a:tr h="232457">
                <a:tc>
                  <a:txBody>
                    <a:bodyPr/>
                    <a:lstStyle/>
                    <a:p>
                      <a:pPr algn="l"/>
                      <a:r>
                        <a:rPr lang="en-US" altLang="ko-KR" sz="1250" b="1" dirty="0" smtClean="0">
                          <a:effectLst/>
                        </a:rPr>
                        <a:t>Actor(s)</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고객</a:t>
                      </a:r>
                      <a:r>
                        <a:rPr lang="en-US" altLang="ko-KR" sz="1250" dirty="0">
                          <a:effectLst/>
                        </a:rPr>
                        <a:t>, </a:t>
                      </a:r>
                      <a:r>
                        <a:rPr lang="ko-KR" altLang="en-US" sz="1250" dirty="0">
                          <a:effectLst/>
                        </a:rPr>
                        <a:t>웨이터</a:t>
                      </a:r>
                      <a:r>
                        <a:rPr lang="en-US" altLang="ko-KR" sz="1250" dirty="0">
                          <a:effectLst/>
                        </a:rPr>
                        <a:t>, </a:t>
                      </a:r>
                      <a:r>
                        <a:rPr lang="ko-KR" altLang="en-US" sz="1250" dirty="0">
                          <a:effectLst/>
                        </a:rPr>
                        <a:t>주방 직원</a:t>
                      </a:r>
                      <a:endParaRPr lang="ko-KR" altLang="en-US"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1597014114"/>
                  </a:ext>
                </a:extLst>
              </a:tr>
              <a:tr h="232457">
                <a:tc>
                  <a:txBody>
                    <a:bodyPr/>
                    <a:lstStyle/>
                    <a:p>
                      <a:pPr algn="l"/>
                      <a:r>
                        <a:rPr lang="en-US" altLang="ko-KR" sz="1250" b="1" dirty="0" smtClean="0">
                          <a:effectLst/>
                        </a:rPr>
                        <a:t>Preconditions</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고객이 메뉴와 함께 식당 테이블에 앉아있음</a:t>
                      </a:r>
                      <a:endParaRPr lang="ko-KR" altLang="en-US"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2046059254"/>
                  </a:ext>
                </a:extLst>
              </a:tr>
              <a:tr h="232457">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250" b="1" dirty="0" err="1" smtClean="0">
                          <a:effectLst/>
                        </a:rPr>
                        <a:t>Postconditions</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고객의 주문이 주방으로 전달됨</a:t>
                      </a:r>
                      <a:endParaRPr lang="ko-KR" altLang="en-US"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90338418"/>
                  </a:ext>
                </a:extLst>
              </a:tr>
              <a:tr h="1075942">
                <a:tc>
                  <a:txBody>
                    <a:bodyPr/>
                    <a:lstStyle/>
                    <a:p>
                      <a:pPr algn="l"/>
                      <a:r>
                        <a:rPr lang="en-US" altLang="ko-KR" sz="1250" b="1" dirty="0" smtClean="0">
                          <a:effectLst/>
                        </a:rPr>
                        <a:t>Main flow</a:t>
                      </a:r>
                      <a:endParaRPr lang="ko-KR" altLang="en-US" sz="1250" b="1" dirty="0">
                        <a:effectLst/>
                        <a:latin typeface="+mn-lt"/>
                      </a:endParaRPr>
                    </a:p>
                  </a:txBody>
                  <a:tcPr marL="90000" marR="36000" marT="36000" marB="36000" anchor="ctr">
                    <a:solidFill>
                      <a:srgbClr val="EBF9F9"/>
                    </a:solidFill>
                  </a:tcPr>
                </a:tc>
                <a:tc>
                  <a:txBody>
                    <a:bodyPr/>
                    <a:lstStyle/>
                    <a:p>
                      <a:pPr algn="l"/>
                      <a:r>
                        <a:rPr lang="en-US" altLang="ko-KR" sz="1250" dirty="0">
                          <a:effectLst/>
                        </a:rPr>
                        <a:t>1. </a:t>
                      </a:r>
                      <a:r>
                        <a:rPr lang="ko-KR" altLang="en-US" sz="1250" dirty="0">
                          <a:effectLst/>
                        </a:rPr>
                        <a:t>고객이 메뉴를 </a:t>
                      </a:r>
                      <a:r>
                        <a:rPr lang="ko-KR" altLang="en-US" sz="1250" dirty="0" smtClean="0">
                          <a:effectLst/>
                        </a:rPr>
                        <a:t>검토합니다</a:t>
                      </a:r>
                      <a:r>
                        <a:rPr lang="en-US" altLang="ko-KR" sz="1250" dirty="0">
                          <a:effectLst/>
                        </a:rPr>
                        <a:t/>
                      </a:r>
                      <a:br>
                        <a:rPr lang="en-US" altLang="ko-KR" sz="1250" dirty="0">
                          <a:effectLst/>
                        </a:rPr>
                      </a:br>
                      <a:r>
                        <a:rPr lang="en-US" altLang="ko-KR" sz="1250" dirty="0">
                          <a:effectLst/>
                        </a:rPr>
                        <a:t>2. </a:t>
                      </a:r>
                      <a:r>
                        <a:rPr lang="ko-KR" altLang="en-US" sz="1250" dirty="0">
                          <a:effectLst/>
                        </a:rPr>
                        <a:t>고객이 웨이터에게 신호를 </a:t>
                      </a:r>
                      <a:r>
                        <a:rPr lang="ko-KR" altLang="en-US" sz="1250" dirty="0" smtClean="0">
                          <a:effectLst/>
                        </a:rPr>
                        <a:t>보냅니다</a:t>
                      </a:r>
                      <a:r>
                        <a:rPr lang="en-US" altLang="ko-KR" sz="1250" dirty="0">
                          <a:effectLst/>
                        </a:rPr>
                        <a:t/>
                      </a:r>
                      <a:br>
                        <a:rPr lang="en-US" altLang="ko-KR" sz="1250" dirty="0">
                          <a:effectLst/>
                        </a:rPr>
                      </a:br>
                      <a:r>
                        <a:rPr lang="en-US" altLang="ko-KR" sz="1250" dirty="0">
                          <a:effectLst/>
                        </a:rPr>
                        <a:t>3. </a:t>
                      </a:r>
                      <a:r>
                        <a:rPr lang="ko-KR" altLang="en-US" sz="1250" dirty="0">
                          <a:effectLst/>
                        </a:rPr>
                        <a:t>웨이터가 고객의 테이블로 </a:t>
                      </a:r>
                      <a:r>
                        <a:rPr lang="ko-KR" altLang="en-US" sz="1250" dirty="0" smtClean="0">
                          <a:effectLst/>
                        </a:rPr>
                        <a:t>접근합니다</a:t>
                      </a:r>
                      <a:r>
                        <a:rPr lang="en-US" altLang="ko-KR" sz="1250" dirty="0">
                          <a:effectLst/>
                        </a:rPr>
                        <a:t/>
                      </a:r>
                      <a:br>
                        <a:rPr lang="en-US" altLang="ko-KR" sz="1250" dirty="0">
                          <a:effectLst/>
                        </a:rPr>
                      </a:br>
                      <a:r>
                        <a:rPr lang="en-US" altLang="ko-KR" sz="1250" dirty="0">
                          <a:effectLst/>
                        </a:rPr>
                        <a:t>4. </a:t>
                      </a:r>
                      <a:r>
                        <a:rPr lang="ko-KR" altLang="en-US" sz="1250" dirty="0">
                          <a:effectLst/>
                        </a:rPr>
                        <a:t>고객이 웨이터에게 주문을 </a:t>
                      </a:r>
                      <a:r>
                        <a:rPr lang="ko-KR" altLang="en-US" sz="1250" dirty="0" smtClean="0">
                          <a:effectLst/>
                        </a:rPr>
                        <a:t>알립니다</a:t>
                      </a:r>
                      <a:r>
                        <a:rPr lang="en-US" altLang="ko-KR" sz="1250" dirty="0">
                          <a:effectLst/>
                        </a:rPr>
                        <a:t/>
                      </a:r>
                      <a:br>
                        <a:rPr lang="en-US" altLang="ko-KR" sz="1250" dirty="0">
                          <a:effectLst/>
                        </a:rPr>
                      </a:br>
                      <a:r>
                        <a:rPr lang="en-US" altLang="ko-KR" sz="1250" dirty="0">
                          <a:effectLst/>
                        </a:rPr>
                        <a:t>5. </a:t>
                      </a:r>
                      <a:r>
                        <a:rPr lang="ko-KR" altLang="en-US" sz="1250" dirty="0">
                          <a:effectLst/>
                        </a:rPr>
                        <a:t>웨이터가 주문을 </a:t>
                      </a:r>
                      <a:r>
                        <a:rPr lang="ko-KR" altLang="en-US" sz="1250" dirty="0" smtClean="0">
                          <a:effectLst/>
                        </a:rPr>
                        <a:t>적습니다</a:t>
                      </a:r>
                      <a:r>
                        <a:rPr lang="en-US" altLang="ko-KR" sz="1250" dirty="0">
                          <a:effectLst/>
                        </a:rPr>
                        <a:t/>
                      </a:r>
                      <a:br>
                        <a:rPr lang="en-US" altLang="ko-KR" sz="1250" dirty="0">
                          <a:effectLst/>
                        </a:rPr>
                      </a:br>
                      <a:r>
                        <a:rPr lang="en-US" altLang="ko-KR" sz="1250" dirty="0">
                          <a:effectLst/>
                        </a:rPr>
                        <a:t>6. </a:t>
                      </a:r>
                      <a:r>
                        <a:rPr lang="ko-KR" altLang="en-US" sz="1250" dirty="0">
                          <a:effectLst/>
                        </a:rPr>
                        <a:t>웨이터가 주문을 주방 직원에게 </a:t>
                      </a:r>
                      <a:r>
                        <a:rPr lang="ko-KR" altLang="en-US" sz="1250" dirty="0" smtClean="0">
                          <a:effectLst/>
                        </a:rPr>
                        <a:t>전달합니다</a:t>
                      </a:r>
                      <a:endParaRPr lang="en-US" altLang="ko-KR"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106964671"/>
                  </a:ext>
                </a:extLst>
              </a:tr>
              <a:tr h="907245">
                <a:tc>
                  <a:txBody>
                    <a:bodyPr/>
                    <a:lstStyle/>
                    <a:p>
                      <a:pPr algn="l"/>
                      <a:r>
                        <a:rPr lang="en-US" altLang="ko-KR" sz="1250" b="1" dirty="0" smtClean="0">
                          <a:effectLst/>
                        </a:rPr>
                        <a:t>Alternate flows</a:t>
                      </a:r>
                      <a:endParaRPr lang="ko-KR" altLang="en-US" sz="1250" b="1" dirty="0">
                        <a:effectLst/>
                        <a:latin typeface="+mn-lt"/>
                      </a:endParaRPr>
                    </a:p>
                  </a:txBody>
                  <a:tcPr marL="90000" marR="36000" marT="36000" marB="36000" anchor="ctr">
                    <a:solidFill>
                      <a:srgbClr val="EBF9F9"/>
                    </a:solidFill>
                  </a:tcPr>
                </a:tc>
                <a:tc>
                  <a:txBody>
                    <a:bodyPr/>
                    <a:lstStyle/>
                    <a:p>
                      <a:pPr algn="l"/>
                      <a:r>
                        <a:rPr lang="en-US" altLang="ko-KR" sz="1250" dirty="0">
                          <a:effectLst/>
                        </a:rPr>
                        <a:t>2A. </a:t>
                      </a:r>
                      <a:r>
                        <a:rPr lang="ko-KR" altLang="en-US" sz="1250" dirty="0">
                          <a:effectLst/>
                        </a:rPr>
                        <a:t>고객이 디지털 메뉴를 사용하여 주문을 </a:t>
                      </a:r>
                      <a:r>
                        <a:rPr lang="ko-KR" altLang="en-US" sz="1250" dirty="0" smtClean="0">
                          <a:effectLst/>
                        </a:rPr>
                        <a:t>합니다</a:t>
                      </a:r>
                      <a:r>
                        <a:rPr lang="en-US" altLang="ko-KR" sz="1250" dirty="0">
                          <a:effectLst/>
                        </a:rPr>
                        <a:t/>
                      </a:r>
                      <a:br>
                        <a:rPr lang="en-US" altLang="ko-KR" sz="1250" dirty="0">
                          <a:effectLst/>
                        </a:rPr>
                      </a:br>
                      <a:r>
                        <a:rPr lang="en-US" altLang="ko-KR" sz="1250" dirty="0">
                          <a:effectLst/>
                        </a:rPr>
                        <a:t>2A1. </a:t>
                      </a:r>
                      <a:r>
                        <a:rPr lang="ko-KR" altLang="en-US" sz="1250" dirty="0">
                          <a:effectLst/>
                        </a:rPr>
                        <a:t>고객이 </a:t>
                      </a:r>
                      <a:r>
                        <a:rPr lang="ko-KR" altLang="en-US" sz="1250" dirty="0" smtClean="0">
                          <a:effectLst/>
                        </a:rPr>
                        <a:t>식당 앱으로 메뉴를 확인합니다</a:t>
                      </a:r>
                      <a:r>
                        <a:rPr lang="en-US" altLang="ko-KR" sz="1250" dirty="0">
                          <a:effectLst/>
                        </a:rPr>
                        <a:t/>
                      </a:r>
                      <a:br>
                        <a:rPr lang="en-US" altLang="ko-KR" sz="1250" dirty="0">
                          <a:effectLst/>
                        </a:rPr>
                      </a:br>
                      <a:r>
                        <a:rPr lang="en-US" altLang="ko-KR" sz="1250" dirty="0">
                          <a:effectLst/>
                        </a:rPr>
                        <a:t>2A2. </a:t>
                      </a:r>
                      <a:r>
                        <a:rPr lang="ko-KR" altLang="en-US" sz="1250" dirty="0">
                          <a:effectLst/>
                        </a:rPr>
                        <a:t>고객이 앱에서 </a:t>
                      </a:r>
                      <a:r>
                        <a:rPr lang="ko-KR" altLang="en-US" sz="1250" dirty="0" smtClean="0">
                          <a:effectLst/>
                        </a:rPr>
                        <a:t>메뉴를 주문합니다</a:t>
                      </a:r>
                      <a:r>
                        <a:rPr lang="en-US" altLang="ko-KR" sz="1250" dirty="0" smtClean="0">
                          <a:effectLst/>
                        </a:rPr>
                        <a:t>.</a:t>
                      </a:r>
                      <a:r>
                        <a:rPr lang="en-US" altLang="ko-KR" sz="1250" dirty="0">
                          <a:effectLst/>
                        </a:rPr>
                        <a:t/>
                      </a:r>
                      <a:br>
                        <a:rPr lang="en-US" altLang="ko-KR" sz="1250" dirty="0">
                          <a:effectLst/>
                        </a:rPr>
                      </a:br>
                      <a:r>
                        <a:rPr lang="en-US" altLang="ko-KR" sz="1250" dirty="0" smtClean="0">
                          <a:effectLst/>
                        </a:rPr>
                        <a:t>2A3. </a:t>
                      </a:r>
                      <a:r>
                        <a:rPr lang="ko-KR" altLang="en-US" sz="1250" dirty="0">
                          <a:effectLst/>
                        </a:rPr>
                        <a:t>주문이 직접 주방 직원에게 </a:t>
                      </a:r>
                      <a:r>
                        <a:rPr lang="ko-KR" altLang="en-US" sz="1250" dirty="0" smtClean="0">
                          <a:effectLst/>
                        </a:rPr>
                        <a:t>전달됩니다</a:t>
                      </a:r>
                      <a:endParaRPr lang="en-US" altLang="ko-KR"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3151217721"/>
                  </a:ext>
                </a:extLst>
              </a:tr>
              <a:tr h="738548">
                <a:tc>
                  <a:txBody>
                    <a:bodyPr/>
                    <a:lstStyle/>
                    <a:p>
                      <a:pPr algn="l"/>
                      <a:r>
                        <a:rPr lang="en-US" altLang="ko-KR" sz="1250" b="1" dirty="0" smtClean="0">
                          <a:effectLst/>
                        </a:rPr>
                        <a:t>Exceptions</a:t>
                      </a:r>
                      <a:endParaRPr lang="ko-KR" altLang="en-US" sz="1250" b="1" dirty="0">
                        <a:effectLst/>
                        <a:latin typeface="+mn-lt"/>
                      </a:endParaRPr>
                    </a:p>
                  </a:txBody>
                  <a:tcPr marL="90000" marR="36000" marT="36000" marB="36000" anchor="ctr">
                    <a:solidFill>
                      <a:srgbClr val="EBF9F9"/>
                    </a:solidFill>
                  </a:tcPr>
                </a:tc>
                <a:tc>
                  <a:txBody>
                    <a:bodyPr/>
                    <a:lstStyle/>
                    <a:p>
                      <a:pPr algn="l"/>
                      <a:r>
                        <a:rPr lang="en-US" altLang="ko-KR" sz="1250" dirty="0">
                          <a:effectLst/>
                        </a:rPr>
                        <a:t>E1. </a:t>
                      </a:r>
                      <a:r>
                        <a:rPr lang="ko-KR" altLang="en-US" sz="1250" dirty="0">
                          <a:effectLst/>
                        </a:rPr>
                        <a:t>주문한 품목이 없는 </a:t>
                      </a:r>
                      <a:r>
                        <a:rPr lang="ko-KR" altLang="en-US" sz="1250" dirty="0" smtClean="0">
                          <a:effectLst/>
                        </a:rPr>
                        <a:t>경우</a:t>
                      </a:r>
                      <a:r>
                        <a:rPr lang="en-US" altLang="ko-KR" sz="1250" dirty="0">
                          <a:effectLst/>
                        </a:rPr>
                        <a:t/>
                      </a:r>
                      <a:br>
                        <a:rPr lang="en-US" altLang="ko-KR" sz="1250" dirty="0">
                          <a:effectLst/>
                        </a:rPr>
                      </a:br>
                      <a:r>
                        <a:rPr lang="en-US" altLang="ko-KR" sz="1250" dirty="0">
                          <a:effectLst/>
                        </a:rPr>
                        <a:t>E1.1. </a:t>
                      </a:r>
                      <a:r>
                        <a:rPr lang="ko-KR" altLang="en-US" sz="1250" dirty="0">
                          <a:effectLst/>
                        </a:rPr>
                        <a:t>웨이터가 고객에게 </a:t>
                      </a:r>
                      <a:r>
                        <a:rPr lang="ko-KR" altLang="en-US" sz="1250" dirty="0" smtClean="0">
                          <a:effectLst/>
                        </a:rPr>
                        <a:t>알립니다</a:t>
                      </a:r>
                      <a:r>
                        <a:rPr lang="en-US" altLang="ko-KR" sz="1250" dirty="0">
                          <a:effectLst/>
                        </a:rPr>
                        <a:t/>
                      </a:r>
                      <a:br>
                        <a:rPr lang="en-US" altLang="ko-KR" sz="1250" dirty="0">
                          <a:effectLst/>
                        </a:rPr>
                      </a:br>
                      <a:r>
                        <a:rPr lang="en-US" altLang="ko-KR" sz="1250" dirty="0">
                          <a:effectLst/>
                        </a:rPr>
                        <a:t>E1.2. </a:t>
                      </a:r>
                      <a:r>
                        <a:rPr lang="ko-KR" altLang="en-US" sz="1250" dirty="0">
                          <a:effectLst/>
                        </a:rPr>
                        <a:t>고객이 메뉴에서 새로운 항목을 </a:t>
                      </a:r>
                      <a:r>
                        <a:rPr lang="ko-KR" altLang="en-US" sz="1250" dirty="0" smtClean="0">
                          <a:effectLst/>
                        </a:rPr>
                        <a:t>선택합니다</a:t>
                      </a:r>
                      <a:r>
                        <a:rPr lang="en-US" altLang="ko-KR" sz="1250" dirty="0">
                          <a:effectLst/>
                        </a:rPr>
                        <a:t/>
                      </a:r>
                      <a:br>
                        <a:rPr lang="en-US" altLang="ko-KR" sz="1250" dirty="0">
                          <a:effectLst/>
                        </a:rPr>
                      </a:br>
                      <a:r>
                        <a:rPr lang="en-US" altLang="ko-KR" sz="1250" dirty="0">
                          <a:effectLst/>
                        </a:rPr>
                        <a:t>E1.3. </a:t>
                      </a:r>
                      <a:r>
                        <a:rPr lang="ko-KR" altLang="en-US" sz="1250" dirty="0">
                          <a:effectLst/>
                        </a:rPr>
                        <a:t>웨이터가 새로운 주문을 적고 주방 직원에게 전달합니다</a:t>
                      </a:r>
                      <a:r>
                        <a:rPr lang="en-US" altLang="ko-KR" sz="1250" dirty="0">
                          <a:effectLst/>
                        </a:rPr>
                        <a:t>.</a:t>
                      </a:r>
                      <a:endParaRPr lang="en-US" altLang="ko-KR"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3535153843"/>
                  </a:ext>
                </a:extLst>
              </a:tr>
              <a:tr h="232457">
                <a:tc>
                  <a:txBody>
                    <a:bodyPr/>
                    <a:lstStyle/>
                    <a:p>
                      <a:pPr algn="l"/>
                      <a:r>
                        <a:rPr lang="en-US" altLang="ko-KR" sz="1250" b="1" dirty="0" smtClean="0">
                          <a:effectLst/>
                        </a:rPr>
                        <a:t>Priority</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높음</a:t>
                      </a:r>
                      <a:endParaRPr lang="ko-KR" altLang="en-US"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2899999724"/>
                  </a:ext>
                </a:extLst>
              </a:tr>
              <a:tr h="232457">
                <a:tc>
                  <a:txBody>
                    <a:bodyPr/>
                    <a:lstStyle/>
                    <a:p>
                      <a:pPr algn="l"/>
                      <a:r>
                        <a:rPr lang="en-US" altLang="ko-KR" sz="1250" b="1" dirty="0" smtClean="0">
                          <a:effectLst/>
                        </a:rPr>
                        <a:t>Performance target</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고객이 웨이터에게 신호를 보낸 </a:t>
                      </a:r>
                      <a:r>
                        <a:rPr lang="en-US" altLang="ko-KR" sz="1250" dirty="0" smtClean="0">
                          <a:effectLst/>
                        </a:rPr>
                        <a:t>5</a:t>
                      </a:r>
                      <a:r>
                        <a:rPr lang="ko-KR" altLang="en-US" sz="1250" dirty="0">
                          <a:effectLst/>
                        </a:rPr>
                        <a:t>분 이내에 주문이 이루어져야 합니다</a:t>
                      </a:r>
                      <a:endParaRPr lang="ko-KR" altLang="en-US"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2613967948"/>
                  </a:ext>
                </a:extLst>
              </a:tr>
              <a:tr h="232457">
                <a:tc>
                  <a:txBody>
                    <a:bodyPr/>
                    <a:lstStyle/>
                    <a:p>
                      <a:pPr algn="l"/>
                      <a:r>
                        <a:rPr lang="en-US" altLang="ko-KR" sz="1250" b="1" dirty="0" smtClean="0">
                          <a:effectLst/>
                        </a:rPr>
                        <a:t>Frequency of use</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하루에 여러 번</a:t>
                      </a:r>
                      <a:endParaRPr lang="ko-KR" altLang="en-US"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203042054"/>
                  </a:ext>
                </a:extLst>
              </a:tr>
              <a:tr h="327362">
                <a:tc>
                  <a:txBody>
                    <a:bodyPr/>
                    <a:lstStyle/>
                    <a:p>
                      <a:pPr algn="l"/>
                      <a:r>
                        <a:rPr lang="en-US" altLang="ko-KR" sz="1250" b="1" dirty="0" smtClean="0">
                          <a:effectLst/>
                        </a:rPr>
                        <a:t>Assumptions</a:t>
                      </a:r>
                      <a:endParaRPr lang="ko-KR" altLang="en-US" sz="1250" b="1" dirty="0">
                        <a:effectLst/>
                        <a:latin typeface="+mn-lt"/>
                      </a:endParaRPr>
                    </a:p>
                  </a:txBody>
                  <a:tcPr marL="90000" marR="36000" marT="36000" marB="36000" anchor="ctr">
                    <a:solidFill>
                      <a:srgbClr val="EBF9F9"/>
                    </a:solidFill>
                  </a:tcPr>
                </a:tc>
                <a:tc>
                  <a:txBody>
                    <a:bodyPr/>
                    <a:lstStyle/>
                    <a:p>
                      <a:pPr algn="l"/>
                      <a:r>
                        <a:rPr lang="ko-KR" altLang="en-US" sz="1250" dirty="0">
                          <a:effectLst/>
                        </a:rPr>
                        <a:t>식당이 영업 중이며 </a:t>
                      </a:r>
                      <a:r>
                        <a:rPr lang="ko-KR" altLang="en-US" sz="1250" dirty="0" smtClean="0">
                          <a:effectLst/>
                        </a:rPr>
                        <a:t>웨이터와 </a:t>
                      </a:r>
                      <a:r>
                        <a:rPr lang="ko-KR" altLang="en-US" sz="1250" dirty="0">
                          <a:effectLst/>
                        </a:rPr>
                        <a:t>주방 직원이 주문을 처리할 수 있어야 </a:t>
                      </a:r>
                      <a:r>
                        <a:rPr lang="ko-KR" altLang="en-US" sz="1250" dirty="0" smtClean="0">
                          <a:effectLst/>
                        </a:rPr>
                        <a:t>합니다</a:t>
                      </a:r>
                      <a:endParaRPr lang="en-US" altLang="ko-KR" sz="1250" dirty="0">
                        <a:effectLst/>
                        <a:latin typeface="+mn-lt"/>
                      </a:endParaRPr>
                    </a:p>
                  </a:txBody>
                  <a:tcPr marL="90000" marR="36000" marT="36000" marB="36000" anchor="ctr">
                    <a:solidFill>
                      <a:srgbClr val="EBF9F9"/>
                    </a:solidFill>
                  </a:tcPr>
                </a:tc>
                <a:extLst>
                  <a:ext uri="{0D108BD9-81ED-4DB2-BD59-A6C34878D82A}">
                    <a16:rowId xmlns="" xmlns:a16="http://schemas.microsoft.com/office/drawing/2014/main" val="1250289899"/>
                  </a:ext>
                </a:extLst>
              </a:tr>
            </a:tbl>
          </a:graphicData>
        </a:graphic>
      </p:graphicFrame>
      <p:sp>
        <p:nvSpPr>
          <p:cNvPr id="6" name="제목 6"/>
          <p:cNvSpPr>
            <a:spLocks noGrp="1"/>
          </p:cNvSpPr>
          <p:nvPr>
            <p:ph type="title"/>
          </p:nvPr>
        </p:nvSpPr>
        <p:spPr>
          <a:xfrm>
            <a:off x="408000" y="156779"/>
            <a:ext cx="3434590" cy="424661"/>
          </a:xfrm>
        </p:spPr>
        <p:txBody>
          <a:bodyPr/>
          <a:lstStyle/>
          <a:p>
            <a:r>
              <a:rPr lang="en-US" altLang="ko-KR" dirty="0"/>
              <a:t>Use </a:t>
            </a:r>
            <a:r>
              <a:rPr lang="en-US" altLang="ko-KR" dirty="0" smtClean="0"/>
              <a:t>cases format </a:t>
            </a:r>
            <a:r>
              <a:rPr lang="ko-KR" altLang="en-US" dirty="0" smtClean="0"/>
              <a:t>예제</a:t>
            </a:r>
            <a:endParaRPr lang="ko-KR" altLang="en-US" dirty="0"/>
          </a:p>
        </p:txBody>
      </p:sp>
      <p:sp>
        <p:nvSpPr>
          <p:cNvPr id="9" name="텍스트 개체 틀 1"/>
          <p:cNvSpPr txBox="1">
            <a:spLocks/>
          </p:cNvSpPr>
          <p:nvPr/>
        </p:nvSpPr>
        <p:spPr>
          <a:xfrm>
            <a:off x="452658" y="765138"/>
            <a:ext cx="3746118" cy="3648242"/>
          </a:xfrm>
          <a:prstGeom prst="rect">
            <a:avLst/>
          </a:prstGeom>
        </p:spPr>
        <p:txBody>
          <a:bodyPr wrap="square" lIns="36000" rIns="36000" rtlCol="0" anchor="t" anchorCtr="0">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lang="ko-KR" altLang="en-US" sz="1800" kern="1200" smtClean="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lang="ko-KR" altLang="en-US" sz="1600" kern="1200" smtClean="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lang="ko-KR" altLang="en-US" sz="1400" kern="1200" smtClean="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lang="ko-KR" altLang="en-US" sz="1200" kern="1200" smtClean="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lang="ko-KR" altLang="en-US" sz="11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smtClean="0"/>
              <a:t>Brief format</a:t>
            </a:r>
          </a:p>
          <a:p>
            <a:pPr marL="457200" lvl="1" indent="0">
              <a:lnSpc>
                <a:spcPct val="120000"/>
              </a:lnSpc>
              <a:buNone/>
            </a:pPr>
            <a:r>
              <a:rPr lang="ko-KR" altLang="en-US" sz="1250" dirty="0"/>
              <a:t>고객이 메뉴에서 음식을 주문합니다</a:t>
            </a:r>
            <a:r>
              <a:rPr lang="en-US" altLang="ko-KR" sz="1100" dirty="0"/>
              <a:t>.</a:t>
            </a:r>
            <a:endParaRPr lang="en-US" altLang="ko-KR" sz="1100" dirty="0" smtClean="0"/>
          </a:p>
          <a:p>
            <a:pPr>
              <a:lnSpc>
                <a:spcPct val="120000"/>
              </a:lnSpc>
            </a:pPr>
            <a:endParaRPr lang="en-US" sz="1400" dirty="0"/>
          </a:p>
          <a:p>
            <a:pPr>
              <a:lnSpc>
                <a:spcPct val="120000"/>
              </a:lnSpc>
            </a:pPr>
            <a:r>
              <a:rPr lang="en-US" sz="1400" dirty="0" smtClean="0"/>
              <a:t>Casual format</a:t>
            </a:r>
          </a:p>
          <a:p>
            <a:pPr marL="457200" lvl="1" indent="0">
              <a:lnSpc>
                <a:spcPct val="120000"/>
              </a:lnSpc>
              <a:buNone/>
            </a:pPr>
            <a:r>
              <a:rPr lang="en-US" altLang="ko-KR" sz="1250" dirty="0" smtClean="0"/>
              <a:t>Main flow :</a:t>
            </a:r>
            <a:r>
              <a:rPr lang="ko-KR" altLang="en-US" sz="1250" dirty="0" smtClean="0"/>
              <a:t>고객이 </a:t>
            </a:r>
            <a:r>
              <a:rPr lang="ko-KR" altLang="en-US" sz="1250" dirty="0"/>
              <a:t>식당 테이블에 앉아 메뉴를 살펴봅니다</a:t>
            </a:r>
            <a:r>
              <a:rPr lang="en-US" altLang="ko-KR" sz="1250" dirty="0"/>
              <a:t>. </a:t>
            </a:r>
            <a:r>
              <a:rPr lang="ko-KR" altLang="en-US" sz="1250" dirty="0"/>
              <a:t>그들은 주문하고 싶은 것을 결정하고 웨이터에게 신호를 보냅니다</a:t>
            </a:r>
            <a:r>
              <a:rPr lang="en-US" altLang="ko-KR" sz="1250" dirty="0"/>
              <a:t>. </a:t>
            </a:r>
            <a:r>
              <a:rPr lang="ko-KR" altLang="en-US" sz="1250" dirty="0"/>
              <a:t>웨이터는 </a:t>
            </a:r>
            <a:r>
              <a:rPr lang="ko-KR" altLang="en-US" sz="1250" dirty="0" smtClean="0"/>
              <a:t>다가와 </a:t>
            </a:r>
            <a:r>
              <a:rPr lang="ko-KR" altLang="en-US" sz="1250" dirty="0"/>
              <a:t>고객의 주문을 적고 주방 직원에게 주문을 </a:t>
            </a:r>
            <a:r>
              <a:rPr lang="ko-KR" altLang="en-US" sz="1250" dirty="0" smtClean="0"/>
              <a:t>전달합니다</a:t>
            </a:r>
            <a:r>
              <a:rPr lang="en-US" altLang="ko-KR" sz="1250" dirty="0" smtClean="0"/>
              <a:t>.</a:t>
            </a:r>
          </a:p>
          <a:p>
            <a:pPr marL="457200" lvl="1" indent="0">
              <a:lnSpc>
                <a:spcPct val="120000"/>
              </a:lnSpc>
              <a:buNone/>
            </a:pPr>
            <a:r>
              <a:rPr lang="en-US" sz="1250" dirty="0" smtClean="0"/>
              <a:t>Alternate flow: </a:t>
            </a:r>
            <a:r>
              <a:rPr lang="ko-KR" altLang="en-US" sz="1250" dirty="0" smtClean="0"/>
              <a:t>고객이 식당 앱을 사용하여 메뉴를 확인합니다</a:t>
            </a:r>
            <a:r>
              <a:rPr lang="en-US" altLang="ko-KR" sz="1250" dirty="0" smtClean="0"/>
              <a:t>. </a:t>
            </a:r>
            <a:r>
              <a:rPr lang="ko-KR" altLang="en-US" sz="1250" dirty="0" smtClean="0"/>
              <a:t>그들은 원하는 메뉴를 앱에서 주문합니다</a:t>
            </a:r>
            <a:r>
              <a:rPr lang="en-US" altLang="ko-KR" sz="1250" dirty="0" smtClean="0"/>
              <a:t>. </a:t>
            </a:r>
            <a:r>
              <a:rPr lang="ko-KR" altLang="en-US" sz="1250" dirty="0" smtClean="0"/>
              <a:t>고개의 주문이 직접 주방 직원에게 전달 됩니다</a:t>
            </a:r>
            <a:r>
              <a:rPr lang="en-US" altLang="ko-KR" sz="1250" dirty="0" smtClean="0"/>
              <a:t>.</a:t>
            </a:r>
            <a:endParaRPr lang="en-US" sz="1250" dirty="0"/>
          </a:p>
        </p:txBody>
      </p:sp>
      <p:sp>
        <p:nvSpPr>
          <p:cNvPr id="10" name="텍스트 개체 틀 1"/>
          <p:cNvSpPr txBox="1">
            <a:spLocks/>
          </p:cNvSpPr>
          <p:nvPr/>
        </p:nvSpPr>
        <p:spPr>
          <a:xfrm>
            <a:off x="4739951" y="765138"/>
            <a:ext cx="2656665" cy="260382"/>
          </a:xfrm>
          <a:prstGeom prst="rect">
            <a:avLst/>
          </a:prstGeom>
        </p:spPr>
        <p:txBody>
          <a:bodyPr wrap="none" lIns="36000" rIns="36000" rtlCol="0" anchor="t" anchorCtr="0">
            <a:normAutofit fontScale="85000" lnSpcReduction="20000"/>
          </a:bodyPr>
          <a:lstStyle>
            <a:lvl1pPr marL="228600" indent="-228600" algn="l" defTabSz="914400" rtl="0" eaLnBrk="1" latinLnBrk="1" hangingPunct="1">
              <a:lnSpc>
                <a:spcPct val="90000"/>
              </a:lnSpc>
              <a:spcBef>
                <a:spcPts val="1000"/>
              </a:spcBef>
              <a:buFont typeface="Arial" panose="020B0604020202020204" pitchFamily="34" charset="0"/>
              <a:buChar char="•"/>
              <a:defRPr lang="ko-KR" altLang="en-US" sz="1800" kern="1200" smtClean="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lang="ko-KR" altLang="en-US" sz="1600" kern="1200" smtClean="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lang="ko-KR" altLang="en-US" sz="1400" kern="1200" smtClean="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lang="ko-KR" altLang="en-US" sz="1200" kern="1200" smtClean="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lang="ko-KR" altLang="en-US" sz="11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dirty="0" smtClean="0"/>
              <a:t>Fully dressed-up format</a:t>
            </a:r>
            <a:endParaRPr lang="en-US" dirty="0"/>
          </a:p>
        </p:txBody>
      </p:sp>
      <p:sp>
        <p:nvSpPr>
          <p:cNvPr id="14" name="모서리가 둥근 사각형 설명선 13"/>
          <p:cNvSpPr/>
          <p:nvPr/>
        </p:nvSpPr>
        <p:spPr>
          <a:xfrm>
            <a:off x="1492243" y="4912143"/>
            <a:ext cx="2815262" cy="1040463"/>
          </a:xfrm>
          <a:prstGeom prst="wedgeRoundRectCallout">
            <a:avLst>
              <a:gd name="adj1" fmla="val 126372"/>
              <a:gd name="adj2" fmla="val -25452"/>
              <a:gd name="adj3" fmla="val 16667"/>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250" dirty="0" smtClean="0">
                <a:solidFill>
                  <a:schemeClr val="tx1"/>
                </a:solidFill>
              </a:rPr>
              <a:t>기능을 온전히 수행하지 못한 상황을 기술하는 것인데 주문을 완료 했기에 </a:t>
            </a:r>
            <a:r>
              <a:rPr lang="en-US" altLang="ko-KR" sz="1250" dirty="0" smtClean="0">
                <a:solidFill>
                  <a:schemeClr val="tx1"/>
                </a:solidFill>
              </a:rPr>
              <a:t>exception</a:t>
            </a:r>
            <a:r>
              <a:rPr lang="ko-KR" altLang="en-US" sz="1250" dirty="0" smtClean="0">
                <a:solidFill>
                  <a:schemeClr val="tx1"/>
                </a:solidFill>
              </a:rPr>
              <a:t>이라기 보다 </a:t>
            </a:r>
            <a:r>
              <a:rPr lang="en-US" altLang="ko-KR" sz="1250" dirty="0" smtClean="0">
                <a:solidFill>
                  <a:schemeClr val="tx1"/>
                </a:solidFill>
              </a:rPr>
              <a:t>alternate flow</a:t>
            </a:r>
            <a:r>
              <a:rPr lang="ko-KR" altLang="en-US" sz="1250" dirty="0" smtClean="0">
                <a:solidFill>
                  <a:schemeClr val="tx1"/>
                </a:solidFill>
              </a:rPr>
              <a:t>다</a:t>
            </a:r>
            <a:r>
              <a:rPr lang="en-US" altLang="ko-KR" sz="1250" dirty="0" smtClean="0">
                <a:solidFill>
                  <a:schemeClr val="tx1"/>
                </a:solidFill>
              </a:rPr>
              <a:t>.</a:t>
            </a:r>
            <a:endParaRPr lang="ko-KR" altLang="en-US" sz="1250" dirty="0">
              <a:solidFill>
                <a:schemeClr val="tx1"/>
              </a:solidFill>
            </a:endParaRPr>
          </a:p>
        </p:txBody>
      </p:sp>
    </p:spTree>
    <p:extLst>
      <p:ext uri="{BB962C8B-B14F-4D97-AF65-F5344CB8AC3E}">
        <p14:creationId xmlns:p14="http://schemas.microsoft.com/office/powerpoint/2010/main" val="39865911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3339371" cy="424661"/>
          </a:xfrm>
        </p:spPr>
        <p:txBody>
          <a:bodyPr/>
          <a:lstStyle/>
          <a:p>
            <a:r>
              <a:rPr lang="en-US" altLang="ko-KR" dirty="0" smtClean="0"/>
              <a:t>Fully dressed-up </a:t>
            </a:r>
            <a:r>
              <a:rPr lang="ko-KR" altLang="en-US" dirty="0" smtClean="0"/>
              <a:t>예제</a:t>
            </a:r>
            <a:endParaRPr lang="ko-KR" altLang="en-US" dirty="0"/>
          </a:p>
        </p:txBody>
      </p:sp>
      <p:graphicFrame>
        <p:nvGraphicFramePr>
          <p:cNvPr id="5" name="표 4"/>
          <p:cNvGraphicFramePr>
            <a:graphicFrameLocks noGrp="1"/>
          </p:cNvGraphicFramePr>
          <p:nvPr>
            <p:extLst>
              <p:ext uri="{D42A27DB-BD31-4B8C-83A1-F6EECF244321}">
                <p14:modId xmlns:p14="http://schemas.microsoft.com/office/powerpoint/2010/main" val="3559514305"/>
              </p:ext>
            </p:extLst>
          </p:nvPr>
        </p:nvGraphicFramePr>
        <p:xfrm>
          <a:off x="6672064" y="692696"/>
          <a:ext cx="5184576" cy="5025187"/>
        </p:xfrm>
        <a:graphic>
          <a:graphicData uri="http://schemas.openxmlformats.org/drawingml/2006/table">
            <a:tbl>
              <a:tblPr>
                <a:tableStyleId>{5C22544A-7EE6-4342-B048-85BDC9FD1C3A}</a:tableStyleId>
              </a:tblPr>
              <a:tblGrid>
                <a:gridCol w="1296144">
                  <a:extLst>
                    <a:ext uri="{9D8B030D-6E8A-4147-A177-3AD203B41FA5}">
                      <a16:colId xmlns="" xmlns:a16="http://schemas.microsoft.com/office/drawing/2014/main" val="20000"/>
                    </a:ext>
                  </a:extLst>
                </a:gridCol>
                <a:gridCol w="3888432">
                  <a:extLst>
                    <a:ext uri="{9D8B030D-6E8A-4147-A177-3AD203B41FA5}">
                      <a16:colId xmlns="" xmlns:a16="http://schemas.microsoft.com/office/drawing/2014/main" val="20002"/>
                    </a:ext>
                  </a:extLst>
                </a:gridCol>
              </a:tblGrid>
              <a:tr h="261790">
                <a:tc>
                  <a:txBody>
                    <a:bodyPr/>
                    <a:lstStyle/>
                    <a:p>
                      <a:pPr algn="l" fontAlgn="ctr"/>
                      <a:r>
                        <a:rPr lang="en-US" sz="1300" b="1" u="none" strike="noStrike" dirty="0">
                          <a:solidFill>
                            <a:schemeClr val="accent2">
                              <a:lumMod val="75000"/>
                            </a:schemeClr>
                          </a:solidFill>
                          <a:effectLst/>
                        </a:rPr>
                        <a:t>Use Case</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accent2">
                              <a:lumMod val="75000"/>
                            </a:schemeClr>
                          </a:solidFill>
                          <a:effectLst/>
                        </a:rPr>
                        <a:t>가입 신청서 작성</a:t>
                      </a:r>
                      <a:endParaRPr lang="ko-KR" altLang="en-US"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0"/>
                  </a:ext>
                </a:extLst>
              </a:tr>
              <a:tr h="261790">
                <a:tc>
                  <a:txBody>
                    <a:bodyPr/>
                    <a:lstStyle/>
                    <a:p>
                      <a:pPr algn="l" fontAlgn="ctr"/>
                      <a:r>
                        <a:rPr lang="en-US" sz="1300" b="1" u="none" strike="noStrike" dirty="0">
                          <a:solidFill>
                            <a:schemeClr val="bg1">
                              <a:lumMod val="65000"/>
                            </a:schemeClr>
                          </a:solidFill>
                          <a:effectLst/>
                        </a:rPr>
                        <a:t>Scope</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보험 시스템</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1"/>
                  </a:ext>
                </a:extLst>
              </a:tr>
              <a:tr h="261790">
                <a:tc>
                  <a:txBody>
                    <a:bodyPr/>
                    <a:lstStyle/>
                    <a:p>
                      <a:pPr algn="l" fontAlgn="ctr"/>
                      <a:r>
                        <a:rPr lang="en-US" sz="1300" b="1" u="none" strike="noStrike" dirty="0">
                          <a:solidFill>
                            <a:schemeClr val="bg1">
                              <a:lumMod val="65000"/>
                            </a:schemeClr>
                          </a:solidFill>
                          <a:effectLst/>
                        </a:rPr>
                        <a:t>Level</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사용자 목표</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2"/>
                  </a:ext>
                </a:extLst>
              </a:tr>
              <a:tr h="261790">
                <a:tc>
                  <a:txBody>
                    <a:bodyPr/>
                    <a:lstStyle/>
                    <a:p>
                      <a:pPr algn="l" fontAlgn="ctr"/>
                      <a:r>
                        <a:rPr lang="en-US" sz="1300" b="1" u="none" strike="noStrike" dirty="0">
                          <a:solidFill>
                            <a:schemeClr val="accent2">
                              <a:lumMod val="75000"/>
                            </a:schemeClr>
                          </a:solidFill>
                          <a:effectLst/>
                        </a:rPr>
                        <a:t>Primary Actor</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accent2">
                              <a:lumMod val="75000"/>
                            </a:schemeClr>
                          </a:solidFill>
                          <a:effectLst/>
                        </a:rPr>
                        <a:t>고객</a:t>
                      </a:r>
                      <a:endParaRPr lang="ko-KR" altLang="en-US"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4"/>
                  </a:ext>
                </a:extLst>
              </a:tr>
              <a:tr h="637465">
                <a:tc>
                  <a:txBody>
                    <a:bodyPr/>
                    <a:lstStyle/>
                    <a:p>
                      <a:pPr algn="l" fontAlgn="ctr"/>
                      <a:r>
                        <a:rPr lang="en-US" sz="1300" b="1" u="none" strike="noStrike" dirty="0">
                          <a:solidFill>
                            <a:schemeClr val="accent2">
                              <a:lumMod val="75000"/>
                            </a:schemeClr>
                          </a:solidFill>
                          <a:effectLst/>
                        </a:rPr>
                        <a:t>Stakeholders </a:t>
                      </a:r>
                      <a:endParaRPr lang="en-US" sz="1300" b="1" u="none" strike="noStrike" dirty="0" smtClean="0">
                        <a:solidFill>
                          <a:schemeClr val="accent2">
                            <a:lumMod val="75000"/>
                          </a:schemeClr>
                        </a:solidFill>
                        <a:effectLst/>
                      </a:endParaRPr>
                    </a:p>
                    <a:p>
                      <a:pPr algn="l" fontAlgn="ctr"/>
                      <a:r>
                        <a:rPr lang="en-US" sz="1300" b="1" u="none" strike="noStrike" dirty="0" smtClean="0">
                          <a:solidFill>
                            <a:schemeClr val="accent2">
                              <a:lumMod val="75000"/>
                            </a:schemeClr>
                          </a:solidFill>
                          <a:effectLst/>
                        </a:rPr>
                        <a:t>&amp; </a:t>
                      </a:r>
                      <a:r>
                        <a:rPr lang="en-US" sz="1300" b="1" u="none" strike="noStrike" dirty="0">
                          <a:solidFill>
                            <a:schemeClr val="accent2">
                              <a:lumMod val="75000"/>
                            </a:schemeClr>
                          </a:solidFill>
                          <a:effectLst/>
                        </a:rPr>
                        <a:t>Interests</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accent2">
                              <a:lumMod val="75000"/>
                            </a:schemeClr>
                          </a:solidFill>
                          <a:effectLst/>
                        </a:rPr>
                        <a:t>고객</a:t>
                      </a:r>
                      <a:r>
                        <a:rPr lang="en-US" altLang="ko-KR" sz="1300" u="none" strike="noStrike" dirty="0">
                          <a:solidFill>
                            <a:schemeClr val="accent2">
                              <a:lumMod val="75000"/>
                            </a:schemeClr>
                          </a:solidFill>
                          <a:effectLst/>
                        </a:rPr>
                        <a:t>:</a:t>
                      </a:r>
                      <a:r>
                        <a:rPr lang="ko-KR" altLang="en-US" sz="1300" u="none" strike="noStrike" dirty="0">
                          <a:solidFill>
                            <a:schemeClr val="accent2">
                              <a:lumMod val="75000"/>
                            </a:schemeClr>
                          </a:solidFill>
                          <a:effectLst/>
                        </a:rPr>
                        <a:t> 필요한 필드가 포함된 명확하고 간단한 양식을 원함</a:t>
                      </a:r>
                      <a:br>
                        <a:rPr lang="ko-KR" altLang="en-US" sz="1300" u="none" strike="noStrike" dirty="0">
                          <a:solidFill>
                            <a:schemeClr val="accent2">
                              <a:lumMod val="75000"/>
                            </a:schemeClr>
                          </a:solidFill>
                          <a:effectLst/>
                        </a:rPr>
                      </a:br>
                      <a:r>
                        <a:rPr lang="ko-KR" altLang="en-US" sz="1300" u="none" strike="noStrike" dirty="0">
                          <a:solidFill>
                            <a:schemeClr val="accent2">
                              <a:lumMod val="75000"/>
                            </a:schemeClr>
                          </a:solidFill>
                          <a:effectLst/>
                        </a:rPr>
                        <a:t>보험사</a:t>
                      </a:r>
                      <a:r>
                        <a:rPr lang="en-US" altLang="ko-KR" sz="1300" u="none" strike="noStrike" dirty="0">
                          <a:solidFill>
                            <a:schemeClr val="accent2">
                              <a:lumMod val="75000"/>
                            </a:schemeClr>
                          </a:solidFill>
                          <a:effectLst/>
                        </a:rPr>
                        <a:t>:</a:t>
                      </a:r>
                      <a:r>
                        <a:rPr lang="ko-KR" altLang="en-US" sz="1300" u="none" strike="noStrike" dirty="0">
                          <a:solidFill>
                            <a:schemeClr val="accent2">
                              <a:lumMod val="75000"/>
                            </a:schemeClr>
                          </a:solidFill>
                          <a:effectLst/>
                        </a:rPr>
                        <a:t> 정책을 위해 정확하고 완전한 데이터를 필요로 함</a:t>
                      </a:r>
                      <a:endParaRPr lang="ko-KR" altLang="en-US"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5"/>
                  </a:ext>
                </a:extLst>
              </a:tr>
              <a:tr h="471385">
                <a:tc>
                  <a:txBody>
                    <a:bodyPr/>
                    <a:lstStyle/>
                    <a:p>
                      <a:pPr algn="l" fontAlgn="ctr"/>
                      <a:r>
                        <a:rPr lang="en-US" sz="1300" b="1" u="none" strike="noStrike" dirty="0">
                          <a:solidFill>
                            <a:schemeClr val="accent2">
                              <a:lumMod val="75000"/>
                            </a:schemeClr>
                          </a:solidFill>
                          <a:effectLst/>
                        </a:rPr>
                        <a:t>Success </a:t>
                      </a:r>
                      <a:endParaRPr lang="en-US" sz="1300" b="1" u="none" strike="noStrike" dirty="0" smtClean="0">
                        <a:solidFill>
                          <a:schemeClr val="accent2">
                            <a:lumMod val="75000"/>
                          </a:schemeClr>
                        </a:solidFill>
                        <a:effectLst/>
                      </a:endParaRPr>
                    </a:p>
                    <a:p>
                      <a:pPr algn="l" fontAlgn="ctr"/>
                      <a:r>
                        <a:rPr lang="en-US" sz="1300" b="1" u="none" strike="noStrike" dirty="0" smtClean="0">
                          <a:solidFill>
                            <a:schemeClr val="accent2">
                              <a:lumMod val="75000"/>
                            </a:schemeClr>
                          </a:solidFill>
                          <a:effectLst/>
                        </a:rPr>
                        <a:t>End </a:t>
                      </a:r>
                      <a:r>
                        <a:rPr lang="en-US" sz="1300" b="1" u="none" strike="noStrike" dirty="0">
                          <a:solidFill>
                            <a:schemeClr val="accent2">
                              <a:lumMod val="75000"/>
                            </a:schemeClr>
                          </a:solidFill>
                          <a:effectLst/>
                        </a:rPr>
                        <a:t>Condition</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accent2">
                              <a:lumMod val="75000"/>
                            </a:schemeClr>
                          </a:solidFill>
                          <a:effectLst/>
                        </a:rPr>
                        <a:t>가입 신청서가 완료되어 제출 준비가 됨</a:t>
                      </a:r>
                      <a:endParaRPr lang="ko-KR" altLang="en-US"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6"/>
                  </a:ext>
                </a:extLst>
              </a:tr>
              <a:tr h="261790">
                <a:tc>
                  <a:txBody>
                    <a:bodyPr/>
                    <a:lstStyle/>
                    <a:p>
                      <a:pPr algn="l" fontAlgn="ctr"/>
                      <a:r>
                        <a:rPr lang="en-US" sz="1300" b="1" u="none" strike="noStrike" dirty="0">
                          <a:solidFill>
                            <a:schemeClr val="bg1">
                              <a:lumMod val="65000"/>
                            </a:schemeClr>
                          </a:solidFill>
                          <a:effectLst/>
                        </a:rPr>
                        <a:t>Preconditions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고객이 보험 상품을 선택하고 신청서 작성을 시작할 준비가 됨</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8"/>
                  </a:ext>
                </a:extLst>
              </a:tr>
              <a:tr h="1200977">
                <a:tc>
                  <a:txBody>
                    <a:bodyPr/>
                    <a:lstStyle/>
                    <a:p>
                      <a:pPr algn="l" fontAlgn="ctr"/>
                      <a:r>
                        <a:rPr lang="en-US" sz="1300" b="1" u="none" strike="noStrike" dirty="0">
                          <a:solidFill>
                            <a:schemeClr val="bg1">
                              <a:lumMod val="65000"/>
                            </a:schemeClr>
                          </a:solidFill>
                          <a:effectLst/>
                        </a:rPr>
                        <a:t>Main Success </a:t>
                      </a:r>
                      <a:endParaRPr lang="en-US" sz="1300" b="1" u="none" strike="noStrike" dirty="0" smtClean="0">
                        <a:solidFill>
                          <a:schemeClr val="bg1">
                            <a:lumMod val="65000"/>
                          </a:schemeClr>
                        </a:solidFill>
                        <a:effectLst/>
                      </a:endParaRPr>
                    </a:p>
                    <a:p>
                      <a:pPr algn="l" fontAlgn="ctr"/>
                      <a:r>
                        <a:rPr lang="en-US" sz="1300" b="1" u="none" strike="noStrike" dirty="0" smtClean="0">
                          <a:solidFill>
                            <a:schemeClr val="bg1">
                              <a:lumMod val="65000"/>
                            </a:schemeClr>
                          </a:solidFill>
                          <a:effectLst/>
                        </a:rPr>
                        <a:t>Scenario</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en-US" altLang="ko-KR" sz="1300" u="none" strike="noStrike" dirty="0">
                          <a:solidFill>
                            <a:schemeClr val="bg1">
                              <a:lumMod val="65000"/>
                            </a:schemeClr>
                          </a:solidFill>
                          <a:effectLst/>
                        </a:rPr>
                        <a:t>1. </a:t>
                      </a:r>
                      <a:r>
                        <a:rPr lang="ko-KR" altLang="en-US" sz="1300" u="none" strike="noStrike" dirty="0">
                          <a:solidFill>
                            <a:schemeClr val="bg1">
                              <a:lumMod val="65000"/>
                            </a:schemeClr>
                          </a:solidFill>
                          <a:effectLst/>
                        </a:rPr>
                        <a:t>고객이 가입 신청 페이지를 연다 </a:t>
                      </a:r>
                      <a:br>
                        <a:rPr lang="ko-KR" altLang="en-US" sz="1300" u="none" strike="noStrike" dirty="0">
                          <a:solidFill>
                            <a:schemeClr val="bg1">
                              <a:lumMod val="65000"/>
                            </a:schemeClr>
                          </a:solidFill>
                          <a:effectLst/>
                        </a:rPr>
                      </a:br>
                      <a:r>
                        <a:rPr lang="en-US" altLang="ko-KR" sz="1300" u="none" strike="noStrike" dirty="0">
                          <a:solidFill>
                            <a:schemeClr val="bg1">
                              <a:lumMod val="65000"/>
                            </a:schemeClr>
                          </a:solidFill>
                          <a:effectLst/>
                        </a:rPr>
                        <a:t>2. </a:t>
                      </a:r>
                      <a:r>
                        <a:rPr lang="ko-KR" altLang="en-US" sz="1300" u="none" strike="noStrike" dirty="0">
                          <a:solidFill>
                            <a:schemeClr val="bg1">
                              <a:lumMod val="65000"/>
                            </a:schemeClr>
                          </a:solidFill>
                          <a:effectLst/>
                        </a:rPr>
                        <a:t>고객이 개인정보를 입력한다</a:t>
                      </a:r>
                      <a:r>
                        <a:rPr lang="en-US" altLang="ko-KR" sz="1300" u="none" strike="noStrike" dirty="0">
                          <a:solidFill>
                            <a:schemeClr val="bg1">
                              <a:lumMod val="65000"/>
                            </a:schemeClr>
                          </a:solidFill>
                          <a:effectLst/>
                        </a:rPr>
                        <a:t>.</a:t>
                      </a:r>
                      <a:br>
                        <a:rPr lang="en-US" altLang="ko-KR" sz="1300" u="none" strike="noStrike" dirty="0">
                          <a:solidFill>
                            <a:schemeClr val="bg1">
                              <a:lumMod val="65000"/>
                            </a:schemeClr>
                          </a:solidFill>
                          <a:effectLst/>
                        </a:rPr>
                      </a:br>
                      <a:r>
                        <a:rPr lang="en-US" altLang="ko-KR" sz="1300" u="none" strike="noStrike" dirty="0">
                          <a:solidFill>
                            <a:schemeClr val="bg1">
                              <a:lumMod val="65000"/>
                            </a:schemeClr>
                          </a:solidFill>
                          <a:effectLst/>
                        </a:rPr>
                        <a:t>3. </a:t>
                      </a:r>
                      <a:r>
                        <a:rPr lang="ko-KR" altLang="en-US" sz="1300" u="none" strike="noStrike" dirty="0">
                          <a:solidFill>
                            <a:schemeClr val="bg1">
                              <a:lumMod val="65000"/>
                            </a:schemeClr>
                          </a:solidFill>
                          <a:effectLst/>
                        </a:rPr>
                        <a:t>시스템이 실시간으로 데이터를 검증한다</a:t>
                      </a:r>
                      <a:r>
                        <a:rPr lang="en-US" altLang="ko-KR" sz="1300" u="none" strike="noStrike" dirty="0">
                          <a:solidFill>
                            <a:schemeClr val="bg1">
                              <a:lumMod val="65000"/>
                            </a:schemeClr>
                          </a:solidFill>
                          <a:effectLst/>
                        </a:rPr>
                        <a:t>. </a:t>
                      </a:r>
                      <a:br>
                        <a:rPr lang="en-US" altLang="ko-KR" sz="1300" u="none" strike="noStrike" dirty="0">
                          <a:solidFill>
                            <a:schemeClr val="bg1">
                              <a:lumMod val="65000"/>
                            </a:schemeClr>
                          </a:solidFill>
                          <a:effectLst/>
                        </a:rPr>
                      </a:br>
                      <a:r>
                        <a:rPr lang="en-US" altLang="ko-KR" sz="1300" u="none" strike="noStrike" dirty="0">
                          <a:solidFill>
                            <a:schemeClr val="bg1">
                              <a:lumMod val="65000"/>
                            </a:schemeClr>
                          </a:solidFill>
                          <a:effectLst/>
                        </a:rPr>
                        <a:t>4. </a:t>
                      </a:r>
                      <a:r>
                        <a:rPr lang="ko-KR" altLang="en-US" sz="1300" u="none" strike="noStrike" dirty="0">
                          <a:solidFill>
                            <a:schemeClr val="bg1">
                              <a:lumMod val="65000"/>
                            </a:schemeClr>
                          </a:solidFill>
                          <a:effectLst/>
                        </a:rPr>
                        <a:t>고객이 신청서 작성을 완료한다</a:t>
                      </a:r>
                      <a:r>
                        <a:rPr lang="en-US" altLang="ko-KR" sz="1300" u="none" strike="noStrike" dirty="0">
                          <a:solidFill>
                            <a:schemeClr val="bg1">
                              <a:lumMod val="65000"/>
                            </a:schemeClr>
                          </a:solidFill>
                          <a:effectLst/>
                        </a:rPr>
                        <a:t>.</a:t>
                      </a:r>
                      <a:endParaRPr lang="en-US" altLang="ko-KR"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0"/>
                  </a:ext>
                </a:extLst>
              </a:tr>
              <a:tr h="471385">
                <a:tc>
                  <a:txBody>
                    <a:bodyPr/>
                    <a:lstStyle/>
                    <a:p>
                      <a:pPr algn="l" fontAlgn="ctr"/>
                      <a:r>
                        <a:rPr lang="en-US" sz="1300" b="1" u="none" strike="noStrike" dirty="0">
                          <a:solidFill>
                            <a:schemeClr val="bg1">
                              <a:lumMod val="65000"/>
                            </a:schemeClr>
                          </a:solidFill>
                          <a:effectLst/>
                        </a:rPr>
                        <a:t>Extensions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en-US" altLang="ko-KR" sz="1300" u="none" strike="noStrike" dirty="0">
                          <a:solidFill>
                            <a:schemeClr val="bg1">
                              <a:lumMod val="65000"/>
                            </a:schemeClr>
                          </a:solidFill>
                          <a:effectLst/>
                        </a:rPr>
                        <a:t>[</a:t>
                      </a:r>
                      <a:r>
                        <a:rPr lang="ko-KR" altLang="en-US" sz="1300" u="none" strike="noStrike" dirty="0">
                          <a:solidFill>
                            <a:schemeClr val="bg1">
                              <a:lumMod val="65000"/>
                            </a:schemeClr>
                          </a:solidFill>
                          <a:effectLst/>
                        </a:rPr>
                        <a:t>고객이 입력한 정보에 오류가 있을 경우</a:t>
                      </a:r>
                      <a:r>
                        <a:rPr lang="en-US" altLang="ko-KR" sz="1300" u="none" strike="noStrike" dirty="0">
                          <a:solidFill>
                            <a:schemeClr val="bg1">
                              <a:lumMod val="65000"/>
                            </a:schemeClr>
                          </a:solidFill>
                          <a:effectLst/>
                        </a:rPr>
                        <a:t>]</a:t>
                      </a:r>
                      <a:br>
                        <a:rPr lang="en-US" altLang="ko-KR" sz="1300" u="none" strike="noStrike" dirty="0">
                          <a:solidFill>
                            <a:schemeClr val="bg1">
                              <a:lumMod val="65000"/>
                            </a:schemeClr>
                          </a:solidFill>
                          <a:effectLst/>
                        </a:rPr>
                      </a:br>
                      <a:r>
                        <a:rPr lang="en-US" altLang="ko-KR" sz="1300" u="none" strike="noStrike" dirty="0">
                          <a:solidFill>
                            <a:schemeClr val="bg1">
                              <a:lumMod val="65000"/>
                            </a:schemeClr>
                          </a:solidFill>
                          <a:effectLst/>
                        </a:rPr>
                        <a:t>3a. </a:t>
                      </a:r>
                      <a:r>
                        <a:rPr lang="ko-KR" altLang="en-US" sz="1300" u="none" strike="noStrike" dirty="0">
                          <a:solidFill>
                            <a:schemeClr val="bg1">
                              <a:lumMod val="65000"/>
                            </a:schemeClr>
                          </a:solidFill>
                          <a:effectLst/>
                        </a:rPr>
                        <a:t>오류가 있는 </a:t>
                      </a:r>
                      <a:r>
                        <a:rPr lang="ko-KR" altLang="en-US" sz="1300" u="none" strike="noStrike" dirty="0" err="1">
                          <a:solidFill>
                            <a:schemeClr val="bg1">
                              <a:lumMod val="65000"/>
                            </a:schemeClr>
                          </a:solidFill>
                          <a:effectLst/>
                        </a:rPr>
                        <a:t>입력값의</a:t>
                      </a:r>
                      <a:r>
                        <a:rPr lang="ko-KR" altLang="en-US" sz="1300" u="none" strike="noStrike" dirty="0">
                          <a:solidFill>
                            <a:schemeClr val="bg1">
                              <a:lumMod val="65000"/>
                            </a:schemeClr>
                          </a:solidFill>
                          <a:effectLst/>
                        </a:rPr>
                        <a:t> 오류 내용을 표시한다</a:t>
                      </a:r>
                      <a:r>
                        <a:rPr lang="en-US" altLang="ko-KR" sz="1300" u="none" strike="noStrike" dirty="0">
                          <a:solidFill>
                            <a:schemeClr val="bg1">
                              <a:lumMod val="65000"/>
                            </a:schemeClr>
                          </a:solidFill>
                          <a:effectLst/>
                        </a:rPr>
                        <a:t>.</a:t>
                      </a:r>
                      <a:endParaRPr lang="en-US" altLang="ko-KR"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1"/>
                  </a:ext>
                </a:extLst>
              </a:tr>
              <a:tr h="449627">
                <a:tc>
                  <a:txBody>
                    <a:bodyPr/>
                    <a:lstStyle/>
                    <a:p>
                      <a:pPr algn="l" fontAlgn="ctr"/>
                      <a:r>
                        <a:rPr lang="en-US" sz="1300" b="1" u="none" strike="noStrike" dirty="0">
                          <a:solidFill>
                            <a:schemeClr val="bg1">
                              <a:lumMod val="65000"/>
                            </a:schemeClr>
                          </a:solidFill>
                          <a:effectLst/>
                        </a:rPr>
                        <a:t>Open Issues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고객이 신청서 작성 중 추가 정보나 문서를 필요로 할 경우 어떻게 대처할 것인가</a:t>
                      </a:r>
                      <a:r>
                        <a:rPr lang="en-US" altLang="ko-KR" sz="1300" u="none" strike="noStrike" dirty="0">
                          <a:solidFill>
                            <a:schemeClr val="bg1">
                              <a:lumMod val="65000"/>
                            </a:schemeClr>
                          </a:solidFill>
                          <a:effectLst/>
                        </a:rPr>
                        <a:t>?</a:t>
                      </a:r>
                      <a:endParaRPr lang="en-US" altLang="ko-KR"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3"/>
                  </a:ext>
                </a:extLst>
              </a:tr>
            </a:tbl>
          </a:graphicData>
        </a:graphic>
      </p:graphicFrame>
      <p:sp>
        <p:nvSpPr>
          <p:cNvPr id="6" name="텍스트 개체 틀 1"/>
          <p:cNvSpPr>
            <a:spLocks noGrp="1"/>
          </p:cNvSpPr>
          <p:nvPr>
            <p:ph type="body" sz="quarter" idx="10"/>
          </p:nvPr>
        </p:nvSpPr>
        <p:spPr>
          <a:xfrm>
            <a:off x="420044" y="692696"/>
            <a:ext cx="5963988" cy="5663089"/>
          </a:xfrm>
        </p:spPr>
        <p:txBody>
          <a:bodyPr wrap="square">
            <a:spAutoFit/>
          </a:bodyPr>
          <a:lstStyle/>
          <a:p>
            <a:pPr marL="342900" indent="-342900">
              <a:lnSpc>
                <a:spcPct val="130000"/>
              </a:lnSpc>
              <a:buFont typeface="+mj-lt"/>
              <a:buAutoNum type="arabicPeriod"/>
            </a:pPr>
            <a:r>
              <a:rPr lang="en-US" altLang="ko-KR" dirty="0" smtClean="0"/>
              <a:t>Use case</a:t>
            </a:r>
          </a:p>
          <a:p>
            <a:pPr lvl="1">
              <a:lnSpc>
                <a:spcPct val="130000"/>
              </a:lnSpc>
            </a:pPr>
            <a:r>
              <a:rPr lang="ko-KR" altLang="en-US" sz="1500" dirty="0" smtClean="0"/>
              <a:t>이름만 리스트로 뽑았을 때</a:t>
            </a:r>
            <a:r>
              <a:rPr lang="en-US" altLang="ko-KR" sz="1500" dirty="0" smtClean="0"/>
              <a:t>, </a:t>
            </a:r>
            <a:r>
              <a:rPr lang="ko-KR" altLang="en-US" sz="1500" dirty="0" smtClean="0"/>
              <a:t>다른 </a:t>
            </a:r>
            <a:r>
              <a:rPr lang="en-US" altLang="ko-KR" sz="1500" dirty="0" smtClean="0"/>
              <a:t>use case</a:t>
            </a:r>
            <a:r>
              <a:rPr lang="ko-KR" altLang="en-US" sz="1500" dirty="0" smtClean="0"/>
              <a:t>들과 구분이 가능해야 합니다</a:t>
            </a:r>
            <a:r>
              <a:rPr lang="en-US" altLang="ko-KR" sz="1500" dirty="0" smtClean="0"/>
              <a:t>.</a:t>
            </a:r>
          </a:p>
          <a:p>
            <a:pPr marL="342900" indent="-342900">
              <a:lnSpc>
                <a:spcPct val="130000"/>
              </a:lnSpc>
              <a:buFont typeface="+mj-lt"/>
              <a:buAutoNum type="arabicPeriod"/>
            </a:pPr>
            <a:r>
              <a:rPr lang="en-US" altLang="ko-KR" dirty="0" smtClean="0"/>
              <a:t>Stakeholders &amp; Interests</a:t>
            </a:r>
          </a:p>
          <a:p>
            <a:pPr lvl="1">
              <a:lnSpc>
                <a:spcPct val="130000"/>
              </a:lnSpc>
            </a:pPr>
            <a:r>
              <a:rPr lang="ko-KR" altLang="en-US" sz="1500" dirty="0" smtClean="0"/>
              <a:t>이해 당사자는 개발하는 시스템의 기능 및 품질에 대해 변경 요청을 할 수 있는 존재들입니다</a:t>
            </a:r>
            <a:r>
              <a:rPr lang="en-US" altLang="ko-KR" sz="1500" dirty="0" smtClean="0"/>
              <a:t>. (</a:t>
            </a:r>
            <a:r>
              <a:rPr lang="ko-KR" altLang="en-US" sz="1500" dirty="0" smtClean="0"/>
              <a:t>개발</a:t>
            </a:r>
            <a:r>
              <a:rPr lang="en-US" altLang="ko-KR" sz="1500" dirty="0" smtClean="0"/>
              <a:t>, </a:t>
            </a:r>
            <a:r>
              <a:rPr lang="ko-KR" altLang="en-US" sz="1500" dirty="0" smtClean="0"/>
              <a:t>검증</a:t>
            </a:r>
            <a:r>
              <a:rPr lang="en-US" altLang="ko-KR" sz="1500" dirty="0" smtClean="0"/>
              <a:t>, </a:t>
            </a:r>
            <a:r>
              <a:rPr lang="ko-KR" altLang="en-US" sz="1500" dirty="0" smtClean="0"/>
              <a:t>마케팅 담당자</a:t>
            </a:r>
            <a:r>
              <a:rPr lang="en-US" altLang="ko-KR" sz="1500" dirty="0" smtClean="0"/>
              <a:t>, </a:t>
            </a:r>
            <a:r>
              <a:rPr lang="ko-KR" altLang="en-US" sz="1500" dirty="0" smtClean="0"/>
              <a:t>정부 기관</a:t>
            </a:r>
            <a:r>
              <a:rPr lang="en-US" altLang="ko-KR" sz="1500" dirty="0" smtClean="0"/>
              <a:t>, </a:t>
            </a:r>
            <a:r>
              <a:rPr lang="ko-KR" altLang="en-US" sz="1500" dirty="0" smtClean="0"/>
              <a:t>소비자</a:t>
            </a:r>
            <a:r>
              <a:rPr lang="en-US" altLang="ko-KR" sz="1500" dirty="0" smtClean="0"/>
              <a:t>, </a:t>
            </a:r>
            <a:r>
              <a:rPr lang="ko-KR" altLang="en-US" sz="1500" dirty="0" smtClean="0"/>
              <a:t>제조 팀장</a:t>
            </a:r>
            <a:r>
              <a:rPr lang="en-US" altLang="ko-KR" sz="1500" dirty="0" smtClean="0"/>
              <a:t>…..) </a:t>
            </a:r>
          </a:p>
          <a:p>
            <a:pPr lvl="1">
              <a:lnSpc>
                <a:spcPct val="130000"/>
              </a:lnSpc>
            </a:pPr>
            <a:r>
              <a:rPr lang="en-US" altLang="ko-KR" sz="1500" dirty="0" smtClean="0"/>
              <a:t>Use case</a:t>
            </a:r>
            <a:r>
              <a:rPr lang="ko-KR" altLang="en-US" sz="1500" dirty="0" smtClean="0"/>
              <a:t>의 이해 당사자가 빠진 사람이 없는지 확인해야 합니다</a:t>
            </a:r>
            <a:r>
              <a:rPr lang="en-US" altLang="ko-KR" sz="1500" dirty="0" smtClean="0"/>
              <a:t>. </a:t>
            </a:r>
            <a:r>
              <a:rPr lang="ko-KR" altLang="en-US" sz="1500" dirty="0" smtClean="0"/>
              <a:t>고려 하지 않은 이해 당사자는 개발 중 기능에 대한 추가 요구를 할 수 있고 이는 큰 </a:t>
            </a:r>
            <a:r>
              <a:rPr lang="en-US" altLang="ko-KR" sz="1500" dirty="0" smtClean="0"/>
              <a:t>Risk</a:t>
            </a:r>
            <a:r>
              <a:rPr lang="ko-KR" altLang="en-US" sz="1500" dirty="0" smtClean="0"/>
              <a:t>가 됩니다</a:t>
            </a:r>
            <a:r>
              <a:rPr lang="en-US" altLang="ko-KR" sz="1500" dirty="0" smtClean="0"/>
              <a:t>.</a:t>
            </a:r>
          </a:p>
          <a:p>
            <a:pPr lvl="1">
              <a:lnSpc>
                <a:spcPct val="130000"/>
              </a:lnSpc>
            </a:pPr>
            <a:r>
              <a:rPr lang="ko-KR" altLang="en-US" sz="1500" dirty="0" smtClean="0"/>
              <a:t> 이해 당사자가 이 기능을 통해 얻고자 하는 이익이나 관심사가 무엇인지 기술 합니다</a:t>
            </a:r>
            <a:r>
              <a:rPr lang="en-US" altLang="ko-KR" sz="1500" dirty="0" smtClean="0"/>
              <a:t>.</a:t>
            </a:r>
          </a:p>
          <a:p>
            <a:pPr marL="342900" indent="-342900">
              <a:lnSpc>
                <a:spcPct val="130000"/>
              </a:lnSpc>
              <a:buFont typeface="+mj-lt"/>
              <a:buAutoNum type="arabicPeriod"/>
            </a:pPr>
            <a:r>
              <a:rPr lang="en-US" altLang="ko-KR" dirty="0" smtClean="0"/>
              <a:t>Primary Actor</a:t>
            </a:r>
          </a:p>
          <a:p>
            <a:pPr marL="342900" indent="-342900">
              <a:lnSpc>
                <a:spcPct val="130000"/>
              </a:lnSpc>
              <a:buFont typeface="+mj-lt"/>
              <a:buAutoNum type="arabicPeriod"/>
            </a:pPr>
            <a:r>
              <a:rPr lang="en-US" altLang="ko-KR" dirty="0" smtClean="0"/>
              <a:t>Success End Condition</a:t>
            </a:r>
          </a:p>
          <a:p>
            <a:pPr marL="342900" indent="-342900">
              <a:lnSpc>
                <a:spcPct val="130000"/>
              </a:lnSpc>
              <a:buFont typeface="+mj-lt"/>
              <a:buAutoNum type="arabicPeriod"/>
            </a:pPr>
            <a:endParaRPr lang="ko-KR" altLang="en-US" dirty="0"/>
          </a:p>
        </p:txBody>
      </p:sp>
    </p:spTree>
    <p:extLst>
      <p:ext uri="{BB962C8B-B14F-4D97-AF65-F5344CB8AC3E}">
        <p14:creationId xmlns:p14="http://schemas.microsoft.com/office/powerpoint/2010/main" val="11065655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3339371" cy="424661"/>
          </a:xfrm>
        </p:spPr>
        <p:txBody>
          <a:bodyPr/>
          <a:lstStyle/>
          <a:p>
            <a:r>
              <a:rPr lang="en-US" altLang="ko-KR" dirty="0" smtClean="0"/>
              <a:t>Fully dressed-up </a:t>
            </a:r>
            <a:r>
              <a:rPr lang="ko-KR" altLang="en-US" dirty="0" smtClean="0"/>
              <a:t>예제</a:t>
            </a:r>
            <a:endParaRPr lang="ko-KR" altLang="en-US" dirty="0"/>
          </a:p>
        </p:txBody>
      </p:sp>
      <p:graphicFrame>
        <p:nvGraphicFramePr>
          <p:cNvPr id="5" name="표 4"/>
          <p:cNvGraphicFramePr>
            <a:graphicFrameLocks noGrp="1"/>
          </p:cNvGraphicFramePr>
          <p:nvPr>
            <p:extLst>
              <p:ext uri="{D42A27DB-BD31-4B8C-83A1-F6EECF244321}">
                <p14:modId xmlns:p14="http://schemas.microsoft.com/office/powerpoint/2010/main" val="2874062440"/>
              </p:ext>
            </p:extLst>
          </p:nvPr>
        </p:nvGraphicFramePr>
        <p:xfrm>
          <a:off x="6672064" y="692696"/>
          <a:ext cx="5184576" cy="4827067"/>
        </p:xfrm>
        <a:graphic>
          <a:graphicData uri="http://schemas.openxmlformats.org/drawingml/2006/table">
            <a:tbl>
              <a:tblPr>
                <a:tableStyleId>{5C22544A-7EE6-4342-B048-85BDC9FD1C3A}</a:tableStyleId>
              </a:tblPr>
              <a:tblGrid>
                <a:gridCol w="1296144">
                  <a:extLst>
                    <a:ext uri="{9D8B030D-6E8A-4147-A177-3AD203B41FA5}">
                      <a16:colId xmlns="" xmlns:a16="http://schemas.microsoft.com/office/drawing/2014/main" val="20000"/>
                    </a:ext>
                  </a:extLst>
                </a:gridCol>
                <a:gridCol w="3888432">
                  <a:extLst>
                    <a:ext uri="{9D8B030D-6E8A-4147-A177-3AD203B41FA5}">
                      <a16:colId xmlns="" xmlns:a16="http://schemas.microsoft.com/office/drawing/2014/main" val="20002"/>
                    </a:ext>
                  </a:extLst>
                </a:gridCol>
              </a:tblGrid>
              <a:tr h="261790">
                <a:tc>
                  <a:txBody>
                    <a:bodyPr/>
                    <a:lstStyle/>
                    <a:p>
                      <a:pPr algn="l" fontAlgn="ctr"/>
                      <a:r>
                        <a:rPr lang="en-US" sz="1300" b="1" u="none" strike="noStrike" dirty="0">
                          <a:solidFill>
                            <a:schemeClr val="bg1">
                              <a:lumMod val="65000"/>
                            </a:schemeClr>
                          </a:solidFill>
                          <a:effectLst/>
                        </a:rPr>
                        <a:t>Use Case</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가입 신청서 작성</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0"/>
                  </a:ext>
                </a:extLst>
              </a:tr>
              <a:tr h="261790">
                <a:tc>
                  <a:txBody>
                    <a:bodyPr/>
                    <a:lstStyle/>
                    <a:p>
                      <a:pPr algn="l" fontAlgn="ctr"/>
                      <a:r>
                        <a:rPr lang="en-US" sz="1300" b="1" u="none" strike="noStrike" dirty="0">
                          <a:solidFill>
                            <a:schemeClr val="bg1">
                              <a:lumMod val="65000"/>
                            </a:schemeClr>
                          </a:solidFill>
                          <a:effectLst/>
                        </a:rPr>
                        <a:t>Scope</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보험 시스템</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1"/>
                  </a:ext>
                </a:extLst>
              </a:tr>
              <a:tr h="261790">
                <a:tc>
                  <a:txBody>
                    <a:bodyPr/>
                    <a:lstStyle/>
                    <a:p>
                      <a:pPr algn="l" fontAlgn="ctr"/>
                      <a:r>
                        <a:rPr lang="en-US" sz="1300" b="1" u="none" strike="noStrike" dirty="0">
                          <a:solidFill>
                            <a:schemeClr val="bg1">
                              <a:lumMod val="65000"/>
                            </a:schemeClr>
                          </a:solidFill>
                          <a:effectLst/>
                        </a:rPr>
                        <a:t>Level</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사용자 목표</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2"/>
                  </a:ext>
                </a:extLst>
              </a:tr>
              <a:tr h="261790">
                <a:tc>
                  <a:txBody>
                    <a:bodyPr/>
                    <a:lstStyle/>
                    <a:p>
                      <a:pPr algn="l" fontAlgn="ctr"/>
                      <a:r>
                        <a:rPr lang="en-US" sz="1300" b="1" u="none" strike="noStrike" dirty="0">
                          <a:solidFill>
                            <a:schemeClr val="bg1">
                              <a:lumMod val="65000"/>
                            </a:schemeClr>
                          </a:solidFill>
                          <a:effectLst/>
                        </a:rPr>
                        <a:t>Primary Actor</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4"/>
                  </a:ext>
                </a:extLst>
              </a:tr>
              <a:tr h="637465">
                <a:tc>
                  <a:txBody>
                    <a:bodyPr/>
                    <a:lstStyle/>
                    <a:p>
                      <a:pPr algn="l" fontAlgn="ctr"/>
                      <a:r>
                        <a:rPr lang="en-US" sz="1300" b="1" u="none" strike="noStrike" dirty="0">
                          <a:solidFill>
                            <a:schemeClr val="bg1">
                              <a:lumMod val="65000"/>
                            </a:schemeClr>
                          </a:solidFill>
                          <a:effectLst/>
                        </a:rPr>
                        <a:t>Stakeholders </a:t>
                      </a:r>
                      <a:endParaRPr lang="en-US" sz="1300" b="1" u="none" strike="noStrike" dirty="0" smtClean="0">
                        <a:solidFill>
                          <a:schemeClr val="bg1">
                            <a:lumMod val="65000"/>
                          </a:schemeClr>
                        </a:solidFill>
                        <a:effectLst/>
                      </a:endParaRPr>
                    </a:p>
                    <a:p>
                      <a:pPr algn="l" fontAlgn="ctr"/>
                      <a:r>
                        <a:rPr lang="en-US" sz="1300" b="1" u="none" strike="noStrike" dirty="0" smtClean="0">
                          <a:solidFill>
                            <a:schemeClr val="bg1">
                              <a:lumMod val="65000"/>
                            </a:schemeClr>
                          </a:solidFill>
                          <a:effectLst/>
                        </a:rPr>
                        <a:t>&amp; </a:t>
                      </a:r>
                      <a:r>
                        <a:rPr lang="en-US" sz="1300" b="1" u="none" strike="noStrike" dirty="0">
                          <a:solidFill>
                            <a:schemeClr val="bg1">
                              <a:lumMod val="65000"/>
                            </a:schemeClr>
                          </a:solidFill>
                          <a:effectLst/>
                        </a:rPr>
                        <a:t>Interests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a:t>
                      </a:r>
                      <a:r>
                        <a:rPr lang="en-US" altLang="ko-KR" sz="1300" u="none" strike="noStrike" dirty="0">
                          <a:solidFill>
                            <a:schemeClr val="bg1">
                              <a:lumMod val="65000"/>
                            </a:schemeClr>
                          </a:solidFill>
                          <a:effectLst/>
                        </a:rPr>
                        <a:t>:</a:t>
                      </a:r>
                      <a:r>
                        <a:rPr lang="ko-KR" altLang="en-US" sz="1300" u="none" strike="noStrike" dirty="0">
                          <a:solidFill>
                            <a:schemeClr val="bg1">
                              <a:lumMod val="65000"/>
                            </a:schemeClr>
                          </a:solidFill>
                          <a:effectLst/>
                        </a:rPr>
                        <a:t> 필요한 필드가 </a:t>
                      </a:r>
                      <a:r>
                        <a:rPr lang="ko-KR" altLang="en-US" sz="1300" u="none" strike="noStrike" dirty="0" smtClean="0">
                          <a:solidFill>
                            <a:schemeClr val="bg1">
                              <a:lumMod val="65000"/>
                            </a:schemeClr>
                          </a:solidFill>
                          <a:effectLst/>
                        </a:rPr>
                        <a:t>명확하고 </a:t>
                      </a:r>
                      <a:r>
                        <a:rPr lang="ko-KR" altLang="en-US" sz="1300" u="none" strike="noStrike" dirty="0">
                          <a:solidFill>
                            <a:schemeClr val="bg1">
                              <a:lumMod val="65000"/>
                            </a:schemeClr>
                          </a:solidFill>
                          <a:effectLst/>
                        </a:rPr>
                        <a:t>간단한 양식을 원함</a:t>
                      </a:r>
                      <a:br>
                        <a:rPr lang="ko-KR" altLang="en-US" sz="1300" u="none" strike="noStrike" dirty="0">
                          <a:solidFill>
                            <a:schemeClr val="bg1">
                              <a:lumMod val="65000"/>
                            </a:schemeClr>
                          </a:solidFill>
                          <a:effectLst/>
                        </a:rPr>
                      </a:br>
                      <a:r>
                        <a:rPr lang="ko-KR" altLang="en-US" sz="1300" u="none" strike="noStrike" dirty="0">
                          <a:solidFill>
                            <a:schemeClr val="bg1">
                              <a:lumMod val="65000"/>
                            </a:schemeClr>
                          </a:solidFill>
                          <a:effectLst/>
                        </a:rPr>
                        <a:t>보험사</a:t>
                      </a:r>
                      <a:r>
                        <a:rPr lang="en-US" altLang="ko-KR" sz="1300" u="none" strike="noStrike" dirty="0">
                          <a:solidFill>
                            <a:schemeClr val="bg1">
                              <a:lumMod val="65000"/>
                            </a:schemeClr>
                          </a:solidFill>
                          <a:effectLst/>
                        </a:rPr>
                        <a:t>:</a:t>
                      </a:r>
                      <a:r>
                        <a:rPr lang="ko-KR" altLang="en-US" sz="1300" u="none" strike="noStrike" dirty="0">
                          <a:solidFill>
                            <a:schemeClr val="bg1">
                              <a:lumMod val="65000"/>
                            </a:schemeClr>
                          </a:solidFill>
                          <a:effectLst/>
                        </a:rPr>
                        <a:t> 정책을 위해 정확하고 완전한</a:t>
                      </a:r>
                      <a:r>
                        <a:rPr lang="ko-KR" altLang="en-US" sz="1300" u="none" strike="noStrike" dirty="0" smtClean="0">
                          <a:solidFill>
                            <a:schemeClr val="bg1">
                              <a:lumMod val="65000"/>
                            </a:schemeClr>
                          </a:solidFill>
                          <a:effectLst/>
                        </a:rPr>
                        <a:t> </a:t>
                      </a:r>
                      <a:r>
                        <a:rPr lang="ko-KR" altLang="en-US" sz="1300" u="none" strike="noStrike" dirty="0">
                          <a:solidFill>
                            <a:schemeClr val="bg1">
                              <a:lumMod val="65000"/>
                            </a:schemeClr>
                          </a:solidFill>
                          <a:effectLst/>
                        </a:rPr>
                        <a:t>데이터를 필요로 함</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5"/>
                  </a:ext>
                </a:extLst>
              </a:tr>
              <a:tr h="471385">
                <a:tc>
                  <a:txBody>
                    <a:bodyPr/>
                    <a:lstStyle/>
                    <a:p>
                      <a:pPr algn="l" fontAlgn="ctr"/>
                      <a:r>
                        <a:rPr lang="en-US" sz="1300" b="1" u="none" strike="noStrike" dirty="0">
                          <a:solidFill>
                            <a:schemeClr val="bg1">
                              <a:lumMod val="65000"/>
                            </a:schemeClr>
                          </a:solidFill>
                          <a:effectLst/>
                        </a:rPr>
                        <a:t>Success </a:t>
                      </a:r>
                      <a:endParaRPr lang="en-US" sz="1300" b="1" u="none" strike="noStrike" dirty="0" smtClean="0">
                        <a:solidFill>
                          <a:schemeClr val="bg1">
                            <a:lumMod val="65000"/>
                          </a:schemeClr>
                        </a:solidFill>
                        <a:effectLst/>
                      </a:endParaRPr>
                    </a:p>
                    <a:p>
                      <a:pPr algn="l" fontAlgn="ctr"/>
                      <a:r>
                        <a:rPr lang="en-US" sz="1300" b="1" u="none" strike="noStrike" dirty="0" smtClean="0">
                          <a:solidFill>
                            <a:schemeClr val="bg1">
                              <a:lumMod val="65000"/>
                            </a:schemeClr>
                          </a:solidFill>
                          <a:effectLst/>
                        </a:rPr>
                        <a:t>End </a:t>
                      </a:r>
                      <a:r>
                        <a:rPr lang="en-US" sz="1300" b="1" u="none" strike="noStrike" dirty="0">
                          <a:solidFill>
                            <a:schemeClr val="bg1">
                              <a:lumMod val="65000"/>
                            </a:schemeClr>
                          </a:solidFill>
                          <a:effectLst/>
                        </a:rPr>
                        <a:t>Condition</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가입 신청서가 완료되어 제출 준비가 됨</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6"/>
                  </a:ext>
                </a:extLst>
              </a:tr>
              <a:tr h="261790">
                <a:tc>
                  <a:txBody>
                    <a:bodyPr/>
                    <a:lstStyle/>
                    <a:p>
                      <a:pPr algn="l" fontAlgn="ctr"/>
                      <a:r>
                        <a:rPr lang="en-US" sz="1300" b="1" u="none" strike="noStrike" dirty="0">
                          <a:solidFill>
                            <a:schemeClr val="accent2">
                              <a:lumMod val="75000"/>
                            </a:schemeClr>
                          </a:solidFill>
                          <a:effectLst/>
                        </a:rPr>
                        <a:t>Preconditions</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accent2">
                              <a:lumMod val="75000"/>
                            </a:schemeClr>
                          </a:solidFill>
                          <a:effectLst/>
                        </a:rPr>
                        <a:t>고객이 보험 상품을 선택하고 신청서 작성을 시작할 준비가 됨</a:t>
                      </a:r>
                      <a:endParaRPr lang="ko-KR" altLang="en-US"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8"/>
                  </a:ext>
                </a:extLst>
              </a:tr>
              <a:tr h="1200977">
                <a:tc>
                  <a:txBody>
                    <a:bodyPr/>
                    <a:lstStyle/>
                    <a:p>
                      <a:pPr algn="l" fontAlgn="ctr"/>
                      <a:r>
                        <a:rPr lang="en-US" sz="1300" b="1" u="none" strike="noStrike" dirty="0">
                          <a:solidFill>
                            <a:schemeClr val="accent2">
                              <a:lumMod val="75000"/>
                            </a:schemeClr>
                          </a:solidFill>
                          <a:effectLst/>
                        </a:rPr>
                        <a:t>Main Success </a:t>
                      </a:r>
                      <a:endParaRPr lang="en-US" sz="1300" b="1" u="none" strike="noStrike" dirty="0" smtClean="0">
                        <a:solidFill>
                          <a:schemeClr val="accent2">
                            <a:lumMod val="75000"/>
                          </a:schemeClr>
                        </a:solidFill>
                        <a:effectLst/>
                      </a:endParaRPr>
                    </a:p>
                    <a:p>
                      <a:pPr algn="l" fontAlgn="ctr"/>
                      <a:r>
                        <a:rPr lang="en-US" sz="1300" b="1" u="none" strike="noStrike" dirty="0" smtClean="0">
                          <a:solidFill>
                            <a:schemeClr val="accent2">
                              <a:lumMod val="75000"/>
                            </a:schemeClr>
                          </a:solidFill>
                          <a:effectLst/>
                        </a:rPr>
                        <a:t>Scenario</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en-US" altLang="ko-KR" sz="1300" u="none" strike="noStrike" dirty="0">
                          <a:solidFill>
                            <a:schemeClr val="accent2">
                              <a:lumMod val="75000"/>
                            </a:schemeClr>
                          </a:solidFill>
                          <a:effectLst/>
                        </a:rPr>
                        <a:t>1. </a:t>
                      </a:r>
                      <a:r>
                        <a:rPr lang="ko-KR" altLang="en-US" sz="1300" u="none" strike="noStrike" dirty="0">
                          <a:solidFill>
                            <a:schemeClr val="accent2">
                              <a:lumMod val="75000"/>
                            </a:schemeClr>
                          </a:solidFill>
                          <a:effectLst/>
                        </a:rPr>
                        <a:t>고객이 가입 신청 페이지를 연다 </a:t>
                      </a:r>
                      <a:br>
                        <a:rPr lang="ko-KR" altLang="en-US" sz="1300" u="none" strike="noStrike" dirty="0">
                          <a:solidFill>
                            <a:schemeClr val="accent2">
                              <a:lumMod val="75000"/>
                            </a:schemeClr>
                          </a:solidFill>
                          <a:effectLst/>
                        </a:rPr>
                      </a:br>
                      <a:r>
                        <a:rPr lang="en-US" altLang="ko-KR" sz="1300" u="none" strike="noStrike" dirty="0">
                          <a:solidFill>
                            <a:schemeClr val="accent2">
                              <a:lumMod val="75000"/>
                            </a:schemeClr>
                          </a:solidFill>
                          <a:effectLst/>
                        </a:rPr>
                        <a:t>2. </a:t>
                      </a:r>
                      <a:r>
                        <a:rPr lang="ko-KR" altLang="en-US" sz="1300" u="none" strike="noStrike" dirty="0">
                          <a:solidFill>
                            <a:schemeClr val="accent2">
                              <a:lumMod val="75000"/>
                            </a:schemeClr>
                          </a:solidFill>
                          <a:effectLst/>
                        </a:rPr>
                        <a:t>고객이 개인정보를 입력한다</a:t>
                      </a:r>
                      <a:r>
                        <a:rPr lang="en-US" altLang="ko-KR" sz="1300" u="none" strike="noStrike" dirty="0">
                          <a:solidFill>
                            <a:schemeClr val="accent2">
                              <a:lumMod val="75000"/>
                            </a:schemeClr>
                          </a:solidFill>
                          <a:effectLst/>
                        </a:rPr>
                        <a:t>.</a:t>
                      </a:r>
                      <a:br>
                        <a:rPr lang="en-US" altLang="ko-KR" sz="1300" u="none" strike="noStrike" dirty="0">
                          <a:solidFill>
                            <a:schemeClr val="accent2">
                              <a:lumMod val="75000"/>
                            </a:schemeClr>
                          </a:solidFill>
                          <a:effectLst/>
                        </a:rPr>
                      </a:br>
                      <a:r>
                        <a:rPr lang="en-US" altLang="ko-KR" sz="1300" u="none" strike="noStrike" dirty="0">
                          <a:solidFill>
                            <a:schemeClr val="accent2">
                              <a:lumMod val="75000"/>
                            </a:schemeClr>
                          </a:solidFill>
                          <a:effectLst/>
                        </a:rPr>
                        <a:t>3. </a:t>
                      </a:r>
                      <a:r>
                        <a:rPr lang="ko-KR" altLang="en-US" sz="1300" u="none" strike="noStrike" dirty="0" smtClean="0">
                          <a:solidFill>
                            <a:schemeClr val="accent2">
                              <a:lumMod val="75000"/>
                            </a:schemeClr>
                          </a:solidFill>
                          <a:effectLst/>
                        </a:rPr>
                        <a:t>시스템은 데이터 검증</a:t>
                      </a:r>
                      <a:r>
                        <a:rPr lang="en-US" altLang="ko-KR" sz="1300" u="none" strike="noStrike" dirty="0" smtClean="0">
                          <a:solidFill>
                            <a:schemeClr val="accent2">
                              <a:lumMod val="75000"/>
                            </a:schemeClr>
                          </a:solidFill>
                          <a:effectLst/>
                        </a:rPr>
                        <a:t> </a:t>
                      </a:r>
                      <a:r>
                        <a:rPr lang="ko-KR" altLang="en-US" sz="1300" u="none" strike="noStrike" dirty="0" smtClean="0">
                          <a:solidFill>
                            <a:schemeClr val="accent2">
                              <a:lumMod val="75000"/>
                            </a:schemeClr>
                          </a:solidFill>
                          <a:effectLst/>
                        </a:rPr>
                        <a:t>결과를 반환 한다</a:t>
                      </a:r>
                      <a:r>
                        <a:rPr lang="en-US" altLang="ko-KR" sz="1300" u="none" strike="noStrike" dirty="0" smtClean="0">
                          <a:solidFill>
                            <a:schemeClr val="accent2">
                              <a:lumMod val="75000"/>
                            </a:schemeClr>
                          </a:solidFill>
                          <a:effectLst/>
                        </a:rPr>
                        <a:t> </a:t>
                      </a:r>
                      <a:r>
                        <a:rPr lang="en-US" altLang="ko-KR" sz="1300" u="none" strike="noStrike" dirty="0">
                          <a:solidFill>
                            <a:schemeClr val="accent2">
                              <a:lumMod val="75000"/>
                            </a:schemeClr>
                          </a:solidFill>
                          <a:effectLst/>
                        </a:rPr>
                        <a:t/>
                      </a:r>
                      <a:br>
                        <a:rPr lang="en-US" altLang="ko-KR" sz="1300" u="none" strike="noStrike" dirty="0">
                          <a:solidFill>
                            <a:schemeClr val="accent2">
                              <a:lumMod val="75000"/>
                            </a:schemeClr>
                          </a:solidFill>
                          <a:effectLst/>
                        </a:rPr>
                      </a:br>
                      <a:r>
                        <a:rPr lang="en-US" altLang="ko-KR" sz="1300" u="none" strike="noStrike" dirty="0">
                          <a:solidFill>
                            <a:schemeClr val="accent2">
                              <a:lumMod val="75000"/>
                            </a:schemeClr>
                          </a:solidFill>
                          <a:effectLst/>
                        </a:rPr>
                        <a:t>4. </a:t>
                      </a:r>
                      <a:r>
                        <a:rPr lang="ko-KR" altLang="en-US" sz="1300" u="none" strike="noStrike" dirty="0">
                          <a:solidFill>
                            <a:schemeClr val="accent2">
                              <a:lumMod val="75000"/>
                            </a:schemeClr>
                          </a:solidFill>
                          <a:effectLst/>
                        </a:rPr>
                        <a:t>고객이 신청서 작성을 완료한다</a:t>
                      </a:r>
                      <a:r>
                        <a:rPr lang="en-US" altLang="ko-KR" sz="1300" u="none" strike="noStrike" dirty="0">
                          <a:solidFill>
                            <a:schemeClr val="accent2">
                              <a:lumMod val="75000"/>
                            </a:schemeClr>
                          </a:solidFill>
                          <a:effectLst/>
                        </a:rPr>
                        <a:t>.</a:t>
                      </a:r>
                      <a:endParaRPr lang="en-US" altLang="ko-KR"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0"/>
                  </a:ext>
                </a:extLst>
              </a:tr>
              <a:tr h="471385">
                <a:tc>
                  <a:txBody>
                    <a:bodyPr/>
                    <a:lstStyle/>
                    <a:p>
                      <a:pPr algn="l" fontAlgn="ctr"/>
                      <a:r>
                        <a:rPr lang="en-US" sz="1300" b="1" u="none" strike="noStrike" dirty="0">
                          <a:solidFill>
                            <a:schemeClr val="bg1">
                              <a:lumMod val="65000"/>
                            </a:schemeClr>
                          </a:solidFill>
                          <a:effectLst/>
                        </a:rPr>
                        <a:t>Extensions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en-US" altLang="ko-KR" sz="1300" u="none" strike="noStrike" dirty="0">
                          <a:solidFill>
                            <a:schemeClr val="bg1">
                              <a:lumMod val="65000"/>
                            </a:schemeClr>
                          </a:solidFill>
                          <a:effectLst/>
                        </a:rPr>
                        <a:t>[</a:t>
                      </a:r>
                      <a:r>
                        <a:rPr lang="ko-KR" altLang="en-US" sz="1300" u="none" strike="noStrike" dirty="0">
                          <a:solidFill>
                            <a:schemeClr val="bg1">
                              <a:lumMod val="65000"/>
                            </a:schemeClr>
                          </a:solidFill>
                          <a:effectLst/>
                        </a:rPr>
                        <a:t>고객이 입력한 정보에 오류가 있을 경우</a:t>
                      </a:r>
                      <a:r>
                        <a:rPr lang="en-US" altLang="ko-KR" sz="1300" u="none" strike="noStrike" dirty="0">
                          <a:solidFill>
                            <a:schemeClr val="bg1">
                              <a:lumMod val="65000"/>
                            </a:schemeClr>
                          </a:solidFill>
                          <a:effectLst/>
                        </a:rPr>
                        <a:t>]</a:t>
                      </a:r>
                      <a:br>
                        <a:rPr lang="en-US" altLang="ko-KR" sz="1300" u="none" strike="noStrike" dirty="0">
                          <a:solidFill>
                            <a:schemeClr val="bg1">
                              <a:lumMod val="65000"/>
                            </a:schemeClr>
                          </a:solidFill>
                          <a:effectLst/>
                        </a:rPr>
                      </a:br>
                      <a:r>
                        <a:rPr lang="en-US" altLang="ko-KR" sz="1300" u="none" strike="noStrike" dirty="0">
                          <a:solidFill>
                            <a:schemeClr val="bg1">
                              <a:lumMod val="65000"/>
                            </a:schemeClr>
                          </a:solidFill>
                          <a:effectLst/>
                        </a:rPr>
                        <a:t>3a. </a:t>
                      </a:r>
                      <a:r>
                        <a:rPr lang="ko-KR" altLang="en-US" sz="1300" u="none" strike="noStrike" dirty="0">
                          <a:solidFill>
                            <a:schemeClr val="bg1">
                              <a:lumMod val="65000"/>
                            </a:schemeClr>
                          </a:solidFill>
                          <a:effectLst/>
                        </a:rPr>
                        <a:t>오류가 있는 </a:t>
                      </a:r>
                      <a:r>
                        <a:rPr lang="ko-KR" altLang="en-US" sz="1300" u="none" strike="noStrike" dirty="0" err="1">
                          <a:solidFill>
                            <a:schemeClr val="bg1">
                              <a:lumMod val="65000"/>
                            </a:schemeClr>
                          </a:solidFill>
                          <a:effectLst/>
                        </a:rPr>
                        <a:t>입력값의</a:t>
                      </a:r>
                      <a:r>
                        <a:rPr lang="ko-KR" altLang="en-US" sz="1300" u="none" strike="noStrike" dirty="0">
                          <a:solidFill>
                            <a:schemeClr val="bg1">
                              <a:lumMod val="65000"/>
                            </a:schemeClr>
                          </a:solidFill>
                          <a:effectLst/>
                        </a:rPr>
                        <a:t> 오류 내용을 표시한다</a:t>
                      </a:r>
                      <a:r>
                        <a:rPr lang="en-US" altLang="ko-KR" sz="1300" u="none" strike="noStrike" dirty="0">
                          <a:solidFill>
                            <a:schemeClr val="bg1">
                              <a:lumMod val="65000"/>
                            </a:schemeClr>
                          </a:solidFill>
                          <a:effectLst/>
                        </a:rPr>
                        <a:t>.</a:t>
                      </a:r>
                      <a:endParaRPr lang="en-US" altLang="ko-KR"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1"/>
                  </a:ext>
                </a:extLst>
              </a:tr>
              <a:tr h="449627">
                <a:tc>
                  <a:txBody>
                    <a:bodyPr/>
                    <a:lstStyle/>
                    <a:p>
                      <a:pPr algn="l" fontAlgn="ctr"/>
                      <a:r>
                        <a:rPr lang="en-US" sz="1300" b="1" u="none" strike="noStrike" dirty="0">
                          <a:solidFill>
                            <a:schemeClr val="bg1">
                              <a:lumMod val="65000"/>
                            </a:schemeClr>
                          </a:solidFill>
                          <a:effectLst/>
                        </a:rPr>
                        <a:t>Open Issues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고객이 신청서 작성 중 추가 정보나 문서를 필요로 할 경우 어떻게 대처할 것인가</a:t>
                      </a:r>
                      <a:r>
                        <a:rPr lang="en-US" altLang="ko-KR" sz="1300" u="none" strike="noStrike" dirty="0">
                          <a:solidFill>
                            <a:schemeClr val="bg1">
                              <a:lumMod val="65000"/>
                            </a:schemeClr>
                          </a:solidFill>
                          <a:effectLst/>
                        </a:rPr>
                        <a:t>?</a:t>
                      </a:r>
                      <a:endParaRPr lang="en-US" altLang="ko-KR"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3"/>
                  </a:ext>
                </a:extLst>
              </a:tr>
            </a:tbl>
          </a:graphicData>
        </a:graphic>
      </p:graphicFrame>
      <p:sp>
        <p:nvSpPr>
          <p:cNvPr id="6" name="텍스트 개체 틀 1"/>
          <p:cNvSpPr>
            <a:spLocks noGrp="1"/>
          </p:cNvSpPr>
          <p:nvPr>
            <p:ph type="body" sz="quarter" idx="10"/>
          </p:nvPr>
        </p:nvSpPr>
        <p:spPr>
          <a:xfrm>
            <a:off x="420044" y="692696"/>
            <a:ext cx="5963988" cy="4710520"/>
          </a:xfrm>
        </p:spPr>
        <p:txBody>
          <a:bodyPr wrap="square">
            <a:spAutoFit/>
          </a:bodyPr>
          <a:lstStyle/>
          <a:p>
            <a:pPr marL="342900" indent="-342900">
              <a:lnSpc>
                <a:spcPct val="130000"/>
              </a:lnSpc>
              <a:buFont typeface="+mj-lt"/>
              <a:buAutoNum type="arabicPeriod" startAt="5"/>
            </a:pPr>
            <a:r>
              <a:rPr lang="en-US" altLang="ko-KR" dirty="0" smtClean="0"/>
              <a:t>Preconditions</a:t>
            </a:r>
          </a:p>
          <a:p>
            <a:pPr lvl="1">
              <a:lnSpc>
                <a:spcPct val="130000"/>
              </a:lnSpc>
            </a:pPr>
            <a:r>
              <a:rPr lang="ko-KR" altLang="en-US" sz="1500" dirty="0" smtClean="0"/>
              <a:t>시나리오 </a:t>
            </a:r>
            <a:r>
              <a:rPr lang="ko-KR" altLang="en-US" sz="1500" dirty="0" err="1" smtClean="0"/>
              <a:t>수행전</a:t>
            </a:r>
            <a:r>
              <a:rPr lang="ko-KR" altLang="en-US" sz="1500" dirty="0" smtClean="0"/>
              <a:t> 참으로 가정하는 조건을 명시합니다</a:t>
            </a:r>
            <a:r>
              <a:rPr lang="en-US" altLang="ko-KR" sz="1500" dirty="0" smtClean="0"/>
              <a:t>.</a:t>
            </a:r>
          </a:p>
          <a:p>
            <a:pPr lvl="1">
              <a:lnSpc>
                <a:spcPct val="130000"/>
              </a:lnSpc>
            </a:pPr>
            <a:r>
              <a:rPr lang="en-US" altLang="ko-KR" sz="1500" dirty="0" smtClean="0"/>
              <a:t>Precondition</a:t>
            </a:r>
            <a:r>
              <a:rPr lang="ko-KR" altLang="en-US" sz="1500" dirty="0" smtClean="0"/>
              <a:t>은 일반적으로 다른 </a:t>
            </a:r>
            <a:r>
              <a:rPr lang="en-US" altLang="ko-KR" sz="1500" dirty="0" err="1" smtClean="0"/>
              <a:t>usecase</a:t>
            </a:r>
            <a:r>
              <a:rPr lang="ko-KR" altLang="en-US" sz="1500" dirty="0" smtClean="0"/>
              <a:t>에 의해 그 조건이 만족된 상태를 기술합니다</a:t>
            </a:r>
            <a:r>
              <a:rPr lang="en-US" altLang="ko-KR" sz="1500" dirty="0" smtClean="0"/>
              <a:t>. Log in use case</a:t>
            </a:r>
            <a:r>
              <a:rPr lang="ko-KR" altLang="en-US" sz="1500" dirty="0" smtClean="0"/>
              <a:t>를 수행하여 </a:t>
            </a:r>
            <a:r>
              <a:rPr lang="en-US" altLang="ko-KR" sz="1500" dirty="0" smtClean="0"/>
              <a:t>Success end condition</a:t>
            </a:r>
            <a:r>
              <a:rPr lang="ko-KR" altLang="en-US" sz="1500" dirty="0" smtClean="0"/>
              <a:t>을 만족한 상태가 예가 될 수 있습니다</a:t>
            </a:r>
            <a:r>
              <a:rPr lang="en-US" altLang="ko-KR" sz="1500" dirty="0" smtClean="0"/>
              <a:t>. </a:t>
            </a:r>
          </a:p>
          <a:p>
            <a:pPr marL="342900" indent="-342900">
              <a:lnSpc>
                <a:spcPct val="130000"/>
              </a:lnSpc>
              <a:buFont typeface="+mj-lt"/>
              <a:buAutoNum type="arabicPeriod" startAt="5"/>
            </a:pPr>
            <a:r>
              <a:rPr lang="en-US" altLang="ko-KR" dirty="0" smtClean="0"/>
              <a:t>Main Success Scenario</a:t>
            </a:r>
          </a:p>
          <a:p>
            <a:pPr lvl="1">
              <a:lnSpc>
                <a:spcPct val="130000"/>
              </a:lnSpc>
            </a:pPr>
            <a:r>
              <a:rPr lang="ko-KR" altLang="en-US" sz="1500" dirty="0" smtClean="0"/>
              <a:t>어떠한 예외도 일어나지 않으며 </a:t>
            </a:r>
            <a:r>
              <a:rPr lang="en-US" altLang="ko-KR" sz="1500" dirty="0" smtClean="0"/>
              <a:t>Happy</a:t>
            </a:r>
            <a:r>
              <a:rPr lang="ko-KR" altLang="en-US" sz="1500" dirty="0" smtClean="0"/>
              <a:t>한 상황을 가정합니다</a:t>
            </a:r>
            <a:r>
              <a:rPr lang="en-US" altLang="ko-KR" sz="1500" dirty="0" smtClean="0"/>
              <a:t>.</a:t>
            </a:r>
          </a:p>
          <a:p>
            <a:pPr lvl="1">
              <a:lnSpc>
                <a:spcPct val="130000"/>
              </a:lnSpc>
            </a:pPr>
            <a:r>
              <a:rPr lang="en-US" altLang="ko-KR" sz="1500" dirty="0" smtClean="0"/>
              <a:t>Actor</a:t>
            </a:r>
            <a:r>
              <a:rPr lang="ko-KR" altLang="en-US" sz="1500" dirty="0" smtClean="0"/>
              <a:t>가 목표를 달성하기 위해 단계별로 나아가야 합니다</a:t>
            </a:r>
            <a:r>
              <a:rPr lang="en-US" altLang="ko-KR" sz="1500" dirty="0" smtClean="0"/>
              <a:t>.</a:t>
            </a:r>
          </a:p>
          <a:p>
            <a:pPr lvl="1">
              <a:lnSpc>
                <a:spcPct val="130000"/>
              </a:lnSpc>
            </a:pPr>
            <a:r>
              <a:rPr lang="ko-KR" altLang="en-US" sz="1500" dirty="0" smtClean="0"/>
              <a:t>시나리오는 적절한 추상화 레벨을 고민하여 </a:t>
            </a:r>
            <a:r>
              <a:rPr lang="en-US" altLang="ko-KR" sz="1500" dirty="0" smtClean="0"/>
              <a:t>(3)~9 </a:t>
            </a:r>
            <a:r>
              <a:rPr lang="ko-KR" altLang="en-US" sz="1500" dirty="0" smtClean="0"/>
              <a:t>단계 내외로 작성해 주세요</a:t>
            </a:r>
            <a:r>
              <a:rPr lang="en-US" altLang="ko-KR" sz="1500" dirty="0" smtClean="0"/>
              <a:t>.</a:t>
            </a:r>
          </a:p>
          <a:p>
            <a:pPr lvl="1">
              <a:lnSpc>
                <a:spcPct val="130000"/>
              </a:lnSpc>
            </a:pPr>
            <a:r>
              <a:rPr lang="ko-KR" altLang="en-US" sz="1500" dirty="0" smtClean="0"/>
              <a:t>시나리오는 연극 대본처럼 대화를 주고 받으며 </a:t>
            </a:r>
            <a:r>
              <a:rPr lang="ko-KR" altLang="en-US" sz="1500" dirty="0" err="1" smtClean="0"/>
              <a:t>액터와</a:t>
            </a:r>
            <a:r>
              <a:rPr lang="ko-KR" altLang="en-US" sz="1500" dirty="0" smtClean="0"/>
              <a:t> 시스템간의 행위를 기술합니다</a:t>
            </a:r>
            <a:r>
              <a:rPr lang="en-US" altLang="ko-KR" sz="1500" dirty="0" smtClean="0"/>
              <a:t>.</a:t>
            </a:r>
          </a:p>
          <a:p>
            <a:pPr lvl="1">
              <a:lnSpc>
                <a:spcPct val="130000"/>
              </a:lnSpc>
            </a:pPr>
            <a:r>
              <a:rPr lang="en-US" altLang="ko-KR" dirty="0" smtClean="0"/>
              <a:t>GUI</a:t>
            </a:r>
            <a:r>
              <a:rPr lang="ko-KR" altLang="en-US" dirty="0" smtClean="0"/>
              <a:t>나 </a:t>
            </a:r>
            <a:r>
              <a:rPr lang="en-US" altLang="ko-KR" dirty="0" smtClean="0"/>
              <a:t>UX</a:t>
            </a:r>
            <a:r>
              <a:rPr lang="ko-KR" altLang="en-US" dirty="0" smtClean="0"/>
              <a:t>에 대한 것을 기술하지 않도록 합니다</a:t>
            </a:r>
            <a:r>
              <a:rPr lang="en-US" altLang="ko-KR" dirty="0" smtClean="0"/>
              <a:t>.</a:t>
            </a:r>
            <a:endParaRPr lang="ko-KR" altLang="en-US" dirty="0"/>
          </a:p>
        </p:txBody>
      </p:sp>
    </p:spTree>
    <p:extLst>
      <p:ext uri="{BB962C8B-B14F-4D97-AF65-F5344CB8AC3E}">
        <p14:creationId xmlns:p14="http://schemas.microsoft.com/office/powerpoint/2010/main" val="23929401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3339371" cy="424661"/>
          </a:xfrm>
        </p:spPr>
        <p:txBody>
          <a:bodyPr/>
          <a:lstStyle/>
          <a:p>
            <a:r>
              <a:rPr lang="en-US" altLang="ko-KR" dirty="0" smtClean="0"/>
              <a:t>Fully dressed-up </a:t>
            </a:r>
            <a:r>
              <a:rPr lang="ko-KR" altLang="en-US" dirty="0" smtClean="0"/>
              <a:t>예제</a:t>
            </a:r>
            <a:endParaRPr lang="ko-KR" altLang="en-US" dirty="0"/>
          </a:p>
        </p:txBody>
      </p:sp>
      <p:graphicFrame>
        <p:nvGraphicFramePr>
          <p:cNvPr id="5" name="표 4"/>
          <p:cNvGraphicFramePr>
            <a:graphicFrameLocks noGrp="1"/>
          </p:cNvGraphicFramePr>
          <p:nvPr>
            <p:extLst>
              <p:ext uri="{D42A27DB-BD31-4B8C-83A1-F6EECF244321}">
                <p14:modId xmlns:p14="http://schemas.microsoft.com/office/powerpoint/2010/main" val="650814964"/>
              </p:ext>
            </p:extLst>
          </p:nvPr>
        </p:nvGraphicFramePr>
        <p:xfrm>
          <a:off x="6672064" y="692696"/>
          <a:ext cx="5184576" cy="5025187"/>
        </p:xfrm>
        <a:graphic>
          <a:graphicData uri="http://schemas.openxmlformats.org/drawingml/2006/table">
            <a:tbl>
              <a:tblPr>
                <a:tableStyleId>{5C22544A-7EE6-4342-B048-85BDC9FD1C3A}</a:tableStyleId>
              </a:tblPr>
              <a:tblGrid>
                <a:gridCol w="1296144">
                  <a:extLst>
                    <a:ext uri="{9D8B030D-6E8A-4147-A177-3AD203B41FA5}">
                      <a16:colId xmlns="" xmlns:a16="http://schemas.microsoft.com/office/drawing/2014/main" val="20000"/>
                    </a:ext>
                  </a:extLst>
                </a:gridCol>
                <a:gridCol w="3888432">
                  <a:extLst>
                    <a:ext uri="{9D8B030D-6E8A-4147-A177-3AD203B41FA5}">
                      <a16:colId xmlns="" xmlns:a16="http://schemas.microsoft.com/office/drawing/2014/main" val="20002"/>
                    </a:ext>
                  </a:extLst>
                </a:gridCol>
              </a:tblGrid>
              <a:tr h="261790">
                <a:tc>
                  <a:txBody>
                    <a:bodyPr/>
                    <a:lstStyle/>
                    <a:p>
                      <a:pPr algn="l" fontAlgn="ctr"/>
                      <a:r>
                        <a:rPr lang="en-US" sz="1300" b="1" u="none" strike="noStrike" dirty="0">
                          <a:solidFill>
                            <a:schemeClr val="bg1">
                              <a:lumMod val="65000"/>
                            </a:schemeClr>
                          </a:solidFill>
                          <a:effectLst/>
                        </a:rPr>
                        <a:t>Use Case</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가입 신청서 작성</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0"/>
                  </a:ext>
                </a:extLst>
              </a:tr>
              <a:tr h="261790">
                <a:tc>
                  <a:txBody>
                    <a:bodyPr/>
                    <a:lstStyle/>
                    <a:p>
                      <a:pPr algn="l" fontAlgn="ctr"/>
                      <a:r>
                        <a:rPr lang="en-US" sz="1300" b="1" u="none" strike="noStrike" dirty="0">
                          <a:solidFill>
                            <a:schemeClr val="bg1">
                              <a:lumMod val="65000"/>
                            </a:schemeClr>
                          </a:solidFill>
                          <a:effectLst/>
                        </a:rPr>
                        <a:t>Scope</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보험 시스템</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1"/>
                  </a:ext>
                </a:extLst>
              </a:tr>
              <a:tr h="261790">
                <a:tc>
                  <a:txBody>
                    <a:bodyPr/>
                    <a:lstStyle/>
                    <a:p>
                      <a:pPr algn="l" fontAlgn="ctr"/>
                      <a:r>
                        <a:rPr lang="en-US" sz="1300" b="1" u="none" strike="noStrike" dirty="0">
                          <a:solidFill>
                            <a:schemeClr val="bg1">
                              <a:lumMod val="65000"/>
                            </a:schemeClr>
                          </a:solidFill>
                          <a:effectLst/>
                        </a:rPr>
                        <a:t>Level</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사용자 목표</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2"/>
                  </a:ext>
                </a:extLst>
              </a:tr>
              <a:tr h="261790">
                <a:tc>
                  <a:txBody>
                    <a:bodyPr/>
                    <a:lstStyle/>
                    <a:p>
                      <a:pPr algn="l" fontAlgn="ctr"/>
                      <a:r>
                        <a:rPr lang="en-US" sz="1300" b="1" u="none" strike="noStrike" dirty="0">
                          <a:solidFill>
                            <a:schemeClr val="bg1">
                              <a:lumMod val="65000"/>
                            </a:schemeClr>
                          </a:solidFill>
                          <a:effectLst/>
                        </a:rPr>
                        <a:t>Primary Actor</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4"/>
                  </a:ext>
                </a:extLst>
              </a:tr>
              <a:tr h="637465">
                <a:tc>
                  <a:txBody>
                    <a:bodyPr/>
                    <a:lstStyle/>
                    <a:p>
                      <a:pPr algn="l" fontAlgn="ctr"/>
                      <a:r>
                        <a:rPr lang="en-US" sz="1300" b="1" u="none" strike="noStrike" dirty="0">
                          <a:solidFill>
                            <a:schemeClr val="bg1">
                              <a:lumMod val="65000"/>
                            </a:schemeClr>
                          </a:solidFill>
                          <a:effectLst/>
                        </a:rPr>
                        <a:t>Stakeholders </a:t>
                      </a:r>
                      <a:endParaRPr lang="en-US" sz="1300" b="1" u="none" strike="noStrike" dirty="0" smtClean="0">
                        <a:solidFill>
                          <a:schemeClr val="bg1">
                            <a:lumMod val="65000"/>
                          </a:schemeClr>
                        </a:solidFill>
                        <a:effectLst/>
                      </a:endParaRPr>
                    </a:p>
                    <a:p>
                      <a:pPr algn="l" fontAlgn="ctr"/>
                      <a:r>
                        <a:rPr lang="en-US" sz="1300" b="1" u="none" strike="noStrike" dirty="0" smtClean="0">
                          <a:solidFill>
                            <a:schemeClr val="bg1">
                              <a:lumMod val="65000"/>
                            </a:schemeClr>
                          </a:solidFill>
                          <a:effectLst/>
                        </a:rPr>
                        <a:t>&amp; </a:t>
                      </a:r>
                      <a:r>
                        <a:rPr lang="en-US" sz="1300" b="1" u="none" strike="noStrike" dirty="0">
                          <a:solidFill>
                            <a:schemeClr val="bg1">
                              <a:lumMod val="65000"/>
                            </a:schemeClr>
                          </a:solidFill>
                          <a:effectLst/>
                        </a:rPr>
                        <a:t>Interests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a:t>
                      </a:r>
                      <a:r>
                        <a:rPr lang="en-US" altLang="ko-KR" sz="1300" u="none" strike="noStrike" dirty="0">
                          <a:solidFill>
                            <a:schemeClr val="bg1">
                              <a:lumMod val="65000"/>
                            </a:schemeClr>
                          </a:solidFill>
                          <a:effectLst/>
                        </a:rPr>
                        <a:t>:</a:t>
                      </a:r>
                      <a:r>
                        <a:rPr lang="ko-KR" altLang="en-US" sz="1300" u="none" strike="noStrike" dirty="0">
                          <a:solidFill>
                            <a:schemeClr val="bg1">
                              <a:lumMod val="65000"/>
                            </a:schemeClr>
                          </a:solidFill>
                          <a:effectLst/>
                        </a:rPr>
                        <a:t> 필요한 필드가 포함된 명확하고 간단한 양식을 원함</a:t>
                      </a:r>
                      <a:br>
                        <a:rPr lang="ko-KR" altLang="en-US" sz="1300" u="none" strike="noStrike" dirty="0">
                          <a:solidFill>
                            <a:schemeClr val="bg1">
                              <a:lumMod val="65000"/>
                            </a:schemeClr>
                          </a:solidFill>
                          <a:effectLst/>
                        </a:rPr>
                      </a:br>
                      <a:r>
                        <a:rPr lang="ko-KR" altLang="en-US" sz="1300" u="none" strike="noStrike" dirty="0">
                          <a:solidFill>
                            <a:schemeClr val="bg1">
                              <a:lumMod val="65000"/>
                            </a:schemeClr>
                          </a:solidFill>
                          <a:effectLst/>
                        </a:rPr>
                        <a:t>보험사</a:t>
                      </a:r>
                      <a:r>
                        <a:rPr lang="en-US" altLang="ko-KR" sz="1300" u="none" strike="noStrike" dirty="0">
                          <a:solidFill>
                            <a:schemeClr val="bg1">
                              <a:lumMod val="65000"/>
                            </a:schemeClr>
                          </a:solidFill>
                          <a:effectLst/>
                        </a:rPr>
                        <a:t>:</a:t>
                      </a:r>
                      <a:r>
                        <a:rPr lang="ko-KR" altLang="en-US" sz="1300" u="none" strike="noStrike" dirty="0">
                          <a:solidFill>
                            <a:schemeClr val="bg1">
                              <a:lumMod val="65000"/>
                            </a:schemeClr>
                          </a:solidFill>
                          <a:effectLst/>
                        </a:rPr>
                        <a:t> 정책을 위해 정확하고 완전한 데이터를 필요로 함</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5"/>
                  </a:ext>
                </a:extLst>
              </a:tr>
              <a:tr h="471385">
                <a:tc>
                  <a:txBody>
                    <a:bodyPr/>
                    <a:lstStyle/>
                    <a:p>
                      <a:pPr algn="l" fontAlgn="ctr"/>
                      <a:r>
                        <a:rPr lang="en-US" sz="1300" b="1" u="none" strike="noStrike" dirty="0">
                          <a:solidFill>
                            <a:schemeClr val="bg1">
                              <a:lumMod val="65000"/>
                            </a:schemeClr>
                          </a:solidFill>
                          <a:effectLst/>
                        </a:rPr>
                        <a:t>Success </a:t>
                      </a:r>
                      <a:endParaRPr lang="en-US" sz="1300" b="1" u="none" strike="noStrike" dirty="0" smtClean="0">
                        <a:solidFill>
                          <a:schemeClr val="bg1">
                            <a:lumMod val="65000"/>
                          </a:schemeClr>
                        </a:solidFill>
                        <a:effectLst/>
                      </a:endParaRPr>
                    </a:p>
                    <a:p>
                      <a:pPr algn="l" fontAlgn="ctr"/>
                      <a:r>
                        <a:rPr lang="en-US" sz="1300" b="1" u="none" strike="noStrike" dirty="0" smtClean="0">
                          <a:solidFill>
                            <a:schemeClr val="bg1">
                              <a:lumMod val="65000"/>
                            </a:schemeClr>
                          </a:solidFill>
                          <a:effectLst/>
                        </a:rPr>
                        <a:t>End </a:t>
                      </a:r>
                      <a:r>
                        <a:rPr lang="en-US" sz="1300" b="1" u="none" strike="noStrike" dirty="0">
                          <a:solidFill>
                            <a:schemeClr val="bg1">
                              <a:lumMod val="65000"/>
                            </a:schemeClr>
                          </a:solidFill>
                          <a:effectLst/>
                        </a:rPr>
                        <a:t>Condition</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가입 신청서가 완료되어 제출 준비가 됨</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6"/>
                  </a:ext>
                </a:extLst>
              </a:tr>
              <a:tr h="261790">
                <a:tc>
                  <a:txBody>
                    <a:bodyPr/>
                    <a:lstStyle/>
                    <a:p>
                      <a:pPr algn="l" fontAlgn="ctr"/>
                      <a:r>
                        <a:rPr lang="en-US" sz="1300" b="1" u="none" strike="noStrike" dirty="0">
                          <a:solidFill>
                            <a:schemeClr val="bg1">
                              <a:lumMod val="65000"/>
                            </a:schemeClr>
                          </a:solidFill>
                          <a:effectLst/>
                        </a:rPr>
                        <a:t>Preconditions</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bg1">
                              <a:lumMod val="65000"/>
                            </a:schemeClr>
                          </a:solidFill>
                          <a:effectLst/>
                        </a:rPr>
                        <a:t>고객이 보험 상품을 선택하고 신청서 작성을 시작할 준비가 됨</a:t>
                      </a:r>
                      <a:endParaRPr lang="ko-KR" altLang="en-US"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8"/>
                  </a:ext>
                </a:extLst>
              </a:tr>
              <a:tr h="1200977">
                <a:tc>
                  <a:txBody>
                    <a:bodyPr/>
                    <a:lstStyle/>
                    <a:p>
                      <a:pPr algn="l" fontAlgn="ctr"/>
                      <a:r>
                        <a:rPr lang="en-US" sz="1300" b="1" u="none" strike="noStrike" dirty="0">
                          <a:solidFill>
                            <a:schemeClr val="bg1">
                              <a:lumMod val="65000"/>
                            </a:schemeClr>
                          </a:solidFill>
                          <a:effectLst/>
                        </a:rPr>
                        <a:t>Main Success </a:t>
                      </a:r>
                      <a:endParaRPr lang="en-US" sz="1300" b="1" u="none" strike="noStrike" dirty="0" smtClean="0">
                        <a:solidFill>
                          <a:schemeClr val="bg1">
                            <a:lumMod val="65000"/>
                          </a:schemeClr>
                        </a:solidFill>
                        <a:effectLst/>
                      </a:endParaRPr>
                    </a:p>
                    <a:p>
                      <a:pPr algn="l" fontAlgn="ctr"/>
                      <a:r>
                        <a:rPr lang="en-US" sz="1300" b="1" u="none" strike="noStrike" dirty="0" smtClean="0">
                          <a:solidFill>
                            <a:schemeClr val="bg1">
                              <a:lumMod val="65000"/>
                            </a:schemeClr>
                          </a:solidFill>
                          <a:effectLst/>
                        </a:rPr>
                        <a:t>Scenario</a:t>
                      </a:r>
                      <a:endParaRPr lang="en-US" sz="1300" b="1" i="0" u="none" strike="noStrike" dirty="0">
                        <a:solidFill>
                          <a:schemeClr val="bg1">
                            <a:lumMod val="65000"/>
                          </a:schemeClr>
                        </a:solidFill>
                        <a:effectLst/>
                        <a:latin typeface="맑은 고딕"/>
                      </a:endParaRPr>
                    </a:p>
                  </a:txBody>
                  <a:tcPr marL="72000" marR="72000" marT="36000" marB="36000" anchor="ctr"/>
                </a:tc>
                <a:tc>
                  <a:txBody>
                    <a:bodyPr/>
                    <a:lstStyle/>
                    <a:p>
                      <a:pPr algn="l" fontAlgn="ctr"/>
                      <a:r>
                        <a:rPr lang="en-US" altLang="ko-KR" sz="1300" u="none" strike="noStrike" dirty="0">
                          <a:solidFill>
                            <a:schemeClr val="bg1">
                              <a:lumMod val="65000"/>
                            </a:schemeClr>
                          </a:solidFill>
                          <a:effectLst/>
                        </a:rPr>
                        <a:t>1. </a:t>
                      </a:r>
                      <a:r>
                        <a:rPr lang="ko-KR" altLang="en-US" sz="1300" u="none" strike="noStrike" dirty="0">
                          <a:solidFill>
                            <a:schemeClr val="bg1">
                              <a:lumMod val="65000"/>
                            </a:schemeClr>
                          </a:solidFill>
                          <a:effectLst/>
                        </a:rPr>
                        <a:t>고객이 가입 신청 페이지를 연다 </a:t>
                      </a:r>
                      <a:br>
                        <a:rPr lang="ko-KR" altLang="en-US" sz="1300" u="none" strike="noStrike" dirty="0">
                          <a:solidFill>
                            <a:schemeClr val="bg1">
                              <a:lumMod val="65000"/>
                            </a:schemeClr>
                          </a:solidFill>
                          <a:effectLst/>
                        </a:rPr>
                      </a:br>
                      <a:r>
                        <a:rPr lang="en-US" altLang="ko-KR" sz="1300" u="none" strike="noStrike" dirty="0">
                          <a:solidFill>
                            <a:schemeClr val="bg1">
                              <a:lumMod val="65000"/>
                            </a:schemeClr>
                          </a:solidFill>
                          <a:effectLst/>
                        </a:rPr>
                        <a:t>2. </a:t>
                      </a:r>
                      <a:r>
                        <a:rPr lang="ko-KR" altLang="en-US" sz="1300" u="none" strike="noStrike" dirty="0">
                          <a:solidFill>
                            <a:schemeClr val="bg1">
                              <a:lumMod val="65000"/>
                            </a:schemeClr>
                          </a:solidFill>
                          <a:effectLst/>
                        </a:rPr>
                        <a:t>고객이 개인정보를 입력한다</a:t>
                      </a:r>
                      <a:r>
                        <a:rPr lang="en-US" altLang="ko-KR" sz="1300" u="none" strike="noStrike" dirty="0">
                          <a:solidFill>
                            <a:schemeClr val="bg1">
                              <a:lumMod val="65000"/>
                            </a:schemeClr>
                          </a:solidFill>
                          <a:effectLst/>
                        </a:rPr>
                        <a:t>.</a:t>
                      </a:r>
                      <a:br>
                        <a:rPr lang="en-US" altLang="ko-KR" sz="1300" u="none" strike="noStrike" dirty="0">
                          <a:solidFill>
                            <a:schemeClr val="bg1">
                              <a:lumMod val="65000"/>
                            </a:schemeClr>
                          </a:solidFill>
                          <a:effectLst/>
                        </a:rPr>
                      </a:br>
                      <a:r>
                        <a:rPr lang="en-US" altLang="ko-KR" sz="1300" u="none" strike="noStrike" dirty="0">
                          <a:solidFill>
                            <a:schemeClr val="bg1">
                              <a:lumMod val="65000"/>
                            </a:schemeClr>
                          </a:solidFill>
                          <a:effectLst/>
                        </a:rPr>
                        <a:t>3. </a:t>
                      </a:r>
                      <a:r>
                        <a:rPr lang="ko-KR" altLang="en-US" sz="1300" u="none" strike="noStrike" dirty="0">
                          <a:solidFill>
                            <a:schemeClr val="bg1">
                              <a:lumMod val="65000"/>
                            </a:schemeClr>
                          </a:solidFill>
                          <a:effectLst/>
                        </a:rPr>
                        <a:t>시스템이 실시간으로 데이터를 검증한다</a:t>
                      </a:r>
                      <a:r>
                        <a:rPr lang="en-US" altLang="ko-KR" sz="1300" u="none" strike="noStrike" dirty="0">
                          <a:solidFill>
                            <a:schemeClr val="bg1">
                              <a:lumMod val="65000"/>
                            </a:schemeClr>
                          </a:solidFill>
                          <a:effectLst/>
                        </a:rPr>
                        <a:t>. </a:t>
                      </a:r>
                      <a:br>
                        <a:rPr lang="en-US" altLang="ko-KR" sz="1300" u="none" strike="noStrike" dirty="0">
                          <a:solidFill>
                            <a:schemeClr val="bg1">
                              <a:lumMod val="65000"/>
                            </a:schemeClr>
                          </a:solidFill>
                          <a:effectLst/>
                        </a:rPr>
                      </a:br>
                      <a:r>
                        <a:rPr lang="en-US" altLang="ko-KR" sz="1300" u="none" strike="noStrike" dirty="0">
                          <a:solidFill>
                            <a:schemeClr val="bg1">
                              <a:lumMod val="65000"/>
                            </a:schemeClr>
                          </a:solidFill>
                          <a:effectLst/>
                        </a:rPr>
                        <a:t>4. </a:t>
                      </a:r>
                      <a:r>
                        <a:rPr lang="ko-KR" altLang="en-US" sz="1300" u="none" strike="noStrike" dirty="0">
                          <a:solidFill>
                            <a:schemeClr val="bg1">
                              <a:lumMod val="65000"/>
                            </a:schemeClr>
                          </a:solidFill>
                          <a:effectLst/>
                        </a:rPr>
                        <a:t>고객이 신청서 작성을 완료한다</a:t>
                      </a:r>
                      <a:r>
                        <a:rPr lang="en-US" altLang="ko-KR" sz="1300" u="none" strike="noStrike" dirty="0">
                          <a:solidFill>
                            <a:schemeClr val="bg1">
                              <a:lumMod val="65000"/>
                            </a:schemeClr>
                          </a:solidFill>
                          <a:effectLst/>
                        </a:rPr>
                        <a:t>.</a:t>
                      </a:r>
                      <a:endParaRPr lang="en-US" altLang="ko-KR" sz="1300" b="0" i="0" u="none" strike="noStrike" dirty="0">
                        <a:solidFill>
                          <a:schemeClr val="bg1">
                            <a:lumMod val="6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0"/>
                  </a:ext>
                </a:extLst>
              </a:tr>
              <a:tr h="471385">
                <a:tc>
                  <a:txBody>
                    <a:bodyPr/>
                    <a:lstStyle/>
                    <a:p>
                      <a:pPr algn="l" fontAlgn="ctr"/>
                      <a:r>
                        <a:rPr lang="en-US" sz="1300" b="1" u="none" strike="noStrike" dirty="0">
                          <a:solidFill>
                            <a:schemeClr val="accent2">
                              <a:lumMod val="75000"/>
                            </a:schemeClr>
                          </a:solidFill>
                          <a:effectLst/>
                        </a:rPr>
                        <a:t>Extensions</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en-US" altLang="ko-KR" sz="1300" u="none" strike="noStrike" dirty="0">
                          <a:solidFill>
                            <a:schemeClr val="accent2">
                              <a:lumMod val="75000"/>
                            </a:schemeClr>
                          </a:solidFill>
                          <a:effectLst/>
                        </a:rPr>
                        <a:t>[</a:t>
                      </a:r>
                      <a:r>
                        <a:rPr lang="ko-KR" altLang="en-US" sz="1300" u="none" strike="noStrike" dirty="0">
                          <a:solidFill>
                            <a:schemeClr val="accent2">
                              <a:lumMod val="75000"/>
                            </a:schemeClr>
                          </a:solidFill>
                          <a:effectLst/>
                        </a:rPr>
                        <a:t>고객이 입력한 정보에 오류가 있을 경우</a:t>
                      </a:r>
                      <a:r>
                        <a:rPr lang="en-US" altLang="ko-KR" sz="1300" u="none" strike="noStrike" dirty="0">
                          <a:solidFill>
                            <a:schemeClr val="accent2">
                              <a:lumMod val="75000"/>
                            </a:schemeClr>
                          </a:solidFill>
                          <a:effectLst/>
                        </a:rPr>
                        <a:t>]</a:t>
                      </a:r>
                      <a:br>
                        <a:rPr lang="en-US" altLang="ko-KR" sz="1300" u="none" strike="noStrike" dirty="0">
                          <a:solidFill>
                            <a:schemeClr val="accent2">
                              <a:lumMod val="75000"/>
                            </a:schemeClr>
                          </a:solidFill>
                          <a:effectLst/>
                        </a:rPr>
                      </a:br>
                      <a:r>
                        <a:rPr lang="en-US" altLang="ko-KR" sz="1300" u="none" strike="noStrike" dirty="0">
                          <a:solidFill>
                            <a:schemeClr val="accent2">
                              <a:lumMod val="75000"/>
                            </a:schemeClr>
                          </a:solidFill>
                          <a:effectLst/>
                        </a:rPr>
                        <a:t>3a. </a:t>
                      </a:r>
                      <a:r>
                        <a:rPr lang="ko-KR" altLang="en-US" sz="1300" u="none" strike="noStrike" dirty="0" smtClean="0">
                          <a:solidFill>
                            <a:schemeClr val="accent2">
                              <a:lumMod val="75000"/>
                            </a:schemeClr>
                          </a:solidFill>
                          <a:effectLst/>
                        </a:rPr>
                        <a:t>시스템은 입력 값의 </a:t>
                      </a:r>
                      <a:r>
                        <a:rPr lang="ko-KR" altLang="en-US" sz="1300" u="none" strike="noStrike" dirty="0">
                          <a:solidFill>
                            <a:schemeClr val="accent2">
                              <a:lumMod val="75000"/>
                            </a:schemeClr>
                          </a:solidFill>
                          <a:effectLst/>
                        </a:rPr>
                        <a:t>오류 내용을 표시한다</a:t>
                      </a:r>
                      <a:r>
                        <a:rPr lang="en-US" altLang="ko-KR" sz="1300" u="none" strike="noStrike" dirty="0">
                          <a:solidFill>
                            <a:schemeClr val="accent2">
                              <a:lumMod val="75000"/>
                            </a:schemeClr>
                          </a:solidFill>
                          <a:effectLst/>
                        </a:rPr>
                        <a:t>.</a:t>
                      </a:r>
                      <a:endParaRPr lang="en-US" altLang="ko-KR"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1"/>
                  </a:ext>
                </a:extLst>
              </a:tr>
              <a:tr h="449627">
                <a:tc>
                  <a:txBody>
                    <a:bodyPr/>
                    <a:lstStyle/>
                    <a:p>
                      <a:pPr algn="l" fontAlgn="ctr"/>
                      <a:r>
                        <a:rPr lang="en-US" sz="1300" b="1" u="none" strike="noStrike" dirty="0">
                          <a:solidFill>
                            <a:schemeClr val="accent2">
                              <a:lumMod val="75000"/>
                            </a:schemeClr>
                          </a:solidFill>
                          <a:effectLst/>
                        </a:rPr>
                        <a:t>Open Issues</a:t>
                      </a:r>
                      <a:endParaRPr lang="en-US" sz="13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ko-KR" altLang="en-US" sz="1300" u="none" strike="noStrike" dirty="0">
                          <a:solidFill>
                            <a:schemeClr val="accent2">
                              <a:lumMod val="75000"/>
                            </a:schemeClr>
                          </a:solidFill>
                          <a:effectLst/>
                        </a:rPr>
                        <a:t>고객이 신청서 작성 중 추가 정보나 문서를 필요로 할 경우 어떻게 대처할 것인가</a:t>
                      </a:r>
                      <a:r>
                        <a:rPr lang="en-US" altLang="ko-KR" sz="1300" u="none" strike="noStrike" dirty="0">
                          <a:solidFill>
                            <a:schemeClr val="accent2">
                              <a:lumMod val="75000"/>
                            </a:schemeClr>
                          </a:solidFill>
                          <a:effectLst/>
                        </a:rPr>
                        <a:t>?</a:t>
                      </a:r>
                      <a:endParaRPr lang="en-US" altLang="ko-KR" sz="13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3"/>
                  </a:ext>
                </a:extLst>
              </a:tr>
            </a:tbl>
          </a:graphicData>
        </a:graphic>
      </p:graphicFrame>
      <p:sp>
        <p:nvSpPr>
          <p:cNvPr id="6" name="텍스트 개체 틀 1"/>
          <p:cNvSpPr>
            <a:spLocks noGrp="1"/>
          </p:cNvSpPr>
          <p:nvPr>
            <p:ph type="body" sz="quarter" idx="10"/>
          </p:nvPr>
        </p:nvSpPr>
        <p:spPr>
          <a:xfrm>
            <a:off x="420044" y="692696"/>
            <a:ext cx="5963988" cy="3593804"/>
          </a:xfrm>
        </p:spPr>
        <p:txBody>
          <a:bodyPr wrap="square">
            <a:spAutoFit/>
          </a:bodyPr>
          <a:lstStyle/>
          <a:p>
            <a:pPr marL="342900" indent="-342900">
              <a:lnSpc>
                <a:spcPct val="130000"/>
              </a:lnSpc>
              <a:buFont typeface="+mj-lt"/>
              <a:buAutoNum type="arabicPeriod" startAt="7"/>
            </a:pPr>
            <a:r>
              <a:rPr lang="en-US" altLang="ko-KR" dirty="0" smtClean="0"/>
              <a:t>Extensions</a:t>
            </a:r>
          </a:p>
          <a:p>
            <a:pPr lvl="1">
              <a:lnSpc>
                <a:spcPct val="130000"/>
              </a:lnSpc>
            </a:pPr>
            <a:r>
              <a:rPr lang="ko-KR" altLang="en-US" sz="1500" dirty="0" smtClean="0"/>
              <a:t>메인 시나리오 수행 중 발생할 수 있는 예외 상황</a:t>
            </a:r>
            <a:r>
              <a:rPr lang="en-US" altLang="ko-KR" sz="1500" dirty="0" smtClean="0"/>
              <a:t>, </a:t>
            </a:r>
            <a:r>
              <a:rPr lang="ko-KR" altLang="en-US" sz="1500" dirty="0" smtClean="0"/>
              <a:t>대체 상황들이 어떠한 것이 있는지 충분히 </a:t>
            </a:r>
            <a:r>
              <a:rPr lang="ko-KR" altLang="en-US" sz="1500" dirty="0" err="1" smtClean="0"/>
              <a:t>브레인스토밍합니다</a:t>
            </a:r>
            <a:r>
              <a:rPr lang="en-US" altLang="ko-KR" sz="1500" dirty="0" smtClean="0"/>
              <a:t>.</a:t>
            </a:r>
          </a:p>
          <a:p>
            <a:pPr lvl="1">
              <a:lnSpc>
                <a:spcPct val="130000"/>
              </a:lnSpc>
            </a:pPr>
            <a:r>
              <a:rPr lang="ko-KR" altLang="en-US" sz="1500" dirty="0" smtClean="0"/>
              <a:t>예외</a:t>
            </a:r>
            <a:r>
              <a:rPr lang="en-US" altLang="ko-KR" sz="1500" dirty="0" smtClean="0"/>
              <a:t>, </a:t>
            </a:r>
            <a:r>
              <a:rPr lang="ko-KR" altLang="en-US" sz="1500" dirty="0" smtClean="0"/>
              <a:t>대체 상황에서 이해 당사자들의 이익을 최대한 만족 시키기 위해 해야 하는 행위가 무엇인지를 </a:t>
            </a:r>
            <a:r>
              <a:rPr lang="ko-KR" altLang="en-US" sz="1500" dirty="0" err="1" smtClean="0"/>
              <a:t>상황별</a:t>
            </a:r>
            <a:r>
              <a:rPr lang="ko-KR" altLang="en-US" sz="1500" dirty="0" smtClean="0"/>
              <a:t> 시나리오로 작성합니다</a:t>
            </a:r>
            <a:r>
              <a:rPr lang="en-US" altLang="ko-KR" sz="1500" dirty="0" smtClean="0"/>
              <a:t>. </a:t>
            </a:r>
          </a:p>
          <a:p>
            <a:pPr marL="342900" indent="-342900">
              <a:lnSpc>
                <a:spcPct val="130000"/>
              </a:lnSpc>
              <a:buFont typeface="+mj-lt"/>
              <a:buAutoNum type="arabicPeriod" startAt="7"/>
            </a:pPr>
            <a:r>
              <a:rPr lang="en-US" altLang="ko-KR" dirty="0" smtClean="0"/>
              <a:t>Open Issues</a:t>
            </a:r>
          </a:p>
          <a:p>
            <a:pPr lvl="1">
              <a:lnSpc>
                <a:spcPct val="130000"/>
              </a:lnSpc>
            </a:pPr>
            <a:r>
              <a:rPr lang="en-US" altLang="ko-KR" dirty="0" smtClean="0"/>
              <a:t>Use case </a:t>
            </a:r>
            <a:r>
              <a:rPr lang="ko-KR" altLang="en-US" dirty="0" smtClean="0"/>
              <a:t>기술 중 추가적으로 고려가 필요한 사항들</a:t>
            </a:r>
            <a:r>
              <a:rPr lang="en-US" altLang="ko-KR" dirty="0" smtClean="0"/>
              <a:t>, </a:t>
            </a:r>
            <a:r>
              <a:rPr lang="ko-KR" altLang="en-US" dirty="0" smtClean="0"/>
              <a:t>당장 해결이 어려운 </a:t>
            </a:r>
            <a:r>
              <a:rPr lang="ko-KR" altLang="en-US" dirty="0" err="1" smtClean="0"/>
              <a:t>이슈등</a:t>
            </a:r>
            <a:r>
              <a:rPr lang="ko-KR" altLang="en-US" dirty="0" smtClean="0"/>
              <a:t> 추가적으로 고민</a:t>
            </a:r>
            <a:r>
              <a:rPr lang="en-US" altLang="ko-KR" dirty="0" smtClean="0"/>
              <a:t>, </a:t>
            </a:r>
            <a:r>
              <a:rPr lang="ko-KR" altLang="en-US" dirty="0" smtClean="0"/>
              <a:t>해결해야 할 이슈가 있다면 작성합니다</a:t>
            </a:r>
            <a:r>
              <a:rPr lang="en-US" altLang="ko-KR" dirty="0" smtClean="0"/>
              <a:t>.</a:t>
            </a:r>
            <a:endParaRPr lang="ko-KR" altLang="en-US" dirty="0"/>
          </a:p>
        </p:txBody>
      </p:sp>
    </p:spTree>
    <p:extLst>
      <p:ext uri="{BB962C8B-B14F-4D97-AF65-F5344CB8AC3E}">
        <p14:creationId xmlns:p14="http://schemas.microsoft.com/office/powerpoint/2010/main" val="25596414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3339371" cy="424661"/>
          </a:xfrm>
        </p:spPr>
        <p:txBody>
          <a:bodyPr/>
          <a:lstStyle/>
          <a:p>
            <a:r>
              <a:rPr lang="en-US" altLang="ko-KR" dirty="0" smtClean="0"/>
              <a:t>Fully dressed-up </a:t>
            </a:r>
            <a:r>
              <a:rPr lang="ko-KR" altLang="en-US" dirty="0" smtClean="0"/>
              <a:t>예제</a:t>
            </a:r>
            <a:endParaRPr lang="ko-KR" altLang="en-US" dirty="0"/>
          </a:p>
        </p:txBody>
      </p:sp>
      <p:graphicFrame>
        <p:nvGraphicFramePr>
          <p:cNvPr id="5" name="표 4"/>
          <p:cNvGraphicFramePr>
            <a:graphicFrameLocks noGrp="1"/>
          </p:cNvGraphicFramePr>
          <p:nvPr>
            <p:extLst>
              <p:ext uri="{D42A27DB-BD31-4B8C-83A1-F6EECF244321}">
                <p14:modId xmlns:p14="http://schemas.microsoft.com/office/powerpoint/2010/main" val="3852820380"/>
              </p:ext>
            </p:extLst>
          </p:nvPr>
        </p:nvGraphicFramePr>
        <p:xfrm>
          <a:off x="407368" y="620688"/>
          <a:ext cx="11377264" cy="5976665"/>
        </p:xfrm>
        <a:graphic>
          <a:graphicData uri="http://schemas.openxmlformats.org/drawingml/2006/table">
            <a:tbl>
              <a:tblPr>
                <a:tableStyleId>{5C22544A-7EE6-4342-B048-85BDC9FD1C3A}</a:tableStyleId>
              </a:tblPr>
              <a:tblGrid>
                <a:gridCol w="1368152">
                  <a:extLst>
                    <a:ext uri="{9D8B030D-6E8A-4147-A177-3AD203B41FA5}">
                      <a16:colId xmlns="" xmlns:a16="http://schemas.microsoft.com/office/drawing/2014/main" val="20000"/>
                    </a:ext>
                  </a:extLst>
                </a:gridCol>
                <a:gridCol w="4824536">
                  <a:extLst>
                    <a:ext uri="{9D8B030D-6E8A-4147-A177-3AD203B41FA5}">
                      <a16:colId xmlns="" xmlns:a16="http://schemas.microsoft.com/office/drawing/2014/main" val="20001"/>
                    </a:ext>
                  </a:extLst>
                </a:gridCol>
                <a:gridCol w="5184576">
                  <a:extLst>
                    <a:ext uri="{9D8B030D-6E8A-4147-A177-3AD203B41FA5}">
                      <a16:colId xmlns="" xmlns:a16="http://schemas.microsoft.com/office/drawing/2014/main" val="20002"/>
                    </a:ext>
                  </a:extLst>
                </a:gridCol>
              </a:tblGrid>
              <a:tr h="260505">
                <a:tc>
                  <a:txBody>
                    <a:bodyPr/>
                    <a:lstStyle/>
                    <a:p>
                      <a:pPr algn="l" fontAlgn="ctr"/>
                      <a:r>
                        <a:rPr lang="en-US" sz="1200" b="1" u="none" strike="noStrike" dirty="0">
                          <a:effectLst/>
                        </a:rPr>
                        <a:t>Use Case</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보험 가입 프로세스</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가입 신청서 작성</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0"/>
                  </a:ext>
                </a:extLst>
              </a:tr>
              <a:tr h="260505">
                <a:tc>
                  <a:txBody>
                    <a:bodyPr/>
                    <a:lstStyle/>
                    <a:p>
                      <a:pPr algn="l" fontAlgn="ctr"/>
                      <a:r>
                        <a:rPr lang="en-US" sz="1200" b="1" u="none" strike="noStrike" dirty="0">
                          <a:effectLst/>
                        </a:rPr>
                        <a:t>Scope</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en-US" sz="1200" u="none" strike="noStrike" dirty="0">
                          <a:effectLst/>
                        </a:rPr>
                        <a:t>XXX</a:t>
                      </a:r>
                      <a:r>
                        <a:rPr lang="ko-KR" altLang="en-US" sz="1200" u="none" strike="noStrike" dirty="0">
                          <a:effectLst/>
                        </a:rPr>
                        <a:t>보험</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보험 시스템</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1"/>
                  </a:ext>
                </a:extLst>
              </a:tr>
              <a:tr h="260505">
                <a:tc>
                  <a:txBody>
                    <a:bodyPr/>
                    <a:lstStyle/>
                    <a:p>
                      <a:pPr algn="l" fontAlgn="ctr"/>
                      <a:r>
                        <a:rPr lang="en-US" sz="1200" b="1" u="none" strike="noStrike" dirty="0">
                          <a:solidFill>
                            <a:schemeClr val="accent2">
                              <a:lumMod val="75000"/>
                            </a:schemeClr>
                          </a:solidFill>
                          <a:effectLst/>
                        </a:rPr>
                        <a:t>Level</a:t>
                      </a:r>
                      <a:endParaRPr lang="en-US" sz="1200" b="1" i="0" u="none" strike="noStrike" dirty="0">
                        <a:solidFill>
                          <a:schemeClr val="accent2">
                            <a:lumMod val="75000"/>
                          </a:schemeClr>
                        </a:solidFill>
                        <a:effectLst/>
                        <a:latin typeface="맑은 고딕"/>
                      </a:endParaRPr>
                    </a:p>
                  </a:txBody>
                  <a:tcPr marL="72000" marR="72000" marT="36000" marB="36000" anchor="ctr"/>
                </a:tc>
                <a:tc>
                  <a:txBody>
                    <a:bodyPr/>
                    <a:lstStyle/>
                    <a:p>
                      <a:pPr algn="l" fontAlgn="ctr"/>
                      <a:r>
                        <a:rPr lang="en-US" sz="1200" u="none" strike="noStrike" dirty="0">
                          <a:solidFill>
                            <a:schemeClr val="accent2">
                              <a:lumMod val="75000"/>
                            </a:schemeClr>
                          </a:solidFill>
                          <a:effectLst/>
                        </a:rPr>
                        <a:t>Summary</a:t>
                      </a:r>
                      <a:endParaRPr lang="en-US" sz="12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solidFill>
                            <a:schemeClr val="accent2">
                              <a:lumMod val="75000"/>
                            </a:schemeClr>
                          </a:solidFill>
                          <a:effectLst/>
                        </a:rPr>
                        <a:t>사용자 목표</a:t>
                      </a:r>
                      <a:endParaRPr lang="ko-KR" altLang="en-US" sz="1200" b="0" i="0" u="none" strike="noStrike" dirty="0">
                        <a:solidFill>
                          <a:schemeClr val="accent2">
                            <a:lumMod val="75000"/>
                          </a:schemeClr>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2"/>
                  </a:ext>
                </a:extLst>
              </a:tr>
              <a:tr h="260505">
                <a:tc>
                  <a:txBody>
                    <a:bodyPr/>
                    <a:lstStyle/>
                    <a:p>
                      <a:pPr algn="l" fontAlgn="ctr"/>
                      <a:r>
                        <a:rPr lang="en-US" sz="1200" b="1" u="none" strike="noStrike">
                          <a:effectLst/>
                        </a:rPr>
                        <a:t>Context</a:t>
                      </a:r>
                      <a:endParaRPr lang="en-US" sz="1200" b="1" i="0" u="none" strike="noStrike">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고객이 보험을 원한다</a:t>
                      </a:r>
                      <a:r>
                        <a:rPr lang="en-US" altLang="ko-KR" sz="1200" u="none" strike="noStrike" dirty="0">
                          <a:effectLst/>
                        </a:rPr>
                        <a:t>.</a:t>
                      </a:r>
                      <a:endParaRPr lang="en-US" altLang="ko-KR"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새로운 보험 계약을 위한 가입 신청서 작성</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3"/>
                  </a:ext>
                </a:extLst>
              </a:tr>
              <a:tr h="260505">
                <a:tc>
                  <a:txBody>
                    <a:bodyPr/>
                    <a:lstStyle/>
                    <a:p>
                      <a:pPr algn="l" fontAlgn="ctr"/>
                      <a:r>
                        <a:rPr lang="en-US" sz="1200" b="1" u="none" strike="noStrike">
                          <a:effectLst/>
                        </a:rPr>
                        <a:t>Primary Actor</a:t>
                      </a:r>
                      <a:endParaRPr lang="en-US" sz="1200" b="1" i="0" u="none" strike="noStrike">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고객</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고객</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4"/>
                  </a:ext>
                </a:extLst>
              </a:tr>
              <a:tr h="634337">
                <a:tc>
                  <a:txBody>
                    <a:bodyPr/>
                    <a:lstStyle/>
                    <a:p>
                      <a:pPr algn="l" fontAlgn="ctr"/>
                      <a:r>
                        <a:rPr lang="en-US" sz="1200" b="1" u="none" strike="noStrike" dirty="0">
                          <a:effectLst/>
                        </a:rPr>
                        <a:t>Stakeholders </a:t>
                      </a:r>
                      <a:endParaRPr lang="en-US" sz="1200" b="1" u="none" strike="noStrike" dirty="0" smtClean="0">
                        <a:effectLst/>
                      </a:endParaRPr>
                    </a:p>
                    <a:p>
                      <a:pPr algn="l" fontAlgn="ctr"/>
                      <a:r>
                        <a:rPr lang="en-US" sz="1200" b="1" u="none" strike="noStrike" dirty="0" smtClean="0">
                          <a:effectLst/>
                        </a:rPr>
                        <a:t>&amp; </a:t>
                      </a:r>
                      <a:r>
                        <a:rPr lang="en-US" sz="1200" b="1" u="none" strike="noStrike" dirty="0">
                          <a:effectLst/>
                        </a:rPr>
                        <a:t>Interests</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고객</a:t>
                      </a:r>
                      <a:r>
                        <a:rPr lang="en-US" altLang="ko-KR" sz="1200" u="none" strike="noStrike" dirty="0">
                          <a:effectLst/>
                        </a:rPr>
                        <a:t>:</a:t>
                      </a:r>
                      <a:r>
                        <a:rPr lang="ko-KR" altLang="en-US" sz="1200" u="none" strike="noStrike" dirty="0">
                          <a:effectLst/>
                        </a:rPr>
                        <a:t> 원활하고 쉬운 보험 가입 절차를 원함</a:t>
                      </a:r>
                      <a:br>
                        <a:rPr lang="ko-KR" altLang="en-US" sz="1200" u="none" strike="noStrike" dirty="0">
                          <a:effectLst/>
                        </a:rPr>
                      </a:br>
                      <a:r>
                        <a:rPr lang="ko-KR" altLang="en-US" sz="1200" u="none" strike="noStrike" dirty="0">
                          <a:effectLst/>
                        </a:rPr>
                        <a:t>보험사</a:t>
                      </a:r>
                      <a:r>
                        <a:rPr lang="en-US" altLang="ko-KR" sz="1200" u="none" strike="noStrike" dirty="0">
                          <a:effectLst/>
                        </a:rPr>
                        <a:t>:</a:t>
                      </a:r>
                      <a:r>
                        <a:rPr lang="ko-KR" altLang="en-US" sz="1200" u="none" strike="noStrike" dirty="0">
                          <a:effectLst/>
                        </a:rPr>
                        <a:t> 새로운 고객을 효율적으로 가입시키고 필요한 모든 정보를 수집하기를 원함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고객</a:t>
                      </a:r>
                      <a:r>
                        <a:rPr lang="en-US" altLang="ko-KR" sz="1200" u="none" strike="noStrike" dirty="0">
                          <a:effectLst/>
                        </a:rPr>
                        <a:t>:</a:t>
                      </a:r>
                      <a:r>
                        <a:rPr lang="ko-KR" altLang="en-US" sz="1200" u="none" strike="noStrike" dirty="0">
                          <a:effectLst/>
                        </a:rPr>
                        <a:t> 필요한 필드가 포함된 명확하고 간단한 양식을 원함</a:t>
                      </a:r>
                      <a:br>
                        <a:rPr lang="ko-KR" altLang="en-US" sz="1200" u="none" strike="noStrike" dirty="0">
                          <a:effectLst/>
                        </a:rPr>
                      </a:br>
                      <a:r>
                        <a:rPr lang="ko-KR" altLang="en-US" sz="1200" u="none" strike="noStrike" dirty="0">
                          <a:effectLst/>
                        </a:rPr>
                        <a:t>보험사</a:t>
                      </a:r>
                      <a:r>
                        <a:rPr lang="en-US" altLang="ko-KR" sz="1200" u="none" strike="noStrike" dirty="0">
                          <a:effectLst/>
                        </a:rPr>
                        <a:t>:</a:t>
                      </a:r>
                      <a:r>
                        <a:rPr lang="ko-KR" altLang="en-US" sz="1200" u="none" strike="noStrike" dirty="0">
                          <a:effectLst/>
                        </a:rPr>
                        <a:t> 정책을 위해 정확하고 완전한 데이터를 필요로 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5"/>
                  </a:ext>
                </a:extLst>
              </a:tr>
              <a:tr h="469072">
                <a:tc>
                  <a:txBody>
                    <a:bodyPr/>
                    <a:lstStyle/>
                    <a:p>
                      <a:pPr algn="l" fontAlgn="ctr"/>
                      <a:r>
                        <a:rPr lang="en-US" sz="1200" b="1" u="none" strike="noStrike" dirty="0">
                          <a:effectLst/>
                        </a:rPr>
                        <a:t>Success </a:t>
                      </a:r>
                      <a:endParaRPr lang="en-US" sz="1200" b="1" u="none" strike="noStrike" dirty="0" smtClean="0">
                        <a:effectLst/>
                      </a:endParaRPr>
                    </a:p>
                    <a:p>
                      <a:pPr algn="l" fontAlgn="ctr"/>
                      <a:r>
                        <a:rPr lang="en-US" sz="1200" b="1" u="none" strike="noStrike" dirty="0" smtClean="0">
                          <a:effectLst/>
                        </a:rPr>
                        <a:t>End </a:t>
                      </a:r>
                      <a:r>
                        <a:rPr lang="en-US" sz="1200" b="1" u="none" strike="noStrike" dirty="0">
                          <a:effectLst/>
                        </a:rPr>
                        <a:t>Condition</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고객이 성공적으로 보험에 가입함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가입 신청서가 완료되어 제출 준비가 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6"/>
                  </a:ext>
                </a:extLst>
              </a:tr>
              <a:tr h="469072">
                <a:tc>
                  <a:txBody>
                    <a:bodyPr/>
                    <a:lstStyle/>
                    <a:p>
                      <a:pPr algn="l" fontAlgn="ctr"/>
                      <a:r>
                        <a:rPr lang="en-US" sz="1200" b="1" u="none" strike="noStrike" dirty="0">
                          <a:effectLst/>
                        </a:rPr>
                        <a:t>Failure </a:t>
                      </a:r>
                      <a:endParaRPr lang="en-US" sz="1200" b="1" u="none" strike="noStrike" dirty="0" smtClean="0">
                        <a:effectLst/>
                      </a:endParaRPr>
                    </a:p>
                    <a:p>
                      <a:pPr algn="l" fontAlgn="ctr"/>
                      <a:r>
                        <a:rPr lang="en-US" sz="1200" b="1" u="none" strike="noStrike" dirty="0" smtClean="0">
                          <a:effectLst/>
                        </a:rPr>
                        <a:t>Protection</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시스템이 모든 데이터를 검증하여 불완전하거나 잘못된 제출을 방지함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시스템이 실시간으로 검증 및 피드백 제공한다</a:t>
                      </a:r>
                      <a:r>
                        <a:rPr lang="en-US" altLang="ko-KR" sz="1200" u="none" strike="noStrike" dirty="0">
                          <a:effectLst/>
                        </a:rPr>
                        <a:t>.</a:t>
                      </a:r>
                      <a:br>
                        <a:rPr lang="en-US" altLang="ko-KR" sz="1200" u="none" strike="noStrike" dirty="0">
                          <a:effectLst/>
                        </a:rPr>
                      </a:br>
                      <a:r>
                        <a:rPr lang="ko-KR" altLang="en-US" sz="1200" u="none" strike="noStrike" dirty="0">
                          <a:effectLst/>
                        </a:rPr>
                        <a:t>고객 상담 전화 번호를 제공하여</a:t>
                      </a:r>
                      <a:r>
                        <a:rPr lang="en-US" altLang="ko-KR" sz="1200" u="none" strike="noStrike" dirty="0">
                          <a:effectLst/>
                        </a:rPr>
                        <a:t>, </a:t>
                      </a:r>
                      <a:r>
                        <a:rPr lang="ko-KR" altLang="en-US" sz="1200" u="none" strike="noStrike" dirty="0">
                          <a:effectLst/>
                        </a:rPr>
                        <a:t>전화로 직접 가입할 수 있도록 한다</a:t>
                      </a:r>
                      <a:r>
                        <a:rPr lang="en-US" altLang="ko-KR" sz="1200" u="none" strike="noStrike" dirty="0">
                          <a:effectLst/>
                        </a:rPr>
                        <a:t>.</a:t>
                      </a:r>
                      <a:endParaRPr lang="en-US" altLang="ko-KR"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7"/>
                  </a:ext>
                </a:extLst>
              </a:tr>
              <a:tr h="260505">
                <a:tc>
                  <a:txBody>
                    <a:bodyPr/>
                    <a:lstStyle/>
                    <a:p>
                      <a:pPr algn="l" fontAlgn="ctr"/>
                      <a:r>
                        <a:rPr lang="en-US" sz="1200" b="1" u="none" strike="noStrike" dirty="0">
                          <a:effectLst/>
                        </a:rPr>
                        <a:t>Preconditions</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고객이 보험 구매를 결정함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고객이 보험 상품을 선택하고 신청서 작성을 시작할 준비가 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8"/>
                  </a:ext>
                </a:extLst>
              </a:tr>
              <a:tr h="260505">
                <a:tc>
                  <a:txBody>
                    <a:bodyPr/>
                    <a:lstStyle/>
                    <a:p>
                      <a:pPr algn="l" fontAlgn="ctr"/>
                      <a:r>
                        <a:rPr lang="en-US" sz="1200" b="1" u="none" strike="noStrike" dirty="0">
                          <a:effectLst/>
                        </a:rPr>
                        <a:t>Triggers</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고객이 보험 가입 절차를 시작함</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고객이 가입 신청서 작성 시작</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09"/>
                  </a:ext>
                </a:extLst>
              </a:tr>
              <a:tr h="1195084">
                <a:tc>
                  <a:txBody>
                    <a:bodyPr/>
                    <a:lstStyle/>
                    <a:p>
                      <a:pPr algn="l" fontAlgn="ctr"/>
                      <a:r>
                        <a:rPr lang="en-US" sz="1200" b="1" u="none" strike="noStrike" dirty="0">
                          <a:effectLst/>
                        </a:rPr>
                        <a:t>Main Success </a:t>
                      </a:r>
                      <a:endParaRPr lang="en-US" sz="1200" b="1" u="none" strike="noStrike" dirty="0" smtClean="0">
                        <a:effectLst/>
                      </a:endParaRPr>
                    </a:p>
                    <a:p>
                      <a:pPr algn="l" fontAlgn="ctr"/>
                      <a:r>
                        <a:rPr lang="en-US" sz="1200" b="1" u="none" strike="noStrike" dirty="0" smtClean="0">
                          <a:effectLst/>
                        </a:rPr>
                        <a:t>Scenario</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en-US" altLang="ko-KR" sz="1200" u="none" strike="noStrike" dirty="0">
                          <a:effectLst/>
                        </a:rPr>
                        <a:t>1. </a:t>
                      </a:r>
                      <a:r>
                        <a:rPr lang="ko-KR" altLang="en-US" sz="1200" u="none" strike="noStrike" dirty="0">
                          <a:effectLst/>
                        </a:rPr>
                        <a:t>고객이 보험사 웹사이트를 방문한다</a:t>
                      </a:r>
                      <a:br>
                        <a:rPr lang="ko-KR" altLang="en-US" sz="1200" u="none" strike="noStrike" dirty="0">
                          <a:effectLst/>
                        </a:rPr>
                      </a:br>
                      <a:r>
                        <a:rPr lang="en-US" altLang="ko-KR" sz="1200" u="none" strike="noStrike" dirty="0">
                          <a:effectLst/>
                        </a:rPr>
                        <a:t>2. </a:t>
                      </a:r>
                      <a:r>
                        <a:rPr lang="ko-KR" altLang="en-US" sz="1200" u="none" strike="noStrike" dirty="0">
                          <a:effectLst/>
                        </a:rPr>
                        <a:t>고객이 원하는 보험 상품 선택한다</a:t>
                      </a:r>
                      <a:br>
                        <a:rPr lang="ko-KR" altLang="en-US" sz="1200" u="none" strike="noStrike" dirty="0">
                          <a:effectLst/>
                        </a:rPr>
                      </a:br>
                      <a:r>
                        <a:rPr lang="en-US" altLang="ko-KR" sz="1200" u="none" strike="noStrike" dirty="0">
                          <a:effectLst/>
                        </a:rPr>
                        <a:t>3. </a:t>
                      </a:r>
                      <a:r>
                        <a:rPr lang="ko-KR" altLang="en-US" sz="1200" u="none" strike="noStrike" dirty="0">
                          <a:effectLst/>
                        </a:rPr>
                        <a:t>고객이 가입 신청서 작성한다</a:t>
                      </a:r>
                      <a:br>
                        <a:rPr lang="ko-KR" altLang="en-US" sz="1200" u="none" strike="noStrike" dirty="0">
                          <a:effectLst/>
                        </a:rPr>
                      </a:br>
                      <a:r>
                        <a:rPr lang="en-US" altLang="ko-KR" sz="1200" u="none" strike="noStrike" dirty="0">
                          <a:effectLst/>
                        </a:rPr>
                        <a:t>4. </a:t>
                      </a:r>
                      <a:r>
                        <a:rPr lang="ko-KR" altLang="en-US" sz="1200" u="none" strike="noStrike" dirty="0">
                          <a:effectLst/>
                        </a:rPr>
                        <a:t>시스템이 신청서 데이터를 검증한다</a:t>
                      </a:r>
                      <a:br>
                        <a:rPr lang="ko-KR" altLang="en-US" sz="1200" u="none" strike="noStrike" dirty="0">
                          <a:effectLst/>
                        </a:rPr>
                      </a:br>
                      <a:r>
                        <a:rPr lang="en-US" altLang="ko-KR" sz="1200" u="none" strike="noStrike" dirty="0">
                          <a:effectLst/>
                        </a:rPr>
                        <a:t>5. </a:t>
                      </a:r>
                      <a:r>
                        <a:rPr lang="ko-KR" altLang="en-US" sz="1200" u="none" strike="noStrike" dirty="0">
                          <a:effectLst/>
                        </a:rPr>
                        <a:t>고객이 신청서를 제출한다</a:t>
                      </a:r>
                      <a:br>
                        <a:rPr lang="ko-KR" altLang="en-US" sz="1200" u="none" strike="noStrike" dirty="0">
                          <a:effectLst/>
                        </a:rPr>
                      </a:br>
                      <a:r>
                        <a:rPr lang="en-US" altLang="ko-KR" sz="1200" u="none" strike="noStrike" dirty="0">
                          <a:effectLst/>
                        </a:rPr>
                        <a:t>6. </a:t>
                      </a:r>
                      <a:r>
                        <a:rPr lang="ko-KR" altLang="en-US" sz="1200" u="none" strike="noStrike" dirty="0">
                          <a:effectLst/>
                        </a:rPr>
                        <a:t>시스템이 가입을 처리하고 고객에게 가입 완료를 알린다</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en-US" altLang="ko-KR" sz="1200" u="none" strike="noStrike" dirty="0">
                          <a:effectLst/>
                        </a:rPr>
                        <a:t>1. </a:t>
                      </a:r>
                      <a:r>
                        <a:rPr lang="ko-KR" altLang="en-US" sz="1200" u="none" strike="noStrike" dirty="0">
                          <a:effectLst/>
                        </a:rPr>
                        <a:t>고객이 가입 신청 페이지를 연다 </a:t>
                      </a:r>
                      <a:br>
                        <a:rPr lang="ko-KR" altLang="en-US" sz="1200" u="none" strike="noStrike" dirty="0">
                          <a:effectLst/>
                        </a:rPr>
                      </a:br>
                      <a:r>
                        <a:rPr lang="en-US" altLang="ko-KR" sz="1200" u="none" strike="noStrike" dirty="0">
                          <a:effectLst/>
                        </a:rPr>
                        <a:t>2. </a:t>
                      </a:r>
                      <a:r>
                        <a:rPr lang="ko-KR" altLang="en-US" sz="1200" u="none" strike="noStrike" dirty="0">
                          <a:effectLst/>
                        </a:rPr>
                        <a:t>고객이 개인정보를 입력한다</a:t>
                      </a:r>
                      <a:r>
                        <a:rPr lang="en-US" altLang="ko-KR" sz="1200" u="none" strike="noStrike" dirty="0">
                          <a:effectLst/>
                        </a:rPr>
                        <a:t>.</a:t>
                      </a:r>
                      <a:br>
                        <a:rPr lang="en-US" altLang="ko-KR" sz="1200" u="none" strike="noStrike" dirty="0">
                          <a:effectLst/>
                        </a:rPr>
                      </a:br>
                      <a:r>
                        <a:rPr lang="en-US" altLang="ko-KR" sz="1200" u="none" strike="noStrike" dirty="0">
                          <a:effectLst/>
                        </a:rPr>
                        <a:t>3. </a:t>
                      </a:r>
                      <a:r>
                        <a:rPr lang="ko-KR" altLang="en-US" sz="1200" u="none" strike="noStrike" dirty="0">
                          <a:effectLst/>
                        </a:rPr>
                        <a:t>시스템이 실시간으로 데이터를 검증한다</a:t>
                      </a:r>
                      <a:r>
                        <a:rPr lang="en-US" altLang="ko-KR" sz="1200" u="none" strike="noStrike" dirty="0">
                          <a:effectLst/>
                        </a:rPr>
                        <a:t>. </a:t>
                      </a:r>
                      <a:br>
                        <a:rPr lang="en-US" altLang="ko-KR" sz="1200" u="none" strike="noStrike" dirty="0">
                          <a:effectLst/>
                        </a:rPr>
                      </a:br>
                      <a:r>
                        <a:rPr lang="en-US" altLang="ko-KR" sz="1200" u="none" strike="noStrike" dirty="0">
                          <a:effectLst/>
                        </a:rPr>
                        <a:t>4. </a:t>
                      </a:r>
                      <a:r>
                        <a:rPr lang="ko-KR" altLang="en-US" sz="1200" u="none" strike="noStrike" dirty="0">
                          <a:effectLst/>
                        </a:rPr>
                        <a:t>고객이 신청서 작성을 완료한다</a:t>
                      </a:r>
                      <a:r>
                        <a:rPr lang="en-US" altLang="ko-KR" sz="1200" u="none" strike="noStrike" dirty="0">
                          <a:effectLst/>
                        </a:rPr>
                        <a:t>.</a:t>
                      </a:r>
                      <a:endParaRPr lang="en-US" altLang="ko-KR"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0"/>
                  </a:ext>
                </a:extLst>
              </a:tr>
              <a:tr h="469072">
                <a:tc>
                  <a:txBody>
                    <a:bodyPr/>
                    <a:lstStyle/>
                    <a:p>
                      <a:pPr algn="l" fontAlgn="ctr"/>
                      <a:r>
                        <a:rPr lang="en-US" sz="1200" b="1" u="none" strike="noStrike" dirty="0">
                          <a:effectLst/>
                        </a:rPr>
                        <a:t>Extensions</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　</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en-US" altLang="ko-KR" sz="1200" u="none" strike="noStrike" dirty="0">
                          <a:effectLst/>
                        </a:rPr>
                        <a:t>[</a:t>
                      </a:r>
                      <a:r>
                        <a:rPr lang="ko-KR" altLang="en-US" sz="1200" u="none" strike="noStrike" dirty="0">
                          <a:effectLst/>
                        </a:rPr>
                        <a:t>고객이 입력한 정보에 오류가 있을 경우</a:t>
                      </a:r>
                      <a:r>
                        <a:rPr lang="en-US" altLang="ko-KR" sz="1200" u="none" strike="noStrike" dirty="0">
                          <a:effectLst/>
                        </a:rPr>
                        <a:t>]</a:t>
                      </a:r>
                      <a:br>
                        <a:rPr lang="en-US" altLang="ko-KR" sz="1200" u="none" strike="noStrike" dirty="0">
                          <a:effectLst/>
                        </a:rPr>
                      </a:br>
                      <a:r>
                        <a:rPr lang="en-US" altLang="ko-KR" sz="1200" u="none" strike="noStrike" dirty="0">
                          <a:effectLst/>
                        </a:rPr>
                        <a:t>3a. </a:t>
                      </a:r>
                      <a:r>
                        <a:rPr lang="ko-KR" altLang="en-US" sz="1200" u="none" strike="noStrike" dirty="0">
                          <a:effectLst/>
                        </a:rPr>
                        <a:t>오류가 있는 </a:t>
                      </a:r>
                      <a:r>
                        <a:rPr lang="ko-KR" altLang="en-US" sz="1200" u="none" strike="noStrike" dirty="0" err="1">
                          <a:effectLst/>
                        </a:rPr>
                        <a:t>입력값의</a:t>
                      </a:r>
                      <a:r>
                        <a:rPr lang="ko-KR" altLang="en-US" sz="1200" u="none" strike="noStrike" dirty="0">
                          <a:effectLst/>
                        </a:rPr>
                        <a:t> 오류 내용을 표시한다</a:t>
                      </a:r>
                      <a:r>
                        <a:rPr lang="en-US" altLang="ko-KR" sz="1200" u="none" strike="noStrike" dirty="0">
                          <a:effectLst/>
                        </a:rPr>
                        <a:t>.</a:t>
                      </a:r>
                      <a:endParaRPr lang="en-US" altLang="ko-KR"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1"/>
                  </a:ext>
                </a:extLst>
              </a:tr>
              <a:tr h="469072">
                <a:tc>
                  <a:txBody>
                    <a:bodyPr/>
                    <a:lstStyle/>
                    <a:p>
                      <a:pPr algn="l" fontAlgn="ctr"/>
                      <a:r>
                        <a:rPr lang="en-US" sz="1200" b="1" u="none" strike="noStrike" dirty="0">
                          <a:effectLst/>
                        </a:rPr>
                        <a:t>Frequency of </a:t>
                      </a:r>
                      <a:endParaRPr lang="en-US" sz="1200" b="1" u="none" strike="noStrike" dirty="0" smtClean="0">
                        <a:effectLst/>
                      </a:endParaRPr>
                    </a:p>
                    <a:p>
                      <a:pPr algn="l" fontAlgn="ctr"/>
                      <a:r>
                        <a:rPr lang="en-US" sz="1200" b="1" u="none" strike="noStrike" dirty="0" smtClean="0">
                          <a:effectLst/>
                        </a:rPr>
                        <a:t>Occurrence</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　</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일일</a:t>
                      </a:r>
                      <a:r>
                        <a:rPr lang="en-US" altLang="ko-KR" sz="1200" u="none" strike="noStrike" dirty="0">
                          <a:effectLst/>
                        </a:rPr>
                        <a:t>, </a:t>
                      </a:r>
                      <a:r>
                        <a:rPr lang="ko-KR" altLang="en-US" sz="1200" u="none" strike="noStrike" dirty="0">
                          <a:effectLst/>
                        </a:rPr>
                        <a:t>고객 </a:t>
                      </a:r>
                      <a:r>
                        <a:rPr lang="ko-KR" altLang="en-US" sz="1200" u="none" strike="noStrike" dirty="0" err="1">
                          <a:effectLst/>
                        </a:rPr>
                        <a:t>트래픽에</a:t>
                      </a:r>
                      <a:r>
                        <a:rPr lang="ko-KR" altLang="en-US" sz="1200" u="none" strike="noStrike" dirty="0">
                          <a:effectLst/>
                        </a:rPr>
                        <a:t> 따라 여러 번</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2"/>
                  </a:ext>
                </a:extLst>
              </a:tr>
              <a:tr h="447421">
                <a:tc>
                  <a:txBody>
                    <a:bodyPr/>
                    <a:lstStyle/>
                    <a:p>
                      <a:pPr algn="l" fontAlgn="ctr"/>
                      <a:r>
                        <a:rPr lang="en-US" sz="1200" b="1" u="none" strike="noStrike" dirty="0">
                          <a:effectLst/>
                        </a:rPr>
                        <a:t>Open Issues</a:t>
                      </a:r>
                      <a:endParaRPr lang="en-US" sz="1200" b="1" i="0" u="none" strike="noStrike" dirty="0">
                        <a:solidFill>
                          <a:srgbClr val="000000"/>
                        </a:solidFill>
                        <a:effectLst/>
                        <a:latin typeface="맑은 고딕"/>
                      </a:endParaRPr>
                    </a:p>
                  </a:txBody>
                  <a:tcPr marL="72000" marR="72000" marT="36000" marB="36000" anchor="ctr"/>
                </a:tc>
                <a:tc>
                  <a:txBody>
                    <a:bodyPr/>
                    <a:lstStyle/>
                    <a:p>
                      <a:pPr algn="l" fontAlgn="ctr"/>
                      <a:r>
                        <a:rPr lang="ko-KR" altLang="en-US" sz="1200" u="none" strike="noStrike" dirty="0">
                          <a:effectLst/>
                        </a:rPr>
                        <a:t>없음</a:t>
                      </a:r>
                      <a:endParaRPr lang="ko-KR" altLang="en-US" sz="1200" b="0" i="0" u="none" strike="noStrike" dirty="0">
                        <a:solidFill>
                          <a:srgbClr val="000000"/>
                        </a:solidFill>
                        <a:effectLst/>
                        <a:latin typeface="맑은 고딕"/>
                      </a:endParaRPr>
                    </a:p>
                  </a:txBody>
                  <a:tcPr marL="72000" marR="72000" marT="36000" marB="36000" anchor="ctr">
                    <a:solidFill>
                      <a:srgbClr val="EBF9F9"/>
                    </a:solidFill>
                  </a:tcPr>
                </a:tc>
                <a:tc>
                  <a:txBody>
                    <a:bodyPr/>
                    <a:lstStyle/>
                    <a:p>
                      <a:pPr algn="l" fontAlgn="ctr"/>
                      <a:r>
                        <a:rPr lang="ko-KR" altLang="en-US" sz="1200" u="none" strike="noStrike" dirty="0">
                          <a:effectLst/>
                        </a:rPr>
                        <a:t>고객이 신청서 작성 중 추가 정보나 문서를 필요로 할 경우 어떻게 대처할 것인가</a:t>
                      </a:r>
                      <a:r>
                        <a:rPr lang="en-US" altLang="ko-KR" sz="1200" u="none" strike="noStrike" dirty="0">
                          <a:effectLst/>
                        </a:rPr>
                        <a:t>?</a:t>
                      </a:r>
                      <a:endParaRPr lang="en-US" altLang="ko-KR" sz="1200" b="0" i="0" u="none" strike="noStrike" dirty="0">
                        <a:solidFill>
                          <a:srgbClr val="000000"/>
                        </a:solidFill>
                        <a:effectLst/>
                        <a:latin typeface="맑은 고딕"/>
                      </a:endParaRPr>
                    </a:p>
                  </a:txBody>
                  <a:tcPr marL="72000" marR="72000" marT="36000" marB="36000" anchor="ctr">
                    <a:solidFill>
                      <a:srgbClr val="EBF9F9"/>
                    </a:solidFill>
                  </a:tcPr>
                </a:tc>
                <a:extLst>
                  <a:ext uri="{0D108BD9-81ED-4DB2-BD59-A6C34878D82A}">
                    <a16:rowId xmlns="" xmlns:a16="http://schemas.microsoft.com/office/drawing/2014/main" val="10013"/>
                  </a:ext>
                </a:extLst>
              </a:tr>
            </a:tbl>
          </a:graphicData>
        </a:graphic>
      </p:graphicFrame>
    </p:spTree>
    <p:extLst>
      <p:ext uri="{BB962C8B-B14F-4D97-AF65-F5344CB8AC3E}">
        <p14:creationId xmlns:p14="http://schemas.microsoft.com/office/powerpoint/2010/main" val="1160427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2156505511"/>
              </p:ext>
            </p:extLst>
          </p:nvPr>
        </p:nvGraphicFramePr>
        <p:xfrm>
          <a:off x="407368" y="980728"/>
          <a:ext cx="6840760" cy="5314752"/>
        </p:xfrm>
        <a:graphic>
          <a:graphicData uri="http://schemas.openxmlformats.org/drawingml/2006/table">
            <a:tbl>
              <a:tblPr>
                <a:tableStyleId>{5C22544A-7EE6-4342-B048-85BDC9FD1C3A}</a:tableStyleId>
              </a:tblPr>
              <a:tblGrid>
                <a:gridCol w="1852706">
                  <a:extLst>
                    <a:ext uri="{9D8B030D-6E8A-4147-A177-3AD203B41FA5}">
                      <a16:colId xmlns="" xmlns:a16="http://schemas.microsoft.com/office/drawing/2014/main" val="1519849014"/>
                    </a:ext>
                  </a:extLst>
                </a:gridCol>
                <a:gridCol w="4988054">
                  <a:extLst>
                    <a:ext uri="{9D8B030D-6E8A-4147-A177-3AD203B41FA5}">
                      <a16:colId xmlns="" xmlns:a16="http://schemas.microsoft.com/office/drawing/2014/main" val="1170553167"/>
                    </a:ext>
                  </a:extLst>
                </a:gridCol>
              </a:tblGrid>
              <a:tr h="260991">
                <a:tc>
                  <a:txBody>
                    <a:bodyPr/>
                    <a:lstStyle/>
                    <a:p>
                      <a:pPr algn="l" fontAlgn="ctr">
                        <a:lnSpc>
                          <a:spcPct val="120000"/>
                        </a:lnSpc>
                      </a:pPr>
                      <a:r>
                        <a:rPr lang="en-US" sz="1200" b="1" u="none" strike="noStrike" kern="1200" dirty="0">
                          <a:solidFill>
                            <a:schemeClr val="dk1"/>
                          </a:solidFill>
                          <a:effectLst/>
                          <a:latin typeface="+mn-lt"/>
                          <a:ea typeface="+mn-ea"/>
                          <a:cs typeface="+mn-cs"/>
                        </a:rPr>
                        <a:t>Use Case Name</a:t>
                      </a:r>
                    </a:p>
                  </a:txBody>
                  <a:tcPr marL="144000" marR="144000" marT="72000" marB="72000" anchor="ctr"/>
                </a:tc>
                <a:tc>
                  <a:txBody>
                    <a:bodyPr/>
                    <a:lstStyle/>
                    <a:p>
                      <a:pPr algn="ctr" fontAlgn="ctr">
                        <a:lnSpc>
                          <a:spcPct val="120000"/>
                        </a:lnSpc>
                      </a:pPr>
                      <a:r>
                        <a:rPr lang="ko-KR" altLang="en-US" sz="1200" u="none" strike="noStrike" kern="1200" dirty="0">
                          <a:solidFill>
                            <a:schemeClr val="dk1"/>
                          </a:solidFill>
                          <a:effectLst/>
                          <a:latin typeface="+mn-lt"/>
                          <a:ea typeface="+mn-ea"/>
                          <a:cs typeface="+mn-cs"/>
                        </a:rPr>
                        <a:t>　</a:t>
                      </a:r>
                    </a:p>
                  </a:txBody>
                  <a:tcPr marL="144000" marR="144000" marT="72000" marB="72000" anchor="ctr">
                    <a:solidFill>
                      <a:srgbClr val="EBF9F9"/>
                    </a:solidFill>
                  </a:tcPr>
                </a:tc>
                <a:extLst>
                  <a:ext uri="{0D108BD9-81ED-4DB2-BD59-A6C34878D82A}">
                    <a16:rowId xmlns="" xmlns:a16="http://schemas.microsoft.com/office/drawing/2014/main" val="4177653371"/>
                  </a:ext>
                </a:extLst>
              </a:tr>
              <a:tr h="260991">
                <a:tc>
                  <a:txBody>
                    <a:bodyPr/>
                    <a:lstStyle/>
                    <a:p>
                      <a:pPr algn="l" fontAlgn="ctr">
                        <a:lnSpc>
                          <a:spcPct val="120000"/>
                        </a:lnSpc>
                      </a:pPr>
                      <a:r>
                        <a:rPr lang="en-US" sz="1200" b="1" u="none" strike="noStrike" kern="1200" dirty="0">
                          <a:solidFill>
                            <a:schemeClr val="dk1"/>
                          </a:solidFill>
                          <a:effectLst/>
                          <a:latin typeface="+mn-lt"/>
                          <a:ea typeface="+mn-ea"/>
                          <a:cs typeface="+mn-cs"/>
                        </a:rPr>
                        <a:t>Scope</a:t>
                      </a: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시스템의 어떤 부분에 해당하는지를 </a:t>
                      </a:r>
                      <a:r>
                        <a:rPr lang="ko-KR" altLang="en-US" sz="1200" u="none" strike="noStrike" kern="1200" dirty="0" smtClean="0">
                          <a:solidFill>
                            <a:schemeClr val="dk1"/>
                          </a:solidFill>
                          <a:effectLst/>
                          <a:latin typeface="+mn-lt"/>
                          <a:ea typeface="+mn-ea"/>
                          <a:cs typeface="+mn-cs"/>
                        </a:rPr>
                        <a:t>작성</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3739337909"/>
                  </a:ext>
                </a:extLst>
              </a:tr>
              <a:tr h="418578">
                <a:tc>
                  <a:txBody>
                    <a:bodyPr/>
                    <a:lstStyle/>
                    <a:p>
                      <a:pPr algn="l" fontAlgn="ctr">
                        <a:lnSpc>
                          <a:spcPct val="120000"/>
                        </a:lnSpc>
                      </a:pPr>
                      <a:r>
                        <a:rPr lang="en-US" sz="1200" b="1" u="none" strike="noStrike" kern="1200" dirty="0">
                          <a:solidFill>
                            <a:schemeClr val="dk1"/>
                          </a:solidFill>
                          <a:effectLst/>
                          <a:latin typeface="+mn-lt"/>
                          <a:ea typeface="+mn-ea"/>
                          <a:cs typeface="+mn-cs"/>
                        </a:rPr>
                        <a:t>Level</a:t>
                      </a:r>
                    </a:p>
                  </a:txBody>
                  <a:tcPr marL="144000" marR="144000" marT="72000" marB="72000" anchor="ctr"/>
                </a:tc>
                <a:tc>
                  <a:txBody>
                    <a:bodyPr/>
                    <a:lstStyle/>
                    <a:p>
                      <a:pPr marL="0" indent="0" algn="l" fontAlgn="ctr">
                        <a:lnSpc>
                          <a:spcPct val="120000"/>
                        </a:lnSpc>
                        <a:buFont typeface="Arial" panose="020B0604020202020204" pitchFamily="34" charset="0"/>
                        <a:buNone/>
                      </a:pPr>
                      <a:r>
                        <a:rPr lang="ko-KR" altLang="en-US" sz="1200" u="none" strike="noStrike" kern="1200" dirty="0" smtClean="0">
                          <a:solidFill>
                            <a:schemeClr val="dk1"/>
                          </a:solidFill>
                          <a:effectLst/>
                          <a:latin typeface="+mn-lt"/>
                          <a:ea typeface="+mn-ea"/>
                          <a:cs typeface="+mn-cs"/>
                        </a:rPr>
                        <a:t>시나리오가 사용자와 </a:t>
                      </a:r>
                      <a:r>
                        <a:rPr lang="ko-KR" altLang="en-US" sz="1200" u="none" strike="noStrike" kern="1200" dirty="0">
                          <a:solidFill>
                            <a:schemeClr val="dk1"/>
                          </a:solidFill>
                          <a:effectLst/>
                          <a:latin typeface="+mn-lt"/>
                          <a:ea typeface="+mn-ea"/>
                          <a:cs typeface="+mn-cs"/>
                        </a:rPr>
                        <a:t>시스템 간의 상호작용이 얼마나 상세하게 </a:t>
                      </a:r>
                      <a:r>
                        <a:rPr lang="ko-KR" altLang="en-US" sz="1200" u="none" strike="noStrike" kern="1200" dirty="0" smtClean="0">
                          <a:solidFill>
                            <a:schemeClr val="dk1"/>
                          </a:solidFill>
                          <a:effectLst/>
                          <a:latin typeface="+mn-lt"/>
                          <a:ea typeface="+mn-ea"/>
                          <a:cs typeface="+mn-cs"/>
                        </a:rPr>
                        <a:t>기술되는지를 </a:t>
                      </a:r>
                      <a:r>
                        <a:rPr lang="en-US" altLang="ko-KR" sz="1200" b="1" u="none" strike="noStrike" kern="1200" dirty="0" smtClean="0">
                          <a:solidFill>
                            <a:schemeClr val="dk1"/>
                          </a:solidFill>
                          <a:effectLst/>
                          <a:latin typeface="+mn-lt"/>
                          <a:ea typeface="+mn-ea"/>
                          <a:cs typeface="+mn-cs"/>
                        </a:rPr>
                        <a:t>Summary, User-goal, </a:t>
                      </a:r>
                      <a:r>
                        <a:rPr lang="en-US" altLang="ko-KR" sz="1200" b="1" u="none" strike="noStrike" kern="1200" dirty="0" err="1" smtClean="0">
                          <a:solidFill>
                            <a:schemeClr val="dk1"/>
                          </a:solidFill>
                          <a:effectLst/>
                          <a:latin typeface="+mn-lt"/>
                          <a:ea typeface="+mn-ea"/>
                          <a:cs typeface="+mn-cs"/>
                        </a:rPr>
                        <a:t>Subfunction</a:t>
                      </a:r>
                      <a:r>
                        <a:rPr lang="en-US" altLang="ko-KR" sz="1200" b="1" u="none" strike="noStrike" kern="1200" dirty="0" smtClean="0">
                          <a:solidFill>
                            <a:schemeClr val="dk1"/>
                          </a:solidFill>
                          <a:effectLst/>
                          <a:latin typeface="+mn-lt"/>
                          <a:ea typeface="+mn-ea"/>
                          <a:cs typeface="+mn-cs"/>
                        </a:rPr>
                        <a:t> </a:t>
                      </a:r>
                      <a:r>
                        <a:rPr lang="ko-KR" altLang="en-US" sz="1200" b="0" u="none" strike="noStrike" kern="1200" dirty="0" smtClean="0">
                          <a:solidFill>
                            <a:schemeClr val="dk1"/>
                          </a:solidFill>
                          <a:effectLst/>
                          <a:latin typeface="+mn-lt"/>
                          <a:ea typeface="+mn-ea"/>
                          <a:cs typeface="+mn-cs"/>
                        </a:rPr>
                        <a:t>중에 선택</a:t>
                      </a:r>
                      <a:endParaRPr lang="en-US" altLang="ko-KR" sz="1200" b="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3000527754"/>
                  </a:ext>
                </a:extLst>
              </a:tr>
              <a:tr h="418578">
                <a:tc>
                  <a:txBody>
                    <a:bodyPr/>
                    <a:lstStyle/>
                    <a:p>
                      <a:pPr algn="l" fontAlgn="ctr">
                        <a:lnSpc>
                          <a:spcPct val="120000"/>
                        </a:lnSpc>
                      </a:pPr>
                      <a:r>
                        <a:rPr lang="en-US" sz="1200" b="1" u="none" strike="noStrike" kern="1200" dirty="0">
                          <a:solidFill>
                            <a:schemeClr val="dk1"/>
                          </a:solidFill>
                          <a:effectLst/>
                          <a:latin typeface="+mn-lt"/>
                          <a:ea typeface="+mn-ea"/>
                          <a:cs typeface="+mn-cs"/>
                        </a:rPr>
                        <a:t>Primary Actor</a:t>
                      </a:r>
                    </a:p>
                  </a:txBody>
                  <a:tcPr marL="144000" marR="144000" marT="72000" marB="72000" anchor="ctr"/>
                </a:tc>
                <a:tc>
                  <a:txBody>
                    <a:bodyPr/>
                    <a:lstStyle/>
                    <a:p>
                      <a:pPr marL="0" marR="0" lvl="0" indent="0" algn="l" defTabSz="914400" rtl="0" eaLnBrk="1" fontAlgn="ctr" latinLnBrk="1" hangingPunct="1">
                        <a:lnSpc>
                          <a:spcPct val="120000"/>
                        </a:lnSpc>
                        <a:spcBef>
                          <a:spcPts val="0"/>
                        </a:spcBef>
                        <a:spcAft>
                          <a:spcPts val="0"/>
                        </a:spcAft>
                        <a:buClrTx/>
                        <a:buSzTx/>
                        <a:buFontTx/>
                        <a:buNone/>
                        <a:tabLst/>
                        <a:defRPr/>
                      </a:pPr>
                      <a:r>
                        <a:rPr lang="ko-KR" altLang="en-US" sz="1200" u="none" strike="noStrike" dirty="0" err="1" smtClean="0">
                          <a:effectLst/>
                        </a:rPr>
                        <a:t>유스케이스에서</a:t>
                      </a:r>
                      <a:r>
                        <a:rPr lang="ko-KR" altLang="en-US" sz="1200" u="none" strike="noStrike" dirty="0" smtClean="0">
                          <a:effectLst/>
                        </a:rPr>
                        <a:t> 주요 행위자를 나타내며</a:t>
                      </a:r>
                      <a:r>
                        <a:rPr lang="en-US" altLang="ko-KR" sz="1200" u="none" strike="noStrike" dirty="0" smtClean="0">
                          <a:effectLst/>
                        </a:rPr>
                        <a:t>, </a:t>
                      </a:r>
                      <a:r>
                        <a:rPr lang="ko-KR" altLang="en-US" sz="1200" u="none" strike="noStrike" dirty="0" smtClean="0">
                          <a:effectLst/>
                        </a:rPr>
                        <a:t>시스템을 사용하는 주요 사용자</a:t>
                      </a:r>
                      <a:endParaRPr lang="ko-KR" altLang="en-US"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684785174"/>
                  </a:ext>
                </a:extLst>
              </a:tr>
              <a:tr h="418578">
                <a:tc>
                  <a:txBody>
                    <a:bodyPr/>
                    <a:lstStyle/>
                    <a:p>
                      <a:pPr algn="l" fontAlgn="ctr">
                        <a:lnSpc>
                          <a:spcPct val="120000"/>
                        </a:lnSpc>
                      </a:pPr>
                      <a:r>
                        <a:rPr lang="en-US" sz="1200" b="1" u="none" strike="noStrike" kern="1200" dirty="0">
                          <a:solidFill>
                            <a:schemeClr val="dk1"/>
                          </a:solidFill>
                          <a:effectLst/>
                          <a:latin typeface="+mn-lt"/>
                          <a:ea typeface="+mn-ea"/>
                          <a:cs typeface="+mn-cs"/>
                        </a:rPr>
                        <a:t>Stakeholders </a:t>
                      </a:r>
                      <a:r>
                        <a:rPr lang="en-US" sz="1200" b="1" u="none" strike="noStrike" kern="1200" dirty="0" smtClean="0">
                          <a:solidFill>
                            <a:schemeClr val="dk1"/>
                          </a:solidFill>
                          <a:effectLst/>
                          <a:latin typeface="+mn-lt"/>
                          <a:ea typeface="+mn-ea"/>
                          <a:cs typeface="+mn-cs"/>
                        </a:rPr>
                        <a:t/>
                      </a:r>
                      <a:br>
                        <a:rPr lang="en-US" sz="1200" b="1" u="none" strike="noStrike" kern="1200" dirty="0" smtClean="0">
                          <a:solidFill>
                            <a:schemeClr val="dk1"/>
                          </a:solidFill>
                          <a:effectLst/>
                          <a:latin typeface="+mn-lt"/>
                          <a:ea typeface="+mn-ea"/>
                          <a:cs typeface="+mn-cs"/>
                        </a:rPr>
                      </a:br>
                      <a:r>
                        <a:rPr lang="en-US" sz="1200" b="1" u="none" strike="noStrike" kern="1200" dirty="0" smtClean="0">
                          <a:solidFill>
                            <a:schemeClr val="dk1"/>
                          </a:solidFill>
                          <a:effectLst/>
                          <a:latin typeface="+mn-lt"/>
                          <a:ea typeface="+mn-ea"/>
                          <a:cs typeface="+mn-cs"/>
                        </a:rPr>
                        <a:t>and Interests</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u="none" strike="noStrike" kern="1200" dirty="0">
                          <a:solidFill>
                            <a:schemeClr val="dk1"/>
                          </a:solidFill>
                          <a:effectLst/>
                          <a:latin typeface="+mn-lt"/>
                          <a:ea typeface="+mn-ea"/>
                          <a:cs typeface="+mn-cs"/>
                        </a:rPr>
                        <a:t>이해관계자와 </a:t>
                      </a:r>
                      <a:r>
                        <a:rPr lang="ko-KR" altLang="en-US" sz="1200" u="none" strike="noStrike" kern="1200" dirty="0" err="1" smtClean="0">
                          <a:solidFill>
                            <a:schemeClr val="dk1"/>
                          </a:solidFill>
                          <a:effectLst/>
                          <a:latin typeface="+mn-lt"/>
                          <a:ea typeface="+mn-ea"/>
                          <a:cs typeface="+mn-cs"/>
                        </a:rPr>
                        <a:t>유스케이스에</a:t>
                      </a:r>
                      <a:r>
                        <a:rPr lang="ko-KR" altLang="en-US" sz="1200" u="none" strike="noStrike" kern="1200" dirty="0" smtClean="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대한 </a:t>
                      </a:r>
                      <a:r>
                        <a:rPr lang="ko-KR" altLang="en-US" sz="1200" u="none" strike="noStrike" kern="1200" dirty="0" smtClean="0">
                          <a:solidFill>
                            <a:schemeClr val="dk1"/>
                          </a:solidFill>
                          <a:effectLst/>
                          <a:latin typeface="+mn-lt"/>
                          <a:ea typeface="+mn-ea"/>
                          <a:cs typeface="+mn-cs"/>
                        </a:rPr>
                        <a:t>그들이 </a:t>
                      </a:r>
                      <a:r>
                        <a:rPr lang="ko-KR" altLang="en-US" sz="1200" b="1" u="none" strike="noStrike" kern="1200" dirty="0" smtClean="0">
                          <a:solidFill>
                            <a:schemeClr val="dk1"/>
                          </a:solidFill>
                          <a:effectLst/>
                          <a:latin typeface="+mn-lt"/>
                          <a:ea typeface="+mn-ea"/>
                          <a:cs typeface="+mn-cs"/>
                        </a:rPr>
                        <a:t>원하는 것을 기술</a:t>
                      </a:r>
                      <a:endParaRPr lang="en-US" altLang="ko-KR" sz="1200" b="1"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2907352484"/>
                  </a:ext>
                </a:extLst>
              </a:tr>
              <a:tr h="260991">
                <a:tc>
                  <a:txBody>
                    <a:bodyPr/>
                    <a:lstStyle/>
                    <a:p>
                      <a:pPr algn="l" fontAlgn="ctr">
                        <a:lnSpc>
                          <a:spcPct val="120000"/>
                        </a:lnSpc>
                      </a:pPr>
                      <a:r>
                        <a:rPr lang="en-US" sz="1200" b="1" u="none" strike="noStrike" kern="1200" dirty="0">
                          <a:solidFill>
                            <a:schemeClr val="dk1"/>
                          </a:solidFill>
                          <a:effectLst/>
                          <a:latin typeface="+mn-lt"/>
                          <a:ea typeface="+mn-ea"/>
                          <a:cs typeface="+mn-cs"/>
                        </a:rPr>
                        <a:t>Preconditions</a:t>
                      </a: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시작되기 전에 충족되어야 하는 조건을 </a:t>
                      </a:r>
                      <a:r>
                        <a:rPr lang="ko-KR" altLang="en-US" sz="1200" u="none" strike="noStrike" kern="1200" dirty="0" smtClean="0">
                          <a:solidFill>
                            <a:schemeClr val="dk1"/>
                          </a:solidFill>
                          <a:effectLst/>
                          <a:latin typeface="+mn-lt"/>
                          <a:ea typeface="+mn-ea"/>
                          <a:cs typeface="+mn-cs"/>
                        </a:rPr>
                        <a:t>기술</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904667318"/>
                  </a:ext>
                </a:extLst>
              </a:tr>
              <a:tr h="260991">
                <a:tc>
                  <a:txBody>
                    <a:bodyPr/>
                    <a:lstStyle/>
                    <a:p>
                      <a:pPr algn="l" fontAlgn="ctr">
                        <a:lnSpc>
                          <a:spcPct val="120000"/>
                        </a:lnSpc>
                      </a:pPr>
                      <a:r>
                        <a:rPr lang="en-US" sz="1200" b="1" u="none" strike="noStrike" kern="1200" dirty="0">
                          <a:solidFill>
                            <a:schemeClr val="dk1"/>
                          </a:solidFill>
                          <a:effectLst/>
                          <a:latin typeface="+mn-lt"/>
                          <a:ea typeface="+mn-ea"/>
                          <a:cs typeface="+mn-cs"/>
                        </a:rPr>
                        <a:t>Success </a:t>
                      </a:r>
                      <a:r>
                        <a:rPr lang="en-US" sz="1200" b="1" u="none" strike="noStrike" kern="1200" dirty="0" smtClean="0">
                          <a:solidFill>
                            <a:schemeClr val="dk1"/>
                          </a:solidFill>
                          <a:effectLst/>
                          <a:latin typeface="+mn-lt"/>
                          <a:ea typeface="+mn-ea"/>
                          <a:cs typeface="+mn-cs"/>
                        </a:rPr>
                        <a:t>Guarantee</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성공적으로 완료되었을 때의 상태를 </a:t>
                      </a:r>
                      <a:r>
                        <a:rPr lang="ko-KR" altLang="en-US" sz="1200" u="none" strike="noStrike" kern="1200" dirty="0" smtClean="0">
                          <a:solidFill>
                            <a:schemeClr val="dk1"/>
                          </a:solidFill>
                          <a:effectLst/>
                          <a:latin typeface="+mn-lt"/>
                          <a:ea typeface="+mn-ea"/>
                          <a:cs typeface="+mn-cs"/>
                        </a:rPr>
                        <a:t>설명</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1923804042"/>
                  </a:ext>
                </a:extLst>
              </a:tr>
              <a:tr h="418578">
                <a:tc>
                  <a:txBody>
                    <a:bodyPr/>
                    <a:lstStyle/>
                    <a:p>
                      <a:pPr algn="l" fontAlgn="ctr">
                        <a:lnSpc>
                          <a:spcPct val="120000"/>
                        </a:lnSpc>
                      </a:pPr>
                      <a:r>
                        <a:rPr lang="en-US" sz="1200" b="1" u="none" strike="noStrike" kern="1200" dirty="0">
                          <a:solidFill>
                            <a:schemeClr val="dk1"/>
                          </a:solidFill>
                          <a:effectLst/>
                          <a:latin typeface="+mn-lt"/>
                          <a:ea typeface="+mn-ea"/>
                          <a:cs typeface="+mn-cs"/>
                        </a:rPr>
                        <a:t>Main </a:t>
                      </a:r>
                      <a:r>
                        <a:rPr lang="en-US" sz="1200" b="1" u="none" strike="noStrike" kern="1200" dirty="0" smtClean="0">
                          <a:solidFill>
                            <a:schemeClr val="dk1"/>
                          </a:solidFill>
                          <a:effectLst/>
                          <a:latin typeface="+mn-lt"/>
                          <a:ea typeface="+mn-ea"/>
                          <a:cs typeface="+mn-cs"/>
                        </a:rPr>
                        <a:t>Success Scenario</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성공적으로 완료되는 주요 시나리오를 단계별로 </a:t>
                      </a:r>
                      <a:r>
                        <a:rPr lang="ko-KR" altLang="en-US" sz="1200" u="none" strike="noStrike" kern="1200" dirty="0" smtClean="0">
                          <a:solidFill>
                            <a:schemeClr val="dk1"/>
                          </a:solidFill>
                          <a:effectLst/>
                          <a:latin typeface="+mn-lt"/>
                          <a:ea typeface="+mn-ea"/>
                          <a:cs typeface="+mn-cs"/>
                        </a:rPr>
                        <a:t>기술</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4230572740"/>
                  </a:ext>
                </a:extLst>
              </a:tr>
              <a:tr h="418578">
                <a:tc>
                  <a:txBody>
                    <a:bodyPr/>
                    <a:lstStyle/>
                    <a:p>
                      <a:pPr algn="l" fontAlgn="ctr">
                        <a:lnSpc>
                          <a:spcPct val="120000"/>
                        </a:lnSpc>
                      </a:pPr>
                      <a:r>
                        <a:rPr lang="en-US" sz="1200" b="1" u="none" strike="noStrike" kern="1200" dirty="0">
                          <a:solidFill>
                            <a:schemeClr val="dk1"/>
                          </a:solidFill>
                          <a:effectLst/>
                          <a:latin typeface="+mn-lt"/>
                          <a:ea typeface="+mn-ea"/>
                          <a:cs typeface="+mn-cs"/>
                        </a:rPr>
                        <a:t>Extension</a:t>
                      </a:r>
                    </a:p>
                  </a:txBody>
                  <a:tcPr marL="144000" marR="144000" marT="72000" marB="72000" anchor="ctr"/>
                </a:tc>
                <a:tc>
                  <a:txBody>
                    <a:bodyPr/>
                    <a:lstStyle/>
                    <a:p>
                      <a:pPr algn="l" fontAlgn="ctr">
                        <a:lnSpc>
                          <a:spcPct val="120000"/>
                        </a:lnSpc>
                      </a:pPr>
                      <a:r>
                        <a:rPr lang="ko-KR" altLang="en-US" sz="1200" u="none" strike="noStrike" kern="1200" dirty="0">
                          <a:solidFill>
                            <a:schemeClr val="dk1"/>
                          </a:solidFill>
                          <a:effectLst/>
                          <a:latin typeface="+mn-lt"/>
                          <a:ea typeface="+mn-ea"/>
                          <a:cs typeface="+mn-cs"/>
                        </a:rPr>
                        <a:t>주요 시나리오에서 벗어나는 대안적인 시나리오나</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성공적으로 완료 </a:t>
                      </a:r>
                      <a:r>
                        <a:rPr lang="ko-KR" altLang="en-US" sz="1200" u="none" strike="noStrike" kern="1200" dirty="0" smtClean="0">
                          <a:solidFill>
                            <a:schemeClr val="dk1"/>
                          </a:solidFill>
                          <a:effectLst/>
                          <a:latin typeface="+mn-lt"/>
                          <a:ea typeface="+mn-ea"/>
                          <a:cs typeface="+mn-cs"/>
                        </a:rPr>
                        <a:t>할 수 </a:t>
                      </a:r>
                      <a:r>
                        <a:rPr lang="ko-KR" altLang="en-US" sz="1200" u="none" strike="noStrike" kern="1200" dirty="0">
                          <a:solidFill>
                            <a:schemeClr val="dk1"/>
                          </a:solidFill>
                          <a:effectLst/>
                          <a:latin typeface="+mn-lt"/>
                          <a:ea typeface="+mn-ea"/>
                          <a:cs typeface="+mn-cs"/>
                        </a:rPr>
                        <a:t>없는 예외 시나리오를 단계별로 </a:t>
                      </a:r>
                      <a:r>
                        <a:rPr lang="ko-KR" altLang="en-US" sz="1200" u="none" strike="noStrike" kern="1200" dirty="0" smtClean="0">
                          <a:solidFill>
                            <a:schemeClr val="dk1"/>
                          </a:solidFill>
                          <a:effectLst/>
                          <a:latin typeface="+mn-lt"/>
                          <a:ea typeface="+mn-ea"/>
                          <a:cs typeface="+mn-cs"/>
                        </a:rPr>
                        <a:t>기술</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1865474391"/>
                  </a:ext>
                </a:extLst>
              </a:tr>
              <a:tr h="260991">
                <a:tc>
                  <a:txBody>
                    <a:bodyPr/>
                    <a:lstStyle/>
                    <a:p>
                      <a:pPr algn="l" fontAlgn="ctr">
                        <a:lnSpc>
                          <a:spcPct val="120000"/>
                        </a:lnSpc>
                      </a:pPr>
                      <a:r>
                        <a:rPr lang="en-US" sz="1200" b="1" u="none" strike="noStrike" kern="1200" dirty="0">
                          <a:solidFill>
                            <a:schemeClr val="dk1"/>
                          </a:solidFill>
                          <a:effectLst/>
                          <a:latin typeface="+mn-lt"/>
                          <a:ea typeface="+mn-ea"/>
                          <a:cs typeface="+mn-cs"/>
                        </a:rPr>
                        <a:t>Special </a:t>
                      </a:r>
                      <a:r>
                        <a:rPr lang="en-US" sz="1200" b="1" u="none" strike="noStrike" kern="1200" dirty="0" smtClean="0">
                          <a:solidFill>
                            <a:schemeClr val="dk1"/>
                          </a:solidFill>
                          <a:effectLst/>
                          <a:latin typeface="+mn-lt"/>
                          <a:ea typeface="+mn-ea"/>
                          <a:cs typeface="+mn-cs"/>
                        </a:rPr>
                        <a:t>Requirements</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b="1" u="none" strike="noStrike" kern="1200" dirty="0" err="1">
                          <a:solidFill>
                            <a:schemeClr val="dk1"/>
                          </a:solidFill>
                          <a:effectLst/>
                          <a:latin typeface="+mn-lt"/>
                          <a:ea typeface="+mn-ea"/>
                          <a:cs typeface="+mn-cs"/>
                        </a:rPr>
                        <a:t>비기능</a:t>
                      </a:r>
                      <a:r>
                        <a:rPr lang="ko-KR" altLang="en-US" sz="1200" b="1" u="none" strike="noStrike" kern="1200" dirty="0">
                          <a:solidFill>
                            <a:schemeClr val="dk1"/>
                          </a:solidFill>
                          <a:effectLst/>
                          <a:latin typeface="+mn-lt"/>
                          <a:ea typeface="+mn-ea"/>
                          <a:cs typeface="+mn-cs"/>
                        </a:rPr>
                        <a:t> 요구 사항</a:t>
                      </a:r>
                      <a:r>
                        <a:rPr lang="ko-KR" altLang="en-US" sz="1200" u="none" strike="noStrike" kern="1200" dirty="0">
                          <a:solidFill>
                            <a:schemeClr val="dk1"/>
                          </a:solidFill>
                          <a:effectLst/>
                          <a:latin typeface="+mn-lt"/>
                          <a:ea typeface="+mn-ea"/>
                          <a:cs typeface="+mn-cs"/>
                        </a:rPr>
                        <a:t>을 </a:t>
                      </a:r>
                      <a:r>
                        <a:rPr lang="ko-KR" altLang="en-US" sz="1200" u="none" strike="noStrike" kern="1200" dirty="0" smtClean="0">
                          <a:solidFill>
                            <a:schemeClr val="dk1"/>
                          </a:solidFill>
                          <a:effectLst/>
                          <a:latin typeface="+mn-lt"/>
                          <a:ea typeface="+mn-ea"/>
                          <a:cs typeface="+mn-cs"/>
                        </a:rPr>
                        <a:t>작성</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1973428535"/>
                  </a:ext>
                </a:extLst>
              </a:tr>
              <a:tr h="418578">
                <a:tc>
                  <a:txBody>
                    <a:bodyPr/>
                    <a:lstStyle/>
                    <a:p>
                      <a:pPr algn="l" fontAlgn="ctr">
                        <a:lnSpc>
                          <a:spcPct val="120000"/>
                        </a:lnSpc>
                      </a:pPr>
                      <a:r>
                        <a:rPr lang="en-US" sz="1200" b="1" u="none" strike="noStrike" kern="1200" dirty="0">
                          <a:solidFill>
                            <a:schemeClr val="dk1"/>
                          </a:solidFill>
                          <a:effectLst/>
                          <a:latin typeface="+mn-lt"/>
                          <a:ea typeface="+mn-ea"/>
                          <a:cs typeface="+mn-cs"/>
                        </a:rPr>
                        <a:t>Miscellaneous</a:t>
                      </a:r>
                    </a:p>
                  </a:txBody>
                  <a:tcPr marL="144000" marR="144000" marT="72000" marB="72000" anchor="ctr"/>
                </a:tc>
                <a:tc>
                  <a:txBody>
                    <a:bodyPr/>
                    <a:lstStyle/>
                    <a:p>
                      <a:pPr algn="l" fontAlgn="ctr">
                        <a:lnSpc>
                          <a:spcPct val="120000"/>
                        </a:lnSpc>
                      </a:pPr>
                      <a:r>
                        <a:rPr lang="ko-KR" altLang="en-US" sz="1200" u="none" strike="noStrike" kern="1200" dirty="0">
                          <a:solidFill>
                            <a:schemeClr val="dk1"/>
                          </a:solidFill>
                          <a:effectLst/>
                          <a:latin typeface="+mn-lt"/>
                          <a:ea typeface="+mn-ea"/>
                          <a:cs typeface="+mn-cs"/>
                        </a:rPr>
                        <a:t>아직 해결되지 않은 문제나 </a:t>
                      </a:r>
                      <a:r>
                        <a:rPr lang="ko-KR" altLang="en-US" sz="1200" u="none" strike="noStrike" kern="1200" dirty="0" err="1">
                          <a:solidFill>
                            <a:schemeClr val="dk1"/>
                          </a:solidFill>
                          <a:effectLst/>
                          <a:latin typeface="+mn-lt"/>
                          <a:ea typeface="+mn-ea"/>
                          <a:cs typeface="+mn-cs"/>
                        </a:rPr>
                        <a:t>미정의된</a:t>
                      </a:r>
                      <a:r>
                        <a:rPr lang="ko-KR" altLang="en-US" sz="1200" u="none" strike="noStrike" kern="1200" dirty="0">
                          <a:solidFill>
                            <a:schemeClr val="dk1"/>
                          </a:solidFill>
                          <a:effectLst/>
                          <a:latin typeface="+mn-lt"/>
                          <a:ea typeface="+mn-ea"/>
                          <a:cs typeface="+mn-cs"/>
                        </a:rPr>
                        <a:t> 사항들 혹은 독자가 알고 있어야 할 기타 사항들을 </a:t>
                      </a:r>
                      <a:r>
                        <a:rPr lang="ko-KR" altLang="en-US" sz="1200" u="none" strike="noStrike" kern="1200" dirty="0" smtClean="0">
                          <a:solidFill>
                            <a:schemeClr val="dk1"/>
                          </a:solidFill>
                          <a:effectLst/>
                          <a:latin typeface="+mn-lt"/>
                          <a:ea typeface="+mn-ea"/>
                          <a:cs typeface="+mn-cs"/>
                        </a:rPr>
                        <a:t>기술</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1561408329"/>
                  </a:ext>
                </a:extLst>
              </a:tr>
            </a:tbl>
          </a:graphicData>
        </a:graphic>
      </p:graphicFrame>
      <p:sp>
        <p:nvSpPr>
          <p:cNvPr id="7" name="제목 2"/>
          <p:cNvSpPr txBox="1">
            <a:spLocks/>
          </p:cNvSpPr>
          <p:nvPr/>
        </p:nvSpPr>
        <p:spPr>
          <a:xfrm>
            <a:off x="408000" y="156779"/>
            <a:ext cx="4788485" cy="424661"/>
          </a:xfrm>
          <a:prstGeom prst="rect">
            <a:avLst/>
          </a:prstGeom>
          <a:noFill/>
        </p:spPr>
        <p:txBody>
          <a:bodyPr vert="horz" wrap="none" lIns="91374" tIns="45685" rIns="91374" bIns="45685" rtlCol="0" anchor="ctr">
            <a:spAutoFit/>
          </a:bodyPr>
          <a:lstStyle>
            <a:lvl1pPr algn="l" defTabSz="914400" rtl="0" eaLnBrk="1" latinLnBrk="1" hangingPunct="1">
              <a:lnSpc>
                <a:spcPct val="90000"/>
              </a:lnSpc>
              <a:spcBef>
                <a:spcPct val="0"/>
              </a:spcBef>
              <a:buNone/>
              <a:defRPr kumimoji="1" lang="ko-KR" altLang="en-US" sz="2400" b="1" kern="1200">
                <a:ln>
                  <a:solidFill>
                    <a:schemeClr val="bg1">
                      <a:lumMod val="85000"/>
                      <a:alpha val="0"/>
                    </a:schemeClr>
                  </a:solidFill>
                </a:ln>
                <a:solidFill>
                  <a:srgbClr val="4B465E"/>
                </a:solidFill>
                <a:latin typeface="맑은 고딕" pitchFamily="50" charset="-127"/>
                <a:ea typeface="+mn-ea"/>
                <a:cs typeface="Arial" panose="020B0604020202020204" pitchFamily="34" charset="0"/>
              </a:defRPr>
            </a:lvl1pPr>
          </a:lstStyle>
          <a:p>
            <a:r>
              <a:rPr lang="en-US" altLang="ko-KR" dirty="0" smtClean="0"/>
              <a:t>Fully dressed-up </a:t>
            </a:r>
            <a:r>
              <a:rPr lang="ko-KR" altLang="en-US" dirty="0" smtClean="0"/>
              <a:t>실습 형식 소개</a:t>
            </a:r>
            <a:endParaRPr lang="ko-KR" altLang="en-US" dirty="0"/>
          </a:p>
        </p:txBody>
      </p:sp>
      <p:sp>
        <p:nvSpPr>
          <p:cNvPr id="4" name="TextBox 3"/>
          <p:cNvSpPr txBox="1"/>
          <p:nvPr/>
        </p:nvSpPr>
        <p:spPr>
          <a:xfrm>
            <a:off x="7392144" y="980728"/>
            <a:ext cx="4536504" cy="2613023"/>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pPr marL="285750" indent="-285750">
              <a:buFont typeface="Arial" panose="020B0604020202020204" pitchFamily="34" charset="0"/>
              <a:buChar char="•"/>
            </a:pPr>
            <a:r>
              <a:rPr lang="ko-KR" altLang="en-US" sz="1300" dirty="0" smtClean="0"/>
              <a:t>하위 </a:t>
            </a:r>
            <a:r>
              <a:rPr lang="ko-KR" altLang="en-US" sz="1300" dirty="0"/>
              <a:t>기능 수준 목표는 사용자 목표를 수행하는데 필요하다</a:t>
            </a:r>
            <a:r>
              <a:rPr lang="en-US" altLang="ko-KR" sz="1300" dirty="0"/>
              <a:t>. </a:t>
            </a:r>
            <a:r>
              <a:rPr lang="ko-KR" altLang="en-US" sz="1300" dirty="0"/>
              <a:t>필요할 경우에만 포함시킨다</a:t>
            </a:r>
            <a:r>
              <a:rPr lang="en-US" altLang="ko-KR" sz="1300" dirty="0"/>
              <a:t>. </a:t>
            </a:r>
            <a:r>
              <a:rPr lang="ko-KR" altLang="en-US" sz="1300" dirty="0"/>
              <a:t>즉 읽기 쉽게 할 목적으로 또는 다른 여러 목표가 이것을 사용하기 때문에 가끔씩 필요하다</a:t>
            </a:r>
            <a:r>
              <a:rPr lang="en-US" altLang="ko-KR" sz="1300" dirty="0"/>
              <a:t>. </a:t>
            </a:r>
            <a:endParaRPr lang="en-US" altLang="ko-KR" sz="1300" dirty="0" smtClean="0"/>
          </a:p>
          <a:p>
            <a:pPr marL="285750" indent="-285750">
              <a:buFont typeface="Arial" panose="020B0604020202020204" pitchFamily="34" charset="0"/>
              <a:buChar char="•"/>
            </a:pPr>
            <a:r>
              <a:rPr lang="ko-KR" altLang="en-US" sz="1300" dirty="0" smtClean="0"/>
              <a:t>하위 </a:t>
            </a:r>
            <a:r>
              <a:rPr lang="ko-KR" altLang="en-US" sz="1300" dirty="0"/>
              <a:t>기능 유스케이스는 사용자</a:t>
            </a:r>
            <a:r>
              <a:rPr lang="en-US" altLang="ko-KR" sz="1300" dirty="0"/>
              <a:t>-</a:t>
            </a:r>
            <a:r>
              <a:rPr lang="ko-KR" altLang="en-US" sz="1300" dirty="0"/>
              <a:t>목표 유스케이스를 지원한다</a:t>
            </a:r>
            <a:r>
              <a:rPr lang="en-US" altLang="ko-KR" sz="1300" dirty="0"/>
              <a:t>. </a:t>
            </a:r>
            <a:r>
              <a:rPr lang="ko-KR" altLang="en-US" sz="1300" dirty="0"/>
              <a:t>이것은 다른 여러 유스케이스로부터 호출될 때나 </a:t>
            </a:r>
            <a:r>
              <a:rPr lang="ko-KR" altLang="en-US" sz="1300" b="1" dirty="0"/>
              <a:t>복잡한 행위 조각을 분리시킬 때만 필요</a:t>
            </a:r>
            <a:r>
              <a:rPr lang="ko-KR" altLang="en-US" sz="1300" dirty="0"/>
              <a:t>하다</a:t>
            </a:r>
            <a:r>
              <a:rPr lang="en-US" altLang="ko-KR" sz="1300" dirty="0"/>
              <a:t>.</a:t>
            </a:r>
            <a:endParaRPr lang="ko-KR" altLang="en-US" sz="1300" dirty="0"/>
          </a:p>
          <a:p>
            <a:pPr marL="285750" indent="-285750">
              <a:buFont typeface="Arial" panose="020B0604020202020204" pitchFamily="34" charset="0"/>
              <a:buChar char="•"/>
            </a:pPr>
            <a:endParaRPr lang="en-US" altLang="ko-KR" sz="1300" dirty="0" smtClean="0"/>
          </a:p>
          <a:p>
            <a:pPr algn="r"/>
            <a:r>
              <a:rPr lang="en-US" altLang="ko-KR" sz="1300" dirty="0" smtClean="0">
                <a:solidFill>
                  <a:schemeClr val="bg1">
                    <a:lumMod val="50000"/>
                  </a:schemeClr>
                </a:solidFill>
              </a:rPr>
              <a:t>Writing Effective Use Case</a:t>
            </a:r>
            <a:r>
              <a:rPr lang="ko-KR" altLang="en-US" sz="1300" dirty="0" smtClean="0">
                <a:solidFill>
                  <a:schemeClr val="bg1">
                    <a:lumMod val="50000"/>
                  </a:schemeClr>
                </a:solidFill>
              </a:rPr>
              <a:t> </a:t>
            </a:r>
            <a:r>
              <a:rPr lang="en-US" altLang="ko-KR" sz="1300" dirty="0" smtClean="0">
                <a:solidFill>
                  <a:schemeClr val="bg1">
                    <a:lumMod val="50000"/>
                  </a:schemeClr>
                </a:solidFill>
              </a:rPr>
              <a:t>– </a:t>
            </a:r>
            <a:r>
              <a:rPr lang="ko-KR" altLang="en-US" sz="1300" dirty="0" err="1" smtClean="0">
                <a:solidFill>
                  <a:schemeClr val="bg1">
                    <a:lumMod val="50000"/>
                  </a:schemeClr>
                </a:solidFill>
              </a:rPr>
              <a:t>앨리스터</a:t>
            </a:r>
            <a:r>
              <a:rPr lang="ko-KR" altLang="en-US" sz="1300" dirty="0" smtClean="0">
                <a:solidFill>
                  <a:schemeClr val="bg1">
                    <a:lumMod val="50000"/>
                  </a:schemeClr>
                </a:solidFill>
              </a:rPr>
              <a:t> </a:t>
            </a:r>
            <a:r>
              <a:rPr lang="ko-KR" altLang="en-US" sz="1300" dirty="0" err="1" smtClean="0">
                <a:solidFill>
                  <a:schemeClr val="bg1">
                    <a:lumMod val="50000"/>
                  </a:schemeClr>
                </a:solidFill>
              </a:rPr>
              <a:t>코오번</a:t>
            </a:r>
            <a:r>
              <a:rPr lang="en-US" altLang="ko-KR" sz="1300" dirty="0" smtClean="0">
                <a:solidFill>
                  <a:schemeClr val="bg1">
                    <a:lumMod val="50000"/>
                  </a:schemeClr>
                </a:solidFill>
              </a:rPr>
              <a:t>-</a:t>
            </a:r>
            <a:r>
              <a:rPr lang="en-US" altLang="ko-KR" sz="1300" dirty="0" smtClean="0"/>
              <a:t> </a:t>
            </a:r>
            <a:endParaRPr lang="ko-KR" altLang="en-US" sz="1300" dirty="0"/>
          </a:p>
        </p:txBody>
      </p:sp>
    </p:spTree>
    <p:extLst>
      <p:ext uri="{BB962C8B-B14F-4D97-AF65-F5344CB8AC3E}">
        <p14:creationId xmlns:p14="http://schemas.microsoft.com/office/powerpoint/2010/main" val="608669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2650766914"/>
              </p:ext>
            </p:extLst>
          </p:nvPr>
        </p:nvGraphicFramePr>
        <p:xfrm>
          <a:off x="191344" y="116632"/>
          <a:ext cx="11809312" cy="6631488"/>
        </p:xfrm>
        <a:graphic>
          <a:graphicData uri="http://schemas.openxmlformats.org/drawingml/2006/table">
            <a:tbl>
              <a:tblPr>
                <a:tableStyleId>{5C22544A-7EE6-4342-B048-85BDC9FD1C3A}</a:tableStyleId>
              </a:tblPr>
              <a:tblGrid>
                <a:gridCol w="1872208">
                  <a:extLst>
                    <a:ext uri="{9D8B030D-6E8A-4147-A177-3AD203B41FA5}">
                      <a16:colId xmlns="" xmlns:a16="http://schemas.microsoft.com/office/drawing/2014/main" val="1519849014"/>
                    </a:ext>
                  </a:extLst>
                </a:gridCol>
                <a:gridCol w="9937104">
                  <a:extLst>
                    <a:ext uri="{9D8B030D-6E8A-4147-A177-3AD203B41FA5}">
                      <a16:colId xmlns="" xmlns:a16="http://schemas.microsoft.com/office/drawing/2014/main" val="1170553167"/>
                    </a:ext>
                  </a:extLst>
                </a:gridCol>
              </a:tblGrid>
              <a:tr h="198730">
                <a:tc>
                  <a:txBody>
                    <a:bodyPr/>
                    <a:lstStyle/>
                    <a:p>
                      <a:pPr algn="l" fontAlgn="ctr">
                        <a:lnSpc>
                          <a:spcPct val="120000"/>
                        </a:lnSpc>
                      </a:pPr>
                      <a:r>
                        <a:rPr lang="en-US" sz="1200" b="1" u="none" strike="noStrike" kern="1200" dirty="0">
                          <a:solidFill>
                            <a:schemeClr val="dk1"/>
                          </a:solidFill>
                          <a:effectLst/>
                          <a:latin typeface="+mn-lt"/>
                          <a:ea typeface="+mn-ea"/>
                          <a:cs typeface="+mn-cs"/>
                        </a:rPr>
                        <a:t>Use Case Name</a:t>
                      </a:r>
                    </a:p>
                  </a:txBody>
                  <a:tcPr marL="144000" marR="144000" marT="72000" marB="72000" anchor="ctr"/>
                </a:tc>
                <a:tc>
                  <a:txBody>
                    <a:bodyPr/>
                    <a:lstStyle/>
                    <a:p>
                      <a:pPr algn="ctr" fontAlgn="ctr">
                        <a:lnSpc>
                          <a:spcPct val="120000"/>
                        </a:lnSpc>
                      </a:pPr>
                      <a:r>
                        <a:rPr lang="ko-KR" altLang="en-US" sz="1200" u="none" strike="noStrike" kern="1200" dirty="0">
                          <a:solidFill>
                            <a:schemeClr val="dk1"/>
                          </a:solidFill>
                          <a:effectLst/>
                          <a:latin typeface="+mn-lt"/>
                          <a:ea typeface="+mn-ea"/>
                          <a:cs typeface="+mn-cs"/>
                        </a:rPr>
                        <a:t>　</a:t>
                      </a:r>
                    </a:p>
                  </a:txBody>
                  <a:tcPr marL="144000" marR="144000" marT="72000" marB="72000" anchor="ctr">
                    <a:solidFill>
                      <a:srgbClr val="EBF9F9"/>
                    </a:solidFill>
                  </a:tcPr>
                </a:tc>
                <a:extLst>
                  <a:ext uri="{0D108BD9-81ED-4DB2-BD59-A6C34878D82A}">
                    <a16:rowId xmlns="" xmlns:a16="http://schemas.microsoft.com/office/drawing/2014/main" val="4177653371"/>
                  </a:ext>
                </a:extLst>
              </a:tr>
              <a:tr h="198730">
                <a:tc>
                  <a:txBody>
                    <a:bodyPr/>
                    <a:lstStyle/>
                    <a:p>
                      <a:pPr algn="l" fontAlgn="ctr">
                        <a:lnSpc>
                          <a:spcPct val="120000"/>
                        </a:lnSpc>
                      </a:pPr>
                      <a:r>
                        <a:rPr lang="en-US" sz="1200" b="1" u="none" strike="noStrike" kern="1200" dirty="0">
                          <a:solidFill>
                            <a:schemeClr val="dk1"/>
                          </a:solidFill>
                          <a:effectLst/>
                          <a:latin typeface="+mn-lt"/>
                          <a:ea typeface="+mn-ea"/>
                          <a:cs typeface="+mn-cs"/>
                        </a:rPr>
                        <a:t>Scope</a:t>
                      </a: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시스템의 어떤 부분에 해당하는지를 설명합니다</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예를 들어</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온라인 쇼핑 사이트라면 </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배송</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이 될 수 있습니다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3739337909"/>
                  </a:ext>
                </a:extLst>
              </a:tr>
              <a:tr h="1246189">
                <a:tc>
                  <a:txBody>
                    <a:bodyPr/>
                    <a:lstStyle/>
                    <a:p>
                      <a:pPr algn="l" fontAlgn="ctr">
                        <a:lnSpc>
                          <a:spcPct val="120000"/>
                        </a:lnSpc>
                      </a:pPr>
                      <a:r>
                        <a:rPr lang="en-US" sz="1200" b="1" u="none" strike="noStrike" kern="1200" dirty="0">
                          <a:solidFill>
                            <a:schemeClr val="dk1"/>
                          </a:solidFill>
                          <a:effectLst/>
                          <a:latin typeface="+mn-lt"/>
                          <a:ea typeface="+mn-ea"/>
                          <a:cs typeface="+mn-cs"/>
                        </a:rPr>
                        <a:t>Level</a:t>
                      </a:r>
                    </a:p>
                  </a:txBody>
                  <a:tcPr marL="144000" marR="144000" marT="72000" marB="72000" anchor="ctr"/>
                </a:tc>
                <a:tc>
                  <a:txBody>
                    <a:bodyPr/>
                    <a:lstStyle/>
                    <a:p>
                      <a:pPr marL="0" indent="0" algn="l" fontAlgn="ctr">
                        <a:lnSpc>
                          <a:spcPct val="120000"/>
                        </a:lnSpc>
                        <a:buFont typeface="Arial" panose="020B0604020202020204" pitchFamily="34" charset="0"/>
                        <a:buNone/>
                      </a:pPr>
                      <a:r>
                        <a:rPr lang="en-US" altLang="ko-KR" sz="1200" u="none" strike="noStrike" kern="1200" dirty="0">
                          <a:solidFill>
                            <a:schemeClr val="dk1"/>
                          </a:solidFill>
                          <a:effectLst/>
                          <a:latin typeface="+mn-lt"/>
                          <a:ea typeface="+mn-ea"/>
                          <a:cs typeface="+mn-cs"/>
                        </a:rPr>
                        <a:t>Level</a:t>
                      </a:r>
                      <a:r>
                        <a:rPr lang="ko-KR" altLang="en-US" sz="1200" u="none" strike="noStrike" kern="1200" dirty="0">
                          <a:solidFill>
                            <a:schemeClr val="dk1"/>
                          </a:solidFill>
                          <a:effectLst/>
                          <a:latin typeface="+mn-lt"/>
                          <a:ea typeface="+mn-ea"/>
                          <a:cs typeface="+mn-cs"/>
                        </a:rPr>
                        <a:t>은 </a:t>
                      </a:r>
                      <a:r>
                        <a:rPr lang="en-US" altLang="ko-KR" sz="1200" u="none" strike="noStrike" kern="1200" dirty="0">
                          <a:solidFill>
                            <a:schemeClr val="dk1"/>
                          </a:solidFill>
                          <a:effectLst/>
                          <a:latin typeface="+mn-lt"/>
                          <a:ea typeface="+mn-ea"/>
                          <a:cs typeface="+mn-cs"/>
                        </a:rPr>
                        <a:t>use case</a:t>
                      </a:r>
                      <a:r>
                        <a:rPr lang="ko-KR" altLang="en-US" sz="1200" u="none" strike="noStrike" kern="1200" dirty="0">
                          <a:solidFill>
                            <a:schemeClr val="dk1"/>
                          </a:solidFill>
                          <a:effectLst/>
                          <a:latin typeface="+mn-lt"/>
                          <a:ea typeface="+mn-ea"/>
                          <a:cs typeface="+mn-cs"/>
                        </a:rPr>
                        <a:t>의 추상화 수준으로 사용자와 시스템 간의 상호작용이 얼마나 상세하게 기술되는지를 나타냅니다</a:t>
                      </a:r>
                      <a:r>
                        <a:rPr lang="en-US" altLang="ko-KR" sz="1200" u="none" strike="noStrike" kern="1200" dirty="0">
                          <a:solidFill>
                            <a:schemeClr val="dk1"/>
                          </a:solidFill>
                          <a:effectLst/>
                          <a:latin typeface="+mn-lt"/>
                          <a:ea typeface="+mn-ea"/>
                          <a:cs typeface="+mn-cs"/>
                        </a:rPr>
                        <a:t>. </a:t>
                      </a:r>
                      <a:endParaRPr lang="en-US" altLang="ko-KR" sz="1200" u="none" strike="noStrike" kern="1200" dirty="0" smtClean="0">
                        <a:solidFill>
                          <a:schemeClr val="dk1"/>
                        </a:solidFill>
                        <a:effectLst/>
                        <a:latin typeface="+mn-lt"/>
                        <a:ea typeface="+mn-ea"/>
                        <a:cs typeface="+mn-cs"/>
                      </a:endParaRPr>
                    </a:p>
                    <a:p>
                      <a:pPr marL="171450" indent="-171450" algn="l" fontAlgn="ctr">
                        <a:lnSpc>
                          <a:spcPct val="120000"/>
                        </a:lnSpc>
                        <a:buFont typeface="Arial" panose="020B0604020202020204" pitchFamily="34" charset="0"/>
                        <a:buChar char="•"/>
                      </a:pPr>
                      <a:r>
                        <a:rPr lang="en-US" altLang="ko-KR" sz="1200" b="1" u="none" strike="noStrike" kern="1200" dirty="0" smtClean="0">
                          <a:solidFill>
                            <a:schemeClr val="dk1"/>
                          </a:solidFill>
                          <a:effectLst/>
                          <a:latin typeface="+mn-lt"/>
                          <a:ea typeface="+mn-ea"/>
                          <a:cs typeface="+mn-cs"/>
                        </a:rPr>
                        <a:t>Summary </a:t>
                      </a:r>
                      <a:r>
                        <a:rPr lang="en-US" altLang="ko-KR" sz="1200" u="none" strike="noStrike" kern="1200" dirty="0" smtClean="0">
                          <a:solidFill>
                            <a:schemeClr val="dk1"/>
                          </a:solidFill>
                          <a:effectLst/>
                          <a:latin typeface="+mn-lt"/>
                          <a:ea typeface="+mn-ea"/>
                          <a:cs typeface="+mn-cs"/>
                        </a:rPr>
                        <a:t>Level: </a:t>
                      </a:r>
                      <a:r>
                        <a:rPr lang="ko-KR" altLang="en-US" sz="1200" u="none" strike="noStrike" kern="1200" dirty="0">
                          <a:solidFill>
                            <a:schemeClr val="dk1"/>
                          </a:solidFill>
                          <a:effectLst/>
                          <a:latin typeface="+mn-lt"/>
                          <a:ea typeface="+mn-ea"/>
                          <a:cs typeface="+mn-cs"/>
                        </a:rPr>
                        <a:t>이는 가장 높은 수준의 추상화로</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전체 시스템 또는 주요 부분의 기능을 나타냅니다</a:t>
                      </a:r>
                      <a:r>
                        <a:rPr lang="en-US" altLang="ko-KR" sz="1200" u="none" strike="noStrike" kern="1200" dirty="0">
                          <a:solidFill>
                            <a:schemeClr val="dk1"/>
                          </a:solidFill>
                          <a:effectLst/>
                          <a:latin typeface="+mn-lt"/>
                          <a:ea typeface="+mn-ea"/>
                          <a:cs typeface="+mn-cs"/>
                        </a:rPr>
                        <a:t>. </a:t>
                      </a:r>
                      <a:r>
                        <a:rPr lang="en-US" altLang="ko-KR" sz="1200" u="none" strike="noStrike" kern="1200" dirty="0" smtClean="0">
                          <a:solidFill>
                            <a:schemeClr val="dk1"/>
                          </a:solidFill>
                          <a:effectLst/>
                          <a:latin typeface="+mn-lt"/>
                          <a:ea typeface="+mn-ea"/>
                          <a:cs typeface="+mn-cs"/>
                        </a:rPr>
                        <a:t/>
                      </a:r>
                      <a:br>
                        <a:rPr lang="en-US" altLang="ko-KR" sz="1200" u="none" strike="noStrike" kern="1200" dirty="0" smtClean="0">
                          <a:solidFill>
                            <a:schemeClr val="dk1"/>
                          </a:solidFill>
                          <a:effectLst/>
                          <a:latin typeface="+mn-lt"/>
                          <a:ea typeface="+mn-ea"/>
                          <a:cs typeface="+mn-cs"/>
                        </a:rPr>
                      </a:br>
                      <a:r>
                        <a:rPr lang="ko-KR" altLang="en-US" sz="1200" u="none" strike="noStrike" kern="1200" dirty="0" smtClean="0">
                          <a:solidFill>
                            <a:schemeClr val="dk1"/>
                          </a:solidFill>
                          <a:effectLst/>
                          <a:latin typeface="+mn-lt"/>
                          <a:ea typeface="+mn-ea"/>
                          <a:cs typeface="+mn-cs"/>
                        </a:rPr>
                        <a:t>예를 </a:t>
                      </a:r>
                      <a:r>
                        <a:rPr lang="ko-KR" altLang="en-US" sz="1200" u="none" strike="noStrike" kern="1200" dirty="0">
                          <a:solidFill>
                            <a:schemeClr val="dk1"/>
                          </a:solidFill>
                          <a:effectLst/>
                          <a:latin typeface="+mn-lt"/>
                          <a:ea typeface="+mn-ea"/>
                          <a:cs typeface="+mn-cs"/>
                        </a:rPr>
                        <a:t>들어</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온라인 쇼핑</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이 이에 해당됩니다</a:t>
                      </a:r>
                      <a:r>
                        <a:rPr lang="en-US" altLang="ko-KR" sz="1200" u="none" strike="noStrike" kern="1200" dirty="0">
                          <a:solidFill>
                            <a:schemeClr val="dk1"/>
                          </a:solidFill>
                          <a:effectLst/>
                          <a:latin typeface="+mn-lt"/>
                          <a:ea typeface="+mn-ea"/>
                          <a:cs typeface="+mn-cs"/>
                        </a:rPr>
                        <a:t>. </a:t>
                      </a:r>
                      <a:endParaRPr lang="en-US" altLang="ko-KR" sz="1200" u="none" strike="noStrike" kern="1200" dirty="0" smtClean="0">
                        <a:solidFill>
                          <a:schemeClr val="dk1"/>
                        </a:solidFill>
                        <a:effectLst/>
                        <a:latin typeface="+mn-lt"/>
                        <a:ea typeface="+mn-ea"/>
                        <a:cs typeface="+mn-cs"/>
                      </a:endParaRPr>
                    </a:p>
                    <a:p>
                      <a:pPr marL="171450" indent="-171450" algn="l" fontAlgn="ctr">
                        <a:lnSpc>
                          <a:spcPct val="120000"/>
                        </a:lnSpc>
                        <a:buFont typeface="Arial" panose="020B0604020202020204" pitchFamily="34" charset="0"/>
                        <a:buChar char="•"/>
                      </a:pPr>
                      <a:r>
                        <a:rPr lang="en-US" altLang="ko-KR" sz="1200" b="1" u="none" strike="noStrike" kern="1200" dirty="0" smtClean="0">
                          <a:solidFill>
                            <a:schemeClr val="dk1"/>
                          </a:solidFill>
                          <a:effectLst/>
                          <a:latin typeface="+mn-lt"/>
                          <a:ea typeface="+mn-ea"/>
                          <a:cs typeface="+mn-cs"/>
                        </a:rPr>
                        <a:t>User-goal </a:t>
                      </a:r>
                      <a:r>
                        <a:rPr lang="en-US" altLang="ko-KR" sz="1200" u="none" strike="noStrike" kern="1200" dirty="0" smtClean="0">
                          <a:solidFill>
                            <a:schemeClr val="dk1"/>
                          </a:solidFill>
                          <a:effectLst/>
                          <a:latin typeface="+mn-lt"/>
                          <a:ea typeface="+mn-ea"/>
                          <a:cs typeface="+mn-cs"/>
                        </a:rPr>
                        <a:t>Level: </a:t>
                      </a:r>
                      <a:r>
                        <a:rPr lang="ko-KR" altLang="en-US" sz="1200" u="none" strike="noStrike" kern="1200" dirty="0">
                          <a:solidFill>
                            <a:schemeClr val="dk1"/>
                          </a:solidFill>
                          <a:effectLst/>
                          <a:latin typeface="+mn-lt"/>
                          <a:ea typeface="+mn-ea"/>
                          <a:cs typeface="+mn-cs"/>
                        </a:rPr>
                        <a:t>이는 사용자의 목표를 달성하는 데 필요한 상호작용을 나타냅니다</a:t>
                      </a:r>
                      <a:r>
                        <a:rPr lang="en-US" altLang="ko-KR" sz="1200" u="none" strike="noStrike" kern="1200" dirty="0">
                          <a:solidFill>
                            <a:schemeClr val="dk1"/>
                          </a:solidFill>
                          <a:effectLst/>
                          <a:latin typeface="+mn-lt"/>
                          <a:ea typeface="+mn-ea"/>
                          <a:cs typeface="+mn-cs"/>
                        </a:rPr>
                        <a:t>. </a:t>
                      </a:r>
                      <a:r>
                        <a:rPr lang="en-US" altLang="ko-KR" sz="1200" u="none" strike="noStrike" kern="1200" dirty="0" smtClean="0">
                          <a:solidFill>
                            <a:schemeClr val="dk1"/>
                          </a:solidFill>
                          <a:effectLst/>
                          <a:latin typeface="+mn-lt"/>
                          <a:ea typeface="+mn-ea"/>
                          <a:cs typeface="+mn-cs"/>
                        </a:rPr>
                        <a:t/>
                      </a:r>
                      <a:br>
                        <a:rPr lang="en-US" altLang="ko-KR" sz="1200" u="none" strike="noStrike" kern="1200" dirty="0" smtClean="0">
                          <a:solidFill>
                            <a:schemeClr val="dk1"/>
                          </a:solidFill>
                          <a:effectLst/>
                          <a:latin typeface="+mn-lt"/>
                          <a:ea typeface="+mn-ea"/>
                          <a:cs typeface="+mn-cs"/>
                        </a:rPr>
                      </a:br>
                      <a:r>
                        <a:rPr lang="ko-KR" altLang="en-US" sz="1200" u="none" strike="noStrike" kern="1200" dirty="0" smtClean="0">
                          <a:solidFill>
                            <a:schemeClr val="dk1"/>
                          </a:solidFill>
                          <a:effectLst/>
                          <a:latin typeface="+mn-lt"/>
                          <a:ea typeface="+mn-ea"/>
                          <a:cs typeface="+mn-cs"/>
                        </a:rPr>
                        <a:t>예를 </a:t>
                      </a:r>
                      <a:r>
                        <a:rPr lang="ko-KR" altLang="en-US" sz="1200" u="none" strike="noStrike" kern="1200" dirty="0">
                          <a:solidFill>
                            <a:schemeClr val="dk1"/>
                          </a:solidFill>
                          <a:effectLst/>
                          <a:latin typeface="+mn-lt"/>
                          <a:ea typeface="+mn-ea"/>
                          <a:cs typeface="+mn-cs"/>
                        </a:rPr>
                        <a:t>들어</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상품 검색</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장바구니에 상품 추가</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등이 이에 해당됩니다</a:t>
                      </a:r>
                      <a:r>
                        <a:rPr lang="en-US" altLang="ko-KR" sz="1200" u="none" strike="noStrike" kern="1200" dirty="0">
                          <a:solidFill>
                            <a:schemeClr val="dk1"/>
                          </a:solidFill>
                          <a:effectLst/>
                          <a:latin typeface="+mn-lt"/>
                          <a:ea typeface="+mn-ea"/>
                          <a:cs typeface="+mn-cs"/>
                        </a:rPr>
                        <a:t>.  </a:t>
                      </a:r>
                      <a:endParaRPr lang="en-US" altLang="ko-KR" sz="1200" u="none" strike="noStrike" kern="1200" dirty="0" smtClean="0">
                        <a:solidFill>
                          <a:schemeClr val="dk1"/>
                        </a:solidFill>
                        <a:effectLst/>
                        <a:latin typeface="+mn-lt"/>
                        <a:ea typeface="+mn-ea"/>
                        <a:cs typeface="+mn-cs"/>
                      </a:endParaRPr>
                    </a:p>
                    <a:p>
                      <a:pPr marL="171450" indent="-171450" algn="l" fontAlgn="ctr">
                        <a:lnSpc>
                          <a:spcPct val="120000"/>
                        </a:lnSpc>
                        <a:buFont typeface="Arial" panose="020B0604020202020204" pitchFamily="34" charset="0"/>
                        <a:buChar char="•"/>
                      </a:pPr>
                      <a:r>
                        <a:rPr lang="en-US" altLang="ko-KR" sz="1200" b="1" u="none" strike="noStrike" kern="1200" dirty="0" err="1" smtClean="0">
                          <a:solidFill>
                            <a:schemeClr val="dk1"/>
                          </a:solidFill>
                          <a:effectLst/>
                          <a:latin typeface="+mn-lt"/>
                          <a:ea typeface="+mn-ea"/>
                          <a:cs typeface="+mn-cs"/>
                        </a:rPr>
                        <a:t>Subfunction</a:t>
                      </a:r>
                      <a:r>
                        <a:rPr lang="en-US" altLang="ko-KR" sz="1200" u="none" strike="noStrike" kern="1200" dirty="0" smtClean="0">
                          <a:solidFill>
                            <a:schemeClr val="dk1"/>
                          </a:solidFill>
                          <a:effectLst/>
                          <a:latin typeface="+mn-lt"/>
                          <a:ea typeface="+mn-ea"/>
                          <a:cs typeface="+mn-cs"/>
                        </a:rPr>
                        <a:t> Level: </a:t>
                      </a:r>
                      <a:r>
                        <a:rPr lang="ko-KR" altLang="en-US" sz="1200" u="none" strike="noStrike" dirty="0" smtClean="0">
                          <a:effectLst/>
                        </a:rPr>
                        <a:t>시나리오 조각을 나타냅니다 </a:t>
                      </a:r>
                      <a:r>
                        <a:rPr lang="ko-KR" altLang="en-US" sz="1200" u="none" strike="noStrike" kern="1200" dirty="0" smtClean="0">
                          <a:solidFill>
                            <a:schemeClr val="dk1"/>
                          </a:solidFill>
                          <a:effectLst/>
                          <a:latin typeface="+mn-lt"/>
                          <a:ea typeface="+mn-ea"/>
                          <a:cs typeface="+mn-cs"/>
                        </a:rPr>
                        <a:t>여러 </a:t>
                      </a:r>
                      <a:r>
                        <a:rPr lang="en-US" altLang="ko-KR" sz="1200" u="none" strike="noStrike" kern="1200" dirty="0">
                          <a:solidFill>
                            <a:schemeClr val="dk1"/>
                          </a:solidFill>
                          <a:effectLst/>
                          <a:latin typeface="+mn-lt"/>
                          <a:ea typeface="+mn-ea"/>
                          <a:cs typeface="+mn-cs"/>
                        </a:rPr>
                        <a:t>user goal level</a:t>
                      </a:r>
                      <a:r>
                        <a:rPr lang="ko-KR" altLang="en-US" sz="1200" u="none" strike="noStrike" kern="1200" dirty="0" smtClean="0">
                          <a:solidFill>
                            <a:schemeClr val="dk1"/>
                          </a:solidFill>
                          <a:effectLst/>
                          <a:latin typeface="+mn-lt"/>
                          <a:ea typeface="+mn-ea"/>
                          <a:cs typeface="+mn-cs"/>
                        </a:rPr>
                        <a:t>에서 </a:t>
                      </a:r>
                      <a:r>
                        <a:rPr lang="ko-KR" altLang="en-US" sz="1200" u="none" strike="noStrike" kern="1200" dirty="0">
                          <a:solidFill>
                            <a:schemeClr val="dk1"/>
                          </a:solidFill>
                          <a:effectLst/>
                          <a:latin typeface="+mn-lt"/>
                          <a:ea typeface="+mn-ea"/>
                          <a:cs typeface="+mn-cs"/>
                        </a:rPr>
                        <a:t>동일한 시나리오가 공통으로 사용될 경우 </a:t>
                      </a:r>
                      <a:r>
                        <a:rPr lang="en-US" altLang="ko-KR" sz="1200" u="none" strike="noStrike" kern="1200" dirty="0" err="1">
                          <a:solidFill>
                            <a:schemeClr val="dk1"/>
                          </a:solidFill>
                          <a:effectLst/>
                          <a:latin typeface="+mn-lt"/>
                          <a:ea typeface="+mn-ea"/>
                          <a:cs typeface="+mn-cs"/>
                        </a:rPr>
                        <a:t>subfunction</a:t>
                      </a:r>
                      <a:r>
                        <a:rPr lang="en-US" altLang="ko-KR" sz="1200" u="none" strike="noStrike" kern="1200" dirty="0">
                          <a:solidFill>
                            <a:schemeClr val="dk1"/>
                          </a:solidFill>
                          <a:effectLst/>
                          <a:latin typeface="+mn-lt"/>
                          <a:ea typeface="+mn-ea"/>
                          <a:cs typeface="+mn-cs"/>
                        </a:rPr>
                        <a:t> level</a:t>
                      </a:r>
                      <a:r>
                        <a:rPr lang="ko-KR" altLang="en-US" sz="1200" u="none" strike="noStrike" kern="1200" dirty="0">
                          <a:solidFill>
                            <a:schemeClr val="dk1"/>
                          </a:solidFill>
                          <a:effectLst/>
                          <a:latin typeface="+mn-lt"/>
                          <a:ea typeface="+mn-ea"/>
                          <a:cs typeface="+mn-cs"/>
                        </a:rPr>
                        <a:t>로 </a:t>
                      </a:r>
                      <a:r>
                        <a:rPr lang="ko-KR" altLang="en-US" sz="1200" u="none" strike="noStrike" kern="1200" dirty="0" smtClean="0">
                          <a:solidFill>
                            <a:schemeClr val="dk1"/>
                          </a:solidFill>
                          <a:effectLst/>
                          <a:latin typeface="+mn-lt"/>
                          <a:ea typeface="+mn-ea"/>
                          <a:cs typeface="+mn-cs"/>
                        </a:rPr>
                        <a:t>분리하여 사용할 수 있습니다</a:t>
                      </a:r>
                      <a:r>
                        <a:rPr lang="en-US" altLang="ko-KR" sz="1200" u="none" strike="noStrike" kern="1200" dirty="0" smtClean="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혹은 </a:t>
                      </a:r>
                      <a:r>
                        <a:rPr lang="en-US" altLang="ko-KR" sz="1200" u="none" strike="noStrike" kern="1200" dirty="0" err="1" smtClean="0">
                          <a:solidFill>
                            <a:schemeClr val="dk1"/>
                          </a:solidFill>
                          <a:effectLst/>
                          <a:latin typeface="+mn-lt"/>
                          <a:ea typeface="+mn-ea"/>
                          <a:cs typeface="+mn-cs"/>
                        </a:rPr>
                        <a:t>Extention</a:t>
                      </a:r>
                      <a:r>
                        <a:rPr lang="ko-KR" altLang="en-US" sz="1200" u="none" strike="noStrike" kern="1200" dirty="0" smtClean="0">
                          <a:solidFill>
                            <a:schemeClr val="dk1"/>
                          </a:solidFill>
                          <a:effectLst/>
                          <a:latin typeface="+mn-lt"/>
                          <a:ea typeface="+mn-ea"/>
                          <a:cs typeface="+mn-cs"/>
                        </a:rPr>
                        <a:t>에 </a:t>
                      </a:r>
                      <a:r>
                        <a:rPr lang="ko-KR" altLang="en-US" sz="1200" u="none" strike="noStrike" kern="1200" dirty="0">
                          <a:solidFill>
                            <a:schemeClr val="dk1"/>
                          </a:solidFill>
                          <a:effectLst/>
                          <a:latin typeface="+mn-lt"/>
                          <a:ea typeface="+mn-ea"/>
                          <a:cs typeface="+mn-cs"/>
                        </a:rPr>
                        <a:t>기술한 항목이 충분히 커서 </a:t>
                      </a:r>
                      <a:r>
                        <a:rPr lang="ko-KR" altLang="en-US" sz="1200" u="none" strike="noStrike" kern="1200" dirty="0" err="1" smtClean="0">
                          <a:solidFill>
                            <a:schemeClr val="dk1"/>
                          </a:solidFill>
                          <a:effectLst/>
                          <a:latin typeface="+mn-lt"/>
                          <a:ea typeface="+mn-ea"/>
                          <a:cs typeface="+mn-cs"/>
                        </a:rPr>
                        <a:t>가독성을</a:t>
                      </a:r>
                      <a:r>
                        <a:rPr lang="ko-KR" altLang="en-US" sz="1200" u="none" strike="noStrike" kern="1200" dirty="0" smtClean="0">
                          <a:solidFill>
                            <a:schemeClr val="dk1"/>
                          </a:solidFill>
                          <a:effectLst/>
                          <a:latin typeface="+mn-lt"/>
                          <a:ea typeface="+mn-ea"/>
                          <a:cs typeface="+mn-cs"/>
                        </a:rPr>
                        <a:t> 높이기 위해 </a:t>
                      </a:r>
                      <a:r>
                        <a:rPr lang="en-US" altLang="ko-KR" sz="1200" u="none" strike="noStrike" kern="1200" dirty="0" err="1">
                          <a:solidFill>
                            <a:schemeClr val="dk1"/>
                          </a:solidFill>
                          <a:effectLst/>
                          <a:latin typeface="+mn-lt"/>
                          <a:ea typeface="+mn-ea"/>
                          <a:cs typeface="+mn-cs"/>
                        </a:rPr>
                        <a:t>subfunction</a:t>
                      </a:r>
                      <a:r>
                        <a:rPr lang="en-US" altLang="ko-KR" sz="1200" u="none" strike="noStrike" kern="1200" dirty="0">
                          <a:solidFill>
                            <a:schemeClr val="dk1"/>
                          </a:solidFill>
                          <a:effectLst/>
                          <a:latin typeface="+mn-lt"/>
                          <a:ea typeface="+mn-ea"/>
                          <a:cs typeface="+mn-cs"/>
                        </a:rPr>
                        <a:t> level</a:t>
                      </a:r>
                      <a:r>
                        <a:rPr lang="ko-KR" altLang="en-US" sz="1200" u="none" strike="noStrike" kern="1200" dirty="0">
                          <a:solidFill>
                            <a:schemeClr val="dk1"/>
                          </a:solidFill>
                          <a:effectLst/>
                          <a:latin typeface="+mn-lt"/>
                          <a:ea typeface="+mn-ea"/>
                          <a:cs typeface="+mn-cs"/>
                        </a:rPr>
                        <a:t>로 떼어 내어 작성 할 수 있습니다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3000527754"/>
                  </a:ext>
                </a:extLst>
              </a:tr>
              <a:tr h="198730">
                <a:tc>
                  <a:txBody>
                    <a:bodyPr/>
                    <a:lstStyle/>
                    <a:p>
                      <a:pPr algn="l" fontAlgn="ctr">
                        <a:lnSpc>
                          <a:spcPct val="120000"/>
                        </a:lnSpc>
                      </a:pPr>
                      <a:r>
                        <a:rPr lang="en-US" sz="1200" b="1" u="none" strike="noStrike" kern="1200" dirty="0">
                          <a:solidFill>
                            <a:schemeClr val="dk1"/>
                          </a:solidFill>
                          <a:effectLst/>
                          <a:latin typeface="+mn-lt"/>
                          <a:ea typeface="+mn-ea"/>
                          <a:cs typeface="+mn-cs"/>
                        </a:rPr>
                        <a:t>Primary Actor</a:t>
                      </a:r>
                    </a:p>
                  </a:txBody>
                  <a:tcPr marL="144000" marR="144000" marT="72000" marB="72000" anchor="ctr"/>
                </a:tc>
                <a:tc>
                  <a:txBody>
                    <a:bodyPr/>
                    <a:lstStyle/>
                    <a:p>
                      <a:pPr marL="0" marR="0" lvl="0" indent="0" algn="l" defTabSz="914400" rtl="0" eaLnBrk="1" fontAlgn="ctr" latinLnBrk="1" hangingPunct="1">
                        <a:lnSpc>
                          <a:spcPct val="120000"/>
                        </a:lnSpc>
                        <a:spcBef>
                          <a:spcPts val="0"/>
                        </a:spcBef>
                        <a:spcAft>
                          <a:spcPts val="0"/>
                        </a:spcAft>
                        <a:buClrTx/>
                        <a:buSzTx/>
                        <a:buFontTx/>
                        <a:buNone/>
                        <a:tabLst/>
                        <a:defRPr/>
                      </a:pPr>
                      <a:r>
                        <a:rPr lang="ko-KR" altLang="en-US" sz="1200" u="none" strike="noStrike" dirty="0" err="1" smtClean="0">
                          <a:effectLst/>
                        </a:rPr>
                        <a:t>유스케이스에서</a:t>
                      </a:r>
                      <a:r>
                        <a:rPr lang="ko-KR" altLang="en-US" sz="1200" u="none" strike="noStrike" dirty="0" smtClean="0">
                          <a:effectLst/>
                        </a:rPr>
                        <a:t> 주요 행위자를 나타내며</a:t>
                      </a:r>
                      <a:r>
                        <a:rPr lang="en-US" altLang="ko-KR" sz="1200" u="none" strike="noStrike" dirty="0" smtClean="0">
                          <a:effectLst/>
                        </a:rPr>
                        <a:t>, </a:t>
                      </a:r>
                      <a:r>
                        <a:rPr lang="ko-KR" altLang="en-US" sz="1200" u="none" strike="noStrike" dirty="0" smtClean="0">
                          <a:effectLst/>
                        </a:rPr>
                        <a:t>시스템을 사용하는 주요 사용자를 의미합니다</a:t>
                      </a:r>
                      <a:r>
                        <a:rPr lang="en-US" altLang="ko-KR" sz="1200" u="none" strike="noStrike" dirty="0" smtClean="0">
                          <a:effectLst/>
                        </a:rPr>
                        <a:t>. </a:t>
                      </a:r>
                      <a:r>
                        <a:rPr lang="ko-KR" altLang="en-US" sz="1200" u="none" strike="noStrike" dirty="0" smtClean="0">
                          <a:effectLst/>
                        </a:rPr>
                        <a:t>예를 들어</a:t>
                      </a:r>
                      <a:r>
                        <a:rPr lang="en-US" altLang="ko-KR" sz="1200" u="none" strike="noStrike" dirty="0" smtClean="0">
                          <a:effectLst/>
                        </a:rPr>
                        <a:t>, '</a:t>
                      </a:r>
                      <a:r>
                        <a:rPr lang="ko-KR" altLang="en-US" sz="1200" u="none" strike="noStrike" dirty="0" smtClean="0">
                          <a:effectLst/>
                        </a:rPr>
                        <a:t>고객</a:t>
                      </a:r>
                      <a:r>
                        <a:rPr lang="en-US" altLang="ko-KR" sz="1200" u="none" strike="noStrike" dirty="0" smtClean="0">
                          <a:effectLst/>
                        </a:rPr>
                        <a:t>'</a:t>
                      </a:r>
                      <a:r>
                        <a:rPr lang="ko-KR" altLang="en-US" sz="1200" u="none" strike="noStrike" dirty="0" smtClean="0">
                          <a:effectLst/>
                        </a:rPr>
                        <a:t>이 될 수 있습니다</a:t>
                      </a:r>
                      <a:r>
                        <a:rPr lang="en-US" altLang="ko-KR" sz="1200" u="none" strike="noStrike" dirty="0" smtClean="0">
                          <a:effectLst/>
                        </a:rPr>
                        <a:t>.</a:t>
                      </a:r>
                      <a:endParaRPr lang="ko-KR" altLang="en-US"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684785174"/>
                  </a:ext>
                </a:extLst>
              </a:tr>
              <a:tr h="498004">
                <a:tc>
                  <a:txBody>
                    <a:bodyPr/>
                    <a:lstStyle/>
                    <a:p>
                      <a:pPr algn="l" fontAlgn="ctr">
                        <a:lnSpc>
                          <a:spcPct val="120000"/>
                        </a:lnSpc>
                      </a:pPr>
                      <a:r>
                        <a:rPr lang="en-US" sz="1200" b="1" u="none" strike="noStrike" kern="1200" dirty="0">
                          <a:solidFill>
                            <a:schemeClr val="dk1"/>
                          </a:solidFill>
                          <a:effectLst/>
                          <a:latin typeface="+mn-lt"/>
                          <a:ea typeface="+mn-ea"/>
                          <a:cs typeface="+mn-cs"/>
                        </a:rPr>
                        <a:t>Stakeholders </a:t>
                      </a:r>
                      <a:r>
                        <a:rPr lang="en-US" sz="1200" b="1" u="none" strike="noStrike" kern="1200" dirty="0" smtClean="0">
                          <a:solidFill>
                            <a:schemeClr val="dk1"/>
                          </a:solidFill>
                          <a:effectLst/>
                          <a:latin typeface="+mn-lt"/>
                          <a:ea typeface="+mn-ea"/>
                          <a:cs typeface="+mn-cs"/>
                        </a:rPr>
                        <a:t/>
                      </a:r>
                      <a:br>
                        <a:rPr lang="en-US" sz="1200" b="1" u="none" strike="noStrike" kern="1200" dirty="0" smtClean="0">
                          <a:solidFill>
                            <a:schemeClr val="dk1"/>
                          </a:solidFill>
                          <a:effectLst/>
                          <a:latin typeface="+mn-lt"/>
                          <a:ea typeface="+mn-ea"/>
                          <a:cs typeface="+mn-cs"/>
                        </a:rPr>
                      </a:br>
                      <a:r>
                        <a:rPr lang="en-US" sz="1200" b="1" u="none" strike="noStrike" kern="1200" dirty="0" smtClean="0">
                          <a:solidFill>
                            <a:schemeClr val="dk1"/>
                          </a:solidFill>
                          <a:effectLst/>
                          <a:latin typeface="+mn-lt"/>
                          <a:ea typeface="+mn-ea"/>
                          <a:cs typeface="+mn-cs"/>
                        </a:rPr>
                        <a:t>and Interests</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u="none" strike="noStrike" kern="1200" dirty="0">
                          <a:solidFill>
                            <a:schemeClr val="dk1"/>
                          </a:solidFill>
                          <a:effectLst/>
                          <a:latin typeface="+mn-lt"/>
                          <a:ea typeface="+mn-ea"/>
                          <a:cs typeface="+mn-cs"/>
                        </a:rPr>
                        <a:t>이해관계자와 </a:t>
                      </a:r>
                      <a:r>
                        <a:rPr lang="en-US" altLang="ko-KR" sz="1200" u="none" strike="noStrike" kern="1200" dirty="0" err="1">
                          <a:solidFill>
                            <a:schemeClr val="dk1"/>
                          </a:solidFill>
                          <a:effectLst/>
                          <a:latin typeface="+mn-lt"/>
                          <a:ea typeface="+mn-ea"/>
                          <a:cs typeface="+mn-cs"/>
                        </a:rPr>
                        <a:t>usecase</a:t>
                      </a:r>
                      <a:r>
                        <a:rPr lang="ko-KR" altLang="en-US" sz="1200" u="none" strike="noStrike" kern="1200" dirty="0">
                          <a:solidFill>
                            <a:schemeClr val="dk1"/>
                          </a:solidFill>
                          <a:effectLst/>
                          <a:latin typeface="+mn-lt"/>
                          <a:ea typeface="+mn-ea"/>
                          <a:cs typeface="+mn-cs"/>
                        </a:rPr>
                        <a:t>에 대한 그들의 이익이나 관심사를 설명합니다</a:t>
                      </a:r>
                      <a:r>
                        <a:rPr lang="en-US" altLang="ko-KR" sz="1200" u="none" strike="noStrike" kern="1200" dirty="0">
                          <a:solidFill>
                            <a:schemeClr val="dk1"/>
                          </a:solidFill>
                          <a:effectLst/>
                          <a:latin typeface="+mn-lt"/>
                          <a:ea typeface="+mn-ea"/>
                          <a:cs typeface="+mn-cs"/>
                        </a:rPr>
                        <a:t>. </a:t>
                      </a:r>
                      <a:endParaRPr lang="en-US" altLang="ko-KR" sz="1200" u="none" strike="noStrike" kern="1200" dirty="0" smtClean="0">
                        <a:solidFill>
                          <a:schemeClr val="dk1"/>
                        </a:solidFill>
                        <a:effectLst/>
                        <a:latin typeface="+mn-lt"/>
                        <a:ea typeface="+mn-ea"/>
                        <a:cs typeface="+mn-cs"/>
                      </a:endParaRPr>
                    </a:p>
                    <a:p>
                      <a:pPr algn="l" fontAlgn="ctr">
                        <a:lnSpc>
                          <a:spcPct val="120000"/>
                        </a:lnSpc>
                      </a:pPr>
                      <a:r>
                        <a:rPr lang="ko-KR" altLang="en-US" sz="1200" u="none" strike="noStrike" kern="1200" dirty="0" smtClean="0">
                          <a:solidFill>
                            <a:schemeClr val="dk1"/>
                          </a:solidFill>
                          <a:effectLst/>
                          <a:latin typeface="+mn-lt"/>
                          <a:ea typeface="+mn-ea"/>
                          <a:cs typeface="+mn-cs"/>
                        </a:rPr>
                        <a:t>예를 </a:t>
                      </a:r>
                      <a:r>
                        <a:rPr lang="ko-KR" altLang="en-US" sz="1200" u="none" strike="noStrike" kern="1200" dirty="0">
                          <a:solidFill>
                            <a:schemeClr val="dk1"/>
                          </a:solidFill>
                          <a:effectLst/>
                          <a:latin typeface="+mn-lt"/>
                          <a:ea typeface="+mn-ea"/>
                          <a:cs typeface="+mn-cs"/>
                        </a:rPr>
                        <a:t>들어</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비즈니스 관리자는 효율적인 검색 기능을 통해 매출을 증가시키려고 한다</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가 될 수 있습니다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2907352484"/>
                  </a:ext>
                </a:extLst>
              </a:tr>
              <a:tr h="348367">
                <a:tc>
                  <a:txBody>
                    <a:bodyPr/>
                    <a:lstStyle/>
                    <a:p>
                      <a:pPr algn="l" fontAlgn="ctr">
                        <a:lnSpc>
                          <a:spcPct val="120000"/>
                        </a:lnSpc>
                      </a:pPr>
                      <a:r>
                        <a:rPr lang="en-US" sz="1200" b="1" u="none" strike="noStrike" kern="1200" dirty="0">
                          <a:solidFill>
                            <a:schemeClr val="dk1"/>
                          </a:solidFill>
                          <a:effectLst/>
                          <a:latin typeface="+mn-lt"/>
                          <a:ea typeface="+mn-ea"/>
                          <a:cs typeface="+mn-cs"/>
                        </a:rPr>
                        <a:t>Preconditions</a:t>
                      </a: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시작되기 전에 충족되어야 하는 조건을 기술합니다</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예를 들어</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고객이 로그인 상태여야 한다</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가 될 수 있습니다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904667318"/>
                  </a:ext>
                </a:extLst>
              </a:tr>
              <a:tr h="348367">
                <a:tc>
                  <a:txBody>
                    <a:bodyPr/>
                    <a:lstStyle/>
                    <a:p>
                      <a:pPr algn="l" fontAlgn="ctr">
                        <a:lnSpc>
                          <a:spcPct val="120000"/>
                        </a:lnSpc>
                      </a:pPr>
                      <a:r>
                        <a:rPr lang="en-US" sz="1200" b="1" u="none" strike="noStrike" kern="1200" dirty="0">
                          <a:solidFill>
                            <a:schemeClr val="dk1"/>
                          </a:solidFill>
                          <a:effectLst/>
                          <a:latin typeface="+mn-lt"/>
                          <a:ea typeface="+mn-ea"/>
                          <a:cs typeface="+mn-cs"/>
                        </a:rPr>
                        <a:t>Success </a:t>
                      </a:r>
                      <a:r>
                        <a:rPr lang="en-US" sz="1200" b="1" u="none" strike="noStrike" kern="1200" dirty="0" err="1" smtClean="0">
                          <a:solidFill>
                            <a:schemeClr val="dk1"/>
                          </a:solidFill>
                          <a:effectLst/>
                          <a:latin typeface="+mn-lt"/>
                          <a:ea typeface="+mn-ea"/>
                          <a:cs typeface="+mn-cs"/>
                        </a:rPr>
                        <a:t>Gurantee</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성공적으로 완료되었을 때의 상태를 설명합니다</a:t>
                      </a:r>
                      <a:r>
                        <a:rPr lang="en-US" altLang="ko-KR" sz="1200" u="none" strike="noStrike" kern="1200" dirty="0">
                          <a:solidFill>
                            <a:schemeClr val="dk1"/>
                          </a:solidFill>
                          <a:effectLst/>
                          <a:latin typeface="+mn-lt"/>
                          <a:ea typeface="+mn-ea"/>
                          <a:cs typeface="+mn-cs"/>
                        </a:rPr>
                        <a:t>. </a:t>
                      </a:r>
                      <a:r>
                        <a:rPr lang="en-US" altLang="ko-KR" sz="1200" u="none" strike="noStrike" kern="1200" dirty="0" smtClean="0">
                          <a:solidFill>
                            <a:schemeClr val="dk1"/>
                          </a:solidFill>
                          <a:effectLst/>
                          <a:latin typeface="+mn-lt"/>
                          <a:ea typeface="+mn-ea"/>
                          <a:cs typeface="+mn-cs"/>
                        </a:rPr>
                        <a:t/>
                      </a:r>
                      <a:br>
                        <a:rPr lang="en-US" altLang="ko-KR" sz="1200" u="none" strike="noStrike" kern="1200" dirty="0" smtClean="0">
                          <a:solidFill>
                            <a:schemeClr val="dk1"/>
                          </a:solidFill>
                          <a:effectLst/>
                          <a:latin typeface="+mn-lt"/>
                          <a:ea typeface="+mn-ea"/>
                          <a:cs typeface="+mn-cs"/>
                        </a:rPr>
                      </a:br>
                      <a:r>
                        <a:rPr lang="ko-KR" altLang="en-US" sz="1200" u="none" strike="noStrike" kern="1200" dirty="0" smtClean="0">
                          <a:solidFill>
                            <a:schemeClr val="dk1"/>
                          </a:solidFill>
                          <a:effectLst/>
                          <a:latin typeface="+mn-lt"/>
                          <a:ea typeface="+mn-ea"/>
                          <a:cs typeface="+mn-cs"/>
                        </a:rPr>
                        <a:t>예를 </a:t>
                      </a:r>
                      <a:r>
                        <a:rPr lang="ko-KR" altLang="en-US" sz="1200" u="none" strike="noStrike" kern="1200" dirty="0">
                          <a:solidFill>
                            <a:schemeClr val="dk1"/>
                          </a:solidFill>
                          <a:effectLst/>
                          <a:latin typeface="+mn-lt"/>
                          <a:ea typeface="+mn-ea"/>
                          <a:cs typeface="+mn-cs"/>
                        </a:rPr>
                        <a:t>들어</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고객이 원하는 상품을 찾아 상세 페이지를 볼 수 있다</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가 될 수 있습니다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1923804042"/>
                  </a:ext>
                </a:extLst>
              </a:tr>
              <a:tr h="198730">
                <a:tc>
                  <a:txBody>
                    <a:bodyPr/>
                    <a:lstStyle/>
                    <a:p>
                      <a:pPr algn="l" fontAlgn="ctr">
                        <a:lnSpc>
                          <a:spcPct val="120000"/>
                        </a:lnSpc>
                      </a:pPr>
                      <a:r>
                        <a:rPr lang="en-US" sz="1200" b="1" u="none" strike="noStrike" kern="1200" dirty="0">
                          <a:solidFill>
                            <a:schemeClr val="dk1"/>
                          </a:solidFill>
                          <a:effectLst/>
                          <a:latin typeface="+mn-lt"/>
                          <a:ea typeface="+mn-ea"/>
                          <a:cs typeface="+mn-cs"/>
                        </a:rPr>
                        <a:t>Main </a:t>
                      </a:r>
                      <a:r>
                        <a:rPr lang="en-US" sz="1200" b="1" u="none" strike="noStrike" kern="1200" dirty="0" smtClean="0">
                          <a:solidFill>
                            <a:schemeClr val="dk1"/>
                          </a:solidFill>
                          <a:effectLst/>
                          <a:latin typeface="+mn-lt"/>
                          <a:ea typeface="+mn-ea"/>
                          <a:cs typeface="+mn-cs"/>
                        </a:rPr>
                        <a:t>Success Scenario</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유스케이스가</a:t>
                      </a:r>
                      <a:r>
                        <a:rPr lang="ko-KR" altLang="en-US" sz="1200" u="none" strike="noStrike" kern="1200" dirty="0">
                          <a:solidFill>
                            <a:schemeClr val="dk1"/>
                          </a:solidFill>
                          <a:effectLst/>
                          <a:latin typeface="+mn-lt"/>
                          <a:ea typeface="+mn-ea"/>
                          <a:cs typeface="+mn-cs"/>
                        </a:rPr>
                        <a:t> 성공적으로 완료되는 주요 시나리오를 단계별로 기술합니다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4230572740"/>
                  </a:ext>
                </a:extLst>
              </a:tr>
              <a:tr h="348367">
                <a:tc>
                  <a:txBody>
                    <a:bodyPr/>
                    <a:lstStyle/>
                    <a:p>
                      <a:pPr algn="l" fontAlgn="ctr">
                        <a:lnSpc>
                          <a:spcPct val="120000"/>
                        </a:lnSpc>
                      </a:pPr>
                      <a:r>
                        <a:rPr lang="en-US" sz="1200" b="1" u="none" strike="noStrike" kern="1200" dirty="0">
                          <a:solidFill>
                            <a:schemeClr val="dk1"/>
                          </a:solidFill>
                          <a:effectLst/>
                          <a:latin typeface="+mn-lt"/>
                          <a:ea typeface="+mn-ea"/>
                          <a:cs typeface="+mn-cs"/>
                        </a:rPr>
                        <a:t>Extension</a:t>
                      </a:r>
                    </a:p>
                  </a:txBody>
                  <a:tcPr marL="144000" marR="144000" marT="72000" marB="72000" anchor="ctr"/>
                </a:tc>
                <a:tc>
                  <a:txBody>
                    <a:bodyPr/>
                    <a:lstStyle/>
                    <a:p>
                      <a:pPr algn="l" fontAlgn="ctr">
                        <a:lnSpc>
                          <a:spcPct val="120000"/>
                        </a:lnSpc>
                      </a:pPr>
                      <a:r>
                        <a:rPr lang="ko-KR" altLang="en-US" sz="1200" u="none" strike="noStrike" kern="1200" dirty="0">
                          <a:solidFill>
                            <a:schemeClr val="dk1"/>
                          </a:solidFill>
                          <a:effectLst/>
                          <a:latin typeface="+mn-lt"/>
                          <a:ea typeface="+mn-ea"/>
                          <a:cs typeface="+mn-cs"/>
                        </a:rPr>
                        <a:t>주요 시나리오에서 벗어나는 대안적인 시나리오나</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성공적으로 완료 </a:t>
                      </a:r>
                      <a:r>
                        <a:rPr lang="ko-KR" altLang="en-US" sz="1200" u="none" strike="noStrike" kern="1200" dirty="0" err="1">
                          <a:solidFill>
                            <a:schemeClr val="dk1"/>
                          </a:solidFill>
                          <a:effectLst/>
                          <a:latin typeface="+mn-lt"/>
                          <a:ea typeface="+mn-ea"/>
                          <a:cs typeface="+mn-cs"/>
                        </a:rPr>
                        <a:t>할수</a:t>
                      </a:r>
                      <a:r>
                        <a:rPr lang="ko-KR" altLang="en-US" sz="1200" u="none" strike="noStrike" kern="1200" dirty="0">
                          <a:solidFill>
                            <a:schemeClr val="dk1"/>
                          </a:solidFill>
                          <a:effectLst/>
                          <a:latin typeface="+mn-lt"/>
                          <a:ea typeface="+mn-ea"/>
                          <a:cs typeface="+mn-cs"/>
                        </a:rPr>
                        <a:t> 없는 예외 시나리오를 단계별로 기술합니다</a:t>
                      </a:r>
                      <a:r>
                        <a:rPr lang="en-US" altLang="ko-KR" sz="1200" u="none" strike="noStrike" kern="1200" dirty="0">
                          <a:solidFill>
                            <a:schemeClr val="dk1"/>
                          </a:solidFill>
                          <a:effectLst/>
                          <a:latin typeface="+mn-lt"/>
                          <a:ea typeface="+mn-ea"/>
                          <a:cs typeface="+mn-cs"/>
                        </a:rPr>
                        <a:t>. </a:t>
                      </a:r>
                      <a:r>
                        <a:rPr lang="en-US" altLang="ko-KR" sz="1200" u="none" strike="noStrike" kern="1200" dirty="0" smtClean="0">
                          <a:solidFill>
                            <a:schemeClr val="dk1"/>
                          </a:solidFill>
                          <a:effectLst/>
                          <a:latin typeface="+mn-lt"/>
                          <a:ea typeface="+mn-ea"/>
                          <a:cs typeface="+mn-cs"/>
                        </a:rPr>
                        <a:t/>
                      </a:r>
                      <a:br>
                        <a:rPr lang="en-US" altLang="ko-KR" sz="1200" u="none" strike="noStrike" kern="1200" dirty="0" smtClean="0">
                          <a:solidFill>
                            <a:schemeClr val="dk1"/>
                          </a:solidFill>
                          <a:effectLst/>
                          <a:latin typeface="+mn-lt"/>
                          <a:ea typeface="+mn-ea"/>
                          <a:cs typeface="+mn-cs"/>
                        </a:rPr>
                      </a:br>
                      <a:r>
                        <a:rPr lang="ko-KR" altLang="en-US" sz="1200" u="none" strike="noStrike" kern="1200" dirty="0" smtClean="0">
                          <a:solidFill>
                            <a:schemeClr val="dk1"/>
                          </a:solidFill>
                          <a:effectLst/>
                          <a:latin typeface="+mn-lt"/>
                          <a:ea typeface="+mn-ea"/>
                          <a:cs typeface="+mn-cs"/>
                        </a:rPr>
                        <a:t>예를 </a:t>
                      </a:r>
                      <a:r>
                        <a:rPr lang="ko-KR" altLang="en-US" sz="1200" u="none" strike="noStrike" kern="1200" dirty="0">
                          <a:solidFill>
                            <a:schemeClr val="dk1"/>
                          </a:solidFill>
                          <a:effectLst/>
                          <a:latin typeface="+mn-lt"/>
                          <a:ea typeface="+mn-ea"/>
                          <a:cs typeface="+mn-cs"/>
                        </a:rPr>
                        <a:t>들어</a:t>
                      </a:r>
                      <a:r>
                        <a:rPr lang="en-US" altLang="ko-KR" sz="1200" u="none" strike="noStrike" kern="1200" dirty="0">
                          <a:solidFill>
                            <a:schemeClr val="dk1"/>
                          </a:solidFill>
                          <a:effectLst/>
                          <a:latin typeface="+mn-lt"/>
                          <a:ea typeface="+mn-ea"/>
                          <a:cs typeface="+mn-cs"/>
                        </a:rPr>
                        <a:t>, '</a:t>
                      </a:r>
                      <a:r>
                        <a:rPr lang="ko-KR" altLang="en-US" sz="1200" u="none" strike="noStrike" kern="1200" dirty="0">
                          <a:solidFill>
                            <a:schemeClr val="dk1"/>
                          </a:solidFill>
                          <a:effectLst/>
                          <a:latin typeface="+mn-lt"/>
                          <a:ea typeface="+mn-ea"/>
                          <a:cs typeface="+mn-cs"/>
                        </a:rPr>
                        <a:t>검색 결과가 없을 경우</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가 될 수 있습니다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1865474391"/>
                  </a:ext>
                </a:extLst>
              </a:tr>
              <a:tr h="198730">
                <a:tc>
                  <a:txBody>
                    <a:bodyPr/>
                    <a:lstStyle/>
                    <a:p>
                      <a:pPr algn="l" fontAlgn="ctr">
                        <a:lnSpc>
                          <a:spcPct val="120000"/>
                        </a:lnSpc>
                      </a:pPr>
                      <a:r>
                        <a:rPr lang="en-US" sz="1200" b="1" u="none" strike="noStrike" kern="1200" dirty="0">
                          <a:solidFill>
                            <a:schemeClr val="dk1"/>
                          </a:solidFill>
                          <a:effectLst/>
                          <a:latin typeface="+mn-lt"/>
                          <a:ea typeface="+mn-ea"/>
                          <a:cs typeface="+mn-cs"/>
                        </a:rPr>
                        <a:t>Special </a:t>
                      </a:r>
                      <a:r>
                        <a:rPr lang="en-US" sz="1200" b="1" u="none" strike="noStrike" kern="1200" dirty="0" smtClean="0">
                          <a:solidFill>
                            <a:schemeClr val="dk1"/>
                          </a:solidFill>
                          <a:effectLst/>
                          <a:latin typeface="+mn-lt"/>
                          <a:ea typeface="+mn-ea"/>
                          <a:cs typeface="+mn-cs"/>
                        </a:rPr>
                        <a:t>Requirements</a:t>
                      </a:r>
                      <a:endParaRPr lang="en-US" sz="1200" b="1" u="none" strike="noStrike" kern="1200" dirty="0">
                        <a:solidFill>
                          <a:schemeClr val="dk1"/>
                        </a:solidFill>
                        <a:effectLst/>
                        <a:latin typeface="+mn-lt"/>
                        <a:ea typeface="+mn-ea"/>
                        <a:cs typeface="+mn-cs"/>
                      </a:endParaRPr>
                    </a:p>
                  </a:txBody>
                  <a:tcPr marL="144000" marR="144000" marT="72000" marB="72000" anchor="ctr"/>
                </a:tc>
                <a:tc>
                  <a:txBody>
                    <a:bodyPr/>
                    <a:lstStyle/>
                    <a:p>
                      <a:pPr algn="l" fontAlgn="ctr">
                        <a:lnSpc>
                          <a:spcPct val="120000"/>
                        </a:lnSpc>
                      </a:pPr>
                      <a:r>
                        <a:rPr lang="ko-KR" altLang="en-US" sz="1200" u="none" strike="noStrike" kern="1200" dirty="0" err="1">
                          <a:solidFill>
                            <a:schemeClr val="dk1"/>
                          </a:solidFill>
                          <a:effectLst/>
                          <a:latin typeface="+mn-lt"/>
                          <a:ea typeface="+mn-ea"/>
                          <a:cs typeface="+mn-cs"/>
                        </a:rPr>
                        <a:t>비기능</a:t>
                      </a:r>
                      <a:r>
                        <a:rPr lang="ko-KR" altLang="en-US" sz="1200" u="none" strike="noStrike" kern="1200" dirty="0">
                          <a:solidFill>
                            <a:schemeClr val="dk1"/>
                          </a:solidFill>
                          <a:effectLst/>
                          <a:latin typeface="+mn-lt"/>
                          <a:ea typeface="+mn-ea"/>
                          <a:cs typeface="+mn-cs"/>
                        </a:rPr>
                        <a:t> 요구 사항을 작성 합니다</a:t>
                      </a:r>
                      <a:r>
                        <a:rPr lang="en-US" altLang="ko-KR" sz="1200" u="none" strike="noStrike" kern="1200" dirty="0">
                          <a:solidFill>
                            <a:schemeClr val="dk1"/>
                          </a:solidFill>
                          <a:effectLst/>
                          <a:latin typeface="+mn-lt"/>
                          <a:ea typeface="+mn-ea"/>
                          <a:cs typeface="+mn-cs"/>
                        </a:rPr>
                        <a:t>.</a:t>
                      </a:r>
                    </a:p>
                  </a:txBody>
                  <a:tcPr marL="144000" marR="144000" marT="72000" marB="72000" anchor="ctr">
                    <a:solidFill>
                      <a:srgbClr val="EBF9F9"/>
                    </a:solidFill>
                  </a:tcPr>
                </a:tc>
                <a:extLst>
                  <a:ext uri="{0D108BD9-81ED-4DB2-BD59-A6C34878D82A}">
                    <a16:rowId xmlns="" xmlns:a16="http://schemas.microsoft.com/office/drawing/2014/main" val="1973428535"/>
                  </a:ext>
                </a:extLst>
              </a:tr>
              <a:tr h="348367">
                <a:tc>
                  <a:txBody>
                    <a:bodyPr/>
                    <a:lstStyle/>
                    <a:p>
                      <a:pPr algn="l" fontAlgn="ctr">
                        <a:lnSpc>
                          <a:spcPct val="120000"/>
                        </a:lnSpc>
                      </a:pPr>
                      <a:r>
                        <a:rPr lang="en-US" sz="1200" b="1" u="none" strike="noStrike" kern="1200" dirty="0">
                          <a:solidFill>
                            <a:schemeClr val="dk1"/>
                          </a:solidFill>
                          <a:effectLst/>
                          <a:latin typeface="+mn-lt"/>
                          <a:ea typeface="+mn-ea"/>
                          <a:cs typeface="+mn-cs"/>
                        </a:rPr>
                        <a:t>Miscellaneous</a:t>
                      </a:r>
                    </a:p>
                  </a:txBody>
                  <a:tcPr marL="144000" marR="144000" marT="72000" marB="72000" anchor="ctr"/>
                </a:tc>
                <a:tc>
                  <a:txBody>
                    <a:bodyPr/>
                    <a:lstStyle/>
                    <a:p>
                      <a:pPr algn="l" fontAlgn="ctr">
                        <a:lnSpc>
                          <a:spcPct val="120000"/>
                        </a:lnSpc>
                      </a:pPr>
                      <a:r>
                        <a:rPr lang="ko-KR" altLang="en-US" sz="1200" u="none" strike="noStrike" kern="1200" dirty="0">
                          <a:solidFill>
                            <a:schemeClr val="dk1"/>
                          </a:solidFill>
                          <a:effectLst/>
                          <a:latin typeface="+mn-lt"/>
                          <a:ea typeface="+mn-ea"/>
                          <a:cs typeface="+mn-cs"/>
                        </a:rPr>
                        <a:t>아직 해결되지 않은 문제나 </a:t>
                      </a:r>
                      <a:r>
                        <a:rPr lang="ko-KR" altLang="en-US" sz="1200" u="none" strike="noStrike" kern="1200" dirty="0" err="1">
                          <a:solidFill>
                            <a:schemeClr val="dk1"/>
                          </a:solidFill>
                          <a:effectLst/>
                          <a:latin typeface="+mn-lt"/>
                          <a:ea typeface="+mn-ea"/>
                          <a:cs typeface="+mn-cs"/>
                        </a:rPr>
                        <a:t>미정의된</a:t>
                      </a:r>
                      <a:r>
                        <a:rPr lang="ko-KR" altLang="en-US" sz="1200" u="none" strike="noStrike" kern="1200" dirty="0">
                          <a:solidFill>
                            <a:schemeClr val="dk1"/>
                          </a:solidFill>
                          <a:effectLst/>
                          <a:latin typeface="+mn-lt"/>
                          <a:ea typeface="+mn-ea"/>
                          <a:cs typeface="+mn-cs"/>
                        </a:rPr>
                        <a:t> 사항들 혹은 독자가 알고 있어야 할 기타 사항들을 기술합니다</a:t>
                      </a:r>
                      <a:r>
                        <a:rPr lang="en-US" altLang="ko-KR" sz="1200" u="none" strike="noStrike" kern="1200" dirty="0">
                          <a:solidFill>
                            <a:schemeClr val="dk1"/>
                          </a:solidFill>
                          <a:effectLst/>
                          <a:latin typeface="+mn-lt"/>
                          <a:ea typeface="+mn-ea"/>
                          <a:cs typeface="+mn-cs"/>
                        </a:rPr>
                        <a:t>. </a:t>
                      </a:r>
                      <a:r>
                        <a:rPr lang="en-US" altLang="ko-KR" sz="1200" u="none" strike="noStrike" kern="1200" dirty="0" smtClean="0">
                          <a:solidFill>
                            <a:schemeClr val="dk1"/>
                          </a:solidFill>
                          <a:effectLst/>
                          <a:latin typeface="+mn-lt"/>
                          <a:ea typeface="+mn-ea"/>
                          <a:cs typeface="+mn-cs"/>
                        </a:rPr>
                        <a:t/>
                      </a:r>
                      <a:br>
                        <a:rPr lang="en-US" altLang="ko-KR" sz="1200" u="none" strike="noStrike" kern="1200" dirty="0" smtClean="0">
                          <a:solidFill>
                            <a:schemeClr val="dk1"/>
                          </a:solidFill>
                          <a:effectLst/>
                          <a:latin typeface="+mn-lt"/>
                          <a:ea typeface="+mn-ea"/>
                          <a:cs typeface="+mn-cs"/>
                        </a:rPr>
                      </a:br>
                      <a:r>
                        <a:rPr lang="ko-KR" altLang="en-US" sz="1200" u="none" strike="noStrike" kern="1200" dirty="0" smtClean="0">
                          <a:solidFill>
                            <a:schemeClr val="dk1"/>
                          </a:solidFill>
                          <a:effectLst/>
                          <a:latin typeface="+mn-lt"/>
                          <a:ea typeface="+mn-ea"/>
                          <a:cs typeface="+mn-cs"/>
                        </a:rPr>
                        <a:t>예를 들면</a:t>
                      </a:r>
                      <a:r>
                        <a:rPr lang="en-US" altLang="ko-KR" sz="1200" u="none" strike="noStrike" kern="1200" dirty="0" smtClean="0">
                          <a:solidFill>
                            <a:schemeClr val="dk1"/>
                          </a:solidFill>
                          <a:effectLst/>
                          <a:latin typeface="+mn-lt"/>
                          <a:ea typeface="+mn-ea"/>
                          <a:cs typeface="+mn-cs"/>
                        </a:rPr>
                        <a:t>, </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보안 문제와 관련하여 이메일 전송 프로세스의 적절한 보호 방법에 대한 논의가 필요함</a:t>
                      </a:r>
                      <a:r>
                        <a:rPr lang="en-US" altLang="ko-KR" sz="1200" u="none" strike="noStrike" kern="1200" dirty="0">
                          <a:solidFill>
                            <a:schemeClr val="dk1"/>
                          </a:solidFill>
                          <a:effectLst/>
                          <a:latin typeface="+mn-lt"/>
                          <a:ea typeface="+mn-ea"/>
                          <a:cs typeface="+mn-cs"/>
                        </a:rPr>
                        <a:t>'</a:t>
                      </a:r>
                      <a:r>
                        <a:rPr lang="ko-KR" altLang="en-US" sz="1200" u="none" strike="noStrike" kern="1200" dirty="0">
                          <a:solidFill>
                            <a:schemeClr val="dk1"/>
                          </a:solidFill>
                          <a:effectLst/>
                          <a:latin typeface="+mn-lt"/>
                          <a:ea typeface="+mn-ea"/>
                          <a:cs typeface="+mn-cs"/>
                        </a:rPr>
                        <a:t>이 될 수 있습니다</a:t>
                      </a:r>
                      <a:r>
                        <a:rPr lang="en-US" altLang="ko-KR" sz="1200" u="none" strike="noStrike" kern="1200" dirty="0" smtClean="0">
                          <a:solidFill>
                            <a:schemeClr val="dk1"/>
                          </a:solidFill>
                          <a:effectLst/>
                          <a:latin typeface="+mn-lt"/>
                          <a:ea typeface="+mn-ea"/>
                          <a:cs typeface="+mn-cs"/>
                        </a:rPr>
                        <a:t>.</a:t>
                      </a:r>
                      <a:endParaRPr lang="en-US" altLang="ko-KR" sz="1200" u="none" strike="noStrike" kern="1200" dirty="0">
                        <a:solidFill>
                          <a:schemeClr val="dk1"/>
                        </a:solidFill>
                        <a:effectLst/>
                        <a:latin typeface="+mn-lt"/>
                        <a:ea typeface="+mn-ea"/>
                        <a:cs typeface="+mn-cs"/>
                      </a:endParaRPr>
                    </a:p>
                  </a:txBody>
                  <a:tcPr marL="144000" marR="144000" marT="72000" marB="72000" anchor="ctr">
                    <a:solidFill>
                      <a:srgbClr val="EBF9F9"/>
                    </a:solidFill>
                  </a:tcPr>
                </a:tc>
                <a:extLst>
                  <a:ext uri="{0D108BD9-81ED-4DB2-BD59-A6C34878D82A}">
                    <a16:rowId xmlns="" xmlns:a16="http://schemas.microsoft.com/office/drawing/2014/main" val="1561408329"/>
                  </a:ext>
                </a:extLst>
              </a:tr>
            </a:tbl>
          </a:graphicData>
        </a:graphic>
      </p:graphicFrame>
    </p:spTree>
    <p:extLst>
      <p:ext uri="{BB962C8B-B14F-4D97-AF65-F5344CB8AC3E}">
        <p14:creationId xmlns:p14="http://schemas.microsoft.com/office/powerpoint/2010/main" val="1303166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3863425" cy="424661"/>
          </a:xfrm>
        </p:spPr>
        <p:txBody>
          <a:bodyPr/>
          <a:lstStyle/>
          <a:p>
            <a:r>
              <a:rPr lang="en-US" altLang="ko-KR" dirty="0" err="1" smtClean="0"/>
              <a:t>Usecase</a:t>
            </a:r>
            <a:r>
              <a:rPr lang="ko-KR" altLang="en-US" dirty="0" smtClean="0"/>
              <a:t>는 왜 작성하는가</a:t>
            </a:r>
            <a:r>
              <a:rPr lang="en-US" altLang="ko-KR" dirty="0" smtClean="0"/>
              <a:t>?</a:t>
            </a:r>
            <a:endParaRPr lang="ko-KR" altLang="en-US" dirty="0"/>
          </a:p>
        </p:txBody>
      </p:sp>
      <p:sp>
        <p:nvSpPr>
          <p:cNvPr id="4" name="TextBox 3"/>
          <p:cNvSpPr txBox="1"/>
          <p:nvPr/>
        </p:nvSpPr>
        <p:spPr>
          <a:xfrm>
            <a:off x="408000" y="692696"/>
            <a:ext cx="11448640" cy="3000821"/>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500" dirty="0" smtClean="0"/>
              <a:t>유스케이스를</a:t>
            </a:r>
            <a:r>
              <a:rPr lang="en-US" altLang="ko-KR" sz="1500" dirty="0" smtClean="0"/>
              <a:t> </a:t>
            </a:r>
            <a:r>
              <a:rPr lang="ko-KR" altLang="en-US" sz="1500" dirty="0" smtClean="0"/>
              <a:t>단순하게 유지하는 것이 유스케이스를 사용하는 진짜 비결이다</a:t>
            </a:r>
            <a:r>
              <a:rPr lang="en-US" altLang="ko-KR" sz="1500" dirty="0" smtClean="0"/>
              <a:t>. </a:t>
            </a:r>
            <a:r>
              <a:rPr lang="ko-KR" altLang="en-US" sz="1500" dirty="0" smtClean="0"/>
              <a:t>정해진 형식에 맞춰야 하나 걱정하지 말고 그냥 빈 종에 쓰거나 단순한 워드프로세서로 빈 페이지에 작성하거나 텅 빈 인덱스 카드에 적어라</a:t>
            </a:r>
            <a:r>
              <a:rPr lang="en-US" altLang="ko-KR" sz="1500" dirty="0" smtClean="0"/>
              <a:t>. </a:t>
            </a:r>
            <a:r>
              <a:rPr lang="ko-KR" altLang="en-US" sz="1500" dirty="0" smtClean="0"/>
              <a:t>모든 세부사항을 채워야 하는지 걱정할 필요도 없다</a:t>
            </a:r>
            <a:r>
              <a:rPr lang="en-US" altLang="ko-KR" sz="1500" dirty="0" smtClean="0"/>
              <a:t>. </a:t>
            </a:r>
            <a:r>
              <a:rPr lang="ko-KR" altLang="en-US" sz="1500" dirty="0" smtClean="0"/>
              <a:t>세부사항은 훨씬 나중에야 중요해진다</a:t>
            </a:r>
            <a:r>
              <a:rPr lang="en-US" altLang="ko-KR" sz="1500" dirty="0" smtClean="0"/>
              <a:t>. </a:t>
            </a:r>
            <a:r>
              <a:rPr lang="ko-KR" altLang="en-US" sz="1500" dirty="0" smtClean="0"/>
              <a:t>모든 유스케이스를 포착할 수 있는지 걱정하지도 마라</a:t>
            </a:r>
            <a:r>
              <a:rPr lang="en-US" altLang="ko-KR" sz="1500" dirty="0" smtClean="0"/>
              <a:t>. </a:t>
            </a:r>
            <a:r>
              <a:rPr lang="ko-KR" altLang="en-US" sz="1500" dirty="0" smtClean="0"/>
              <a:t>애초에 불가능한 일이다</a:t>
            </a:r>
            <a:r>
              <a:rPr lang="en-US" altLang="ko-KR" sz="1500" dirty="0" smtClean="0"/>
              <a:t>. </a:t>
            </a:r>
          </a:p>
          <a:p>
            <a:r>
              <a:rPr lang="ko-KR" altLang="en-US" sz="1500" dirty="0" smtClean="0"/>
              <a:t>유스케이스에서 유일하게 기억해야 할 점은 이것이다</a:t>
            </a:r>
            <a:r>
              <a:rPr lang="en-US" altLang="ko-KR" sz="1500" dirty="0" smtClean="0"/>
              <a:t>. </a:t>
            </a:r>
            <a:r>
              <a:rPr lang="ko-KR" altLang="en-US" sz="1500" dirty="0" smtClean="0"/>
              <a:t>내일이면 다 바뀐다</a:t>
            </a:r>
            <a:r>
              <a:rPr lang="en-US" altLang="ko-KR" sz="1500" dirty="0" smtClean="0"/>
              <a:t>. </a:t>
            </a:r>
            <a:r>
              <a:rPr lang="ko-KR" altLang="en-US" sz="1500" dirty="0" smtClean="0"/>
              <a:t>여러분이 얼마나 부지런히 유스케이스를 다 포착해 내든</a:t>
            </a:r>
            <a:r>
              <a:rPr lang="en-US" altLang="ko-KR" sz="1500" dirty="0" smtClean="0"/>
              <a:t>,</a:t>
            </a:r>
            <a:r>
              <a:rPr lang="ko-KR" altLang="en-US" sz="1500" dirty="0" smtClean="0"/>
              <a:t> 얼마나 세심하게 세부사항을 기록하든</a:t>
            </a:r>
            <a:r>
              <a:rPr lang="en-US" altLang="ko-KR" sz="1500" dirty="0" smtClean="0"/>
              <a:t>,</a:t>
            </a:r>
            <a:r>
              <a:rPr lang="ko-KR" altLang="en-US" sz="1500" dirty="0" smtClean="0"/>
              <a:t> 얼마나 완벽하게 유스케이스를 검토하든 요구사항을 조사하고 분석하는데 얼마나 많은 노력을 기울이든 내일이면 다 변한다</a:t>
            </a:r>
            <a:r>
              <a:rPr lang="en-US" altLang="ko-KR" sz="1500" dirty="0" smtClean="0"/>
              <a:t>. </a:t>
            </a:r>
          </a:p>
          <a:p>
            <a:r>
              <a:rPr lang="ko-KR" altLang="en-US" sz="1500" dirty="0" smtClean="0"/>
              <a:t>내일 무엇인가 변경될 것이라면 오늘 세부사항을 포착할 필요가 전혀 없다</a:t>
            </a:r>
            <a:r>
              <a:rPr lang="en-US" altLang="ko-KR" sz="1500" dirty="0" smtClean="0"/>
              <a:t>. </a:t>
            </a:r>
            <a:r>
              <a:rPr lang="ko-KR" altLang="en-US" sz="1500" dirty="0" smtClean="0"/>
              <a:t>오히려 되도록 마지막까지 세부사항을 포착하는 일을 미루고 싶을 것이다</a:t>
            </a:r>
            <a:r>
              <a:rPr lang="en-US" altLang="ko-KR" sz="1500" dirty="0" smtClean="0"/>
              <a:t>. </a:t>
            </a:r>
            <a:r>
              <a:rPr lang="ko-KR" altLang="en-US" sz="1500" dirty="0" err="1" smtClean="0"/>
              <a:t>유스케이스를</a:t>
            </a:r>
            <a:r>
              <a:rPr lang="ko-KR" altLang="en-US" sz="1500" dirty="0" smtClean="0"/>
              <a:t> 그때그때 작성하는 요구사항 이라고 생각하라</a:t>
            </a:r>
            <a:r>
              <a:rPr lang="en-US" altLang="ko-KR" sz="1500" dirty="0" smtClean="0"/>
              <a:t>. </a:t>
            </a:r>
          </a:p>
          <a:p>
            <a:pPr algn="r"/>
            <a:r>
              <a:rPr lang="en-US" altLang="ko-KR" sz="1500" dirty="0" smtClean="0">
                <a:solidFill>
                  <a:schemeClr val="bg1">
                    <a:lumMod val="50000"/>
                  </a:schemeClr>
                </a:solidFill>
              </a:rPr>
              <a:t> UML </a:t>
            </a:r>
            <a:r>
              <a:rPr lang="ko-KR" altLang="en-US" sz="1500" dirty="0" smtClean="0">
                <a:solidFill>
                  <a:schemeClr val="bg1">
                    <a:lumMod val="50000"/>
                  </a:schemeClr>
                </a:solidFill>
              </a:rPr>
              <a:t>실전에서는 이것만 쓴다 </a:t>
            </a:r>
            <a:r>
              <a:rPr lang="en-US" altLang="ko-KR" sz="1500" dirty="0" smtClean="0">
                <a:solidFill>
                  <a:schemeClr val="bg1">
                    <a:lumMod val="50000"/>
                  </a:schemeClr>
                </a:solidFill>
              </a:rPr>
              <a:t>– </a:t>
            </a:r>
            <a:r>
              <a:rPr lang="ko-KR" altLang="en-US" sz="1500" dirty="0" err="1" smtClean="0">
                <a:solidFill>
                  <a:schemeClr val="bg1">
                    <a:lumMod val="50000"/>
                  </a:schemeClr>
                </a:solidFill>
              </a:rPr>
              <a:t>로버트</a:t>
            </a:r>
            <a:r>
              <a:rPr lang="ko-KR" altLang="en-US" sz="1500" dirty="0" smtClean="0">
                <a:solidFill>
                  <a:schemeClr val="bg1">
                    <a:lumMod val="50000"/>
                  </a:schemeClr>
                </a:solidFill>
              </a:rPr>
              <a:t> </a:t>
            </a:r>
            <a:r>
              <a:rPr lang="en-US" altLang="ko-KR" sz="1500" dirty="0" smtClean="0">
                <a:solidFill>
                  <a:schemeClr val="bg1">
                    <a:lumMod val="50000"/>
                  </a:schemeClr>
                </a:solidFill>
              </a:rPr>
              <a:t>C. </a:t>
            </a:r>
            <a:r>
              <a:rPr lang="ko-KR" altLang="en-US" sz="1500" dirty="0" err="1" smtClean="0">
                <a:solidFill>
                  <a:schemeClr val="bg1">
                    <a:lumMod val="50000"/>
                  </a:schemeClr>
                </a:solidFill>
              </a:rPr>
              <a:t>마틴</a:t>
            </a:r>
            <a:r>
              <a:rPr lang="en-US" altLang="ko-KR" sz="1500" dirty="0" smtClean="0">
                <a:solidFill>
                  <a:schemeClr val="bg1">
                    <a:lumMod val="50000"/>
                  </a:schemeClr>
                </a:solidFill>
              </a:rPr>
              <a:t>-</a:t>
            </a:r>
            <a:r>
              <a:rPr lang="en-US" altLang="ko-KR" sz="1500" dirty="0" smtClean="0"/>
              <a:t> </a:t>
            </a:r>
            <a:endParaRPr lang="ko-KR" altLang="en-US" sz="1500" dirty="0"/>
          </a:p>
        </p:txBody>
      </p:sp>
      <p:sp>
        <p:nvSpPr>
          <p:cNvPr id="5" name="TextBox 4"/>
          <p:cNvSpPr txBox="1"/>
          <p:nvPr/>
        </p:nvSpPr>
        <p:spPr>
          <a:xfrm>
            <a:off x="407368" y="3886545"/>
            <a:ext cx="11449272" cy="2677656"/>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pPr marL="285750" indent="-285750">
              <a:buFont typeface="Arial" panose="020B0604020202020204" pitchFamily="34" charset="0"/>
              <a:buChar char="•"/>
            </a:pPr>
            <a:r>
              <a:rPr lang="ko-KR" altLang="en-US" sz="1500" dirty="0" smtClean="0"/>
              <a:t>저는 </a:t>
            </a:r>
            <a:r>
              <a:rPr lang="en-US" altLang="ko-KR" sz="1500" dirty="0" smtClean="0"/>
              <a:t>50</a:t>
            </a:r>
            <a:r>
              <a:rPr lang="ko-KR" altLang="en-US" sz="1500" dirty="0" smtClean="0"/>
              <a:t>명이 참여한 </a:t>
            </a:r>
            <a:r>
              <a:rPr lang="en-US" altLang="ko-KR" sz="1500" dirty="0" smtClean="0"/>
              <a:t>15M$ </a:t>
            </a:r>
            <a:r>
              <a:rPr lang="ko-KR" altLang="en-US" sz="1500" dirty="0" smtClean="0"/>
              <a:t>프로젝트가 단지 주요 성공 시나리오와 몇 가지 실패 </a:t>
            </a:r>
            <a:r>
              <a:rPr lang="ko-KR" altLang="en-US" sz="1500" dirty="0"/>
              <a:t>사례만 표시한 간단한 단락 </a:t>
            </a:r>
            <a:r>
              <a:rPr lang="ko-KR" altLang="en-US" sz="1500" dirty="0" smtClean="0"/>
              <a:t>형식의 텍스트를 가지고 성공하는 것을 보았습니다</a:t>
            </a:r>
            <a:r>
              <a:rPr lang="en-US" altLang="ko-KR" sz="1500" dirty="0" smtClean="0"/>
              <a:t>. </a:t>
            </a:r>
            <a:r>
              <a:rPr lang="ko-KR" altLang="en-US" sz="1500" dirty="0" smtClean="0"/>
              <a:t>이 프로젝트는 팀 내 커뮤니케이션이 우수하여 이런 방식으로 작업할 수 있었습니다</a:t>
            </a:r>
            <a:r>
              <a:rPr lang="en-US" altLang="ko-KR" sz="1500" dirty="0" smtClean="0"/>
              <a:t>.</a:t>
            </a:r>
          </a:p>
          <a:p>
            <a:pPr marL="285750" indent="-285750">
              <a:buFont typeface="Arial" panose="020B0604020202020204" pitchFamily="34" charset="0"/>
              <a:buChar char="•"/>
            </a:pPr>
            <a:r>
              <a:rPr lang="en-US" altLang="ko-KR" sz="1500" dirty="0"/>
              <a:t>"Extreme Programming" </a:t>
            </a:r>
            <a:r>
              <a:rPr lang="ko-KR" altLang="en-US" sz="1500" dirty="0"/>
              <a:t>방법론을 사용하여 모든 크라이슬러 직원의 급여를 지불하기 위한 소프트웨어를 개발하는 </a:t>
            </a:r>
            <a:r>
              <a:rPr lang="ko-KR" altLang="en-US" sz="1500" dirty="0" smtClean="0"/>
              <a:t>종합 </a:t>
            </a:r>
            <a:r>
              <a:rPr lang="ko-KR" altLang="en-US" sz="1500" dirty="0"/>
              <a:t>보상 프로젝트 팀은 각 </a:t>
            </a:r>
            <a:r>
              <a:rPr lang="ko-KR" altLang="en-US" sz="1500" dirty="0" err="1" smtClean="0"/>
              <a:t>유스케이스에</a:t>
            </a:r>
            <a:r>
              <a:rPr lang="ko-KR" altLang="en-US" sz="1500" dirty="0" smtClean="0"/>
              <a:t> 대한 분석을 </a:t>
            </a:r>
            <a:r>
              <a:rPr lang="ko-KR" altLang="en-US" sz="1500" dirty="0"/>
              <a:t>기능 스케치 </a:t>
            </a:r>
            <a:r>
              <a:rPr lang="ko-KR" altLang="en-US" sz="1500" dirty="0" smtClean="0"/>
              <a:t>이상 </a:t>
            </a:r>
            <a:r>
              <a:rPr lang="ko-KR" altLang="en-US" sz="1500" dirty="0"/>
              <a:t>진행하지 않았습니다</a:t>
            </a:r>
            <a:r>
              <a:rPr lang="en-US" altLang="ko-KR" sz="1500" dirty="0"/>
              <a:t>. </a:t>
            </a:r>
            <a:r>
              <a:rPr lang="en-US" altLang="ko-KR" sz="1500" dirty="0" smtClean="0"/>
              <a:t/>
            </a:r>
            <a:br>
              <a:rPr lang="en-US" altLang="ko-KR" sz="1500" dirty="0" smtClean="0"/>
            </a:br>
            <a:r>
              <a:rPr lang="ko-KR" altLang="en-US" sz="1500" dirty="0" smtClean="0"/>
              <a:t>그들은 최소한으로 작성한 </a:t>
            </a:r>
            <a:r>
              <a:rPr lang="ko-KR" altLang="en-US" sz="1500" dirty="0" err="1" smtClean="0"/>
              <a:t>유스케이스를</a:t>
            </a:r>
            <a:r>
              <a:rPr lang="ko-KR" altLang="en-US" sz="1500" dirty="0" smtClean="0"/>
              <a:t> </a:t>
            </a:r>
            <a:r>
              <a:rPr lang="en-US" altLang="ko-KR" sz="1500" dirty="0" smtClean="0"/>
              <a:t>"</a:t>
            </a:r>
            <a:r>
              <a:rPr lang="ko-KR" altLang="en-US" sz="1500" dirty="0"/>
              <a:t>스토리</a:t>
            </a:r>
            <a:r>
              <a:rPr lang="en-US" altLang="ko-KR" sz="1500" dirty="0"/>
              <a:t>"</a:t>
            </a:r>
            <a:r>
              <a:rPr lang="ko-KR" altLang="en-US" sz="1500" dirty="0"/>
              <a:t>라고 </a:t>
            </a:r>
            <a:r>
              <a:rPr lang="ko-KR" altLang="en-US" sz="1500" dirty="0" smtClean="0"/>
              <a:t>부르는 </a:t>
            </a:r>
            <a:r>
              <a:rPr lang="en-US" altLang="ko-KR" sz="1500" dirty="0" smtClean="0"/>
              <a:t> </a:t>
            </a:r>
            <a:r>
              <a:rPr lang="ko-KR" altLang="en-US" sz="1500" dirty="0" smtClean="0"/>
              <a:t>단일 </a:t>
            </a:r>
            <a:r>
              <a:rPr lang="ko-KR" altLang="en-US" sz="1500" dirty="0"/>
              <a:t>카드에 작성했습니다</a:t>
            </a:r>
            <a:r>
              <a:rPr lang="en-US" altLang="ko-KR" sz="1500" dirty="0"/>
              <a:t>. </a:t>
            </a:r>
            <a:r>
              <a:rPr lang="ko-KR" altLang="en-US" sz="1500" dirty="0"/>
              <a:t>각 스토리 카드는 실제로 요구사항 전문가와 개발자 간의 </a:t>
            </a:r>
            <a:r>
              <a:rPr lang="ko-KR" altLang="en-US" sz="1500" dirty="0" smtClean="0"/>
              <a:t>대화를 위한 약속이었습니다</a:t>
            </a:r>
            <a:r>
              <a:rPr lang="en-US" altLang="ko-KR" sz="1500" dirty="0" smtClean="0"/>
              <a:t>. </a:t>
            </a:r>
            <a:r>
              <a:rPr lang="ko-KR" altLang="en-US" sz="1500" dirty="0"/>
              <a:t>중요한 점은 </a:t>
            </a:r>
            <a:r>
              <a:rPr lang="en-US" altLang="ko-KR" sz="1500" dirty="0"/>
              <a:t>14</a:t>
            </a:r>
            <a:r>
              <a:rPr lang="ko-KR" altLang="en-US" sz="1500" dirty="0"/>
              <a:t>명의 팀 전체가 두 개의 큰 인접한 방에 함께 앉아 있었고</a:t>
            </a:r>
            <a:r>
              <a:rPr lang="en-US" altLang="ko-KR" sz="1500" dirty="0"/>
              <a:t>, </a:t>
            </a:r>
            <a:r>
              <a:rPr lang="ko-KR" altLang="en-US" sz="1500" dirty="0" smtClean="0"/>
              <a:t>팀 </a:t>
            </a:r>
            <a:r>
              <a:rPr lang="ko-KR" altLang="en-US" sz="1500" dirty="0"/>
              <a:t>내 의사 </a:t>
            </a:r>
            <a:r>
              <a:rPr lang="ko-KR" altLang="en-US" sz="1500" dirty="0" smtClean="0"/>
              <a:t>소통이 탁월 했습니다</a:t>
            </a:r>
            <a:r>
              <a:rPr lang="en-US" altLang="ko-KR" sz="1500" dirty="0" smtClean="0"/>
              <a:t>.</a:t>
            </a:r>
          </a:p>
          <a:p>
            <a:pPr algn="r"/>
            <a:r>
              <a:rPr lang="en-US" altLang="ko-KR" sz="1500" dirty="0" smtClean="0">
                <a:solidFill>
                  <a:schemeClr val="bg1">
                    <a:lumMod val="50000"/>
                  </a:schemeClr>
                </a:solidFill>
              </a:rPr>
              <a:t>Writing Effective </a:t>
            </a:r>
            <a:r>
              <a:rPr lang="en-US" altLang="ko-KR" sz="1500" dirty="0" err="1" smtClean="0">
                <a:solidFill>
                  <a:schemeClr val="bg1">
                    <a:lumMod val="50000"/>
                  </a:schemeClr>
                </a:solidFill>
              </a:rPr>
              <a:t>Usecase</a:t>
            </a:r>
            <a:r>
              <a:rPr lang="ko-KR" altLang="en-US" sz="1500" dirty="0" smtClean="0">
                <a:solidFill>
                  <a:schemeClr val="bg1">
                    <a:lumMod val="50000"/>
                  </a:schemeClr>
                </a:solidFill>
              </a:rPr>
              <a:t> </a:t>
            </a:r>
            <a:r>
              <a:rPr lang="en-US" altLang="ko-KR" sz="1500" dirty="0" smtClean="0">
                <a:solidFill>
                  <a:schemeClr val="bg1">
                    <a:lumMod val="50000"/>
                  </a:schemeClr>
                </a:solidFill>
              </a:rPr>
              <a:t>– </a:t>
            </a:r>
            <a:r>
              <a:rPr lang="en-US" altLang="ko-KR" sz="1500" dirty="0" err="1" smtClean="0">
                <a:solidFill>
                  <a:schemeClr val="bg1">
                    <a:lumMod val="50000"/>
                  </a:schemeClr>
                </a:solidFill>
              </a:rPr>
              <a:t>A.Cockburn</a:t>
            </a:r>
            <a:r>
              <a:rPr lang="en-US" altLang="ko-KR" sz="1500" dirty="0" smtClean="0">
                <a:solidFill>
                  <a:schemeClr val="bg1">
                    <a:lumMod val="50000"/>
                  </a:schemeClr>
                </a:solidFill>
              </a:rPr>
              <a:t> 1999-</a:t>
            </a:r>
            <a:r>
              <a:rPr lang="en-US" altLang="ko-KR" sz="1500" dirty="0" smtClean="0"/>
              <a:t> </a:t>
            </a:r>
            <a:endParaRPr lang="ko-KR" altLang="en-US" sz="1500" dirty="0"/>
          </a:p>
        </p:txBody>
      </p:sp>
    </p:spTree>
    <p:extLst>
      <p:ext uri="{BB962C8B-B14F-4D97-AF65-F5344CB8AC3E}">
        <p14:creationId xmlns:p14="http://schemas.microsoft.com/office/powerpoint/2010/main" val="27298886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p:cNvPicPr>
            <a:picLocks noChangeAspect="1"/>
          </p:cNvPicPr>
          <p:nvPr/>
        </p:nvPicPr>
        <p:blipFill rotWithShape="1">
          <a:blip r:embed="rId2"/>
          <a:srcRect r="870" b="494"/>
          <a:stretch/>
        </p:blipFill>
        <p:spPr>
          <a:xfrm>
            <a:off x="5951984" y="144016"/>
            <a:ext cx="6065308" cy="6597352"/>
          </a:xfrm>
          <a:prstGeom prst="rect">
            <a:avLst/>
          </a:prstGeom>
        </p:spPr>
      </p:pic>
      <p:pic>
        <p:nvPicPr>
          <p:cNvPr id="1026" name="Picture 2" descr="https://www.wishket.com/media/news/754/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448" y="1124744"/>
            <a:ext cx="3816424" cy="2528466"/>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p:cNvSpPr/>
          <p:nvPr/>
        </p:nvSpPr>
        <p:spPr>
          <a:xfrm>
            <a:off x="551384" y="4365104"/>
            <a:ext cx="4896544" cy="1532727"/>
          </a:xfrm>
          <a:prstGeom prst="rect">
            <a:avLst/>
          </a:prstGeom>
        </p:spPr>
        <p:txBody>
          <a:bodyPr wrap="square">
            <a:spAutoFit/>
          </a:bodyPr>
          <a:lstStyle/>
          <a:p>
            <a:pPr marL="285750" indent="-285750">
              <a:lnSpc>
                <a:spcPct val="120000"/>
              </a:lnSpc>
              <a:buFont typeface="Arial" panose="020B0604020202020204" pitchFamily="34" charset="0"/>
              <a:buChar char="•"/>
            </a:pPr>
            <a:r>
              <a:rPr lang="ko-KR" altLang="en-US" sz="1300" b="1" dirty="0">
                <a:solidFill>
                  <a:srgbClr val="313131"/>
                </a:solidFill>
                <a:latin typeface="pretendard"/>
              </a:rPr>
              <a:t>마케팅 매니저</a:t>
            </a:r>
            <a:r>
              <a:rPr lang="ko-KR" altLang="en-US" sz="1300" dirty="0">
                <a:solidFill>
                  <a:srgbClr val="313131"/>
                </a:solidFill>
                <a:latin typeface="pretendard"/>
              </a:rPr>
              <a:t>로서</a:t>
            </a:r>
            <a:r>
              <a:rPr lang="en-US" altLang="ko-KR" sz="1300" dirty="0">
                <a:solidFill>
                  <a:srgbClr val="313131"/>
                </a:solidFill>
                <a:latin typeface="pretendard"/>
              </a:rPr>
              <a:t>, </a:t>
            </a:r>
            <a:r>
              <a:rPr lang="ko-KR" altLang="en-US" sz="1300" dirty="0">
                <a:solidFill>
                  <a:srgbClr val="313131"/>
                </a:solidFill>
                <a:latin typeface="pretendard"/>
              </a:rPr>
              <a:t>나는 </a:t>
            </a:r>
            <a:r>
              <a:rPr lang="ko-KR" altLang="en-US" sz="1300" b="1" dirty="0">
                <a:solidFill>
                  <a:srgbClr val="313131"/>
                </a:solidFill>
                <a:latin typeface="pretendard"/>
              </a:rPr>
              <a:t>우리 제품의 최고의 커뮤니케이션 채널이 무엇인지 알 수 있도록</a:t>
            </a:r>
            <a:r>
              <a:rPr lang="ko-KR" altLang="en-US" sz="1300" dirty="0">
                <a:solidFill>
                  <a:srgbClr val="313131"/>
                </a:solidFill>
                <a:latin typeface="pretendard"/>
              </a:rPr>
              <a:t> </a:t>
            </a:r>
            <a:r>
              <a:rPr lang="ko-KR" altLang="en-US" sz="1300" b="1" dirty="0">
                <a:solidFill>
                  <a:srgbClr val="313131"/>
                </a:solidFill>
                <a:latin typeface="pretendard"/>
              </a:rPr>
              <a:t>우리 웹사이트에서 사용자 구매까지 이르게 하는 트래픽 매체와 출처를 </a:t>
            </a:r>
            <a:r>
              <a:rPr lang="ko-KR" altLang="en-US" sz="1300" dirty="0">
                <a:solidFill>
                  <a:srgbClr val="313131"/>
                </a:solidFill>
                <a:latin typeface="pretendard"/>
              </a:rPr>
              <a:t>알고 싶습니다</a:t>
            </a:r>
            <a:r>
              <a:rPr lang="en-US" altLang="ko-KR" sz="1300" dirty="0" smtClean="0">
                <a:solidFill>
                  <a:srgbClr val="313131"/>
                </a:solidFill>
                <a:latin typeface="pretendard"/>
              </a:rPr>
              <a:t>.</a:t>
            </a:r>
          </a:p>
          <a:p>
            <a:pPr marL="285750" indent="-285750">
              <a:lnSpc>
                <a:spcPct val="120000"/>
              </a:lnSpc>
              <a:buFont typeface="Arial" panose="020B0604020202020204" pitchFamily="34" charset="0"/>
              <a:buChar char="•"/>
            </a:pPr>
            <a:endParaRPr lang="en-US" altLang="ko-KR" sz="1300" dirty="0">
              <a:solidFill>
                <a:srgbClr val="313131"/>
              </a:solidFill>
              <a:latin typeface="pretendard"/>
            </a:endParaRPr>
          </a:p>
          <a:p>
            <a:pPr marL="285750" indent="-285750">
              <a:lnSpc>
                <a:spcPct val="120000"/>
              </a:lnSpc>
              <a:buFont typeface="Arial" panose="020B0604020202020204" pitchFamily="34" charset="0"/>
              <a:buChar char="•"/>
            </a:pPr>
            <a:r>
              <a:rPr lang="en-US" altLang="ko-KR" sz="1300" b="1" dirty="0">
                <a:solidFill>
                  <a:srgbClr val="000000"/>
                </a:solidFill>
                <a:latin typeface="pretendard"/>
              </a:rPr>
              <a:t>CEO</a:t>
            </a:r>
            <a:r>
              <a:rPr lang="ko-KR" altLang="en-US" sz="1300" dirty="0">
                <a:solidFill>
                  <a:srgbClr val="000000"/>
                </a:solidFill>
                <a:latin typeface="pretendard"/>
              </a:rPr>
              <a:t>로서</a:t>
            </a:r>
            <a:r>
              <a:rPr lang="en-US" altLang="ko-KR" sz="1300" dirty="0">
                <a:solidFill>
                  <a:srgbClr val="000000"/>
                </a:solidFill>
                <a:latin typeface="pretendard"/>
              </a:rPr>
              <a:t>, </a:t>
            </a:r>
            <a:r>
              <a:rPr lang="ko-KR" altLang="en-US" sz="1300" dirty="0" err="1">
                <a:solidFill>
                  <a:srgbClr val="000000"/>
                </a:solidFill>
                <a:latin typeface="pretendard"/>
              </a:rPr>
              <a:t>나는</a:t>
            </a:r>
            <a:r>
              <a:rPr lang="ko-KR" altLang="en-US" sz="1300" b="1" dirty="0" err="1">
                <a:solidFill>
                  <a:srgbClr val="000000"/>
                </a:solidFill>
                <a:latin typeface="pretendard"/>
              </a:rPr>
              <a:t>어떤</a:t>
            </a:r>
            <a:r>
              <a:rPr lang="ko-KR" altLang="en-US" sz="1300" b="1" dirty="0">
                <a:solidFill>
                  <a:srgbClr val="000000"/>
                </a:solidFill>
                <a:latin typeface="pretendard"/>
              </a:rPr>
              <a:t> 제품에 투자할지 결정할 수 있도록 제품당 대략의 평균 수익률을 </a:t>
            </a:r>
            <a:r>
              <a:rPr lang="ko-KR" altLang="en-US" sz="1300" dirty="0">
                <a:solidFill>
                  <a:srgbClr val="000000"/>
                </a:solidFill>
                <a:latin typeface="pretendard"/>
              </a:rPr>
              <a:t>알고 싶습니다</a:t>
            </a:r>
            <a:r>
              <a:rPr lang="en-US" altLang="ko-KR" sz="1300" dirty="0">
                <a:solidFill>
                  <a:srgbClr val="000000"/>
                </a:solidFill>
                <a:latin typeface="pretendard"/>
              </a:rPr>
              <a:t>. </a:t>
            </a:r>
            <a:endParaRPr lang="ko-KR" altLang="en-US" sz="1300" b="0" i="0" dirty="0">
              <a:solidFill>
                <a:srgbClr val="313131"/>
              </a:solidFill>
              <a:effectLst/>
              <a:latin typeface="pretendard"/>
            </a:endParaRPr>
          </a:p>
        </p:txBody>
      </p:sp>
    </p:spTree>
    <p:extLst>
      <p:ext uri="{BB962C8B-B14F-4D97-AF65-F5344CB8AC3E}">
        <p14:creationId xmlns:p14="http://schemas.microsoft.com/office/powerpoint/2010/main" val="4003065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4</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3687095"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Use case Diagram</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40614945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2815061" cy="424661"/>
          </a:xfrm>
        </p:spPr>
        <p:txBody>
          <a:bodyPr/>
          <a:lstStyle/>
          <a:p>
            <a:r>
              <a:rPr lang="en-US" altLang="ko-KR" dirty="0"/>
              <a:t>Use case Diagram</a:t>
            </a:r>
            <a:endParaRPr lang="ko-KR" altLang="en-US" dirty="0"/>
          </a:p>
        </p:txBody>
      </p:sp>
      <p:sp>
        <p:nvSpPr>
          <p:cNvPr id="4" name="TextBox 3"/>
          <p:cNvSpPr txBox="1"/>
          <p:nvPr/>
        </p:nvSpPr>
        <p:spPr>
          <a:xfrm>
            <a:off x="479376" y="2924944"/>
            <a:ext cx="11233248" cy="1815882"/>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600" dirty="0" smtClean="0"/>
              <a:t>구축하려는 시스템의 문맥과 시스템이 제공하는 기능을 묘사하는데 유스케이스 다이어그램을 사용한다</a:t>
            </a:r>
            <a:r>
              <a:rPr lang="en-US" altLang="ko-KR" sz="1600" dirty="0" smtClean="0"/>
              <a:t>. </a:t>
            </a:r>
            <a:r>
              <a:rPr lang="ko-KR" altLang="en-US" sz="1600" dirty="0" smtClean="0"/>
              <a:t>유스케이스 다이어그램은 </a:t>
            </a:r>
            <a:r>
              <a:rPr lang="ko-KR" altLang="en-US" sz="1600" b="1" dirty="0" smtClean="0"/>
              <a:t>누가</a:t>
            </a:r>
            <a:r>
              <a:rPr lang="en-US" altLang="ko-KR" sz="1600" b="1" dirty="0" smtClean="0"/>
              <a:t>(</a:t>
            </a:r>
            <a:r>
              <a:rPr lang="ko-KR" altLang="en-US" sz="1600" b="1" dirty="0" smtClean="0"/>
              <a:t>혹은 무엇이</a:t>
            </a:r>
            <a:r>
              <a:rPr lang="en-US" altLang="ko-KR" sz="1600" b="1" dirty="0" smtClean="0"/>
              <a:t>) </a:t>
            </a:r>
            <a:r>
              <a:rPr lang="ko-KR" altLang="en-US" sz="1600" b="1" dirty="0" smtClean="0"/>
              <a:t>시스템과 상호작용하는지 묘사</a:t>
            </a:r>
            <a:r>
              <a:rPr lang="ko-KR" altLang="en-US" sz="1600" dirty="0" smtClean="0"/>
              <a:t>한다</a:t>
            </a:r>
            <a:r>
              <a:rPr lang="en-US" altLang="ko-KR" sz="1600" dirty="0" smtClean="0"/>
              <a:t>. </a:t>
            </a:r>
            <a:r>
              <a:rPr lang="ko-KR" altLang="en-US" sz="1600" dirty="0" smtClean="0"/>
              <a:t>다시 말해</a:t>
            </a:r>
            <a:r>
              <a:rPr lang="en-US" altLang="ko-KR" sz="1600" dirty="0" smtClean="0"/>
              <a:t>, </a:t>
            </a:r>
            <a:r>
              <a:rPr lang="ko-KR" altLang="en-US" sz="1600" dirty="0" smtClean="0"/>
              <a:t>유스케이스 다이어그램은 </a:t>
            </a:r>
            <a:r>
              <a:rPr lang="ko-KR" altLang="en-US" sz="1600" b="1" dirty="0" smtClean="0"/>
              <a:t>바깥 세상</a:t>
            </a:r>
            <a:r>
              <a:rPr lang="ko-KR" altLang="en-US" sz="1600" dirty="0" smtClean="0"/>
              <a:t>에서 시스템이 무엇을 하기 원하는지 보여준다</a:t>
            </a:r>
            <a:r>
              <a:rPr lang="en-US" altLang="ko-KR" sz="1600" dirty="0" smtClean="0"/>
              <a:t>.</a:t>
            </a:r>
          </a:p>
          <a:p>
            <a:endParaRPr lang="en-US" altLang="ko-KR" sz="1600" dirty="0" smtClean="0"/>
          </a:p>
          <a:p>
            <a:pPr algn="r"/>
            <a:r>
              <a:rPr lang="en-US" altLang="ko-KR" sz="1600" dirty="0" smtClean="0">
                <a:solidFill>
                  <a:schemeClr val="bg1">
                    <a:lumMod val="50000"/>
                  </a:schemeClr>
                </a:solidFill>
              </a:rPr>
              <a:t> UML</a:t>
            </a:r>
            <a:r>
              <a:rPr lang="ko-KR" altLang="en-US" sz="1600" dirty="0" smtClean="0">
                <a:solidFill>
                  <a:schemeClr val="bg1">
                    <a:lumMod val="50000"/>
                  </a:schemeClr>
                </a:solidFill>
              </a:rPr>
              <a:t>을 활용한 객체지향 분석 설계 </a:t>
            </a:r>
            <a:r>
              <a:rPr lang="en-US" altLang="ko-KR" sz="1600" dirty="0" smtClean="0">
                <a:solidFill>
                  <a:schemeClr val="bg1">
                    <a:lumMod val="50000"/>
                  </a:schemeClr>
                </a:solidFill>
              </a:rPr>
              <a:t>- </a:t>
            </a:r>
            <a:r>
              <a:rPr lang="ko-KR" altLang="en-US" sz="1600" dirty="0" smtClean="0">
                <a:solidFill>
                  <a:schemeClr val="bg1">
                    <a:lumMod val="50000"/>
                  </a:schemeClr>
                </a:solidFill>
              </a:rPr>
              <a:t>그래디 부치 외</a:t>
            </a:r>
            <a:r>
              <a:rPr lang="en-US" altLang="ko-KR" sz="1600" dirty="0" smtClean="0">
                <a:solidFill>
                  <a:schemeClr val="bg1">
                    <a:lumMod val="50000"/>
                  </a:schemeClr>
                </a:solidFill>
              </a:rPr>
              <a:t>-</a:t>
            </a:r>
            <a:r>
              <a:rPr lang="en-US" altLang="ko-KR" sz="1600" dirty="0" smtClean="0"/>
              <a:t> </a:t>
            </a:r>
            <a:endParaRPr lang="ko-KR" altLang="en-US" sz="1600" dirty="0"/>
          </a:p>
        </p:txBody>
      </p:sp>
      <p:sp>
        <p:nvSpPr>
          <p:cNvPr id="5" name="TextBox 4"/>
          <p:cNvSpPr txBox="1"/>
          <p:nvPr/>
        </p:nvSpPr>
        <p:spPr>
          <a:xfrm>
            <a:off x="408000" y="781992"/>
            <a:ext cx="11376001" cy="938648"/>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시스템의 사용자나 외부 시스템과의 상호작용을 정의하고  이해관계자들과의 의사 소통에 활용합니다</a:t>
            </a:r>
            <a:r>
              <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endParaRPr lang="en-US" altLang="ko-KR" sz="1500" dirty="0" smtClean="0"/>
          </a:p>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500" dirty="0" smtClean="0"/>
              <a:t>누가 시스템을 사용하는지</a:t>
            </a:r>
            <a:r>
              <a:rPr lang="en-US" altLang="ko-KR" sz="1500" dirty="0" smtClean="0"/>
              <a:t>, </a:t>
            </a:r>
            <a:r>
              <a:rPr lang="ko-KR" altLang="en-US" sz="1500" dirty="0" smtClean="0"/>
              <a:t>시스템은 무엇을 사용하는지 묘사합니다</a:t>
            </a:r>
            <a:r>
              <a:rPr lang="en-US" altLang="ko-KR" sz="1500" dirty="0" smtClean="0"/>
              <a:t>.</a:t>
            </a:r>
          </a:p>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500" dirty="0" smtClean="0"/>
              <a:t>시스템의 </a:t>
            </a:r>
            <a:r>
              <a:rPr lang="ko-KR" altLang="en-US" sz="1500" b="1" dirty="0" smtClean="0"/>
              <a:t>주요 기능</a:t>
            </a:r>
            <a:r>
              <a:rPr lang="ko-KR" altLang="en-US" sz="1500" dirty="0" smtClean="0"/>
              <a:t>을 한 눈에 파악하도록 돕습니다</a:t>
            </a:r>
            <a:r>
              <a:rPr lang="en-US" altLang="ko-KR" sz="1500" dirty="0" smtClean="0"/>
              <a:t>.</a:t>
            </a:r>
          </a:p>
        </p:txBody>
      </p:sp>
    </p:spTree>
    <p:extLst>
      <p:ext uri="{BB962C8B-B14F-4D97-AF65-F5344CB8AC3E}">
        <p14:creationId xmlns:p14="http://schemas.microsoft.com/office/powerpoint/2010/main" val="34458400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408000" y="781992"/>
            <a:ext cx="11376001" cy="630871"/>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Actor, use case, system boundary</a:t>
            </a:r>
            <a:r>
              <a:rPr kumimoji="1" lang="ko-KR" altLang="en-US"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등을 사용하여 시스템이</a:t>
            </a:r>
            <a:r>
              <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제공하는 주요 기능에 대한 </a:t>
            </a:r>
            <a:r>
              <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context</a:t>
            </a:r>
            <a:r>
              <a:rPr kumimoji="1" lang="ko-KR" altLang="en-US"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를 시각화 합니다</a:t>
            </a:r>
            <a:endPar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Actor</a:t>
            </a:r>
            <a:r>
              <a:rPr kumimoji="1" lang="ko-KR" altLang="en-US"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 종류를 구분하고 그에 따른 위치를 가이드 하고 있으나 그렇게 중요한 개념은 아닙니다</a:t>
            </a:r>
            <a:endPar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7" name="제목 6"/>
          <p:cNvSpPr>
            <a:spLocks noGrp="1"/>
          </p:cNvSpPr>
          <p:nvPr>
            <p:ph type="title"/>
          </p:nvPr>
        </p:nvSpPr>
        <p:spPr>
          <a:xfrm>
            <a:off x="408000" y="156779"/>
            <a:ext cx="2815061" cy="424661"/>
          </a:xfrm>
        </p:spPr>
        <p:txBody>
          <a:bodyPr/>
          <a:lstStyle/>
          <a:p>
            <a:r>
              <a:rPr lang="en-US" altLang="ko-KR" dirty="0"/>
              <a:t>Use case </a:t>
            </a:r>
            <a:r>
              <a:rPr lang="en-US" altLang="ko-KR" dirty="0" smtClean="0"/>
              <a:t>Diagram</a:t>
            </a:r>
            <a:endParaRPr lang="ko-KR" altLang="en-US" dirty="0"/>
          </a:p>
        </p:txBody>
      </p:sp>
      <p:pic>
        <p:nvPicPr>
          <p:cNvPr id="2" name="그림 1"/>
          <p:cNvPicPr>
            <a:picLocks noChangeAspect="1"/>
          </p:cNvPicPr>
          <p:nvPr/>
        </p:nvPicPr>
        <p:blipFill>
          <a:blip r:embed="rId3"/>
          <a:stretch>
            <a:fillRect/>
          </a:stretch>
        </p:blipFill>
        <p:spPr>
          <a:xfrm>
            <a:off x="408000" y="1659069"/>
            <a:ext cx="8655921" cy="4758212"/>
          </a:xfrm>
          <a:prstGeom prst="rect">
            <a:avLst/>
          </a:prstGeom>
        </p:spPr>
      </p:pic>
      <p:pic>
        <p:nvPicPr>
          <p:cNvPr id="4" name="그림 3"/>
          <p:cNvPicPr>
            <a:picLocks noChangeAspect="1"/>
          </p:cNvPicPr>
          <p:nvPr/>
        </p:nvPicPr>
        <p:blipFill>
          <a:blip r:embed="rId4"/>
          <a:stretch>
            <a:fillRect/>
          </a:stretch>
        </p:blipFill>
        <p:spPr>
          <a:xfrm>
            <a:off x="9289801" y="3957730"/>
            <a:ext cx="2815061" cy="2459551"/>
          </a:xfrm>
          <a:prstGeom prst="rect">
            <a:avLst/>
          </a:prstGeom>
        </p:spPr>
      </p:pic>
    </p:spTree>
    <p:extLst>
      <p:ext uri="{BB962C8B-B14F-4D97-AF65-F5344CB8AC3E}">
        <p14:creationId xmlns:p14="http://schemas.microsoft.com/office/powerpoint/2010/main" val="36220487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2733564" cy="424661"/>
          </a:xfrm>
        </p:spPr>
        <p:txBody>
          <a:bodyPr/>
          <a:lstStyle/>
          <a:p>
            <a:r>
              <a:rPr lang="en-US" altLang="ko-KR" dirty="0" smtClean="0"/>
              <a:t>Include &amp; Extend</a:t>
            </a:r>
            <a:endParaRPr lang="ko-KR" altLang="en-US" dirty="0"/>
          </a:p>
        </p:txBody>
      </p:sp>
      <p:sp>
        <p:nvSpPr>
          <p:cNvPr id="4" name="AutoShape 2" descr="https://confluence.samsungds.net/download/attachments/672938761/200386124AB7444724.jpg?version=1&amp;modificationDate=1580204606000&amp;api=v2"/>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 name="AutoShape 4" descr="https://confluence.samsungds.net/download/attachments/672938761/200386124AB7444724.jpg?version=1&amp;modificationDate=1580204606000&amp;api=v2"/>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9" name="타원 8"/>
          <p:cNvSpPr/>
          <p:nvPr/>
        </p:nvSpPr>
        <p:spPr>
          <a:xfrm>
            <a:off x="863902" y="1648810"/>
            <a:ext cx="1620000" cy="720000"/>
          </a:xfrm>
          <a:prstGeom prst="ellipse">
            <a:avLst/>
          </a:prstGeom>
          <a:pattFill prst="sm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tx1"/>
                </a:solidFill>
              </a:rPr>
              <a:t>B</a:t>
            </a:r>
            <a:endParaRPr lang="ko-KR" altLang="en-US" dirty="0">
              <a:solidFill>
                <a:schemeClr val="tx1"/>
              </a:solidFill>
            </a:endParaRPr>
          </a:p>
        </p:txBody>
      </p:sp>
      <p:sp>
        <p:nvSpPr>
          <p:cNvPr id="10" name="타원 9"/>
          <p:cNvSpPr/>
          <p:nvPr/>
        </p:nvSpPr>
        <p:spPr>
          <a:xfrm>
            <a:off x="3401828" y="1648810"/>
            <a:ext cx="1620000" cy="720000"/>
          </a:xfrm>
          <a:prstGeom prst="ellipse">
            <a:avLst/>
          </a:prstGeom>
          <a:pattFill prst="lgCheck">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tx1"/>
                </a:solidFill>
              </a:rPr>
              <a:t>C</a:t>
            </a:r>
            <a:endParaRPr lang="ko-KR" altLang="en-US" dirty="0">
              <a:solidFill>
                <a:schemeClr val="tx1"/>
              </a:solidFill>
            </a:endParaRPr>
          </a:p>
        </p:txBody>
      </p:sp>
      <p:sp>
        <p:nvSpPr>
          <p:cNvPr id="11" name="타원 10"/>
          <p:cNvSpPr/>
          <p:nvPr/>
        </p:nvSpPr>
        <p:spPr>
          <a:xfrm>
            <a:off x="1970846" y="1825916"/>
            <a:ext cx="351224" cy="3657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A</a:t>
            </a:r>
            <a:endParaRPr lang="ko-KR" altLang="en-US" dirty="0"/>
          </a:p>
        </p:txBody>
      </p:sp>
      <p:sp>
        <p:nvSpPr>
          <p:cNvPr id="12" name="타원 11"/>
          <p:cNvSpPr/>
          <p:nvPr/>
        </p:nvSpPr>
        <p:spPr>
          <a:xfrm>
            <a:off x="4548008" y="1825916"/>
            <a:ext cx="351224" cy="3657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A</a:t>
            </a:r>
            <a:endParaRPr lang="ko-KR" altLang="en-US" dirty="0"/>
          </a:p>
        </p:txBody>
      </p:sp>
      <p:sp>
        <p:nvSpPr>
          <p:cNvPr id="13" name="타원 12"/>
          <p:cNvSpPr/>
          <p:nvPr/>
        </p:nvSpPr>
        <p:spPr>
          <a:xfrm>
            <a:off x="863903" y="2656920"/>
            <a:ext cx="1620000" cy="720000"/>
          </a:xfrm>
          <a:prstGeom prst="ellipse">
            <a:avLst/>
          </a:prstGeom>
          <a:pattFill prst="sm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tx1"/>
                </a:solidFill>
              </a:rPr>
              <a:t>B</a:t>
            </a:r>
            <a:endParaRPr lang="ko-KR" altLang="en-US" dirty="0">
              <a:solidFill>
                <a:schemeClr val="tx1"/>
              </a:solidFill>
            </a:endParaRPr>
          </a:p>
        </p:txBody>
      </p:sp>
      <p:sp>
        <p:nvSpPr>
          <p:cNvPr id="14" name="타원 13"/>
          <p:cNvSpPr/>
          <p:nvPr/>
        </p:nvSpPr>
        <p:spPr>
          <a:xfrm>
            <a:off x="3401829" y="2656920"/>
            <a:ext cx="1620000" cy="720000"/>
          </a:xfrm>
          <a:prstGeom prst="ellipse">
            <a:avLst/>
          </a:prstGeom>
          <a:pattFill prst="lgCheck">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rPr>
              <a:t>C</a:t>
            </a:r>
            <a:endParaRPr lang="ko-KR" altLang="en-US" dirty="0">
              <a:solidFill>
                <a:schemeClr val="tx1"/>
              </a:solidFill>
            </a:endParaRPr>
          </a:p>
        </p:txBody>
      </p:sp>
      <p:sp>
        <p:nvSpPr>
          <p:cNvPr id="15" name="타원 14"/>
          <p:cNvSpPr/>
          <p:nvPr/>
        </p:nvSpPr>
        <p:spPr>
          <a:xfrm>
            <a:off x="1954699" y="2834027"/>
            <a:ext cx="351224" cy="3657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p:cNvSpPr/>
          <p:nvPr/>
        </p:nvSpPr>
        <p:spPr>
          <a:xfrm>
            <a:off x="4548008" y="2834028"/>
            <a:ext cx="351224" cy="3657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타원 16"/>
          <p:cNvSpPr/>
          <p:nvPr/>
        </p:nvSpPr>
        <p:spPr>
          <a:xfrm>
            <a:off x="2767254" y="3495261"/>
            <a:ext cx="351224" cy="3657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tx1"/>
                </a:solidFill>
              </a:rPr>
              <a:t>A</a:t>
            </a:r>
            <a:endParaRPr lang="ko-KR" altLang="en-US" dirty="0">
              <a:solidFill>
                <a:schemeClr val="tx1"/>
              </a:solidFill>
            </a:endParaRPr>
          </a:p>
        </p:txBody>
      </p:sp>
      <p:cxnSp>
        <p:nvCxnSpPr>
          <p:cNvPr id="19" name="직선 화살표 연결선 18"/>
          <p:cNvCxnSpPr>
            <a:stCxn id="13" idx="4"/>
            <a:endCxn id="17" idx="2"/>
          </p:cNvCxnSpPr>
          <p:nvPr/>
        </p:nvCxnSpPr>
        <p:spPr>
          <a:xfrm>
            <a:off x="1673903" y="3376920"/>
            <a:ext cx="1093351" cy="301235"/>
          </a:xfrm>
          <a:prstGeom prst="straightConnector1">
            <a:avLst/>
          </a:prstGeom>
          <a:ln w="12700">
            <a:prstDash val="dash"/>
            <a:tailEnd type="arrow"/>
          </a:ln>
        </p:spPr>
        <p:style>
          <a:lnRef idx="1">
            <a:schemeClr val="accent1"/>
          </a:lnRef>
          <a:fillRef idx="0">
            <a:schemeClr val="accent1"/>
          </a:fillRef>
          <a:effectRef idx="0">
            <a:schemeClr val="accent1"/>
          </a:effectRef>
          <a:fontRef idx="minor">
            <a:schemeClr val="tx1"/>
          </a:fontRef>
        </p:style>
      </p:cxnSp>
      <p:cxnSp>
        <p:nvCxnSpPr>
          <p:cNvPr id="22" name="직선 화살표 연결선 21"/>
          <p:cNvCxnSpPr>
            <a:stCxn id="14" idx="4"/>
            <a:endCxn id="17" idx="6"/>
          </p:cNvCxnSpPr>
          <p:nvPr/>
        </p:nvCxnSpPr>
        <p:spPr>
          <a:xfrm flipH="1">
            <a:off x="3118478" y="3376920"/>
            <a:ext cx="1093351" cy="301235"/>
          </a:xfrm>
          <a:prstGeom prst="straightConnector1">
            <a:avLst/>
          </a:prstGeom>
          <a:ln w="12700">
            <a:prstDash val="dash"/>
            <a:tailEnd type="arrow"/>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7002142" y="2228784"/>
            <a:ext cx="351224" cy="365787"/>
          </a:xfrm>
          <a:prstGeom prst="ellipse">
            <a:avLst/>
          </a:prstGeom>
          <a:pattFill prst="dashHorz">
            <a:fgClr>
              <a:schemeClr val="accent6"/>
            </a:fgClr>
            <a:bgClr>
              <a:schemeClr val="bg1"/>
            </a:bgClr>
          </a:pattFill>
          <a:ln w="19050">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26" name="타원 25"/>
          <p:cNvSpPr/>
          <p:nvPr/>
        </p:nvSpPr>
        <p:spPr>
          <a:xfrm>
            <a:off x="10566136" y="2244668"/>
            <a:ext cx="351224" cy="365787"/>
          </a:xfrm>
          <a:prstGeom prst="ellipse">
            <a:avLst/>
          </a:prstGeom>
          <a:pattFill prst="wdDnDiag">
            <a:fgClr>
              <a:srgbClr val="70AD47"/>
            </a:fgClr>
            <a:bgClr>
              <a:schemeClr val="bg1"/>
            </a:bgClr>
          </a:pattFill>
          <a:ln w="19050">
            <a:solidFill>
              <a:srgbClr val="70AD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27" name="직사각형 26"/>
          <p:cNvSpPr/>
          <p:nvPr/>
        </p:nvSpPr>
        <p:spPr>
          <a:xfrm>
            <a:off x="2507032" y="2224874"/>
            <a:ext cx="894797" cy="338554"/>
          </a:xfrm>
          <a:prstGeom prst="rect">
            <a:avLst/>
          </a:prstGeom>
        </p:spPr>
        <p:txBody>
          <a:bodyPr wrap="none">
            <a:spAutoFit/>
          </a:bodyPr>
          <a:lstStyle/>
          <a:p>
            <a:r>
              <a:rPr lang="en-US" altLang="ko-KR" sz="1600" b="1" dirty="0">
                <a:solidFill>
                  <a:schemeClr val="bg1">
                    <a:lumMod val="50000"/>
                  </a:schemeClr>
                </a:solidFill>
              </a:rPr>
              <a:t>Include</a:t>
            </a:r>
            <a:endParaRPr lang="ko-KR" altLang="en-US" sz="1600" b="1" dirty="0">
              <a:solidFill>
                <a:schemeClr val="bg1">
                  <a:lumMod val="50000"/>
                </a:schemeClr>
              </a:solidFill>
            </a:endParaRPr>
          </a:p>
        </p:txBody>
      </p:sp>
      <p:sp>
        <p:nvSpPr>
          <p:cNvPr id="28" name="직사각형 27"/>
          <p:cNvSpPr/>
          <p:nvPr/>
        </p:nvSpPr>
        <p:spPr>
          <a:xfrm>
            <a:off x="8536831" y="2224874"/>
            <a:ext cx="849015" cy="338554"/>
          </a:xfrm>
          <a:prstGeom prst="rect">
            <a:avLst/>
          </a:prstGeom>
        </p:spPr>
        <p:txBody>
          <a:bodyPr wrap="none">
            <a:spAutoFit/>
          </a:bodyPr>
          <a:lstStyle/>
          <a:p>
            <a:r>
              <a:rPr lang="en-US" altLang="ko-KR" sz="1600" b="1" dirty="0" smtClean="0">
                <a:solidFill>
                  <a:schemeClr val="bg1">
                    <a:lumMod val="50000"/>
                  </a:schemeClr>
                </a:solidFill>
              </a:rPr>
              <a:t>Extend</a:t>
            </a:r>
            <a:endParaRPr lang="ko-KR" altLang="en-US" sz="1600" b="1" dirty="0">
              <a:solidFill>
                <a:schemeClr val="bg1">
                  <a:lumMod val="50000"/>
                </a:schemeClr>
              </a:solidFill>
            </a:endParaRPr>
          </a:p>
        </p:txBody>
      </p:sp>
      <p:sp>
        <p:nvSpPr>
          <p:cNvPr id="31" name="타원 30"/>
          <p:cNvSpPr/>
          <p:nvPr/>
        </p:nvSpPr>
        <p:spPr>
          <a:xfrm>
            <a:off x="8151339" y="2656920"/>
            <a:ext cx="1620000" cy="720000"/>
          </a:xfrm>
          <a:prstGeom prst="ellipse">
            <a:avLst/>
          </a:prstGeom>
          <a:pattFill prst="diagBrick">
            <a:fgClr>
              <a:schemeClr val="accent6"/>
            </a:fgClr>
            <a:bgClr>
              <a:schemeClr val="bg1"/>
            </a:bgClr>
          </a:patt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tx1"/>
                </a:solidFill>
              </a:rPr>
              <a:t>A</a:t>
            </a:r>
            <a:endParaRPr lang="ko-KR" altLang="en-US" dirty="0">
              <a:solidFill>
                <a:schemeClr val="tx1"/>
              </a:solidFill>
            </a:endParaRPr>
          </a:p>
        </p:txBody>
      </p:sp>
      <p:sp>
        <p:nvSpPr>
          <p:cNvPr id="32" name="타원 31"/>
          <p:cNvSpPr/>
          <p:nvPr/>
        </p:nvSpPr>
        <p:spPr>
          <a:xfrm>
            <a:off x="7002142" y="3312367"/>
            <a:ext cx="351224" cy="365787"/>
          </a:xfrm>
          <a:prstGeom prst="ellipse">
            <a:avLst/>
          </a:prstGeom>
          <a:pattFill prst="dashHorz">
            <a:fgClr>
              <a:schemeClr val="accent6"/>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tx1"/>
                </a:solidFill>
              </a:rPr>
              <a:t>B</a:t>
            </a:r>
            <a:endParaRPr lang="ko-KR" altLang="en-US" dirty="0">
              <a:solidFill>
                <a:schemeClr val="tx1"/>
              </a:solidFill>
            </a:endParaRPr>
          </a:p>
        </p:txBody>
      </p:sp>
      <p:sp>
        <p:nvSpPr>
          <p:cNvPr id="33" name="타원 32"/>
          <p:cNvSpPr/>
          <p:nvPr/>
        </p:nvSpPr>
        <p:spPr>
          <a:xfrm>
            <a:off x="10569311" y="3308353"/>
            <a:ext cx="351224" cy="365787"/>
          </a:xfrm>
          <a:prstGeom prst="ellipse">
            <a:avLst/>
          </a:prstGeom>
          <a:pattFill prst="wdDnDiag">
            <a:fgClr>
              <a:schemeClr val="accent6"/>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tx1"/>
                </a:solidFill>
              </a:rPr>
              <a:t>C</a:t>
            </a:r>
            <a:endParaRPr lang="ko-KR" altLang="en-US" dirty="0">
              <a:solidFill>
                <a:schemeClr val="tx1"/>
              </a:solidFill>
            </a:endParaRPr>
          </a:p>
        </p:txBody>
      </p:sp>
      <p:cxnSp>
        <p:nvCxnSpPr>
          <p:cNvPr id="35" name="직선 화살표 연결선 34"/>
          <p:cNvCxnSpPr>
            <a:stCxn id="32" idx="6"/>
            <a:endCxn id="31" idx="3"/>
          </p:cNvCxnSpPr>
          <p:nvPr/>
        </p:nvCxnSpPr>
        <p:spPr>
          <a:xfrm flipV="1">
            <a:off x="7353366" y="3271478"/>
            <a:ext cx="1035217" cy="223783"/>
          </a:xfrm>
          <a:prstGeom prst="straightConnector1">
            <a:avLst/>
          </a:prstGeom>
          <a:ln w="12700">
            <a:prstDash val="dash"/>
            <a:tailEnd type="arrow"/>
          </a:ln>
        </p:spPr>
        <p:style>
          <a:lnRef idx="1">
            <a:schemeClr val="accent1"/>
          </a:lnRef>
          <a:fillRef idx="0">
            <a:schemeClr val="accent1"/>
          </a:fillRef>
          <a:effectRef idx="0">
            <a:schemeClr val="accent1"/>
          </a:effectRef>
          <a:fontRef idx="minor">
            <a:schemeClr val="tx1"/>
          </a:fontRef>
        </p:style>
      </p:cxnSp>
      <p:cxnSp>
        <p:nvCxnSpPr>
          <p:cNvPr id="37" name="직선 화살표 연결선 36"/>
          <p:cNvCxnSpPr>
            <a:stCxn id="33" idx="2"/>
            <a:endCxn id="31" idx="5"/>
          </p:cNvCxnSpPr>
          <p:nvPr/>
        </p:nvCxnSpPr>
        <p:spPr>
          <a:xfrm flipH="1" flipV="1">
            <a:off x="9534095" y="3271478"/>
            <a:ext cx="1035216" cy="219769"/>
          </a:xfrm>
          <a:prstGeom prst="straightConnector1">
            <a:avLst/>
          </a:prstGeom>
          <a:ln w="12700">
            <a:prstDash val="dash"/>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408000" y="781992"/>
            <a:ext cx="11376001" cy="307706"/>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화살표의 방향은 의존 방향을 의미 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p:txBody>
      </p:sp>
      <p:graphicFrame>
        <p:nvGraphicFramePr>
          <p:cNvPr id="41" name="표 40"/>
          <p:cNvGraphicFramePr>
            <a:graphicFrameLocks noGrp="1"/>
          </p:cNvGraphicFramePr>
          <p:nvPr>
            <p:extLst>
              <p:ext uri="{D42A27DB-BD31-4B8C-83A1-F6EECF244321}">
                <p14:modId xmlns:p14="http://schemas.microsoft.com/office/powerpoint/2010/main" val="3452885301"/>
              </p:ext>
            </p:extLst>
          </p:nvPr>
        </p:nvGraphicFramePr>
        <p:xfrm>
          <a:off x="407999" y="4365104"/>
          <a:ext cx="11520648" cy="1854200"/>
        </p:xfrm>
        <a:graphic>
          <a:graphicData uri="http://schemas.openxmlformats.org/drawingml/2006/table">
            <a:tbl>
              <a:tblPr firstRow="1" bandRow="1">
                <a:tableStyleId>{2D5ABB26-0587-4C30-8999-92F81FD0307C}</a:tableStyleId>
              </a:tblPr>
              <a:tblGrid>
                <a:gridCol w="8784345">
                  <a:extLst>
                    <a:ext uri="{9D8B030D-6E8A-4147-A177-3AD203B41FA5}">
                      <a16:colId xmlns="" xmlns:a16="http://schemas.microsoft.com/office/drawing/2014/main" val="20000"/>
                    </a:ext>
                  </a:extLst>
                </a:gridCol>
                <a:gridCol w="1296144">
                  <a:extLst>
                    <a:ext uri="{9D8B030D-6E8A-4147-A177-3AD203B41FA5}">
                      <a16:colId xmlns="" xmlns:a16="http://schemas.microsoft.com/office/drawing/2014/main" val="20001"/>
                    </a:ext>
                  </a:extLst>
                </a:gridCol>
                <a:gridCol w="1440159">
                  <a:extLst>
                    <a:ext uri="{9D8B030D-6E8A-4147-A177-3AD203B41FA5}">
                      <a16:colId xmlns="" xmlns:a16="http://schemas.microsoft.com/office/drawing/2014/main" val="20002"/>
                    </a:ext>
                  </a:extLst>
                </a:gridCol>
              </a:tblGrid>
              <a:tr h="370840">
                <a:tc>
                  <a:txBody>
                    <a:bodyPr/>
                    <a:lstStyle/>
                    <a:p>
                      <a:pPr latinLnBrk="1"/>
                      <a:endParaRPr lang="ko-KR" altLang="en-US" sz="1400" dirty="0"/>
                    </a:p>
                  </a:txBody>
                  <a:tcP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altLang="ko-KR" sz="1400" dirty="0" smtClean="0"/>
                        <a:t>Include</a:t>
                      </a:r>
                      <a:endParaRPr lang="ko-KR" altLang="en-US" sz="1400" dirty="0"/>
                    </a:p>
                  </a:txBody>
                  <a:tcP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altLang="ko-KR" sz="1400" dirty="0" smtClean="0"/>
                        <a:t>Extend</a:t>
                      </a:r>
                      <a:endParaRPr lang="ko-KR" altLang="en-US" sz="1400" dirty="0"/>
                    </a:p>
                  </a:txBody>
                  <a:tcP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370840">
                <a:tc>
                  <a:txBody>
                    <a:bodyPr/>
                    <a:lstStyle/>
                    <a:p>
                      <a:pPr latinLnBrk="1"/>
                      <a:r>
                        <a:rPr lang="ko-KR" altLang="en-US" sz="1400" dirty="0" smtClean="0"/>
                        <a:t>해당 유스케이스가 선택사항인가</a:t>
                      </a:r>
                      <a:r>
                        <a:rPr lang="en-US" altLang="ko-KR" sz="1400" dirty="0" smtClean="0"/>
                        <a:t>?</a:t>
                      </a:r>
                      <a:endParaRPr lang="ko-KR" altLang="en-US" sz="1400" dirty="0"/>
                    </a:p>
                  </a:txBody>
                  <a:tcPr>
                    <a:lnT w="12700" cap="flat" cmpd="sng" algn="ctr">
                      <a:solidFill>
                        <a:schemeClr val="tx1"/>
                      </a:solidFill>
                      <a:prstDash val="solid"/>
                      <a:round/>
                      <a:headEnd type="none" w="med" len="med"/>
                      <a:tailEnd type="none" w="med" len="med"/>
                    </a:lnT>
                  </a:tcPr>
                </a:tc>
                <a:tc>
                  <a:txBody>
                    <a:bodyPr/>
                    <a:lstStyle/>
                    <a:p>
                      <a:pPr latinLnBrk="1"/>
                      <a:r>
                        <a:rPr lang="ko-KR" altLang="en-US" sz="1400" dirty="0" smtClean="0"/>
                        <a:t>아니요</a:t>
                      </a:r>
                      <a:endParaRPr lang="ko-KR" altLang="en-US" sz="1400" dirty="0"/>
                    </a:p>
                  </a:txBody>
                  <a:tcPr>
                    <a:lnT w="12700" cap="flat" cmpd="sng" algn="ctr">
                      <a:solidFill>
                        <a:schemeClr val="tx1"/>
                      </a:solidFill>
                      <a:prstDash val="solid"/>
                      <a:round/>
                      <a:headEnd type="none" w="med" len="med"/>
                      <a:tailEnd type="none" w="med" len="med"/>
                    </a:lnT>
                  </a:tcPr>
                </a:tc>
                <a:tc>
                  <a:txBody>
                    <a:bodyPr/>
                    <a:lstStyle/>
                    <a:p>
                      <a:pPr latinLnBrk="1"/>
                      <a:r>
                        <a:rPr lang="ko-KR" altLang="en-US" sz="1400" dirty="0" smtClean="0"/>
                        <a:t>예</a:t>
                      </a:r>
                      <a:endParaRPr lang="ko-KR" altLang="en-US" sz="1400" dirty="0"/>
                    </a:p>
                  </a:txBody>
                  <a:tcP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10001"/>
                  </a:ext>
                </a:extLst>
              </a:tr>
              <a:tr h="370840">
                <a:tc>
                  <a:txBody>
                    <a:bodyPr/>
                    <a:lstStyle/>
                    <a:p>
                      <a:pPr latinLnBrk="1"/>
                      <a:r>
                        <a:rPr lang="ko-KR" altLang="en-US" sz="1400" dirty="0" smtClean="0"/>
                        <a:t>해당 유스케이스 없이도 기반 유스케이스가 완전한가</a:t>
                      </a:r>
                      <a:r>
                        <a:rPr lang="en-US" altLang="ko-KR" sz="1400" dirty="0" smtClean="0"/>
                        <a:t>?</a:t>
                      </a:r>
                      <a:endParaRPr lang="ko-KR" altLang="en-US" sz="1400" dirty="0"/>
                    </a:p>
                  </a:txBody>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ko-KR" altLang="en-US" sz="1400" dirty="0" smtClean="0"/>
                        <a:t>아니요</a:t>
                      </a:r>
                      <a:endParaRPr lang="ko-KR" altLang="en-US" sz="1400" dirty="0"/>
                    </a:p>
                  </a:txBody>
                  <a:tcPr/>
                </a:tc>
                <a:tc>
                  <a:txBody>
                    <a:bodyPr/>
                    <a:lstStyle/>
                    <a:p>
                      <a:pPr latinLnBrk="1"/>
                      <a:r>
                        <a:rPr lang="ko-KR" altLang="en-US" sz="1400" dirty="0" smtClean="0"/>
                        <a:t>예</a:t>
                      </a:r>
                      <a:endParaRPr lang="ko-KR" altLang="en-US" sz="1400" dirty="0"/>
                    </a:p>
                  </a:txBody>
                  <a:tcPr/>
                </a:tc>
                <a:extLst>
                  <a:ext uri="{0D108BD9-81ED-4DB2-BD59-A6C34878D82A}">
                    <a16:rowId xmlns="" xmlns:a16="http://schemas.microsoft.com/office/drawing/2014/main" val="10002"/>
                  </a:ext>
                </a:extLst>
              </a:tr>
              <a:tr h="370840">
                <a:tc>
                  <a:txBody>
                    <a:bodyPr/>
                    <a:lstStyle/>
                    <a:p>
                      <a:pPr latinLnBrk="1"/>
                      <a:r>
                        <a:rPr lang="ko-KR" altLang="en-US" sz="1400" dirty="0" smtClean="0"/>
                        <a:t>해당 유스케이스를 조건부로 실행하는가</a:t>
                      </a:r>
                      <a:r>
                        <a:rPr lang="en-US" altLang="ko-KR" sz="1400" dirty="0" smtClean="0"/>
                        <a:t>?</a:t>
                      </a:r>
                      <a:endParaRPr lang="ko-KR" altLang="en-US" sz="1400" dirty="0"/>
                    </a:p>
                  </a:txBody>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ko-KR" altLang="en-US" sz="1400" dirty="0" smtClean="0"/>
                        <a:t>아니요</a:t>
                      </a:r>
                      <a:endParaRPr lang="ko-KR" altLang="en-US" sz="1400" dirty="0"/>
                    </a:p>
                  </a:txBody>
                  <a:tcPr/>
                </a:tc>
                <a:tc>
                  <a:txBody>
                    <a:bodyPr/>
                    <a:lstStyle/>
                    <a:p>
                      <a:pPr latinLnBrk="1"/>
                      <a:r>
                        <a:rPr lang="ko-KR" altLang="en-US" sz="1400" dirty="0" smtClean="0"/>
                        <a:t>예</a:t>
                      </a:r>
                      <a:endParaRPr lang="ko-KR" altLang="en-US" sz="1400" dirty="0"/>
                    </a:p>
                  </a:txBody>
                  <a:tcPr/>
                </a:tc>
                <a:extLst>
                  <a:ext uri="{0D108BD9-81ED-4DB2-BD59-A6C34878D82A}">
                    <a16:rowId xmlns="" xmlns:a16="http://schemas.microsoft.com/office/drawing/2014/main" val="10003"/>
                  </a:ext>
                </a:extLst>
              </a:tr>
              <a:tr h="370840">
                <a:tc>
                  <a:txBody>
                    <a:bodyPr/>
                    <a:lstStyle/>
                    <a:p>
                      <a:pPr latinLnBrk="1"/>
                      <a:r>
                        <a:rPr lang="ko-KR" altLang="en-US" sz="1400" dirty="0" smtClean="0"/>
                        <a:t>해당 유스케이스가 기반 유스케이스 행위를 변경시키는가</a:t>
                      </a:r>
                      <a:r>
                        <a:rPr lang="en-US" altLang="ko-KR" sz="1400" dirty="0" smtClean="0"/>
                        <a:t>?</a:t>
                      </a:r>
                      <a:endParaRPr lang="ko-KR" altLang="en-US" sz="1400" dirty="0"/>
                    </a:p>
                  </a:txBody>
                  <a:tcP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ko-KR" altLang="en-US" sz="1400" dirty="0" smtClean="0"/>
                        <a:t>아니요</a:t>
                      </a:r>
                      <a:endParaRPr lang="ko-KR" altLang="en-US" sz="1400" dirty="0"/>
                    </a:p>
                  </a:txBody>
                  <a:tcPr>
                    <a:lnB w="12700" cap="flat" cmpd="sng" algn="ctr">
                      <a:solidFill>
                        <a:schemeClr val="tx1"/>
                      </a:solidFill>
                      <a:prstDash val="solid"/>
                      <a:round/>
                      <a:headEnd type="none" w="med" len="med"/>
                      <a:tailEnd type="none" w="med" len="med"/>
                    </a:lnB>
                  </a:tcPr>
                </a:tc>
                <a:tc>
                  <a:txBody>
                    <a:bodyPr/>
                    <a:lstStyle/>
                    <a:p>
                      <a:pPr latinLnBrk="1"/>
                      <a:r>
                        <a:rPr lang="ko-KR" altLang="en-US" sz="1400" dirty="0" smtClean="0"/>
                        <a:t>예</a:t>
                      </a:r>
                      <a:endParaRPr lang="ko-KR" altLang="en-US" sz="1400" dirty="0"/>
                    </a:p>
                  </a:txBody>
                  <a:tcP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p:sp>
        <p:nvSpPr>
          <p:cNvPr id="43" name="TextBox 42"/>
          <p:cNvSpPr txBox="1"/>
          <p:nvPr/>
        </p:nvSpPr>
        <p:spPr>
          <a:xfrm>
            <a:off x="408000" y="6237312"/>
            <a:ext cx="4394280" cy="307777"/>
          </a:xfrm>
          <a:prstGeom prst="rect">
            <a:avLst/>
          </a:prstGeom>
          <a:noFill/>
        </p:spPr>
        <p:txBody>
          <a:bodyPr wrap="none" rtlCol="0">
            <a:spAutoFit/>
          </a:bodyPr>
          <a:lstStyle/>
          <a:p>
            <a:r>
              <a:rPr lang="ko-KR" altLang="en-US" sz="1400" dirty="0" smtClean="0"/>
              <a:t>표 </a:t>
            </a:r>
            <a:r>
              <a:rPr lang="en-US" altLang="ko-KR" sz="1400" dirty="0" smtClean="0"/>
              <a:t>5-1 </a:t>
            </a:r>
            <a:r>
              <a:rPr lang="ko-KR" altLang="en-US" sz="1400" dirty="0" smtClean="0"/>
              <a:t>포함하기</a:t>
            </a:r>
            <a:r>
              <a:rPr lang="en-US" altLang="ko-KR" sz="1400" dirty="0" smtClean="0"/>
              <a:t>(include)</a:t>
            </a:r>
            <a:r>
              <a:rPr lang="ko-KR" altLang="en-US" sz="1400" dirty="0" smtClean="0"/>
              <a:t>와</a:t>
            </a:r>
            <a:r>
              <a:rPr lang="en-US" altLang="ko-KR" sz="1400" dirty="0" smtClean="0"/>
              <a:t> </a:t>
            </a:r>
            <a:r>
              <a:rPr lang="ko-KR" altLang="en-US" sz="1400" dirty="0" smtClean="0"/>
              <a:t>확장하기</a:t>
            </a:r>
            <a:r>
              <a:rPr lang="en-US" altLang="ko-KR" sz="1400" dirty="0" smtClean="0"/>
              <a:t>(extend) </a:t>
            </a:r>
            <a:r>
              <a:rPr lang="ko-KR" altLang="en-US" sz="1400" dirty="0" smtClean="0"/>
              <a:t>차이점</a:t>
            </a:r>
            <a:endParaRPr lang="ko-KR" altLang="en-US" sz="1400" dirty="0"/>
          </a:p>
        </p:txBody>
      </p:sp>
      <p:sp>
        <p:nvSpPr>
          <p:cNvPr id="44" name="직사각형 43"/>
          <p:cNvSpPr/>
          <p:nvPr/>
        </p:nvSpPr>
        <p:spPr>
          <a:xfrm>
            <a:off x="7177754" y="6237311"/>
            <a:ext cx="4613763" cy="307777"/>
          </a:xfrm>
          <a:prstGeom prst="rect">
            <a:avLst/>
          </a:prstGeom>
        </p:spPr>
        <p:txBody>
          <a:bodyPr wrap="none">
            <a:spAutoFit/>
          </a:bodyPr>
          <a:lstStyle/>
          <a:p>
            <a:pPr algn="r"/>
            <a:r>
              <a:rPr lang="en-US" altLang="ko-KR" sz="1400" dirty="0" smtClean="0">
                <a:solidFill>
                  <a:schemeClr val="bg1">
                    <a:lumMod val="50000"/>
                  </a:schemeClr>
                </a:solidFill>
              </a:rPr>
              <a:t>(UML</a:t>
            </a:r>
            <a:r>
              <a:rPr lang="ko-KR" altLang="en-US" sz="1400" dirty="0">
                <a:solidFill>
                  <a:schemeClr val="bg1">
                    <a:lumMod val="50000"/>
                  </a:schemeClr>
                </a:solidFill>
              </a:rPr>
              <a:t>을 활용한 객체지향 분석 설계 </a:t>
            </a:r>
            <a:r>
              <a:rPr lang="en-US" altLang="ko-KR" sz="1400" dirty="0">
                <a:solidFill>
                  <a:schemeClr val="bg1">
                    <a:lumMod val="50000"/>
                  </a:schemeClr>
                </a:solidFill>
              </a:rPr>
              <a:t>- </a:t>
            </a:r>
            <a:r>
              <a:rPr lang="ko-KR" altLang="en-US" sz="1400" dirty="0">
                <a:solidFill>
                  <a:schemeClr val="bg1">
                    <a:lumMod val="50000"/>
                  </a:schemeClr>
                </a:solidFill>
              </a:rPr>
              <a:t>그래디 </a:t>
            </a:r>
            <a:r>
              <a:rPr lang="ko-KR" altLang="en-US" sz="1400" dirty="0" err="1">
                <a:solidFill>
                  <a:schemeClr val="bg1">
                    <a:lumMod val="50000"/>
                  </a:schemeClr>
                </a:solidFill>
              </a:rPr>
              <a:t>부치</a:t>
            </a:r>
            <a:r>
              <a:rPr lang="ko-KR" altLang="en-US" sz="1400" dirty="0">
                <a:solidFill>
                  <a:schemeClr val="bg1">
                    <a:lumMod val="50000"/>
                  </a:schemeClr>
                </a:solidFill>
              </a:rPr>
              <a:t> 외</a:t>
            </a:r>
            <a:r>
              <a:rPr lang="en-US" altLang="ko-KR" sz="1400" dirty="0">
                <a:solidFill>
                  <a:schemeClr val="bg1">
                    <a:lumMod val="50000"/>
                  </a:schemeClr>
                </a:solidFill>
              </a:rPr>
              <a:t>-</a:t>
            </a:r>
            <a:r>
              <a:rPr lang="en-US" altLang="ko-KR" sz="1400" dirty="0"/>
              <a:t> </a:t>
            </a:r>
            <a:r>
              <a:rPr lang="en-US" altLang="ko-KR" sz="1400" dirty="0" smtClean="0"/>
              <a:t>)</a:t>
            </a:r>
            <a:endParaRPr lang="ko-KR" altLang="en-US" sz="1400" dirty="0"/>
          </a:p>
        </p:txBody>
      </p:sp>
      <p:sp>
        <p:nvSpPr>
          <p:cNvPr id="23" name="타원 22"/>
          <p:cNvSpPr/>
          <p:nvPr/>
        </p:nvSpPr>
        <p:spPr>
          <a:xfrm>
            <a:off x="7002142" y="1648810"/>
            <a:ext cx="1620000" cy="720000"/>
          </a:xfrm>
          <a:prstGeom prst="ellipse">
            <a:avLst/>
          </a:prstGeom>
          <a:pattFill prst="diagBrick">
            <a:fgClr>
              <a:schemeClr val="accent6"/>
            </a:fgClr>
            <a:bgClr>
              <a:schemeClr val="bg1"/>
            </a:bgClr>
          </a:patt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24" name="타원 23"/>
          <p:cNvSpPr/>
          <p:nvPr/>
        </p:nvSpPr>
        <p:spPr>
          <a:xfrm>
            <a:off x="9300536" y="1648810"/>
            <a:ext cx="1620000" cy="720000"/>
          </a:xfrm>
          <a:prstGeom prst="ellipse">
            <a:avLst/>
          </a:prstGeom>
          <a:pattFill prst="diagBrick">
            <a:fgClr>
              <a:schemeClr val="accent6"/>
            </a:fgClr>
            <a:bgClr>
              <a:schemeClr val="bg1"/>
            </a:bgClr>
          </a:patt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cxnSp>
        <p:nvCxnSpPr>
          <p:cNvPr id="20" name="직선 연결선 19"/>
          <p:cNvCxnSpPr>
            <a:stCxn id="25" idx="0"/>
            <a:endCxn id="25" idx="7"/>
          </p:cNvCxnSpPr>
          <p:nvPr/>
        </p:nvCxnSpPr>
        <p:spPr>
          <a:xfrm>
            <a:off x="7177754" y="2228784"/>
            <a:ext cx="124176" cy="53568"/>
          </a:xfrm>
          <a:prstGeom prst="line">
            <a:avLst/>
          </a:prstGeom>
          <a:ln w="3492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45" name="직선 연결선 44"/>
          <p:cNvCxnSpPr>
            <a:stCxn id="26" idx="1"/>
            <a:endCxn id="26" idx="0"/>
          </p:cNvCxnSpPr>
          <p:nvPr/>
        </p:nvCxnSpPr>
        <p:spPr>
          <a:xfrm flipV="1">
            <a:off x="10617572" y="2244668"/>
            <a:ext cx="124176" cy="53568"/>
          </a:xfrm>
          <a:prstGeom prst="line">
            <a:avLst/>
          </a:prstGeom>
          <a:ln w="34925">
            <a:solidFill>
              <a:schemeClr val="bg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2884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2733564" cy="424661"/>
          </a:xfrm>
        </p:spPr>
        <p:txBody>
          <a:bodyPr/>
          <a:lstStyle/>
          <a:p>
            <a:r>
              <a:rPr lang="en-US" altLang="ko-KR" dirty="0"/>
              <a:t>Include &amp; Extend</a:t>
            </a:r>
            <a:endParaRPr lang="ko-KR" altLang="en-US" dirty="0"/>
          </a:p>
        </p:txBody>
      </p:sp>
      <p:sp>
        <p:nvSpPr>
          <p:cNvPr id="2" name="직사각형 1"/>
          <p:cNvSpPr/>
          <p:nvPr/>
        </p:nvSpPr>
        <p:spPr>
          <a:xfrm>
            <a:off x="407368" y="764704"/>
            <a:ext cx="10729192" cy="323165"/>
          </a:xfrm>
          <a:prstGeom prst="rect">
            <a:avLst/>
          </a:prstGeom>
        </p:spPr>
        <p:txBody>
          <a:bodyPr wrap="square">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500" dirty="0" err="1" smtClean="0">
                <a:ln>
                  <a:solidFill>
                    <a:schemeClr val="bg1">
                      <a:lumMod val="85000"/>
                      <a:alpha val="0"/>
                    </a:schemeClr>
                  </a:solidFill>
                </a:ln>
                <a:solidFill>
                  <a:srgbClr val="4B465E"/>
                </a:solidFill>
                <a:latin typeface="맑은 고딕" pitchFamily="50" charset="-127"/>
                <a:cs typeface="Arial" panose="020B0604020202020204" pitchFamily="34" charset="0"/>
              </a:rPr>
              <a:t>유스케이스를</a:t>
            </a:r>
            <a:r>
              <a:rPr kumimoji="1" lang="ko-KR" altLang="en-US"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 두 가지 방법으로 그려 봤습니다</a:t>
            </a:r>
            <a:r>
              <a:rPr kumimoji="1" lang="en-US" altLang="ko-KR" sz="15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endParaRPr kumimoji="1" lang="en-US" altLang="ko-KR" sz="1500"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4" name="그림 3"/>
          <p:cNvPicPr>
            <a:picLocks noChangeAspect="1"/>
          </p:cNvPicPr>
          <p:nvPr/>
        </p:nvPicPr>
        <p:blipFill>
          <a:blip r:embed="rId3"/>
          <a:stretch>
            <a:fillRect/>
          </a:stretch>
        </p:blipFill>
        <p:spPr>
          <a:xfrm>
            <a:off x="407367" y="1268760"/>
            <a:ext cx="11488869" cy="4824536"/>
          </a:xfrm>
          <a:prstGeom prst="rect">
            <a:avLst/>
          </a:prstGeom>
        </p:spPr>
      </p:pic>
    </p:spTree>
    <p:extLst>
      <p:ext uri="{BB962C8B-B14F-4D97-AF65-F5344CB8AC3E}">
        <p14:creationId xmlns:p14="http://schemas.microsoft.com/office/powerpoint/2010/main" val="35806784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4732509" cy="424661"/>
          </a:xfrm>
        </p:spPr>
        <p:txBody>
          <a:bodyPr/>
          <a:lstStyle/>
          <a:p>
            <a:r>
              <a:rPr lang="en-US" altLang="ko-KR" dirty="0" smtClean="0"/>
              <a:t>Include</a:t>
            </a:r>
            <a:r>
              <a:rPr lang="ko-KR" altLang="en-US" dirty="0" smtClean="0"/>
              <a:t>와 </a:t>
            </a:r>
            <a:r>
              <a:rPr lang="en-US" altLang="ko-KR" dirty="0" smtClean="0"/>
              <a:t>Extend</a:t>
            </a:r>
            <a:r>
              <a:rPr lang="ko-KR" altLang="en-US" dirty="0" smtClean="0"/>
              <a:t> 관계 주의사항</a:t>
            </a:r>
            <a:endParaRPr lang="ko-KR" altLang="en-US" dirty="0"/>
          </a:p>
        </p:txBody>
      </p:sp>
      <p:sp>
        <p:nvSpPr>
          <p:cNvPr id="4" name="TextBox 3"/>
          <p:cNvSpPr txBox="1"/>
          <p:nvPr/>
        </p:nvSpPr>
        <p:spPr>
          <a:xfrm>
            <a:off x="396910" y="692696"/>
            <a:ext cx="11233248" cy="3970318"/>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500" dirty="0" smtClean="0"/>
              <a:t>포함하기와 확장하기 두 개념은 공통 기능을 명세하거나 복잡한 유스케이스 흐름을 간략하게 하는데 유용하다</a:t>
            </a:r>
            <a:r>
              <a:rPr lang="en-US" altLang="ko-KR" sz="1500" dirty="0" smtClean="0"/>
              <a:t>. </a:t>
            </a:r>
            <a:r>
              <a:rPr lang="ko-KR" altLang="en-US" sz="1500" dirty="0" smtClean="0"/>
              <a:t>하지만 앞에서 언급했듯이 포함하기와 확장하기를 잘못 사용하는 경우가 많다</a:t>
            </a:r>
            <a:r>
              <a:rPr lang="en-US" altLang="ko-KR" sz="1500" dirty="0" smtClean="0"/>
              <a:t>. </a:t>
            </a:r>
          </a:p>
          <a:p>
            <a:r>
              <a:rPr lang="en-US" altLang="ko-KR" sz="1500" dirty="0" smtClean="0"/>
              <a:t>….</a:t>
            </a:r>
          </a:p>
          <a:p>
            <a:r>
              <a:rPr lang="ko-KR" altLang="en-US" sz="1500" dirty="0" smtClean="0"/>
              <a:t>포함되는 유스케이스나 확장하는 유스케이스 또한 유스케이스이므로 앞서 인용했던 유스케이스 원칙을 준수해야 한다</a:t>
            </a:r>
            <a:r>
              <a:rPr lang="en-US" altLang="ko-KR" sz="1500" dirty="0" smtClean="0"/>
              <a:t>. </a:t>
            </a:r>
            <a:r>
              <a:rPr lang="ko-KR" altLang="en-US" sz="1500" dirty="0" smtClean="0"/>
              <a:t>다시 말하자면</a:t>
            </a:r>
            <a:r>
              <a:rPr lang="en-US" altLang="ko-KR" sz="1500" dirty="0" smtClean="0"/>
              <a:t>, </a:t>
            </a:r>
            <a:r>
              <a:rPr lang="ko-KR" altLang="en-US" sz="1500" b="1" dirty="0" smtClean="0"/>
              <a:t>유스케이스는 </a:t>
            </a:r>
            <a:r>
              <a:rPr lang="ko-KR" altLang="en-US" sz="1500" b="1" dirty="0" err="1" smtClean="0"/>
              <a:t>액터에게</a:t>
            </a:r>
            <a:r>
              <a:rPr lang="ko-KR" altLang="en-US" sz="1500" b="1" dirty="0" smtClean="0"/>
              <a:t> 가치를 제공해야 한다</a:t>
            </a:r>
            <a:r>
              <a:rPr lang="en-US" altLang="ko-KR" sz="1500" dirty="0" smtClean="0"/>
              <a:t>. </a:t>
            </a:r>
            <a:r>
              <a:rPr lang="ko-KR" altLang="en-US" sz="1500" dirty="0" err="1" smtClean="0"/>
              <a:t>액터</a:t>
            </a:r>
            <a:r>
              <a:rPr lang="ko-KR" altLang="en-US" sz="1500" dirty="0" smtClean="0"/>
              <a:t> 관점에서 </a:t>
            </a:r>
            <a:r>
              <a:rPr lang="ko-KR" altLang="en-US" sz="1500" dirty="0" err="1" smtClean="0"/>
              <a:t>액터가</a:t>
            </a:r>
            <a:r>
              <a:rPr lang="ko-KR" altLang="en-US" sz="1500" dirty="0" smtClean="0"/>
              <a:t> 시스템이 수행하기 원하는 완전한 행위 흐름이다</a:t>
            </a:r>
            <a:r>
              <a:rPr lang="en-US" altLang="ko-KR" sz="1500" dirty="0" smtClean="0"/>
              <a:t>.</a:t>
            </a:r>
          </a:p>
          <a:p>
            <a:r>
              <a:rPr lang="ko-KR" altLang="en-US" sz="1500" dirty="0" smtClean="0"/>
              <a:t>이러한 </a:t>
            </a:r>
            <a:r>
              <a:rPr lang="ko-KR" altLang="en-US" sz="1500" dirty="0"/>
              <a:t>원칙을 엄격히 따르기만 한다면 포함하기와 확장하기 관계를 사용해 유스케이스를 </a:t>
            </a:r>
            <a:r>
              <a:rPr lang="en-US" altLang="ko-KR" sz="1500" dirty="0"/>
              <a:t>‘</a:t>
            </a:r>
            <a:r>
              <a:rPr lang="ko-KR" altLang="en-US" sz="1500" dirty="0"/>
              <a:t>기능분해</a:t>
            </a:r>
            <a:r>
              <a:rPr lang="en-US" altLang="ko-KR" sz="1500" dirty="0"/>
              <a:t>’</a:t>
            </a:r>
            <a:r>
              <a:rPr lang="ko-KR" altLang="en-US" sz="1500" dirty="0"/>
              <a:t>하는 또 다른 오류를 범하지는 않을 것이다</a:t>
            </a:r>
            <a:r>
              <a:rPr lang="en-US" altLang="ko-KR" sz="1500" dirty="0"/>
              <a:t>. </a:t>
            </a:r>
            <a:r>
              <a:rPr lang="ko-KR" altLang="en-US" sz="1500" b="1" dirty="0"/>
              <a:t>기능분해는 유스케이스 모델에서 쉽게 발견되고 가장 널리 행해지는 문제인데</a:t>
            </a:r>
            <a:r>
              <a:rPr lang="en-US" altLang="ko-KR" sz="1500" dirty="0"/>
              <a:t>, </a:t>
            </a:r>
            <a:r>
              <a:rPr lang="ko-KR" altLang="en-US" sz="1500" dirty="0"/>
              <a:t>유스케이스를 더욱 작은 단편으로 </a:t>
            </a:r>
            <a:r>
              <a:rPr lang="ko-KR" altLang="en-US" sz="1500" dirty="0" smtClean="0"/>
              <a:t>쪼개서는 </a:t>
            </a:r>
            <a:r>
              <a:rPr lang="en-US" altLang="ko-KR" sz="1500" dirty="0"/>
              <a:t>include</a:t>
            </a:r>
            <a:r>
              <a:rPr lang="ko-KR" altLang="en-US" sz="1500" dirty="0"/>
              <a:t>와</a:t>
            </a:r>
            <a:r>
              <a:rPr lang="en-US" altLang="ko-KR" sz="1500" dirty="0"/>
              <a:t> extend</a:t>
            </a:r>
            <a:r>
              <a:rPr lang="ko-KR" altLang="en-US" sz="1500" dirty="0"/>
              <a:t>를 사용해서 그것들을 다시 묶는 식이다</a:t>
            </a:r>
            <a:r>
              <a:rPr lang="en-US" altLang="ko-KR" sz="1500" dirty="0"/>
              <a:t>. </a:t>
            </a:r>
            <a:r>
              <a:rPr lang="ko-KR" altLang="en-US" sz="1500" dirty="0"/>
              <a:t>이러한 경향은 구조적 분석 설계 방법이 널리 행해졌던 시절의 소프트웨어 개발 경험에 기인한다</a:t>
            </a:r>
            <a:r>
              <a:rPr lang="en-US" altLang="ko-KR" sz="1500" dirty="0"/>
              <a:t>. </a:t>
            </a:r>
            <a:r>
              <a:rPr lang="ko-KR" altLang="en-US" sz="1500" dirty="0"/>
              <a:t>구조적 분석 설계 방법은 큰 덩어리의 개발문제를 분해해서 작은 단위로 만드는 것이 원칙이다</a:t>
            </a:r>
            <a:r>
              <a:rPr lang="en-US" altLang="ko-KR" sz="1500" dirty="0"/>
              <a:t>. </a:t>
            </a:r>
            <a:r>
              <a:rPr lang="ko-KR" altLang="en-US" sz="1500" dirty="0"/>
              <a:t>그러나 그렇게 하는 것이 유스케이스 원칙에는 </a:t>
            </a:r>
            <a:r>
              <a:rPr lang="ko-KR" altLang="en-US" sz="1500" dirty="0" smtClean="0"/>
              <a:t>위배된다</a:t>
            </a:r>
            <a:r>
              <a:rPr lang="en-US" altLang="ko-KR" sz="1500" dirty="0" smtClean="0"/>
              <a:t>.</a:t>
            </a:r>
          </a:p>
          <a:p>
            <a:endParaRPr lang="en-US" altLang="ko-KR" sz="1500" dirty="0" smtClean="0"/>
          </a:p>
          <a:p>
            <a:pPr algn="r"/>
            <a:r>
              <a:rPr lang="en-US" altLang="ko-KR" sz="1500" dirty="0" smtClean="0">
                <a:solidFill>
                  <a:schemeClr val="bg1">
                    <a:lumMod val="50000"/>
                  </a:schemeClr>
                </a:solidFill>
              </a:rPr>
              <a:t> UML</a:t>
            </a:r>
            <a:r>
              <a:rPr lang="ko-KR" altLang="en-US" sz="1500" dirty="0" smtClean="0">
                <a:solidFill>
                  <a:schemeClr val="bg1">
                    <a:lumMod val="50000"/>
                  </a:schemeClr>
                </a:solidFill>
              </a:rPr>
              <a:t>을 활용한 객체지향 분석 설계 </a:t>
            </a:r>
            <a:r>
              <a:rPr lang="en-US" altLang="ko-KR" sz="1500" dirty="0" smtClean="0">
                <a:solidFill>
                  <a:schemeClr val="bg1">
                    <a:lumMod val="50000"/>
                  </a:schemeClr>
                </a:solidFill>
              </a:rPr>
              <a:t>- </a:t>
            </a:r>
            <a:r>
              <a:rPr lang="ko-KR" altLang="en-US" sz="1500" dirty="0" smtClean="0">
                <a:solidFill>
                  <a:schemeClr val="bg1">
                    <a:lumMod val="50000"/>
                  </a:schemeClr>
                </a:solidFill>
              </a:rPr>
              <a:t>그래디 부치 외</a:t>
            </a:r>
            <a:r>
              <a:rPr lang="en-US" altLang="ko-KR" sz="1500" dirty="0" smtClean="0">
                <a:solidFill>
                  <a:schemeClr val="bg1">
                    <a:lumMod val="50000"/>
                  </a:schemeClr>
                </a:solidFill>
              </a:rPr>
              <a:t>-</a:t>
            </a:r>
            <a:r>
              <a:rPr lang="en-US" altLang="ko-KR" sz="1500" dirty="0" smtClean="0"/>
              <a:t> </a:t>
            </a:r>
            <a:endParaRPr lang="ko-KR" altLang="en-US" sz="1500" dirty="0"/>
          </a:p>
        </p:txBody>
      </p:sp>
      <p:sp>
        <p:nvSpPr>
          <p:cNvPr id="5" name="TextBox 4"/>
          <p:cNvSpPr txBox="1"/>
          <p:nvPr/>
        </p:nvSpPr>
        <p:spPr>
          <a:xfrm>
            <a:off x="396910" y="4797152"/>
            <a:ext cx="11233248" cy="1708160"/>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500" dirty="0" smtClean="0"/>
              <a:t>유스케이스 관계는 </a:t>
            </a:r>
            <a:r>
              <a:rPr lang="en-US" altLang="ko-KR" sz="1500" dirty="0" smtClean="0"/>
              <a:t>‘</a:t>
            </a:r>
            <a:r>
              <a:rPr lang="ko-KR" altLang="en-US" sz="1500" dirty="0" smtClean="0"/>
              <a:t>그때는 참 좋은 생각으로 보였는데</a:t>
            </a:r>
            <a:r>
              <a:rPr lang="en-US" altLang="ko-KR" sz="1500" dirty="0" smtClean="0"/>
              <a:t>’ </a:t>
            </a:r>
            <a:r>
              <a:rPr lang="ko-KR" altLang="en-US" sz="1500" dirty="0" smtClean="0"/>
              <a:t>범주에 들어가는 아이디어다</a:t>
            </a:r>
            <a:r>
              <a:rPr lang="en-US" altLang="ko-KR" sz="1500" dirty="0" smtClean="0"/>
              <a:t>. </a:t>
            </a:r>
            <a:r>
              <a:rPr lang="ko-KR" altLang="en-US" sz="1500" dirty="0" smtClean="0"/>
              <a:t>적극 무시하기 바란다</a:t>
            </a:r>
            <a:r>
              <a:rPr lang="en-US" altLang="ko-KR" sz="1500" dirty="0" smtClean="0"/>
              <a:t>. </a:t>
            </a:r>
            <a:r>
              <a:rPr lang="ko-KR" altLang="en-US" sz="1500" dirty="0" smtClean="0"/>
              <a:t>이것은 여러분의 유스케이스에도 전체 시스템을 이해하는 데도 하등 도움이 되지 않으면서</a:t>
            </a:r>
            <a:r>
              <a:rPr lang="en-US" altLang="ko-KR" sz="1500" dirty="0"/>
              <a:t>, </a:t>
            </a:r>
            <a:r>
              <a:rPr lang="en-US" altLang="ko-KR" sz="1500" dirty="0" smtClean="0"/>
              <a:t>《extends</a:t>
            </a:r>
            <a:r>
              <a:rPr lang="en-US" altLang="ko-KR" sz="1500" dirty="0"/>
              <a:t>》</a:t>
            </a:r>
            <a:r>
              <a:rPr lang="ko-KR" altLang="en-US" sz="1500" dirty="0" smtClean="0"/>
              <a:t>와 </a:t>
            </a:r>
            <a:r>
              <a:rPr lang="en-US" altLang="ko-KR" sz="1500" dirty="0"/>
              <a:t>《generalization</a:t>
            </a:r>
            <a:r>
              <a:rPr lang="en-US" altLang="ko-KR" sz="1500" dirty="0" smtClean="0"/>
              <a:t>》 </a:t>
            </a:r>
            <a:r>
              <a:rPr lang="ko-KR" altLang="en-US" sz="1500" dirty="0" smtClean="0"/>
              <a:t>가운데</a:t>
            </a:r>
            <a:r>
              <a:rPr lang="en-US" altLang="ko-KR" sz="1500" dirty="0" smtClean="0"/>
              <a:t> </a:t>
            </a:r>
            <a:r>
              <a:rPr lang="ko-KR" altLang="en-US" sz="1500" dirty="0" smtClean="0"/>
              <a:t>어느 것을 쓸지 끊임없이 논쟁하는 원천이 될 것이다</a:t>
            </a:r>
            <a:r>
              <a:rPr lang="en-US" altLang="ko-KR" sz="1500" dirty="0" smtClean="0"/>
              <a:t>. </a:t>
            </a:r>
          </a:p>
          <a:p>
            <a:endParaRPr lang="en-US" altLang="ko-KR" sz="1500" dirty="0" smtClean="0"/>
          </a:p>
          <a:p>
            <a:pPr algn="r"/>
            <a:r>
              <a:rPr lang="en-US" altLang="ko-KR" sz="1500" dirty="0" smtClean="0">
                <a:solidFill>
                  <a:schemeClr val="bg1">
                    <a:lumMod val="50000"/>
                  </a:schemeClr>
                </a:solidFill>
              </a:rPr>
              <a:t> UML </a:t>
            </a:r>
            <a:r>
              <a:rPr lang="ko-KR" altLang="en-US" sz="1500" dirty="0" smtClean="0">
                <a:solidFill>
                  <a:schemeClr val="bg1">
                    <a:lumMod val="50000"/>
                  </a:schemeClr>
                </a:solidFill>
              </a:rPr>
              <a:t>실전에서는 이것만 쓴다 </a:t>
            </a:r>
            <a:r>
              <a:rPr lang="en-US" altLang="ko-KR" sz="1500" dirty="0" smtClean="0">
                <a:solidFill>
                  <a:schemeClr val="bg1">
                    <a:lumMod val="50000"/>
                  </a:schemeClr>
                </a:solidFill>
              </a:rPr>
              <a:t>– </a:t>
            </a:r>
            <a:r>
              <a:rPr lang="ko-KR" altLang="en-US" sz="1500" dirty="0" err="1" smtClean="0">
                <a:solidFill>
                  <a:schemeClr val="bg1">
                    <a:lumMod val="50000"/>
                  </a:schemeClr>
                </a:solidFill>
              </a:rPr>
              <a:t>로버트</a:t>
            </a:r>
            <a:r>
              <a:rPr lang="ko-KR" altLang="en-US" sz="1500" dirty="0" smtClean="0">
                <a:solidFill>
                  <a:schemeClr val="bg1">
                    <a:lumMod val="50000"/>
                  </a:schemeClr>
                </a:solidFill>
              </a:rPr>
              <a:t> </a:t>
            </a:r>
            <a:r>
              <a:rPr lang="en-US" altLang="ko-KR" sz="1500" dirty="0" smtClean="0">
                <a:solidFill>
                  <a:schemeClr val="bg1">
                    <a:lumMod val="50000"/>
                  </a:schemeClr>
                </a:solidFill>
              </a:rPr>
              <a:t>C. </a:t>
            </a:r>
            <a:r>
              <a:rPr lang="ko-KR" altLang="en-US" sz="1500" dirty="0" err="1" smtClean="0">
                <a:solidFill>
                  <a:schemeClr val="bg1">
                    <a:lumMod val="50000"/>
                  </a:schemeClr>
                </a:solidFill>
              </a:rPr>
              <a:t>마틴</a:t>
            </a:r>
            <a:r>
              <a:rPr lang="en-US" altLang="ko-KR" sz="1500" dirty="0" smtClean="0">
                <a:solidFill>
                  <a:schemeClr val="bg1">
                    <a:lumMod val="50000"/>
                  </a:schemeClr>
                </a:solidFill>
              </a:rPr>
              <a:t>-</a:t>
            </a:r>
            <a:r>
              <a:rPr lang="en-US" altLang="ko-KR" sz="1500" dirty="0" smtClean="0"/>
              <a:t> </a:t>
            </a:r>
            <a:endParaRPr lang="ko-KR" altLang="en-US" sz="1500" dirty="0"/>
          </a:p>
        </p:txBody>
      </p:sp>
    </p:spTree>
    <p:extLst>
      <p:ext uri="{BB962C8B-B14F-4D97-AF65-F5344CB8AC3E}">
        <p14:creationId xmlns:p14="http://schemas.microsoft.com/office/powerpoint/2010/main" val="11987367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rotWithShape="1">
          <a:blip r:embed="rId2"/>
          <a:srcRect b="2501"/>
          <a:stretch/>
        </p:blipFill>
        <p:spPr>
          <a:xfrm>
            <a:off x="1127448" y="-6971"/>
            <a:ext cx="10108848" cy="6864971"/>
          </a:xfrm>
          <a:prstGeom prst="rect">
            <a:avLst/>
          </a:prstGeom>
        </p:spPr>
      </p:pic>
    </p:spTree>
    <p:extLst>
      <p:ext uri="{BB962C8B-B14F-4D97-AF65-F5344CB8AC3E}">
        <p14:creationId xmlns:p14="http://schemas.microsoft.com/office/powerpoint/2010/main" val="22710712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p:cNvPicPr>
            <a:picLocks noChangeAspect="1"/>
          </p:cNvPicPr>
          <p:nvPr/>
        </p:nvPicPr>
        <p:blipFill>
          <a:blip r:embed="rId3"/>
          <a:stretch>
            <a:fillRect/>
          </a:stretch>
        </p:blipFill>
        <p:spPr>
          <a:xfrm>
            <a:off x="102475" y="404665"/>
            <a:ext cx="5916740" cy="6186773"/>
          </a:xfrm>
          <a:prstGeom prst="rect">
            <a:avLst/>
          </a:prstGeom>
        </p:spPr>
      </p:pic>
      <p:pic>
        <p:nvPicPr>
          <p:cNvPr id="4" name="그림 3"/>
          <p:cNvPicPr>
            <a:picLocks noChangeAspect="1"/>
          </p:cNvPicPr>
          <p:nvPr/>
        </p:nvPicPr>
        <p:blipFill>
          <a:blip r:embed="rId4"/>
          <a:stretch>
            <a:fillRect/>
          </a:stretch>
        </p:blipFill>
        <p:spPr>
          <a:xfrm>
            <a:off x="6216539" y="404664"/>
            <a:ext cx="5916740" cy="6186773"/>
          </a:xfrm>
          <a:prstGeom prst="rect">
            <a:avLst/>
          </a:prstGeom>
        </p:spPr>
      </p:pic>
    </p:spTree>
    <p:extLst>
      <p:ext uri="{BB962C8B-B14F-4D97-AF65-F5344CB8AC3E}">
        <p14:creationId xmlns:p14="http://schemas.microsoft.com/office/powerpoint/2010/main" val="386453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제목 1"/>
          <p:cNvSpPr>
            <a:spLocks noGrp="1"/>
          </p:cNvSpPr>
          <p:nvPr>
            <p:ph type="title"/>
          </p:nvPr>
        </p:nvSpPr>
        <p:spPr>
          <a:xfrm>
            <a:off x="408000" y="156779"/>
            <a:ext cx="4419923" cy="424661"/>
          </a:xfrm>
        </p:spPr>
        <p:txBody>
          <a:bodyPr/>
          <a:lstStyle/>
          <a:p>
            <a:r>
              <a:rPr lang="en-US" altLang="ko-KR" dirty="0" smtClean="0"/>
              <a:t>Composite use case diagram</a:t>
            </a:r>
            <a:endParaRPr lang="ko-KR" altLang="en-US" dirty="0"/>
          </a:p>
        </p:txBody>
      </p:sp>
      <p:pic>
        <p:nvPicPr>
          <p:cNvPr id="17" name="그림 16"/>
          <p:cNvPicPr>
            <a:picLocks noChangeAspect="1"/>
          </p:cNvPicPr>
          <p:nvPr/>
        </p:nvPicPr>
        <p:blipFill rotWithShape="1">
          <a:blip r:embed="rId3"/>
          <a:srcRect l="485" r="52098"/>
          <a:stretch/>
        </p:blipFill>
        <p:spPr>
          <a:xfrm>
            <a:off x="242896" y="748202"/>
            <a:ext cx="3707118" cy="4457700"/>
          </a:xfrm>
          <a:prstGeom prst="rect">
            <a:avLst/>
          </a:prstGeom>
        </p:spPr>
      </p:pic>
      <p:pic>
        <p:nvPicPr>
          <p:cNvPr id="18" name="그림 17"/>
          <p:cNvPicPr>
            <a:picLocks noChangeAspect="1"/>
          </p:cNvPicPr>
          <p:nvPr/>
        </p:nvPicPr>
        <p:blipFill rotWithShape="1">
          <a:blip r:embed="rId3"/>
          <a:srcRect l="48485" t="1638" r="609" b="40230"/>
          <a:stretch/>
        </p:blipFill>
        <p:spPr>
          <a:xfrm>
            <a:off x="7598979" y="682420"/>
            <a:ext cx="4477407" cy="2915256"/>
          </a:xfrm>
          <a:prstGeom prst="rect">
            <a:avLst/>
          </a:prstGeom>
        </p:spPr>
      </p:pic>
      <p:pic>
        <p:nvPicPr>
          <p:cNvPr id="19" name="그림 18"/>
          <p:cNvPicPr>
            <a:picLocks noChangeAspect="1"/>
          </p:cNvPicPr>
          <p:nvPr/>
        </p:nvPicPr>
        <p:blipFill>
          <a:blip r:embed="rId4"/>
          <a:stretch>
            <a:fillRect/>
          </a:stretch>
        </p:blipFill>
        <p:spPr>
          <a:xfrm>
            <a:off x="4085714" y="682420"/>
            <a:ext cx="3377565" cy="3977640"/>
          </a:xfrm>
          <a:prstGeom prst="rect">
            <a:avLst/>
          </a:prstGeom>
        </p:spPr>
      </p:pic>
      <p:pic>
        <p:nvPicPr>
          <p:cNvPr id="20" name="그림 19"/>
          <p:cNvPicPr>
            <a:picLocks noChangeAspect="1"/>
          </p:cNvPicPr>
          <p:nvPr/>
        </p:nvPicPr>
        <p:blipFill>
          <a:blip r:embed="rId5"/>
          <a:stretch>
            <a:fillRect/>
          </a:stretch>
        </p:blipFill>
        <p:spPr>
          <a:xfrm>
            <a:off x="7598979" y="3652924"/>
            <a:ext cx="3789045" cy="2854643"/>
          </a:xfrm>
          <a:prstGeom prst="rect">
            <a:avLst/>
          </a:prstGeom>
        </p:spPr>
      </p:pic>
    </p:spTree>
    <p:extLst>
      <p:ext uri="{BB962C8B-B14F-4D97-AF65-F5344CB8AC3E}">
        <p14:creationId xmlns:p14="http://schemas.microsoft.com/office/powerpoint/2010/main" val="3572792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rotWithShape="1">
          <a:blip r:embed="rId2"/>
          <a:srcRect l="5300" r="5514"/>
          <a:stretch/>
        </p:blipFill>
        <p:spPr>
          <a:xfrm>
            <a:off x="335360" y="1065809"/>
            <a:ext cx="5598656" cy="3371302"/>
          </a:xfrm>
          <a:prstGeom prst="rect">
            <a:avLst/>
          </a:prstGeom>
        </p:spPr>
      </p:pic>
      <p:pic>
        <p:nvPicPr>
          <p:cNvPr id="3" name="그림 2"/>
          <p:cNvPicPr>
            <a:picLocks noChangeAspect="1"/>
          </p:cNvPicPr>
          <p:nvPr/>
        </p:nvPicPr>
        <p:blipFill rotWithShape="1">
          <a:blip r:embed="rId3"/>
          <a:srcRect l="3267" r="4556"/>
          <a:stretch/>
        </p:blipFill>
        <p:spPr>
          <a:xfrm>
            <a:off x="6142329" y="1065810"/>
            <a:ext cx="5786319" cy="3371302"/>
          </a:xfrm>
          <a:prstGeom prst="rect">
            <a:avLst/>
          </a:prstGeom>
        </p:spPr>
      </p:pic>
      <p:sp>
        <p:nvSpPr>
          <p:cNvPr id="4" name="TextBox 3"/>
          <p:cNvSpPr txBox="1"/>
          <p:nvPr/>
        </p:nvSpPr>
        <p:spPr>
          <a:xfrm>
            <a:off x="364647" y="260648"/>
            <a:ext cx="11376001" cy="630871"/>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en-US" altLang="ko-KR" sz="1500" dirty="0" smtClean="0"/>
              <a:t>Use case Diagram</a:t>
            </a:r>
            <a:r>
              <a:rPr lang="ko-KR" altLang="en-US" sz="1500" dirty="0" smtClean="0"/>
              <a:t>은 시스템의 </a:t>
            </a:r>
            <a:r>
              <a:rPr lang="ko-KR" altLang="en-US" sz="1500" b="1" dirty="0" smtClean="0"/>
              <a:t>주요 기능</a:t>
            </a:r>
            <a:r>
              <a:rPr lang="ko-KR" altLang="en-US" sz="1500" dirty="0" smtClean="0"/>
              <a:t>을 한 눈에 파악하도록 도와야 합니다</a:t>
            </a:r>
            <a:endParaRPr lang="en-US" altLang="ko-KR" sz="1500" dirty="0" smtClean="0"/>
          </a:p>
          <a:p>
            <a:pPr marL="742950" lvl="1" indent="-285750" defTabSz="912813" fontAlgn="base">
              <a:spcBef>
                <a:spcPts val="600"/>
              </a:spcBef>
              <a:spcAft>
                <a:spcPct val="0"/>
              </a:spcAft>
              <a:buClr>
                <a:srgbClr val="55CFD1"/>
              </a:buClr>
              <a:buFont typeface="Wingdings" panose="05000000000000000000" pitchFamily="2" charset="2"/>
              <a:buChar char="u"/>
              <a:defRPr/>
            </a:pPr>
            <a:r>
              <a:rPr lang="ko-KR" altLang="en-US" sz="1500" dirty="0" smtClean="0"/>
              <a:t>모든 기능을 억지로 표현하려 하지 마세요</a:t>
            </a:r>
            <a:endParaRPr lang="en-US" altLang="ko-KR" sz="1500" dirty="0" smtClean="0"/>
          </a:p>
        </p:txBody>
      </p:sp>
      <p:sp>
        <p:nvSpPr>
          <p:cNvPr id="5" name="TextBox 4"/>
          <p:cNvSpPr txBox="1"/>
          <p:nvPr/>
        </p:nvSpPr>
        <p:spPr>
          <a:xfrm>
            <a:off x="551384" y="4710043"/>
            <a:ext cx="11233248" cy="2031325"/>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500" dirty="0" smtClean="0"/>
              <a:t>이 장은 짧다</a:t>
            </a:r>
            <a:r>
              <a:rPr lang="en-US" altLang="ko-KR" sz="1500" dirty="0" smtClean="0"/>
              <a:t>. </a:t>
            </a:r>
            <a:r>
              <a:rPr lang="ko-KR" altLang="en-US" sz="1500" dirty="0" smtClean="0"/>
              <a:t>주제가 단순하기 때문에 짧은 것이 당연하다</a:t>
            </a:r>
            <a:r>
              <a:rPr lang="en-US" altLang="ko-KR" sz="1500" dirty="0" smtClean="0"/>
              <a:t>. </a:t>
            </a:r>
            <a:r>
              <a:rPr lang="ko-KR" altLang="en-US" sz="1500" dirty="0" smtClean="0"/>
              <a:t>여러분이 유스케이스를 대할 때도 이렇게 단순하게 사용하려는 마음가짐을 가져야 한다</a:t>
            </a:r>
            <a:r>
              <a:rPr lang="en-US" altLang="ko-KR" sz="1500" dirty="0" smtClean="0"/>
              <a:t>. </a:t>
            </a:r>
            <a:r>
              <a:rPr lang="ko-KR" altLang="en-US" sz="1500" dirty="0" smtClean="0"/>
              <a:t>자칫 복잡한 유스케이스라는 암흑의 길에 발을 들여 놓는다면</a:t>
            </a:r>
            <a:r>
              <a:rPr lang="en-US" altLang="ko-KR" sz="1500" dirty="0" smtClean="0"/>
              <a:t>, </a:t>
            </a:r>
            <a:r>
              <a:rPr lang="ko-KR" altLang="en-US" sz="1500" dirty="0" smtClean="0"/>
              <a:t>그것이 영원히 여러분의 운명을 지배할 것이다</a:t>
            </a:r>
            <a:r>
              <a:rPr lang="en-US" altLang="ko-KR" sz="1500" dirty="0" smtClean="0"/>
              <a:t>. </a:t>
            </a:r>
            <a:r>
              <a:rPr lang="ko-KR" altLang="en-US" sz="1500" dirty="0" err="1" smtClean="0"/>
              <a:t>포스를</a:t>
            </a:r>
            <a:r>
              <a:rPr lang="ko-KR" altLang="en-US" sz="1500" dirty="0" smtClean="0"/>
              <a:t> 사용하라</a:t>
            </a:r>
            <a:endParaRPr lang="en-US" altLang="ko-KR" sz="1500" dirty="0" smtClean="0"/>
          </a:p>
          <a:p>
            <a:endParaRPr lang="en-US" altLang="ko-KR" sz="1500" dirty="0"/>
          </a:p>
          <a:p>
            <a:r>
              <a:rPr lang="ko-KR" altLang="en-US" sz="1500" dirty="0" smtClean="0"/>
              <a:t>그리고 유스케이스를 단순하게 유지하라</a:t>
            </a:r>
            <a:r>
              <a:rPr lang="en-US" altLang="ko-KR" sz="1500" dirty="0" smtClean="0"/>
              <a:t>. </a:t>
            </a:r>
          </a:p>
          <a:p>
            <a:pPr algn="r"/>
            <a:r>
              <a:rPr lang="en-US" altLang="ko-KR" sz="1500" dirty="0" smtClean="0">
                <a:solidFill>
                  <a:schemeClr val="bg1">
                    <a:lumMod val="50000"/>
                  </a:schemeClr>
                </a:solidFill>
              </a:rPr>
              <a:t> UML </a:t>
            </a:r>
            <a:r>
              <a:rPr lang="ko-KR" altLang="en-US" sz="1500" dirty="0" smtClean="0">
                <a:solidFill>
                  <a:schemeClr val="bg1">
                    <a:lumMod val="50000"/>
                  </a:schemeClr>
                </a:solidFill>
              </a:rPr>
              <a:t>실전에서는 이것만 쓴다 </a:t>
            </a:r>
            <a:r>
              <a:rPr lang="en-US" altLang="ko-KR" sz="1500" dirty="0" smtClean="0">
                <a:solidFill>
                  <a:schemeClr val="bg1">
                    <a:lumMod val="50000"/>
                  </a:schemeClr>
                </a:solidFill>
              </a:rPr>
              <a:t>– </a:t>
            </a:r>
            <a:r>
              <a:rPr lang="ko-KR" altLang="en-US" sz="1500" dirty="0" err="1" smtClean="0">
                <a:solidFill>
                  <a:schemeClr val="bg1">
                    <a:lumMod val="50000"/>
                  </a:schemeClr>
                </a:solidFill>
              </a:rPr>
              <a:t>로버트</a:t>
            </a:r>
            <a:r>
              <a:rPr lang="ko-KR" altLang="en-US" sz="1500" dirty="0" smtClean="0">
                <a:solidFill>
                  <a:schemeClr val="bg1">
                    <a:lumMod val="50000"/>
                  </a:schemeClr>
                </a:solidFill>
              </a:rPr>
              <a:t> </a:t>
            </a:r>
            <a:r>
              <a:rPr lang="en-US" altLang="ko-KR" sz="1500" dirty="0" smtClean="0">
                <a:solidFill>
                  <a:schemeClr val="bg1">
                    <a:lumMod val="50000"/>
                  </a:schemeClr>
                </a:solidFill>
              </a:rPr>
              <a:t>C. </a:t>
            </a:r>
            <a:r>
              <a:rPr lang="ko-KR" altLang="en-US" sz="1500" dirty="0" err="1" smtClean="0">
                <a:solidFill>
                  <a:schemeClr val="bg1">
                    <a:lumMod val="50000"/>
                  </a:schemeClr>
                </a:solidFill>
              </a:rPr>
              <a:t>마틴</a:t>
            </a:r>
            <a:r>
              <a:rPr lang="en-US" altLang="ko-KR" sz="1500" dirty="0" smtClean="0">
                <a:solidFill>
                  <a:schemeClr val="bg1">
                    <a:lumMod val="50000"/>
                  </a:schemeClr>
                </a:solidFill>
              </a:rPr>
              <a:t>-</a:t>
            </a:r>
            <a:r>
              <a:rPr lang="en-US" altLang="ko-KR" sz="1500" dirty="0" smtClean="0"/>
              <a:t> </a:t>
            </a:r>
            <a:endParaRPr lang="ko-KR" altLang="en-US" sz="1500" dirty="0"/>
          </a:p>
        </p:txBody>
      </p:sp>
    </p:spTree>
    <p:extLst>
      <p:ext uri="{BB962C8B-B14F-4D97-AF65-F5344CB8AC3E}">
        <p14:creationId xmlns:p14="http://schemas.microsoft.com/office/powerpoint/2010/main" val="4345648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3" name="TextBox 2"/>
          <p:cNvSpPr txBox="1"/>
          <p:nvPr/>
        </p:nvSpPr>
        <p:spPr>
          <a:xfrm>
            <a:off x="1884345" y="3505196"/>
            <a:ext cx="1970278"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ko-KR" altLang="en-US"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실습 안내</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17526934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ko-KR" altLang="en-US" dirty="0"/>
              <a:t>실습 </a:t>
            </a:r>
            <a:r>
              <a:rPr lang="en-US" altLang="ko-KR" dirty="0"/>
              <a:t>- </a:t>
            </a:r>
            <a:r>
              <a:rPr lang="ko-KR" altLang="en-US" dirty="0"/>
              <a:t>산출물 목표</a:t>
            </a:r>
          </a:p>
        </p:txBody>
      </p:sp>
      <p:sp>
        <p:nvSpPr>
          <p:cNvPr id="7" name="내용 개체 틀 2"/>
          <p:cNvSpPr txBox="1">
            <a:spLocks/>
          </p:cNvSpPr>
          <p:nvPr/>
        </p:nvSpPr>
        <p:spPr>
          <a:xfrm>
            <a:off x="653484" y="1028733"/>
            <a:ext cx="5613268" cy="467820"/>
          </a:xfrm>
          <a:prstGeom prst="rect">
            <a:avLst/>
          </a:prstGeom>
          <a:noFill/>
        </p:spPr>
        <p:txBody>
          <a:bodyPr wrap="non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marL="0" indent="0" defTabSz="953419">
              <a:lnSpc>
                <a:spcPct val="160000"/>
              </a:lnSpc>
              <a:buNone/>
            </a:pPr>
            <a:r>
              <a:rPr lang="en-US" altLang="ko-KR"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3</a:t>
            </a:r>
            <a:r>
              <a:rPr lang="ko-KR" altLang="en-US"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일간 </a:t>
            </a:r>
            <a:r>
              <a:rPr lang="en-US" altLang="ko-KR"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OOA</a:t>
            </a:r>
            <a:r>
              <a:rPr lang="ko-KR" altLang="en-US"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와 </a:t>
            </a:r>
            <a:r>
              <a:rPr lang="en-US" altLang="ko-KR"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OOD</a:t>
            </a:r>
            <a:r>
              <a:rPr lang="ko-KR" altLang="en-US"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를 반복적으로 수행하여 산출물 작성</a:t>
            </a:r>
            <a:endParaRPr lang="en-US" altLang="ko-KR" sz="1900" b="1" spc="-133" dirty="0">
              <a:ln>
                <a:solidFill>
                  <a:srgbClr val="5B9BD5">
                    <a:alpha val="0"/>
                  </a:srgbClr>
                </a:solidFill>
              </a:ln>
              <a:solidFill>
                <a:srgbClr val="4156BD"/>
              </a:solidFill>
              <a:cs typeface="Arial" panose="020B0604020202020204" pitchFamily="34" charset="0"/>
            </a:endParaRPr>
          </a:p>
        </p:txBody>
      </p:sp>
      <p:pic>
        <p:nvPicPr>
          <p:cNvPr id="25" name="그림 24"/>
          <p:cNvPicPr>
            <a:picLocks noChangeAspect="1"/>
          </p:cNvPicPr>
          <p:nvPr/>
        </p:nvPicPr>
        <p:blipFill>
          <a:blip r:embed="rId2"/>
          <a:stretch>
            <a:fillRect/>
          </a:stretch>
        </p:blipFill>
        <p:spPr>
          <a:xfrm>
            <a:off x="527381" y="1776720"/>
            <a:ext cx="11235016" cy="3860525"/>
          </a:xfrm>
          <a:prstGeom prst="rect">
            <a:avLst/>
          </a:prstGeom>
        </p:spPr>
      </p:pic>
      <p:sp>
        <p:nvSpPr>
          <p:cNvPr id="27" name="내용 개체 틀 2"/>
          <p:cNvSpPr txBox="1">
            <a:spLocks/>
          </p:cNvSpPr>
          <p:nvPr/>
        </p:nvSpPr>
        <p:spPr>
          <a:xfrm>
            <a:off x="623393" y="5248093"/>
            <a:ext cx="5816463" cy="1281889"/>
          </a:xfrm>
          <a:prstGeom prst="rect">
            <a:avLst/>
          </a:prstGeom>
          <a:noFill/>
        </p:spPr>
        <p:txBody>
          <a:bodyPr wrap="squar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marL="0" indent="0" defTabSz="953419">
              <a:lnSpc>
                <a:spcPct val="110000"/>
              </a:lnSpc>
              <a:buNone/>
            </a:pPr>
            <a:r>
              <a:rPr lang="en-US" altLang="ko-KR" sz="1900" b="1" u="sng" spc="-133" dirty="0">
                <a:ln>
                  <a:solidFill>
                    <a:srgbClr val="5B9BD5">
                      <a:alpha val="0"/>
                    </a:srgbClr>
                  </a:solidFill>
                </a:ln>
                <a:solidFill>
                  <a:srgbClr val="11236D"/>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900" b="1" u="sng" spc="-133" dirty="0">
                <a:ln>
                  <a:solidFill>
                    <a:srgbClr val="5B9BD5">
                      <a:alpha val="0"/>
                    </a:srgbClr>
                  </a:solidFill>
                </a:ln>
                <a:solidFill>
                  <a:srgbClr val="11236D"/>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rPr>
              <a:t>실습 평가 기준</a:t>
            </a:r>
            <a:r>
              <a:rPr lang="en-US" altLang="ko-KR" sz="1900" b="1" u="sng" spc="-133" dirty="0">
                <a:ln>
                  <a:solidFill>
                    <a:srgbClr val="5B9BD5">
                      <a:alpha val="0"/>
                    </a:srgbClr>
                  </a:solidFill>
                </a:ln>
                <a:solidFill>
                  <a:srgbClr val="11236D"/>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defTabSz="953419">
              <a:lnSpc>
                <a:spcPct val="110000"/>
              </a:lnSpc>
              <a:buFontTx/>
              <a:buChar char="-"/>
            </a:pPr>
            <a:r>
              <a:rPr lang="ko-KR" altLang="en-US" sz="1600" spc="-133" dirty="0">
                <a:ln>
                  <a:solidFill>
                    <a:srgbClr val="5B9BD5">
                      <a:alpha val="0"/>
                    </a:srgbClr>
                  </a:solidFill>
                </a:ln>
                <a:cs typeface="Arial" panose="020B0604020202020204" pitchFamily="34" charset="0"/>
              </a:rPr>
              <a:t>각 </a:t>
            </a:r>
            <a:r>
              <a:rPr lang="en-US" altLang="ko-KR" sz="1600" spc="-133" dirty="0">
                <a:ln>
                  <a:solidFill>
                    <a:srgbClr val="5B9BD5">
                      <a:alpha val="0"/>
                    </a:srgbClr>
                  </a:solidFill>
                </a:ln>
                <a:cs typeface="Arial" panose="020B0604020202020204" pitchFamily="34" charset="0"/>
              </a:rPr>
              <a:t>Iteration </a:t>
            </a:r>
            <a:r>
              <a:rPr lang="ko-KR" altLang="en-US" sz="1600" spc="-133" dirty="0">
                <a:ln>
                  <a:solidFill>
                    <a:srgbClr val="5B9BD5">
                      <a:alpha val="0"/>
                    </a:srgbClr>
                  </a:solidFill>
                </a:ln>
                <a:cs typeface="Arial" panose="020B0604020202020204" pitchFamily="34" charset="0"/>
              </a:rPr>
              <a:t>마다 모든 산출물이 누락없이 작성되었는가</a:t>
            </a:r>
            <a:r>
              <a:rPr lang="en-US" altLang="ko-KR" sz="1600" spc="-133" dirty="0">
                <a:ln>
                  <a:solidFill>
                    <a:srgbClr val="5B9BD5">
                      <a:alpha val="0"/>
                    </a:srgbClr>
                  </a:solidFill>
                </a:ln>
                <a:cs typeface="Arial" panose="020B0604020202020204" pitchFamily="34" charset="0"/>
              </a:rPr>
              <a:t>?</a:t>
            </a:r>
          </a:p>
          <a:p>
            <a:pPr defTabSz="953419">
              <a:lnSpc>
                <a:spcPct val="110000"/>
              </a:lnSpc>
              <a:buFontTx/>
              <a:buChar char="-"/>
            </a:pPr>
            <a:r>
              <a:rPr lang="ko-KR" altLang="en-US" sz="1600" spc="-133" dirty="0">
                <a:ln>
                  <a:solidFill>
                    <a:srgbClr val="5B9BD5">
                      <a:alpha val="0"/>
                    </a:srgbClr>
                  </a:solidFill>
                </a:ln>
                <a:cs typeface="Arial" panose="020B0604020202020204" pitchFamily="34" charset="0"/>
              </a:rPr>
              <a:t>산출물 간의 연관성을 고려하여</a:t>
            </a:r>
            <a:r>
              <a:rPr lang="en-US" altLang="ko-KR" sz="1600" spc="-133" dirty="0">
                <a:ln>
                  <a:solidFill>
                    <a:srgbClr val="5B9BD5">
                      <a:alpha val="0"/>
                    </a:srgbClr>
                  </a:solidFill>
                </a:ln>
                <a:cs typeface="Arial" panose="020B0604020202020204" pitchFamily="34" charset="0"/>
              </a:rPr>
              <a:t> </a:t>
            </a:r>
            <a:r>
              <a:rPr lang="ko-KR" altLang="en-US" sz="1600" spc="-133" dirty="0">
                <a:ln>
                  <a:solidFill>
                    <a:srgbClr val="5B9BD5">
                      <a:alpha val="0"/>
                    </a:srgbClr>
                  </a:solidFill>
                </a:ln>
                <a:cs typeface="Arial" panose="020B0604020202020204" pitchFamily="34" charset="0"/>
              </a:rPr>
              <a:t>작성하였는가</a:t>
            </a:r>
            <a:r>
              <a:rPr lang="en-US" altLang="ko-KR" sz="1600" spc="-133" dirty="0">
                <a:ln>
                  <a:solidFill>
                    <a:srgbClr val="5B9BD5">
                      <a:alpha val="0"/>
                    </a:srgbClr>
                  </a:solidFill>
                </a:ln>
                <a:cs typeface="Arial" panose="020B0604020202020204" pitchFamily="34" charset="0"/>
              </a:rPr>
              <a:t>?</a:t>
            </a:r>
          </a:p>
          <a:p>
            <a:pPr defTabSz="953419">
              <a:lnSpc>
                <a:spcPct val="110000"/>
              </a:lnSpc>
              <a:buFontTx/>
              <a:buChar char="-"/>
            </a:pPr>
            <a:r>
              <a:rPr lang="ko-KR" altLang="en-US" sz="1600" spc="-133" dirty="0">
                <a:ln>
                  <a:solidFill>
                    <a:srgbClr val="5B9BD5">
                      <a:alpha val="0"/>
                    </a:srgbClr>
                  </a:solidFill>
                </a:ln>
                <a:cs typeface="Arial" panose="020B0604020202020204" pitchFamily="34" charset="0"/>
              </a:rPr>
              <a:t>모든 조원이 활발히 참여했는가</a:t>
            </a:r>
            <a:r>
              <a:rPr lang="en-US" altLang="ko-KR" sz="1600" spc="-133" dirty="0">
                <a:ln>
                  <a:solidFill>
                    <a:srgbClr val="5B9BD5">
                      <a:alpha val="0"/>
                    </a:srgbClr>
                  </a:solidFill>
                </a:ln>
                <a:cs typeface="Arial" panose="020B0604020202020204" pitchFamily="34" charset="0"/>
              </a:rPr>
              <a:t>?</a:t>
            </a:r>
            <a:endParaRPr lang="ko-KR" altLang="en-US" sz="1600" spc="-133" dirty="0">
              <a:ln>
                <a:solidFill>
                  <a:srgbClr val="5B9BD5">
                    <a:alpha val="0"/>
                  </a:srgbClr>
                </a:solidFill>
              </a:ln>
              <a:cs typeface="Arial" panose="020B0604020202020204" pitchFamily="34" charset="0"/>
            </a:endParaRPr>
          </a:p>
        </p:txBody>
      </p:sp>
    </p:spTree>
    <p:extLst>
      <p:ext uri="{BB962C8B-B14F-4D97-AF65-F5344CB8AC3E}">
        <p14:creationId xmlns:p14="http://schemas.microsoft.com/office/powerpoint/2010/main" val="14705942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제목 3">
            <a:extLst>
              <a:ext uri="{FF2B5EF4-FFF2-40B4-BE49-F238E27FC236}">
                <a16:creationId xmlns:a16="http://schemas.microsoft.com/office/drawing/2014/main" xmlns="" id="{A43F79C2-F77C-474C-A355-DF2D6914C2C6}"/>
              </a:ext>
            </a:extLst>
          </p:cNvPr>
          <p:cNvSpPr txBox="1">
            <a:spLocks/>
          </p:cNvSpPr>
          <p:nvPr/>
        </p:nvSpPr>
        <p:spPr>
          <a:xfrm>
            <a:off x="475200" y="-1638"/>
            <a:ext cx="11240293" cy="708708"/>
          </a:xfrm>
          <a:prstGeom prst="rect">
            <a:avLst/>
          </a:prstGeom>
        </p:spPr>
        <p:txBody>
          <a:bodyPr vert="horz" lIns="101233" tIns="50617" rIns="101233" bIns="50617" rtlCol="0" anchor="ctr">
            <a:normAutofit/>
          </a:bodyPr>
          <a:lstStyle>
            <a:lvl1pPr algn="l" defTabSz="914400" rtl="0" eaLnBrk="1" latinLnBrk="1" hangingPunct="1">
              <a:spcBef>
                <a:spcPct val="0"/>
              </a:spcBef>
              <a:buNone/>
              <a:defRPr lang="ko-KR" altLang="en-US" sz="2200" b="1" kern="1200" spc="-100" baseline="0" dirty="0">
                <a:ln>
                  <a:solidFill>
                    <a:srgbClr val="2A2D72">
                      <a:alpha val="5000"/>
                    </a:srgbClr>
                  </a:solidFill>
                </a:ln>
                <a:solidFill>
                  <a:schemeClr val="bg1"/>
                </a:solidFill>
                <a:latin typeface="+mj-ea"/>
                <a:ea typeface="+mj-ea"/>
                <a:cs typeface="Arial" panose="020B0604020202020204" pitchFamily="34" charset="0"/>
              </a:defRPr>
            </a:lvl1pPr>
          </a:lstStyle>
          <a:p>
            <a:r>
              <a:rPr lang="en-US" altLang="ko-KR" sz="2400" dirty="0">
                <a:ln>
                  <a:solidFill>
                    <a:srgbClr val="5B9BD5">
                      <a:alpha val="0"/>
                    </a:srgbClr>
                  </a:solidFill>
                </a:ln>
                <a:solidFill>
                  <a:schemeClr val="accent6">
                    <a:lumMod val="60000"/>
                    <a:lumOff val="40000"/>
                  </a:schemeClr>
                </a:solidFill>
              </a:rPr>
              <a:t>[02 OOAD] </a:t>
            </a:r>
            <a:r>
              <a:rPr lang="en-US" altLang="ko-KR" sz="2400" dirty="0"/>
              <a:t>Iteration1~2 </a:t>
            </a:r>
            <a:r>
              <a:rPr lang="ko-KR" altLang="en-US" sz="2400" dirty="0"/>
              <a:t>실습 범위</a:t>
            </a:r>
          </a:p>
        </p:txBody>
      </p:sp>
      <p:sp>
        <p:nvSpPr>
          <p:cNvPr id="61" name="내용 개체 틀 1"/>
          <p:cNvSpPr>
            <a:spLocks noGrp="1"/>
          </p:cNvSpPr>
          <p:nvPr>
            <p:ph idx="1"/>
          </p:nvPr>
        </p:nvSpPr>
        <p:spPr>
          <a:xfrm>
            <a:off x="527381" y="931147"/>
            <a:ext cx="11617291" cy="672075"/>
          </a:xfrm>
        </p:spPr>
        <p:txBody>
          <a:bodyPr>
            <a:normAutofit/>
          </a:bodyPr>
          <a:lstStyle/>
          <a:p>
            <a:r>
              <a:rPr lang="en-US" altLang="ko-KR" b="1" dirty="0"/>
              <a:t>System Overview</a:t>
            </a:r>
          </a:p>
        </p:txBody>
      </p:sp>
      <p:sp>
        <p:nvSpPr>
          <p:cNvPr id="65" name="내용 개체 틀 1"/>
          <p:cNvSpPr txBox="1">
            <a:spLocks/>
          </p:cNvSpPr>
          <p:nvPr/>
        </p:nvSpPr>
        <p:spPr>
          <a:xfrm>
            <a:off x="5068009" y="1189927"/>
            <a:ext cx="2785820" cy="413295"/>
          </a:xfrm>
          <a:prstGeom prst="rect">
            <a:avLst/>
          </a:prstGeom>
        </p:spPr>
        <p:txBody>
          <a:bodyPr vert="horz" lIns="121917" tIns="60958" rIns="121917" bIns="60958" rtlCol="0">
            <a:noAutofit/>
          </a:bodyPr>
          <a:lstStyle>
            <a:lvl1pPr marL="271463"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2000" kern="1200" spc="-120" baseline="0">
                <a:solidFill>
                  <a:schemeClr val="tx1"/>
                </a:solidFill>
                <a:latin typeface="맑은 고딕" panose="020B0503020000020004" pitchFamily="50" charset="-127"/>
                <a:ea typeface="맑은 고딕" panose="020B0503020000020004" pitchFamily="50" charset="-127"/>
                <a:cs typeface="+mn-cs"/>
              </a:defRPr>
            </a:lvl1pPr>
            <a:lvl2pPr marL="541338"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800" kern="1200" spc="-120" baseline="0">
                <a:solidFill>
                  <a:schemeClr val="tx1"/>
                </a:solidFill>
                <a:latin typeface="맑은 고딕" panose="020B0503020000020004" pitchFamily="50" charset="-127"/>
                <a:ea typeface="맑은 고딕" panose="020B0503020000020004" pitchFamily="50" charset="-127"/>
                <a:cs typeface="+mn-cs"/>
              </a:defRPr>
            </a:lvl2pPr>
            <a:lvl3pPr marL="804863"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500" kern="1200" spc="-120" baseline="0">
                <a:solidFill>
                  <a:schemeClr val="tx1"/>
                </a:solidFill>
                <a:latin typeface="맑은 고딕" panose="020B0503020000020004" pitchFamily="50" charset="-127"/>
                <a:ea typeface="맑은 고딕" panose="020B0503020000020004" pitchFamily="50" charset="-127"/>
                <a:cs typeface="+mn-cs"/>
              </a:defRPr>
            </a:lvl3pPr>
            <a:lvl4pPr marL="1074738"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200" kern="1200" spc="-120" baseline="0">
                <a:solidFill>
                  <a:schemeClr val="tx1"/>
                </a:solidFill>
                <a:latin typeface="맑은 고딕" panose="020B0503020000020004" pitchFamily="50" charset="-127"/>
                <a:ea typeface="맑은 고딕" panose="020B0503020000020004" pitchFamily="50" charset="-127"/>
                <a:cs typeface="+mn-cs"/>
              </a:defRPr>
            </a:lvl4pPr>
            <a:lvl5pPr marL="134620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000" kern="1200" spc="-120" baseline="0">
                <a:solidFill>
                  <a:schemeClr val="tx1"/>
                </a:solidFill>
                <a:latin typeface="맑은 고딕" panose="020B0503020000020004" pitchFamily="50" charset="-127"/>
                <a:ea typeface="맑은 고딕" panose="020B0503020000020004" pitchFamily="50"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21948" indent="0" algn="ctr">
              <a:buNone/>
            </a:pPr>
            <a:r>
              <a:rPr lang="en-US" altLang="ko-KR" sz="1900" dirty="0">
                <a:solidFill>
                  <a:srgbClr val="2A2D72"/>
                </a:solidFill>
              </a:rPr>
              <a:t>[</a:t>
            </a:r>
            <a:r>
              <a:rPr lang="ko-KR" altLang="en-US" sz="1900" dirty="0">
                <a:solidFill>
                  <a:srgbClr val="2A2D72"/>
                </a:solidFill>
              </a:rPr>
              <a:t>개발 범위</a:t>
            </a:r>
            <a:r>
              <a:rPr lang="en-US" altLang="ko-KR" sz="1900" dirty="0">
                <a:solidFill>
                  <a:srgbClr val="2A2D72"/>
                </a:solidFill>
              </a:rPr>
              <a:t>] </a:t>
            </a:r>
          </a:p>
        </p:txBody>
      </p:sp>
      <p:sp>
        <p:nvSpPr>
          <p:cNvPr id="66" name="직사각형 65"/>
          <p:cNvSpPr/>
          <p:nvPr/>
        </p:nvSpPr>
        <p:spPr>
          <a:xfrm>
            <a:off x="5020759" y="1699085"/>
            <a:ext cx="3072341" cy="23042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ko-KR" altLang="en-US"/>
          </a:p>
        </p:txBody>
      </p:sp>
      <p:sp>
        <p:nvSpPr>
          <p:cNvPr id="67" name="내용 개체 틀 1"/>
          <p:cNvSpPr txBox="1">
            <a:spLocks/>
          </p:cNvSpPr>
          <p:nvPr/>
        </p:nvSpPr>
        <p:spPr>
          <a:xfrm>
            <a:off x="5077653" y="3244647"/>
            <a:ext cx="2808561" cy="511669"/>
          </a:xfrm>
          <a:prstGeom prst="rect">
            <a:avLst/>
          </a:prstGeom>
        </p:spPr>
        <p:txBody>
          <a:bodyPr vert="horz" lIns="121917" tIns="60958" rIns="121917" bIns="60958" rtlCol="0">
            <a:noAutofit/>
          </a:bodyPr>
          <a:lstStyle>
            <a:lvl1pPr marL="271463"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2000" kern="1200" spc="-120" baseline="0">
                <a:solidFill>
                  <a:schemeClr val="tx1"/>
                </a:solidFill>
                <a:latin typeface="맑은 고딕" panose="020B0503020000020004" pitchFamily="50" charset="-127"/>
                <a:ea typeface="맑은 고딕" panose="020B0503020000020004" pitchFamily="50" charset="-127"/>
                <a:cs typeface="+mn-cs"/>
              </a:defRPr>
            </a:lvl1pPr>
            <a:lvl2pPr marL="541338"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800" kern="1200" spc="-120" baseline="0">
                <a:solidFill>
                  <a:schemeClr val="tx1"/>
                </a:solidFill>
                <a:latin typeface="맑은 고딕" panose="020B0503020000020004" pitchFamily="50" charset="-127"/>
                <a:ea typeface="맑은 고딕" panose="020B0503020000020004" pitchFamily="50" charset="-127"/>
                <a:cs typeface="+mn-cs"/>
              </a:defRPr>
            </a:lvl2pPr>
            <a:lvl3pPr marL="804863"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500" kern="1200" spc="-120" baseline="0">
                <a:solidFill>
                  <a:schemeClr val="tx1"/>
                </a:solidFill>
                <a:latin typeface="맑은 고딕" panose="020B0503020000020004" pitchFamily="50" charset="-127"/>
                <a:ea typeface="맑은 고딕" panose="020B0503020000020004" pitchFamily="50" charset="-127"/>
                <a:cs typeface="+mn-cs"/>
              </a:defRPr>
            </a:lvl3pPr>
            <a:lvl4pPr marL="1074738"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200" kern="1200" spc="-120" baseline="0">
                <a:solidFill>
                  <a:schemeClr val="tx1"/>
                </a:solidFill>
                <a:latin typeface="맑은 고딕" panose="020B0503020000020004" pitchFamily="50" charset="-127"/>
                <a:ea typeface="맑은 고딕" panose="020B0503020000020004" pitchFamily="50" charset="-127"/>
                <a:cs typeface="+mn-cs"/>
              </a:defRPr>
            </a:lvl4pPr>
            <a:lvl5pPr marL="134620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000" kern="1200" spc="-120" baseline="0">
                <a:solidFill>
                  <a:schemeClr val="tx1"/>
                </a:solidFill>
                <a:latin typeface="맑은 고딕" panose="020B0503020000020004" pitchFamily="50" charset="-127"/>
                <a:ea typeface="맑은 고딕" panose="020B0503020000020004" pitchFamily="50"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21948" indent="0" algn="ctr">
              <a:buNone/>
            </a:pPr>
            <a:r>
              <a:rPr lang="ko-KR" altLang="en-US" sz="1600" dirty="0">
                <a:solidFill>
                  <a:srgbClr val="2A2D72"/>
                </a:solidFill>
              </a:rPr>
              <a:t>지역 상품권 결제 플랫폼</a:t>
            </a:r>
            <a:endParaRPr lang="en-US" altLang="ko-KR" sz="1600" dirty="0">
              <a:solidFill>
                <a:srgbClr val="2A2D72"/>
              </a:solidFill>
            </a:endParaRPr>
          </a:p>
        </p:txBody>
      </p:sp>
      <p:sp>
        <p:nvSpPr>
          <p:cNvPr id="68" name="내용 개체 틀 1"/>
          <p:cNvSpPr txBox="1">
            <a:spLocks/>
          </p:cNvSpPr>
          <p:nvPr/>
        </p:nvSpPr>
        <p:spPr>
          <a:xfrm>
            <a:off x="5068009" y="1189927"/>
            <a:ext cx="2785820" cy="413295"/>
          </a:xfrm>
          <a:prstGeom prst="rect">
            <a:avLst/>
          </a:prstGeom>
        </p:spPr>
        <p:txBody>
          <a:bodyPr vert="horz" lIns="121917" tIns="60958" rIns="121917" bIns="60958" rtlCol="0">
            <a:noAutofit/>
          </a:bodyPr>
          <a:lstStyle>
            <a:lvl1pPr marL="271463"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2000" kern="1200" spc="-120" baseline="0">
                <a:solidFill>
                  <a:schemeClr val="tx1"/>
                </a:solidFill>
                <a:latin typeface="맑은 고딕" panose="020B0503020000020004" pitchFamily="50" charset="-127"/>
                <a:ea typeface="맑은 고딕" panose="020B0503020000020004" pitchFamily="50" charset="-127"/>
                <a:cs typeface="+mn-cs"/>
              </a:defRPr>
            </a:lvl1pPr>
            <a:lvl2pPr marL="541338"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800" kern="1200" spc="-120" baseline="0">
                <a:solidFill>
                  <a:schemeClr val="tx1"/>
                </a:solidFill>
                <a:latin typeface="맑은 고딕" panose="020B0503020000020004" pitchFamily="50" charset="-127"/>
                <a:ea typeface="맑은 고딕" panose="020B0503020000020004" pitchFamily="50" charset="-127"/>
                <a:cs typeface="+mn-cs"/>
              </a:defRPr>
            </a:lvl2pPr>
            <a:lvl3pPr marL="804863"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500" kern="1200" spc="-120" baseline="0">
                <a:solidFill>
                  <a:schemeClr val="tx1"/>
                </a:solidFill>
                <a:latin typeface="맑은 고딕" panose="020B0503020000020004" pitchFamily="50" charset="-127"/>
                <a:ea typeface="맑은 고딕" panose="020B0503020000020004" pitchFamily="50" charset="-127"/>
                <a:cs typeface="+mn-cs"/>
              </a:defRPr>
            </a:lvl3pPr>
            <a:lvl4pPr marL="1074738"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200" kern="1200" spc="-120" baseline="0">
                <a:solidFill>
                  <a:schemeClr val="tx1"/>
                </a:solidFill>
                <a:latin typeface="맑은 고딕" panose="020B0503020000020004" pitchFamily="50" charset="-127"/>
                <a:ea typeface="맑은 고딕" panose="020B0503020000020004" pitchFamily="50" charset="-127"/>
                <a:cs typeface="+mn-cs"/>
              </a:defRPr>
            </a:lvl4pPr>
            <a:lvl5pPr marL="134620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panose="020B0604020202020204" pitchFamily="34" charset="0"/>
              <a:buChar char="•"/>
              <a:defRPr sz="1000" kern="1200" spc="-120" baseline="0">
                <a:solidFill>
                  <a:schemeClr val="tx1"/>
                </a:solidFill>
                <a:latin typeface="맑은 고딕" panose="020B0503020000020004" pitchFamily="50" charset="-127"/>
                <a:ea typeface="맑은 고딕" panose="020B0503020000020004" pitchFamily="50"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21948" indent="0" algn="ctr">
              <a:buNone/>
            </a:pPr>
            <a:r>
              <a:rPr lang="en-US" altLang="ko-KR" sz="1900" dirty="0">
                <a:solidFill>
                  <a:srgbClr val="2A2D72"/>
                </a:solidFill>
              </a:rPr>
              <a:t>[</a:t>
            </a:r>
            <a:r>
              <a:rPr lang="ko-KR" altLang="en-US" sz="1900" dirty="0">
                <a:solidFill>
                  <a:srgbClr val="2A2D72"/>
                </a:solidFill>
              </a:rPr>
              <a:t>개발 범위</a:t>
            </a:r>
            <a:r>
              <a:rPr lang="en-US" altLang="ko-KR" sz="1900" dirty="0">
                <a:solidFill>
                  <a:srgbClr val="2A2D72"/>
                </a:solidFill>
              </a:rPr>
              <a:t>] </a:t>
            </a:r>
          </a:p>
        </p:txBody>
      </p:sp>
      <p:sp>
        <p:nvSpPr>
          <p:cNvPr id="69" name="TextBox 68"/>
          <p:cNvSpPr txBox="1"/>
          <p:nvPr/>
        </p:nvSpPr>
        <p:spPr>
          <a:xfrm>
            <a:off x="3032129" y="1621056"/>
            <a:ext cx="2091580" cy="969492"/>
          </a:xfrm>
          <a:prstGeom prst="rect">
            <a:avLst/>
          </a:prstGeom>
          <a:noFill/>
        </p:spPr>
        <p:txBody>
          <a:bodyPr wrap="square" lIns="121917" tIns="60958" rIns="121917" bIns="60958" rtlCol="0">
            <a:spAutoFit/>
          </a:bodyPr>
          <a:lstStyle/>
          <a:p>
            <a:pPr marL="228594" indent="-228594">
              <a:buFont typeface="Wingdings" panose="05000000000000000000" pitchFamily="2" charset="2"/>
              <a:buChar char="ü"/>
            </a:pPr>
            <a:r>
              <a:rPr lang="ko-KR" altLang="en-US" sz="1100" dirty="0"/>
              <a:t>가맹점 위치 정보 제공</a:t>
            </a:r>
          </a:p>
          <a:p>
            <a:pPr marL="228594" indent="-228594">
              <a:buFont typeface="Wingdings" panose="05000000000000000000" pitchFamily="2" charset="2"/>
              <a:buChar char="ü"/>
            </a:pPr>
            <a:r>
              <a:rPr lang="ko-KR" altLang="en-US" sz="1100" dirty="0"/>
              <a:t>위치 기반 가맹점 검색</a:t>
            </a:r>
          </a:p>
          <a:p>
            <a:pPr marL="228594" indent="-228594">
              <a:buFont typeface="Wingdings" panose="05000000000000000000" pitchFamily="2" charset="2"/>
              <a:buChar char="ü"/>
            </a:pPr>
            <a:r>
              <a:rPr lang="ko-KR" altLang="en-US" sz="1100" dirty="0"/>
              <a:t>지역 정보 및 이벤트 조회</a:t>
            </a:r>
          </a:p>
          <a:p>
            <a:pPr marL="228594" indent="-228594">
              <a:buFont typeface="Wingdings" panose="05000000000000000000" pitchFamily="2" charset="2"/>
              <a:buChar char="ü"/>
            </a:pPr>
            <a:r>
              <a:rPr lang="ko-KR" altLang="en-US" sz="1100" dirty="0"/>
              <a:t>지역 상품권 구매 환불</a:t>
            </a:r>
          </a:p>
          <a:p>
            <a:pPr marL="228594" indent="-228594">
              <a:buFont typeface="Wingdings" panose="05000000000000000000" pitchFamily="2" charset="2"/>
              <a:buChar char="ü"/>
            </a:pPr>
            <a:r>
              <a:rPr lang="ko-KR" altLang="en-US" sz="1100" dirty="0"/>
              <a:t>사용 내역 조회</a:t>
            </a:r>
          </a:p>
        </p:txBody>
      </p:sp>
      <p:sp>
        <p:nvSpPr>
          <p:cNvPr id="70" name="TextBox 69"/>
          <p:cNvSpPr txBox="1"/>
          <p:nvPr/>
        </p:nvSpPr>
        <p:spPr>
          <a:xfrm>
            <a:off x="10050458" y="2752605"/>
            <a:ext cx="1448449" cy="328295"/>
          </a:xfrm>
          <a:prstGeom prst="rect">
            <a:avLst/>
          </a:prstGeom>
          <a:noFill/>
        </p:spPr>
        <p:txBody>
          <a:bodyPr wrap="square" lIns="121917" tIns="60958" rIns="121917" bIns="60958" rtlCol="0">
            <a:spAutoFit/>
          </a:bodyPr>
          <a:lstStyle/>
          <a:p>
            <a:pPr algn="ctr"/>
            <a:r>
              <a:rPr lang="ko-KR" altLang="en-US" sz="1300" dirty="0"/>
              <a:t>금융 시스템</a:t>
            </a:r>
          </a:p>
        </p:txBody>
      </p:sp>
      <p:cxnSp>
        <p:nvCxnSpPr>
          <p:cNvPr id="71" name="직선 화살표 연결선 70"/>
          <p:cNvCxnSpPr/>
          <p:nvPr/>
        </p:nvCxnSpPr>
        <p:spPr>
          <a:xfrm>
            <a:off x="7853828" y="2564904"/>
            <a:ext cx="2159869" cy="0"/>
          </a:xfrm>
          <a:prstGeom prst="straightConnector1">
            <a:avLst/>
          </a:prstGeom>
          <a:ln w="12700">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8189987" y="1894751"/>
            <a:ext cx="1565615" cy="461661"/>
          </a:xfrm>
          <a:prstGeom prst="rect">
            <a:avLst/>
          </a:prstGeom>
          <a:noFill/>
        </p:spPr>
        <p:txBody>
          <a:bodyPr wrap="square" lIns="121917" tIns="60958" rIns="121917" bIns="60958" rtlCol="0">
            <a:spAutoFit/>
          </a:bodyPr>
          <a:lstStyle/>
          <a:p>
            <a:pPr marL="228594" indent="-228594">
              <a:buFont typeface="Wingdings" panose="05000000000000000000" pitchFamily="2" charset="2"/>
              <a:buChar char="ü"/>
            </a:pPr>
            <a:r>
              <a:rPr lang="ko-KR" altLang="en-US" sz="1100" dirty="0"/>
              <a:t>은행 계좌 연동</a:t>
            </a:r>
            <a:endParaRPr lang="en-US" altLang="ko-KR" sz="1100" dirty="0"/>
          </a:p>
          <a:p>
            <a:pPr marL="228594" indent="-228594">
              <a:buFont typeface="Wingdings" panose="05000000000000000000" pitchFamily="2" charset="2"/>
              <a:buChar char="ü"/>
            </a:pPr>
            <a:r>
              <a:rPr lang="ko-KR" altLang="en-US" sz="1100" dirty="0"/>
              <a:t>카드사 연계</a:t>
            </a:r>
            <a:endParaRPr lang="en-US" altLang="ko-KR" sz="1100" dirty="0"/>
          </a:p>
        </p:txBody>
      </p:sp>
      <p:sp>
        <p:nvSpPr>
          <p:cNvPr id="73" name="TextBox 72"/>
          <p:cNvSpPr txBox="1"/>
          <p:nvPr/>
        </p:nvSpPr>
        <p:spPr>
          <a:xfrm>
            <a:off x="1495006" y="3050082"/>
            <a:ext cx="1071239" cy="328295"/>
          </a:xfrm>
          <a:prstGeom prst="rect">
            <a:avLst/>
          </a:prstGeom>
          <a:noFill/>
        </p:spPr>
        <p:txBody>
          <a:bodyPr wrap="square" lIns="121917" tIns="60958" rIns="121917" bIns="60958" rtlCol="0">
            <a:spAutoFit/>
          </a:bodyPr>
          <a:lstStyle/>
          <a:p>
            <a:pPr algn="ctr"/>
            <a:r>
              <a:rPr lang="ko-KR" altLang="en-US" sz="1300" dirty="0"/>
              <a:t>사용자</a:t>
            </a:r>
          </a:p>
        </p:txBody>
      </p:sp>
      <p:sp>
        <p:nvSpPr>
          <p:cNvPr id="74" name="TextBox 73"/>
          <p:cNvSpPr txBox="1"/>
          <p:nvPr/>
        </p:nvSpPr>
        <p:spPr>
          <a:xfrm>
            <a:off x="1455547" y="5533869"/>
            <a:ext cx="1071239" cy="328295"/>
          </a:xfrm>
          <a:prstGeom prst="rect">
            <a:avLst/>
          </a:prstGeom>
          <a:noFill/>
        </p:spPr>
        <p:txBody>
          <a:bodyPr wrap="square" lIns="121917" tIns="60958" rIns="121917" bIns="60958" rtlCol="0">
            <a:spAutoFit/>
          </a:bodyPr>
          <a:lstStyle/>
          <a:p>
            <a:pPr algn="ctr"/>
            <a:r>
              <a:rPr lang="ko-KR" altLang="en-US" sz="1300" dirty="0"/>
              <a:t>가맹점주</a:t>
            </a:r>
          </a:p>
        </p:txBody>
      </p:sp>
      <p:cxnSp>
        <p:nvCxnSpPr>
          <p:cNvPr id="75" name="직선 화살표 연결선 74"/>
          <p:cNvCxnSpPr/>
          <p:nvPr/>
        </p:nvCxnSpPr>
        <p:spPr>
          <a:xfrm flipV="1">
            <a:off x="3071904" y="2564905"/>
            <a:ext cx="2160000" cy="199"/>
          </a:xfrm>
          <a:prstGeom prst="straightConnector1">
            <a:avLst/>
          </a:prstGeom>
          <a:ln w="12700">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a:cxnSpLocks/>
          </p:cNvCxnSpPr>
          <p:nvPr/>
        </p:nvCxnSpPr>
        <p:spPr>
          <a:xfrm flipV="1">
            <a:off x="3071904" y="3717032"/>
            <a:ext cx="2160000" cy="1148091"/>
          </a:xfrm>
          <a:prstGeom prst="straightConnector1">
            <a:avLst/>
          </a:prstGeom>
          <a:ln w="12700">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2617293" y="3423575"/>
            <a:ext cx="1968969" cy="969492"/>
          </a:xfrm>
          <a:prstGeom prst="rect">
            <a:avLst/>
          </a:prstGeom>
          <a:noFill/>
        </p:spPr>
        <p:txBody>
          <a:bodyPr wrap="square" lIns="121917" tIns="60958" rIns="121917" bIns="60958" rtlCol="0">
            <a:spAutoFit/>
          </a:bodyPr>
          <a:lstStyle/>
          <a:p>
            <a:pPr marL="228594" indent="-228594">
              <a:buFont typeface="Wingdings" panose="05000000000000000000" pitchFamily="2" charset="2"/>
              <a:buChar char="ü"/>
            </a:pPr>
            <a:r>
              <a:rPr lang="ko-KR" altLang="en-US" sz="1100" dirty="0"/>
              <a:t>가맹점 등록 해지</a:t>
            </a:r>
            <a:endParaRPr lang="en-US" altLang="ko-KR" sz="1100" dirty="0"/>
          </a:p>
          <a:p>
            <a:pPr marL="228594" indent="-228594">
              <a:buFont typeface="Wingdings" panose="05000000000000000000" pitchFamily="2" charset="2"/>
              <a:buChar char="ü"/>
            </a:pPr>
            <a:r>
              <a:rPr lang="ko-KR" altLang="en-US" sz="1100" dirty="0"/>
              <a:t>결제 승인 요청</a:t>
            </a:r>
          </a:p>
          <a:p>
            <a:pPr marL="228594" indent="-228594">
              <a:buFont typeface="Wingdings" panose="05000000000000000000" pitchFamily="2" charset="2"/>
              <a:buChar char="ü"/>
            </a:pPr>
            <a:r>
              <a:rPr lang="ko-KR" altLang="en-US" sz="1100" dirty="0"/>
              <a:t>이벤트 </a:t>
            </a:r>
            <a:r>
              <a:rPr lang="en-US" altLang="ko-KR" sz="1100" dirty="0"/>
              <a:t>/ </a:t>
            </a:r>
            <a:r>
              <a:rPr lang="ko-KR" altLang="en-US" sz="1100" dirty="0"/>
              <a:t>할인 정보 등록</a:t>
            </a:r>
          </a:p>
          <a:p>
            <a:pPr marL="228594" indent="-228594">
              <a:buFont typeface="Wingdings" panose="05000000000000000000" pitchFamily="2" charset="2"/>
              <a:buChar char="ü"/>
            </a:pPr>
            <a:r>
              <a:rPr lang="ko-KR" altLang="en-US" sz="1100" dirty="0"/>
              <a:t>가맹점 정보 업데이트</a:t>
            </a:r>
          </a:p>
        </p:txBody>
      </p:sp>
      <p:pic>
        <p:nvPicPr>
          <p:cNvPr id="78" name="그림 77"/>
          <p:cNvPicPr>
            <a:picLocks noChangeAspect="1"/>
          </p:cNvPicPr>
          <p:nvPr/>
        </p:nvPicPr>
        <p:blipFill>
          <a:blip r:embed="rId3"/>
          <a:stretch>
            <a:fillRect/>
          </a:stretch>
        </p:blipFill>
        <p:spPr>
          <a:xfrm>
            <a:off x="9886622" y="881424"/>
            <a:ext cx="1831999" cy="1807893"/>
          </a:xfrm>
          <a:prstGeom prst="rect">
            <a:avLst/>
          </a:prstGeom>
        </p:spPr>
      </p:pic>
      <p:pic>
        <p:nvPicPr>
          <p:cNvPr id="79" name="그림 78"/>
          <p:cNvPicPr>
            <a:picLocks noChangeAspect="1"/>
          </p:cNvPicPr>
          <p:nvPr/>
        </p:nvPicPr>
        <p:blipFill>
          <a:blip r:embed="rId4"/>
          <a:stretch>
            <a:fillRect/>
          </a:stretch>
        </p:blipFill>
        <p:spPr>
          <a:xfrm>
            <a:off x="5829827" y="1785371"/>
            <a:ext cx="1454204" cy="1454204"/>
          </a:xfrm>
          <a:prstGeom prst="rect">
            <a:avLst/>
          </a:prstGeom>
        </p:spPr>
      </p:pic>
      <p:pic>
        <p:nvPicPr>
          <p:cNvPr id="80" name="그림 79"/>
          <p:cNvPicPr>
            <a:picLocks noChangeAspect="1"/>
          </p:cNvPicPr>
          <p:nvPr/>
        </p:nvPicPr>
        <p:blipFill>
          <a:blip r:embed="rId5"/>
          <a:stretch>
            <a:fillRect/>
          </a:stretch>
        </p:blipFill>
        <p:spPr>
          <a:xfrm>
            <a:off x="1223708" y="4195158"/>
            <a:ext cx="1613832" cy="1270463"/>
          </a:xfrm>
          <a:prstGeom prst="rect">
            <a:avLst/>
          </a:prstGeom>
        </p:spPr>
      </p:pic>
      <p:pic>
        <p:nvPicPr>
          <p:cNvPr id="81" name="그림 80"/>
          <p:cNvPicPr>
            <a:picLocks noChangeAspect="1"/>
          </p:cNvPicPr>
          <p:nvPr/>
        </p:nvPicPr>
        <p:blipFill>
          <a:blip r:embed="rId6"/>
          <a:stretch>
            <a:fillRect/>
          </a:stretch>
        </p:blipFill>
        <p:spPr>
          <a:xfrm>
            <a:off x="889806" y="2285703"/>
            <a:ext cx="2122804" cy="705075"/>
          </a:xfrm>
          <a:prstGeom prst="rect">
            <a:avLst/>
          </a:prstGeom>
        </p:spPr>
      </p:pic>
      <p:sp>
        <p:nvSpPr>
          <p:cNvPr id="82" name="TextBox 81"/>
          <p:cNvSpPr txBox="1"/>
          <p:nvPr/>
        </p:nvSpPr>
        <p:spPr>
          <a:xfrm>
            <a:off x="3780381" y="4440538"/>
            <a:ext cx="1968969" cy="630938"/>
          </a:xfrm>
          <a:prstGeom prst="rect">
            <a:avLst/>
          </a:prstGeom>
          <a:noFill/>
        </p:spPr>
        <p:txBody>
          <a:bodyPr wrap="square" lIns="121917" tIns="60958" rIns="121917" bIns="60958" rtlCol="0">
            <a:spAutoFit/>
          </a:bodyPr>
          <a:lstStyle/>
          <a:p>
            <a:pPr marL="228594" indent="-228594">
              <a:buFont typeface="Wingdings" panose="05000000000000000000" pitchFamily="2" charset="2"/>
              <a:buChar char="ü"/>
            </a:pPr>
            <a:r>
              <a:rPr lang="ko-KR" altLang="en-US" sz="1100" dirty="0"/>
              <a:t>가맹점 승인</a:t>
            </a:r>
          </a:p>
          <a:p>
            <a:pPr marL="228594" indent="-228594">
              <a:buFont typeface="Wingdings" panose="05000000000000000000" pitchFamily="2" charset="2"/>
              <a:buChar char="ü"/>
            </a:pPr>
            <a:r>
              <a:rPr lang="ko-KR" altLang="en-US" sz="1100" dirty="0"/>
              <a:t>실시간 결제 승인 처리</a:t>
            </a:r>
          </a:p>
          <a:p>
            <a:pPr marL="228594" indent="-228594">
              <a:buFont typeface="Wingdings" panose="05000000000000000000" pitchFamily="2" charset="2"/>
              <a:buChar char="ü"/>
            </a:pPr>
            <a:r>
              <a:rPr lang="ko-KR" altLang="en-US" sz="1100" dirty="0"/>
              <a:t>정산</a:t>
            </a:r>
          </a:p>
        </p:txBody>
      </p:sp>
      <p:cxnSp>
        <p:nvCxnSpPr>
          <p:cNvPr id="83" name="직선 화살표 연결선 82"/>
          <p:cNvCxnSpPr/>
          <p:nvPr/>
        </p:nvCxnSpPr>
        <p:spPr>
          <a:xfrm>
            <a:off x="7895134" y="3717519"/>
            <a:ext cx="2155324" cy="983983"/>
          </a:xfrm>
          <a:prstGeom prst="straightConnector1">
            <a:avLst/>
          </a:prstGeom>
          <a:ln w="12700">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10050457" y="4529019"/>
            <a:ext cx="1448449" cy="738664"/>
          </a:xfrm>
          <a:prstGeom prst="rect">
            <a:avLst/>
          </a:prstGeom>
          <a:noFill/>
          <a:ln w="19050">
            <a:solidFill>
              <a:schemeClr val="tx1"/>
            </a:solidFill>
          </a:ln>
        </p:spPr>
        <p:txBody>
          <a:bodyPr wrap="square" lIns="121917" tIns="60958" rIns="121917" bIns="60958" rtlCol="0">
            <a:spAutoFit/>
          </a:bodyPr>
          <a:lstStyle/>
          <a:p>
            <a:pPr algn="ctr"/>
            <a:r>
              <a:rPr lang="ko-KR" altLang="en-US" sz="1300" dirty="0"/>
              <a:t>지역 상품권</a:t>
            </a:r>
          </a:p>
          <a:p>
            <a:pPr algn="ctr"/>
            <a:r>
              <a:rPr lang="ko-KR" altLang="en-US" sz="1300" dirty="0"/>
              <a:t>관리자</a:t>
            </a:r>
            <a:r>
              <a:rPr lang="en-US" altLang="ko-KR" sz="1300" dirty="0"/>
              <a:t/>
            </a:r>
            <a:br>
              <a:rPr lang="en-US" altLang="ko-KR" sz="1300" dirty="0"/>
            </a:br>
            <a:r>
              <a:rPr lang="en-US" altLang="ko-KR" sz="1300" dirty="0"/>
              <a:t>(</a:t>
            </a:r>
            <a:r>
              <a:rPr lang="ko-KR" altLang="en-US" sz="1300" dirty="0"/>
              <a:t>지자체</a:t>
            </a:r>
            <a:r>
              <a:rPr lang="en-US" altLang="ko-KR" sz="1300" dirty="0"/>
              <a:t>)</a:t>
            </a:r>
            <a:endParaRPr lang="ko-KR" altLang="en-US" sz="1300" dirty="0"/>
          </a:p>
        </p:txBody>
      </p:sp>
      <p:sp>
        <p:nvSpPr>
          <p:cNvPr id="85" name="TextBox 84"/>
          <p:cNvSpPr txBox="1"/>
          <p:nvPr/>
        </p:nvSpPr>
        <p:spPr>
          <a:xfrm>
            <a:off x="7970767" y="4376255"/>
            <a:ext cx="1925991" cy="800215"/>
          </a:xfrm>
          <a:prstGeom prst="rect">
            <a:avLst/>
          </a:prstGeom>
          <a:noFill/>
        </p:spPr>
        <p:txBody>
          <a:bodyPr wrap="square" lIns="121917" tIns="60958" rIns="121917" bIns="60958" rtlCol="0">
            <a:spAutoFit/>
          </a:bodyPr>
          <a:lstStyle/>
          <a:p>
            <a:pPr marL="228594" indent="-228594">
              <a:buFont typeface="Wingdings" panose="05000000000000000000" pitchFamily="2" charset="2"/>
              <a:buChar char="ü"/>
            </a:pPr>
            <a:r>
              <a:rPr lang="ko-KR" altLang="en-US" sz="1100" dirty="0"/>
              <a:t>공지 등록</a:t>
            </a:r>
          </a:p>
          <a:p>
            <a:pPr marL="228594" indent="-228594">
              <a:buFont typeface="Wingdings" panose="05000000000000000000" pitchFamily="2" charset="2"/>
              <a:buChar char="ü"/>
            </a:pPr>
            <a:r>
              <a:rPr lang="ko-KR" altLang="en-US" sz="1100" dirty="0"/>
              <a:t>캠페인 및 이벤트 등록</a:t>
            </a:r>
          </a:p>
          <a:p>
            <a:pPr marL="228594" indent="-228594">
              <a:buFont typeface="Wingdings" panose="05000000000000000000" pitchFamily="2" charset="2"/>
              <a:buChar char="ü"/>
            </a:pPr>
            <a:r>
              <a:rPr lang="ko-KR" altLang="en-US" sz="1100" dirty="0"/>
              <a:t>예산 배정</a:t>
            </a:r>
          </a:p>
          <a:p>
            <a:pPr marL="228594" indent="-228594">
              <a:buFont typeface="Wingdings" panose="05000000000000000000" pitchFamily="2" charset="2"/>
              <a:buChar char="ü"/>
            </a:pPr>
            <a:r>
              <a:rPr lang="ko-KR" altLang="en-US" sz="1100" dirty="0"/>
              <a:t>정책 설정</a:t>
            </a:r>
          </a:p>
        </p:txBody>
      </p:sp>
    </p:spTree>
    <p:extLst>
      <p:ext uri="{BB962C8B-B14F-4D97-AF65-F5344CB8AC3E}">
        <p14:creationId xmlns:p14="http://schemas.microsoft.com/office/powerpoint/2010/main" val="6868606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1"/>
          <p:cNvSpPr>
            <a:spLocks noGrp="1"/>
          </p:cNvSpPr>
          <p:nvPr>
            <p:ph idx="1"/>
          </p:nvPr>
        </p:nvSpPr>
        <p:spPr>
          <a:xfrm>
            <a:off x="527381" y="932723"/>
            <a:ext cx="11329259" cy="5664629"/>
          </a:xfrm>
        </p:spPr>
        <p:txBody>
          <a:bodyPr>
            <a:normAutofit/>
          </a:bodyPr>
          <a:lstStyle/>
          <a:p>
            <a:r>
              <a:rPr lang="en-US" altLang="ko-KR" sz="1900" b="1" spc="0" dirty="0">
                <a:solidFill>
                  <a:prstClr val="black"/>
                </a:solidFill>
                <a:latin typeface="맑은 고딕"/>
              </a:rPr>
              <a:t>System Information</a:t>
            </a:r>
          </a:p>
          <a:p>
            <a:pPr lvl="1"/>
            <a:r>
              <a:rPr lang="en-US" altLang="ko-KR" sz="1700" b="1" spc="0" dirty="0">
                <a:solidFill>
                  <a:prstClr val="black"/>
                </a:solidFill>
                <a:latin typeface="맑은 고딕"/>
              </a:rPr>
              <a:t>Actor</a:t>
            </a:r>
          </a:p>
          <a:p>
            <a:pPr lvl="2">
              <a:buFontTx/>
              <a:buChar char="-"/>
            </a:pPr>
            <a:r>
              <a:rPr lang="ko-KR" altLang="en-US" spc="0" dirty="0">
                <a:solidFill>
                  <a:prstClr val="black"/>
                </a:solidFill>
                <a:latin typeface="맑은 고딕"/>
              </a:rPr>
              <a:t>사용자</a:t>
            </a:r>
            <a:r>
              <a:rPr lang="en-US" altLang="ko-KR" spc="0" dirty="0">
                <a:solidFill>
                  <a:prstClr val="black"/>
                </a:solidFill>
                <a:latin typeface="맑은 고딕"/>
              </a:rPr>
              <a:t>, </a:t>
            </a:r>
            <a:r>
              <a:rPr lang="ko-KR" altLang="en-US" spc="0" dirty="0">
                <a:solidFill>
                  <a:prstClr val="black"/>
                </a:solidFill>
                <a:latin typeface="맑은 고딕"/>
              </a:rPr>
              <a:t>가맹점주</a:t>
            </a:r>
            <a:r>
              <a:rPr lang="en-US" altLang="ko-KR" spc="0" dirty="0">
                <a:solidFill>
                  <a:prstClr val="black"/>
                </a:solidFill>
                <a:latin typeface="맑은 고딕"/>
              </a:rPr>
              <a:t>, </a:t>
            </a:r>
            <a:r>
              <a:rPr lang="ko-KR" altLang="en-US" spc="0" dirty="0">
                <a:solidFill>
                  <a:prstClr val="black"/>
                </a:solidFill>
                <a:latin typeface="맑은 고딕"/>
              </a:rPr>
              <a:t>지역 상품권 관리자</a:t>
            </a:r>
            <a:endParaRPr lang="en-US" altLang="ko-KR" spc="0" dirty="0">
              <a:solidFill>
                <a:prstClr val="black"/>
              </a:solidFill>
              <a:latin typeface="맑은 고딕"/>
            </a:endParaRPr>
          </a:p>
          <a:p>
            <a:pPr lvl="1"/>
            <a:r>
              <a:rPr lang="en-US" altLang="ko-KR" sz="1700" b="1" spc="0" dirty="0">
                <a:solidFill>
                  <a:prstClr val="black"/>
                </a:solidFill>
                <a:latin typeface="맑은 고딕"/>
              </a:rPr>
              <a:t>Passive Actor</a:t>
            </a:r>
          </a:p>
          <a:p>
            <a:pPr lvl="2">
              <a:buFontTx/>
              <a:buChar char="-"/>
            </a:pPr>
            <a:r>
              <a:rPr lang="ko-KR" altLang="en-US" spc="0" dirty="0">
                <a:solidFill>
                  <a:prstClr val="black"/>
                </a:solidFill>
                <a:latin typeface="맑은 고딕"/>
              </a:rPr>
              <a:t>금융 시스템</a:t>
            </a:r>
            <a:endParaRPr lang="en-US" altLang="ko-KR" spc="0" dirty="0">
              <a:solidFill>
                <a:prstClr val="black"/>
              </a:solidFill>
              <a:latin typeface="맑은 고딕"/>
            </a:endParaRPr>
          </a:p>
          <a:p>
            <a:r>
              <a:rPr lang="en-US" altLang="ko-KR" sz="1900" b="1" spc="0" dirty="0">
                <a:solidFill>
                  <a:prstClr val="black"/>
                </a:solidFill>
                <a:latin typeface="맑은 고딕"/>
              </a:rPr>
              <a:t>Non Functional Requirements (NFR)</a:t>
            </a:r>
          </a:p>
          <a:p>
            <a:pPr lvl="1"/>
            <a:r>
              <a:rPr lang="en-US" altLang="ko-KR" sz="1700" b="1" spc="0" dirty="0">
                <a:solidFill>
                  <a:prstClr val="black"/>
                </a:solidFill>
                <a:latin typeface="맑은 고딕"/>
              </a:rPr>
              <a:t>Quality Attributes</a:t>
            </a:r>
          </a:p>
          <a:p>
            <a:pPr lvl="2">
              <a:buFontTx/>
              <a:buChar char="-"/>
            </a:pPr>
            <a:r>
              <a:rPr lang="en-US" altLang="ko-KR" spc="0" dirty="0">
                <a:solidFill>
                  <a:prstClr val="black"/>
                </a:solidFill>
                <a:latin typeface="맑은 고딕"/>
              </a:rPr>
              <a:t>20</a:t>
            </a:r>
            <a:r>
              <a:rPr lang="ko-KR" altLang="en-US" spc="0" dirty="0">
                <a:solidFill>
                  <a:prstClr val="black"/>
                </a:solidFill>
                <a:latin typeface="맑은 고딕"/>
              </a:rPr>
              <a:t>만명 이상의 사용자가 동시에 상품권 구매 시 </a:t>
            </a:r>
            <a:r>
              <a:rPr lang="ko-KR" altLang="en-US" spc="0" dirty="0" err="1">
                <a:solidFill>
                  <a:prstClr val="black"/>
                </a:solidFill>
                <a:latin typeface="맑은 고딕"/>
              </a:rPr>
              <a:t>무중단</a:t>
            </a:r>
            <a:r>
              <a:rPr lang="ko-KR" altLang="en-US" spc="0" dirty="0">
                <a:solidFill>
                  <a:prstClr val="black"/>
                </a:solidFill>
                <a:latin typeface="맑은 고딕"/>
              </a:rPr>
              <a:t> 서비스 지원</a:t>
            </a:r>
            <a:endParaRPr lang="en-US" altLang="ko-KR" spc="0" dirty="0">
              <a:solidFill>
                <a:prstClr val="black"/>
              </a:solidFill>
              <a:latin typeface="맑은 고딕"/>
            </a:endParaRPr>
          </a:p>
          <a:p>
            <a:pPr lvl="2">
              <a:buFontTx/>
              <a:buChar char="-"/>
            </a:pPr>
            <a:r>
              <a:rPr lang="en-US" altLang="ko-KR" spc="0" dirty="0">
                <a:solidFill>
                  <a:prstClr val="black"/>
                </a:solidFill>
                <a:latin typeface="맑은 고딕"/>
              </a:rPr>
              <a:t>20</a:t>
            </a:r>
            <a:r>
              <a:rPr lang="ko-KR" altLang="en-US" spc="0" dirty="0">
                <a:solidFill>
                  <a:prstClr val="black"/>
                </a:solidFill>
                <a:latin typeface="맑은 고딕"/>
              </a:rPr>
              <a:t>만명의 사용자가 동시에 상품권 구매 요청 시</a:t>
            </a:r>
            <a:r>
              <a:rPr lang="en-US" altLang="ko-KR" spc="0" dirty="0">
                <a:solidFill>
                  <a:prstClr val="black"/>
                </a:solidFill>
                <a:latin typeface="맑은 고딕"/>
              </a:rPr>
              <a:t>, </a:t>
            </a:r>
            <a:r>
              <a:rPr lang="ko-KR" altLang="en-US" spc="0" dirty="0">
                <a:solidFill>
                  <a:prstClr val="black"/>
                </a:solidFill>
                <a:latin typeface="맑은 고딕"/>
              </a:rPr>
              <a:t>평균 대기시간 </a:t>
            </a:r>
            <a:r>
              <a:rPr lang="en-US" altLang="ko-KR" spc="0" dirty="0">
                <a:solidFill>
                  <a:prstClr val="black"/>
                </a:solidFill>
                <a:latin typeface="맑은 고딕"/>
              </a:rPr>
              <a:t>5 </a:t>
            </a:r>
            <a:r>
              <a:rPr lang="ko-KR" altLang="en-US" spc="0" dirty="0">
                <a:solidFill>
                  <a:prstClr val="black"/>
                </a:solidFill>
                <a:latin typeface="맑은 고딕"/>
              </a:rPr>
              <a:t>분 이내</a:t>
            </a:r>
            <a:endParaRPr lang="en-US" altLang="ko-KR" spc="0" dirty="0">
              <a:solidFill>
                <a:prstClr val="black"/>
              </a:solidFill>
              <a:latin typeface="맑은 고딕"/>
            </a:endParaRPr>
          </a:p>
          <a:p>
            <a:pPr lvl="2">
              <a:buFontTx/>
              <a:buChar char="-"/>
            </a:pPr>
            <a:r>
              <a:rPr lang="ko-KR" altLang="en-US" spc="0" dirty="0" err="1">
                <a:solidFill>
                  <a:prstClr val="black"/>
                </a:solidFill>
                <a:latin typeface="맑은 고딕"/>
              </a:rPr>
              <a:t>지자체별</a:t>
            </a:r>
            <a:r>
              <a:rPr lang="ko-KR" altLang="en-US" spc="0" dirty="0">
                <a:solidFill>
                  <a:prstClr val="black"/>
                </a:solidFill>
                <a:latin typeface="맑은 고딕"/>
              </a:rPr>
              <a:t> 정책 변경 비용 최소화</a:t>
            </a:r>
            <a:endParaRPr lang="en-US" altLang="ko-KR" spc="0" dirty="0">
              <a:solidFill>
                <a:prstClr val="black"/>
              </a:solidFill>
              <a:latin typeface="맑은 고딕"/>
            </a:endParaRPr>
          </a:p>
          <a:p>
            <a:pPr lvl="2">
              <a:buFontTx/>
              <a:buChar char="-"/>
            </a:pPr>
            <a:r>
              <a:rPr lang="ko-KR" altLang="en-US" spc="0" dirty="0">
                <a:solidFill>
                  <a:prstClr val="black"/>
                </a:solidFill>
                <a:latin typeface="맑은 고딕"/>
              </a:rPr>
              <a:t>인접 지자체를 통합 운영하게 될 경우 자원의 규모 확장이 유용한 정도</a:t>
            </a:r>
            <a:endParaRPr lang="en-US" altLang="ko-KR" spc="0" dirty="0">
              <a:solidFill>
                <a:prstClr val="black"/>
              </a:solidFill>
              <a:latin typeface="맑은 고딕"/>
            </a:endParaRPr>
          </a:p>
        </p:txBody>
      </p:sp>
      <p:sp>
        <p:nvSpPr>
          <p:cNvPr id="7" name="제목 3">
            <a:extLst>
              <a:ext uri="{FF2B5EF4-FFF2-40B4-BE49-F238E27FC236}">
                <a16:creationId xmlns:a16="http://schemas.microsoft.com/office/drawing/2014/main" xmlns="" id="{0FF83314-6651-47CC-865F-B11011B66562}"/>
              </a:ext>
            </a:extLst>
          </p:cNvPr>
          <p:cNvSpPr txBox="1">
            <a:spLocks/>
          </p:cNvSpPr>
          <p:nvPr/>
        </p:nvSpPr>
        <p:spPr>
          <a:xfrm>
            <a:off x="475200" y="-1638"/>
            <a:ext cx="11240293" cy="708708"/>
          </a:xfrm>
          <a:prstGeom prst="rect">
            <a:avLst/>
          </a:prstGeom>
        </p:spPr>
        <p:txBody>
          <a:bodyPr vert="horz" lIns="101233" tIns="50617" rIns="101233" bIns="50617" rtlCol="0" anchor="ctr">
            <a:normAutofit/>
          </a:bodyPr>
          <a:lstStyle>
            <a:lvl1pPr algn="l" defTabSz="914400" rtl="0" eaLnBrk="1" latinLnBrk="1" hangingPunct="1">
              <a:spcBef>
                <a:spcPct val="0"/>
              </a:spcBef>
              <a:buNone/>
              <a:defRPr lang="ko-KR" altLang="en-US" sz="2200" b="1" kern="1200" spc="-100" baseline="0" dirty="0">
                <a:ln>
                  <a:solidFill>
                    <a:srgbClr val="2A2D72">
                      <a:alpha val="5000"/>
                    </a:srgbClr>
                  </a:solidFill>
                </a:ln>
                <a:solidFill>
                  <a:schemeClr val="bg1"/>
                </a:solidFill>
                <a:latin typeface="+mj-ea"/>
                <a:ea typeface="+mj-ea"/>
                <a:cs typeface="Arial" panose="020B0604020202020204" pitchFamily="34" charset="0"/>
              </a:defRPr>
            </a:lvl1pPr>
          </a:lstStyle>
          <a:p>
            <a:r>
              <a:rPr lang="en-US" altLang="ko-KR" sz="2400" dirty="0">
                <a:ln>
                  <a:solidFill>
                    <a:srgbClr val="5B9BD5">
                      <a:alpha val="0"/>
                    </a:srgbClr>
                  </a:solidFill>
                </a:ln>
                <a:solidFill>
                  <a:schemeClr val="accent6">
                    <a:lumMod val="60000"/>
                    <a:lumOff val="40000"/>
                  </a:schemeClr>
                </a:solidFill>
                <a:latin typeface="+mn-lt"/>
                <a:ea typeface="+mn-ea"/>
              </a:rPr>
              <a:t>[02 OOAD] </a:t>
            </a:r>
            <a:r>
              <a:rPr lang="en-US" altLang="ko-KR" sz="2400" dirty="0"/>
              <a:t>Iteration1~2 </a:t>
            </a:r>
            <a:r>
              <a:rPr lang="ko-KR" altLang="en-US" sz="2400" dirty="0"/>
              <a:t>실습 범위</a:t>
            </a:r>
          </a:p>
        </p:txBody>
      </p:sp>
    </p:spTree>
    <p:extLst>
      <p:ext uri="{BB962C8B-B14F-4D97-AF65-F5344CB8AC3E}">
        <p14:creationId xmlns:p14="http://schemas.microsoft.com/office/powerpoint/2010/main" val="540550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1"/>
          <p:cNvSpPr>
            <a:spLocks noGrp="1"/>
          </p:cNvSpPr>
          <p:nvPr>
            <p:ph idx="1"/>
          </p:nvPr>
        </p:nvSpPr>
        <p:spPr>
          <a:xfrm>
            <a:off x="527381" y="932723"/>
            <a:ext cx="11329259" cy="5664629"/>
          </a:xfrm>
        </p:spPr>
        <p:txBody>
          <a:bodyPr>
            <a:normAutofit/>
          </a:bodyPr>
          <a:lstStyle/>
          <a:p>
            <a:pPr>
              <a:lnSpc>
                <a:spcPct val="150000"/>
              </a:lnSpc>
            </a:pPr>
            <a:r>
              <a:rPr lang="en-US" altLang="ko-KR" sz="1900" b="1" spc="0" dirty="0">
                <a:solidFill>
                  <a:prstClr val="black"/>
                </a:solidFill>
                <a:latin typeface="맑은 고딕"/>
              </a:rPr>
              <a:t>Functional Requirement (FR)</a:t>
            </a:r>
          </a:p>
          <a:p>
            <a:pPr lvl="1">
              <a:lnSpc>
                <a:spcPct val="150000"/>
              </a:lnSpc>
            </a:pPr>
            <a:r>
              <a:rPr lang="ko-KR" altLang="en-US" sz="1600" b="1" spc="0" dirty="0">
                <a:solidFill>
                  <a:prstClr val="black"/>
                </a:solidFill>
                <a:latin typeface="맑은 고딕"/>
              </a:rPr>
              <a:t>사용자 </a:t>
            </a:r>
            <a:r>
              <a:rPr lang="en-US" altLang="ko-KR" sz="1600" b="1" spc="0" dirty="0">
                <a:solidFill>
                  <a:prstClr val="black"/>
                </a:solidFill>
                <a:latin typeface="맑은 고딕"/>
              </a:rPr>
              <a:t>(Actor 1)</a:t>
            </a:r>
          </a:p>
          <a:p>
            <a:pPr lvl="2">
              <a:lnSpc>
                <a:spcPct val="150000"/>
              </a:lnSpc>
              <a:buFontTx/>
              <a:buChar char="-"/>
            </a:pPr>
            <a:r>
              <a:rPr lang="ko-KR" altLang="en-US" spc="0" dirty="0">
                <a:solidFill>
                  <a:prstClr val="black"/>
                </a:solidFill>
                <a:latin typeface="맑은 고딕"/>
              </a:rPr>
              <a:t>회원 가입 및 로그인</a:t>
            </a:r>
            <a:endParaRPr lang="en-US" altLang="ko-KR" spc="0" dirty="0">
              <a:solidFill>
                <a:prstClr val="black"/>
              </a:solidFill>
              <a:latin typeface="맑은 고딕"/>
            </a:endParaRPr>
          </a:p>
          <a:p>
            <a:pPr lvl="2">
              <a:lnSpc>
                <a:spcPct val="150000"/>
              </a:lnSpc>
              <a:buFontTx/>
              <a:buChar char="-"/>
            </a:pPr>
            <a:r>
              <a:rPr lang="ko-KR" altLang="en-US" spc="0" dirty="0">
                <a:solidFill>
                  <a:prstClr val="black"/>
                </a:solidFill>
                <a:latin typeface="맑은 고딕"/>
              </a:rPr>
              <a:t>상품권 구매</a:t>
            </a:r>
            <a:r>
              <a:rPr lang="en-US" altLang="ko-KR" spc="0" dirty="0">
                <a:solidFill>
                  <a:prstClr val="black"/>
                </a:solidFill>
                <a:latin typeface="맑은 고딕"/>
              </a:rPr>
              <a:t>, </a:t>
            </a:r>
            <a:r>
              <a:rPr lang="ko-KR" altLang="en-US" spc="0" dirty="0">
                <a:solidFill>
                  <a:prstClr val="black"/>
                </a:solidFill>
                <a:latin typeface="맑은 고딕"/>
              </a:rPr>
              <a:t>결제</a:t>
            </a:r>
            <a:r>
              <a:rPr lang="en-US" altLang="ko-KR" spc="0" dirty="0">
                <a:solidFill>
                  <a:prstClr val="black"/>
                </a:solidFill>
                <a:latin typeface="맑은 고딕"/>
              </a:rPr>
              <a:t>, </a:t>
            </a:r>
            <a:r>
              <a:rPr lang="ko-KR" altLang="en-US" spc="0" dirty="0">
                <a:solidFill>
                  <a:prstClr val="black"/>
                </a:solidFill>
                <a:latin typeface="맑은 고딕"/>
              </a:rPr>
              <a:t>환불 </a:t>
            </a:r>
            <a:r>
              <a:rPr lang="en-US" altLang="ko-KR" spc="0" dirty="0">
                <a:solidFill>
                  <a:prstClr val="black"/>
                </a:solidFill>
                <a:latin typeface="맑은 고딕"/>
              </a:rPr>
              <a:t/>
            </a:r>
            <a:br>
              <a:rPr lang="en-US" altLang="ko-KR" spc="0" dirty="0">
                <a:solidFill>
                  <a:prstClr val="black"/>
                </a:solidFill>
                <a:latin typeface="맑은 고딕"/>
              </a:rPr>
            </a:br>
            <a:r>
              <a:rPr lang="en-US" altLang="ko-KR" spc="0" dirty="0">
                <a:solidFill>
                  <a:prstClr val="black"/>
                </a:solidFill>
                <a:latin typeface="맑은 고딕"/>
              </a:rPr>
              <a:t>  . </a:t>
            </a:r>
            <a:r>
              <a:rPr lang="ko-KR" altLang="en-US" sz="1500" spc="0" dirty="0">
                <a:solidFill>
                  <a:prstClr val="black"/>
                </a:solidFill>
                <a:latin typeface="맑은 고딕"/>
              </a:rPr>
              <a:t>계좌</a:t>
            </a:r>
            <a:r>
              <a:rPr lang="en-US" altLang="ko-KR" sz="1500" spc="0" dirty="0">
                <a:solidFill>
                  <a:prstClr val="black"/>
                </a:solidFill>
                <a:latin typeface="맑은 고딕"/>
              </a:rPr>
              <a:t>/</a:t>
            </a:r>
            <a:r>
              <a:rPr lang="ko-KR" altLang="en-US" sz="1500" spc="0" dirty="0">
                <a:solidFill>
                  <a:prstClr val="black"/>
                </a:solidFill>
                <a:latin typeface="맑은 고딕"/>
              </a:rPr>
              <a:t>카드 연동 충전</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정기 충전 설정</a:t>
            </a:r>
            <a:r>
              <a:rPr lang="en-US" altLang="ko-KR" sz="1500" spc="0" dirty="0">
                <a:solidFill>
                  <a:prstClr val="black"/>
                </a:solidFill>
                <a:latin typeface="맑은 고딕"/>
              </a:rPr>
              <a:t>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상품권 모바일 결제</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사용 내역 조회</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30</a:t>
            </a:r>
            <a:r>
              <a:rPr lang="ko-KR" altLang="en-US" sz="1500" spc="0" dirty="0">
                <a:solidFill>
                  <a:prstClr val="black"/>
                </a:solidFill>
                <a:latin typeface="맑은 고딕"/>
              </a:rPr>
              <a:t>일 내 환불</a:t>
            </a:r>
            <a:endParaRPr lang="en-US" altLang="ko-KR" b="1" spc="0" dirty="0">
              <a:solidFill>
                <a:prstClr val="black"/>
              </a:solidFill>
              <a:latin typeface="맑은 고딕"/>
            </a:endParaRPr>
          </a:p>
          <a:p>
            <a:pPr lvl="2">
              <a:lnSpc>
                <a:spcPct val="150000"/>
              </a:lnSpc>
              <a:buFontTx/>
              <a:buChar char="-"/>
            </a:pPr>
            <a:r>
              <a:rPr lang="ko-KR" altLang="en-US" spc="0" dirty="0">
                <a:solidFill>
                  <a:prstClr val="black"/>
                </a:solidFill>
                <a:latin typeface="맑은 고딕"/>
              </a:rPr>
              <a:t>가맹점 검색 </a:t>
            </a:r>
            <a:r>
              <a:rPr lang="en-US" altLang="ko-KR" spc="0" dirty="0">
                <a:solidFill>
                  <a:prstClr val="black"/>
                </a:solidFill>
                <a:latin typeface="맑은 고딕"/>
              </a:rPr>
              <a:t/>
            </a:r>
            <a:br>
              <a:rPr lang="en-US" altLang="ko-KR" spc="0" dirty="0">
                <a:solidFill>
                  <a:prstClr val="black"/>
                </a:solidFill>
                <a:latin typeface="맑은 고딕"/>
              </a:rPr>
            </a:br>
            <a:r>
              <a:rPr lang="en-US" altLang="ko-KR" spc="0" dirty="0">
                <a:solidFill>
                  <a:prstClr val="black"/>
                </a:solidFill>
                <a:latin typeface="맑은 고딕"/>
              </a:rPr>
              <a:t>  . </a:t>
            </a:r>
            <a:r>
              <a:rPr lang="ko-KR" altLang="en-US" sz="1500" spc="0" dirty="0">
                <a:solidFill>
                  <a:prstClr val="black"/>
                </a:solidFill>
                <a:latin typeface="맑은 고딕"/>
              </a:rPr>
              <a:t>위치 기반 가맹점 검색</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실시간 영업 정보 확인</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가맹점 위치 정보 제공</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맞춤형 추천</a:t>
            </a:r>
            <a:endParaRPr lang="en-US" altLang="ko-KR" spc="0" dirty="0">
              <a:solidFill>
                <a:prstClr val="black"/>
              </a:solidFill>
              <a:latin typeface="맑은 고딕"/>
            </a:endParaRPr>
          </a:p>
        </p:txBody>
      </p:sp>
      <p:sp>
        <p:nvSpPr>
          <p:cNvPr id="7" name="제목 3">
            <a:extLst>
              <a:ext uri="{FF2B5EF4-FFF2-40B4-BE49-F238E27FC236}">
                <a16:creationId xmlns:a16="http://schemas.microsoft.com/office/drawing/2014/main" xmlns="" id="{A71DC81F-C92B-4E29-9F9F-0D9EDA955899}"/>
              </a:ext>
            </a:extLst>
          </p:cNvPr>
          <p:cNvSpPr txBox="1">
            <a:spLocks/>
          </p:cNvSpPr>
          <p:nvPr/>
        </p:nvSpPr>
        <p:spPr>
          <a:xfrm>
            <a:off x="475200" y="-1638"/>
            <a:ext cx="11240293" cy="708708"/>
          </a:xfrm>
          <a:prstGeom prst="rect">
            <a:avLst/>
          </a:prstGeom>
        </p:spPr>
        <p:txBody>
          <a:bodyPr vert="horz" lIns="101233" tIns="50617" rIns="101233" bIns="50617" rtlCol="0" anchor="ctr">
            <a:normAutofit/>
          </a:bodyPr>
          <a:lstStyle>
            <a:lvl1pPr algn="l" defTabSz="914400" rtl="0" eaLnBrk="1" latinLnBrk="1" hangingPunct="1">
              <a:spcBef>
                <a:spcPct val="0"/>
              </a:spcBef>
              <a:buNone/>
              <a:defRPr lang="ko-KR" altLang="en-US" sz="2200" b="1" kern="1200" spc="-100" baseline="0" dirty="0">
                <a:ln>
                  <a:solidFill>
                    <a:srgbClr val="2A2D72">
                      <a:alpha val="5000"/>
                    </a:srgbClr>
                  </a:solidFill>
                </a:ln>
                <a:solidFill>
                  <a:schemeClr val="bg1"/>
                </a:solidFill>
                <a:latin typeface="+mj-ea"/>
                <a:ea typeface="+mj-ea"/>
                <a:cs typeface="Arial" panose="020B0604020202020204" pitchFamily="34" charset="0"/>
              </a:defRPr>
            </a:lvl1pPr>
          </a:lstStyle>
          <a:p>
            <a:r>
              <a:rPr lang="en-US" altLang="ko-KR" sz="2400" dirty="0">
                <a:ln>
                  <a:solidFill>
                    <a:srgbClr val="5B9BD5">
                      <a:alpha val="0"/>
                    </a:srgbClr>
                  </a:solidFill>
                </a:ln>
                <a:solidFill>
                  <a:schemeClr val="accent6">
                    <a:lumMod val="60000"/>
                    <a:lumOff val="40000"/>
                  </a:schemeClr>
                </a:solidFill>
                <a:latin typeface="+mn-lt"/>
                <a:ea typeface="+mn-ea"/>
              </a:rPr>
              <a:t>[02 OOAD] </a:t>
            </a:r>
            <a:r>
              <a:rPr lang="en-US" altLang="ko-KR" sz="2400" dirty="0"/>
              <a:t>Iteration1~2 </a:t>
            </a:r>
            <a:r>
              <a:rPr lang="ko-KR" altLang="en-US" sz="2400" dirty="0"/>
              <a:t>실습 범위</a:t>
            </a:r>
          </a:p>
        </p:txBody>
      </p:sp>
      <p:pic>
        <p:nvPicPr>
          <p:cNvPr id="3" name="그림 2"/>
          <p:cNvPicPr>
            <a:picLocks noChangeAspect="1"/>
          </p:cNvPicPr>
          <p:nvPr/>
        </p:nvPicPr>
        <p:blipFill>
          <a:blip r:embed="rId3"/>
          <a:stretch>
            <a:fillRect/>
          </a:stretch>
        </p:blipFill>
        <p:spPr>
          <a:xfrm>
            <a:off x="8784299" y="934416"/>
            <a:ext cx="3302744" cy="5692117"/>
          </a:xfrm>
          <a:prstGeom prst="rect">
            <a:avLst/>
          </a:prstGeom>
        </p:spPr>
      </p:pic>
    </p:spTree>
    <p:extLst>
      <p:ext uri="{BB962C8B-B14F-4D97-AF65-F5344CB8AC3E}">
        <p14:creationId xmlns:p14="http://schemas.microsoft.com/office/powerpoint/2010/main" val="1044860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1"/>
          <p:cNvSpPr>
            <a:spLocks noGrp="1"/>
          </p:cNvSpPr>
          <p:nvPr>
            <p:ph idx="1"/>
          </p:nvPr>
        </p:nvSpPr>
        <p:spPr>
          <a:xfrm>
            <a:off x="527381" y="932723"/>
            <a:ext cx="11329259" cy="5664629"/>
          </a:xfrm>
        </p:spPr>
        <p:txBody>
          <a:bodyPr>
            <a:normAutofit/>
          </a:bodyPr>
          <a:lstStyle/>
          <a:p>
            <a:pPr>
              <a:lnSpc>
                <a:spcPct val="150000"/>
              </a:lnSpc>
            </a:pPr>
            <a:r>
              <a:rPr lang="en-US" altLang="ko-KR" sz="1900" b="1" spc="0" dirty="0">
                <a:solidFill>
                  <a:prstClr val="black"/>
                </a:solidFill>
                <a:latin typeface="맑은 고딕"/>
              </a:rPr>
              <a:t>Functional Requirement (FR)</a:t>
            </a:r>
          </a:p>
          <a:p>
            <a:pPr lvl="1">
              <a:lnSpc>
                <a:spcPct val="150000"/>
              </a:lnSpc>
            </a:pPr>
            <a:r>
              <a:rPr lang="ko-KR" altLang="en-US" sz="1600" b="1" spc="0" dirty="0">
                <a:solidFill>
                  <a:prstClr val="black"/>
                </a:solidFill>
                <a:latin typeface="맑은 고딕"/>
              </a:rPr>
              <a:t>가맹점주 </a:t>
            </a:r>
            <a:r>
              <a:rPr lang="en-US" altLang="ko-KR" sz="1600" b="1" spc="0" dirty="0">
                <a:solidFill>
                  <a:prstClr val="black"/>
                </a:solidFill>
                <a:latin typeface="맑은 고딕"/>
              </a:rPr>
              <a:t>(Actor 2)</a:t>
            </a:r>
          </a:p>
          <a:p>
            <a:pPr lvl="2">
              <a:lnSpc>
                <a:spcPct val="150000"/>
              </a:lnSpc>
              <a:buFontTx/>
              <a:buChar char="-"/>
            </a:pPr>
            <a:r>
              <a:rPr lang="ko-KR" altLang="en-US" spc="0" dirty="0">
                <a:solidFill>
                  <a:prstClr val="black"/>
                </a:solidFill>
                <a:latin typeface="맑은 고딕"/>
              </a:rPr>
              <a:t>가맹점 등록 및 관리</a:t>
            </a:r>
            <a:r>
              <a:rPr lang="en-US" altLang="ko-KR" spc="0" dirty="0">
                <a:solidFill>
                  <a:prstClr val="black"/>
                </a:solidFill>
                <a:latin typeface="맑은 고딕"/>
              </a:rPr>
              <a:t/>
            </a:r>
            <a:br>
              <a:rPr lang="en-US" altLang="ko-KR" spc="0" dirty="0">
                <a:solidFill>
                  <a:prstClr val="black"/>
                </a:solidFill>
                <a:latin typeface="맑은 고딕"/>
              </a:rPr>
            </a:br>
            <a:r>
              <a:rPr lang="en-US" altLang="ko-KR" spc="0" dirty="0">
                <a:solidFill>
                  <a:prstClr val="black"/>
                </a:solidFill>
                <a:latin typeface="맑은 고딕"/>
              </a:rPr>
              <a:t>.</a:t>
            </a:r>
            <a:r>
              <a:rPr lang="ko-KR" altLang="en-US" spc="0" dirty="0">
                <a:solidFill>
                  <a:prstClr val="black"/>
                </a:solidFill>
                <a:latin typeface="맑은 고딕"/>
              </a:rPr>
              <a:t> </a:t>
            </a:r>
            <a:r>
              <a:rPr lang="ko-KR" altLang="en-US" sz="1500" spc="0" dirty="0">
                <a:solidFill>
                  <a:prstClr val="black"/>
                </a:solidFill>
                <a:latin typeface="맑은 고딕"/>
              </a:rPr>
              <a:t>온라인 가맹점 신청 </a:t>
            </a:r>
            <a:r>
              <a:rPr lang="en-US" altLang="ko-KR" sz="1500" spc="0" dirty="0">
                <a:solidFill>
                  <a:prstClr val="black"/>
                </a:solidFill>
                <a:latin typeface="맑은 고딕"/>
              </a:rPr>
              <a:t>/ </a:t>
            </a:r>
            <a:r>
              <a:rPr lang="ko-KR" altLang="en-US" sz="1500" spc="0" dirty="0">
                <a:solidFill>
                  <a:prstClr val="black"/>
                </a:solidFill>
                <a:latin typeface="맑은 고딕"/>
              </a:rPr>
              <a:t>해지</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a:t>
            </a:r>
            <a:r>
              <a:rPr lang="ko-KR" altLang="en-US" sz="1500" spc="0" dirty="0">
                <a:solidFill>
                  <a:prstClr val="black"/>
                </a:solidFill>
                <a:latin typeface="맑은 고딕"/>
              </a:rPr>
              <a:t>가맹점 정보 수정</a:t>
            </a:r>
            <a:endParaRPr lang="en-US" altLang="ko-KR" spc="0" dirty="0">
              <a:solidFill>
                <a:prstClr val="black"/>
              </a:solidFill>
              <a:latin typeface="맑은 고딕"/>
            </a:endParaRPr>
          </a:p>
          <a:p>
            <a:pPr lvl="2">
              <a:lnSpc>
                <a:spcPct val="150000"/>
              </a:lnSpc>
              <a:buFontTx/>
              <a:buChar char="-"/>
            </a:pPr>
            <a:r>
              <a:rPr lang="ko-KR" altLang="en-US" spc="0" dirty="0">
                <a:solidFill>
                  <a:prstClr val="black"/>
                </a:solidFill>
                <a:latin typeface="맑은 고딕"/>
                <a:ea typeface="맑은 고딕"/>
              </a:rPr>
              <a:t>정산 관리</a:t>
            </a:r>
            <a:r>
              <a:rPr lang="en-US" altLang="ko-KR" spc="0" dirty="0">
                <a:solidFill>
                  <a:prstClr val="black"/>
                </a:solidFill>
                <a:latin typeface="맑은 고딕"/>
                <a:ea typeface="맑은 고딕"/>
              </a:rPr>
              <a:t/>
            </a:r>
            <a:br>
              <a:rPr lang="en-US" altLang="ko-KR" spc="0" dirty="0">
                <a:solidFill>
                  <a:prstClr val="black"/>
                </a:solidFill>
                <a:latin typeface="맑은 고딕"/>
                <a:ea typeface="맑은 고딕"/>
              </a:rPr>
            </a:br>
            <a:r>
              <a:rPr lang="en-US" altLang="ko-KR" spc="0" dirty="0">
                <a:solidFill>
                  <a:prstClr val="black"/>
                </a:solidFill>
                <a:latin typeface="맑은 고딕"/>
                <a:ea typeface="맑은 고딕"/>
              </a:rPr>
              <a:t>. </a:t>
            </a:r>
            <a:r>
              <a:rPr lang="ko-KR" altLang="en-US" sz="1500" spc="0" dirty="0">
                <a:solidFill>
                  <a:prstClr val="black"/>
                </a:solidFill>
                <a:latin typeface="맑은 고딕"/>
                <a:ea typeface="맑은 고딕"/>
              </a:rPr>
              <a:t>실시간 매출 확인</a:t>
            </a:r>
            <a:r>
              <a:rPr lang="en-US" altLang="ko-KR" sz="1500" spc="0" dirty="0">
                <a:solidFill>
                  <a:prstClr val="black"/>
                </a:solidFill>
                <a:latin typeface="맑은 고딕"/>
                <a:ea typeface="맑은 고딕"/>
              </a:rPr>
              <a:t/>
            </a:r>
            <a:br>
              <a:rPr lang="en-US" altLang="ko-KR" sz="1500" spc="0" dirty="0">
                <a:solidFill>
                  <a:prstClr val="black"/>
                </a:solidFill>
                <a:latin typeface="맑은 고딕"/>
                <a:ea typeface="맑은 고딕"/>
              </a:rPr>
            </a:br>
            <a:r>
              <a:rPr lang="en-US" altLang="ko-KR" sz="1500" spc="0" dirty="0">
                <a:solidFill>
                  <a:prstClr val="black"/>
                </a:solidFill>
                <a:latin typeface="맑은 고딕"/>
                <a:ea typeface="맑은 고딕"/>
              </a:rPr>
              <a:t>.</a:t>
            </a:r>
            <a:r>
              <a:rPr lang="ko-KR" altLang="en-US" sz="1500" spc="0" dirty="0">
                <a:solidFill>
                  <a:prstClr val="black"/>
                </a:solidFill>
                <a:latin typeface="맑은 고딕"/>
                <a:ea typeface="맑은 고딕"/>
              </a:rPr>
              <a:t> 수수료 내역 확인</a:t>
            </a:r>
            <a:endParaRPr lang="en-US" altLang="ko-KR" spc="0" dirty="0">
              <a:solidFill>
                <a:prstClr val="black"/>
              </a:solidFill>
              <a:latin typeface="맑은 고딕"/>
              <a:ea typeface="맑은 고딕"/>
            </a:endParaRPr>
          </a:p>
          <a:p>
            <a:pPr lvl="2">
              <a:lnSpc>
                <a:spcPct val="150000"/>
              </a:lnSpc>
              <a:buFontTx/>
              <a:buChar char="-"/>
            </a:pPr>
            <a:r>
              <a:rPr lang="ko-KR" altLang="en-US" spc="0" dirty="0">
                <a:solidFill>
                  <a:prstClr val="black"/>
                </a:solidFill>
                <a:latin typeface="맑은 고딕"/>
                <a:ea typeface="맑은 고딕"/>
              </a:rPr>
              <a:t>결제 관리 </a:t>
            </a:r>
            <a:r>
              <a:rPr lang="en-US" altLang="ko-KR" sz="1500" spc="0" dirty="0">
                <a:solidFill>
                  <a:prstClr val="black"/>
                </a:solidFill>
                <a:latin typeface="맑은 고딕"/>
                <a:ea typeface="맑은 고딕"/>
              </a:rPr>
              <a:t/>
            </a:r>
            <a:br>
              <a:rPr lang="en-US" altLang="ko-KR" sz="1500" spc="0" dirty="0">
                <a:solidFill>
                  <a:prstClr val="black"/>
                </a:solidFill>
                <a:latin typeface="맑은 고딕"/>
                <a:ea typeface="맑은 고딕"/>
              </a:rPr>
            </a:br>
            <a:r>
              <a:rPr lang="en-US" altLang="ko-KR" sz="1500" spc="0" dirty="0">
                <a:solidFill>
                  <a:prstClr val="black"/>
                </a:solidFill>
                <a:latin typeface="맑은 고딕"/>
                <a:ea typeface="맑은 고딕"/>
              </a:rPr>
              <a:t>. </a:t>
            </a:r>
            <a:r>
              <a:rPr lang="ko-KR" altLang="en-US" sz="1500" spc="0" dirty="0">
                <a:solidFill>
                  <a:prstClr val="black"/>
                </a:solidFill>
                <a:latin typeface="맑은 고딕"/>
                <a:ea typeface="맑은 고딕"/>
              </a:rPr>
              <a:t>결제 취소 및 환불 처리</a:t>
            </a:r>
            <a:r>
              <a:rPr lang="en-US" altLang="ko-KR" sz="1500" spc="0" dirty="0">
                <a:solidFill>
                  <a:prstClr val="black"/>
                </a:solidFill>
                <a:latin typeface="맑은 고딕"/>
                <a:ea typeface="맑은 고딕"/>
              </a:rPr>
              <a:t/>
            </a:r>
            <a:br>
              <a:rPr lang="en-US" altLang="ko-KR" sz="1500" spc="0" dirty="0">
                <a:solidFill>
                  <a:prstClr val="black"/>
                </a:solidFill>
                <a:latin typeface="맑은 고딕"/>
                <a:ea typeface="맑은 고딕"/>
              </a:rPr>
            </a:br>
            <a:r>
              <a:rPr lang="en-US" altLang="ko-KR" sz="1500" spc="0" dirty="0">
                <a:solidFill>
                  <a:prstClr val="black"/>
                </a:solidFill>
                <a:latin typeface="맑은 고딕"/>
                <a:ea typeface="맑은 고딕"/>
              </a:rPr>
              <a:t>. </a:t>
            </a:r>
            <a:r>
              <a:rPr lang="ko-KR" altLang="en-US" sz="1500" spc="0" dirty="0">
                <a:solidFill>
                  <a:prstClr val="black"/>
                </a:solidFill>
                <a:latin typeface="맑은 고딕"/>
                <a:ea typeface="맑은 고딕"/>
              </a:rPr>
              <a:t>일일 결제 내역 조회</a:t>
            </a:r>
            <a:endParaRPr lang="en-US" altLang="ko-KR" spc="0" dirty="0">
              <a:solidFill>
                <a:prstClr val="black"/>
              </a:solidFill>
              <a:latin typeface="맑은 고딕"/>
              <a:ea typeface="맑은 고딕"/>
            </a:endParaRPr>
          </a:p>
        </p:txBody>
      </p:sp>
      <p:sp>
        <p:nvSpPr>
          <p:cNvPr id="7" name="제목 3">
            <a:extLst>
              <a:ext uri="{FF2B5EF4-FFF2-40B4-BE49-F238E27FC236}">
                <a16:creationId xmlns:a16="http://schemas.microsoft.com/office/drawing/2014/main" xmlns="" id="{A71DC81F-C92B-4E29-9F9F-0D9EDA955899}"/>
              </a:ext>
            </a:extLst>
          </p:cNvPr>
          <p:cNvSpPr txBox="1">
            <a:spLocks/>
          </p:cNvSpPr>
          <p:nvPr/>
        </p:nvSpPr>
        <p:spPr>
          <a:xfrm>
            <a:off x="475200" y="-1638"/>
            <a:ext cx="11240293" cy="708708"/>
          </a:xfrm>
          <a:prstGeom prst="rect">
            <a:avLst/>
          </a:prstGeom>
        </p:spPr>
        <p:txBody>
          <a:bodyPr vert="horz" lIns="101233" tIns="50617" rIns="101233" bIns="50617" rtlCol="0" anchor="ctr">
            <a:normAutofit/>
          </a:bodyPr>
          <a:lstStyle>
            <a:lvl1pPr algn="l" defTabSz="914400" rtl="0" eaLnBrk="1" latinLnBrk="1" hangingPunct="1">
              <a:spcBef>
                <a:spcPct val="0"/>
              </a:spcBef>
              <a:buNone/>
              <a:defRPr lang="ko-KR" altLang="en-US" sz="2200" b="1" kern="1200" spc="-100" baseline="0" dirty="0">
                <a:ln>
                  <a:solidFill>
                    <a:srgbClr val="2A2D72">
                      <a:alpha val="5000"/>
                    </a:srgbClr>
                  </a:solidFill>
                </a:ln>
                <a:solidFill>
                  <a:schemeClr val="bg1"/>
                </a:solidFill>
                <a:latin typeface="+mj-ea"/>
                <a:ea typeface="+mj-ea"/>
                <a:cs typeface="Arial" panose="020B0604020202020204" pitchFamily="34" charset="0"/>
              </a:defRPr>
            </a:lvl1pPr>
          </a:lstStyle>
          <a:p>
            <a:r>
              <a:rPr lang="en-US" altLang="ko-KR" sz="2400" dirty="0">
                <a:ln>
                  <a:solidFill>
                    <a:srgbClr val="5B9BD5">
                      <a:alpha val="0"/>
                    </a:srgbClr>
                  </a:solidFill>
                </a:ln>
                <a:solidFill>
                  <a:schemeClr val="accent6">
                    <a:lumMod val="60000"/>
                    <a:lumOff val="40000"/>
                  </a:schemeClr>
                </a:solidFill>
                <a:latin typeface="+mn-lt"/>
                <a:ea typeface="+mn-ea"/>
              </a:rPr>
              <a:t>[02 OOAD] </a:t>
            </a:r>
            <a:r>
              <a:rPr lang="en-US" altLang="ko-KR" sz="2400" dirty="0"/>
              <a:t>Iteration1~2 </a:t>
            </a:r>
            <a:r>
              <a:rPr lang="ko-KR" altLang="en-US" sz="2400" dirty="0"/>
              <a:t>실습 범위</a:t>
            </a:r>
          </a:p>
        </p:txBody>
      </p:sp>
      <p:pic>
        <p:nvPicPr>
          <p:cNvPr id="2" name="그림 1"/>
          <p:cNvPicPr>
            <a:picLocks noChangeAspect="1"/>
          </p:cNvPicPr>
          <p:nvPr/>
        </p:nvPicPr>
        <p:blipFill>
          <a:blip r:embed="rId3"/>
          <a:stretch>
            <a:fillRect/>
          </a:stretch>
        </p:blipFill>
        <p:spPr>
          <a:xfrm>
            <a:off x="8784299" y="1333394"/>
            <a:ext cx="2496277" cy="5285087"/>
          </a:xfrm>
          <a:prstGeom prst="rect">
            <a:avLst/>
          </a:prstGeom>
        </p:spPr>
      </p:pic>
    </p:spTree>
    <p:extLst>
      <p:ext uri="{BB962C8B-B14F-4D97-AF65-F5344CB8AC3E}">
        <p14:creationId xmlns:p14="http://schemas.microsoft.com/office/powerpoint/2010/main" val="2970110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1"/>
          <p:cNvSpPr>
            <a:spLocks noGrp="1"/>
          </p:cNvSpPr>
          <p:nvPr>
            <p:ph idx="1"/>
          </p:nvPr>
        </p:nvSpPr>
        <p:spPr>
          <a:xfrm>
            <a:off x="527381" y="932723"/>
            <a:ext cx="11329259" cy="5664629"/>
          </a:xfrm>
        </p:spPr>
        <p:txBody>
          <a:bodyPr>
            <a:normAutofit/>
          </a:bodyPr>
          <a:lstStyle/>
          <a:p>
            <a:pPr>
              <a:lnSpc>
                <a:spcPct val="150000"/>
              </a:lnSpc>
            </a:pPr>
            <a:r>
              <a:rPr lang="en-US" altLang="ko-KR" sz="1900" b="1" spc="0" dirty="0">
                <a:solidFill>
                  <a:prstClr val="black"/>
                </a:solidFill>
                <a:latin typeface="맑은 고딕"/>
              </a:rPr>
              <a:t>Functional Requirement (FR)</a:t>
            </a:r>
          </a:p>
          <a:p>
            <a:pPr lvl="1">
              <a:lnSpc>
                <a:spcPct val="150000"/>
              </a:lnSpc>
            </a:pPr>
            <a:r>
              <a:rPr lang="ko-KR" altLang="en-US" sz="1600" b="1" spc="0" dirty="0">
                <a:solidFill>
                  <a:prstClr val="black"/>
                </a:solidFill>
                <a:latin typeface="맑은 고딕"/>
              </a:rPr>
              <a:t>지역 상품권 관리자 </a:t>
            </a:r>
            <a:r>
              <a:rPr lang="en-US" altLang="ko-KR" sz="1600" b="1" spc="0" dirty="0">
                <a:solidFill>
                  <a:prstClr val="black"/>
                </a:solidFill>
                <a:latin typeface="맑은 고딕"/>
              </a:rPr>
              <a:t>(Actor 3)</a:t>
            </a:r>
          </a:p>
          <a:p>
            <a:pPr lvl="2">
              <a:lnSpc>
                <a:spcPct val="150000"/>
              </a:lnSpc>
              <a:buFontTx/>
              <a:buChar char="-"/>
            </a:pPr>
            <a:r>
              <a:rPr lang="ko-KR" altLang="en-US" spc="0" dirty="0">
                <a:solidFill>
                  <a:prstClr val="black"/>
                </a:solidFill>
                <a:latin typeface="맑은 고딕"/>
              </a:rPr>
              <a:t>상품권 발행 관리</a:t>
            </a:r>
            <a:r>
              <a:rPr lang="en-US" altLang="ko-KR" spc="0" dirty="0">
                <a:solidFill>
                  <a:prstClr val="black"/>
                </a:solidFill>
                <a:latin typeface="맑은 고딕"/>
              </a:rPr>
              <a:t/>
            </a:r>
            <a:br>
              <a:rPr lang="en-US" altLang="ko-KR" spc="0" dirty="0">
                <a:solidFill>
                  <a:prstClr val="black"/>
                </a:solidFill>
                <a:latin typeface="맑은 고딕"/>
              </a:rPr>
            </a:br>
            <a:r>
              <a:rPr lang="en-US" altLang="ko-KR" spc="0" dirty="0">
                <a:solidFill>
                  <a:prstClr val="black"/>
                </a:solidFill>
                <a:latin typeface="맑은 고딕"/>
              </a:rPr>
              <a:t>  . </a:t>
            </a:r>
            <a:r>
              <a:rPr lang="ko-KR" altLang="en-US" sz="1500" spc="0" dirty="0">
                <a:solidFill>
                  <a:prstClr val="black"/>
                </a:solidFill>
                <a:latin typeface="맑은 고딕"/>
              </a:rPr>
              <a:t>발행 한도</a:t>
            </a:r>
            <a:r>
              <a:rPr lang="en-US" altLang="ko-KR" sz="1500" spc="0" dirty="0">
                <a:solidFill>
                  <a:prstClr val="black"/>
                </a:solidFill>
                <a:latin typeface="맑은 고딕"/>
              </a:rPr>
              <a:t>,</a:t>
            </a:r>
            <a:r>
              <a:rPr lang="ko-KR" altLang="en-US" sz="1500" spc="0" dirty="0">
                <a:solidFill>
                  <a:prstClr val="black"/>
                </a:solidFill>
                <a:latin typeface="맑은 고딕"/>
              </a:rPr>
              <a:t> 사용 기한 설정</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캠페인 및 이벤트 등록</a:t>
            </a:r>
            <a:endParaRPr lang="en-US" altLang="ko-KR" spc="0" dirty="0">
              <a:solidFill>
                <a:prstClr val="black"/>
              </a:solidFill>
              <a:latin typeface="맑은 고딕"/>
            </a:endParaRPr>
          </a:p>
          <a:p>
            <a:pPr lvl="2">
              <a:lnSpc>
                <a:spcPct val="150000"/>
              </a:lnSpc>
              <a:buFontTx/>
              <a:buChar char="-"/>
            </a:pPr>
            <a:r>
              <a:rPr lang="ko-KR" altLang="en-US" spc="0" dirty="0">
                <a:solidFill>
                  <a:prstClr val="black"/>
                </a:solidFill>
                <a:latin typeface="맑은 고딕"/>
              </a:rPr>
              <a:t>가맹점 관리</a:t>
            </a:r>
            <a:r>
              <a:rPr lang="en-US" altLang="ko-KR" spc="0" dirty="0">
                <a:solidFill>
                  <a:prstClr val="black"/>
                </a:solidFill>
                <a:latin typeface="맑은 고딕"/>
              </a:rPr>
              <a:t/>
            </a:r>
            <a:br>
              <a:rPr lang="en-US" altLang="ko-KR" spc="0" dirty="0">
                <a:solidFill>
                  <a:prstClr val="black"/>
                </a:solidFill>
                <a:latin typeface="맑은 고딕"/>
              </a:rPr>
            </a:br>
            <a:r>
              <a:rPr lang="en-US" altLang="ko-KR" spc="0" dirty="0">
                <a:solidFill>
                  <a:prstClr val="black"/>
                </a:solidFill>
                <a:latin typeface="맑은 고딕"/>
              </a:rPr>
              <a:t> </a:t>
            </a:r>
            <a:r>
              <a:rPr lang="ko-KR" altLang="en-US" spc="0" dirty="0">
                <a:solidFill>
                  <a:prstClr val="black"/>
                </a:solidFill>
                <a:latin typeface="맑은 고딕"/>
              </a:rPr>
              <a:t> </a:t>
            </a:r>
            <a:r>
              <a:rPr lang="en-US" altLang="ko-KR" spc="0" dirty="0">
                <a:solidFill>
                  <a:prstClr val="black"/>
                </a:solidFill>
                <a:latin typeface="맑은 고딕"/>
              </a:rPr>
              <a:t>. </a:t>
            </a:r>
            <a:r>
              <a:rPr lang="ko-KR" altLang="en-US" sz="1500" spc="0" dirty="0">
                <a:solidFill>
                  <a:prstClr val="black"/>
                </a:solidFill>
                <a:latin typeface="맑은 고딕"/>
              </a:rPr>
              <a:t>가맹점 승인 및 해지</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업종별 가맹 제한 설정</a:t>
            </a:r>
            <a:endParaRPr lang="en-US" altLang="ko-KR" b="1" spc="0" dirty="0">
              <a:solidFill>
                <a:prstClr val="black"/>
              </a:solidFill>
              <a:latin typeface="맑은 고딕"/>
            </a:endParaRPr>
          </a:p>
          <a:p>
            <a:pPr lvl="2">
              <a:lnSpc>
                <a:spcPct val="150000"/>
              </a:lnSpc>
              <a:buFontTx/>
              <a:buChar char="-"/>
            </a:pPr>
            <a:r>
              <a:rPr lang="ko-KR" altLang="en-US" spc="0" dirty="0">
                <a:solidFill>
                  <a:prstClr val="black"/>
                </a:solidFill>
                <a:latin typeface="맑은 고딕"/>
              </a:rPr>
              <a:t>정책 설정</a:t>
            </a:r>
            <a:r>
              <a:rPr lang="en-US" altLang="ko-KR" spc="0" dirty="0">
                <a:solidFill>
                  <a:prstClr val="black"/>
                </a:solidFill>
                <a:latin typeface="맑은 고딕"/>
              </a:rPr>
              <a:t/>
            </a:r>
            <a:br>
              <a:rPr lang="en-US" altLang="ko-KR" spc="0" dirty="0">
                <a:solidFill>
                  <a:prstClr val="black"/>
                </a:solidFill>
                <a:latin typeface="맑은 고딕"/>
              </a:rPr>
            </a:br>
            <a:r>
              <a:rPr lang="en-US" altLang="ko-KR" spc="0" dirty="0">
                <a:solidFill>
                  <a:prstClr val="black"/>
                </a:solidFill>
                <a:latin typeface="맑은 고딕"/>
              </a:rPr>
              <a:t> </a:t>
            </a:r>
            <a:r>
              <a:rPr lang="ko-KR" altLang="en-US" spc="0" dirty="0">
                <a:solidFill>
                  <a:prstClr val="black"/>
                </a:solidFill>
                <a:latin typeface="맑은 고딕"/>
              </a:rPr>
              <a:t> </a:t>
            </a:r>
            <a:r>
              <a:rPr lang="en-US" altLang="ko-KR" spc="0" dirty="0">
                <a:solidFill>
                  <a:prstClr val="black"/>
                </a:solidFill>
                <a:latin typeface="맑은 고딕"/>
              </a:rPr>
              <a:t>. </a:t>
            </a:r>
            <a:r>
              <a:rPr lang="ko-KR" altLang="en-US" sz="1500" spc="0" dirty="0">
                <a:solidFill>
                  <a:prstClr val="black"/>
                </a:solidFill>
                <a:latin typeface="맑은 고딕"/>
              </a:rPr>
              <a:t>구매 한도 설정</a:t>
            </a:r>
            <a:r>
              <a:rPr lang="en-US" altLang="ko-KR" sz="1500" spc="0" dirty="0">
                <a:solidFill>
                  <a:prstClr val="black"/>
                </a:solidFill>
                <a:latin typeface="맑은 고딕"/>
              </a:rPr>
              <a:t/>
            </a:r>
            <a:br>
              <a:rPr lang="en-US" altLang="ko-KR" sz="1500" spc="0" dirty="0">
                <a:solidFill>
                  <a:prstClr val="black"/>
                </a:solidFill>
                <a:latin typeface="맑은 고딕"/>
              </a:rPr>
            </a:br>
            <a:r>
              <a:rPr lang="en-US" altLang="ko-KR" sz="1500" spc="0" dirty="0">
                <a:solidFill>
                  <a:prstClr val="black"/>
                </a:solidFill>
                <a:latin typeface="맑은 고딕"/>
              </a:rPr>
              <a:t>  . </a:t>
            </a:r>
            <a:r>
              <a:rPr lang="ko-KR" altLang="en-US" sz="1500" spc="0" dirty="0">
                <a:solidFill>
                  <a:prstClr val="black"/>
                </a:solidFill>
                <a:latin typeface="맑은 고딕"/>
              </a:rPr>
              <a:t>사용처 제한 설정</a:t>
            </a:r>
            <a:endParaRPr lang="en-US" altLang="ko-KR" spc="0" dirty="0">
              <a:solidFill>
                <a:prstClr val="black"/>
              </a:solidFill>
              <a:latin typeface="맑은 고딕"/>
            </a:endParaRPr>
          </a:p>
        </p:txBody>
      </p:sp>
      <p:sp>
        <p:nvSpPr>
          <p:cNvPr id="7" name="제목 3">
            <a:extLst>
              <a:ext uri="{FF2B5EF4-FFF2-40B4-BE49-F238E27FC236}">
                <a16:creationId xmlns:a16="http://schemas.microsoft.com/office/drawing/2014/main" xmlns="" id="{A71DC81F-C92B-4E29-9F9F-0D9EDA955899}"/>
              </a:ext>
            </a:extLst>
          </p:cNvPr>
          <p:cNvSpPr txBox="1">
            <a:spLocks/>
          </p:cNvSpPr>
          <p:nvPr/>
        </p:nvSpPr>
        <p:spPr>
          <a:xfrm>
            <a:off x="475200" y="-1638"/>
            <a:ext cx="11240293" cy="708708"/>
          </a:xfrm>
          <a:prstGeom prst="rect">
            <a:avLst/>
          </a:prstGeom>
        </p:spPr>
        <p:txBody>
          <a:bodyPr vert="horz" lIns="101233" tIns="50617" rIns="101233" bIns="50617" rtlCol="0" anchor="ctr">
            <a:normAutofit/>
          </a:bodyPr>
          <a:lstStyle>
            <a:lvl1pPr algn="l" defTabSz="914400" rtl="0" eaLnBrk="1" latinLnBrk="1" hangingPunct="1">
              <a:spcBef>
                <a:spcPct val="0"/>
              </a:spcBef>
              <a:buNone/>
              <a:defRPr lang="ko-KR" altLang="en-US" sz="2200" b="1" kern="1200" spc="-100" baseline="0" dirty="0">
                <a:ln>
                  <a:solidFill>
                    <a:srgbClr val="2A2D72">
                      <a:alpha val="5000"/>
                    </a:srgbClr>
                  </a:solidFill>
                </a:ln>
                <a:solidFill>
                  <a:schemeClr val="bg1"/>
                </a:solidFill>
                <a:latin typeface="+mj-ea"/>
                <a:ea typeface="+mj-ea"/>
                <a:cs typeface="Arial" panose="020B0604020202020204" pitchFamily="34" charset="0"/>
              </a:defRPr>
            </a:lvl1pPr>
          </a:lstStyle>
          <a:p>
            <a:r>
              <a:rPr lang="en-US" altLang="ko-KR" sz="2400" dirty="0">
                <a:ln>
                  <a:solidFill>
                    <a:srgbClr val="5B9BD5">
                      <a:alpha val="0"/>
                    </a:srgbClr>
                  </a:solidFill>
                </a:ln>
                <a:solidFill>
                  <a:schemeClr val="accent6">
                    <a:lumMod val="60000"/>
                    <a:lumOff val="40000"/>
                  </a:schemeClr>
                </a:solidFill>
                <a:latin typeface="+mn-lt"/>
                <a:ea typeface="+mn-ea"/>
              </a:rPr>
              <a:t>[02 OOAD] </a:t>
            </a:r>
            <a:r>
              <a:rPr lang="en-US" altLang="ko-KR" sz="2400" dirty="0"/>
              <a:t>Iteration1~2 </a:t>
            </a:r>
            <a:r>
              <a:rPr lang="ko-KR" altLang="en-US" sz="2400" dirty="0"/>
              <a:t>실습 범위</a:t>
            </a:r>
          </a:p>
        </p:txBody>
      </p:sp>
    </p:spTree>
    <p:extLst>
      <p:ext uri="{BB962C8B-B14F-4D97-AF65-F5344CB8AC3E}">
        <p14:creationId xmlns:p14="http://schemas.microsoft.com/office/powerpoint/2010/main" val="1799605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305107" y="3717032"/>
            <a:ext cx="11737304" cy="2751522"/>
          </a:xfrm>
          <a:prstGeom prst="rect">
            <a:avLst/>
          </a:prstGeom>
        </p:spPr>
        <p:txBody>
          <a:bodyPr wrap="square">
            <a:spAutoFit/>
          </a:bodyPr>
          <a:lstStyle/>
          <a:p>
            <a:pPr marL="285750" indent="-285750">
              <a:lnSpc>
                <a:spcPct val="120000"/>
              </a:lnSpc>
              <a:buFont typeface="Arial" panose="020B0604020202020204" pitchFamily="34" charset="0"/>
              <a:buChar char="•"/>
            </a:pPr>
            <a:r>
              <a:rPr lang="ko-KR" altLang="en-US" dirty="0" smtClean="0"/>
              <a:t>시나리오는 </a:t>
            </a:r>
            <a:r>
              <a:rPr lang="ko-KR" altLang="en-US" dirty="0" err="1" smtClean="0"/>
              <a:t>액터와</a:t>
            </a:r>
            <a:r>
              <a:rPr lang="ko-KR" altLang="en-US" dirty="0" smtClean="0"/>
              <a:t> 시스템간의 행위를 기술한다</a:t>
            </a:r>
            <a:r>
              <a:rPr lang="en-US" altLang="ko-KR" dirty="0" smtClean="0"/>
              <a:t>.</a:t>
            </a:r>
          </a:p>
          <a:p>
            <a:pPr marL="285750" indent="-285750">
              <a:lnSpc>
                <a:spcPct val="120000"/>
              </a:lnSpc>
              <a:buFont typeface="Arial" panose="020B0604020202020204" pitchFamily="34" charset="0"/>
              <a:buChar char="•"/>
            </a:pPr>
            <a:r>
              <a:rPr lang="ko-KR" altLang="en-US" dirty="0" smtClean="0"/>
              <a:t>주어로 시작해서 </a:t>
            </a:r>
            <a:r>
              <a:rPr lang="ko-KR" altLang="en-US" dirty="0" err="1" smtClean="0"/>
              <a:t>능동형으로</a:t>
            </a:r>
            <a:r>
              <a:rPr lang="ko-KR" altLang="en-US" dirty="0" smtClean="0"/>
              <a:t> 끝낸다</a:t>
            </a:r>
            <a:r>
              <a:rPr lang="en-US" altLang="ko-KR" dirty="0" smtClean="0"/>
              <a:t>. (</a:t>
            </a:r>
            <a:r>
              <a:rPr lang="ko-KR" altLang="en-US" dirty="0" smtClean="0"/>
              <a:t>수동형 문장이 있는지 확인한다</a:t>
            </a:r>
            <a:r>
              <a:rPr lang="en-US" altLang="ko-KR" dirty="0" smtClean="0"/>
              <a:t>.)</a:t>
            </a:r>
          </a:p>
          <a:p>
            <a:pPr marL="285750" indent="-285750">
              <a:lnSpc>
                <a:spcPct val="120000"/>
              </a:lnSpc>
              <a:buFont typeface="Arial" panose="020B0604020202020204" pitchFamily="34" charset="0"/>
              <a:buChar char="•"/>
            </a:pPr>
            <a:r>
              <a:rPr lang="ko-KR" altLang="en-US" dirty="0" smtClean="0"/>
              <a:t>시나리오가 너무 길지 않은지 확인한다</a:t>
            </a:r>
            <a:r>
              <a:rPr lang="en-US" altLang="ko-KR" dirty="0" smtClean="0"/>
              <a:t>. ( (3)~9 </a:t>
            </a:r>
            <a:r>
              <a:rPr lang="ko-KR" altLang="en-US" dirty="0" smtClean="0"/>
              <a:t>단계 내외 정도로 생각해 보자</a:t>
            </a:r>
            <a:r>
              <a:rPr lang="en-US" altLang="ko-KR" dirty="0" smtClean="0"/>
              <a:t>)</a:t>
            </a:r>
          </a:p>
          <a:p>
            <a:pPr marL="285750" indent="-285750">
              <a:lnSpc>
                <a:spcPct val="120000"/>
              </a:lnSpc>
              <a:buFont typeface="Arial" panose="020B0604020202020204" pitchFamily="34" charset="0"/>
              <a:buChar char="•"/>
            </a:pPr>
            <a:r>
              <a:rPr lang="ko-KR" altLang="en-US" dirty="0" smtClean="0"/>
              <a:t>아래 순서로 고민을 하면서 작성을 한다</a:t>
            </a:r>
            <a:r>
              <a:rPr lang="en-US" altLang="ko-KR" dirty="0" smtClean="0"/>
              <a:t>.</a:t>
            </a:r>
          </a:p>
          <a:p>
            <a:pPr marL="742950" lvl="1" indent="-285750">
              <a:lnSpc>
                <a:spcPct val="120000"/>
              </a:lnSpc>
              <a:buFont typeface="Arial" panose="020B0604020202020204" pitchFamily="34" charset="0"/>
              <a:buChar char="•"/>
            </a:pPr>
            <a:r>
              <a:rPr lang="en-US" altLang="ko-KR" dirty="0" err="1" smtClean="0"/>
              <a:t>Usecase</a:t>
            </a:r>
            <a:r>
              <a:rPr lang="ko-KR" altLang="en-US" dirty="0" smtClean="0"/>
              <a:t>이름 </a:t>
            </a:r>
            <a:r>
              <a:rPr lang="en-US" altLang="ko-KR" dirty="0" smtClean="0"/>
              <a:t>-&gt; stakeholders &amp;interest -&gt; primary actor- &gt; success end condition -&gt; main scenario-&gt; extensions</a:t>
            </a:r>
          </a:p>
          <a:p>
            <a:pPr marL="285750" indent="-285750">
              <a:lnSpc>
                <a:spcPct val="120000"/>
              </a:lnSpc>
              <a:buFont typeface="Arial" panose="020B0604020202020204" pitchFamily="34" charset="0"/>
              <a:buChar char="•"/>
            </a:pPr>
            <a:r>
              <a:rPr lang="en-US" altLang="ko-KR" dirty="0" err="1" smtClean="0"/>
              <a:t>Extenstions</a:t>
            </a:r>
            <a:r>
              <a:rPr lang="ko-KR" altLang="en-US" dirty="0" smtClean="0"/>
              <a:t>에 </a:t>
            </a:r>
            <a:r>
              <a:rPr lang="ko-KR" altLang="en-US" dirty="0" err="1" smtClean="0"/>
              <a:t>메인시나리오</a:t>
            </a:r>
            <a:r>
              <a:rPr lang="ko-KR" altLang="en-US" dirty="0" smtClean="0"/>
              <a:t> 수행 중 발생할 수 있는 예외 상황</a:t>
            </a:r>
            <a:r>
              <a:rPr lang="en-US" altLang="ko-KR" dirty="0" smtClean="0"/>
              <a:t>, </a:t>
            </a:r>
            <a:r>
              <a:rPr lang="ko-KR" altLang="en-US" dirty="0" smtClean="0"/>
              <a:t>대체 상황들이 어떤 것이 있을지</a:t>
            </a:r>
            <a:r>
              <a:rPr lang="en-US" altLang="ko-KR" dirty="0" smtClean="0"/>
              <a:t>, </a:t>
            </a:r>
            <a:r>
              <a:rPr lang="ko-KR" altLang="en-US" dirty="0" smtClean="0"/>
              <a:t>해당 상황에서 사용자의 이익을 만족 시키기 위해 해야 하는 행위가 무엇인지를 고민하여 상황 별 시나리오를 작성한다</a:t>
            </a:r>
            <a:r>
              <a:rPr lang="en-US" altLang="ko-KR" dirty="0" smtClean="0"/>
              <a:t>.</a:t>
            </a:r>
            <a:endParaRPr lang="ko-KR" altLang="en-US" dirty="0"/>
          </a:p>
        </p:txBody>
      </p:sp>
      <p:sp>
        <p:nvSpPr>
          <p:cNvPr id="4" name="텍스트 개체 틀 4"/>
          <p:cNvSpPr txBox="1">
            <a:spLocks/>
          </p:cNvSpPr>
          <p:nvPr/>
        </p:nvSpPr>
        <p:spPr>
          <a:xfrm>
            <a:off x="389910" y="764704"/>
            <a:ext cx="11376000" cy="2086725"/>
          </a:xfrm>
          <a:prstGeom prst="rect">
            <a:avLst/>
          </a:prstGeom>
        </p:spPr>
        <p:txBody>
          <a:bodyPr wrap="square">
            <a:spAutoFit/>
          </a:bodyPr>
          <a:lstStyle>
            <a:defPPr>
              <a:defRPr lang="ko-KR"/>
            </a:defPPr>
            <a:lvl1pPr marL="285750" indent="-285750">
              <a:lnSpc>
                <a:spcPct val="120000"/>
              </a:lnSpc>
              <a:buFont typeface="Arial" panose="020B0604020202020204" pitchFamily="34" charset="0"/>
              <a:buChar char="•"/>
              <a:defRPr b="1">
                <a:solidFill>
                  <a:schemeClr val="bg1"/>
                </a:solidFill>
              </a:defRPr>
            </a:lvl1pPr>
            <a:lvl2pPr marL="742950" lvl="1" indent="-285750">
              <a:lnSpc>
                <a:spcPct val="120000"/>
              </a:lnSpc>
              <a:buFont typeface="Arial" panose="020B0604020202020204" pitchFamily="34" charset="0"/>
              <a:buChar char="•"/>
              <a:defRPr b="1">
                <a:solidFill>
                  <a:schemeClr val="bg1"/>
                </a:solidFill>
              </a:defRPr>
            </a:lvl2pPr>
          </a:lstStyle>
          <a:p>
            <a:r>
              <a:rPr lang="en-US" altLang="ko-KR" b="0" dirty="0">
                <a:solidFill>
                  <a:schemeClr val="tx1"/>
                </a:solidFill>
              </a:rPr>
              <a:t>Iteration </a:t>
            </a:r>
            <a:r>
              <a:rPr lang="en-US" altLang="ko-KR" dirty="0">
                <a:solidFill>
                  <a:schemeClr val="tx1"/>
                </a:solidFill>
              </a:rPr>
              <a:t>1~2</a:t>
            </a:r>
            <a:r>
              <a:rPr lang="en-US" altLang="ko-KR" b="0" dirty="0">
                <a:solidFill>
                  <a:schemeClr val="tx1"/>
                </a:solidFill>
              </a:rPr>
              <a:t> </a:t>
            </a:r>
            <a:r>
              <a:rPr lang="ko-KR" altLang="en-US" b="0" dirty="0">
                <a:solidFill>
                  <a:schemeClr val="tx1"/>
                </a:solidFill>
              </a:rPr>
              <a:t>실습범위</a:t>
            </a:r>
            <a:endParaRPr lang="en-US" altLang="ko-KR" b="0" dirty="0">
              <a:solidFill>
                <a:schemeClr val="tx1"/>
              </a:solidFill>
            </a:endParaRPr>
          </a:p>
          <a:p>
            <a:r>
              <a:rPr lang="en-US" altLang="ko-KR" b="0" dirty="0">
                <a:solidFill>
                  <a:schemeClr val="tx1"/>
                </a:solidFill>
              </a:rPr>
              <a:t>1.2 (</a:t>
            </a:r>
            <a:r>
              <a:rPr lang="ko-KR" altLang="en-US" b="0" dirty="0">
                <a:solidFill>
                  <a:schemeClr val="tx1"/>
                </a:solidFill>
              </a:rPr>
              <a:t>실습</a:t>
            </a:r>
            <a:r>
              <a:rPr lang="en-US" altLang="ko-KR" b="0" dirty="0">
                <a:solidFill>
                  <a:schemeClr val="tx1"/>
                </a:solidFill>
              </a:rPr>
              <a:t>) </a:t>
            </a:r>
            <a:r>
              <a:rPr lang="ko-KR" altLang="en-US" b="0" dirty="0" err="1">
                <a:solidFill>
                  <a:schemeClr val="tx1"/>
                </a:solidFill>
              </a:rPr>
              <a:t>팀과제</a:t>
            </a:r>
            <a:r>
              <a:rPr lang="ko-KR" altLang="en-US" b="0" dirty="0">
                <a:solidFill>
                  <a:schemeClr val="tx1"/>
                </a:solidFill>
              </a:rPr>
              <a:t> 실습 양식 </a:t>
            </a:r>
            <a:r>
              <a:rPr lang="en-US" altLang="ko-KR" b="0" dirty="0">
                <a:solidFill>
                  <a:schemeClr val="tx1"/>
                </a:solidFill>
              </a:rPr>
              <a:t>20250827.xlsx </a:t>
            </a:r>
            <a:r>
              <a:rPr lang="ko-KR" altLang="en-US" b="0" dirty="0">
                <a:solidFill>
                  <a:schemeClr val="tx1"/>
                </a:solidFill>
              </a:rPr>
              <a:t>문서 작성</a:t>
            </a:r>
          </a:p>
          <a:p>
            <a:pPr lvl="1"/>
            <a:r>
              <a:rPr lang="en-US" altLang="ko-KR" b="0" dirty="0">
                <a:solidFill>
                  <a:schemeClr val="tx1"/>
                </a:solidFill>
              </a:rPr>
              <a:t>1. </a:t>
            </a:r>
            <a:r>
              <a:rPr lang="en-US" altLang="ko-KR" b="0" dirty="0" err="1">
                <a:solidFill>
                  <a:schemeClr val="tx1"/>
                </a:solidFill>
              </a:rPr>
              <a:t>Requiements</a:t>
            </a:r>
            <a:endParaRPr lang="en-US" altLang="ko-KR" b="0" dirty="0">
              <a:solidFill>
                <a:schemeClr val="tx1"/>
              </a:solidFill>
            </a:endParaRPr>
          </a:p>
          <a:p>
            <a:pPr lvl="1"/>
            <a:r>
              <a:rPr lang="en-US" altLang="ko-KR" b="0" dirty="0">
                <a:solidFill>
                  <a:schemeClr val="tx1"/>
                </a:solidFill>
              </a:rPr>
              <a:t>2. Use Case Diagram</a:t>
            </a:r>
          </a:p>
          <a:p>
            <a:pPr lvl="1"/>
            <a:r>
              <a:rPr lang="en-US" altLang="ko-KR" b="0" dirty="0">
                <a:solidFill>
                  <a:schemeClr val="tx1"/>
                </a:solidFill>
              </a:rPr>
              <a:t>3. Fully </a:t>
            </a:r>
            <a:r>
              <a:rPr lang="en-US" altLang="ko-KR" b="0" dirty="0" err="1">
                <a:solidFill>
                  <a:schemeClr val="tx1"/>
                </a:solidFill>
              </a:rPr>
              <a:t>Dressedup</a:t>
            </a:r>
            <a:r>
              <a:rPr lang="en-US" altLang="ko-KR" b="0" dirty="0">
                <a:solidFill>
                  <a:schemeClr val="tx1"/>
                </a:solidFill>
              </a:rPr>
              <a:t> From</a:t>
            </a:r>
          </a:p>
          <a:p>
            <a:pPr lvl="1"/>
            <a:r>
              <a:rPr lang="en-US" altLang="ko-KR" b="0" dirty="0">
                <a:solidFill>
                  <a:schemeClr val="tx1"/>
                </a:solidFill>
              </a:rPr>
              <a:t>9. Glossary</a:t>
            </a:r>
            <a:endParaRPr lang="ko-KR" altLang="en-US" b="0" dirty="0">
              <a:solidFill>
                <a:schemeClr val="tx1"/>
              </a:solidFill>
            </a:endParaRPr>
          </a:p>
        </p:txBody>
      </p:sp>
      <p:sp>
        <p:nvSpPr>
          <p:cNvPr id="2" name="제목 1"/>
          <p:cNvSpPr>
            <a:spLocks noGrp="1"/>
          </p:cNvSpPr>
          <p:nvPr>
            <p:ph type="title"/>
          </p:nvPr>
        </p:nvSpPr>
        <p:spPr>
          <a:xfrm>
            <a:off x="408000" y="156779"/>
            <a:ext cx="1702577" cy="424661"/>
          </a:xfrm>
        </p:spPr>
        <p:txBody>
          <a:bodyPr/>
          <a:lstStyle/>
          <a:p>
            <a:r>
              <a:rPr lang="en-US" altLang="ko-KR" dirty="0" smtClean="0"/>
              <a:t>1</a:t>
            </a:r>
            <a:r>
              <a:rPr lang="ko-KR" altLang="en-US" dirty="0" smtClean="0"/>
              <a:t>일차 실습</a:t>
            </a:r>
            <a:endParaRPr lang="ko-KR" altLang="en-US" dirty="0"/>
          </a:p>
        </p:txBody>
      </p:sp>
    </p:spTree>
    <p:extLst>
      <p:ext uri="{BB962C8B-B14F-4D97-AF65-F5344CB8AC3E}">
        <p14:creationId xmlns:p14="http://schemas.microsoft.com/office/powerpoint/2010/main" val="11469284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5</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3857013"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Sequence Diagram</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13935725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08000" y="765138"/>
            <a:ext cx="9977488" cy="307706"/>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시퀀스 다이어그램은 시스템을 구성하는 객체들간의 상호 작용에 대한 관점을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표현합니다</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7" name="제목 6"/>
          <p:cNvSpPr>
            <a:spLocks noGrp="1"/>
          </p:cNvSpPr>
          <p:nvPr>
            <p:ph type="title"/>
          </p:nvPr>
        </p:nvSpPr>
        <p:spPr>
          <a:xfrm>
            <a:off x="408000" y="156779"/>
            <a:ext cx="2941698" cy="424661"/>
          </a:xfrm>
        </p:spPr>
        <p:txBody>
          <a:bodyPr/>
          <a:lstStyle/>
          <a:p>
            <a:r>
              <a:rPr lang="en-US" altLang="ko-KR" dirty="0"/>
              <a:t>Sequence </a:t>
            </a:r>
            <a:r>
              <a:rPr lang="en-US" altLang="ko-KR" dirty="0" smtClean="0"/>
              <a:t>Diagram</a:t>
            </a:r>
            <a:endParaRPr lang="ko-KR" altLang="en-US" dirty="0"/>
          </a:p>
        </p:txBody>
      </p:sp>
      <p:pic>
        <p:nvPicPr>
          <p:cNvPr id="2" name="그림 1"/>
          <p:cNvPicPr>
            <a:picLocks noChangeAspect="1"/>
          </p:cNvPicPr>
          <p:nvPr/>
        </p:nvPicPr>
        <p:blipFill>
          <a:blip r:embed="rId3"/>
          <a:stretch>
            <a:fillRect/>
          </a:stretch>
        </p:blipFill>
        <p:spPr>
          <a:xfrm>
            <a:off x="1127448" y="1291335"/>
            <a:ext cx="9569964" cy="4801230"/>
          </a:xfrm>
          <a:prstGeom prst="rect">
            <a:avLst/>
          </a:prstGeom>
        </p:spPr>
      </p:pic>
    </p:spTree>
    <p:extLst>
      <p:ext uri="{BB962C8B-B14F-4D97-AF65-F5344CB8AC3E}">
        <p14:creationId xmlns:p14="http://schemas.microsoft.com/office/powerpoint/2010/main" val="7945995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표 6"/>
          <p:cNvGraphicFramePr>
            <a:graphicFrameLocks noGrp="1"/>
          </p:cNvGraphicFramePr>
          <p:nvPr>
            <p:extLst>
              <p:ext uri="{D42A27DB-BD31-4B8C-83A1-F6EECF244321}">
                <p14:modId xmlns:p14="http://schemas.microsoft.com/office/powerpoint/2010/main" val="1454526200"/>
              </p:ext>
            </p:extLst>
          </p:nvPr>
        </p:nvGraphicFramePr>
        <p:xfrm>
          <a:off x="462962" y="1076421"/>
          <a:ext cx="3998679" cy="4819132"/>
        </p:xfrm>
        <a:graphic>
          <a:graphicData uri="http://schemas.openxmlformats.org/drawingml/2006/table">
            <a:tbl>
              <a:tblPr>
                <a:tableStyleId>{2D5ABB26-0587-4C30-8999-92F81FD0307C}</a:tableStyleId>
              </a:tblPr>
              <a:tblGrid>
                <a:gridCol w="372610">
                  <a:extLst>
                    <a:ext uri="{9D8B030D-6E8A-4147-A177-3AD203B41FA5}">
                      <a16:colId xmlns="" xmlns:a16="http://schemas.microsoft.com/office/drawing/2014/main" val="402108092"/>
                    </a:ext>
                  </a:extLst>
                </a:gridCol>
                <a:gridCol w="1379483">
                  <a:extLst>
                    <a:ext uri="{9D8B030D-6E8A-4147-A177-3AD203B41FA5}">
                      <a16:colId xmlns="" xmlns:a16="http://schemas.microsoft.com/office/drawing/2014/main" val="1882045717"/>
                    </a:ext>
                  </a:extLst>
                </a:gridCol>
                <a:gridCol w="2246586">
                  <a:extLst>
                    <a:ext uri="{9D8B030D-6E8A-4147-A177-3AD203B41FA5}">
                      <a16:colId xmlns="" xmlns:a16="http://schemas.microsoft.com/office/drawing/2014/main" val="2883225968"/>
                    </a:ext>
                  </a:extLst>
                </a:gridCol>
              </a:tblGrid>
              <a:tr h="303458">
                <a:tc gridSpan="3">
                  <a:txBody>
                    <a:bodyPr/>
                    <a:lstStyle/>
                    <a:p>
                      <a:pPr marL="285750" marR="0" lvl="0" indent="-285750" algn="l" defTabSz="914400" rtl="0" eaLnBrk="1" fontAlgn="ctr" latinLnBrk="1" hangingPunct="1">
                        <a:lnSpc>
                          <a:spcPct val="100000"/>
                        </a:lnSpc>
                        <a:spcBef>
                          <a:spcPts val="0"/>
                        </a:spcBef>
                        <a:spcAft>
                          <a:spcPts val="0"/>
                        </a:spcAft>
                        <a:buClr>
                          <a:srgbClr val="55CFD1"/>
                        </a:buClr>
                        <a:buSzTx/>
                        <a:buFont typeface="Wingdings" panose="05000000000000000000" pitchFamily="2" charset="2"/>
                        <a:buChar char="u"/>
                        <a:tabLst/>
                        <a:defRPr/>
                      </a:pPr>
                      <a:r>
                        <a:rPr lang="en-US" altLang="ko-KR" sz="1400" u="none" strike="noStrike" dirty="0" smtClean="0">
                          <a:effectLst/>
                        </a:rPr>
                        <a:t>Branches &amp; Loop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Operators</a:t>
                      </a:r>
                      <a:endParaRPr lang="en-US" sz="1400" b="1" i="0" u="none" strike="noStrike" dirty="0">
                        <a:solidFill>
                          <a:srgbClr val="000000"/>
                        </a:solidFill>
                        <a:effectLst/>
                        <a:latin typeface="+mj-lt"/>
                      </a:endParaRPr>
                    </a:p>
                  </a:txBody>
                  <a:tcPr marL="36000" marR="72000" marT="36000" marB="36000" anchor="ct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 xmlns:a16="http://schemas.microsoft.com/office/drawing/2014/main" val="3487795440"/>
                  </a:ext>
                </a:extLst>
              </a:tr>
              <a:tr h="303458">
                <a:tc rowSpan="5">
                  <a:txBody>
                    <a:bodyPr/>
                    <a:lstStyle/>
                    <a:p>
                      <a:pPr algn="l" fontAlgn="ctr"/>
                      <a:endParaRPr lang="en-US" sz="1400" b="1" i="0" u="none" strike="noStrike" dirty="0">
                        <a:solidFill>
                          <a:srgbClr val="000000"/>
                        </a:solidFill>
                        <a:effectLst/>
                        <a:latin typeface="+mj-lt"/>
                      </a:endParaRPr>
                    </a:p>
                  </a:txBody>
                  <a:tcPr marL="36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alt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alternatives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1"/>
                  </a:ext>
                </a:extLst>
              </a:tr>
              <a:tr h="303458">
                <a:tc vMerge="1">
                  <a:txBody>
                    <a:bodyPr/>
                    <a:lstStyle/>
                    <a:p>
                      <a:pPr algn="l" fontAlgn="ctr"/>
                      <a:endParaRPr lang="en-US" sz="1400" b="1" i="0" u="none" strike="noStrike" dirty="0">
                        <a:solidFill>
                          <a:srgbClr val="000000"/>
                        </a:solidFill>
                        <a:effectLst/>
                        <a:latin typeface="+mj-lt"/>
                      </a:endParaRPr>
                    </a:p>
                  </a:txBody>
                  <a:tcPr marL="432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opt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option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2"/>
                  </a:ext>
                </a:extLst>
              </a:tr>
              <a:tr h="303458">
                <a:tc vMerge="1">
                  <a:txBody>
                    <a:bodyPr/>
                    <a:lstStyle/>
                    <a:p>
                      <a:pPr algn="l" fontAlgn="ctr"/>
                      <a:endParaRPr lang="en-US" sz="1400" b="1" i="0" u="none" strike="noStrike" dirty="0">
                        <a:solidFill>
                          <a:srgbClr val="000000"/>
                        </a:solidFill>
                        <a:effectLst/>
                        <a:latin typeface="+mj-lt"/>
                      </a:endParaRPr>
                    </a:p>
                  </a:txBody>
                  <a:tcPr marL="432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loop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iteration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3"/>
                  </a:ext>
                </a:extLst>
              </a:tr>
              <a:tr h="151729">
                <a:tc vMerge="1">
                  <a:txBody>
                    <a:bodyPr/>
                    <a:lstStyle/>
                    <a:p>
                      <a:pPr algn="l" fontAlgn="ctr"/>
                      <a:endParaRPr lang="en-US" sz="1400" b="1" i="0" u="none" strike="noStrike" dirty="0">
                        <a:solidFill>
                          <a:srgbClr val="000000"/>
                        </a:solidFill>
                        <a:effectLst/>
                        <a:latin typeface="+mj-lt"/>
                      </a:endParaRPr>
                    </a:p>
                  </a:txBody>
                  <a:tcPr marL="432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break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break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4"/>
                  </a:ext>
                </a:extLst>
              </a:tr>
              <a:tr h="151729">
                <a:tc vMerge="1">
                  <a:txBody>
                    <a:bodyPr/>
                    <a:lstStyle/>
                    <a:p>
                      <a:pPr latinLnBrk="1"/>
                      <a:endParaRPr lang="ko-KR" altLang="en-US"/>
                    </a:p>
                  </a:txBody>
                  <a:tcPr/>
                </a:tc>
                <a:tc>
                  <a:txBody>
                    <a:bodyPr/>
                    <a:lstStyle/>
                    <a:p>
                      <a:pPr marL="285750" indent="-285750" algn="l" fontAlgn="ctr">
                        <a:buFont typeface="Wingdings" panose="05000000000000000000" pitchFamily="2" charset="2"/>
                        <a:buChar char="§"/>
                      </a:pPr>
                      <a:r>
                        <a:rPr lang="en-US" sz="1400" u="none" strike="noStrike" kern="1200" dirty="0" smtClean="0">
                          <a:solidFill>
                            <a:schemeClr val="tx1"/>
                          </a:solidFill>
                          <a:effectLst/>
                          <a:latin typeface="+mn-lt"/>
                          <a:ea typeface="+mn-ea"/>
                          <a:cs typeface="+mn-cs"/>
                        </a:rPr>
                        <a:t>Ref</a:t>
                      </a:r>
                      <a:endParaRPr lang="en-US" sz="1400" u="none" strike="noStrike" kern="1200" dirty="0">
                        <a:solidFill>
                          <a:schemeClr val="tx1"/>
                        </a:solidFill>
                        <a:effectLst/>
                        <a:latin typeface="+mn-lt"/>
                        <a:ea typeface="+mn-ea"/>
                        <a:cs typeface="+mn-cs"/>
                      </a:endParaRPr>
                    </a:p>
                  </a:txBody>
                  <a:tcPr marL="36000" marR="36000" marT="36000" marB="36000" anchor="ctr"/>
                </a:tc>
                <a:tc>
                  <a:txBody>
                    <a:bodyPr/>
                    <a:lstStyle/>
                    <a:p>
                      <a:pPr algn="l" fontAlgn="ctr"/>
                      <a:r>
                        <a:rPr lang="en-US" sz="1400" b="0" i="0" u="none" strike="noStrike" dirty="0" smtClean="0">
                          <a:solidFill>
                            <a:srgbClr val="000000"/>
                          </a:solidFill>
                          <a:effectLst/>
                          <a:latin typeface="+mj-lt"/>
                        </a:rPr>
                        <a:t>reference</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2227462767"/>
                  </a:ext>
                </a:extLst>
              </a:tr>
              <a:tr h="303458">
                <a:tc gridSpan="3">
                  <a:txBody>
                    <a:bodyPr/>
                    <a:lstStyle/>
                    <a:p>
                      <a:pPr marL="285750" marR="0" lvl="0" indent="-285750" algn="l" defTabSz="914400" rtl="0" eaLnBrk="1" fontAlgn="ctr" latinLnBrk="1" hangingPunct="1">
                        <a:lnSpc>
                          <a:spcPct val="100000"/>
                        </a:lnSpc>
                        <a:spcBef>
                          <a:spcPts val="0"/>
                        </a:spcBef>
                        <a:spcAft>
                          <a:spcPts val="0"/>
                        </a:spcAft>
                        <a:buClr>
                          <a:srgbClr val="55CFD1"/>
                        </a:buClr>
                        <a:buSzTx/>
                        <a:buFont typeface="Wingdings" panose="05000000000000000000" pitchFamily="2" charset="2"/>
                        <a:buChar char="u"/>
                        <a:tabLst/>
                        <a:defRPr/>
                      </a:pPr>
                      <a:r>
                        <a:rPr lang="en-US" altLang="ko-KR" sz="1400" u="none" strike="noStrike" kern="1200" dirty="0" smtClean="0">
                          <a:solidFill>
                            <a:schemeClr val="tx1"/>
                          </a:solidFill>
                          <a:effectLst/>
                          <a:latin typeface="+mn-lt"/>
                          <a:ea typeface="+mn-ea"/>
                          <a:cs typeface="+mn-cs"/>
                        </a:rPr>
                        <a:t>Concurrency</a:t>
                      </a:r>
                      <a:r>
                        <a:rPr lang="en-US" altLang="ko-KR" sz="1400" u="none" strike="noStrike" dirty="0" smtClean="0">
                          <a:effectLst/>
                        </a:rPr>
                        <a:t> &amp; Order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Operators</a:t>
                      </a:r>
                      <a:endParaRPr lang="en-US" sz="1400" b="1" i="0" u="none" strike="noStrike" dirty="0">
                        <a:solidFill>
                          <a:srgbClr val="000000"/>
                        </a:solidFill>
                        <a:effectLst/>
                        <a:latin typeface="+mj-lt"/>
                      </a:endParaRPr>
                    </a:p>
                  </a:txBody>
                  <a:tcPr marL="36000" marR="72000" marT="36000" marB="36000" anchor="ct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 xmlns:a16="http://schemas.microsoft.com/office/drawing/2014/main" val="736935065"/>
                  </a:ext>
                </a:extLst>
              </a:tr>
              <a:tr h="303458">
                <a:tc rowSpan="4">
                  <a:txBody>
                    <a:bodyPr/>
                    <a:lstStyle/>
                    <a:p>
                      <a:pPr algn="l" fontAlgn="ctr"/>
                      <a:endParaRPr lang="en-US" sz="1400" b="1" i="0" u="none" strike="noStrike" dirty="0">
                        <a:solidFill>
                          <a:srgbClr val="000000"/>
                        </a:solidFill>
                        <a:effectLst/>
                        <a:latin typeface="+mj-lt"/>
                      </a:endParaRPr>
                    </a:p>
                  </a:txBody>
                  <a:tcPr marL="36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par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parallel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5"/>
                  </a:ext>
                </a:extLst>
              </a:tr>
              <a:tr h="303458">
                <a:tc vMerge="1">
                  <a:txBody>
                    <a:bodyPr/>
                    <a:lstStyle/>
                    <a:p>
                      <a:pPr algn="l" fontAlgn="ctr"/>
                      <a:endParaRPr lang="en-US" sz="1400" b="1" i="0" u="none" strike="noStrike" dirty="0">
                        <a:solidFill>
                          <a:srgbClr val="000000"/>
                        </a:solidFill>
                        <a:effectLst/>
                        <a:latin typeface="+mj-lt"/>
                      </a:endParaRPr>
                    </a:p>
                  </a:txBody>
                  <a:tcPr marL="432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strict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strict sequencing</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6"/>
                  </a:ext>
                </a:extLst>
              </a:tr>
              <a:tr h="303458">
                <a:tc vMerge="1">
                  <a:txBody>
                    <a:bodyPr/>
                    <a:lstStyle/>
                    <a:p>
                      <a:pPr algn="l" fontAlgn="ctr"/>
                      <a:endParaRPr lang="en-US" sz="1400" b="1" i="0" u="none" strike="noStrike" dirty="0">
                        <a:solidFill>
                          <a:srgbClr val="000000"/>
                        </a:solidFill>
                        <a:effectLst/>
                        <a:latin typeface="+mj-lt"/>
                      </a:endParaRPr>
                    </a:p>
                  </a:txBody>
                  <a:tcPr marL="432000" marR="72000" marT="36000" marB="36000" anchor="ctr"/>
                </a:tc>
                <a:tc>
                  <a:txBody>
                    <a:bodyPr/>
                    <a:lstStyle/>
                    <a:p>
                      <a:pPr marL="285750" indent="-285750" algn="l" fontAlgn="ctr">
                        <a:buFont typeface="Wingdings" panose="05000000000000000000" pitchFamily="2" charset="2"/>
                        <a:buChar char="§"/>
                      </a:pPr>
                      <a:r>
                        <a:rPr lang="en-US" sz="1400" u="none" strike="noStrike" dirty="0" err="1">
                          <a:effectLst/>
                        </a:rPr>
                        <a:t>seq</a:t>
                      </a:r>
                      <a:r>
                        <a:rPr lang="en-US" sz="1400" u="none" strike="noStrike" dirty="0">
                          <a:effectLst/>
                        </a:rPr>
                        <a:t>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weak sequencing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7"/>
                  </a:ext>
                </a:extLst>
              </a:tr>
              <a:tr h="303458">
                <a:tc vMerge="1">
                  <a:txBody>
                    <a:bodyPr/>
                    <a:lstStyle/>
                    <a:p>
                      <a:pPr algn="l" fontAlgn="ctr"/>
                      <a:endParaRPr lang="en-US" sz="1400" b="1" i="0" u="none" strike="noStrike" dirty="0">
                        <a:solidFill>
                          <a:srgbClr val="000000"/>
                        </a:solidFill>
                        <a:effectLst/>
                        <a:latin typeface="+mj-lt"/>
                      </a:endParaRPr>
                    </a:p>
                  </a:txBody>
                  <a:tcPr marL="432000" marR="72000" marT="36000" marB="36000" anchor="ctr"/>
                </a:tc>
                <a:tc>
                  <a:txBody>
                    <a:bodyPr/>
                    <a:lstStyle/>
                    <a:p>
                      <a:pPr marL="285750" indent="-285750" algn="l" fontAlgn="ctr">
                        <a:buFont typeface="Wingdings" panose="05000000000000000000" pitchFamily="2" charset="2"/>
                        <a:buChar char="§"/>
                      </a:pPr>
                      <a:r>
                        <a:rPr lang="en-US" sz="1400" u="none" strike="noStrike" dirty="0" smtClean="0">
                          <a:effectLst/>
                        </a:rPr>
                        <a:t>Critical</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critical region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08"/>
                  </a:ext>
                </a:extLst>
              </a:tr>
              <a:tr h="303458">
                <a:tc gridSpan="3">
                  <a:txBody>
                    <a:bodyPr/>
                    <a:lstStyle/>
                    <a:p>
                      <a:pPr marL="285750" marR="0" lvl="0" indent="-285750" algn="l" defTabSz="914400" rtl="0" eaLnBrk="1" fontAlgn="ctr" latinLnBrk="1" hangingPunct="1">
                        <a:lnSpc>
                          <a:spcPct val="100000"/>
                        </a:lnSpc>
                        <a:spcBef>
                          <a:spcPts val="0"/>
                        </a:spcBef>
                        <a:spcAft>
                          <a:spcPts val="0"/>
                        </a:spcAft>
                        <a:buClr>
                          <a:srgbClr val="55CFD1"/>
                        </a:buClr>
                        <a:buSzTx/>
                        <a:buFont typeface="Wingdings" panose="05000000000000000000" pitchFamily="2" charset="2"/>
                        <a:buChar char="u"/>
                        <a:tabLst/>
                        <a:defRPr/>
                      </a:pPr>
                      <a:r>
                        <a:rPr lang="en-US" altLang="ko-KR" sz="1400" u="none" strike="noStrike" dirty="0" smtClean="0">
                          <a:effectLst/>
                        </a:rPr>
                        <a:t>Filters &amp; Assertions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Operators</a:t>
                      </a:r>
                      <a:endParaRPr lang="en-US" sz="1400" b="1" i="0" u="none" strike="noStrike" dirty="0">
                        <a:solidFill>
                          <a:schemeClr val="tx1"/>
                        </a:solidFill>
                        <a:effectLst/>
                        <a:latin typeface="+mj-lt"/>
                      </a:endParaRPr>
                    </a:p>
                  </a:txBody>
                  <a:tcPr marL="36000" marR="72000" marT="36000" marB="36000" anchor="ct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 xmlns:a16="http://schemas.microsoft.com/office/drawing/2014/main" val="1690502783"/>
                  </a:ext>
                </a:extLst>
              </a:tr>
              <a:tr h="303458">
                <a:tc rowSpan="4">
                  <a:txBody>
                    <a:bodyPr/>
                    <a:lstStyle/>
                    <a:p>
                      <a:pPr algn="l" fontAlgn="ctr"/>
                      <a:endParaRPr lang="en-US" sz="1400" b="1" i="0" u="none" strike="noStrike" dirty="0">
                        <a:solidFill>
                          <a:schemeClr val="tx1"/>
                        </a:solidFill>
                        <a:effectLst/>
                        <a:latin typeface="+mj-lt"/>
                      </a:endParaRPr>
                    </a:p>
                  </a:txBody>
                  <a:tcPr marL="36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ignore  </a:t>
                      </a:r>
                      <a:endParaRPr lang="en-US" sz="1400" b="1" i="0" u="none" strike="noStrike" dirty="0">
                        <a:solidFill>
                          <a:schemeClr val="tx1"/>
                        </a:solidFill>
                        <a:effectLst/>
                        <a:latin typeface="+mj-lt"/>
                      </a:endParaRPr>
                    </a:p>
                  </a:txBody>
                  <a:tcPr marL="36000" marR="36000" marT="36000" marB="36000" anchor="ctr"/>
                </a:tc>
                <a:tc>
                  <a:txBody>
                    <a:bodyPr/>
                    <a:lstStyle/>
                    <a:p>
                      <a:pPr algn="l" fontAlgn="ctr"/>
                      <a:r>
                        <a:rPr lang="en-US" sz="1400" u="none" strike="noStrike" dirty="0">
                          <a:effectLst/>
                        </a:rPr>
                        <a:t>ignore           </a:t>
                      </a:r>
                      <a:endParaRPr lang="en-US" sz="1400" b="0" i="0" u="none" strike="noStrike" dirty="0">
                        <a:solidFill>
                          <a:schemeClr val="tx1"/>
                        </a:solidFill>
                        <a:effectLst/>
                        <a:latin typeface="+mj-lt"/>
                      </a:endParaRPr>
                    </a:p>
                  </a:txBody>
                  <a:tcPr marL="72000" marR="72000" marT="36000" marB="36000" anchor="ctr"/>
                </a:tc>
                <a:extLst>
                  <a:ext uri="{0D108BD9-81ED-4DB2-BD59-A6C34878D82A}">
                    <a16:rowId xmlns="" xmlns:a16="http://schemas.microsoft.com/office/drawing/2014/main" val="10009"/>
                  </a:ext>
                </a:extLst>
              </a:tr>
              <a:tr h="303458">
                <a:tc vMerge="1">
                  <a:txBody>
                    <a:bodyPr/>
                    <a:lstStyle/>
                    <a:p>
                      <a:pPr algn="l" fontAlgn="ctr"/>
                      <a:endParaRPr lang="en-US" sz="1400" b="1" i="0" u="none" strike="noStrike" dirty="0">
                        <a:solidFill>
                          <a:schemeClr val="tx1"/>
                        </a:solidFill>
                        <a:effectLst/>
                        <a:latin typeface="+mj-lt"/>
                      </a:endParaRPr>
                    </a:p>
                  </a:txBody>
                  <a:tcPr marL="36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consider</a:t>
                      </a:r>
                      <a:endParaRPr lang="en-US" sz="1400" b="1" i="0" u="none" strike="noStrike" dirty="0">
                        <a:solidFill>
                          <a:schemeClr val="tx1"/>
                        </a:solidFill>
                        <a:effectLst/>
                        <a:latin typeface="+mj-lt"/>
                      </a:endParaRPr>
                    </a:p>
                  </a:txBody>
                  <a:tcPr marL="36000" marR="36000" marT="36000" marB="36000" anchor="ctr"/>
                </a:tc>
                <a:tc>
                  <a:txBody>
                    <a:bodyPr/>
                    <a:lstStyle/>
                    <a:p>
                      <a:pPr algn="l" fontAlgn="ctr"/>
                      <a:r>
                        <a:rPr lang="en-US" sz="1400" u="none" strike="noStrike" dirty="0">
                          <a:effectLst/>
                        </a:rPr>
                        <a:t>consider         </a:t>
                      </a:r>
                      <a:endParaRPr lang="en-US" sz="1400" b="0" i="0" u="none" strike="noStrike" dirty="0">
                        <a:solidFill>
                          <a:schemeClr val="tx1"/>
                        </a:solidFill>
                        <a:effectLst/>
                        <a:latin typeface="+mj-lt"/>
                      </a:endParaRPr>
                    </a:p>
                  </a:txBody>
                  <a:tcPr marL="72000" marR="72000" marT="36000" marB="36000" anchor="ctr"/>
                </a:tc>
                <a:extLst>
                  <a:ext uri="{0D108BD9-81ED-4DB2-BD59-A6C34878D82A}">
                    <a16:rowId xmlns="" xmlns:a16="http://schemas.microsoft.com/office/drawing/2014/main" val="10010"/>
                  </a:ext>
                </a:extLst>
              </a:tr>
              <a:tr h="303458">
                <a:tc vMerge="1">
                  <a:txBody>
                    <a:bodyPr/>
                    <a:lstStyle/>
                    <a:p>
                      <a:pPr algn="l" fontAlgn="ctr"/>
                      <a:endParaRPr lang="en-US" sz="1400" b="1" i="0" u="none" strike="noStrike" dirty="0">
                        <a:solidFill>
                          <a:srgbClr val="000000"/>
                        </a:solidFill>
                        <a:effectLst/>
                        <a:latin typeface="+mj-lt"/>
                      </a:endParaRPr>
                    </a:p>
                  </a:txBody>
                  <a:tcPr marL="36000" marR="72000" marT="36000" marB="36000" anchor="ctr"/>
                </a:tc>
                <a:tc>
                  <a:txBody>
                    <a:bodyPr/>
                    <a:lstStyle/>
                    <a:p>
                      <a:pPr marL="285750" indent="-285750" algn="l" fontAlgn="ctr">
                        <a:buFont typeface="Wingdings" panose="05000000000000000000" pitchFamily="2" charset="2"/>
                        <a:buChar char="§"/>
                      </a:pPr>
                      <a:r>
                        <a:rPr lang="en-US" sz="1400" u="none" strike="noStrike" dirty="0">
                          <a:effectLst/>
                        </a:rPr>
                        <a:t>assert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assertion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11"/>
                  </a:ext>
                </a:extLst>
              </a:tr>
              <a:tr h="303458">
                <a:tc vMerge="1">
                  <a:txBody>
                    <a:bodyPr/>
                    <a:lstStyle/>
                    <a:p>
                      <a:pPr algn="l" fontAlgn="ctr"/>
                      <a:endParaRPr lang="en-US" sz="1400" b="1" i="0" u="none" strike="noStrike" dirty="0">
                        <a:solidFill>
                          <a:srgbClr val="000000"/>
                        </a:solidFill>
                        <a:effectLst/>
                        <a:latin typeface="+mj-lt"/>
                      </a:endParaRPr>
                    </a:p>
                  </a:txBody>
                  <a:tcPr marL="36000" marR="72000" marT="36000" marB="36000" anchor="ctr"/>
                </a:tc>
                <a:tc>
                  <a:txBody>
                    <a:bodyPr/>
                    <a:lstStyle/>
                    <a:p>
                      <a:pPr marL="285750" indent="-285750" algn="l" fontAlgn="ctr">
                        <a:buFont typeface="Wingdings" panose="05000000000000000000" pitchFamily="2" charset="2"/>
                        <a:buChar char="§"/>
                      </a:pPr>
                      <a:r>
                        <a:rPr lang="en-US" sz="1400" u="none" strike="noStrike" dirty="0" err="1">
                          <a:effectLst/>
                        </a:rPr>
                        <a:t>neg</a:t>
                      </a:r>
                      <a:r>
                        <a:rPr lang="en-US" sz="1400" u="none" strike="noStrike" dirty="0">
                          <a:effectLst/>
                        </a:rPr>
                        <a:t>     </a:t>
                      </a:r>
                      <a:endParaRPr lang="en-US" sz="1400" b="1" i="0" u="none" strike="noStrike" dirty="0">
                        <a:solidFill>
                          <a:srgbClr val="000000"/>
                        </a:solidFill>
                        <a:effectLst/>
                        <a:latin typeface="+mj-lt"/>
                      </a:endParaRPr>
                    </a:p>
                  </a:txBody>
                  <a:tcPr marL="36000" marR="36000" marT="36000" marB="36000" anchor="ctr"/>
                </a:tc>
                <a:tc>
                  <a:txBody>
                    <a:bodyPr/>
                    <a:lstStyle/>
                    <a:p>
                      <a:pPr algn="l" fontAlgn="ctr"/>
                      <a:r>
                        <a:rPr lang="en-US" sz="1400" u="none" strike="noStrike" dirty="0">
                          <a:effectLst/>
                        </a:rPr>
                        <a:t>negative         </a:t>
                      </a:r>
                      <a:endParaRPr lang="en-US" sz="1400" b="0" i="0" u="none" strike="noStrike" dirty="0">
                        <a:solidFill>
                          <a:srgbClr val="000000"/>
                        </a:solidFill>
                        <a:effectLst/>
                        <a:latin typeface="+mj-lt"/>
                      </a:endParaRPr>
                    </a:p>
                  </a:txBody>
                  <a:tcPr marL="72000" marR="72000" marT="36000" marB="36000" anchor="ctr"/>
                </a:tc>
                <a:extLst>
                  <a:ext uri="{0D108BD9-81ED-4DB2-BD59-A6C34878D82A}">
                    <a16:rowId xmlns="" xmlns:a16="http://schemas.microsoft.com/office/drawing/2014/main" val="10012"/>
                  </a:ext>
                </a:extLst>
              </a:tr>
            </a:tbl>
          </a:graphicData>
        </a:graphic>
      </p:graphicFrame>
      <p:sp>
        <p:nvSpPr>
          <p:cNvPr id="10" name="TextBox 9"/>
          <p:cNvSpPr txBox="1"/>
          <p:nvPr/>
        </p:nvSpPr>
        <p:spPr>
          <a:xfrm>
            <a:off x="405032" y="768715"/>
            <a:ext cx="9977488" cy="307706"/>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13 type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control structure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가 존재합니다</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9571" y="1844824"/>
            <a:ext cx="7402797" cy="2919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제목 7"/>
          <p:cNvSpPr>
            <a:spLocks noGrp="1"/>
          </p:cNvSpPr>
          <p:nvPr>
            <p:ph type="title"/>
          </p:nvPr>
        </p:nvSpPr>
        <p:spPr>
          <a:xfrm>
            <a:off x="408000" y="156779"/>
            <a:ext cx="3194972" cy="424661"/>
          </a:xfrm>
        </p:spPr>
        <p:txBody>
          <a:bodyPr/>
          <a:lstStyle/>
          <a:p>
            <a:r>
              <a:rPr lang="en-US" altLang="ko-KR" dirty="0"/>
              <a:t>Combined </a:t>
            </a:r>
            <a:r>
              <a:rPr lang="en-US" altLang="ko-KR" dirty="0" smtClean="0"/>
              <a:t>Fragment</a:t>
            </a:r>
            <a:endParaRPr lang="ko-KR" altLang="en-US" dirty="0"/>
          </a:p>
        </p:txBody>
      </p:sp>
    </p:spTree>
    <p:extLst>
      <p:ext uri="{BB962C8B-B14F-4D97-AF65-F5344CB8AC3E}">
        <p14:creationId xmlns:p14="http://schemas.microsoft.com/office/powerpoint/2010/main" val="296356453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637" y="3479618"/>
            <a:ext cx="5717858" cy="24774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418637" y="765972"/>
            <a:ext cx="11365364" cy="2209765"/>
          </a:xfrm>
          <a:prstGeom prst="rect">
            <a:avLst/>
          </a:prstGeom>
          <a:noFill/>
        </p:spPr>
        <p:txBody>
          <a:bodyPr wrap="square" lIns="91374" tIns="45685" rIns="91374" bIns="45685">
            <a:spAutoFit/>
          </a:bodyPr>
          <a:lstStyle/>
          <a:p>
            <a:pPr marL="285750" indent="-285750" defTabSz="912813" fontAlgn="base">
              <a:lnSpc>
                <a:spcPct val="120000"/>
              </a:lnSpc>
              <a:spcBef>
                <a:spcPts val="600"/>
              </a:spcBef>
              <a:spcAft>
                <a:spcPct val="0"/>
              </a:spcAft>
              <a:buClr>
                <a:srgbClr val="55CFD1"/>
              </a:buClr>
              <a:buFont typeface="Wingdings" panose="05000000000000000000" pitchFamily="2" charset="2"/>
              <a:buChar char="u"/>
              <a:defRPr/>
            </a:pPr>
            <a:r>
              <a:rPr kumimoji="1" lang="en-US" altLang="ko-KR" sz="1400" dirty="0" err="1">
                <a:ln>
                  <a:solidFill>
                    <a:schemeClr val="bg1">
                      <a:lumMod val="85000"/>
                      <a:alpha val="0"/>
                    </a:schemeClr>
                  </a:solidFill>
                </a:ln>
                <a:solidFill>
                  <a:srgbClr val="4B465E"/>
                </a:solidFill>
                <a:latin typeface="맑은 고딕" pitchFamily="50" charset="-127"/>
                <a:cs typeface="Arial" panose="020B0604020202020204" pitchFamily="34" charset="0"/>
              </a:rPr>
              <a:t>seq</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fragment</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의 경우는 일반적인 처리를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지칭한다</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800100" lvl="1" indent="-342900" defTabSz="912813" fontAlgn="base">
              <a:lnSpc>
                <a:spcPct val="120000"/>
              </a:lnSpc>
              <a:spcBef>
                <a:spcPts val="600"/>
              </a:spcBef>
              <a:spcAft>
                <a:spcPct val="0"/>
              </a:spcAft>
              <a:buClr>
                <a:srgbClr val="55CFD1"/>
              </a:buClr>
              <a:buFont typeface="+mj-lt"/>
              <a:buAutoNum type="arabicPeriod"/>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Lifeline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에서 발생한 것은 순서가 위에서 아래로 결정 된다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800100" lvl="1" indent="-342900" defTabSz="912813" fontAlgn="base">
              <a:lnSpc>
                <a:spcPct val="120000"/>
              </a:lnSpc>
              <a:spcBef>
                <a:spcPts val="600"/>
              </a:spcBef>
              <a:spcAft>
                <a:spcPct val="0"/>
              </a:spcAft>
              <a:buClr>
                <a:srgbClr val="55CFD1"/>
              </a:buClr>
              <a:buFont typeface="+mj-lt"/>
              <a:buAutoNum type="arabicPeriod"/>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Lifeline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간 흐름이 연결되지 않아 서로 의존하지 않을 경우</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r>
            <a:b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b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실행 순서는 모든 경우가 가능하다</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800100" lvl="1" indent="-342900" defTabSz="912813" fontAlgn="base">
              <a:lnSpc>
                <a:spcPct val="120000"/>
              </a:lnSpc>
              <a:spcBef>
                <a:spcPts val="600"/>
              </a:spcBef>
              <a:spcAft>
                <a:spcPct val="0"/>
              </a:spcAft>
              <a:buClr>
                <a:srgbClr val="55CFD1"/>
              </a:buClr>
              <a:buFont typeface="+mj-lt"/>
              <a:buAutoNum type="arabicPeriod"/>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 에시는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1</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번 룰이 먼저 적용이 되고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r>
            <a:b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b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의존에 의해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lifeline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이 다른 선의 순서가 결정이 된다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a:p>
            <a:pPr marL="285750" indent="-285750" defTabSz="912813" fontAlgn="base">
              <a:lnSpc>
                <a:spcPct val="120000"/>
              </a:lnSpc>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strict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는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그려진 순서를 무조건 따른다</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2355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2239" y="3479618"/>
            <a:ext cx="5795010" cy="2683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1726045" cy="424661"/>
          </a:xfrm>
        </p:spPr>
        <p:txBody>
          <a:bodyPr/>
          <a:lstStyle/>
          <a:p>
            <a:r>
              <a:rPr lang="en-US" altLang="ko-KR" dirty="0" err="1"/>
              <a:t>seq</a:t>
            </a:r>
            <a:r>
              <a:rPr lang="en-US" altLang="ko-KR" dirty="0"/>
              <a:t>, strict </a:t>
            </a:r>
            <a:endParaRPr lang="ko-KR" altLang="en-US" dirty="0"/>
          </a:p>
        </p:txBody>
      </p:sp>
      <p:pic>
        <p:nvPicPr>
          <p:cNvPr id="1026" name="Picture 2" descr="https://t1.daumcdn.net/cfile/tistory/998BCB3C5B80EA3D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8703" y="765972"/>
            <a:ext cx="5227626" cy="2014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511896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44" y="2205000"/>
            <a:ext cx="4754880" cy="2736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3"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r="27309"/>
          <a:stretch/>
        </p:blipFill>
        <p:spPr bwMode="auto">
          <a:xfrm>
            <a:off x="5017056" y="2551710"/>
            <a:ext cx="3456384" cy="23898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1840563" cy="757060"/>
          </a:xfrm>
        </p:spPr>
        <p:txBody>
          <a:bodyPr/>
          <a:lstStyle/>
          <a:p>
            <a:r>
              <a:rPr lang="en-US" altLang="ko-KR" dirty="0"/>
              <a:t>alt, </a:t>
            </a:r>
            <a:r>
              <a:rPr lang="en-US" altLang="ko-KR" dirty="0" smtClean="0"/>
              <a:t>opt, ref</a:t>
            </a:r>
            <a:r>
              <a:rPr lang="en-US" altLang="ko-KR" dirty="0"/>
              <a:t/>
            </a:r>
            <a:br>
              <a:rPr lang="en-US" altLang="ko-KR" dirty="0"/>
            </a:br>
            <a:endParaRPr lang="ko-KR" altLang="en-US" dirty="0"/>
          </a:p>
        </p:txBody>
      </p:sp>
      <p:pic>
        <p:nvPicPr>
          <p:cNvPr id="2" name="그림 1"/>
          <p:cNvPicPr>
            <a:picLocks noChangeAspect="1"/>
          </p:cNvPicPr>
          <p:nvPr/>
        </p:nvPicPr>
        <p:blipFill rotWithShape="1">
          <a:blip r:embed="rId5"/>
          <a:srcRect l="10415"/>
          <a:stretch/>
        </p:blipFill>
        <p:spPr>
          <a:xfrm>
            <a:off x="8688288" y="2297075"/>
            <a:ext cx="3097103" cy="2552381"/>
          </a:xfrm>
          <a:prstGeom prst="rect">
            <a:avLst/>
          </a:prstGeom>
        </p:spPr>
      </p:pic>
    </p:spTree>
    <p:extLst>
      <p:ext uri="{BB962C8B-B14F-4D97-AF65-F5344CB8AC3E}">
        <p14:creationId xmlns:p14="http://schemas.microsoft.com/office/powerpoint/2010/main" val="319486497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5830" y="2877311"/>
            <a:ext cx="4796472" cy="35086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4171" y="894662"/>
            <a:ext cx="3657600" cy="212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2890" y="894661"/>
            <a:ext cx="3657600" cy="212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7340" y="3361954"/>
            <a:ext cx="4324350" cy="283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2295" y="785123"/>
            <a:ext cx="4324350"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1853387" cy="424661"/>
          </a:xfrm>
        </p:spPr>
        <p:txBody>
          <a:bodyPr/>
          <a:lstStyle/>
          <a:p>
            <a:r>
              <a:rPr lang="en-US" altLang="ko-KR" dirty="0"/>
              <a:t>loop, </a:t>
            </a:r>
            <a:r>
              <a:rPr lang="en-US" altLang="ko-KR" dirty="0" smtClean="0"/>
              <a:t>break</a:t>
            </a:r>
            <a:endParaRPr lang="ko-KR" altLang="en-US" dirty="0"/>
          </a:p>
        </p:txBody>
      </p:sp>
      <p:cxnSp>
        <p:nvCxnSpPr>
          <p:cNvPr id="3" name="직선 연결선 2"/>
          <p:cNvCxnSpPr/>
          <p:nvPr/>
        </p:nvCxnSpPr>
        <p:spPr>
          <a:xfrm>
            <a:off x="6672064" y="3018736"/>
            <a:ext cx="1152128" cy="0"/>
          </a:xfrm>
          <a:prstGeom prst="line">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4935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36" y="144015"/>
            <a:ext cx="11801419" cy="659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390" y="3137031"/>
            <a:ext cx="8823105" cy="17321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977372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000" y="885010"/>
            <a:ext cx="3952875" cy="2724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6034" y="701880"/>
            <a:ext cx="2758653" cy="2782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5371" y="3609160"/>
            <a:ext cx="5658633" cy="27784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1789139" cy="424661"/>
          </a:xfrm>
        </p:spPr>
        <p:txBody>
          <a:bodyPr/>
          <a:lstStyle/>
          <a:p>
            <a:r>
              <a:rPr lang="en-US" altLang="ko-KR" dirty="0"/>
              <a:t>par, </a:t>
            </a:r>
            <a:r>
              <a:rPr lang="en-US" altLang="ko-KR" dirty="0" smtClean="0"/>
              <a:t>critical</a:t>
            </a:r>
            <a:endParaRPr lang="ko-KR" altLang="en-US" dirty="0"/>
          </a:p>
        </p:txBody>
      </p:sp>
    </p:spTree>
    <p:extLst>
      <p:ext uri="{BB962C8B-B14F-4D97-AF65-F5344CB8AC3E}">
        <p14:creationId xmlns:p14="http://schemas.microsoft.com/office/powerpoint/2010/main" val="67175334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2427" y="2010103"/>
            <a:ext cx="304800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647" y="2051980"/>
            <a:ext cx="3067050" cy="220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1904427" cy="424661"/>
          </a:xfrm>
        </p:spPr>
        <p:txBody>
          <a:bodyPr/>
          <a:lstStyle/>
          <a:p>
            <a:r>
              <a:rPr lang="en-US" altLang="ko-KR" dirty="0"/>
              <a:t>assert, </a:t>
            </a:r>
            <a:r>
              <a:rPr lang="en-US" altLang="ko-KR" dirty="0" err="1"/>
              <a:t>neg</a:t>
            </a:r>
            <a:r>
              <a:rPr lang="en-US" altLang="ko-KR" dirty="0"/>
              <a:t> </a:t>
            </a:r>
            <a:endParaRPr lang="ko-KR" altLang="en-US" dirty="0"/>
          </a:p>
        </p:txBody>
      </p:sp>
    </p:spTree>
    <p:extLst>
      <p:ext uri="{BB962C8B-B14F-4D97-AF65-F5344CB8AC3E}">
        <p14:creationId xmlns:p14="http://schemas.microsoft.com/office/powerpoint/2010/main" val="35219817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989" y="1146459"/>
            <a:ext cx="286702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474" y="3818539"/>
            <a:ext cx="289560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2080" y="923750"/>
            <a:ext cx="2346960" cy="2273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52080" y="3747595"/>
            <a:ext cx="2346960" cy="2273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2560311" cy="424661"/>
          </a:xfrm>
        </p:spPr>
        <p:txBody>
          <a:bodyPr/>
          <a:lstStyle/>
          <a:p>
            <a:r>
              <a:rPr lang="en-US" altLang="ko-KR" dirty="0"/>
              <a:t>ignore, consider</a:t>
            </a:r>
            <a:endParaRPr lang="ko-KR" altLang="en-US" dirty="0"/>
          </a:p>
        </p:txBody>
      </p:sp>
    </p:spTree>
    <p:extLst>
      <p:ext uri="{BB962C8B-B14F-4D97-AF65-F5344CB8AC3E}">
        <p14:creationId xmlns:p14="http://schemas.microsoft.com/office/powerpoint/2010/main" val="406879565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그림 6"/>
          <p:cNvPicPr>
            <a:picLocks noChangeAspect="1"/>
          </p:cNvPicPr>
          <p:nvPr/>
        </p:nvPicPr>
        <p:blipFill rotWithShape="1">
          <a:blip r:embed="rId3">
            <a:extLst>
              <a:ext uri="{28A0092B-C50C-407E-A947-70E740481C1C}">
                <a14:useLocalDpi xmlns:a14="http://schemas.microsoft.com/office/drawing/2010/main" val="0"/>
              </a:ext>
            </a:extLst>
          </a:blip>
          <a:srcRect b="4740"/>
          <a:stretch/>
        </p:blipFill>
        <p:spPr>
          <a:xfrm>
            <a:off x="5407022" y="725214"/>
            <a:ext cx="6664820" cy="5762296"/>
          </a:xfrm>
          <a:prstGeom prst="rect">
            <a:avLst/>
          </a:prstGeom>
        </p:spPr>
      </p:pic>
      <p:pic>
        <p:nvPicPr>
          <p:cNvPr id="1028" name="Picture 4" descr="https://solwiki.swservice.samsungds.net:8090/wiki/download/attachments/176426902/image2020-1-31_15-49-27.png?version=1&amp;modificationDate=1580459452683&amp;api=v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421" y="2295456"/>
            <a:ext cx="1285714" cy="23400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https://solwiki.swservice.samsungds.net:8090/wiki/download/attachments/176426902/image2020-1-31_15-49-31.png?version=1&amp;modificationDate=1580459452683&amp;api=v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3915" y="2295455"/>
            <a:ext cx="1285714" cy="2340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https://solwiki.swservice.samsungds.net:8090/wiki/download/attachments/176426902/image2020-1-31_15-49-11.png?version=1&amp;modificationDate=1580459452697&amp;api=v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827" y="2295457"/>
            <a:ext cx="1320000" cy="2340000"/>
          </a:xfrm>
          <a:prstGeom prst="rect">
            <a:avLst/>
          </a:prstGeom>
          <a:noFill/>
          <a:extLst>
            <a:ext uri="{909E8E84-426E-40DD-AFC4-6F175D3DCCD1}">
              <a14:hiddenFill xmlns:a14="http://schemas.microsoft.com/office/drawing/2010/main">
                <a:solidFill>
                  <a:srgbClr val="FFFFFF"/>
                </a:solidFill>
              </a14:hiddenFill>
            </a:ext>
          </a:extLst>
        </p:spPr>
      </p:pic>
      <p:sp>
        <p:nvSpPr>
          <p:cNvPr id="8" name="제목 7"/>
          <p:cNvSpPr>
            <a:spLocks noGrp="1"/>
          </p:cNvSpPr>
          <p:nvPr>
            <p:ph type="title"/>
          </p:nvPr>
        </p:nvSpPr>
        <p:spPr>
          <a:xfrm>
            <a:off x="408000" y="156779"/>
            <a:ext cx="3895292" cy="424661"/>
          </a:xfrm>
        </p:spPr>
        <p:txBody>
          <a:bodyPr/>
          <a:lstStyle/>
          <a:p>
            <a:r>
              <a:rPr lang="en-US" altLang="ko-KR" dirty="0"/>
              <a:t>Boundary, Control, </a:t>
            </a:r>
            <a:r>
              <a:rPr lang="en-US" altLang="ko-KR" dirty="0" smtClean="0"/>
              <a:t>Entity</a:t>
            </a:r>
            <a:endParaRPr lang="ko-KR" altLang="en-US" dirty="0"/>
          </a:p>
        </p:txBody>
      </p:sp>
    </p:spTree>
    <p:extLst>
      <p:ext uri="{BB962C8B-B14F-4D97-AF65-F5344CB8AC3E}">
        <p14:creationId xmlns:p14="http://schemas.microsoft.com/office/powerpoint/2010/main" val="20927600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6</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5391086"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System Sequence Diagram</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252859962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08000" y="156779"/>
            <a:ext cx="5113767" cy="424661"/>
          </a:xfrm>
        </p:spPr>
        <p:txBody>
          <a:bodyPr/>
          <a:lstStyle/>
          <a:p>
            <a:r>
              <a:rPr lang="en-US" altLang="ko-KR" dirty="0" smtClean="0"/>
              <a:t>System Sequence Diagram (SSD)</a:t>
            </a:r>
            <a:endParaRPr lang="ko-KR" altLang="en-US" dirty="0"/>
          </a:p>
        </p:txBody>
      </p:sp>
      <p:sp>
        <p:nvSpPr>
          <p:cNvPr id="3" name="텍스트 개체 틀 2"/>
          <p:cNvSpPr>
            <a:spLocks noGrp="1"/>
          </p:cNvSpPr>
          <p:nvPr>
            <p:ph type="body" sz="quarter" idx="10"/>
          </p:nvPr>
        </p:nvSpPr>
        <p:spPr>
          <a:xfrm>
            <a:off x="408001" y="765138"/>
            <a:ext cx="11376631" cy="1483996"/>
          </a:xfrm>
        </p:spPr>
        <p:txBody>
          <a:bodyPr wrap="square">
            <a:spAutoFit/>
          </a:bodyPr>
          <a:lstStyle/>
          <a:p>
            <a:pPr>
              <a:lnSpc>
                <a:spcPct val="120000"/>
              </a:lnSpc>
            </a:pPr>
            <a:r>
              <a:rPr lang="en-US" altLang="ko-KR" sz="1500" dirty="0" smtClean="0"/>
              <a:t>SSD</a:t>
            </a:r>
            <a:r>
              <a:rPr lang="ko-KR" altLang="en-US" sz="1500" dirty="0" smtClean="0"/>
              <a:t>는 시스템과 외부 </a:t>
            </a:r>
            <a:r>
              <a:rPr lang="ko-KR" altLang="en-US" sz="1500" dirty="0" err="1" smtClean="0"/>
              <a:t>액터간의</a:t>
            </a:r>
            <a:r>
              <a:rPr lang="ko-KR" altLang="en-US" sz="1500" dirty="0" smtClean="0"/>
              <a:t> 상호 작용을 순서 대로 표현한 </a:t>
            </a:r>
            <a:r>
              <a:rPr lang="en-US" altLang="ko-KR" sz="1500" dirty="0" smtClean="0"/>
              <a:t>Sequence Diagram </a:t>
            </a:r>
            <a:r>
              <a:rPr lang="ko-KR" altLang="en-US" sz="1500" dirty="0" smtClean="0"/>
              <a:t>입니다</a:t>
            </a:r>
            <a:r>
              <a:rPr lang="en-US" altLang="ko-KR" sz="1500" dirty="0" smtClean="0"/>
              <a:t> </a:t>
            </a:r>
          </a:p>
          <a:p>
            <a:pPr>
              <a:lnSpc>
                <a:spcPct val="120000"/>
              </a:lnSpc>
            </a:pPr>
            <a:r>
              <a:rPr lang="en-US" altLang="ko-KR" sz="1500" dirty="0" smtClean="0"/>
              <a:t>SSD</a:t>
            </a:r>
            <a:r>
              <a:rPr lang="ko-KR" altLang="en-US" sz="1500" dirty="0" smtClean="0"/>
              <a:t>는 시스템의 전체적인 흐름과 외부와의 인터페이스를 명확하게 이해할 수 있게 합니다</a:t>
            </a:r>
            <a:r>
              <a:rPr lang="en-US" altLang="ko-KR" sz="1500" dirty="0" smtClean="0"/>
              <a:t> </a:t>
            </a:r>
          </a:p>
          <a:p>
            <a:pPr>
              <a:lnSpc>
                <a:spcPct val="120000"/>
              </a:lnSpc>
            </a:pPr>
            <a:r>
              <a:rPr lang="ko-KR" altLang="en-US" sz="1500" dirty="0" smtClean="0"/>
              <a:t>시스템과 외부 </a:t>
            </a:r>
            <a:r>
              <a:rPr lang="ko-KR" altLang="en-US" sz="1500" dirty="0" err="1" smtClean="0"/>
              <a:t>엑터가</a:t>
            </a:r>
            <a:r>
              <a:rPr lang="ko-KR" altLang="en-US" sz="1500" dirty="0" smtClean="0"/>
              <a:t> 어떻게 상호작용하는지 한눈에 파악 할 수 있게 해 줍니다</a:t>
            </a:r>
            <a:r>
              <a:rPr lang="en-US" altLang="ko-KR" sz="1500" dirty="0" smtClean="0"/>
              <a:t> </a:t>
            </a:r>
          </a:p>
          <a:p>
            <a:pPr lvl="1">
              <a:lnSpc>
                <a:spcPct val="120000"/>
              </a:lnSpc>
            </a:pPr>
            <a:r>
              <a:rPr lang="ko-KR" altLang="en-US" sz="1300" dirty="0" smtClean="0"/>
              <a:t>메인</a:t>
            </a:r>
            <a:r>
              <a:rPr lang="en-US" altLang="ko-KR" sz="1300" dirty="0" smtClean="0"/>
              <a:t>/</a:t>
            </a:r>
            <a:r>
              <a:rPr lang="ko-KR" altLang="en-US" sz="1300" dirty="0" smtClean="0"/>
              <a:t>대체</a:t>
            </a:r>
            <a:r>
              <a:rPr lang="en-US" altLang="ko-KR" sz="1300" dirty="0" smtClean="0"/>
              <a:t>/</a:t>
            </a:r>
            <a:r>
              <a:rPr lang="ko-KR" altLang="en-US" sz="1300" dirty="0" smtClean="0"/>
              <a:t>예외 시나리오가 합쳐져 순서대로 표현 되기에 해당 기능의 전체적인 흐름을 파악 할 수 있습니다</a:t>
            </a:r>
            <a:endParaRPr lang="en-US" altLang="ko-KR" sz="1300" dirty="0" smtClean="0"/>
          </a:p>
        </p:txBody>
      </p:sp>
      <p:sp>
        <p:nvSpPr>
          <p:cNvPr id="4" name="텍스트 개체 틀 2"/>
          <p:cNvSpPr txBox="1">
            <a:spLocks/>
          </p:cNvSpPr>
          <p:nvPr/>
        </p:nvSpPr>
        <p:spPr>
          <a:xfrm>
            <a:off x="407369" y="3356992"/>
            <a:ext cx="5472608" cy="2204193"/>
          </a:xfrm>
          <a:prstGeom prst="rect">
            <a:avLst/>
          </a:prstGeom>
        </p:spPr>
        <p:txBody>
          <a:bodyPr vert="horz" wrap="square" lIns="36000" tIns="45720" rIns="36000" bIns="45720" rtlCol="0" anchor="t" anchorCtr="0">
            <a:spAutoFit/>
          </a:bodyPr>
          <a:lstStyle>
            <a:lvl1pPr marL="228600" indent="-228600" algn="l" defTabSz="914400" rtl="0" eaLnBrk="1" latinLnBrk="1" hangingPunct="1">
              <a:lnSpc>
                <a:spcPct val="90000"/>
              </a:lnSpc>
              <a:spcBef>
                <a:spcPts val="1000"/>
              </a:spcBef>
              <a:buFont typeface="Arial" panose="020B0604020202020204" pitchFamily="34" charset="0"/>
              <a:buChar char="•"/>
              <a:defRPr lang="ko-KR" altLang="en-US" sz="1800" kern="1200" smtClean="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lang="ko-KR" altLang="en-US" sz="1600" kern="1200" smtClean="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lang="ko-KR" altLang="en-US" sz="1400" kern="1200" smtClean="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lang="ko-KR" altLang="en-US" sz="1200" kern="1200" smtClean="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lang="ko-KR" altLang="en-US" sz="11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500" dirty="0" smtClean="0"/>
              <a:t>Use case </a:t>
            </a:r>
            <a:r>
              <a:rPr lang="ko-KR" altLang="en-US" sz="1500" dirty="0" smtClean="0"/>
              <a:t>시나리오 단계를 그대로 </a:t>
            </a:r>
            <a:r>
              <a:rPr lang="en-US" altLang="ko-KR" sz="1500" dirty="0" smtClean="0"/>
              <a:t>Sequence Diagram</a:t>
            </a:r>
            <a:r>
              <a:rPr lang="ko-KR" altLang="en-US" sz="1500" dirty="0" smtClean="0"/>
              <a:t>으로 작성합니다</a:t>
            </a:r>
            <a:r>
              <a:rPr lang="en-US" altLang="ko-KR" sz="1500" dirty="0" smtClean="0"/>
              <a:t>. </a:t>
            </a:r>
          </a:p>
          <a:p>
            <a:pPr lvl="1">
              <a:lnSpc>
                <a:spcPct val="120000"/>
              </a:lnSpc>
            </a:pPr>
            <a:r>
              <a:rPr lang="ko-KR" altLang="en-US" sz="1300" dirty="0" smtClean="0"/>
              <a:t>시나리오에 기술 되지 않은 단계를 추가 하지 않습니다</a:t>
            </a:r>
            <a:r>
              <a:rPr lang="en-US" altLang="ko-KR" sz="1300" dirty="0" smtClean="0"/>
              <a:t>.</a:t>
            </a:r>
          </a:p>
          <a:p>
            <a:pPr lvl="1">
              <a:lnSpc>
                <a:spcPct val="120000"/>
              </a:lnSpc>
            </a:pPr>
            <a:r>
              <a:rPr lang="ko-KR" altLang="en-US" sz="1300" dirty="0" smtClean="0"/>
              <a:t>시나리오에 보이지 않는 외부 </a:t>
            </a:r>
            <a:r>
              <a:rPr lang="ko-KR" altLang="en-US" sz="1300" dirty="0" err="1" smtClean="0"/>
              <a:t>액터가</a:t>
            </a:r>
            <a:r>
              <a:rPr lang="ko-KR" altLang="en-US" sz="1300" dirty="0" smtClean="0"/>
              <a:t> 등장해서는 안됩니다</a:t>
            </a:r>
            <a:r>
              <a:rPr lang="en-US" altLang="ko-KR" sz="1300" dirty="0" smtClean="0"/>
              <a:t>.</a:t>
            </a:r>
          </a:p>
          <a:p>
            <a:pPr lvl="1">
              <a:lnSpc>
                <a:spcPct val="120000"/>
              </a:lnSpc>
            </a:pPr>
            <a:r>
              <a:rPr lang="en-US" altLang="ko-KR" sz="1300" dirty="0" smtClean="0"/>
              <a:t>SSD</a:t>
            </a:r>
            <a:r>
              <a:rPr lang="ko-KR" altLang="en-US" sz="1300" dirty="0" smtClean="0"/>
              <a:t>를 작성하기 어렵다면 </a:t>
            </a:r>
            <a:r>
              <a:rPr lang="en-US" altLang="ko-KR" sz="1300" dirty="0" smtClean="0"/>
              <a:t>Use case</a:t>
            </a:r>
            <a:r>
              <a:rPr lang="ko-KR" altLang="en-US" sz="1300" dirty="0" smtClean="0"/>
              <a:t>가 잘 못 기술 되었을 가능성이 있습니다</a:t>
            </a:r>
            <a:r>
              <a:rPr lang="en-US" altLang="ko-KR" sz="1300" dirty="0" smtClean="0"/>
              <a:t>.</a:t>
            </a:r>
          </a:p>
          <a:p>
            <a:pPr>
              <a:lnSpc>
                <a:spcPct val="120000"/>
              </a:lnSpc>
            </a:pPr>
            <a:r>
              <a:rPr lang="ko-KR" altLang="en-US" sz="1500" dirty="0" smtClean="0"/>
              <a:t>시스템 내부의 동작이 묘사 되어서는 안됩니다</a:t>
            </a:r>
            <a:r>
              <a:rPr lang="en-US" altLang="ko-KR" sz="1500" dirty="0" smtClean="0"/>
              <a:t>. </a:t>
            </a:r>
            <a:r>
              <a:rPr lang="ko-KR" altLang="en-US" sz="1500" dirty="0" smtClean="0"/>
              <a:t> </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4032" y="2677051"/>
            <a:ext cx="520065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072729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2076" b="2435"/>
          <a:stretch/>
        </p:blipFill>
        <p:spPr bwMode="auto">
          <a:xfrm>
            <a:off x="5879976" y="188640"/>
            <a:ext cx="6247532" cy="6252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8425"/>
          <a:stretch/>
        </p:blipFill>
        <p:spPr bwMode="auto">
          <a:xfrm>
            <a:off x="53728" y="291130"/>
            <a:ext cx="5472608" cy="6206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086029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7</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3098792"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Domain Model</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252859962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p:cNvSpPr>
            <a:spLocks noGrp="1"/>
          </p:cNvSpPr>
          <p:nvPr>
            <p:ph type="body" sz="quarter" idx="10"/>
          </p:nvPr>
        </p:nvSpPr>
        <p:spPr/>
        <p:txBody>
          <a:bodyPr>
            <a:normAutofit/>
          </a:bodyPr>
          <a:lstStyle/>
          <a:p>
            <a:r>
              <a:rPr lang="ko-KR" altLang="en-US" sz="1500" dirty="0"/>
              <a:t>기본적으로 도메인 모델은 </a:t>
            </a:r>
            <a:r>
              <a:rPr lang="ko-KR" altLang="en-US" sz="1500" dirty="0" smtClean="0"/>
              <a:t>도메인을 이해하기 위한 개념 모델입니다</a:t>
            </a:r>
            <a:r>
              <a:rPr lang="en-US" altLang="ko-KR" sz="1500" dirty="0" smtClean="0"/>
              <a:t>.</a:t>
            </a:r>
            <a:endParaRPr lang="ko-KR" altLang="en-US" sz="1500" dirty="0"/>
          </a:p>
          <a:p>
            <a:r>
              <a:rPr lang="ko-KR" altLang="en-US" sz="1500" dirty="0" smtClean="0"/>
              <a:t>도메인 모델을 통해 서로 다른 배경을 가진 사람들이</a:t>
            </a:r>
            <a:r>
              <a:rPr lang="en-US" altLang="ko-KR" sz="1500" dirty="0"/>
              <a:t> (</a:t>
            </a:r>
            <a:r>
              <a:rPr lang="ko-KR" altLang="en-US" sz="1500" dirty="0"/>
              <a:t>개발자와 도메인 전문가</a:t>
            </a:r>
            <a:r>
              <a:rPr lang="en-US" altLang="ko-KR" sz="1500" dirty="0"/>
              <a:t>)</a:t>
            </a:r>
            <a:r>
              <a:rPr lang="ko-KR" altLang="en-US" sz="1500" dirty="0" smtClean="0"/>
              <a:t> 같은 개념을 이해하고 논의 할 수 있습니다</a:t>
            </a:r>
            <a:endParaRPr lang="en-US" altLang="ko-KR" sz="1500" dirty="0" smtClean="0"/>
          </a:p>
          <a:p>
            <a:r>
              <a:rPr lang="ko-KR" altLang="en-US" sz="1500" dirty="0" smtClean="0"/>
              <a:t>도메인 모델은 다양한 형태로 표현 될 수 있어</a:t>
            </a:r>
            <a:r>
              <a:rPr lang="en-US" altLang="ko-KR" sz="1500" dirty="0" smtClean="0"/>
              <a:t>, </a:t>
            </a:r>
            <a:r>
              <a:rPr lang="ko-KR" altLang="en-US" sz="1500" dirty="0" smtClean="0"/>
              <a:t>상황과 목적에 따라 가장 적합한 방법을 선택할 수 있습니다</a:t>
            </a:r>
            <a:r>
              <a:rPr lang="en-US" altLang="ko-KR" sz="1500" dirty="0" smtClean="0"/>
              <a:t>.</a:t>
            </a:r>
          </a:p>
          <a:p>
            <a:r>
              <a:rPr lang="en-US" altLang="ko-KR" sz="1500" dirty="0" smtClean="0"/>
              <a:t>OOAD </a:t>
            </a:r>
            <a:r>
              <a:rPr lang="ko-KR" altLang="en-US" sz="1500" dirty="0" smtClean="0"/>
              <a:t>과정에서는 클래스 다이어그램을 사용하여 도메인 객체와 그 관계를 연결하는 방식을 사용하도록 하겠습니다</a:t>
            </a:r>
            <a:r>
              <a:rPr lang="en-US" altLang="ko-KR" sz="1500" dirty="0" smtClean="0"/>
              <a:t>.</a:t>
            </a:r>
            <a:endParaRPr lang="ko-KR" altLang="en-US" sz="1500" dirty="0"/>
          </a:p>
        </p:txBody>
      </p:sp>
      <p:sp>
        <p:nvSpPr>
          <p:cNvPr id="3" name="제목 2"/>
          <p:cNvSpPr>
            <a:spLocks noGrp="1"/>
          </p:cNvSpPr>
          <p:nvPr>
            <p:ph type="title"/>
          </p:nvPr>
        </p:nvSpPr>
        <p:spPr/>
        <p:txBody>
          <a:bodyPr/>
          <a:lstStyle/>
          <a:p>
            <a:r>
              <a:rPr lang="ko-KR" altLang="en-US" dirty="0" smtClean="0"/>
              <a:t>도메인 모델</a:t>
            </a:r>
            <a:endParaRPr lang="ko-KR" altLang="en-US" dirty="0"/>
          </a:p>
        </p:txBody>
      </p:sp>
      <p:pic>
        <p:nvPicPr>
          <p:cNvPr id="5" name="그림 4"/>
          <p:cNvPicPr>
            <a:picLocks noChangeAspect="1"/>
          </p:cNvPicPr>
          <p:nvPr/>
        </p:nvPicPr>
        <p:blipFill>
          <a:blip r:embed="rId3"/>
          <a:stretch>
            <a:fillRect/>
          </a:stretch>
        </p:blipFill>
        <p:spPr>
          <a:xfrm>
            <a:off x="551384" y="2641965"/>
            <a:ext cx="5555032" cy="3883379"/>
          </a:xfrm>
          <a:prstGeom prst="rect">
            <a:avLst/>
          </a:prstGeom>
        </p:spPr>
      </p:pic>
      <p:pic>
        <p:nvPicPr>
          <p:cNvPr id="6" name="그림 5"/>
          <p:cNvPicPr>
            <a:picLocks noChangeAspect="1"/>
          </p:cNvPicPr>
          <p:nvPr/>
        </p:nvPicPr>
        <p:blipFill>
          <a:blip r:embed="rId4"/>
          <a:stretch>
            <a:fillRect/>
          </a:stretch>
        </p:blipFill>
        <p:spPr>
          <a:xfrm>
            <a:off x="6672064" y="2780928"/>
            <a:ext cx="5329200" cy="3739363"/>
          </a:xfrm>
          <a:prstGeom prst="rect">
            <a:avLst/>
          </a:prstGeom>
        </p:spPr>
      </p:pic>
    </p:spTree>
    <p:extLst>
      <p:ext uri="{BB962C8B-B14F-4D97-AF65-F5344CB8AC3E}">
        <p14:creationId xmlns:p14="http://schemas.microsoft.com/office/powerpoint/2010/main" val="40674518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1832420" cy="424661"/>
          </a:xfrm>
        </p:spPr>
        <p:txBody>
          <a:bodyPr/>
          <a:lstStyle/>
          <a:p>
            <a:r>
              <a:rPr lang="ko-KR" altLang="en-US" dirty="0"/>
              <a:t>도메인 모델</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032" y="908720"/>
            <a:ext cx="5400600" cy="5014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07368" y="908720"/>
            <a:ext cx="5904656" cy="2585323"/>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ko-KR" altLang="en-US" sz="1500" dirty="0" smtClean="0"/>
              <a:t>시나리오를 읽으면서 명사</a:t>
            </a:r>
            <a:r>
              <a:rPr lang="en-US" altLang="ko-KR" sz="1500" dirty="0" smtClean="0"/>
              <a:t>/</a:t>
            </a:r>
            <a:r>
              <a:rPr lang="ko-KR" altLang="en-US" sz="1500" dirty="0" smtClean="0"/>
              <a:t>명사구를 추출합니다</a:t>
            </a:r>
            <a:endParaRPr lang="en-US" altLang="ko-KR" sz="1500" dirty="0" smtClean="0"/>
          </a:p>
          <a:p>
            <a:pPr marL="285750" indent="-285750">
              <a:lnSpc>
                <a:spcPct val="120000"/>
              </a:lnSpc>
              <a:buFont typeface="Arial" panose="020B0604020202020204" pitchFamily="34" charset="0"/>
              <a:buChar char="•"/>
            </a:pPr>
            <a:r>
              <a:rPr lang="ko-KR" altLang="en-US" sz="1500" dirty="0" smtClean="0"/>
              <a:t>주요 명사는 </a:t>
            </a:r>
            <a:r>
              <a:rPr lang="en-US" altLang="ko-KR" sz="1500" dirty="0" smtClean="0"/>
              <a:t>Class, </a:t>
            </a:r>
            <a:r>
              <a:rPr lang="ko-KR" altLang="en-US" sz="1500" dirty="0" smtClean="0"/>
              <a:t>연관 명사는 멤버 변수로 표시 합니다</a:t>
            </a:r>
            <a:endParaRPr lang="en-US" altLang="ko-KR" sz="1500" dirty="0" smtClean="0"/>
          </a:p>
          <a:p>
            <a:pPr marL="285750" indent="-285750">
              <a:lnSpc>
                <a:spcPct val="120000"/>
              </a:lnSpc>
              <a:buFont typeface="Arial" panose="020B0604020202020204" pitchFamily="34" charset="0"/>
              <a:buChar char="•"/>
            </a:pPr>
            <a:r>
              <a:rPr lang="en-US" altLang="ko-KR" sz="1500" dirty="0" smtClean="0"/>
              <a:t>Class </a:t>
            </a:r>
            <a:r>
              <a:rPr lang="ko-KR" altLang="en-US" sz="1500" dirty="0" smtClean="0"/>
              <a:t>들간의 연관성이 있으면 선으로 연결합니다</a:t>
            </a:r>
            <a:r>
              <a:rPr lang="en-US" altLang="ko-KR" sz="1500" dirty="0" smtClean="0"/>
              <a:t>.</a:t>
            </a:r>
          </a:p>
          <a:p>
            <a:pPr marL="285750" indent="-285750">
              <a:lnSpc>
                <a:spcPct val="120000"/>
              </a:lnSpc>
              <a:buFont typeface="Arial" panose="020B0604020202020204" pitchFamily="34" charset="0"/>
              <a:buChar char="•"/>
            </a:pPr>
            <a:r>
              <a:rPr lang="en-US" altLang="ko-KR" sz="1500" dirty="0" smtClean="0"/>
              <a:t>1:1 </a:t>
            </a:r>
            <a:r>
              <a:rPr lang="ko-KR" altLang="en-US" sz="1500" dirty="0" smtClean="0"/>
              <a:t>이 아닌 관계라면 </a:t>
            </a:r>
            <a:r>
              <a:rPr lang="ko-KR" altLang="en-US" sz="1500" dirty="0" err="1" smtClean="0"/>
              <a:t>다수성을</a:t>
            </a:r>
            <a:r>
              <a:rPr lang="ko-KR" altLang="en-US" sz="1500" dirty="0" smtClean="0"/>
              <a:t> 표시 합니다</a:t>
            </a:r>
            <a:r>
              <a:rPr lang="en-US" altLang="ko-KR" sz="1500" dirty="0" smtClean="0"/>
              <a:t>.</a:t>
            </a:r>
          </a:p>
          <a:p>
            <a:pPr marL="285750" indent="-285750">
              <a:lnSpc>
                <a:spcPct val="120000"/>
              </a:lnSpc>
              <a:buFont typeface="Arial" panose="020B0604020202020204" pitchFamily="34" charset="0"/>
              <a:buChar char="•"/>
            </a:pPr>
            <a:endParaRPr lang="en-US" altLang="ko-KR" sz="1500" dirty="0" smtClean="0"/>
          </a:p>
          <a:p>
            <a:pPr marL="285750" indent="-285750">
              <a:lnSpc>
                <a:spcPct val="120000"/>
              </a:lnSpc>
              <a:buFont typeface="Arial" panose="020B0604020202020204" pitchFamily="34" charset="0"/>
              <a:buChar char="•"/>
            </a:pPr>
            <a:r>
              <a:rPr lang="en-US" altLang="ko-KR" sz="1500" dirty="0" smtClean="0"/>
              <a:t>Class </a:t>
            </a:r>
            <a:r>
              <a:rPr lang="ko-KR" altLang="en-US" sz="1500" dirty="0" smtClean="0"/>
              <a:t>간의 연관 관계를 명명합니다</a:t>
            </a:r>
            <a:r>
              <a:rPr lang="en-US" altLang="ko-KR" sz="1500" dirty="0" smtClean="0"/>
              <a:t>.</a:t>
            </a:r>
            <a:r>
              <a:rPr lang="ko-KR" altLang="en-US" sz="1500" dirty="0" smtClean="0"/>
              <a:t> </a:t>
            </a:r>
            <a:endParaRPr lang="en-US" altLang="ko-KR" sz="1500" dirty="0" smtClean="0"/>
          </a:p>
          <a:p>
            <a:pPr marL="285750" indent="-285750">
              <a:lnSpc>
                <a:spcPct val="120000"/>
              </a:lnSpc>
              <a:buFont typeface="Arial" panose="020B0604020202020204" pitchFamily="34" charset="0"/>
              <a:buChar char="•"/>
            </a:pPr>
            <a:r>
              <a:rPr lang="ko-KR" altLang="en-US" sz="1500" dirty="0" smtClean="0"/>
              <a:t>연관 관계를 명명하기 어려우면 그들간의 행위를 표시해 봅니다</a:t>
            </a:r>
            <a:r>
              <a:rPr lang="en-US" altLang="ko-KR" sz="1500" dirty="0" smtClean="0"/>
              <a:t>.</a:t>
            </a:r>
          </a:p>
          <a:p>
            <a:pPr marL="285750" indent="-285750">
              <a:lnSpc>
                <a:spcPct val="120000"/>
              </a:lnSpc>
              <a:buFont typeface="Arial" panose="020B0604020202020204" pitchFamily="34" charset="0"/>
              <a:buChar char="•"/>
            </a:pPr>
            <a:r>
              <a:rPr lang="ko-KR" altLang="en-US" sz="1500" dirty="0" smtClean="0"/>
              <a:t>행위 표시가 적절치 않다면 생략합니다</a:t>
            </a:r>
            <a:endParaRPr lang="en-US" altLang="ko-KR" sz="1500" dirty="0" smtClean="0"/>
          </a:p>
          <a:p>
            <a:pPr marL="285750" indent="-285750">
              <a:lnSpc>
                <a:spcPct val="120000"/>
              </a:lnSpc>
              <a:buFont typeface="Arial" panose="020B0604020202020204" pitchFamily="34" charset="0"/>
              <a:buChar char="•"/>
            </a:pPr>
            <a:endParaRPr lang="en-US" altLang="ko-KR" sz="1500" dirty="0"/>
          </a:p>
        </p:txBody>
      </p:sp>
    </p:spTree>
    <p:extLst>
      <p:ext uri="{BB962C8B-B14F-4D97-AF65-F5344CB8AC3E}">
        <p14:creationId xmlns:p14="http://schemas.microsoft.com/office/powerpoint/2010/main" val="3520538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1703512" y="1884296"/>
            <a:ext cx="9073008" cy="4623931"/>
          </a:xfrm>
          <a:prstGeom prst="rect">
            <a:avLst/>
          </a:prstGeom>
        </p:spPr>
      </p:pic>
      <p:sp>
        <p:nvSpPr>
          <p:cNvPr id="5" name="텍스트 개체 틀 4"/>
          <p:cNvSpPr>
            <a:spLocks noGrp="1"/>
          </p:cNvSpPr>
          <p:nvPr>
            <p:ph type="body" sz="quarter" idx="10"/>
          </p:nvPr>
        </p:nvSpPr>
        <p:spPr/>
        <p:txBody>
          <a:bodyPr>
            <a:normAutofit/>
          </a:bodyPr>
          <a:lstStyle/>
          <a:p>
            <a:pPr marL="285750" indent="-285750">
              <a:lnSpc>
                <a:spcPct val="120000"/>
              </a:lnSpc>
            </a:pPr>
            <a:r>
              <a:rPr lang="ko-KR" altLang="en-US" sz="1500" dirty="0"/>
              <a:t>우리가 이해하려는 도메인을 </a:t>
            </a:r>
            <a:r>
              <a:rPr lang="ko-KR" altLang="en-US" sz="1500" b="1" dirty="0"/>
              <a:t>근사</a:t>
            </a:r>
            <a:r>
              <a:rPr lang="en-US" altLang="ko-KR" sz="1500" b="1" dirty="0"/>
              <a:t>(approximation)</a:t>
            </a:r>
            <a:r>
              <a:rPr lang="ko-KR" altLang="en-US" sz="1500" dirty="0"/>
              <a:t> 해서 표현한 것일 뿐이며 </a:t>
            </a:r>
            <a:r>
              <a:rPr lang="ko-KR" altLang="en-US" sz="1500" b="1" dirty="0"/>
              <a:t>이해와 의사소통을 위한 주요 도구</a:t>
            </a:r>
            <a:r>
              <a:rPr lang="ko-KR" altLang="en-US" sz="1500" dirty="0"/>
              <a:t>이다</a:t>
            </a:r>
            <a:endParaRPr lang="en-US" altLang="ko-KR" sz="1500" dirty="0"/>
          </a:p>
          <a:p>
            <a:pPr marL="285750" indent="-285750">
              <a:lnSpc>
                <a:spcPct val="120000"/>
              </a:lnSpc>
            </a:pPr>
            <a:r>
              <a:rPr lang="ko-KR" altLang="en-US" sz="1500" dirty="0"/>
              <a:t>단 하나의 정답이 존재 할 수 없으며</a:t>
            </a:r>
            <a:r>
              <a:rPr lang="en-US" altLang="ko-KR" sz="1500" dirty="0"/>
              <a:t>, </a:t>
            </a:r>
            <a:r>
              <a:rPr lang="ko-KR" altLang="en-US" sz="1500" b="1" dirty="0"/>
              <a:t>올바름</a:t>
            </a:r>
            <a:r>
              <a:rPr lang="ko-KR" altLang="en-US" sz="1500" dirty="0"/>
              <a:t> 보다 </a:t>
            </a:r>
            <a:r>
              <a:rPr lang="ko-KR" altLang="en-US" sz="1500" b="1" dirty="0"/>
              <a:t>유용성</a:t>
            </a:r>
            <a:r>
              <a:rPr lang="ko-KR" altLang="en-US" sz="1500" dirty="0"/>
              <a:t>이 더 중요 합니다</a:t>
            </a:r>
            <a:r>
              <a:rPr lang="en-US" altLang="ko-KR" sz="1500" dirty="0"/>
              <a:t>.</a:t>
            </a:r>
            <a:endParaRPr lang="ko-KR" altLang="en-US" sz="1500" dirty="0"/>
          </a:p>
          <a:p>
            <a:endParaRPr lang="ko-KR" altLang="en-US" sz="1500" dirty="0"/>
          </a:p>
        </p:txBody>
      </p:sp>
      <p:sp>
        <p:nvSpPr>
          <p:cNvPr id="6" name="제목 2"/>
          <p:cNvSpPr>
            <a:spLocks noGrp="1"/>
          </p:cNvSpPr>
          <p:nvPr>
            <p:ph type="title"/>
          </p:nvPr>
        </p:nvSpPr>
        <p:spPr>
          <a:xfrm>
            <a:off x="408000" y="156779"/>
            <a:ext cx="1832420" cy="424661"/>
          </a:xfrm>
        </p:spPr>
        <p:txBody>
          <a:bodyPr/>
          <a:lstStyle/>
          <a:p>
            <a:r>
              <a:rPr lang="ko-KR" altLang="en-US" dirty="0"/>
              <a:t>도메인 모델</a:t>
            </a:r>
          </a:p>
        </p:txBody>
      </p:sp>
    </p:spTree>
    <p:extLst>
      <p:ext uri="{BB962C8B-B14F-4D97-AF65-F5344CB8AC3E}">
        <p14:creationId xmlns:p14="http://schemas.microsoft.com/office/powerpoint/2010/main" val="179040724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6632"/>
            <a:ext cx="6840760" cy="6742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9226" y="771386"/>
            <a:ext cx="5351240" cy="59743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623097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3" name="TextBox 2"/>
          <p:cNvSpPr txBox="1"/>
          <p:nvPr/>
        </p:nvSpPr>
        <p:spPr>
          <a:xfrm>
            <a:off x="1884345" y="3852407"/>
            <a:ext cx="2758955"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ko-KR" altLang="en-US"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실습 안내 </a:t>
            </a: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2-1</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101268199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ko-KR" altLang="en-US" dirty="0"/>
              <a:t>실습 </a:t>
            </a:r>
            <a:r>
              <a:rPr lang="en-US" altLang="ko-KR" dirty="0"/>
              <a:t>- </a:t>
            </a:r>
            <a:r>
              <a:rPr lang="ko-KR" altLang="en-US" dirty="0"/>
              <a:t>산출물 목표</a:t>
            </a:r>
          </a:p>
        </p:txBody>
      </p:sp>
      <p:sp>
        <p:nvSpPr>
          <p:cNvPr id="7" name="내용 개체 틀 2"/>
          <p:cNvSpPr txBox="1">
            <a:spLocks/>
          </p:cNvSpPr>
          <p:nvPr/>
        </p:nvSpPr>
        <p:spPr>
          <a:xfrm>
            <a:off x="653484" y="1028733"/>
            <a:ext cx="5613268" cy="467820"/>
          </a:xfrm>
          <a:prstGeom prst="rect">
            <a:avLst/>
          </a:prstGeom>
          <a:noFill/>
        </p:spPr>
        <p:txBody>
          <a:bodyPr wrap="non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marL="0" indent="0" defTabSz="953419">
              <a:lnSpc>
                <a:spcPct val="160000"/>
              </a:lnSpc>
              <a:buNone/>
            </a:pPr>
            <a:r>
              <a:rPr lang="en-US" altLang="ko-KR"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3</a:t>
            </a:r>
            <a:r>
              <a:rPr lang="ko-KR" altLang="en-US"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일간 </a:t>
            </a:r>
            <a:r>
              <a:rPr lang="en-US" altLang="ko-KR"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OOA</a:t>
            </a:r>
            <a:r>
              <a:rPr lang="ko-KR" altLang="en-US"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와 </a:t>
            </a:r>
            <a:r>
              <a:rPr lang="en-US" altLang="ko-KR"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OOD</a:t>
            </a:r>
            <a:r>
              <a:rPr lang="ko-KR" altLang="en-US" sz="19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를 반복적으로 수행하여 산출물 작성</a:t>
            </a:r>
            <a:endParaRPr lang="en-US" altLang="ko-KR" sz="1900" b="1" spc="-133" dirty="0">
              <a:ln>
                <a:solidFill>
                  <a:srgbClr val="5B9BD5">
                    <a:alpha val="0"/>
                  </a:srgbClr>
                </a:solidFill>
              </a:ln>
              <a:solidFill>
                <a:srgbClr val="4156BD"/>
              </a:solidFill>
              <a:cs typeface="Arial" panose="020B0604020202020204" pitchFamily="34" charset="0"/>
            </a:endParaRPr>
          </a:p>
        </p:txBody>
      </p:sp>
      <p:pic>
        <p:nvPicPr>
          <p:cNvPr id="25" name="그림 24"/>
          <p:cNvPicPr>
            <a:picLocks noChangeAspect="1"/>
          </p:cNvPicPr>
          <p:nvPr/>
        </p:nvPicPr>
        <p:blipFill>
          <a:blip r:embed="rId2"/>
          <a:stretch>
            <a:fillRect/>
          </a:stretch>
        </p:blipFill>
        <p:spPr>
          <a:xfrm>
            <a:off x="527381" y="1776720"/>
            <a:ext cx="11235016" cy="3860525"/>
          </a:xfrm>
          <a:prstGeom prst="rect">
            <a:avLst/>
          </a:prstGeom>
        </p:spPr>
      </p:pic>
      <p:sp>
        <p:nvSpPr>
          <p:cNvPr id="27" name="내용 개체 틀 2"/>
          <p:cNvSpPr txBox="1">
            <a:spLocks/>
          </p:cNvSpPr>
          <p:nvPr/>
        </p:nvSpPr>
        <p:spPr>
          <a:xfrm>
            <a:off x="623393" y="5248093"/>
            <a:ext cx="5816463" cy="1281889"/>
          </a:xfrm>
          <a:prstGeom prst="rect">
            <a:avLst/>
          </a:prstGeom>
          <a:noFill/>
        </p:spPr>
        <p:txBody>
          <a:bodyPr wrap="squar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marL="0" indent="0" defTabSz="953419">
              <a:lnSpc>
                <a:spcPct val="110000"/>
              </a:lnSpc>
              <a:buNone/>
            </a:pPr>
            <a:r>
              <a:rPr lang="en-US" altLang="ko-KR" sz="1900" b="1" u="sng" spc="-133" dirty="0">
                <a:ln>
                  <a:solidFill>
                    <a:srgbClr val="5B9BD5">
                      <a:alpha val="0"/>
                    </a:srgbClr>
                  </a:solidFill>
                </a:ln>
                <a:solidFill>
                  <a:srgbClr val="11236D"/>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1900" b="1" u="sng" spc="-133" dirty="0">
                <a:ln>
                  <a:solidFill>
                    <a:srgbClr val="5B9BD5">
                      <a:alpha val="0"/>
                    </a:srgbClr>
                  </a:solidFill>
                </a:ln>
                <a:solidFill>
                  <a:srgbClr val="11236D"/>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rPr>
              <a:t>실습 평가 기준</a:t>
            </a:r>
            <a:r>
              <a:rPr lang="en-US" altLang="ko-KR" sz="1900" b="1" u="sng" spc="-133" dirty="0">
                <a:ln>
                  <a:solidFill>
                    <a:srgbClr val="5B9BD5">
                      <a:alpha val="0"/>
                    </a:srgbClr>
                  </a:solidFill>
                </a:ln>
                <a:solidFill>
                  <a:srgbClr val="11236D"/>
                </a:solidFill>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defTabSz="953419">
              <a:lnSpc>
                <a:spcPct val="110000"/>
              </a:lnSpc>
              <a:buFontTx/>
              <a:buChar char="-"/>
            </a:pPr>
            <a:r>
              <a:rPr lang="ko-KR" altLang="en-US" sz="1600" spc="-133" dirty="0">
                <a:ln>
                  <a:solidFill>
                    <a:srgbClr val="5B9BD5">
                      <a:alpha val="0"/>
                    </a:srgbClr>
                  </a:solidFill>
                </a:ln>
                <a:cs typeface="Arial" panose="020B0604020202020204" pitchFamily="34" charset="0"/>
              </a:rPr>
              <a:t>각 </a:t>
            </a:r>
            <a:r>
              <a:rPr lang="en-US" altLang="ko-KR" sz="1600" spc="-133" dirty="0">
                <a:ln>
                  <a:solidFill>
                    <a:srgbClr val="5B9BD5">
                      <a:alpha val="0"/>
                    </a:srgbClr>
                  </a:solidFill>
                </a:ln>
                <a:cs typeface="Arial" panose="020B0604020202020204" pitchFamily="34" charset="0"/>
              </a:rPr>
              <a:t>Iteration </a:t>
            </a:r>
            <a:r>
              <a:rPr lang="ko-KR" altLang="en-US" sz="1600" spc="-133" dirty="0">
                <a:ln>
                  <a:solidFill>
                    <a:srgbClr val="5B9BD5">
                      <a:alpha val="0"/>
                    </a:srgbClr>
                  </a:solidFill>
                </a:ln>
                <a:cs typeface="Arial" panose="020B0604020202020204" pitchFamily="34" charset="0"/>
              </a:rPr>
              <a:t>마다 모든 산출물이 누락없이 작성되었는가</a:t>
            </a:r>
            <a:r>
              <a:rPr lang="en-US" altLang="ko-KR" sz="1600" spc="-133" dirty="0">
                <a:ln>
                  <a:solidFill>
                    <a:srgbClr val="5B9BD5">
                      <a:alpha val="0"/>
                    </a:srgbClr>
                  </a:solidFill>
                </a:ln>
                <a:cs typeface="Arial" panose="020B0604020202020204" pitchFamily="34" charset="0"/>
              </a:rPr>
              <a:t>?</a:t>
            </a:r>
          </a:p>
          <a:p>
            <a:pPr defTabSz="953419">
              <a:lnSpc>
                <a:spcPct val="110000"/>
              </a:lnSpc>
              <a:buFontTx/>
              <a:buChar char="-"/>
            </a:pPr>
            <a:r>
              <a:rPr lang="ko-KR" altLang="en-US" sz="1600" spc="-133" dirty="0">
                <a:ln>
                  <a:solidFill>
                    <a:srgbClr val="5B9BD5">
                      <a:alpha val="0"/>
                    </a:srgbClr>
                  </a:solidFill>
                </a:ln>
                <a:cs typeface="Arial" panose="020B0604020202020204" pitchFamily="34" charset="0"/>
              </a:rPr>
              <a:t>산출물 간의 연관성을 고려하여</a:t>
            </a:r>
            <a:r>
              <a:rPr lang="en-US" altLang="ko-KR" sz="1600" spc="-133" dirty="0">
                <a:ln>
                  <a:solidFill>
                    <a:srgbClr val="5B9BD5">
                      <a:alpha val="0"/>
                    </a:srgbClr>
                  </a:solidFill>
                </a:ln>
                <a:cs typeface="Arial" panose="020B0604020202020204" pitchFamily="34" charset="0"/>
              </a:rPr>
              <a:t> </a:t>
            </a:r>
            <a:r>
              <a:rPr lang="ko-KR" altLang="en-US" sz="1600" spc="-133" dirty="0">
                <a:ln>
                  <a:solidFill>
                    <a:srgbClr val="5B9BD5">
                      <a:alpha val="0"/>
                    </a:srgbClr>
                  </a:solidFill>
                </a:ln>
                <a:cs typeface="Arial" panose="020B0604020202020204" pitchFamily="34" charset="0"/>
              </a:rPr>
              <a:t>작성하였는가</a:t>
            </a:r>
            <a:r>
              <a:rPr lang="en-US" altLang="ko-KR" sz="1600" spc="-133" dirty="0">
                <a:ln>
                  <a:solidFill>
                    <a:srgbClr val="5B9BD5">
                      <a:alpha val="0"/>
                    </a:srgbClr>
                  </a:solidFill>
                </a:ln>
                <a:cs typeface="Arial" panose="020B0604020202020204" pitchFamily="34" charset="0"/>
              </a:rPr>
              <a:t>?</a:t>
            </a:r>
          </a:p>
          <a:p>
            <a:pPr defTabSz="953419">
              <a:lnSpc>
                <a:spcPct val="110000"/>
              </a:lnSpc>
              <a:buFontTx/>
              <a:buChar char="-"/>
            </a:pPr>
            <a:r>
              <a:rPr lang="ko-KR" altLang="en-US" sz="1600" spc="-133" dirty="0">
                <a:ln>
                  <a:solidFill>
                    <a:srgbClr val="5B9BD5">
                      <a:alpha val="0"/>
                    </a:srgbClr>
                  </a:solidFill>
                </a:ln>
                <a:cs typeface="Arial" panose="020B0604020202020204" pitchFamily="34" charset="0"/>
              </a:rPr>
              <a:t>모든 조원이 활발히 참여했는가</a:t>
            </a:r>
            <a:r>
              <a:rPr lang="en-US" altLang="ko-KR" sz="1600" spc="-133" dirty="0">
                <a:ln>
                  <a:solidFill>
                    <a:srgbClr val="5B9BD5">
                      <a:alpha val="0"/>
                    </a:srgbClr>
                  </a:solidFill>
                </a:ln>
                <a:cs typeface="Arial" panose="020B0604020202020204" pitchFamily="34" charset="0"/>
              </a:rPr>
              <a:t>?</a:t>
            </a:r>
            <a:endParaRPr lang="ko-KR" altLang="en-US" sz="1600" spc="-133" dirty="0">
              <a:ln>
                <a:solidFill>
                  <a:srgbClr val="5B9BD5">
                    <a:alpha val="0"/>
                  </a:srgbClr>
                </a:solidFill>
              </a:ln>
              <a:cs typeface="Arial" panose="020B0604020202020204" pitchFamily="34" charset="0"/>
            </a:endParaRPr>
          </a:p>
        </p:txBody>
      </p:sp>
      <p:sp>
        <p:nvSpPr>
          <p:cNvPr id="4" name="모서리가 둥근 직사각형 3"/>
          <p:cNvSpPr/>
          <p:nvPr/>
        </p:nvSpPr>
        <p:spPr>
          <a:xfrm>
            <a:off x="3460118" y="2060848"/>
            <a:ext cx="2806634" cy="1368152"/>
          </a:xfrm>
          <a:prstGeom prst="round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ko-KR" altLang="en-US" sz="1200" smtClean="0">
              <a:solidFill>
                <a:schemeClr val="tx1"/>
              </a:solidFill>
            </a:endParaRPr>
          </a:p>
        </p:txBody>
      </p:sp>
    </p:spTree>
    <p:extLst>
      <p:ext uri="{BB962C8B-B14F-4D97-AF65-F5344CB8AC3E}">
        <p14:creationId xmlns:p14="http://schemas.microsoft.com/office/powerpoint/2010/main" val="422132203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8</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2965743"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Class Diagram</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
        <p:nvSpPr>
          <p:cNvPr id="2" name="TextBox 1"/>
          <p:cNvSpPr txBox="1"/>
          <p:nvPr/>
        </p:nvSpPr>
        <p:spPr>
          <a:xfrm>
            <a:off x="2423592" y="4797152"/>
            <a:ext cx="2951449" cy="369332"/>
          </a:xfrm>
          <a:prstGeom prst="rect">
            <a:avLst/>
          </a:prstGeom>
          <a:noFill/>
        </p:spPr>
        <p:txBody>
          <a:bodyPr wrap="none" rtlCol="0">
            <a:spAutoFit/>
          </a:bodyPr>
          <a:lstStyle/>
          <a:p>
            <a:r>
              <a:rPr lang="en-US" altLang="ko-KR" b="1" dirty="0" smtClean="0">
                <a:solidFill>
                  <a:srgbClr val="FFFF00"/>
                </a:solidFill>
              </a:rPr>
              <a:t>13</a:t>
            </a:r>
            <a:r>
              <a:rPr lang="ko-KR" altLang="en-US" b="1" dirty="0" smtClean="0">
                <a:solidFill>
                  <a:srgbClr val="FFFF00"/>
                </a:solidFill>
              </a:rPr>
              <a:t>시 </a:t>
            </a:r>
            <a:r>
              <a:rPr lang="en-US" altLang="ko-KR" b="1" dirty="0" smtClean="0">
                <a:solidFill>
                  <a:srgbClr val="FFFF00"/>
                </a:solidFill>
              </a:rPr>
              <a:t>30</a:t>
            </a:r>
            <a:r>
              <a:rPr lang="ko-KR" altLang="en-US" b="1" dirty="0" smtClean="0">
                <a:solidFill>
                  <a:srgbClr val="FFFF00"/>
                </a:solidFill>
              </a:rPr>
              <a:t>분에 시작 합니다</a:t>
            </a:r>
            <a:r>
              <a:rPr lang="en-US" altLang="ko-KR" b="1" dirty="0" smtClean="0">
                <a:solidFill>
                  <a:srgbClr val="FFFF00"/>
                </a:solidFill>
              </a:rPr>
              <a:t>. </a:t>
            </a:r>
            <a:endParaRPr lang="ko-KR" altLang="en-US" b="1" dirty="0">
              <a:solidFill>
                <a:srgbClr val="FFFF00"/>
              </a:solidFill>
            </a:endParaRPr>
          </a:p>
        </p:txBody>
      </p:sp>
    </p:spTree>
    <p:extLst>
      <p:ext uri="{BB962C8B-B14F-4D97-AF65-F5344CB8AC3E}">
        <p14:creationId xmlns:p14="http://schemas.microsoft.com/office/powerpoint/2010/main" val="328760459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08000" y="765138"/>
            <a:ext cx="11376001" cy="892481"/>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public</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private</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b="1"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protected</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9696" y="2769147"/>
            <a:ext cx="7096125" cy="2181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918708" cy="424661"/>
          </a:xfrm>
        </p:spPr>
        <p:txBody>
          <a:bodyPr/>
          <a:lstStyle/>
          <a:p>
            <a:r>
              <a:rPr lang="en-US" altLang="ko-KR" dirty="0" smtClean="0"/>
              <a:t>Class</a:t>
            </a:r>
            <a:endParaRPr lang="ko-KR" altLang="en-US" dirty="0"/>
          </a:p>
        </p:txBody>
      </p:sp>
    </p:spTree>
    <p:extLst>
      <p:ext uri="{BB962C8B-B14F-4D97-AF65-F5344CB8AC3E}">
        <p14:creationId xmlns:p14="http://schemas.microsoft.com/office/powerpoint/2010/main" val="396865299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08000" y="765138"/>
            <a:ext cx="11376001" cy="1769645"/>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Abstract class</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는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1</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개 이상의 추상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method</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가 존재하는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class</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입니다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p>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400" dirty="0" smtClean="0"/>
              <a:t>추상 </a:t>
            </a:r>
            <a:r>
              <a:rPr lang="ko-KR" altLang="en-US" sz="1400" dirty="0"/>
              <a:t>클래스의 이름과 </a:t>
            </a:r>
            <a:r>
              <a:rPr lang="en-US" altLang="ko-KR" sz="1400" dirty="0" smtClean="0"/>
              <a:t>method</a:t>
            </a:r>
            <a:r>
              <a:rPr lang="ko-KR" altLang="en-US" sz="1400" dirty="0" smtClean="0"/>
              <a:t>는 </a:t>
            </a:r>
            <a:r>
              <a:rPr lang="en-US" altLang="ko-KR" sz="1400" dirty="0"/>
              <a:t>italic</a:t>
            </a:r>
            <a:r>
              <a:rPr lang="ko-KR" altLang="en-US" sz="1400" dirty="0"/>
              <a:t>체나</a:t>
            </a:r>
            <a:r>
              <a:rPr lang="en-US" altLang="ko-KR" sz="1400" dirty="0"/>
              <a:t>, {abstract} </a:t>
            </a:r>
            <a:r>
              <a:rPr lang="en-US" altLang="ko-KR" sz="1400" dirty="0" smtClean="0"/>
              <a:t>property</a:t>
            </a:r>
            <a:r>
              <a:rPr lang="ko-KR" altLang="en-US" sz="1400" dirty="0" smtClean="0"/>
              <a:t>를 </a:t>
            </a:r>
            <a:r>
              <a:rPr lang="ko-KR" altLang="en-US" sz="1400" dirty="0"/>
              <a:t>사용하여 </a:t>
            </a:r>
            <a:r>
              <a:rPr lang="ko-KR" altLang="en-US" sz="1400" dirty="0" smtClean="0"/>
              <a:t>표기합니다</a:t>
            </a:r>
            <a:r>
              <a:rPr lang="en-US" altLang="ko-KR" sz="1400" dirty="0" smtClean="0"/>
              <a: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UML</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에서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Abstract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로 설정한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method</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는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에서는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pure virtual function</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을</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의미합니다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endPar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lang="en-US" altLang="ko-KR" sz="1400" dirty="0" smtClean="0"/>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7" y="2225178"/>
            <a:ext cx="7058025" cy="3952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3764039" cy="424661"/>
          </a:xfrm>
        </p:spPr>
        <p:txBody>
          <a:bodyPr/>
          <a:lstStyle/>
          <a:p>
            <a:r>
              <a:rPr lang="en-US" altLang="ko-KR" dirty="0" smtClean="0"/>
              <a:t>Abstract Class / Method</a:t>
            </a:r>
            <a:endParaRPr lang="ko-KR" altLang="en-US" dirty="0"/>
          </a:p>
        </p:txBody>
      </p:sp>
    </p:spTree>
    <p:extLst>
      <p:ext uri="{BB962C8B-B14F-4D97-AF65-F5344CB8AC3E}">
        <p14:creationId xmlns:p14="http://schemas.microsoft.com/office/powerpoint/2010/main" val="374128939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000" y="725549"/>
            <a:ext cx="4156117" cy="2883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7528558" y="1233302"/>
            <a:ext cx="4663442" cy="1477257"/>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Multiplicity in a relation</a:t>
            </a:r>
          </a:p>
          <a:p>
            <a:pPr lvl="1" defTabSz="912813" fontAlgn="base">
              <a:spcBef>
                <a:spcPts val="600"/>
              </a:spcBef>
              <a:spcAft>
                <a:spcPct val="0"/>
              </a:spcAft>
              <a:buClr>
                <a:srgbClr val="55CFD1"/>
              </a:buClr>
              <a:defRPr/>
            </a:pPr>
            <a:r>
              <a:rPr lang="en-US" altLang="ko-KR" sz="1400" dirty="0" smtClean="0"/>
              <a:t>“</a:t>
            </a:r>
            <a:r>
              <a:rPr lang="en-US" altLang="ko-KR" sz="1400" b="1" dirty="0" smtClean="0"/>
              <a:t>0</a:t>
            </a:r>
            <a:r>
              <a:rPr lang="en-US" altLang="ko-KR" sz="1400" b="1" dirty="0"/>
              <a:t>..1</a:t>
            </a:r>
            <a:r>
              <a:rPr lang="en-US" altLang="ko-KR" sz="1400" dirty="0" smtClean="0"/>
              <a:t>”</a:t>
            </a:r>
            <a:r>
              <a:rPr lang="en-US" altLang="ko-KR" sz="1400" dirty="0"/>
              <a:t> </a:t>
            </a:r>
            <a:r>
              <a:rPr lang="en-US" altLang="ko-KR" sz="1400" dirty="0" smtClean="0"/>
              <a:t>      → No </a:t>
            </a:r>
            <a:r>
              <a:rPr lang="en-US" altLang="ko-KR" sz="1400" dirty="0"/>
              <a:t>instances, or one </a:t>
            </a:r>
            <a:r>
              <a:rPr lang="en-US" altLang="ko-KR" sz="1400" dirty="0" smtClean="0"/>
              <a:t>instance</a:t>
            </a:r>
          </a:p>
          <a:p>
            <a:pPr lvl="1" defTabSz="912813" fontAlgn="base">
              <a:spcBef>
                <a:spcPts val="600"/>
              </a:spcBef>
              <a:spcAft>
                <a:spcPct val="0"/>
              </a:spcAft>
              <a:buClr>
                <a:srgbClr val="55CFD1"/>
              </a:buClr>
              <a:defRPr/>
            </a:pPr>
            <a:r>
              <a:rPr lang="en-US" altLang="ko-KR" sz="1400" dirty="0" smtClean="0"/>
              <a:t>“</a:t>
            </a:r>
            <a:r>
              <a:rPr lang="en-US" altLang="ko-KR" sz="1400" b="1" dirty="0" smtClean="0"/>
              <a:t>1</a:t>
            </a:r>
            <a:r>
              <a:rPr lang="en-US" altLang="ko-KR" sz="1400" dirty="0"/>
              <a:t>” </a:t>
            </a:r>
            <a:r>
              <a:rPr lang="en-US" altLang="ko-KR" sz="1400" dirty="0" smtClean="0"/>
              <a:t>         → Exactly </a:t>
            </a:r>
            <a:r>
              <a:rPr lang="en-US" altLang="ko-KR" sz="1400" dirty="0"/>
              <a:t>one </a:t>
            </a:r>
            <a:r>
              <a:rPr lang="en-US" altLang="ko-KR" sz="1400" dirty="0" smtClean="0"/>
              <a:t>instance</a:t>
            </a:r>
          </a:p>
          <a:p>
            <a:pPr lvl="1" defTabSz="912813" fontAlgn="base">
              <a:spcBef>
                <a:spcPts val="600"/>
              </a:spcBef>
              <a:spcAft>
                <a:spcPct val="0"/>
              </a:spcAft>
              <a:buClr>
                <a:srgbClr val="55CFD1"/>
              </a:buClr>
              <a:defRPr/>
            </a:pPr>
            <a:r>
              <a:rPr lang="en-US" altLang="ko-KR" sz="1400" dirty="0" smtClean="0"/>
              <a:t>“</a:t>
            </a:r>
            <a:r>
              <a:rPr lang="en-US" altLang="ko-KR" sz="1400" b="1" dirty="0" smtClean="0"/>
              <a:t>0</a:t>
            </a:r>
            <a:r>
              <a:rPr lang="en-US" altLang="ko-KR" sz="1400" b="1" dirty="0"/>
              <a:t>..*</a:t>
            </a:r>
            <a:r>
              <a:rPr lang="en-US" altLang="ko-KR" sz="1400" dirty="0"/>
              <a:t> or </a:t>
            </a:r>
            <a:r>
              <a:rPr lang="en-US" altLang="ko-KR" sz="1400" b="1" dirty="0" smtClean="0"/>
              <a:t>*</a:t>
            </a:r>
            <a:r>
              <a:rPr lang="en-US" altLang="ko-KR" sz="1400" dirty="0" smtClean="0"/>
              <a:t>”</a:t>
            </a:r>
            <a:r>
              <a:rPr lang="en-US" altLang="ko-KR" sz="1400" dirty="0"/>
              <a:t> </a:t>
            </a:r>
            <a:r>
              <a:rPr lang="en-US" altLang="ko-KR" sz="1400" dirty="0" smtClean="0"/>
              <a:t>→ Zero </a:t>
            </a:r>
            <a:r>
              <a:rPr lang="en-US" altLang="ko-KR" sz="1400" dirty="0"/>
              <a:t>or more </a:t>
            </a:r>
            <a:r>
              <a:rPr lang="en-US" altLang="ko-KR" sz="1400" dirty="0" smtClean="0"/>
              <a:t>instances</a:t>
            </a:r>
          </a:p>
          <a:p>
            <a:pPr lvl="1" defTabSz="912813" fontAlgn="base">
              <a:spcBef>
                <a:spcPts val="600"/>
              </a:spcBef>
              <a:spcAft>
                <a:spcPct val="0"/>
              </a:spcAft>
              <a:buClr>
                <a:srgbClr val="55CFD1"/>
              </a:buClr>
              <a:defRPr/>
            </a:pPr>
            <a:r>
              <a:rPr lang="en-US" altLang="ko-KR" sz="1400" dirty="0" smtClean="0"/>
              <a:t>“</a:t>
            </a:r>
            <a:r>
              <a:rPr lang="en-US" altLang="ko-KR" sz="1400" b="1" dirty="0" smtClean="0"/>
              <a:t>1..*</a:t>
            </a:r>
            <a:r>
              <a:rPr lang="en-US" altLang="ko-KR" sz="1400" dirty="0" smtClean="0"/>
              <a:t>”       → One </a:t>
            </a:r>
            <a:r>
              <a:rPr lang="en-US" altLang="ko-KR" sz="1400" dirty="0"/>
              <a:t>or more </a:t>
            </a:r>
            <a:r>
              <a:rPr lang="en-US" altLang="ko-KR" sz="1400" dirty="0" smtClean="0"/>
              <a:t>instances</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7" name="제목 6"/>
          <p:cNvSpPr>
            <a:spLocks noGrp="1"/>
          </p:cNvSpPr>
          <p:nvPr>
            <p:ph type="title"/>
          </p:nvPr>
        </p:nvSpPr>
        <p:spPr>
          <a:xfrm>
            <a:off x="408000" y="156779"/>
            <a:ext cx="2759084" cy="424661"/>
          </a:xfrm>
        </p:spPr>
        <p:txBody>
          <a:bodyPr/>
          <a:lstStyle/>
          <a:p>
            <a:r>
              <a:rPr lang="en-US" altLang="ko-KR" dirty="0" smtClean="0"/>
              <a:t>Class relationship</a:t>
            </a:r>
            <a:endParaRPr lang="ko-KR" altLang="en-US" dirty="0"/>
          </a:p>
        </p:txBody>
      </p:sp>
      <p:pic>
        <p:nvPicPr>
          <p:cNvPr id="12" name="Picture 2" descr="https://t1.daumcdn.net/cfile/tistory/992CE44A5B49C9A21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000" y="3898608"/>
            <a:ext cx="6494720" cy="2439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61275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08001" y="754244"/>
            <a:ext cx="5291234"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en-US" altLang="ko-KR" sz="1400" dirty="0"/>
              <a:t>Generalization (</a:t>
            </a:r>
            <a:r>
              <a:rPr lang="ko-KR" altLang="en-US" sz="1400" dirty="0"/>
              <a:t>일반화</a:t>
            </a:r>
            <a:r>
              <a:rPr lang="en-US" altLang="ko-KR" sz="1400" dirty="0"/>
              <a:t>)</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부모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class</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와 자식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class</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간의 상속 관계를 나타냄</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sp>
        <p:nvSpPr>
          <p:cNvPr id="7" name="제목 6"/>
          <p:cNvSpPr>
            <a:spLocks noGrp="1"/>
          </p:cNvSpPr>
          <p:nvPr>
            <p:ph type="title"/>
          </p:nvPr>
        </p:nvSpPr>
        <p:spPr>
          <a:xfrm>
            <a:off x="408000" y="156779"/>
            <a:ext cx="6878288" cy="424661"/>
          </a:xfrm>
        </p:spPr>
        <p:txBody>
          <a:bodyPr/>
          <a:lstStyle/>
          <a:p>
            <a:r>
              <a:rPr lang="en-US" altLang="ko-KR" dirty="0"/>
              <a:t>Generalization (</a:t>
            </a:r>
            <a:r>
              <a:rPr lang="ko-KR" altLang="en-US" dirty="0"/>
              <a:t>일반화</a:t>
            </a:r>
            <a:r>
              <a:rPr lang="en-US" altLang="ko-KR" dirty="0" smtClean="0"/>
              <a:t>) &amp; </a:t>
            </a:r>
            <a:r>
              <a:rPr lang="en-US" altLang="ko-KR" dirty="0"/>
              <a:t>Realization (</a:t>
            </a:r>
            <a:r>
              <a:rPr lang="ko-KR" altLang="en-US" dirty="0"/>
              <a:t>실체화</a:t>
            </a:r>
            <a:r>
              <a:rPr lang="en-US" altLang="ko-KR" dirty="0"/>
              <a:t>)</a:t>
            </a:r>
            <a:endParaRPr lang="ko-KR" altLang="en-US" dirty="0"/>
          </a:p>
        </p:txBody>
      </p:sp>
      <p:sp>
        <p:nvSpPr>
          <p:cNvPr id="14" name="TextBox 13"/>
          <p:cNvSpPr txBox="1"/>
          <p:nvPr/>
        </p:nvSpPr>
        <p:spPr>
          <a:xfrm>
            <a:off x="6404906" y="754244"/>
            <a:ext cx="5371936" cy="815537"/>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en-US" altLang="ko-KR" sz="1400" dirty="0"/>
              <a:t>Realization (</a:t>
            </a:r>
            <a:r>
              <a:rPr lang="ko-KR" altLang="en-US" sz="1400" dirty="0"/>
              <a:t>실체화</a:t>
            </a:r>
            <a:r>
              <a:rPr lang="en-US" altLang="ko-KR" sz="1400" dirty="0"/>
              <a:t>)</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Interface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spec</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만 있는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method</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를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overriding</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하여 실제 기능을 구현 </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15" name="그림 14"/>
          <p:cNvPicPr>
            <a:picLocks noChangeAspect="1"/>
          </p:cNvPicPr>
          <p:nvPr/>
        </p:nvPicPr>
        <p:blipFill>
          <a:blip r:embed="rId3"/>
          <a:stretch>
            <a:fillRect/>
          </a:stretch>
        </p:blipFill>
        <p:spPr>
          <a:xfrm>
            <a:off x="408000" y="2054561"/>
            <a:ext cx="5772150" cy="3800475"/>
          </a:xfrm>
          <a:prstGeom prst="rect">
            <a:avLst/>
          </a:prstGeom>
        </p:spPr>
      </p:pic>
      <p:pic>
        <p:nvPicPr>
          <p:cNvPr id="16" name="그림 15"/>
          <p:cNvPicPr>
            <a:picLocks noChangeAspect="1"/>
          </p:cNvPicPr>
          <p:nvPr/>
        </p:nvPicPr>
        <p:blipFill>
          <a:blip r:embed="rId4"/>
          <a:stretch>
            <a:fillRect/>
          </a:stretch>
        </p:blipFill>
        <p:spPr>
          <a:xfrm>
            <a:off x="6719067" y="2054561"/>
            <a:ext cx="5057775" cy="2571750"/>
          </a:xfrm>
          <a:prstGeom prst="rect">
            <a:avLst/>
          </a:prstGeom>
        </p:spPr>
      </p:pic>
    </p:spTree>
    <p:extLst>
      <p:ext uri="{BB962C8B-B14F-4D97-AF65-F5344CB8AC3E}">
        <p14:creationId xmlns:p14="http://schemas.microsoft.com/office/powerpoint/2010/main" val="269641872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08000" y="755630"/>
            <a:ext cx="11376001" cy="307706"/>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객체생성</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객체 사용</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method</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호출</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객체 리턴</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매개 변수 등으로 잠시 참조 하는 경우</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701" y="1332734"/>
            <a:ext cx="7134225" cy="2085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6701" y="3900605"/>
            <a:ext cx="3382938" cy="2241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2944904" cy="424661"/>
          </a:xfrm>
        </p:spPr>
        <p:txBody>
          <a:bodyPr/>
          <a:lstStyle/>
          <a:p>
            <a:r>
              <a:rPr lang="en-US" altLang="ko-KR" dirty="0"/>
              <a:t>Dependency (</a:t>
            </a:r>
            <a:r>
              <a:rPr lang="ko-KR" altLang="en-US" dirty="0"/>
              <a:t>의존</a:t>
            </a:r>
            <a:r>
              <a:rPr lang="en-US" altLang="ko-KR" dirty="0" smtClean="0"/>
              <a:t>)</a:t>
            </a:r>
            <a:endParaRPr lang="ko-KR" altLang="en-US" dirty="0"/>
          </a:p>
        </p:txBody>
      </p:sp>
    </p:spTree>
    <p:extLst>
      <p:ext uri="{BB962C8B-B14F-4D97-AF65-F5344CB8AC3E}">
        <p14:creationId xmlns:p14="http://schemas.microsoft.com/office/powerpoint/2010/main" val="220674652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그룹 5"/>
          <p:cNvGrpSpPr/>
          <p:nvPr/>
        </p:nvGrpSpPr>
        <p:grpSpPr>
          <a:xfrm>
            <a:off x="4941945" y="6371650"/>
            <a:ext cx="856972" cy="685554"/>
            <a:chOff x="1110924" y="256992"/>
            <a:chExt cx="856972" cy="685554"/>
          </a:xfrm>
        </p:grpSpPr>
        <p:sp>
          <p:nvSpPr>
            <p:cNvPr id="4" name="TextBox 3"/>
            <p:cNvSpPr txBox="1"/>
            <p:nvPr/>
          </p:nvSpPr>
          <p:spPr>
            <a:xfrm>
              <a:off x="1110924" y="256992"/>
              <a:ext cx="184597" cy="461594"/>
            </a:xfrm>
            <a:prstGeom prst="rect">
              <a:avLst/>
            </a:prstGeom>
            <a:noFill/>
          </p:spPr>
          <p:txBody>
            <a:bodyPr wrap="none" lIns="91374" tIns="45685" rIns="91374" bIns="45685">
              <a:spAutoFit/>
            </a:bodyPr>
            <a:lstStyle/>
            <a:p>
              <a:pPr defTabSz="912813" fontAlgn="base">
                <a:spcBef>
                  <a:spcPts val="600"/>
                </a:spcBef>
                <a:spcAft>
                  <a:spcPct val="0"/>
                </a:spcAft>
                <a:defRPr/>
              </a:pPr>
              <a:endParaRPr kumimoji="1" lang="en-US" altLang="ko-KR" sz="2400" b="1"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5" name="TextBox 4"/>
            <p:cNvSpPr txBox="1"/>
            <p:nvPr/>
          </p:nvSpPr>
          <p:spPr>
            <a:xfrm>
              <a:off x="1783299" y="634840"/>
              <a:ext cx="184597" cy="307706"/>
            </a:xfrm>
            <a:prstGeom prst="rect">
              <a:avLst/>
            </a:prstGeom>
            <a:noFill/>
          </p:spPr>
          <p:txBody>
            <a:bodyPr wrap="none" lIns="91374" tIns="45685" rIns="91374" bIns="45685">
              <a:spAutoFit/>
            </a:bodyPr>
            <a:lstStyle/>
            <a:p>
              <a:pPr defTabSz="912813" fontAlgn="base">
                <a:spcBef>
                  <a:spcPts val="600"/>
                </a:spcBef>
                <a:spcAft>
                  <a:spcPct val="0"/>
                </a:spcAft>
                <a:defRPr/>
              </a:pPr>
              <a:endPar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grpSp>
      <p:sp>
        <p:nvSpPr>
          <p:cNvPr id="11" name="TextBox 10"/>
          <p:cNvSpPr txBox="1"/>
          <p:nvPr/>
        </p:nvSpPr>
        <p:spPr>
          <a:xfrm>
            <a:off x="408000" y="765138"/>
            <a:ext cx="11376001"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참조를 유지 하면서</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class</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를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참조</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에서는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pointer member</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변수로 표시가 됨</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8010" y="1755656"/>
            <a:ext cx="7029450" cy="421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390" t="42440" r="2028" b="36711"/>
          <a:stretch/>
        </p:blipFill>
        <p:spPr bwMode="auto">
          <a:xfrm>
            <a:off x="7638735" y="624609"/>
            <a:ext cx="4145266" cy="620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7776739" cy="424661"/>
          </a:xfrm>
        </p:spPr>
        <p:txBody>
          <a:bodyPr/>
          <a:lstStyle/>
          <a:p>
            <a:r>
              <a:rPr lang="en-US" altLang="ko-KR" dirty="0"/>
              <a:t>Association(</a:t>
            </a:r>
            <a:r>
              <a:rPr lang="ko-KR" altLang="en-US" dirty="0"/>
              <a:t>연관</a:t>
            </a:r>
            <a:r>
              <a:rPr lang="en-US" altLang="ko-KR" dirty="0"/>
              <a:t>), Directed Association(</a:t>
            </a:r>
            <a:r>
              <a:rPr lang="ko-KR" altLang="en-US" dirty="0"/>
              <a:t>방향성 연관</a:t>
            </a:r>
            <a:r>
              <a:rPr lang="en-US" altLang="ko-KR" dirty="0" smtClean="0"/>
              <a:t>)</a:t>
            </a:r>
            <a:endParaRPr lang="ko-KR" altLang="en-US" dirty="0"/>
          </a:p>
        </p:txBody>
      </p:sp>
    </p:spTree>
    <p:extLst>
      <p:ext uri="{BB962C8B-B14F-4D97-AF65-F5344CB8AC3E}">
        <p14:creationId xmlns:p14="http://schemas.microsoft.com/office/powerpoint/2010/main" val="132024493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08000" y="765138"/>
            <a:ext cx="11276965" cy="1615756"/>
          </a:xfrm>
          <a:prstGeom prst="rect">
            <a:avLst/>
          </a:prstGeom>
          <a:noFill/>
        </p:spPr>
        <p:txBody>
          <a:bodyPr wrap="square" lIns="91374" tIns="45685" rIns="91374" bIns="45685">
            <a:spAutoFit/>
          </a:bodyPr>
          <a:lstStyle/>
          <a:p>
            <a:pPr marL="285750" indent="-285750" defTabSz="912813" fontAlgn="base">
              <a:lnSpc>
                <a:spcPct val="120000"/>
              </a:lnSpc>
              <a:spcBef>
                <a:spcPts val="600"/>
              </a:spcBef>
              <a:spcAft>
                <a:spcPct val="0"/>
              </a:spcAft>
              <a:buClr>
                <a:srgbClr val="55CFD1"/>
              </a:buClr>
              <a:buFont typeface="Wingdings" panose="05000000000000000000" pitchFamily="2" charset="2"/>
              <a:buChar char="u"/>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집합 관계를 나타내며</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Parent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와 그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child</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가 독립적으로 존재 하여</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parent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가 삭제 되어도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child</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는 여전히 존재 할 수 있습니다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lnSpc>
                <a:spcPct val="120000"/>
              </a:lnSpc>
              <a:spcBef>
                <a:spcPts val="600"/>
              </a:spcBef>
              <a:spcAft>
                <a:spcPct val="0"/>
              </a:spcAft>
              <a:buClr>
                <a:srgbClr val="55CFD1"/>
              </a:buClr>
              <a:buFont typeface="Wingdings" panose="05000000000000000000" pitchFamily="2" charset="2"/>
              <a:buChar char="u"/>
              <a:defRPr/>
            </a:pP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UML</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은 </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Whole(</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전체</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와</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part(</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부분</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의</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집합 관계라는 개념 외에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Aggregation</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 대한 명확한 </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정의를 제공하지 않습니다</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 </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lnSpc>
                <a:spcPct val="120000"/>
              </a:lnSpc>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Association</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과는 집합이라는 개념적인 차이가 있으나 코드상으로는 구분이 어렵습니다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lnSpc>
                <a:spcPct val="120000"/>
              </a:lnSpc>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Part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들이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Container</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를 사용하여 관리 되고 있음을 표현하기 위해 사용하는 경우가 있습니다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r>
            <a:b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b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err="1" smtClean="0">
                <a:ln>
                  <a:solidFill>
                    <a:schemeClr val="bg1">
                      <a:lumMod val="85000"/>
                      <a:alpha val="0"/>
                    </a:schemeClr>
                  </a:solidFill>
                </a:ln>
                <a:solidFill>
                  <a:srgbClr val="4B465E"/>
                </a:solidFill>
                <a:latin typeface="맑은 고딕" pitchFamily="50" charset="-127"/>
                <a:cs typeface="Arial" panose="020B0604020202020204" pitchFamily="34" charset="0"/>
              </a:rPr>
              <a:t>다수성과</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함께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Association</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을 사용하는 것과 어떻게 다른지 모호한 부분이 있습니다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3212976"/>
            <a:ext cx="708660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6104808" cy="424661"/>
          </a:xfrm>
        </p:spPr>
        <p:txBody>
          <a:bodyPr/>
          <a:lstStyle/>
          <a:p>
            <a:r>
              <a:rPr lang="en-US" altLang="ko-KR" dirty="0"/>
              <a:t>Aggregation (Shared Aggregation, </a:t>
            </a:r>
            <a:r>
              <a:rPr lang="ko-KR" altLang="en-US" dirty="0"/>
              <a:t>집합</a:t>
            </a:r>
            <a:r>
              <a:rPr lang="en-US" altLang="ko-KR" dirty="0" smtClean="0"/>
              <a:t>)</a:t>
            </a:r>
            <a:endParaRPr lang="ko-KR" altLang="en-US" dirty="0"/>
          </a:p>
        </p:txBody>
      </p:sp>
    </p:spTree>
    <p:extLst>
      <p:ext uri="{BB962C8B-B14F-4D97-AF65-F5344CB8AC3E}">
        <p14:creationId xmlns:p14="http://schemas.microsoft.com/office/powerpoint/2010/main" val="30670989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08000" y="156779"/>
            <a:ext cx="6104808" cy="424661"/>
          </a:xfrm>
        </p:spPr>
        <p:txBody>
          <a:bodyPr/>
          <a:lstStyle/>
          <a:p>
            <a:r>
              <a:rPr lang="en-US" altLang="ko-KR" dirty="0"/>
              <a:t>Aggregation (Shared Aggregation, </a:t>
            </a:r>
            <a:r>
              <a:rPr lang="ko-KR" altLang="en-US" dirty="0"/>
              <a:t>집합</a:t>
            </a:r>
            <a:r>
              <a:rPr lang="en-US" altLang="ko-KR" dirty="0"/>
              <a:t>)</a:t>
            </a:r>
            <a:endParaRPr lang="ko-KR" altLang="en-US" dirty="0"/>
          </a:p>
        </p:txBody>
      </p:sp>
      <p:pic>
        <p:nvPicPr>
          <p:cNvPr id="4" name="그림 3"/>
          <p:cNvPicPr>
            <a:picLocks noChangeAspect="1"/>
          </p:cNvPicPr>
          <p:nvPr/>
        </p:nvPicPr>
        <p:blipFill rotWithShape="1">
          <a:blip r:embed="rId2"/>
          <a:srcRect l="931" r="-1"/>
          <a:stretch/>
        </p:blipFill>
        <p:spPr>
          <a:xfrm>
            <a:off x="767407" y="1115933"/>
            <a:ext cx="8323123" cy="2241059"/>
          </a:xfrm>
          <a:prstGeom prst="rect">
            <a:avLst/>
          </a:prstGeom>
        </p:spPr>
      </p:pic>
      <p:sp>
        <p:nvSpPr>
          <p:cNvPr id="5" name="TextBox 4"/>
          <p:cNvSpPr txBox="1"/>
          <p:nvPr/>
        </p:nvSpPr>
        <p:spPr>
          <a:xfrm>
            <a:off x="408000" y="765138"/>
            <a:ext cx="11276965" cy="350795"/>
          </a:xfrm>
          <a:prstGeom prst="rect">
            <a:avLst/>
          </a:prstGeom>
          <a:noFill/>
        </p:spPr>
        <p:txBody>
          <a:bodyPr wrap="square" lIns="91374" tIns="45685" rIns="91374" bIns="45685">
            <a:spAutoFit/>
          </a:bodyPr>
          <a:lstStyle/>
          <a:p>
            <a:pPr marL="285750" indent="-285750" defTabSz="912813" fontAlgn="base">
              <a:lnSpc>
                <a:spcPct val="120000"/>
              </a:lnSpc>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Dependency </a:t>
            </a:r>
            <a:r>
              <a:rPr kumimoji="1" lang="en-US" altLang="ko-KR" sz="1400" dirty="0">
                <a:ln>
                  <a:solidFill>
                    <a:schemeClr val="bg1">
                      <a:lumMod val="85000"/>
                      <a:alpha val="0"/>
                    </a:schemeClr>
                  </a:solidFill>
                </a:ln>
                <a:solidFill>
                  <a:srgbClr val="4B465E"/>
                </a:solidFill>
                <a:latin typeface="맑은 고딕" pitchFamily="50" charset="-127"/>
                <a:cs typeface="Arial" panose="020B0604020202020204" pitchFamily="34" charset="0"/>
              </a:rPr>
              <a:t>Injection</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에 의해 합성되는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객체들 간의 관계를 표현하는 용도로 사용하는 것이 적합합니다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pic>
        <p:nvPicPr>
          <p:cNvPr id="6" name="그림 5"/>
          <p:cNvPicPr>
            <a:picLocks noChangeAspect="1"/>
          </p:cNvPicPr>
          <p:nvPr/>
        </p:nvPicPr>
        <p:blipFill>
          <a:blip r:embed="rId3"/>
          <a:stretch>
            <a:fillRect/>
          </a:stretch>
        </p:blipFill>
        <p:spPr>
          <a:xfrm>
            <a:off x="695400" y="3573015"/>
            <a:ext cx="4248472" cy="2891167"/>
          </a:xfrm>
          <a:prstGeom prst="rect">
            <a:avLst/>
          </a:prstGeom>
        </p:spPr>
      </p:pic>
    </p:spTree>
    <p:extLst>
      <p:ext uri="{BB962C8B-B14F-4D97-AF65-F5344CB8AC3E}">
        <p14:creationId xmlns:p14="http://schemas.microsoft.com/office/powerpoint/2010/main" val="135392922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그림 3"/>
          <p:cNvPicPr>
            <a:picLocks noChangeAspect="1"/>
          </p:cNvPicPr>
          <p:nvPr/>
        </p:nvPicPr>
        <p:blipFill>
          <a:blip r:embed="rId3"/>
          <a:stretch>
            <a:fillRect/>
          </a:stretch>
        </p:blipFill>
        <p:spPr>
          <a:xfrm>
            <a:off x="335360" y="4077072"/>
            <a:ext cx="6344535" cy="2124371"/>
          </a:xfrm>
          <a:prstGeom prst="rect">
            <a:avLst/>
          </a:prstGeom>
        </p:spPr>
      </p:pic>
      <p:sp>
        <p:nvSpPr>
          <p:cNvPr id="5" name="TextBox 4"/>
          <p:cNvSpPr txBox="1"/>
          <p:nvPr/>
        </p:nvSpPr>
        <p:spPr>
          <a:xfrm>
            <a:off x="4223792" y="6093296"/>
            <a:ext cx="4221027" cy="369332"/>
          </a:xfrm>
          <a:prstGeom prst="rect">
            <a:avLst/>
          </a:prstGeom>
          <a:noFill/>
        </p:spPr>
        <p:txBody>
          <a:bodyPr wrap="none" rtlCol="0">
            <a:spAutoFit/>
          </a:bodyPr>
          <a:lstStyle/>
          <a:p>
            <a:r>
              <a:rPr lang="en-US" altLang="ko-KR" dirty="0" smtClean="0"/>
              <a:t>UML Superstructure Specification, v2.0</a:t>
            </a:r>
            <a:endParaRPr lang="ko-KR" altLang="en-US" dirty="0"/>
          </a:p>
        </p:txBody>
      </p:sp>
      <p:pic>
        <p:nvPicPr>
          <p:cNvPr id="6" name="그림 5"/>
          <p:cNvPicPr>
            <a:picLocks noChangeAspect="1"/>
          </p:cNvPicPr>
          <p:nvPr/>
        </p:nvPicPr>
        <p:blipFill>
          <a:blip r:embed="rId4"/>
          <a:stretch>
            <a:fillRect/>
          </a:stretch>
        </p:blipFill>
        <p:spPr>
          <a:xfrm>
            <a:off x="335360" y="404664"/>
            <a:ext cx="6325483" cy="1267002"/>
          </a:xfrm>
          <a:prstGeom prst="rect">
            <a:avLst/>
          </a:prstGeom>
        </p:spPr>
      </p:pic>
      <p:sp>
        <p:nvSpPr>
          <p:cNvPr id="7" name="TextBox 6"/>
          <p:cNvSpPr txBox="1"/>
          <p:nvPr/>
        </p:nvSpPr>
        <p:spPr>
          <a:xfrm>
            <a:off x="5303912" y="1671666"/>
            <a:ext cx="3672800" cy="369332"/>
          </a:xfrm>
          <a:prstGeom prst="rect">
            <a:avLst/>
          </a:prstGeom>
          <a:noFill/>
        </p:spPr>
        <p:txBody>
          <a:bodyPr wrap="none" rtlCol="0">
            <a:spAutoFit/>
          </a:bodyPr>
          <a:lstStyle/>
          <a:p>
            <a:r>
              <a:rPr lang="en-US" altLang="ko-KR" dirty="0" smtClean="0"/>
              <a:t>Unified Modeling Language 2.5.1</a:t>
            </a:r>
            <a:endParaRPr lang="ko-KR" altLang="en-US" dirty="0"/>
          </a:p>
        </p:txBody>
      </p:sp>
    </p:spTree>
    <p:extLst>
      <p:ext uri="{BB962C8B-B14F-4D97-AF65-F5344CB8AC3E}">
        <p14:creationId xmlns:p14="http://schemas.microsoft.com/office/powerpoint/2010/main" val="3407967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08000" y="765138"/>
            <a:ext cx="11376001" cy="892481"/>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Whole(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전체</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와</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part(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부분</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집합 관계를 나타냄</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개념적으로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Aggregation</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보다는 더 강한 집합을 의미합니다</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Part</a:t>
            </a:r>
            <a:r>
              <a:rPr kumimoji="1" lang="ko-KR" altLang="en-US" sz="1400" dirty="0">
                <a:ln>
                  <a:solidFill>
                    <a:schemeClr val="bg1">
                      <a:lumMod val="85000"/>
                      <a:alpha val="0"/>
                    </a:schemeClr>
                  </a:solidFill>
                </a:ln>
                <a:solidFill>
                  <a:srgbClr val="4B465E"/>
                </a:solidFill>
                <a:latin typeface="맑은 고딕" pitchFamily="50" charset="-127"/>
                <a:cs typeface="Arial" panose="020B0604020202020204" pitchFamily="34" charset="0"/>
              </a:rPr>
              <a:t>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instance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의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life cycle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은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Whole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 종속됩니다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(Whole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에 의해 생성되고 </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Whole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이 소멸 될 때 같이 소멸됨</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742950" lvl="1" indent="-285750" defTabSz="912813" fontAlgn="base">
              <a:spcBef>
                <a:spcPts val="600"/>
              </a:spcBef>
              <a:spcAft>
                <a:spcPct val="0"/>
              </a:spcAft>
              <a:buClr>
                <a:srgbClr val="55CFD1"/>
              </a:buClr>
              <a:buFont typeface="Wingdings" panose="05000000000000000000" pitchFamily="2" charset="2"/>
              <a:buChar char="§"/>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Part instance</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는 공유될 수 없습니다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7477" y="2326202"/>
            <a:ext cx="5963627" cy="224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6694713" cy="424661"/>
          </a:xfrm>
        </p:spPr>
        <p:txBody>
          <a:bodyPr/>
          <a:lstStyle/>
          <a:p>
            <a:r>
              <a:rPr lang="en-US" altLang="ko-KR" dirty="0"/>
              <a:t>Composition (Composite Aggregation, </a:t>
            </a:r>
            <a:r>
              <a:rPr lang="ko-KR" altLang="en-US" dirty="0"/>
              <a:t>합성</a:t>
            </a:r>
            <a:r>
              <a:rPr lang="en-US" altLang="ko-KR" dirty="0" smtClean="0"/>
              <a:t>)</a:t>
            </a:r>
            <a:endParaRPr lang="ko-KR" altLang="en-US" dirty="0"/>
          </a:p>
        </p:txBody>
      </p:sp>
    </p:spTree>
    <p:extLst>
      <p:ext uri="{BB962C8B-B14F-4D97-AF65-F5344CB8AC3E}">
        <p14:creationId xmlns:p14="http://schemas.microsoft.com/office/powerpoint/2010/main" val="353086372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p:cNvSpPr/>
          <p:nvPr/>
        </p:nvSpPr>
        <p:spPr>
          <a:xfrm>
            <a:off x="803275" y="3105835"/>
            <a:ext cx="10585450" cy="369332"/>
          </a:xfrm>
          <a:prstGeom prst="rect">
            <a:avLst/>
          </a:prstGeom>
        </p:spPr>
        <p:txBody>
          <a:bodyPr wrap="square">
            <a:spAutoFit/>
          </a:bodyPr>
          <a:lstStyle/>
          <a:p>
            <a:r>
              <a:rPr lang="ko-KR" altLang="en-US" dirty="0">
                <a:hlinkClick r:id="rId3"/>
              </a:rPr>
              <a:t>https://cppcodetips.wordpress.com/2013/12/23/uml-class-diagram-explained-with-c-samples/</a:t>
            </a:r>
            <a:endParaRPr lang="ko-KR" altLang="en-US" dirty="0"/>
          </a:p>
        </p:txBody>
      </p:sp>
      <p:sp>
        <p:nvSpPr>
          <p:cNvPr id="8" name="제목 7"/>
          <p:cNvSpPr>
            <a:spLocks noGrp="1"/>
          </p:cNvSpPr>
          <p:nvPr>
            <p:ph type="title"/>
          </p:nvPr>
        </p:nvSpPr>
        <p:spPr>
          <a:xfrm>
            <a:off x="408000" y="156779"/>
            <a:ext cx="7430106" cy="757060"/>
          </a:xfrm>
        </p:spPr>
        <p:txBody>
          <a:bodyPr/>
          <a:lstStyle/>
          <a:p>
            <a:r>
              <a:rPr lang="en-US" altLang="ko-KR" dirty="0"/>
              <a:t>UML Class Diagram Explained With C++ samples</a:t>
            </a:r>
            <a:br>
              <a:rPr lang="en-US" altLang="ko-KR" dirty="0"/>
            </a:br>
            <a:endParaRPr lang="ko-KR" altLang="en-US" dirty="0"/>
          </a:p>
        </p:txBody>
      </p:sp>
      <p:sp>
        <p:nvSpPr>
          <p:cNvPr id="10" name="텍스트 개체 틀 9"/>
          <p:cNvSpPr>
            <a:spLocks noGrp="1"/>
          </p:cNvSpPr>
          <p:nvPr>
            <p:ph type="body" sz="quarter" idx="10"/>
          </p:nvPr>
        </p:nvSpPr>
        <p:spPr/>
        <p:txBody>
          <a:bodyPr/>
          <a:lstStyle/>
          <a:p>
            <a:endParaRPr lang="ko-KR" altLang="en-US"/>
          </a:p>
        </p:txBody>
      </p:sp>
    </p:spTree>
    <p:extLst>
      <p:ext uri="{BB962C8B-B14F-4D97-AF65-F5344CB8AC3E}">
        <p14:creationId xmlns:p14="http://schemas.microsoft.com/office/powerpoint/2010/main" val="26625347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9</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8242829"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Class Diagram &amp; Sequence Diagram </a:t>
            </a:r>
            <a:r>
              <a:rPr kumimoji="1" lang="ko-KR" altLang="en-US"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예제</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378712852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6036"/>
            <a:ext cx="7716327" cy="661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6400" y="188640"/>
            <a:ext cx="2286000"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853949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80" y="116632"/>
            <a:ext cx="11545912" cy="3958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4312" y="4005064"/>
            <a:ext cx="3038475"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645802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909" y="0"/>
            <a:ext cx="12817677" cy="6587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6280" y="116632"/>
            <a:ext cx="3505200"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787752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36" y="116632"/>
            <a:ext cx="9821646" cy="492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0336" y="5157192"/>
            <a:ext cx="28479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099970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36" y="27622"/>
            <a:ext cx="7130458" cy="6830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4352" y="4509120"/>
            <a:ext cx="27813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497540" y="2132856"/>
            <a:ext cx="4680519" cy="2012859"/>
          </a:xfrm>
          <a:prstGeom prst="rect">
            <a:avLst/>
          </a:prstGeom>
          <a:noFill/>
        </p:spPr>
        <p:txBody>
          <a:bodyPr wrap="square" rtlCol="0">
            <a:spAutoFit/>
          </a:bodyPr>
          <a:lstStyle/>
          <a:p>
            <a:pPr marL="342900" indent="-342900">
              <a:lnSpc>
                <a:spcPct val="130000"/>
              </a:lnSpc>
              <a:buFont typeface="+mj-lt"/>
              <a:buAutoNum type="arabicPeriod"/>
            </a:pPr>
            <a:r>
              <a:rPr lang="en-US" altLang="ko-KR" sz="1600" dirty="0" smtClean="0"/>
              <a:t>Booting</a:t>
            </a:r>
            <a:r>
              <a:rPr lang="ko-KR" altLang="en-US" sz="1600" dirty="0" smtClean="0"/>
              <a:t>시 </a:t>
            </a:r>
            <a:r>
              <a:rPr lang="en-US" altLang="ko-KR" sz="1600" dirty="0" err="1" smtClean="0"/>
              <a:t>registerButtonEvent</a:t>
            </a:r>
            <a:r>
              <a:rPr lang="en-US" altLang="ko-KR" sz="1600" dirty="0" smtClean="0"/>
              <a:t>()</a:t>
            </a:r>
            <a:r>
              <a:rPr lang="ko-KR" altLang="en-US" sz="1600" dirty="0" smtClean="0"/>
              <a:t>는</a:t>
            </a:r>
            <a:r>
              <a:rPr lang="en-US" altLang="ko-KR" sz="1600" dirty="0"/>
              <a:t> </a:t>
            </a:r>
            <a:r>
              <a:rPr lang="en-US" altLang="ko-KR" sz="1600" dirty="0" smtClean="0"/>
              <a:t>System</a:t>
            </a:r>
            <a:r>
              <a:rPr lang="ko-KR" altLang="en-US" sz="1600" dirty="0" smtClean="0"/>
              <a:t>에 의해 호출 되는 것을 가정</a:t>
            </a:r>
            <a:endParaRPr lang="en-US" altLang="ko-KR" sz="1600" dirty="0" smtClean="0"/>
          </a:p>
          <a:p>
            <a:pPr marL="342900" indent="-342900">
              <a:lnSpc>
                <a:spcPct val="130000"/>
              </a:lnSpc>
              <a:buFont typeface="+mj-lt"/>
              <a:buAutoNum type="arabicPeriod"/>
            </a:pPr>
            <a:r>
              <a:rPr lang="en-US" altLang="ko-KR" sz="1600" dirty="0" err="1"/>
              <a:t>registerButtonEvent</a:t>
            </a:r>
            <a:r>
              <a:rPr lang="en-US" altLang="ko-KR" sz="1600" dirty="0"/>
              <a:t>() </a:t>
            </a:r>
            <a:r>
              <a:rPr lang="ko-KR" altLang="en-US" sz="1600" dirty="0" smtClean="0"/>
              <a:t>에서 </a:t>
            </a:r>
            <a:r>
              <a:rPr lang="en-US" altLang="ko-KR" sz="1600" dirty="0" err="1" smtClean="0"/>
              <a:t>handleButtonEvent</a:t>
            </a:r>
            <a:r>
              <a:rPr lang="en-US" altLang="ko-KR" sz="1600" dirty="0" smtClean="0"/>
              <a:t> callback</a:t>
            </a:r>
            <a:r>
              <a:rPr lang="ko-KR" altLang="en-US" sz="1600" dirty="0" smtClean="0"/>
              <a:t>을 등록</a:t>
            </a:r>
            <a:r>
              <a:rPr lang="en-US" altLang="ko-KR" sz="1600" dirty="0" smtClean="0"/>
              <a:t>.</a:t>
            </a:r>
          </a:p>
          <a:p>
            <a:pPr marL="342900" indent="-342900">
              <a:lnSpc>
                <a:spcPct val="130000"/>
              </a:lnSpc>
              <a:buFont typeface="+mj-lt"/>
              <a:buAutoNum type="arabicPeriod"/>
            </a:pPr>
            <a:r>
              <a:rPr lang="ko-KR" altLang="en-US" sz="1600" dirty="0" smtClean="0"/>
              <a:t>버튼이 </a:t>
            </a:r>
            <a:r>
              <a:rPr lang="ko-KR" altLang="en-US" sz="1600" dirty="0" err="1" smtClean="0"/>
              <a:t>눌릴때</a:t>
            </a:r>
            <a:r>
              <a:rPr lang="en-US" altLang="ko-KR" sz="1600" dirty="0" smtClean="0"/>
              <a:t>, System</a:t>
            </a:r>
            <a:r>
              <a:rPr lang="ko-KR" altLang="en-US" sz="1600" dirty="0" smtClean="0"/>
              <a:t>에</a:t>
            </a:r>
            <a:r>
              <a:rPr lang="en-US" altLang="ko-KR" sz="1600" dirty="0" smtClean="0"/>
              <a:t> </a:t>
            </a:r>
            <a:r>
              <a:rPr lang="ko-KR" altLang="en-US" sz="1600" dirty="0" smtClean="0"/>
              <a:t>의해 </a:t>
            </a:r>
            <a:r>
              <a:rPr lang="en-US" altLang="ko-KR" sz="1600" dirty="0" err="1" smtClean="0"/>
              <a:t>handleButtonEvent</a:t>
            </a:r>
            <a:r>
              <a:rPr lang="ko-KR" altLang="en-US" sz="1600" dirty="0" smtClean="0"/>
              <a:t>가 </a:t>
            </a:r>
            <a:r>
              <a:rPr lang="en-US" altLang="ko-KR" sz="1600" dirty="0" smtClean="0"/>
              <a:t>callback</a:t>
            </a:r>
            <a:r>
              <a:rPr lang="ko-KR" altLang="en-US" sz="1600" dirty="0" smtClean="0"/>
              <a:t>됨</a:t>
            </a:r>
            <a:endParaRPr lang="ko-KR" altLang="en-US" sz="1600" dirty="0"/>
          </a:p>
        </p:txBody>
      </p:sp>
    </p:spTree>
    <p:extLst>
      <p:ext uri="{BB962C8B-B14F-4D97-AF65-F5344CB8AC3E}">
        <p14:creationId xmlns:p14="http://schemas.microsoft.com/office/powerpoint/2010/main" val="275853123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543619" y="729000"/>
            <a:ext cx="11104762" cy="5400000"/>
          </a:xfrm>
          <a:prstGeom prst="rect">
            <a:avLst/>
          </a:prstGeom>
        </p:spPr>
      </p:pic>
    </p:spTree>
    <p:extLst>
      <p:ext uri="{BB962C8B-B14F-4D97-AF65-F5344CB8AC3E}">
        <p14:creationId xmlns:p14="http://schemas.microsoft.com/office/powerpoint/2010/main" val="17869965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08" y="764704"/>
            <a:ext cx="8507413"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24000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33867"/>
            <a:ext cx="10544080" cy="6824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직사각형 3"/>
          <p:cNvSpPr/>
          <p:nvPr/>
        </p:nvSpPr>
        <p:spPr>
          <a:xfrm>
            <a:off x="83332" y="1196752"/>
            <a:ext cx="1116124" cy="43204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ko-KR" altLang="en-US" sz="1000" dirty="0" smtClean="0">
                <a:solidFill>
                  <a:schemeClr val="tx1"/>
                </a:solidFill>
              </a:rPr>
              <a:t>버튼 클릭 시</a:t>
            </a:r>
            <a:endParaRPr lang="en-US" altLang="ko-KR" sz="1000" dirty="0" smtClean="0">
              <a:solidFill>
                <a:schemeClr val="tx1"/>
              </a:solidFill>
            </a:endParaRPr>
          </a:p>
          <a:p>
            <a:r>
              <a:rPr lang="ko-KR" altLang="en-US" sz="1000" dirty="0" smtClean="0">
                <a:solidFill>
                  <a:schemeClr val="tx1"/>
                </a:solidFill>
              </a:rPr>
              <a:t>시스템에서 호출</a:t>
            </a:r>
          </a:p>
        </p:txBody>
      </p:sp>
      <p:cxnSp>
        <p:nvCxnSpPr>
          <p:cNvPr id="5" name="직선 연결선 4"/>
          <p:cNvCxnSpPr>
            <a:stCxn id="4" idx="0"/>
          </p:cNvCxnSpPr>
          <p:nvPr/>
        </p:nvCxnSpPr>
        <p:spPr>
          <a:xfrm flipV="1">
            <a:off x="641394" y="908720"/>
            <a:ext cx="342038" cy="288032"/>
          </a:xfrm>
          <a:prstGeom prst="line">
            <a:avLst/>
          </a:prstGeom>
          <a:ln w="1270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98055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3" name="TextBox 2"/>
          <p:cNvSpPr txBox="1"/>
          <p:nvPr/>
        </p:nvSpPr>
        <p:spPr>
          <a:xfrm>
            <a:off x="1884345" y="3852407"/>
            <a:ext cx="2758955"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ko-KR" altLang="en-US"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실습 안내 </a:t>
            </a: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2-2</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35634015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ko-KR" altLang="en-US" dirty="0"/>
              <a:t>실습 산출물 목표</a:t>
            </a:r>
          </a:p>
        </p:txBody>
      </p:sp>
      <p:sp>
        <p:nvSpPr>
          <p:cNvPr id="7" name="내용 개체 틀 2"/>
          <p:cNvSpPr txBox="1">
            <a:spLocks/>
          </p:cNvSpPr>
          <p:nvPr/>
        </p:nvSpPr>
        <p:spPr>
          <a:xfrm>
            <a:off x="633163" y="1028733"/>
            <a:ext cx="5935557" cy="492443"/>
          </a:xfrm>
          <a:prstGeom prst="rect">
            <a:avLst/>
          </a:prstGeom>
          <a:noFill/>
        </p:spPr>
        <p:txBody>
          <a:bodyPr wrap="non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marL="0" indent="0" defTabSz="953419">
              <a:lnSpc>
                <a:spcPct val="160000"/>
              </a:lnSpc>
              <a:buNone/>
            </a:pPr>
            <a:r>
              <a:rPr lang="en-US" altLang="ko-KR" sz="20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3</a:t>
            </a:r>
            <a:r>
              <a:rPr lang="ko-KR" altLang="en-US" sz="20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일간 </a:t>
            </a:r>
            <a:r>
              <a:rPr lang="en-US" altLang="ko-KR" sz="20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OOA</a:t>
            </a:r>
            <a:r>
              <a:rPr lang="ko-KR" altLang="en-US" sz="20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와 </a:t>
            </a:r>
            <a:r>
              <a:rPr lang="en-US" altLang="ko-KR" sz="20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OOD</a:t>
            </a:r>
            <a:r>
              <a:rPr lang="ko-KR" altLang="en-US" sz="2000" b="1" spc="-133" dirty="0">
                <a:ln>
                  <a:solidFill>
                    <a:srgbClr val="5B9BD5">
                      <a:alpha val="0"/>
                    </a:srgbClr>
                  </a:solidFill>
                </a:ln>
                <a:solidFill>
                  <a:srgbClr val="4156BD"/>
                </a:solidFill>
                <a:latin typeface="맑은 고딕" panose="020B0503020000020004" pitchFamily="50" charset="-127"/>
                <a:ea typeface="맑은 고딕" panose="020B0503020000020004" pitchFamily="50" charset="-127"/>
                <a:cs typeface="Arial" panose="020B0604020202020204" pitchFamily="34" charset="0"/>
              </a:rPr>
              <a:t>를 반복적으로 수행하여 산출물 작성</a:t>
            </a:r>
            <a:endParaRPr lang="en-US" altLang="ko-KR" sz="2000" b="1" spc="-133" dirty="0">
              <a:ln>
                <a:solidFill>
                  <a:srgbClr val="5B9BD5">
                    <a:alpha val="0"/>
                  </a:srgbClr>
                </a:solidFill>
              </a:ln>
              <a:solidFill>
                <a:srgbClr val="4156BD"/>
              </a:solidFill>
              <a:cs typeface="Arial" panose="020B0604020202020204" pitchFamily="34" charset="0"/>
            </a:endParaRPr>
          </a:p>
        </p:txBody>
      </p:sp>
      <p:pic>
        <p:nvPicPr>
          <p:cNvPr id="25" name="그림 24"/>
          <p:cNvPicPr>
            <a:picLocks noChangeAspect="1"/>
          </p:cNvPicPr>
          <p:nvPr/>
        </p:nvPicPr>
        <p:blipFill>
          <a:blip r:embed="rId2"/>
          <a:stretch>
            <a:fillRect/>
          </a:stretch>
        </p:blipFill>
        <p:spPr>
          <a:xfrm>
            <a:off x="431371" y="1812360"/>
            <a:ext cx="11329259" cy="3892909"/>
          </a:xfrm>
          <a:prstGeom prst="rect">
            <a:avLst/>
          </a:prstGeom>
        </p:spPr>
      </p:pic>
      <p:sp>
        <p:nvSpPr>
          <p:cNvPr id="2" name="직사각형 1"/>
          <p:cNvSpPr/>
          <p:nvPr/>
        </p:nvSpPr>
        <p:spPr>
          <a:xfrm>
            <a:off x="3427307" y="3469640"/>
            <a:ext cx="2764704" cy="1109133"/>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ko-KR" altLang="en-US"/>
          </a:p>
        </p:txBody>
      </p:sp>
      <p:sp>
        <p:nvSpPr>
          <p:cNvPr id="9" name="TextBox 8"/>
          <p:cNvSpPr txBox="1"/>
          <p:nvPr/>
        </p:nvSpPr>
        <p:spPr>
          <a:xfrm>
            <a:off x="10224460" y="1123924"/>
            <a:ext cx="1415345" cy="338555"/>
          </a:xfrm>
          <a:prstGeom prst="rect">
            <a:avLst/>
          </a:prstGeom>
          <a:noFill/>
        </p:spPr>
        <p:txBody>
          <a:bodyPr wrap="none" lIns="121917" tIns="60958" rIns="121917" bIns="60958" rtlCol="0">
            <a:spAutoFit/>
          </a:bodyPr>
          <a:lstStyle/>
          <a:p>
            <a:r>
              <a:rPr lang="ko-KR" altLang="en-US" sz="1400" dirty="0"/>
              <a:t>실습</a:t>
            </a:r>
            <a:r>
              <a:rPr lang="en-US" altLang="ko-KR" sz="1400" dirty="0"/>
              <a:t>#2 </a:t>
            </a:r>
            <a:r>
              <a:rPr lang="ko-KR" altLang="en-US" sz="1400" dirty="0"/>
              <a:t>산출물</a:t>
            </a:r>
          </a:p>
        </p:txBody>
      </p:sp>
      <p:sp>
        <p:nvSpPr>
          <p:cNvPr id="10" name="직사각형 9"/>
          <p:cNvSpPr/>
          <p:nvPr/>
        </p:nvSpPr>
        <p:spPr>
          <a:xfrm>
            <a:off x="10285601" y="1108876"/>
            <a:ext cx="1275627" cy="353603"/>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ko-KR" altLang="en-US"/>
          </a:p>
        </p:txBody>
      </p:sp>
      <p:sp>
        <p:nvSpPr>
          <p:cNvPr id="11" name="직사각형 10"/>
          <p:cNvSpPr/>
          <p:nvPr/>
        </p:nvSpPr>
        <p:spPr>
          <a:xfrm>
            <a:off x="6212331" y="2084851"/>
            <a:ext cx="2764704" cy="1383096"/>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ko-KR" altLang="en-US"/>
          </a:p>
        </p:txBody>
      </p:sp>
    </p:spTree>
    <p:extLst>
      <p:ext uri="{BB962C8B-B14F-4D97-AF65-F5344CB8AC3E}">
        <p14:creationId xmlns:p14="http://schemas.microsoft.com/office/powerpoint/2010/main" val="118759193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468860" y="3256068"/>
            <a:ext cx="3254284" cy="523149"/>
          </a:xfrm>
          <a:prstGeom prst="rect">
            <a:avLst/>
          </a:prstGeom>
          <a:noFill/>
        </p:spPr>
        <p:txBody>
          <a:bodyPr wrap="none" lIns="91374" tIns="45685" rIns="91374" bIns="45685">
            <a:spAutoFit/>
          </a:bodyPr>
          <a:lstStyle/>
          <a:p>
            <a:pPr algn="ctr" defTabSz="912813" fontAlgn="base">
              <a:spcBef>
                <a:spcPts val="600"/>
              </a:spcBef>
              <a:spcAft>
                <a:spcPct val="0"/>
              </a:spcAft>
              <a:buClr>
                <a:srgbClr val="FF5000"/>
              </a:buClr>
              <a:defRPr/>
            </a:pPr>
            <a:r>
              <a:rPr kumimoji="1" lang="en-US" altLang="ko-KR" sz="28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End Of Document</a:t>
            </a:r>
            <a:endParaRPr kumimoji="1" lang="en-US" altLang="ko-KR" sz="28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
        <p:nvSpPr>
          <p:cNvPr id="6" name="TextBox 5"/>
          <p:cNvSpPr txBox="1"/>
          <p:nvPr/>
        </p:nvSpPr>
        <p:spPr>
          <a:xfrm>
            <a:off x="5426300" y="2968685"/>
            <a:ext cx="1339401" cy="369261"/>
          </a:xfrm>
          <a:prstGeom prst="rect">
            <a:avLst/>
          </a:prstGeom>
          <a:noFill/>
        </p:spPr>
        <p:txBody>
          <a:bodyPr wrap="none" lIns="91374" tIns="45685" rIns="91374" bIns="45685">
            <a:spAutoFit/>
          </a:bodyPr>
          <a:lstStyle/>
          <a:p>
            <a:pPr algn="ctr" defTabSz="912813" fontAlgn="base">
              <a:spcBef>
                <a:spcPts val="600"/>
              </a:spcBef>
              <a:spcAft>
                <a:spcPct val="0"/>
              </a:spcAft>
              <a:buClr>
                <a:srgbClr val="FF5000"/>
              </a:buClr>
              <a:defRPr/>
            </a:pPr>
            <a:r>
              <a:rPr kumimoji="1" lang="en-US" altLang="ko-KR" b="1" dirty="0" smtClean="0">
                <a:ln>
                  <a:solidFill>
                    <a:schemeClr val="bg1">
                      <a:lumMod val="85000"/>
                      <a:alpha val="0"/>
                    </a:schemeClr>
                  </a:solidFill>
                </a:ln>
                <a:solidFill>
                  <a:srgbClr val="F2F2F2">
                    <a:alpha val="50000"/>
                  </a:srgbClr>
                </a:solidFill>
                <a:latin typeface="맑은 고딕" pitchFamily="50" charset="-127"/>
                <a:cs typeface="Arial" panose="020B0604020202020204" pitchFamily="34" charset="0"/>
              </a:rPr>
              <a:t>Thank</a:t>
            </a:r>
            <a:r>
              <a:rPr kumimoji="1" lang="ko-KR" altLang="en-US" b="1" smtClean="0">
                <a:ln>
                  <a:solidFill>
                    <a:schemeClr val="bg1">
                      <a:lumMod val="85000"/>
                      <a:alpha val="0"/>
                    </a:schemeClr>
                  </a:solidFill>
                </a:ln>
                <a:solidFill>
                  <a:srgbClr val="F2F2F2">
                    <a:alpha val="50000"/>
                  </a:srgbClr>
                </a:solidFill>
                <a:latin typeface="맑은 고딕" pitchFamily="50" charset="-127"/>
                <a:cs typeface="Arial" panose="020B0604020202020204" pitchFamily="34" charset="0"/>
              </a:rPr>
              <a:t> </a:t>
            </a:r>
            <a:r>
              <a:rPr kumimoji="1" lang="en-US" altLang="ko-KR" b="1" dirty="0" smtClean="0">
                <a:ln>
                  <a:solidFill>
                    <a:schemeClr val="bg1">
                      <a:lumMod val="85000"/>
                      <a:alpha val="0"/>
                    </a:schemeClr>
                  </a:solidFill>
                </a:ln>
                <a:solidFill>
                  <a:srgbClr val="F2F2F2">
                    <a:alpha val="50000"/>
                  </a:srgbClr>
                </a:solidFill>
                <a:latin typeface="맑은 고딕" pitchFamily="50" charset="-127"/>
                <a:cs typeface="Arial" panose="020B0604020202020204" pitchFamily="34" charset="0"/>
              </a:rPr>
              <a:t>you</a:t>
            </a:r>
            <a:endParaRPr kumimoji="1" lang="en-US" altLang="ko-KR" b="1" dirty="0">
              <a:ln>
                <a:solidFill>
                  <a:schemeClr val="bg1">
                    <a:lumMod val="85000"/>
                    <a:alpha val="0"/>
                  </a:schemeClr>
                </a:solidFill>
              </a:ln>
              <a:solidFill>
                <a:srgbClr val="F2F2F2">
                  <a:alpha val="50000"/>
                </a:srgbClr>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327010238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83375" y="3256068"/>
            <a:ext cx="1425257" cy="523149"/>
          </a:xfrm>
          <a:prstGeom prst="rect">
            <a:avLst/>
          </a:prstGeom>
          <a:noFill/>
        </p:spPr>
        <p:txBody>
          <a:bodyPr wrap="none" lIns="91374" tIns="45685" rIns="91374" bIns="45685">
            <a:spAutoFit/>
          </a:bodyPr>
          <a:lstStyle/>
          <a:p>
            <a:pPr algn="ctr" defTabSz="912813" fontAlgn="base">
              <a:spcBef>
                <a:spcPts val="600"/>
              </a:spcBef>
              <a:spcAft>
                <a:spcPct val="0"/>
              </a:spcAft>
              <a:buClr>
                <a:srgbClr val="FF5000"/>
              </a:buClr>
              <a:defRPr/>
            </a:pPr>
            <a:r>
              <a:rPr kumimoji="1" lang="en-US" altLang="ko-KR" sz="28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Backup</a:t>
            </a:r>
            <a:endParaRPr kumimoji="1" lang="en-US" altLang="ko-KR" sz="28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
        <p:nvSpPr>
          <p:cNvPr id="6" name="TextBox 5"/>
          <p:cNvSpPr txBox="1"/>
          <p:nvPr/>
        </p:nvSpPr>
        <p:spPr>
          <a:xfrm>
            <a:off x="5477950" y="2968685"/>
            <a:ext cx="1236103" cy="369261"/>
          </a:xfrm>
          <a:prstGeom prst="rect">
            <a:avLst/>
          </a:prstGeom>
          <a:noFill/>
        </p:spPr>
        <p:txBody>
          <a:bodyPr wrap="none" lIns="91374" tIns="45685" rIns="91374" bIns="45685">
            <a:spAutoFit/>
          </a:bodyPr>
          <a:lstStyle/>
          <a:p>
            <a:pPr algn="ctr" defTabSz="912813" fontAlgn="base">
              <a:spcBef>
                <a:spcPts val="600"/>
              </a:spcBef>
              <a:spcAft>
                <a:spcPct val="0"/>
              </a:spcAft>
              <a:buClr>
                <a:srgbClr val="FF5000"/>
              </a:buClr>
              <a:defRPr/>
            </a:pPr>
            <a:r>
              <a:rPr kumimoji="1" lang="en-US" altLang="ko-KR" b="1" dirty="0" smtClean="0">
                <a:ln>
                  <a:solidFill>
                    <a:schemeClr val="bg1">
                      <a:lumMod val="85000"/>
                      <a:alpha val="0"/>
                    </a:schemeClr>
                  </a:solidFill>
                </a:ln>
                <a:solidFill>
                  <a:srgbClr val="F2F2F2">
                    <a:alpha val="50000"/>
                  </a:srgbClr>
                </a:solidFill>
                <a:latin typeface="맑은 고딕" pitchFamily="50" charset="-127"/>
                <a:cs typeface="Arial" panose="020B0604020202020204" pitchFamily="34" charset="0"/>
              </a:rPr>
              <a:t>Appendix</a:t>
            </a:r>
            <a:endParaRPr kumimoji="1" lang="en-US" altLang="ko-KR" b="1" dirty="0">
              <a:ln>
                <a:solidFill>
                  <a:schemeClr val="bg1">
                    <a:lumMod val="85000"/>
                    <a:alpha val="0"/>
                  </a:schemeClr>
                </a:solidFill>
              </a:ln>
              <a:solidFill>
                <a:srgbClr val="F2F2F2">
                  <a:alpha val="50000"/>
                </a:srgbClr>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52023364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34" y="1758757"/>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7</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5" name="TextBox 4"/>
          <p:cNvSpPr txBox="1"/>
          <p:nvPr/>
        </p:nvSpPr>
        <p:spPr>
          <a:xfrm>
            <a:off x="1884345" y="3505196"/>
            <a:ext cx="3456262" cy="584705"/>
          </a:xfrm>
          <a:prstGeom prst="rect">
            <a:avLst/>
          </a:prstGeom>
          <a:noFill/>
        </p:spPr>
        <p:txBody>
          <a:bodyPr wrap="non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Activity Diagram</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168828021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408000" y="781994"/>
            <a:ext cx="11376001" cy="892481"/>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400" dirty="0" smtClean="0"/>
              <a:t>시스템의 제어 흐름을 보여주는 </a:t>
            </a:r>
            <a:r>
              <a:rPr lang="en-US" altLang="ko-KR" sz="1400" dirty="0" smtClean="0"/>
              <a:t>flowchart</a:t>
            </a:r>
          </a:p>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병렬 흐름을 지원</a:t>
            </a: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9857" y="1997673"/>
            <a:ext cx="3971925" cy="345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제목 6"/>
          <p:cNvSpPr>
            <a:spLocks noGrp="1"/>
          </p:cNvSpPr>
          <p:nvPr>
            <p:ph type="title"/>
          </p:nvPr>
        </p:nvSpPr>
        <p:spPr>
          <a:xfrm>
            <a:off x="408000" y="156779"/>
            <a:ext cx="2643539" cy="424661"/>
          </a:xfrm>
        </p:spPr>
        <p:txBody>
          <a:bodyPr/>
          <a:lstStyle/>
          <a:p>
            <a:r>
              <a:rPr lang="en-US" altLang="ko-KR" dirty="0"/>
              <a:t>Activity </a:t>
            </a:r>
            <a:r>
              <a:rPr lang="en-US" altLang="ko-KR" dirty="0" smtClean="0"/>
              <a:t>Diagram</a:t>
            </a:r>
            <a:endParaRPr lang="ko-KR" altLang="en-US" dirty="0"/>
          </a:p>
        </p:txBody>
      </p:sp>
    </p:spTree>
    <p:extLst>
      <p:ext uri="{BB962C8B-B14F-4D97-AF65-F5344CB8AC3E}">
        <p14:creationId xmlns:p14="http://schemas.microsoft.com/office/powerpoint/2010/main" val="164390981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420793" y="781991"/>
            <a:ext cx="11363207"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400" dirty="0" smtClean="0"/>
              <a:t>시스템에서 발생하는 </a:t>
            </a:r>
            <a:r>
              <a:rPr lang="en-US" altLang="ko-KR" sz="1400" dirty="0" smtClean="0"/>
              <a:t>basic operation</a:t>
            </a:r>
            <a:r>
              <a:rPr lang="ko-KR" altLang="en-US" sz="1400" dirty="0" smtClean="0"/>
              <a:t>을 의미 하며</a:t>
            </a:r>
            <a:r>
              <a:rPr lang="en-US" altLang="ko-KR" sz="1400" dirty="0" smtClean="0"/>
              <a:t>, Activity Diagram</a:t>
            </a:r>
            <a:r>
              <a:rPr lang="ko-KR" altLang="en-US" sz="1400" dirty="0" smtClean="0"/>
              <a:t>의 기본 기능 단위 입니다</a:t>
            </a:r>
            <a:r>
              <a:rPr lang="en-US" altLang="ko-KR" sz="1400" dirty="0" smtClean="0"/>
              <a:t>.</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1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1149" y="1539051"/>
            <a:ext cx="9402493" cy="1283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4" descr="C:\Users\samsung\Pictures\309945_1_En_12_Fig7_HTML.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3765" y="3563007"/>
            <a:ext cx="7218739" cy="247888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제목 6"/>
          <p:cNvSpPr>
            <a:spLocks noGrp="1"/>
          </p:cNvSpPr>
          <p:nvPr>
            <p:ph type="title"/>
          </p:nvPr>
        </p:nvSpPr>
        <p:spPr>
          <a:xfrm>
            <a:off x="408000" y="156779"/>
            <a:ext cx="1133510" cy="757060"/>
          </a:xfrm>
        </p:spPr>
        <p:txBody>
          <a:bodyPr/>
          <a:lstStyle/>
          <a:p>
            <a:r>
              <a:rPr lang="en-US" altLang="ko-KR" dirty="0"/>
              <a:t>Action</a:t>
            </a:r>
            <a:br>
              <a:rPr lang="en-US" altLang="ko-KR" dirty="0"/>
            </a:br>
            <a:endParaRPr lang="ko-KR" altLang="en-US" dirty="0"/>
          </a:p>
        </p:txBody>
      </p:sp>
    </p:spTree>
    <p:extLst>
      <p:ext uri="{BB962C8B-B14F-4D97-AF65-F5344CB8AC3E}">
        <p14:creationId xmlns:p14="http://schemas.microsoft.com/office/powerpoint/2010/main" val="411932041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412909" y="766234"/>
            <a:ext cx="11371091" cy="1677312"/>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ko-KR" altLang="en-US" sz="1400" dirty="0" smtClean="0"/>
              <a:t>하나의 </a:t>
            </a:r>
            <a:r>
              <a:rPr lang="en-US" altLang="ko-KR" sz="1400" dirty="0" smtClean="0"/>
              <a:t>Activity</a:t>
            </a:r>
            <a:r>
              <a:rPr lang="ko-KR" altLang="en-US" sz="1400" dirty="0" smtClean="0"/>
              <a:t>는 여러 개의 </a:t>
            </a:r>
            <a:r>
              <a:rPr lang="en-US" altLang="ko-KR" sz="1400" dirty="0" smtClean="0"/>
              <a:t>action</a:t>
            </a:r>
            <a:r>
              <a:rPr lang="ko-KR" altLang="en-US" sz="1400" dirty="0" smtClean="0"/>
              <a:t>을 포함 할 수 있다</a:t>
            </a:r>
            <a:r>
              <a:rPr lang="en-US" altLang="ko-KR" sz="1400" dirty="0" smtClean="0"/>
              <a:t>. </a:t>
            </a:r>
          </a:p>
          <a:p>
            <a:pPr marL="742950" lvl="1" indent="-285750" defTabSz="912813" fontAlgn="base">
              <a:spcBef>
                <a:spcPts val="600"/>
              </a:spcBef>
              <a:spcAft>
                <a:spcPct val="0"/>
              </a:spcAft>
              <a:buClr>
                <a:srgbClr val="55CFD1"/>
              </a:buClr>
              <a:buFont typeface="Wingdings" panose="05000000000000000000" pitchFamily="2" charset="2"/>
              <a:buChar char="§"/>
              <a:defRPr/>
            </a:pPr>
            <a:r>
              <a:rPr lang="en-US" altLang="ko-KR" sz="1200" dirty="0">
                <a:solidFill>
                  <a:schemeClr val="bg1">
                    <a:lumMod val="50000"/>
                  </a:schemeClr>
                </a:solidFill>
              </a:rPr>
              <a:t>EA 15.1  </a:t>
            </a:r>
            <a:r>
              <a:rPr lang="ko-KR" altLang="en-US" sz="1200" dirty="0">
                <a:solidFill>
                  <a:schemeClr val="bg1">
                    <a:lumMod val="50000"/>
                  </a:schemeClr>
                </a:solidFill>
              </a:rPr>
              <a:t>이상에서는 </a:t>
            </a:r>
            <a:r>
              <a:rPr lang="en-US" altLang="ko-KR" sz="1200" dirty="0" smtClean="0">
                <a:solidFill>
                  <a:schemeClr val="bg1">
                    <a:lumMod val="50000"/>
                  </a:schemeClr>
                </a:solidFill>
              </a:rPr>
              <a:t>Object node</a:t>
            </a:r>
            <a:r>
              <a:rPr lang="ko-KR" altLang="en-US" sz="1200" dirty="0">
                <a:solidFill>
                  <a:schemeClr val="bg1">
                    <a:lumMod val="50000"/>
                  </a:schemeClr>
                </a:solidFill>
              </a:rPr>
              <a:t>에 </a:t>
            </a:r>
            <a:r>
              <a:rPr lang="en-US" altLang="ko-KR" sz="1200" dirty="0" smtClean="0">
                <a:solidFill>
                  <a:schemeClr val="bg1">
                    <a:lumMod val="50000"/>
                  </a:schemeClr>
                </a:solidFill>
              </a:rPr>
              <a:t>Control </a:t>
            </a:r>
            <a:r>
              <a:rPr lang="en-US" altLang="ko-KR" sz="1200" dirty="0">
                <a:solidFill>
                  <a:schemeClr val="bg1">
                    <a:lumMod val="50000"/>
                  </a:schemeClr>
                </a:solidFill>
              </a:rPr>
              <a:t>flow </a:t>
            </a:r>
            <a:r>
              <a:rPr lang="ko-KR" altLang="en-US" sz="1200" dirty="0">
                <a:solidFill>
                  <a:schemeClr val="bg1">
                    <a:lumMod val="50000"/>
                  </a:schemeClr>
                </a:solidFill>
              </a:rPr>
              <a:t>연결을 바로 할 수 </a:t>
            </a:r>
            <a:r>
              <a:rPr lang="ko-KR" altLang="en-US" sz="1200" dirty="0" smtClean="0">
                <a:solidFill>
                  <a:schemeClr val="bg1">
                    <a:lumMod val="50000"/>
                  </a:schemeClr>
                </a:solidFill>
              </a:rPr>
              <a:t>없습니다</a:t>
            </a:r>
            <a:r>
              <a:rPr lang="en-US" altLang="ko-KR" sz="1200" dirty="0" smtClean="0">
                <a:solidFill>
                  <a:schemeClr val="bg1">
                    <a:lumMod val="50000"/>
                  </a:schemeClr>
                </a:solidFill>
              </a:rPr>
              <a:t>. </a:t>
            </a:r>
          </a:p>
          <a:p>
            <a:pPr marL="742950" lvl="1" indent="-285750" defTabSz="912813" fontAlgn="base">
              <a:spcBef>
                <a:spcPts val="600"/>
              </a:spcBef>
              <a:spcAft>
                <a:spcPct val="0"/>
              </a:spcAft>
              <a:buClr>
                <a:srgbClr val="55CFD1"/>
              </a:buClr>
              <a:buFont typeface="Wingdings" panose="05000000000000000000" pitchFamily="2" charset="2"/>
              <a:buChar char="§"/>
              <a:defRPr/>
            </a:pPr>
            <a:r>
              <a:rPr lang="en-US" altLang="ko-KR" sz="1200" dirty="0" smtClean="0">
                <a:solidFill>
                  <a:schemeClr val="bg1">
                    <a:lumMod val="50000"/>
                  </a:schemeClr>
                </a:solidFill>
              </a:rPr>
              <a:t>Object node</a:t>
            </a:r>
            <a:r>
              <a:rPr lang="ko-KR" altLang="en-US" sz="1200" dirty="0" smtClean="0">
                <a:solidFill>
                  <a:schemeClr val="bg1">
                    <a:lumMod val="50000"/>
                  </a:schemeClr>
                </a:solidFill>
              </a:rPr>
              <a:t>를 선택 후 </a:t>
            </a:r>
            <a:r>
              <a:rPr lang="en-US" altLang="ko-KR" sz="1200" dirty="0" err="1" smtClean="0">
                <a:solidFill>
                  <a:schemeClr val="bg1">
                    <a:lumMod val="50000"/>
                  </a:schemeClr>
                </a:solidFill>
              </a:rPr>
              <a:t>Ctrl+L</a:t>
            </a:r>
            <a:r>
              <a:rPr lang="ko-KR" altLang="en-US" sz="1200" dirty="0" smtClean="0">
                <a:solidFill>
                  <a:schemeClr val="bg1">
                    <a:lumMod val="50000"/>
                  </a:schemeClr>
                </a:solidFill>
              </a:rPr>
              <a:t>을 눌러 데이터</a:t>
            </a:r>
            <a:r>
              <a:rPr lang="en-US" altLang="ko-KR" sz="1200" dirty="0" smtClean="0">
                <a:solidFill>
                  <a:schemeClr val="bg1">
                    <a:lumMod val="50000"/>
                  </a:schemeClr>
                </a:solidFill>
              </a:rPr>
              <a:t> </a:t>
            </a:r>
            <a:r>
              <a:rPr lang="ko-KR" altLang="en-US" sz="1200" dirty="0" smtClean="0">
                <a:solidFill>
                  <a:schemeClr val="bg1">
                    <a:lumMod val="50000"/>
                  </a:schemeClr>
                </a:solidFill>
              </a:rPr>
              <a:t>타입을 설정 후에 연결이 가능하고 연결된 </a:t>
            </a:r>
            <a:r>
              <a:rPr lang="en-US" altLang="ko-KR" sz="1200" dirty="0" smtClean="0">
                <a:solidFill>
                  <a:schemeClr val="bg1">
                    <a:lumMod val="50000"/>
                  </a:schemeClr>
                </a:solidFill>
              </a:rPr>
              <a:t>Object node</a:t>
            </a:r>
            <a:r>
              <a:rPr lang="ko-KR" altLang="en-US" sz="1200" dirty="0" smtClean="0">
                <a:solidFill>
                  <a:schemeClr val="bg1">
                    <a:lumMod val="50000"/>
                  </a:schemeClr>
                </a:solidFill>
              </a:rPr>
              <a:t>간의 데이터 타입이 동일해야 합니다</a:t>
            </a:r>
            <a:r>
              <a:rPr lang="en-US" altLang="ko-KR" sz="1200" dirty="0" smtClean="0">
                <a:solidFill>
                  <a:schemeClr val="bg1">
                    <a:lumMod val="50000"/>
                  </a:schemeClr>
                </a:solidFill>
              </a:rPr>
              <a:t>. </a:t>
            </a:r>
          </a:p>
          <a:p>
            <a:pPr marL="742950" lvl="1" indent="-285750" defTabSz="912813" fontAlgn="base">
              <a:spcBef>
                <a:spcPts val="600"/>
              </a:spcBef>
              <a:spcAft>
                <a:spcPct val="0"/>
              </a:spcAft>
              <a:buClr>
                <a:srgbClr val="55CFD1"/>
              </a:buClr>
              <a:buFont typeface="Wingdings" panose="05000000000000000000" pitchFamily="2" charset="2"/>
              <a:buChar char="§"/>
              <a:defRPr/>
            </a:pPr>
            <a:r>
              <a:rPr lang="en-US" altLang="ko-KR" sz="1200" dirty="0">
                <a:solidFill>
                  <a:schemeClr val="bg1">
                    <a:lumMod val="50000"/>
                  </a:schemeClr>
                </a:solidFill>
              </a:rPr>
              <a:t>EA 15.1  </a:t>
            </a:r>
            <a:r>
              <a:rPr lang="ko-KR" altLang="en-US" sz="1200" dirty="0" smtClean="0">
                <a:solidFill>
                  <a:schemeClr val="bg1">
                    <a:lumMod val="50000"/>
                  </a:schemeClr>
                </a:solidFill>
              </a:rPr>
              <a:t>이상 사용 시 </a:t>
            </a:r>
            <a:r>
              <a:rPr lang="en-US" altLang="ko-KR" sz="1200" dirty="0" smtClean="0">
                <a:solidFill>
                  <a:schemeClr val="bg1">
                    <a:lumMod val="50000"/>
                  </a:schemeClr>
                </a:solidFill>
              </a:rPr>
              <a:t>Activity</a:t>
            </a:r>
            <a:r>
              <a:rPr lang="ko-KR" altLang="en-US" sz="1200" dirty="0" smtClean="0">
                <a:solidFill>
                  <a:schemeClr val="bg1">
                    <a:lumMod val="50000"/>
                  </a:schemeClr>
                </a:solidFill>
              </a:rPr>
              <a:t>간 연결은 </a:t>
            </a:r>
            <a:r>
              <a:rPr lang="en-US" altLang="ko-KR" sz="1200" dirty="0" smtClean="0">
                <a:solidFill>
                  <a:schemeClr val="bg1">
                    <a:lumMod val="50000"/>
                  </a:schemeClr>
                </a:solidFill>
              </a:rPr>
              <a:t>Action pin</a:t>
            </a:r>
            <a:r>
              <a:rPr lang="ko-KR" altLang="en-US" sz="1200" dirty="0" smtClean="0">
                <a:solidFill>
                  <a:schemeClr val="bg1">
                    <a:lumMod val="50000"/>
                  </a:schemeClr>
                </a:solidFill>
              </a:rPr>
              <a:t>이나 </a:t>
            </a:r>
            <a:r>
              <a:rPr lang="en-US" altLang="ko-KR" sz="1200" dirty="0" smtClean="0">
                <a:solidFill>
                  <a:schemeClr val="bg1">
                    <a:lumMod val="50000"/>
                  </a:schemeClr>
                </a:solidFill>
              </a:rPr>
              <a:t>Object node</a:t>
            </a:r>
            <a:r>
              <a:rPr lang="ko-KR" altLang="en-US" sz="1200" dirty="0" smtClean="0">
                <a:solidFill>
                  <a:schemeClr val="bg1">
                    <a:lumMod val="50000"/>
                  </a:schemeClr>
                </a:solidFill>
              </a:rPr>
              <a:t>를 설정 후 연결이 가능합니다</a:t>
            </a:r>
            <a:r>
              <a:rPr lang="en-US" altLang="ko-KR" sz="1200" dirty="0" smtClean="0">
                <a:solidFill>
                  <a:schemeClr val="bg1">
                    <a:lumMod val="50000"/>
                  </a:schemeClr>
                </a:solidFill>
              </a:rPr>
              <a:t>. </a:t>
            </a:r>
            <a:endParaRPr lang="en-US" altLang="ko-KR" sz="1200" dirty="0">
              <a:solidFill>
                <a:schemeClr val="bg1">
                  <a:lumMod val="50000"/>
                </a:schemeClr>
              </a:solidFill>
            </a:endParaRPr>
          </a:p>
          <a:p>
            <a:pPr marL="742950" lvl="1" indent="-285750" defTabSz="912813" fontAlgn="base">
              <a:spcBef>
                <a:spcPts val="600"/>
              </a:spcBef>
              <a:spcAft>
                <a:spcPct val="0"/>
              </a:spcAft>
              <a:buClr>
                <a:srgbClr val="55CFD1"/>
              </a:buClr>
              <a:buFont typeface="Wingdings" panose="05000000000000000000" pitchFamily="2" charset="2"/>
              <a:buChar char="§"/>
              <a:defRPr/>
            </a:pPr>
            <a:endParaRPr lang="en-US" altLang="ko-KR" sz="1400" dirty="0" smtClean="0"/>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8" name="그림 7"/>
          <p:cNvPicPr>
            <a:picLocks noChangeAspect="1"/>
          </p:cNvPicPr>
          <p:nvPr/>
        </p:nvPicPr>
        <p:blipFill>
          <a:blip r:embed="rId3"/>
          <a:stretch>
            <a:fillRect/>
          </a:stretch>
        </p:blipFill>
        <p:spPr>
          <a:xfrm>
            <a:off x="2160440" y="2874588"/>
            <a:ext cx="6701501" cy="1895481"/>
          </a:xfrm>
          <a:prstGeom prst="rect">
            <a:avLst/>
          </a:prstGeom>
        </p:spPr>
      </p:pic>
      <p:sp>
        <p:nvSpPr>
          <p:cNvPr id="7" name="제목 6"/>
          <p:cNvSpPr>
            <a:spLocks noGrp="1"/>
          </p:cNvSpPr>
          <p:nvPr>
            <p:ph type="title"/>
          </p:nvPr>
        </p:nvSpPr>
        <p:spPr>
          <a:xfrm>
            <a:off x="408000" y="156779"/>
            <a:ext cx="1289002" cy="424661"/>
          </a:xfrm>
        </p:spPr>
        <p:txBody>
          <a:bodyPr/>
          <a:lstStyle/>
          <a:p>
            <a:r>
              <a:rPr lang="en-US" altLang="ko-KR" dirty="0" smtClean="0"/>
              <a:t>Activity</a:t>
            </a:r>
            <a:endParaRPr lang="ko-KR" altLang="en-US" dirty="0"/>
          </a:p>
        </p:txBody>
      </p:sp>
    </p:spTree>
    <p:extLst>
      <p:ext uri="{BB962C8B-B14F-4D97-AF65-F5344CB8AC3E}">
        <p14:creationId xmlns:p14="http://schemas.microsoft.com/office/powerpoint/2010/main" val="24929785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p:cNvSpPr txBox="1"/>
          <p:nvPr/>
        </p:nvSpPr>
        <p:spPr>
          <a:xfrm>
            <a:off x="770117" y="3944233"/>
            <a:ext cx="9977488"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en-US" altLang="ko-KR" sz="1400" dirty="0" smtClean="0"/>
              <a:t>Interrupt Flow </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15" name="TextBox 14"/>
          <p:cNvSpPr txBox="1"/>
          <p:nvPr/>
        </p:nvSpPr>
        <p:spPr>
          <a:xfrm>
            <a:off x="770117" y="1279649"/>
            <a:ext cx="9977488"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en-US" altLang="ko-KR" sz="1400" dirty="0" smtClean="0"/>
              <a:t>Control Flow</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sp>
        <p:nvSpPr>
          <p:cNvPr id="16" name="TextBox 15"/>
          <p:cNvSpPr txBox="1"/>
          <p:nvPr/>
        </p:nvSpPr>
        <p:spPr>
          <a:xfrm>
            <a:off x="770117" y="2592891"/>
            <a:ext cx="9977488"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lang="en-US" altLang="ko-KR" sz="1400" dirty="0" smtClean="0"/>
              <a:t>Object Flow (Action pin)</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7" name="그림 6"/>
          <p:cNvPicPr>
            <a:picLocks noChangeAspect="1"/>
          </p:cNvPicPr>
          <p:nvPr/>
        </p:nvPicPr>
        <p:blipFill>
          <a:blip r:embed="rId3"/>
          <a:stretch>
            <a:fillRect/>
          </a:stretch>
        </p:blipFill>
        <p:spPr>
          <a:xfrm>
            <a:off x="1077253" y="1552204"/>
            <a:ext cx="2762667" cy="750975"/>
          </a:xfrm>
          <a:prstGeom prst="rect">
            <a:avLst/>
          </a:prstGeom>
        </p:spPr>
      </p:pic>
      <p:pic>
        <p:nvPicPr>
          <p:cNvPr id="8" name="그림 7"/>
          <p:cNvPicPr>
            <a:picLocks noChangeAspect="1"/>
          </p:cNvPicPr>
          <p:nvPr/>
        </p:nvPicPr>
        <p:blipFill>
          <a:blip r:embed="rId4"/>
          <a:stretch>
            <a:fillRect/>
          </a:stretch>
        </p:blipFill>
        <p:spPr>
          <a:xfrm>
            <a:off x="5758861" y="2965989"/>
            <a:ext cx="5091200" cy="978244"/>
          </a:xfrm>
          <a:prstGeom prst="rect">
            <a:avLst/>
          </a:prstGeom>
        </p:spPr>
      </p:pic>
      <p:pic>
        <p:nvPicPr>
          <p:cNvPr id="9" name="그림 8"/>
          <p:cNvPicPr>
            <a:picLocks noChangeAspect="1"/>
          </p:cNvPicPr>
          <p:nvPr/>
        </p:nvPicPr>
        <p:blipFill>
          <a:blip r:embed="rId5"/>
          <a:stretch>
            <a:fillRect/>
          </a:stretch>
        </p:blipFill>
        <p:spPr>
          <a:xfrm>
            <a:off x="1107712" y="2913883"/>
            <a:ext cx="3068534" cy="800381"/>
          </a:xfrm>
          <a:prstGeom prst="rect">
            <a:avLst/>
          </a:prstGeom>
        </p:spPr>
      </p:pic>
      <p:pic>
        <p:nvPicPr>
          <p:cNvPr id="12" name="그림 11"/>
          <p:cNvPicPr>
            <a:picLocks noChangeAspect="1"/>
          </p:cNvPicPr>
          <p:nvPr/>
        </p:nvPicPr>
        <p:blipFill>
          <a:blip r:embed="rId6"/>
          <a:stretch>
            <a:fillRect/>
          </a:stretch>
        </p:blipFill>
        <p:spPr>
          <a:xfrm>
            <a:off x="1077253" y="4347223"/>
            <a:ext cx="5939734" cy="1669931"/>
          </a:xfrm>
          <a:prstGeom prst="rect">
            <a:avLst/>
          </a:prstGeom>
        </p:spPr>
      </p:pic>
      <p:sp>
        <p:nvSpPr>
          <p:cNvPr id="10" name="제목 9"/>
          <p:cNvSpPr>
            <a:spLocks noGrp="1"/>
          </p:cNvSpPr>
          <p:nvPr>
            <p:ph type="title"/>
          </p:nvPr>
        </p:nvSpPr>
        <p:spPr>
          <a:xfrm>
            <a:off x="408000" y="156779"/>
            <a:ext cx="867412" cy="424661"/>
          </a:xfrm>
        </p:spPr>
        <p:txBody>
          <a:bodyPr/>
          <a:lstStyle/>
          <a:p>
            <a:r>
              <a:rPr lang="en-US" altLang="ko-KR" dirty="0" smtClean="0"/>
              <a:t>Flow</a:t>
            </a:r>
            <a:endParaRPr lang="ko-KR" altLang="en-US" dirty="0"/>
          </a:p>
        </p:txBody>
      </p:sp>
    </p:spTree>
    <p:extLst>
      <p:ext uri="{BB962C8B-B14F-4D97-AF65-F5344CB8AC3E}">
        <p14:creationId xmlns:p14="http://schemas.microsoft.com/office/powerpoint/2010/main" val="127608014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9797" y="984716"/>
            <a:ext cx="4997768" cy="1393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그림 7"/>
          <p:cNvPicPr>
            <a:picLocks noChangeAspect="1"/>
          </p:cNvPicPr>
          <p:nvPr/>
        </p:nvPicPr>
        <p:blipFill>
          <a:blip r:embed="rId4"/>
          <a:stretch>
            <a:fillRect/>
          </a:stretch>
        </p:blipFill>
        <p:spPr>
          <a:xfrm>
            <a:off x="368585" y="3745238"/>
            <a:ext cx="7072313" cy="2430780"/>
          </a:xfrm>
          <a:prstGeom prst="rect">
            <a:avLst/>
          </a:prstGeom>
          <a:ln>
            <a:solidFill>
              <a:schemeClr val="tx1"/>
            </a:solidFill>
          </a:ln>
        </p:spPr>
      </p:pic>
      <p:pic>
        <p:nvPicPr>
          <p:cNvPr id="9" name="그림 8"/>
          <p:cNvPicPr>
            <a:picLocks noChangeAspect="1"/>
          </p:cNvPicPr>
          <p:nvPr/>
        </p:nvPicPr>
        <p:blipFill rotWithShape="1">
          <a:blip r:embed="rId5"/>
          <a:srcRect b="-5552"/>
          <a:stretch/>
        </p:blipFill>
        <p:spPr>
          <a:xfrm>
            <a:off x="7653125" y="3745238"/>
            <a:ext cx="4243388" cy="2421967"/>
          </a:xfrm>
          <a:prstGeom prst="rect">
            <a:avLst/>
          </a:prstGeom>
          <a:ln>
            <a:solidFill>
              <a:schemeClr val="tx1"/>
            </a:solidFill>
          </a:ln>
        </p:spPr>
      </p:pic>
      <p:sp>
        <p:nvSpPr>
          <p:cNvPr id="7" name="제목 6"/>
          <p:cNvSpPr>
            <a:spLocks noGrp="1"/>
          </p:cNvSpPr>
          <p:nvPr>
            <p:ph type="title"/>
          </p:nvPr>
        </p:nvSpPr>
        <p:spPr>
          <a:xfrm>
            <a:off x="408000" y="156779"/>
            <a:ext cx="2182003" cy="424661"/>
          </a:xfrm>
        </p:spPr>
        <p:txBody>
          <a:bodyPr/>
          <a:lstStyle/>
          <a:p>
            <a:r>
              <a:rPr lang="en-US" altLang="ko-KR" dirty="0"/>
              <a:t>Control </a:t>
            </a:r>
            <a:r>
              <a:rPr lang="en-US" altLang="ko-KR" dirty="0" smtClean="0"/>
              <a:t>Node</a:t>
            </a:r>
            <a:endParaRPr lang="ko-KR" altLang="en-US" dirty="0"/>
          </a:p>
        </p:txBody>
      </p:sp>
    </p:spTree>
    <p:extLst>
      <p:ext uri="{BB962C8B-B14F-4D97-AF65-F5344CB8AC3E}">
        <p14:creationId xmlns:p14="http://schemas.microsoft.com/office/powerpoint/2010/main" val="192915677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C:\Users\samsung\Desktop\UML\Activity\Activity Diagram - UML 2 Tutorial  Sparx Systems_files\ad03.gif"/>
          <p:cNvPicPr>
            <a:picLocks noChangeAspect="1" noChangeArrowheads="1"/>
          </p:cNvPicPr>
          <p:nvPr/>
        </p:nvPicPr>
        <p:blipFill rotWithShape="1">
          <a:blip r:embed="rId3">
            <a:extLst>
              <a:ext uri="{28A0092B-C50C-407E-A947-70E740481C1C}">
                <a14:useLocalDpi xmlns:a14="http://schemas.microsoft.com/office/drawing/2010/main" val="0"/>
              </a:ext>
            </a:extLst>
          </a:blip>
          <a:srcRect l="1495" t="7425" r="1116" b="3431"/>
          <a:stretch/>
        </p:blipFill>
        <p:spPr bwMode="auto">
          <a:xfrm>
            <a:off x="408000" y="1149955"/>
            <a:ext cx="11190643" cy="4517747"/>
          </a:xfrm>
          <a:prstGeom prst="rect">
            <a:avLst/>
          </a:prstGeom>
          <a:noFill/>
          <a:extLst>
            <a:ext uri="{909E8E84-426E-40DD-AFC4-6F175D3DCCD1}">
              <a14:hiddenFill xmlns:a14="http://schemas.microsoft.com/office/drawing/2010/main">
                <a:solidFill>
                  <a:srgbClr val="FFFFFF"/>
                </a:solidFill>
              </a14:hiddenFill>
            </a:ext>
          </a:extLst>
        </p:spPr>
      </p:pic>
      <p:sp>
        <p:nvSpPr>
          <p:cNvPr id="7" name="제목 6"/>
          <p:cNvSpPr>
            <a:spLocks noGrp="1"/>
          </p:cNvSpPr>
          <p:nvPr>
            <p:ph type="title"/>
          </p:nvPr>
        </p:nvSpPr>
        <p:spPr>
          <a:xfrm>
            <a:off x="408000" y="156779"/>
            <a:ext cx="1412433" cy="424661"/>
          </a:xfrm>
        </p:spPr>
        <p:txBody>
          <a:bodyPr/>
          <a:lstStyle/>
          <a:p>
            <a:r>
              <a:rPr lang="en-US" altLang="ko-KR" dirty="0" smtClean="0"/>
              <a:t>Example</a:t>
            </a:r>
            <a:endParaRPr lang="ko-KR" altLang="en-US" dirty="0"/>
          </a:p>
        </p:txBody>
      </p:sp>
    </p:spTree>
    <p:extLst>
      <p:ext uri="{BB962C8B-B14F-4D97-AF65-F5344CB8AC3E}">
        <p14:creationId xmlns:p14="http://schemas.microsoft.com/office/powerpoint/2010/main" val="225154249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b="12336"/>
          <a:stretch/>
        </p:blipFill>
        <p:spPr bwMode="auto">
          <a:xfrm>
            <a:off x="4749680" y="92279"/>
            <a:ext cx="1016239" cy="443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그림 7"/>
          <p:cNvPicPr>
            <a:picLocks noChangeAspect="1"/>
          </p:cNvPicPr>
          <p:nvPr/>
        </p:nvPicPr>
        <p:blipFill>
          <a:blip r:embed="rId4"/>
          <a:stretch>
            <a:fillRect/>
          </a:stretch>
        </p:blipFill>
        <p:spPr>
          <a:xfrm>
            <a:off x="630075" y="1386114"/>
            <a:ext cx="11084935" cy="4092403"/>
          </a:xfrm>
          <a:prstGeom prst="rect">
            <a:avLst/>
          </a:prstGeom>
        </p:spPr>
      </p:pic>
      <p:sp>
        <p:nvSpPr>
          <p:cNvPr id="12" name="제목 11"/>
          <p:cNvSpPr>
            <a:spLocks noGrp="1"/>
          </p:cNvSpPr>
          <p:nvPr>
            <p:ph type="title"/>
          </p:nvPr>
        </p:nvSpPr>
        <p:spPr>
          <a:xfrm>
            <a:off x="408000" y="156779"/>
            <a:ext cx="4849800" cy="757060"/>
          </a:xfrm>
        </p:spPr>
        <p:txBody>
          <a:bodyPr/>
          <a:lstStyle/>
          <a:p>
            <a:r>
              <a:rPr lang="en-US" altLang="ko-KR" dirty="0"/>
              <a:t>Interruptible Activity region</a:t>
            </a:r>
            <a:br>
              <a:rPr lang="en-US" altLang="ko-KR" dirty="0"/>
            </a:br>
            <a:endParaRPr lang="ko-KR" altLang="en-US" dirty="0"/>
          </a:p>
        </p:txBody>
      </p:sp>
    </p:spTree>
    <p:extLst>
      <p:ext uri="{BB962C8B-B14F-4D97-AF65-F5344CB8AC3E}">
        <p14:creationId xmlns:p14="http://schemas.microsoft.com/office/powerpoint/2010/main" val="3573427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08000" y="156779"/>
            <a:ext cx="2932401" cy="424661"/>
          </a:xfrm>
        </p:spPr>
        <p:txBody>
          <a:bodyPr/>
          <a:lstStyle/>
          <a:p>
            <a:r>
              <a:rPr lang="en-US" altLang="ko-KR" dirty="0" smtClean="0"/>
              <a:t>Structured Activity</a:t>
            </a:r>
            <a:endParaRPr lang="ko-KR" altLang="en-US" dirty="0"/>
          </a:p>
        </p:txBody>
      </p:sp>
      <p:pic>
        <p:nvPicPr>
          <p:cNvPr id="1026" name="Picture 2" descr="https://docs.nomagic.com/download/attachments/36312904/Loop_node.png?version=1&amp;modificationDate=1521895864171&amp;api=v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445" y="1382081"/>
            <a:ext cx="5438775" cy="48958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20795" y="781987"/>
            <a:ext cx="5570102" cy="307706"/>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Loop node</a:t>
            </a:r>
          </a:p>
        </p:txBody>
      </p:sp>
      <p:sp>
        <p:nvSpPr>
          <p:cNvPr id="6" name="TextBox 5"/>
          <p:cNvSpPr txBox="1"/>
          <p:nvPr/>
        </p:nvSpPr>
        <p:spPr>
          <a:xfrm>
            <a:off x="6206740" y="781987"/>
            <a:ext cx="5570102"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Conditional node</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7" name="Picture 2" descr="https://docs.nomagic.com/download/attachments/36312904/Conditional_node.png?version=1&amp;modificationDate=1521896066453&amp;api=v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324" y="1382081"/>
            <a:ext cx="2428875" cy="1790701"/>
          </a:xfrm>
          <a:prstGeom prst="rect">
            <a:avLst/>
          </a:prstGeom>
          <a:noFill/>
          <a:extLst>
            <a:ext uri="{909E8E84-426E-40DD-AFC4-6F175D3DCCD1}">
              <a14:hiddenFill xmlns:a14="http://schemas.microsoft.com/office/drawing/2010/main">
                <a:solidFill>
                  <a:srgbClr val="FFFFFF"/>
                </a:solidFill>
              </a14:hiddenFill>
            </a:ext>
          </a:extLst>
        </p:spPr>
      </p:pic>
      <p:pic>
        <p:nvPicPr>
          <p:cNvPr id="4" name="그림 3"/>
          <p:cNvPicPr>
            <a:picLocks noChangeAspect="1"/>
          </p:cNvPicPr>
          <p:nvPr/>
        </p:nvPicPr>
        <p:blipFill>
          <a:blip r:embed="rId4"/>
          <a:stretch>
            <a:fillRect/>
          </a:stretch>
        </p:blipFill>
        <p:spPr>
          <a:xfrm>
            <a:off x="9199491" y="1382081"/>
            <a:ext cx="2252059" cy="4340802"/>
          </a:xfrm>
          <a:prstGeom prst="rect">
            <a:avLst/>
          </a:prstGeom>
        </p:spPr>
      </p:pic>
    </p:spTree>
    <p:extLst>
      <p:ext uri="{BB962C8B-B14F-4D97-AF65-F5344CB8AC3E}">
        <p14:creationId xmlns:p14="http://schemas.microsoft.com/office/powerpoint/2010/main" val="21626560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20795" y="781987"/>
            <a:ext cx="11363206"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Parallel, Stream, Iterative</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13" name="Picture 4" descr="C:\Users\samsung\Pictures\EN-UML-activity-diagram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473" y="1727388"/>
            <a:ext cx="6882981" cy="319844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samsung\Pictures\GfMvA.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6565" y="1289758"/>
            <a:ext cx="4430750" cy="5120443"/>
          </a:xfrm>
          <a:prstGeom prst="rect">
            <a:avLst/>
          </a:prstGeom>
          <a:noFill/>
          <a:extLst>
            <a:ext uri="{909E8E84-426E-40DD-AFC4-6F175D3DCCD1}">
              <a14:hiddenFill xmlns:a14="http://schemas.microsoft.com/office/drawing/2010/main">
                <a:solidFill>
                  <a:srgbClr val="FFFFFF"/>
                </a:solidFill>
              </a14:hiddenFill>
            </a:ext>
          </a:extLst>
        </p:spPr>
      </p:pic>
      <p:sp>
        <p:nvSpPr>
          <p:cNvPr id="7" name="제목 6"/>
          <p:cNvSpPr>
            <a:spLocks noGrp="1"/>
          </p:cNvSpPr>
          <p:nvPr>
            <p:ph type="title"/>
          </p:nvPr>
        </p:nvSpPr>
        <p:spPr>
          <a:xfrm>
            <a:off x="408000" y="156779"/>
            <a:ext cx="2718624" cy="424661"/>
          </a:xfrm>
        </p:spPr>
        <p:txBody>
          <a:bodyPr/>
          <a:lstStyle/>
          <a:p>
            <a:r>
              <a:rPr lang="en-US" altLang="ko-KR" dirty="0"/>
              <a:t>Expansion region</a:t>
            </a:r>
            <a:endParaRPr lang="ko-KR" altLang="en-US" dirty="0"/>
          </a:p>
        </p:txBody>
      </p:sp>
    </p:spTree>
    <p:extLst>
      <p:ext uri="{BB962C8B-B14F-4D97-AF65-F5344CB8AC3E}">
        <p14:creationId xmlns:p14="http://schemas.microsoft.com/office/powerpoint/2010/main" val="46020946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 t="4745" r="1960" b="3049"/>
          <a:stretch/>
        </p:blipFill>
        <p:spPr bwMode="auto">
          <a:xfrm>
            <a:off x="1169660" y="2141328"/>
            <a:ext cx="3996560" cy="2420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 descr="C:\Users\samsung\Pictures\expansion%20region-626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2365" y="646386"/>
            <a:ext cx="5059166" cy="5921338"/>
          </a:xfrm>
          <a:prstGeom prst="rect">
            <a:avLst/>
          </a:prstGeom>
          <a:noFill/>
          <a:extLst>
            <a:ext uri="{909E8E84-426E-40DD-AFC4-6F175D3DCCD1}">
              <a14:hiddenFill xmlns:a14="http://schemas.microsoft.com/office/drawing/2010/main">
                <a:solidFill>
                  <a:srgbClr val="FFFFFF"/>
                </a:solidFill>
              </a14:hiddenFill>
            </a:ext>
          </a:extLst>
        </p:spPr>
      </p:pic>
      <p:sp>
        <p:nvSpPr>
          <p:cNvPr id="7" name="제목 6"/>
          <p:cNvSpPr>
            <a:spLocks noGrp="1"/>
          </p:cNvSpPr>
          <p:nvPr>
            <p:ph type="title"/>
          </p:nvPr>
        </p:nvSpPr>
        <p:spPr>
          <a:xfrm>
            <a:off x="407999" y="156779"/>
            <a:ext cx="4132088" cy="424661"/>
          </a:xfrm>
        </p:spPr>
        <p:txBody>
          <a:bodyPr/>
          <a:lstStyle/>
          <a:p>
            <a:r>
              <a:rPr lang="en-US" altLang="ko-KR" dirty="0"/>
              <a:t>Expansion </a:t>
            </a:r>
            <a:r>
              <a:rPr lang="en-US" altLang="ko-KR" dirty="0" smtClean="0"/>
              <a:t>region - parallel</a:t>
            </a:r>
            <a:endParaRPr lang="ko-KR" altLang="en-US" dirty="0"/>
          </a:p>
        </p:txBody>
      </p:sp>
    </p:spTree>
    <p:extLst>
      <p:ext uri="{BB962C8B-B14F-4D97-AF65-F5344CB8AC3E}">
        <p14:creationId xmlns:p14="http://schemas.microsoft.com/office/powerpoint/2010/main" val="375429047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12909" y="766232"/>
            <a:ext cx="11371092" cy="600094"/>
          </a:xfrm>
          <a:prstGeom prst="rect">
            <a:avLst/>
          </a:prstGeom>
          <a:noFill/>
        </p:spPr>
        <p:txBody>
          <a:bodyPr wrap="square" lIns="91374" tIns="45685" rIns="91374" bIns="45685">
            <a:spAutoFit/>
          </a:bodyPr>
          <a:lstStyle/>
          <a:p>
            <a:pPr marL="285750" indent="-285750" defTabSz="912813" fontAlgn="base">
              <a:spcBef>
                <a:spcPts val="600"/>
              </a:spcBef>
              <a:spcAft>
                <a:spcPct val="0"/>
              </a:spcAft>
              <a:buClr>
                <a:srgbClr val="55CFD1"/>
              </a:buClr>
              <a:buFont typeface="Wingdings" panose="05000000000000000000" pitchFamily="2" charset="2"/>
              <a:buChar char="u"/>
              <a:defRPr/>
            </a:pPr>
            <a:r>
              <a:rPr kumimoji="1" lang="ko-KR" altLang="en-US" sz="1400" b="1" dirty="0" smtClean="0">
                <a:ln>
                  <a:solidFill>
                    <a:schemeClr val="bg1">
                      <a:lumMod val="85000"/>
                      <a:alpha val="0"/>
                    </a:schemeClr>
                  </a:solidFill>
                </a:ln>
                <a:solidFill>
                  <a:srgbClr val="0070C0"/>
                </a:solidFill>
                <a:latin typeface="맑은 고딕" pitchFamily="50" charset="-127"/>
                <a:cs typeface="Arial" panose="020B0604020202020204" pitchFamily="34" charset="0"/>
              </a:rPr>
              <a:t>논리적</a:t>
            </a:r>
            <a:r>
              <a:rPr kumimoji="1" lang="ko-KR" altLang="en-US"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으로 흐름을 구분 하고자 할 때 사용한다</a:t>
            </a:r>
            <a:r>
              <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rPr>
              <a:t>.</a:t>
            </a:r>
          </a:p>
          <a:p>
            <a:pPr marL="285750" indent="-285750" defTabSz="912813" fontAlgn="base">
              <a:spcBef>
                <a:spcPts val="600"/>
              </a:spcBef>
              <a:spcAft>
                <a:spcPct val="0"/>
              </a:spcAft>
              <a:buClr>
                <a:srgbClr val="55CFD1"/>
              </a:buClr>
              <a:buFont typeface="Wingdings" panose="05000000000000000000" pitchFamily="2" charset="2"/>
              <a:buChar char="u"/>
              <a:defRPr/>
            </a:pPr>
            <a:endParaRPr kumimoji="1" lang="en-US" altLang="ko-KR" sz="1400" dirty="0" smtClean="0">
              <a:ln>
                <a:solidFill>
                  <a:schemeClr val="bg1">
                    <a:lumMod val="85000"/>
                    <a:alpha val="0"/>
                  </a:schemeClr>
                </a:solidFill>
              </a:ln>
              <a:solidFill>
                <a:srgbClr val="4B465E"/>
              </a:solidFill>
              <a:latin typeface="맑은 고딕" pitchFamily="50" charset="-127"/>
              <a:cs typeface="Arial" panose="020B0604020202020204" pitchFamily="34" charset="0"/>
            </a:endParaRPr>
          </a:p>
        </p:txBody>
      </p:sp>
      <p:pic>
        <p:nvPicPr>
          <p:cNvPr id="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78410" y="238087"/>
            <a:ext cx="673418" cy="1206818"/>
          </a:xfrm>
          <a:prstGeom prst="rect">
            <a:avLst/>
          </a:prstGeom>
          <a:solidFill>
            <a:schemeClr val="bg1"/>
          </a:solidFill>
          <a:ln>
            <a:noFill/>
          </a:ln>
          <a:effectLst/>
          <a:extLst/>
        </p:spPr>
      </p:pic>
      <p:pic>
        <p:nvPicPr>
          <p:cNvPr id="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1828" y="238087"/>
            <a:ext cx="1140143" cy="1206818"/>
          </a:xfrm>
          <a:prstGeom prst="rect">
            <a:avLst/>
          </a:prstGeom>
          <a:solidFill>
            <a:schemeClr val="bg1"/>
          </a:solidFill>
          <a:ln>
            <a:noFill/>
          </a:ln>
          <a:effectLst/>
          <a:extLst/>
        </p:spPr>
      </p:pic>
      <p:pic>
        <p:nvPicPr>
          <p:cNvPr id="1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0256" y="238087"/>
            <a:ext cx="1140143" cy="733425"/>
          </a:xfrm>
          <a:prstGeom prst="rect">
            <a:avLst/>
          </a:prstGeom>
          <a:solidFill>
            <a:schemeClr val="bg1"/>
          </a:solidFill>
          <a:ln>
            <a:noFill/>
          </a:ln>
          <a:effectLst/>
          <a:extLst/>
        </p:spPr>
      </p:pic>
      <p:pic>
        <p:nvPicPr>
          <p:cNvPr id="17" name="Picture 2" descr="C:\Users\samsung\Pictures\activity-partitions.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4155" y="1784111"/>
            <a:ext cx="9327622" cy="4372323"/>
          </a:xfrm>
          <a:prstGeom prst="rect">
            <a:avLst/>
          </a:prstGeom>
          <a:noFill/>
          <a:extLst>
            <a:ext uri="{909E8E84-426E-40DD-AFC4-6F175D3DCCD1}">
              <a14:hiddenFill xmlns:a14="http://schemas.microsoft.com/office/drawing/2010/main">
                <a:solidFill>
                  <a:srgbClr val="FFFFFF"/>
                </a:solidFill>
              </a14:hiddenFill>
            </a:ext>
          </a:extLst>
        </p:spPr>
      </p:pic>
      <p:sp>
        <p:nvSpPr>
          <p:cNvPr id="7" name="제목 6"/>
          <p:cNvSpPr>
            <a:spLocks noGrp="1"/>
          </p:cNvSpPr>
          <p:nvPr>
            <p:ph type="title"/>
          </p:nvPr>
        </p:nvSpPr>
        <p:spPr>
          <a:xfrm>
            <a:off x="408000" y="156779"/>
            <a:ext cx="1448597" cy="424661"/>
          </a:xfrm>
        </p:spPr>
        <p:txBody>
          <a:bodyPr/>
          <a:lstStyle/>
          <a:p>
            <a:r>
              <a:rPr lang="en-US" altLang="ko-KR" dirty="0" smtClean="0"/>
              <a:t>Partition</a:t>
            </a:r>
            <a:endParaRPr lang="ko-KR" altLang="en-US" dirty="0"/>
          </a:p>
        </p:txBody>
      </p:sp>
    </p:spTree>
    <p:extLst>
      <p:ext uri="{BB962C8B-B14F-4D97-AF65-F5344CB8AC3E}">
        <p14:creationId xmlns:p14="http://schemas.microsoft.com/office/powerpoint/2010/main" val="134003018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317" y="3256068"/>
            <a:ext cx="3621371" cy="523149"/>
          </a:xfrm>
          <a:prstGeom prst="rect">
            <a:avLst/>
          </a:prstGeom>
          <a:noFill/>
        </p:spPr>
        <p:txBody>
          <a:bodyPr wrap="none" lIns="91374" tIns="45685" rIns="91374" bIns="45685">
            <a:spAutoFit/>
          </a:bodyPr>
          <a:lstStyle/>
          <a:p>
            <a:pPr algn="ctr" defTabSz="912813" fontAlgn="base">
              <a:spcBef>
                <a:spcPts val="600"/>
              </a:spcBef>
              <a:spcAft>
                <a:spcPct val="0"/>
              </a:spcAft>
              <a:buClr>
                <a:srgbClr val="FF5000"/>
              </a:buClr>
              <a:defRPr/>
            </a:pPr>
            <a:r>
              <a:rPr kumimoji="1" lang="ko-KR" altLang="en-US" sz="2800" b="1" dirty="0" err="1" smtClean="0">
                <a:ln>
                  <a:solidFill>
                    <a:schemeClr val="bg1">
                      <a:lumMod val="85000"/>
                      <a:alpha val="0"/>
                    </a:schemeClr>
                  </a:solidFill>
                </a:ln>
                <a:solidFill>
                  <a:srgbClr val="F2F2F2"/>
                </a:solidFill>
                <a:latin typeface="맑은 고딕" pitchFamily="50" charset="-127"/>
                <a:cs typeface="Arial" panose="020B0604020202020204" pitchFamily="34" charset="0"/>
              </a:rPr>
              <a:t>송태국</a:t>
            </a:r>
            <a:r>
              <a:rPr kumimoji="1" lang="ko-KR" altLang="en-US" sz="28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 </a:t>
            </a:r>
            <a:r>
              <a:rPr kumimoji="1" lang="en-US" altLang="ko-KR" sz="28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 </a:t>
            </a:r>
            <a:r>
              <a:rPr kumimoji="1" lang="ko-KR" altLang="en-US" sz="2800" b="1" dirty="0" err="1" smtClean="0">
                <a:ln>
                  <a:solidFill>
                    <a:schemeClr val="bg1">
                      <a:lumMod val="85000"/>
                      <a:alpha val="0"/>
                    </a:schemeClr>
                  </a:solidFill>
                </a:ln>
                <a:solidFill>
                  <a:srgbClr val="F2F2F2"/>
                </a:solidFill>
                <a:latin typeface="맑은 고딕" pitchFamily="50" charset="-127"/>
                <a:cs typeface="Arial" panose="020B0604020202020204" pitchFamily="34" charset="0"/>
              </a:rPr>
              <a:t>메타포</a:t>
            </a:r>
            <a:r>
              <a:rPr kumimoji="1" lang="ko-KR" altLang="en-US" sz="28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 오류</a:t>
            </a:r>
            <a:endParaRPr kumimoji="1" lang="en-US" altLang="ko-KR" sz="28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
        <p:nvSpPr>
          <p:cNvPr id="6" name="TextBox 5"/>
          <p:cNvSpPr txBox="1"/>
          <p:nvPr/>
        </p:nvSpPr>
        <p:spPr>
          <a:xfrm>
            <a:off x="5477950" y="2968685"/>
            <a:ext cx="1236103" cy="369261"/>
          </a:xfrm>
          <a:prstGeom prst="rect">
            <a:avLst/>
          </a:prstGeom>
          <a:noFill/>
        </p:spPr>
        <p:txBody>
          <a:bodyPr wrap="none" lIns="91374" tIns="45685" rIns="91374" bIns="45685">
            <a:spAutoFit/>
          </a:bodyPr>
          <a:lstStyle/>
          <a:p>
            <a:pPr algn="ctr" defTabSz="912813" fontAlgn="base">
              <a:spcBef>
                <a:spcPts val="600"/>
              </a:spcBef>
              <a:spcAft>
                <a:spcPct val="0"/>
              </a:spcAft>
              <a:buClr>
                <a:srgbClr val="FF5000"/>
              </a:buClr>
              <a:defRPr/>
            </a:pPr>
            <a:r>
              <a:rPr kumimoji="1" lang="en-US" altLang="ko-KR" b="1" dirty="0" smtClean="0">
                <a:ln>
                  <a:solidFill>
                    <a:schemeClr val="bg1">
                      <a:lumMod val="85000"/>
                      <a:alpha val="0"/>
                    </a:schemeClr>
                  </a:solidFill>
                </a:ln>
                <a:solidFill>
                  <a:srgbClr val="F2F2F2">
                    <a:alpha val="50000"/>
                  </a:srgbClr>
                </a:solidFill>
                <a:latin typeface="맑은 고딕" pitchFamily="50" charset="-127"/>
                <a:cs typeface="Arial" panose="020B0604020202020204" pitchFamily="34" charset="0"/>
              </a:rPr>
              <a:t>Appendix</a:t>
            </a:r>
            <a:endParaRPr kumimoji="1" lang="en-US" altLang="ko-KR" b="1" dirty="0">
              <a:ln>
                <a:solidFill>
                  <a:schemeClr val="bg1">
                    <a:lumMod val="85000"/>
                    <a:alpha val="0"/>
                  </a:schemeClr>
                </a:solidFill>
              </a:ln>
              <a:solidFill>
                <a:srgbClr val="F2F2F2">
                  <a:alpha val="50000"/>
                </a:srgbClr>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400192133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p:cNvPicPr>
            <a:picLocks noChangeAspect="1"/>
          </p:cNvPicPr>
          <p:nvPr/>
        </p:nvPicPr>
        <p:blipFill>
          <a:blip r:embed="rId2"/>
          <a:stretch>
            <a:fillRect/>
          </a:stretch>
        </p:blipFill>
        <p:spPr>
          <a:xfrm>
            <a:off x="183261" y="298579"/>
            <a:ext cx="11825478" cy="6280785"/>
          </a:xfrm>
          <a:prstGeom prst="rect">
            <a:avLst/>
          </a:prstGeom>
        </p:spPr>
      </p:pic>
    </p:spTree>
    <p:extLst>
      <p:ext uri="{BB962C8B-B14F-4D97-AF65-F5344CB8AC3E}">
        <p14:creationId xmlns:p14="http://schemas.microsoft.com/office/powerpoint/2010/main" val="8200492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183261" y="208915"/>
            <a:ext cx="11825478" cy="6280785"/>
          </a:xfrm>
          <a:prstGeom prst="rect">
            <a:avLst/>
          </a:prstGeom>
        </p:spPr>
      </p:pic>
    </p:spTree>
    <p:extLst>
      <p:ext uri="{BB962C8B-B14F-4D97-AF65-F5344CB8AC3E}">
        <p14:creationId xmlns:p14="http://schemas.microsoft.com/office/powerpoint/2010/main" val="30389121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183261" y="0"/>
            <a:ext cx="11825478" cy="6944868"/>
          </a:xfrm>
          <a:prstGeom prst="rect">
            <a:avLst/>
          </a:prstGeom>
        </p:spPr>
      </p:pic>
    </p:spTree>
    <p:extLst>
      <p:ext uri="{BB962C8B-B14F-4D97-AF65-F5344CB8AC3E}">
        <p14:creationId xmlns:p14="http://schemas.microsoft.com/office/powerpoint/2010/main" val="25060881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solidFill>
                  <a:schemeClr val="tx1"/>
                </a:solidFill>
              </a:rPr>
              <a:t>소프트웨어 설계란 </a:t>
            </a:r>
            <a:r>
              <a:rPr lang="ko-KR" altLang="en-US" dirty="0" smtClean="0">
                <a:solidFill>
                  <a:schemeClr val="tx1"/>
                </a:solidFill>
              </a:rPr>
              <a:t>무엇인가</a:t>
            </a:r>
            <a:r>
              <a:rPr lang="en-US" altLang="ko-KR" dirty="0" smtClean="0">
                <a:solidFill>
                  <a:schemeClr val="tx1"/>
                </a:solidFill>
              </a:rPr>
              <a:t>?</a:t>
            </a:r>
            <a:endParaRPr lang="ko-KR" altLang="en-US" dirty="0"/>
          </a:p>
        </p:txBody>
      </p:sp>
      <p:sp>
        <p:nvSpPr>
          <p:cNvPr id="4" name="직사각형 3"/>
          <p:cNvSpPr/>
          <p:nvPr/>
        </p:nvSpPr>
        <p:spPr>
          <a:xfrm>
            <a:off x="357714" y="1355834"/>
            <a:ext cx="11476572" cy="4406462"/>
          </a:xfrm>
          <a:prstGeom prst="rect">
            <a:avLst/>
          </a:prstGeom>
          <a:solidFill>
            <a:schemeClr val="bg1"/>
          </a:solidFill>
          <a:ln>
            <a:solidFill>
              <a:srgbClr val="4B46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ko-KR" dirty="0" smtClean="0">
                <a:solidFill>
                  <a:schemeClr val="tx1"/>
                </a:solidFill>
              </a:rPr>
              <a:t>1992</a:t>
            </a:r>
            <a:r>
              <a:rPr lang="ko-KR" altLang="en-US" dirty="0" smtClean="0">
                <a:solidFill>
                  <a:schemeClr val="tx1"/>
                </a:solidFill>
              </a:rPr>
              <a:t>년</a:t>
            </a:r>
            <a:r>
              <a:rPr lang="en-US" altLang="ko-KR" dirty="0" smtClean="0">
                <a:solidFill>
                  <a:schemeClr val="tx1"/>
                </a:solidFill>
              </a:rPr>
              <a:t>, </a:t>
            </a:r>
            <a:r>
              <a:rPr lang="ko-KR" altLang="en-US" dirty="0" smtClean="0">
                <a:solidFill>
                  <a:schemeClr val="tx1"/>
                </a:solidFill>
              </a:rPr>
              <a:t>잭 </a:t>
            </a:r>
            <a:r>
              <a:rPr lang="ko-KR" altLang="en-US" dirty="0" err="1" smtClean="0">
                <a:solidFill>
                  <a:schemeClr val="tx1"/>
                </a:solidFill>
              </a:rPr>
              <a:t>리브스는</a:t>
            </a:r>
            <a:r>
              <a:rPr lang="ko-KR" altLang="en-US" dirty="0" smtClean="0">
                <a:solidFill>
                  <a:schemeClr val="tx1"/>
                </a:solidFill>
              </a:rPr>
              <a:t> </a:t>
            </a:r>
            <a:r>
              <a:rPr lang="en-US" altLang="ko-KR" dirty="0" smtClean="0">
                <a:solidFill>
                  <a:schemeClr val="tx1"/>
                </a:solidFill>
              </a:rPr>
              <a:t>‘C++ Journal’</a:t>
            </a:r>
            <a:r>
              <a:rPr lang="ko-KR" altLang="en-US" dirty="0" smtClean="0">
                <a:solidFill>
                  <a:schemeClr val="tx1"/>
                </a:solidFill>
              </a:rPr>
              <a:t>에 </a:t>
            </a:r>
            <a:r>
              <a:rPr lang="en-US" altLang="ko-KR" dirty="0" smtClean="0">
                <a:solidFill>
                  <a:schemeClr val="tx1"/>
                </a:solidFill>
              </a:rPr>
              <a:t>‘</a:t>
            </a:r>
            <a:r>
              <a:rPr lang="ko-KR" altLang="en-US" dirty="0" smtClean="0">
                <a:solidFill>
                  <a:schemeClr val="tx1"/>
                </a:solidFill>
              </a:rPr>
              <a:t>소프트웨어 설계란 무엇인가</a:t>
            </a:r>
            <a:r>
              <a:rPr lang="en-US" altLang="ko-KR" dirty="0" smtClean="0">
                <a:solidFill>
                  <a:schemeClr val="tx1"/>
                </a:solidFill>
              </a:rPr>
              <a:t>?’</a:t>
            </a:r>
            <a:r>
              <a:rPr lang="ko-KR" altLang="en-US" dirty="0" smtClean="0">
                <a:solidFill>
                  <a:schemeClr val="tx1"/>
                </a:solidFill>
              </a:rPr>
              <a:t>라는 제목의 독창적인 글을 기고했다</a:t>
            </a:r>
            <a:r>
              <a:rPr lang="en-US" altLang="ko-KR" dirty="0" smtClean="0">
                <a:solidFill>
                  <a:schemeClr val="tx1"/>
                </a:solidFill>
              </a:rPr>
              <a:t>. </a:t>
            </a:r>
            <a:r>
              <a:rPr lang="ko-KR" altLang="en-US" dirty="0" err="1" smtClean="0">
                <a:solidFill>
                  <a:schemeClr val="tx1"/>
                </a:solidFill>
              </a:rPr>
              <a:t>리브스는</a:t>
            </a:r>
            <a:r>
              <a:rPr lang="ko-KR" altLang="en-US" dirty="0" smtClean="0">
                <a:solidFill>
                  <a:schemeClr val="tx1"/>
                </a:solidFill>
              </a:rPr>
              <a:t> 이 글에서 소프트웨어 시스템의 설계는 우선적으로 소스코드에 의해 문서화 되며</a:t>
            </a:r>
            <a:r>
              <a:rPr lang="en-US" altLang="ko-KR" dirty="0" smtClean="0">
                <a:solidFill>
                  <a:schemeClr val="tx1"/>
                </a:solidFill>
              </a:rPr>
              <a:t>, </a:t>
            </a:r>
            <a:r>
              <a:rPr lang="ko-KR" altLang="en-US" dirty="0" smtClean="0">
                <a:solidFill>
                  <a:schemeClr val="tx1"/>
                </a:solidFill>
              </a:rPr>
              <a:t>소스 코드를 표현하는 다이어그램은 설계에서 부수적인 것일 뿐</a:t>
            </a:r>
            <a:r>
              <a:rPr lang="en-US" altLang="ko-KR" dirty="0" smtClean="0">
                <a:solidFill>
                  <a:schemeClr val="tx1"/>
                </a:solidFill>
              </a:rPr>
              <a:t>, </a:t>
            </a:r>
            <a:r>
              <a:rPr lang="ko-KR" altLang="en-US" dirty="0" smtClean="0">
                <a:solidFill>
                  <a:schemeClr val="tx1"/>
                </a:solidFill>
              </a:rPr>
              <a:t>설계 그 자체는 아니라고 주장했다</a:t>
            </a:r>
            <a:r>
              <a:rPr lang="en-US" altLang="ko-KR" dirty="0" smtClean="0">
                <a:solidFill>
                  <a:schemeClr val="tx1"/>
                </a:solidFill>
              </a:rPr>
              <a:t>. </a:t>
            </a:r>
            <a:r>
              <a:rPr lang="ko-KR" altLang="en-US" dirty="0" smtClean="0">
                <a:solidFill>
                  <a:schemeClr val="tx1"/>
                </a:solidFill>
              </a:rPr>
              <a:t>나중에 다루겠지만</a:t>
            </a:r>
            <a:r>
              <a:rPr lang="en-US" altLang="ko-KR" dirty="0" smtClean="0">
                <a:solidFill>
                  <a:schemeClr val="tx1"/>
                </a:solidFill>
              </a:rPr>
              <a:t>, </a:t>
            </a:r>
            <a:r>
              <a:rPr lang="ko-KR" altLang="en-US" dirty="0" smtClean="0">
                <a:solidFill>
                  <a:schemeClr val="tx1"/>
                </a:solidFill>
              </a:rPr>
              <a:t>이 글은 애자일 개발 방식에 있어 선구자적 존재가 되었다</a:t>
            </a:r>
            <a:r>
              <a:rPr lang="en-US" altLang="ko-KR" dirty="0" smtClean="0">
                <a:solidFill>
                  <a:schemeClr val="tx1"/>
                </a:solidFill>
              </a:rPr>
              <a:t>.</a:t>
            </a:r>
          </a:p>
          <a:p>
            <a:pPr>
              <a:lnSpc>
                <a:spcPct val="120000"/>
              </a:lnSpc>
            </a:pPr>
            <a:endParaRPr lang="en-US" altLang="ko-KR" dirty="0">
              <a:solidFill>
                <a:schemeClr val="tx1"/>
              </a:solidFill>
            </a:endParaRPr>
          </a:p>
          <a:p>
            <a:pPr>
              <a:lnSpc>
                <a:spcPct val="120000"/>
              </a:lnSpc>
            </a:pPr>
            <a:r>
              <a:rPr lang="ko-KR" altLang="en-US" dirty="0" smtClean="0">
                <a:solidFill>
                  <a:schemeClr val="tx1"/>
                </a:solidFill>
              </a:rPr>
              <a:t>이 장에서는 설계에 대해 자주 이야기 할 텐데</a:t>
            </a:r>
            <a:r>
              <a:rPr lang="en-US" altLang="ko-KR" dirty="0" smtClean="0">
                <a:solidFill>
                  <a:schemeClr val="tx1"/>
                </a:solidFill>
              </a:rPr>
              <a:t>, </a:t>
            </a:r>
            <a:r>
              <a:rPr lang="ko-KR" altLang="en-US" dirty="0" smtClean="0">
                <a:solidFill>
                  <a:schemeClr val="tx1"/>
                </a:solidFill>
              </a:rPr>
              <a:t>이것이 코드와는 별개의 </a:t>
            </a:r>
            <a:r>
              <a:rPr lang="en-US" altLang="ko-KR" dirty="0" smtClean="0">
                <a:solidFill>
                  <a:schemeClr val="tx1"/>
                </a:solidFill>
              </a:rPr>
              <a:t>UML </a:t>
            </a:r>
            <a:r>
              <a:rPr lang="ko-KR" altLang="en-US" dirty="0" smtClean="0">
                <a:solidFill>
                  <a:schemeClr val="tx1"/>
                </a:solidFill>
              </a:rPr>
              <a:t>다이어그램을 뜻하는 것으로 착각해서는 안된다</a:t>
            </a:r>
            <a:r>
              <a:rPr lang="en-US" altLang="ko-KR" dirty="0" smtClean="0">
                <a:solidFill>
                  <a:schemeClr val="tx1"/>
                </a:solidFill>
              </a:rPr>
              <a:t>. </a:t>
            </a:r>
            <a:r>
              <a:rPr lang="ko-KR" altLang="en-US" dirty="0" smtClean="0">
                <a:solidFill>
                  <a:schemeClr val="tx1"/>
                </a:solidFill>
              </a:rPr>
              <a:t>일련의 </a:t>
            </a:r>
            <a:r>
              <a:rPr lang="en-US" altLang="ko-KR" dirty="0" smtClean="0">
                <a:solidFill>
                  <a:schemeClr val="tx1"/>
                </a:solidFill>
              </a:rPr>
              <a:t>UML</a:t>
            </a:r>
            <a:r>
              <a:rPr lang="ko-KR" altLang="en-US" dirty="0" smtClean="0">
                <a:solidFill>
                  <a:schemeClr val="tx1"/>
                </a:solidFill>
              </a:rPr>
              <a:t>다이어그램이 설계의 일부를 나타낼 수는 있지만 설계 자체는 아니다</a:t>
            </a:r>
            <a:r>
              <a:rPr lang="en-US" altLang="ko-KR" dirty="0" smtClean="0">
                <a:solidFill>
                  <a:schemeClr val="tx1"/>
                </a:solidFill>
              </a:rPr>
              <a:t>.  </a:t>
            </a:r>
            <a:r>
              <a:rPr lang="ko-KR" altLang="en-US" dirty="0" smtClean="0">
                <a:solidFill>
                  <a:schemeClr val="tx1"/>
                </a:solidFill>
              </a:rPr>
              <a:t>소프트웨어 프로젝트의 설계는 추상적인 개념으로</a:t>
            </a:r>
            <a:r>
              <a:rPr lang="en-US" altLang="ko-KR" dirty="0" smtClean="0">
                <a:solidFill>
                  <a:schemeClr val="tx1"/>
                </a:solidFill>
              </a:rPr>
              <a:t>, </a:t>
            </a:r>
            <a:r>
              <a:rPr lang="ko-KR" altLang="en-US" dirty="0" smtClean="0">
                <a:solidFill>
                  <a:schemeClr val="tx1"/>
                </a:solidFill>
              </a:rPr>
              <a:t>구체적인 각 모듈</a:t>
            </a:r>
            <a:r>
              <a:rPr lang="en-US" altLang="ko-KR" dirty="0" smtClean="0">
                <a:solidFill>
                  <a:schemeClr val="tx1"/>
                </a:solidFill>
              </a:rPr>
              <a:t>, </a:t>
            </a:r>
            <a:r>
              <a:rPr lang="ko-KR" altLang="en-US" dirty="0" smtClean="0">
                <a:solidFill>
                  <a:schemeClr val="tx1"/>
                </a:solidFill>
              </a:rPr>
              <a:t>클래스</a:t>
            </a:r>
            <a:r>
              <a:rPr lang="en-US" altLang="ko-KR" dirty="0" smtClean="0">
                <a:solidFill>
                  <a:schemeClr val="tx1"/>
                </a:solidFill>
              </a:rPr>
              <a:t>, </a:t>
            </a:r>
            <a:r>
              <a:rPr lang="ko-KR" altLang="en-US" dirty="0" err="1" smtClean="0">
                <a:solidFill>
                  <a:schemeClr val="tx1"/>
                </a:solidFill>
              </a:rPr>
              <a:t>메소드의</a:t>
            </a:r>
            <a:r>
              <a:rPr lang="ko-KR" altLang="en-US" dirty="0" smtClean="0">
                <a:solidFill>
                  <a:schemeClr val="tx1"/>
                </a:solidFill>
              </a:rPr>
              <a:t> 형태와 구조뿐만 아니라 프로그램의 전체 형태와 구조와도 관련되어 있다</a:t>
            </a:r>
            <a:r>
              <a:rPr lang="en-US" altLang="ko-KR" dirty="0" smtClean="0">
                <a:solidFill>
                  <a:schemeClr val="tx1"/>
                </a:solidFill>
              </a:rPr>
              <a:t>. </a:t>
            </a:r>
            <a:r>
              <a:rPr lang="ko-KR" altLang="en-US" dirty="0" smtClean="0">
                <a:solidFill>
                  <a:schemeClr val="tx1"/>
                </a:solidFill>
              </a:rPr>
              <a:t>이것은 다양한 매체로 표현될 수 있지만</a:t>
            </a:r>
            <a:r>
              <a:rPr lang="en-US" altLang="ko-KR" dirty="0" smtClean="0">
                <a:solidFill>
                  <a:schemeClr val="tx1"/>
                </a:solidFill>
              </a:rPr>
              <a:t>, </a:t>
            </a:r>
            <a:r>
              <a:rPr lang="ko-KR" altLang="en-US" dirty="0" smtClean="0">
                <a:solidFill>
                  <a:schemeClr val="tx1"/>
                </a:solidFill>
              </a:rPr>
              <a:t>최종적인 구현은 소스코드가 된다</a:t>
            </a:r>
            <a:r>
              <a:rPr lang="en-US" altLang="ko-KR" dirty="0" smtClean="0">
                <a:solidFill>
                  <a:schemeClr val="tx1"/>
                </a:solidFill>
              </a:rPr>
              <a:t>. </a:t>
            </a:r>
            <a:r>
              <a:rPr lang="ko-KR" altLang="en-US" dirty="0" smtClean="0">
                <a:solidFill>
                  <a:schemeClr val="tx1"/>
                </a:solidFill>
              </a:rPr>
              <a:t>결국 소스 코드가 바로 설계다</a:t>
            </a:r>
            <a:r>
              <a:rPr lang="en-US" altLang="ko-KR" dirty="0" smtClean="0">
                <a:solidFill>
                  <a:schemeClr val="tx1"/>
                </a:solidFill>
              </a:rPr>
              <a:t>.  </a:t>
            </a:r>
          </a:p>
          <a:p>
            <a:pPr algn="r">
              <a:lnSpc>
                <a:spcPct val="120000"/>
              </a:lnSpc>
            </a:pPr>
            <a:endParaRPr lang="en-US" altLang="ko-KR" dirty="0" smtClean="0">
              <a:solidFill>
                <a:schemeClr val="tx1"/>
              </a:solidFill>
            </a:endParaRPr>
          </a:p>
          <a:p>
            <a:pPr algn="r">
              <a:lnSpc>
                <a:spcPct val="120000"/>
              </a:lnSpc>
            </a:pPr>
            <a:r>
              <a:rPr lang="en-US" altLang="ko-KR" dirty="0" smtClean="0">
                <a:solidFill>
                  <a:schemeClr val="tx1"/>
                </a:solidFill>
              </a:rPr>
              <a:t>[</a:t>
            </a:r>
            <a:r>
              <a:rPr lang="ko-KR" altLang="en-US" dirty="0" smtClean="0">
                <a:solidFill>
                  <a:schemeClr val="tx1"/>
                </a:solidFill>
              </a:rPr>
              <a:t>클린 소프트웨어</a:t>
            </a:r>
            <a:r>
              <a:rPr lang="en-US" altLang="ko-KR" dirty="0" smtClean="0">
                <a:solidFill>
                  <a:schemeClr val="tx1"/>
                </a:solidFill>
              </a:rPr>
              <a:t>, </a:t>
            </a:r>
            <a:r>
              <a:rPr lang="ko-KR" altLang="en-US" dirty="0" smtClean="0">
                <a:solidFill>
                  <a:schemeClr val="tx1"/>
                </a:solidFill>
              </a:rPr>
              <a:t>로버트 </a:t>
            </a:r>
            <a:r>
              <a:rPr lang="en-US" altLang="ko-KR" dirty="0" smtClean="0">
                <a:solidFill>
                  <a:schemeClr val="tx1"/>
                </a:solidFill>
              </a:rPr>
              <a:t>C.</a:t>
            </a:r>
            <a:r>
              <a:rPr lang="ko-KR" altLang="en-US" dirty="0" smtClean="0">
                <a:solidFill>
                  <a:schemeClr val="tx1"/>
                </a:solidFill>
              </a:rPr>
              <a:t>마틴</a:t>
            </a:r>
            <a:r>
              <a:rPr lang="en-US" altLang="ko-KR" dirty="0" smtClean="0">
                <a:solidFill>
                  <a:schemeClr val="tx1"/>
                </a:solidFill>
              </a:rPr>
              <a:t>]</a:t>
            </a:r>
            <a:endParaRPr lang="ko-KR" altLang="en-US" dirty="0">
              <a:solidFill>
                <a:schemeClr val="tx1"/>
              </a:solidFill>
            </a:endParaRPr>
          </a:p>
        </p:txBody>
      </p:sp>
    </p:spTree>
    <p:extLst>
      <p:ext uri="{BB962C8B-B14F-4D97-AF65-F5344CB8AC3E}">
        <p14:creationId xmlns:p14="http://schemas.microsoft.com/office/powerpoint/2010/main" val="309885263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36312" y="1758756"/>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smtClean="0">
                <a:ln>
                  <a:solidFill>
                    <a:schemeClr val="bg1">
                      <a:lumMod val="85000"/>
                      <a:alpha val="0"/>
                    </a:schemeClr>
                  </a:solidFill>
                </a:ln>
                <a:solidFill>
                  <a:srgbClr val="55CFD1"/>
                </a:solidFill>
                <a:latin typeface="맑은 고딕" pitchFamily="50" charset="-127"/>
                <a:cs typeface="Arial" panose="020B0604020202020204" pitchFamily="34" charset="0"/>
              </a:rPr>
              <a:t>A</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7" name="TextBox 6"/>
          <p:cNvSpPr txBox="1"/>
          <p:nvPr/>
        </p:nvSpPr>
        <p:spPr>
          <a:xfrm>
            <a:off x="1127448" y="3505196"/>
            <a:ext cx="6653480" cy="584705"/>
          </a:xfrm>
          <a:prstGeom prst="rect">
            <a:avLst/>
          </a:prstGeom>
          <a:noFill/>
        </p:spPr>
        <p:txBody>
          <a:bodyPr wrap="squar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OO                 feedback</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92177182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983432" y="1124744"/>
            <a:ext cx="10081120" cy="3383555"/>
          </a:xfrm>
          <a:prstGeom prst="rect">
            <a:avLst/>
          </a:prstGeom>
        </p:spPr>
        <p:txBody>
          <a:bodyPr wrap="square">
            <a:spAutoFit/>
          </a:bodyPr>
          <a:lstStyle/>
          <a:p>
            <a:pPr marL="285750" indent="-285750">
              <a:lnSpc>
                <a:spcPct val="120000"/>
              </a:lnSpc>
              <a:buFont typeface="Arial" panose="020B0604020202020204" pitchFamily="34" charset="0"/>
              <a:buChar char="•"/>
            </a:pPr>
            <a:r>
              <a:rPr lang="en-US" altLang="ko-KR" b="1" dirty="0" err="1" smtClean="0">
                <a:solidFill>
                  <a:schemeClr val="bg1"/>
                </a:solidFill>
              </a:rPr>
              <a:t>Usecase</a:t>
            </a:r>
            <a:r>
              <a:rPr lang="en-US" altLang="ko-KR" b="1" dirty="0" smtClean="0">
                <a:solidFill>
                  <a:schemeClr val="bg1"/>
                </a:solidFill>
              </a:rPr>
              <a:t> </a:t>
            </a:r>
            <a:r>
              <a:rPr lang="ko-KR" altLang="en-US" b="1" dirty="0" smtClean="0">
                <a:solidFill>
                  <a:schemeClr val="bg1"/>
                </a:solidFill>
              </a:rPr>
              <a:t>이름은 동명사형으로 작성한다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시나리오는 읽기 쉬운 산문이면서 연극 대본 </a:t>
            </a:r>
            <a:r>
              <a:rPr lang="ko-KR" altLang="en-US" b="1" dirty="0" err="1" smtClean="0">
                <a:solidFill>
                  <a:schemeClr val="bg1"/>
                </a:solidFill>
              </a:rPr>
              <a:t>처럼</a:t>
            </a:r>
            <a:r>
              <a:rPr lang="ko-KR" altLang="en-US" b="1" dirty="0" smtClean="0">
                <a:solidFill>
                  <a:schemeClr val="bg1"/>
                </a:solidFill>
              </a:rPr>
              <a:t> 대화를 주고 받으며 </a:t>
            </a:r>
            <a:r>
              <a:rPr lang="ko-KR" altLang="en-US" b="1" dirty="0" err="1" smtClean="0">
                <a:solidFill>
                  <a:schemeClr val="bg1"/>
                </a:solidFill>
              </a:rPr>
              <a:t>액터와</a:t>
            </a:r>
            <a:r>
              <a:rPr lang="ko-KR" altLang="en-US" b="1" dirty="0" smtClean="0">
                <a:solidFill>
                  <a:schemeClr val="bg1"/>
                </a:solidFill>
              </a:rPr>
              <a:t> 시스템간의 행위를 기술한다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시나리오는 누가 공을 가지고 있는지 명확하게 기술되어야 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시나리오는 </a:t>
            </a:r>
            <a:r>
              <a:rPr lang="en-US" altLang="ko-KR" b="1" dirty="0" smtClean="0">
                <a:solidFill>
                  <a:schemeClr val="bg1"/>
                </a:solidFill>
              </a:rPr>
              <a:t>actor</a:t>
            </a:r>
            <a:r>
              <a:rPr lang="ko-KR" altLang="en-US" b="1" dirty="0" smtClean="0">
                <a:solidFill>
                  <a:schemeClr val="bg1"/>
                </a:solidFill>
              </a:rPr>
              <a:t>가 목표로 하는 조건에 이루기 위해 </a:t>
            </a:r>
            <a:r>
              <a:rPr lang="en-US" altLang="ko-KR" b="1" dirty="0" smtClean="0">
                <a:solidFill>
                  <a:schemeClr val="bg1"/>
                </a:solidFill>
              </a:rPr>
              <a:t>(</a:t>
            </a:r>
            <a:r>
              <a:rPr lang="ko-KR" altLang="en-US" b="1" dirty="0" smtClean="0">
                <a:solidFill>
                  <a:schemeClr val="bg1"/>
                </a:solidFill>
              </a:rPr>
              <a:t>단계별로</a:t>
            </a:r>
            <a:r>
              <a:rPr lang="en-US" altLang="ko-KR" b="1" dirty="0" smtClean="0">
                <a:solidFill>
                  <a:schemeClr val="bg1"/>
                </a:solidFill>
              </a:rPr>
              <a:t>)</a:t>
            </a:r>
            <a:r>
              <a:rPr lang="ko-KR" altLang="en-US" b="1" dirty="0" smtClean="0">
                <a:solidFill>
                  <a:schemeClr val="bg1"/>
                </a:solidFill>
              </a:rPr>
              <a:t> 나아가야 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en-US" altLang="ko-KR" b="1" dirty="0" smtClean="0">
                <a:solidFill>
                  <a:schemeClr val="bg1"/>
                </a:solidFill>
              </a:rPr>
              <a:t>(</a:t>
            </a:r>
            <a:r>
              <a:rPr lang="ko-KR" altLang="en-US" b="1" dirty="0" smtClean="0">
                <a:solidFill>
                  <a:schemeClr val="bg1"/>
                </a:solidFill>
              </a:rPr>
              <a:t>단계별로</a:t>
            </a:r>
            <a:r>
              <a:rPr lang="en-US" altLang="ko-KR" b="1" dirty="0" smtClean="0">
                <a:solidFill>
                  <a:schemeClr val="bg1"/>
                </a:solidFill>
              </a:rPr>
              <a:t>)</a:t>
            </a:r>
            <a:r>
              <a:rPr lang="ko-KR" altLang="en-US" b="1" dirty="0" smtClean="0">
                <a:solidFill>
                  <a:schemeClr val="bg1"/>
                </a:solidFill>
              </a:rPr>
              <a:t> 나아갈 때</a:t>
            </a:r>
            <a:r>
              <a:rPr lang="en-US" altLang="ko-KR" b="1" dirty="0" smtClean="0">
                <a:solidFill>
                  <a:schemeClr val="bg1"/>
                </a:solidFill>
              </a:rPr>
              <a:t>, </a:t>
            </a:r>
            <a:r>
              <a:rPr lang="ko-KR" altLang="en-US" b="1" dirty="0" smtClean="0">
                <a:solidFill>
                  <a:schemeClr val="bg1"/>
                </a:solidFill>
              </a:rPr>
              <a:t>적절한 추상화 레벨을 고민해야 하며</a:t>
            </a:r>
            <a:r>
              <a:rPr lang="en-US" altLang="ko-KR" b="1" dirty="0" smtClean="0">
                <a:solidFill>
                  <a:schemeClr val="bg1"/>
                </a:solidFill>
              </a:rPr>
              <a:t>, (3)~9 </a:t>
            </a:r>
            <a:r>
              <a:rPr lang="ko-KR" altLang="en-US" b="1" dirty="0" smtClean="0">
                <a:solidFill>
                  <a:schemeClr val="bg1"/>
                </a:solidFill>
              </a:rPr>
              <a:t>단계 정도가 적절하다</a:t>
            </a:r>
            <a:endParaRPr lang="en-US" altLang="ko-KR" b="1" dirty="0" smtClean="0">
              <a:solidFill>
                <a:schemeClr val="bg1"/>
              </a:solidFill>
            </a:endParaRPr>
          </a:p>
          <a:p>
            <a:pPr marL="285750" indent="-285750">
              <a:lnSpc>
                <a:spcPct val="120000"/>
              </a:lnSpc>
              <a:buFont typeface="Arial" panose="020B0604020202020204" pitchFamily="34" charset="0"/>
              <a:buChar char="•"/>
            </a:pPr>
            <a:r>
              <a:rPr lang="en-US" altLang="ko-KR" b="1" dirty="0" smtClean="0">
                <a:solidFill>
                  <a:schemeClr val="bg1"/>
                </a:solidFill>
              </a:rPr>
              <a:t>GUI</a:t>
            </a:r>
            <a:r>
              <a:rPr lang="ko-KR" altLang="en-US" b="1" dirty="0" smtClean="0">
                <a:solidFill>
                  <a:schemeClr val="bg1"/>
                </a:solidFill>
              </a:rPr>
              <a:t>나 </a:t>
            </a:r>
            <a:r>
              <a:rPr lang="en-US" altLang="ko-KR" b="1" dirty="0" smtClean="0">
                <a:solidFill>
                  <a:schemeClr val="bg1"/>
                </a:solidFill>
              </a:rPr>
              <a:t>UX</a:t>
            </a:r>
            <a:r>
              <a:rPr lang="ko-KR" altLang="en-US" b="1" dirty="0" smtClean="0">
                <a:solidFill>
                  <a:schemeClr val="bg1"/>
                </a:solidFill>
              </a:rPr>
              <a:t>에 대한 것을 기술하지 않도록 조심한다</a:t>
            </a:r>
            <a:endParaRPr lang="en-US" altLang="ko-KR" b="1" dirty="0" smtClean="0">
              <a:solidFill>
                <a:schemeClr val="bg1"/>
              </a:solidFill>
            </a:endParaRPr>
          </a:p>
          <a:p>
            <a:pPr marL="285750" indent="-285750">
              <a:lnSpc>
                <a:spcPct val="120000"/>
              </a:lnSpc>
              <a:buFont typeface="Arial" panose="020B0604020202020204" pitchFamily="34" charset="0"/>
              <a:buChar char="•"/>
            </a:pPr>
            <a:endParaRPr lang="en-US" altLang="ko-KR" b="1" dirty="0" smtClean="0">
              <a:solidFill>
                <a:schemeClr val="bg1"/>
              </a:solidFill>
            </a:endParaRPr>
          </a:p>
          <a:p>
            <a:pPr marL="285750" indent="-285750">
              <a:lnSpc>
                <a:spcPct val="120000"/>
              </a:lnSpc>
              <a:buFont typeface="Arial" panose="020B0604020202020204" pitchFamily="34" charset="0"/>
              <a:buChar char="•"/>
            </a:pPr>
            <a:r>
              <a:rPr lang="en-US" altLang="ko-KR" b="1" dirty="0" err="1" smtClean="0">
                <a:solidFill>
                  <a:schemeClr val="bg1"/>
                </a:solidFill>
              </a:rPr>
              <a:t>Usecase</a:t>
            </a:r>
            <a:r>
              <a:rPr lang="ko-KR" altLang="en-US" b="1" dirty="0" smtClean="0">
                <a:solidFill>
                  <a:schemeClr val="bg1"/>
                </a:solidFill>
              </a:rPr>
              <a:t>이름 </a:t>
            </a:r>
            <a:r>
              <a:rPr lang="en-US" altLang="ko-KR" b="1" dirty="0" smtClean="0">
                <a:solidFill>
                  <a:schemeClr val="bg1"/>
                </a:solidFill>
              </a:rPr>
              <a:t>-&gt; stakeholders &amp;interest -&gt; primary actor- &gt; success end condition </a:t>
            </a:r>
          </a:p>
          <a:p>
            <a:pPr marL="285750" indent="-285750">
              <a:lnSpc>
                <a:spcPct val="120000"/>
              </a:lnSpc>
              <a:buFont typeface="Arial" panose="020B0604020202020204" pitchFamily="34" charset="0"/>
              <a:buChar char="•"/>
            </a:pPr>
            <a:r>
              <a:rPr lang="en-US" altLang="ko-KR" b="1" dirty="0" smtClean="0">
                <a:solidFill>
                  <a:schemeClr val="bg1"/>
                </a:solidFill>
              </a:rPr>
              <a:t>main scenario-&gt; extensions</a:t>
            </a:r>
            <a:endParaRPr lang="ko-KR" altLang="en-US" b="1" dirty="0">
              <a:solidFill>
                <a:schemeClr val="bg1"/>
              </a:solidFill>
            </a:endParaRPr>
          </a:p>
        </p:txBody>
      </p:sp>
    </p:spTree>
    <p:extLst>
      <p:ext uri="{BB962C8B-B14F-4D97-AF65-F5344CB8AC3E}">
        <p14:creationId xmlns:p14="http://schemas.microsoft.com/office/powerpoint/2010/main" val="31423340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983432" y="782491"/>
            <a:ext cx="10081120" cy="6075509"/>
          </a:xfrm>
          <a:prstGeom prst="rect">
            <a:avLst/>
          </a:prstGeom>
        </p:spPr>
        <p:txBody>
          <a:bodyPr wrap="square">
            <a:spAutoFit/>
          </a:bodyPr>
          <a:lstStyle/>
          <a:p>
            <a:pPr marL="285750" indent="-285750">
              <a:lnSpc>
                <a:spcPct val="120000"/>
              </a:lnSpc>
              <a:buFont typeface="Arial" panose="020B0604020202020204" pitchFamily="34" charset="0"/>
              <a:buChar char="•"/>
            </a:pPr>
            <a:r>
              <a:rPr lang="en-US" altLang="ko-KR" b="1" dirty="0" err="1" smtClean="0">
                <a:solidFill>
                  <a:schemeClr val="bg1"/>
                </a:solidFill>
              </a:rPr>
              <a:t>Usecase</a:t>
            </a:r>
            <a:r>
              <a:rPr lang="en-US" altLang="ko-KR" b="1" dirty="0" smtClean="0">
                <a:solidFill>
                  <a:schemeClr val="bg1"/>
                </a:solidFill>
              </a:rPr>
              <a:t> </a:t>
            </a:r>
            <a:r>
              <a:rPr lang="ko-KR" altLang="en-US" b="1" dirty="0" smtClean="0">
                <a:solidFill>
                  <a:schemeClr val="bg1"/>
                </a:solidFill>
              </a:rPr>
              <a:t>이름은 동명사형으로 작성한다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시나리오는 대본 </a:t>
            </a:r>
            <a:r>
              <a:rPr lang="ko-KR" altLang="en-US" b="1" dirty="0" err="1" smtClean="0">
                <a:solidFill>
                  <a:schemeClr val="bg1"/>
                </a:solidFill>
              </a:rPr>
              <a:t>처럼</a:t>
            </a:r>
            <a:r>
              <a:rPr lang="ko-KR" altLang="en-US" b="1" dirty="0" smtClean="0">
                <a:solidFill>
                  <a:schemeClr val="bg1"/>
                </a:solidFill>
              </a:rPr>
              <a:t> 대화를 주고 받으며 </a:t>
            </a:r>
            <a:r>
              <a:rPr lang="ko-KR" altLang="en-US" b="1" dirty="0" err="1" smtClean="0">
                <a:solidFill>
                  <a:schemeClr val="bg1"/>
                </a:solidFill>
              </a:rPr>
              <a:t>액터와</a:t>
            </a:r>
            <a:r>
              <a:rPr lang="ko-KR" altLang="en-US" b="1" dirty="0" smtClean="0">
                <a:solidFill>
                  <a:schemeClr val="bg1"/>
                </a:solidFill>
              </a:rPr>
              <a:t> 시스템간의 행위를 기술한다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시나리오는 주어로 시작해서 </a:t>
            </a:r>
            <a:r>
              <a:rPr lang="ko-KR" altLang="en-US" b="1" dirty="0" err="1" smtClean="0">
                <a:solidFill>
                  <a:schemeClr val="bg1"/>
                </a:solidFill>
              </a:rPr>
              <a:t>능동형으로</a:t>
            </a:r>
            <a:r>
              <a:rPr lang="ko-KR" altLang="en-US" b="1" dirty="0" smtClean="0">
                <a:solidFill>
                  <a:schemeClr val="bg1"/>
                </a:solidFill>
              </a:rPr>
              <a:t> 끝낸다</a:t>
            </a:r>
            <a:r>
              <a:rPr lang="en-US" altLang="ko-KR" b="1" dirty="0" smtClean="0">
                <a:solidFill>
                  <a:schemeClr val="bg1"/>
                </a:solidFill>
              </a:rPr>
              <a:t>. (</a:t>
            </a:r>
            <a:r>
              <a:rPr lang="ko-KR" altLang="en-US" b="1" dirty="0" smtClean="0">
                <a:solidFill>
                  <a:schemeClr val="bg1"/>
                </a:solidFill>
              </a:rPr>
              <a:t>수동형 문장이 있는지 확인한다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시나리오가 너무 길지 않은지 확인한다</a:t>
            </a:r>
            <a:r>
              <a:rPr lang="en-US" altLang="ko-KR" b="1" dirty="0" smtClean="0">
                <a:solidFill>
                  <a:schemeClr val="bg1"/>
                </a:solidFill>
              </a:rPr>
              <a:t>. ( (3)~9 </a:t>
            </a:r>
            <a:r>
              <a:rPr lang="ko-KR" altLang="en-US" b="1" dirty="0" smtClean="0">
                <a:solidFill>
                  <a:schemeClr val="bg1"/>
                </a:solidFill>
              </a:rPr>
              <a:t>단계 내외 정도로 생각해 보자</a:t>
            </a:r>
            <a:r>
              <a:rPr lang="en-US" altLang="ko-KR" b="1" dirty="0" smtClean="0">
                <a:solidFill>
                  <a:schemeClr val="bg1"/>
                </a:solidFill>
              </a:rPr>
              <a:t>)</a:t>
            </a:r>
          </a:p>
          <a:p>
            <a:pPr marL="285750" indent="-285750">
              <a:lnSpc>
                <a:spcPct val="120000"/>
              </a:lnSpc>
              <a:buFont typeface="Arial" panose="020B0604020202020204" pitchFamily="34" charset="0"/>
              <a:buChar char="•"/>
            </a:pPr>
            <a:r>
              <a:rPr lang="en-US" altLang="ko-KR" b="1" dirty="0" smtClean="0">
                <a:solidFill>
                  <a:schemeClr val="bg1"/>
                </a:solidFill>
              </a:rPr>
              <a:t>GUI</a:t>
            </a:r>
            <a:r>
              <a:rPr lang="ko-KR" altLang="en-US" b="1" dirty="0" smtClean="0">
                <a:solidFill>
                  <a:schemeClr val="bg1"/>
                </a:solidFill>
              </a:rPr>
              <a:t>나 </a:t>
            </a:r>
            <a:r>
              <a:rPr lang="en-US" altLang="ko-KR" b="1" dirty="0" smtClean="0">
                <a:solidFill>
                  <a:schemeClr val="bg1"/>
                </a:solidFill>
              </a:rPr>
              <a:t>UX</a:t>
            </a:r>
            <a:r>
              <a:rPr lang="ko-KR" altLang="en-US" b="1" dirty="0" smtClean="0">
                <a:solidFill>
                  <a:schemeClr val="bg1"/>
                </a:solidFill>
              </a:rPr>
              <a:t>에 대한 것을 기술하지 않도록 조심한다</a:t>
            </a:r>
            <a:endParaRPr lang="en-US" altLang="ko-KR" b="1" dirty="0" smtClean="0">
              <a:solidFill>
                <a:schemeClr val="bg1"/>
              </a:solidFill>
            </a:endParaRPr>
          </a:p>
          <a:p>
            <a:pPr marL="285750" indent="-285750">
              <a:lnSpc>
                <a:spcPct val="120000"/>
              </a:lnSpc>
              <a:buFont typeface="Arial" panose="020B0604020202020204" pitchFamily="34" charset="0"/>
              <a:buChar char="•"/>
            </a:pPr>
            <a:r>
              <a:rPr lang="ko-KR" altLang="en-US" b="1" dirty="0" smtClean="0">
                <a:solidFill>
                  <a:schemeClr val="bg1"/>
                </a:solidFill>
              </a:rPr>
              <a:t>메인 시나리오에 넘버링을 하고 </a:t>
            </a:r>
            <a:r>
              <a:rPr lang="en-US" altLang="ko-KR" b="1" dirty="0" err="1" smtClean="0">
                <a:solidFill>
                  <a:schemeClr val="bg1"/>
                </a:solidFill>
              </a:rPr>
              <a:t>Extention</a:t>
            </a:r>
            <a:r>
              <a:rPr lang="ko-KR" altLang="en-US" b="1" dirty="0" smtClean="0">
                <a:solidFill>
                  <a:schemeClr val="bg1"/>
                </a:solidFill>
              </a:rPr>
              <a:t>에서 메인 시나리오의 넘버 기반으로 넘버링을 하여 어디에서 확장 되었는지 알 수 있도록 한다</a:t>
            </a:r>
            <a:r>
              <a:rPr lang="en-US" altLang="ko-KR" b="1" dirty="0" smtClean="0">
                <a:solidFill>
                  <a:schemeClr val="bg1"/>
                </a:solidFill>
              </a:rPr>
              <a:t>.</a:t>
            </a:r>
            <a:r>
              <a:rPr lang="ko-KR" altLang="en-US" b="1" dirty="0" smtClean="0">
                <a:solidFill>
                  <a:schemeClr val="bg1"/>
                </a:solidFill>
              </a:rPr>
              <a:t> </a:t>
            </a:r>
            <a:endParaRPr lang="en-US" altLang="ko-KR" b="1" dirty="0" smtClean="0">
              <a:solidFill>
                <a:schemeClr val="bg1"/>
              </a:solidFill>
            </a:endParaRPr>
          </a:p>
          <a:p>
            <a:pPr marL="285750" indent="-285750">
              <a:lnSpc>
                <a:spcPct val="120000"/>
              </a:lnSpc>
              <a:buFont typeface="Arial" panose="020B0604020202020204" pitchFamily="34" charset="0"/>
              <a:buChar char="•"/>
            </a:pPr>
            <a:endParaRPr lang="en-US" altLang="ko-KR" b="1" dirty="0" smtClean="0">
              <a:solidFill>
                <a:schemeClr val="bg1"/>
              </a:solidFill>
            </a:endParaRPr>
          </a:p>
          <a:p>
            <a:pPr marL="285750" indent="-285750">
              <a:lnSpc>
                <a:spcPct val="120000"/>
              </a:lnSpc>
              <a:buFont typeface="Arial" panose="020B0604020202020204" pitchFamily="34" charset="0"/>
              <a:buChar char="•"/>
            </a:pPr>
            <a:r>
              <a:rPr lang="ko-KR" altLang="en-US" b="1" dirty="0" smtClean="0">
                <a:solidFill>
                  <a:schemeClr val="bg1"/>
                </a:solidFill>
              </a:rPr>
              <a:t>아래 순서로 고민을 하면서 작성을 한다</a:t>
            </a:r>
            <a:r>
              <a:rPr lang="en-US" altLang="ko-KR" b="1" dirty="0" smtClean="0">
                <a:solidFill>
                  <a:schemeClr val="bg1"/>
                </a:solidFill>
              </a:rPr>
              <a:t>.</a:t>
            </a:r>
          </a:p>
          <a:p>
            <a:pPr marL="742950" lvl="1" indent="-285750">
              <a:lnSpc>
                <a:spcPct val="120000"/>
              </a:lnSpc>
              <a:buFont typeface="Arial" panose="020B0604020202020204" pitchFamily="34" charset="0"/>
              <a:buChar char="•"/>
            </a:pPr>
            <a:r>
              <a:rPr lang="en-US" altLang="ko-KR" b="1" dirty="0" err="1" smtClean="0">
                <a:solidFill>
                  <a:schemeClr val="bg1"/>
                </a:solidFill>
              </a:rPr>
              <a:t>Usecase</a:t>
            </a:r>
            <a:r>
              <a:rPr lang="ko-KR" altLang="en-US" b="1" dirty="0" smtClean="0">
                <a:solidFill>
                  <a:schemeClr val="bg1"/>
                </a:solidFill>
              </a:rPr>
              <a:t>이름 </a:t>
            </a:r>
            <a:r>
              <a:rPr lang="en-US" altLang="ko-KR" b="1" dirty="0" smtClean="0">
                <a:solidFill>
                  <a:schemeClr val="bg1"/>
                </a:solidFill>
              </a:rPr>
              <a:t>-&gt; stakeholders &amp;interest -&gt; primary actor- &gt; success end condition -&gt; main scenario-&gt; extensions</a:t>
            </a:r>
          </a:p>
          <a:p>
            <a:pPr marL="285750" indent="-285750">
              <a:lnSpc>
                <a:spcPct val="120000"/>
              </a:lnSpc>
              <a:buFont typeface="Arial" panose="020B0604020202020204" pitchFamily="34" charset="0"/>
              <a:buChar char="•"/>
            </a:pPr>
            <a:r>
              <a:rPr lang="en-US" altLang="ko-KR" b="1" dirty="0" err="1" smtClean="0">
                <a:solidFill>
                  <a:schemeClr val="bg1"/>
                </a:solidFill>
              </a:rPr>
              <a:t>Extenstions</a:t>
            </a:r>
            <a:r>
              <a:rPr lang="ko-KR" altLang="en-US" b="1" dirty="0" smtClean="0">
                <a:solidFill>
                  <a:schemeClr val="bg1"/>
                </a:solidFill>
              </a:rPr>
              <a:t>에 </a:t>
            </a:r>
            <a:r>
              <a:rPr lang="ko-KR" altLang="en-US" b="1" dirty="0" err="1" smtClean="0">
                <a:solidFill>
                  <a:schemeClr val="bg1"/>
                </a:solidFill>
              </a:rPr>
              <a:t>메인시나리오</a:t>
            </a:r>
            <a:r>
              <a:rPr lang="ko-KR" altLang="en-US" b="1" dirty="0" smtClean="0">
                <a:solidFill>
                  <a:schemeClr val="bg1"/>
                </a:solidFill>
              </a:rPr>
              <a:t> 수행 중 발생할 수 있는 예외 상황</a:t>
            </a:r>
            <a:r>
              <a:rPr lang="en-US" altLang="ko-KR" b="1" dirty="0" smtClean="0">
                <a:solidFill>
                  <a:schemeClr val="bg1"/>
                </a:solidFill>
              </a:rPr>
              <a:t>, </a:t>
            </a:r>
            <a:r>
              <a:rPr lang="ko-KR" altLang="en-US" b="1" dirty="0" smtClean="0">
                <a:solidFill>
                  <a:schemeClr val="bg1"/>
                </a:solidFill>
              </a:rPr>
              <a:t>대체 상황들이 어떤 것이 있을지 많이 </a:t>
            </a:r>
            <a:r>
              <a:rPr lang="ko-KR" altLang="en-US" b="1" dirty="0" err="1" smtClean="0">
                <a:solidFill>
                  <a:schemeClr val="bg1"/>
                </a:solidFill>
              </a:rPr>
              <a:t>브레인스토밍하여</a:t>
            </a:r>
            <a:r>
              <a:rPr lang="en-US" altLang="ko-KR" b="1" dirty="0" smtClean="0">
                <a:solidFill>
                  <a:schemeClr val="bg1"/>
                </a:solidFill>
              </a:rPr>
              <a:t>, </a:t>
            </a:r>
            <a:r>
              <a:rPr lang="ko-KR" altLang="en-US" b="1" dirty="0" smtClean="0">
                <a:solidFill>
                  <a:schemeClr val="bg1"/>
                </a:solidFill>
              </a:rPr>
              <a:t>해당 상황에서 사용자의 이익을 만족 시키기 위해 해야 하는 행위가 무엇인지를 고민하여 </a:t>
            </a:r>
            <a:r>
              <a:rPr lang="ko-KR" altLang="en-US" b="1" dirty="0" err="1" smtClean="0">
                <a:solidFill>
                  <a:schemeClr val="bg1"/>
                </a:solidFill>
              </a:rPr>
              <a:t>상황별</a:t>
            </a:r>
            <a:r>
              <a:rPr lang="ko-KR" altLang="en-US" b="1" dirty="0" smtClean="0">
                <a:solidFill>
                  <a:schemeClr val="bg1"/>
                </a:solidFill>
              </a:rPr>
              <a:t> 시나리오를 작성한다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그 외의 항목은 시나리오를 이해하는데 도움이 된다면 작성을 해보자</a:t>
            </a:r>
            <a:r>
              <a:rPr lang="en-US" altLang="ko-KR" b="1" dirty="0" smtClean="0">
                <a:solidFill>
                  <a:schemeClr val="bg1"/>
                </a:solidFill>
              </a:rPr>
              <a:t>(</a:t>
            </a:r>
            <a:r>
              <a:rPr lang="ko-KR" altLang="en-US" b="1" dirty="0" smtClean="0">
                <a:solidFill>
                  <a:schemeClr val="bg1"/>
                </a:solidFill>
              </a:rPr>
              <a:t>빠짐없이 작성하기를 권고하시는 분들도 있지만</a:t>
            </a:r>
            <a:r>
              <a:rPr lang="en-US" altLang="ko-KR" b="1" dirty="0" smtClean="0">
                <a:solidFill>
                  <a:schemeClr val="bg1"/>
                </a:solidFill>
              </a:rPr>
              <a:t>.. </a:t>
            </a:r>
            <a:r>
              <a:rPr lang="ko-KR" altLang="en-US" b="1" dirty="0" smtClean="0">
                <a:solidFill>
                  <a:schemeClr val="bg1"/>
                </a:solidFill>
              </a:rPr>
              <a:t>저는</a:t>
            </a:r>
            <a:r>
              <a:rPr lang="en-US" altLang="ko-KR" b="1" dirty="0" smtClean="0">
                <a:solidFill>
                  <a:schemeClr val="bg1"/>
                </a:solidFill>
              </a:rPr>
              <a:t> </a:t>
            </a:r>
            <a:r>
              <a:rPr lang="ko-KR" altLang="en-US" b="1" dirty="0" smtClean="0">
                <a:solidFill>
                  <a:schemeClr val="bg1"/>
                </a:solidFill>
              </a:rPr>
              <a:t>시나리오에서 작성된 내용이 그대로 작성되는 것이라면 작성하지 않는 편이 좋다고 생각합니다</a:t>
            </a:r>
            <a:r>
              <a:rPr lang="en-US" altLang="ko-KR" b="1" dirty="0" smtClean="0">
                <a:solidFill>
                  <a:schemeClr val="bg1"/>
                </a:solidFill>
              </a:rPr>
              <a:t>.)</a:t>
            </a:r>
          </a:p>
          <a:p>
            <a:pPr marL="285750" indent="-285750">
              <a:lnSpc>
                <a:spcPct val="120000"/>
              </a:lnSpc>
              <a:buFont typeface="Arial" panose="020B0604020202020204" pitchFamily="34" charset="0"/>
              <a:buChar char="•"/>
            </a:pPr>
            <a:endParaRPr lang="ko-KR" altLang="en-US" b="1" dirty="0">
              <a:solidFill>
                <a:schemeClr val="bg1"/>
              </a:solidFill>
            </a:endParaRPr>
          </a:p>
        </p:txBody>
      </p:sp>
    </p:spTree>
    <p:extLst>
      <p:ext uri="{BB962C8B-B14F-4D97-AF65-F5344CB8AC3E}">
        <p14:creationId xmlns:p14="http://schemas.microsoft.com/office/powerpoint/2010/main" val="202690922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endParaRPr lang="ko-KR" altLang="en-US"/>
          </a:p>
        </p:txBody>
      </p:sp>
      <p:sp>
        <p:nvSpPr>
          <p:cNvPr id="4" name="TextBox 3"/>
          <p:cNvSpPr txBox="1"/>
          <p:nvPr/>
        </p:nvSpPr>
        <p:spPr>
          <a:xfrm>
            <a:off x="558818" y="836712"/>
            <a:ext cx="11233248" cy="3194721"/>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pPr marL="285750" indent="-285750">
              <a:buFont typeface="Arial" panose="020B0604020202020204" pitchFamily="34" charset="0"/>
              <a:buChar char="•"/>
            </a:pPr>
            <a:r>
              <a:rPr lang="ko-KR" altLang="en-US" sz="1600" dirty="0" smtClean="0"/>
              <a:t>저는 </a:t>
            </a:r>
            <a:r>
              <a:rPr lang="en-US" altLang="ko-KR" sz="1600" dirty="0" smtClean="0"/>
              <a:t>50</a:t>
            </a:r>
            <a:r>
              <a:rPr lang="ko-KR" altLang="en-US" sz="1600" dirty="0" smtClean="0"/>
              <a:t>명이 참여한 </a:t>
            </a:r>
            <a:r>
              <a:rPr lang="en-US" altLang="ko-KR" sz="1600" dirty="0" smtClean="0"/>
              <a:t>15M$ </a:t>
            </a:r>
            <a:r>
              <a:rPr lang="ko-KR" altLang="en-US" sz="1600" dirty="0" smtClean="0"/>
              <a:t>프로젝트가 단지 주요 성공 시나리오와 몇 가지 실패 </a:t>
            </a:r>
            <a:r>
              <a:rPr lang="ko-KR" altLang="en-US" sz="1600" dirty="0"/>
              <a:t>사례만 표시한 간단한 단락 </a:t>
            </a:r>
            <a:r>
              <a:rPr lang="ko-KR" altLang="en-US" sz="1600" dirty="0" smtClean="0"/>
              <a:t>형식의 텍스트를 가지고 성공하는 것을 보았습니다</a:t>
            </a:r>
            <a:r>
              <a:rPr lang="en-US" altLang="ko-KR" sz="1600" dirty="0" smtClean="0"/>
              <a:t>. </a:t>
            </a:r>
            <a:r>
              <a:rPr lang="ko-KR" altLang="en-US" sz="1600" dirty="0" smtClean="0"/>
              <a:t>이 프로젝트는 팀 내 커뮤니케이션이 우수하여 이런 방식으로 작업할 수 있었습니다</a:t>
            </a:r>
            <a:r>
              <a:rPr lang="en-US" altLang="ko-KR" sz="1600" dirty="0" smtClean="0"/>
              <a:t>.</a:t>
            </a:r>
          </a:p>
          <a:p>
            <a:pPr marL="285750" indent="-285750">
              <a:buFont typeface="Arial" panose="020B0604020202020204" pitchFamily="34" charset="0"/>
              <a:buChar char="•"/>
            </a:pPr>
            <a:r>
              <a:rPr lang="en-US" altLang="ko-KR" sz="1600" dirty="0"/>
              <a:t>"Extreme Programming" </a:t>
            </a:r>
            <a:r>
              <a:rPr lang="ko-KR" altLang="en-US" sz="1600" dirty="0"/>
              <a:t>방법론을 사용하여 모든 크라이슬러 직원의 급여를 지불하기 위한 소프트웨어를 개발하는 </a:t>
            </a:r>
            <a:r>
              <a:rPr lang="ko-KR" altLang="en-US" sz="1600" dirty="0" smtClean="0"/>
              <a:t>종합 </a:t>
            </a:r>
            <a:r>
              <a:rPr lang="ko-KR" altLang="en-US" sz="1600" dirty="0"/>
              <a:t>보상 프로젝트 팀은 각 </a:t>
            </a:r>
            <a:r>
              <a:rPr lang="ko-KR" altLang="en-US" sz="1600" dirty="0" err="1" smtClean="0"/>
              <a:t>유스케이스에</a:t>
            </a:r>
            <a:r>
              <a:rPr lang="ko-KR" altLang="en-US" sz="1600" dirty="0" smtClean="0"/>
              <a:t> 대한 분석을 </a:t>
            </a:r>
            <a:r>
              <a:rPr lang="ko-KR" altLang="en-US" sz="1600" dirty="0"/>
              <a:t>기능 스케치 </a:t>
            </a:r>
            <a:r>
              <a:rPr lang="ko-KR" altLang="en-US" sz="1600" dirty="0" smtClean="0"/>
              <a:t>이상 </a:t>
            </a:r>
            <a:r>
              <a:rPr lang="ko-KR" altLang="en-US" sz="1600" dirty="0"/>
              <a:t>진행하지 않았습니다</a:t>
            </a:r>
            <a:r>
              <a:rPr lang="en-US" altLang="ko-KR" sz="1600" dirty="0"/>
              <a:t>. </a:t>
            </a:r>
            <a:r>
              <a:rPr lang="en-US" altLang="ko-KR" sz="1600" dirty="0" smtClean="0"/>
              <a:t/>
            </a:r>
            <a:br>
              <a:rPr lang="en-US" altLang="ko-KR" sz="1600" dirty="0" smtClean="0"/>
            </a:br>
            <a:r>
              <a:rPr lang="ko-KR" altLang="en-US" sz="1600" dirty="0" smtClean="0"/>
              <a:t>그들은 최소한으로 작성한 </a:t>
            </a:r>
            <a:r>
              <a:rPr lang="ko-KR" altLang="en-US" sz="1600" dirty="0" err="1" smtClean="0"/>
              <a:t>유스케이스를</a:t>
            </a:r>
            <a:r>
              <a:rPr lang="ko-KR" altLang="en-US" sz="1600" dirty="0" smtClean="0"/>
              <a:t> </a:t>
            </a:r>
            <a:r>
              <a:rPr lang="en-US" altLang="ko-KR" sz="1600" dirty="0" smtClean="0"/>
              <a:t>"</a:t>
            </a:r>
            <a:r>
              <a:rPr lang="ko-KR" altLang="en-US" sz="1600" dirty="0"/>
              <a:t>스토리</a:t>
            </a:r>
            <a:r>
              <a:rPr lang="en-US" altLang="ko-KR" sz="1600" dirty="0"/>
              <a:t>"</a:t>
            </a:r>
            <a:r>
              <a:rPr lang="ko-KR" altLang="en-US" sz="1600" dirty="0"/>
              <a:t>라고 </a:t>
            </a:r>
            <a:r>
              <a:rPr lang="ko-KR" altLang="en-US" sz="1600" dirty="0" smtClean="0"/>
              <a:t>부르는 </a:t>
            </a:r>
            <a:r>
              <a:rPr lang="en-US" altLang="ko-KR" sz="1600" dirty="0" smtClean="0"/>
              <a:t> </a:t>
            </a:r>
            <a:r>
              <a:rPr lang="ko-KR" altLang="en-US" sz="1600" dirty="0" smtClean="0"/>
              <a:t>단일 </a:t>
            </a:r>
            <a:r>
              <a:rPr lang="ko-KR" altLang="en-US" sz="1600" dirty="0"/>
              <a:t>카드에 작성했습니다</a:t>
            </a:r>
            <a:r>
              <a:rPr lang="en-US" altLang="ko-KR" sz="1600" dirty="0"/>
              <a:t>. </a:t>
            </a:r>
            <a:r>
              <a:rPr lang="ko-KR" altLang="en-US" sz="1600" dirty="0"/>
              <a:t>각 스토리 카드는 실제로 요구사항 전문가와 개발자 간의 </a:t>
            </a:r>
            <a:r>
              <a:rPr lang="ko-KR" altLang="en-US" sz="1600" dirty="0" smtClean="0"/>
              <a:t>대화를 위한 약속이었습니다</a:t>
            </a:r>
            <a:r>
              <a:rPr lang="en-US" altLang="ko-KR" sz="1600" dirty="0" smtClean="0"/>
              <a:t>. </a:t>
            </a:r>
            <a:r>
              <a:rPr lang="ko-KR" altLang="en-US" sz="1600" dirty="0"/>
              <a:t>중요한 점은 </a:t>
            </a:r>
            <a:r>
              <a:rPr lang="en-US" altLang="ko-KR" sz="1600" dirty="0"/>
              <a:t>14</a:t>
            </a:r>
            <a:r>
              <a:rPr lang="ko-KR" altLang="en-US" sz="1600" dirty="0"/>
              <a:t>명의 팀 전체가 두 개의 큰 인접한 방에 함께 앉아 있었고</a:t>
            </a:r>
            <a:r>
              <a:rPr lang="en-US" altLang="ko-KR" sz="1600" dirty="0"/>
              <a:t>, </a:t>
            </a:r>
            <a:r>
              <a:rPr lang="ko-KR" altLang="en-US" sz="1600" dirty="0" smtClean="0"/>
              <a:t>팀 </a:t>
            </a:r>
            <a:r>
              <a:rPr lang="ko-KR" altLang="en-US" sz="1600" dirty="0"/>
              <a:t>내 의사 </a:t>
            </a:r>
            <a:r>
              <a:rPr lang="ko-KR" altLang="en-US" sz="1600" dirty="0" smtClean="0"/>
              <a:t>소통이 탁월 했습니다</a:t>
            </a:r>
            <a:r>
              <a:rPr lang="en-US" altLang="ko-KR" sz="1600" dirty="0" smtClean="0"/>
              <a:t>.</a:t>
            </a:r>
          </a:p>
          <a:p>
            <a:pPr algn="r"/>
            <a:r>
              <a:rPr lang="en-US" altLang="ko-KR" sz="1600" dirty="0" smtClean="0">
                <a:solidFill>
                  <a:schemeClr val="bg1">
                    <a:lumMod val="50000"/>
                  </a:schemeClr>
                </a:solidFill>
              </a:rPr>
              <a:t>Writing Effective </a:t>
            </a:r>
            <a:r>
              <a:rPr lang="en-US" altLang="ko-KR" sz="1600" dirty="0" err="1" smtClean="0">
                <a:solidFill>
                  <a:schemeClr val="bg1">
                    <a:lumMod val="50000"/>
                  </a:schemeClr>
                </a:solidFill>
              </a:rPr>
              <a:t>Usecase</a:t>
            </a:r>
            <a:r>
              <a:rPr lang="ko-KR" altLang="en-US" sz="1600" dirty="0" smtClean="0">
                <a:solidFill>
                  <a:schemeClr val="bg1">
                    <a:lumMod val="50000"/>
                  </a:schemeClr>
                </a:solidFill>
              </a:rPr>
              <a:t> </a:t>
            </a:r>
            <a:r>
              <a:rPr lang="en-US" altLang="ko-KR" sz="1600" dirty="0" smtClean="0">
                <a:solidFill>
                  <a:schemeClr val="bg1">
                    <a:lumMod val="50000"/>
                  </a:schemeClr>
                </a:solidFill>
              </a:rPr>
              <a:t>– </a:t>
            </a:r>
            <a:r>
              <a:rPr lang="en-US" altLang="ko-KR" sz="1600" dirty="0" err="1" smtClean="0">
                <a:solidFill>
                  <a:schemeClr val="bg1">
                    <a:lumMod val="50000"/>
                  </a:schemeClr>
                </a:solidFill>
              </a:rPr>
              <a:t>A.Cockburn</a:t>
            </a:r>
            <a:r>
              <a:rPr lang="en-US" altLang="ko-KR" sz="1600" dirty="0" smtClean="0">
                <a:solidFill>
                  <a:schemeClr val="bg1">
                    <a:lumMod val="50000"/>
                  </a:schemeClr>
                </a:solidFill>
              </a:rPr>
              <a:t> 1999-</a:t>
            </a:r>
            <a:r>
              <a:rPr lang="en-US" altLang="ko-KR" sz="1600" dirty="0" smtClean="0"/>
              <a:t> </a:t>
            </a:r>
            <a:endParaRPr lang="ko-KR" altLang="en-US" sz="1600" dirty="0"/>
          </a:p>
        </p:txBody>
      </p:sp>
    </p:spTree>
    <p:extLst>
      <p:ext uri="{BB962C8B-B14F-4D97-AF65-F5344CB8AC3E}">
        <p14:creationId xmlns:p14="http://schemas.microsoft.com/office/powerpoint/2010/main" val="268819467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36312" y="1758756"/>
            <a:ext cx="769822" cy="3154639"/>
          </a:xfrm>
          <a:prstGeom prst="rect">
            <a:avLst/>
          </a:prstGeom>
          <a:noFill/>
        </p:spPr>
        <p:txBody>
          <a:bodyPr wrap="square" lIns="91374" tIns="45685" rIns="91374" bIns="45685">
            <a:spAutoFit/>
          </a:bodyPr>
          <a:lstStyle/>
          <a:p>
            <a:pPr algn="ctr" defTabSz="912813" fontAlgn="base">
              <a:spcBef>
                <a:spcPts val="600"/>
              </a:spcBef>
              <a:spcAft>
                <a:spcPct val="0"/>
              </a:spcAft>
              <a:buClr>
                <a:srgbClr val="FF5000"/>
              </a:buClr>
              <a:defRPr/>
            </a:pPr>
            <a:r>
              <a:rPr kumimoji="1" lang="en-US" altLang="ko-KR" sz="19900" b="1" dirty="0" smtClean="0">
                <a:ln>
                  <a:solidFill>
                    <a:schemeClr val="bg1">
                      <a:lumMod val="85000"/>
                      <a:alpha val="0"/>
                    </a:schemeClr>
                  </a:solidFill>
                </a:ln>
                <a:solidFill>
                  <a:srgbClr val="55CFD1"/>
                </a:solidFill>
                <a:latin typeface="맑은 고딕" pitchFamily="50" charset="-127"/>
                <a:cs typeface="Arial" panose="020B0604020202020204" pitchFamily="34" charset="0"/>
              </a:rPr>
              <a:t>D</a:t>
            </a:r>
            <a:endParaRPr kumimoji="1" lang="en-US" altLang="ko-KR" sz="19900" b="1" dirty="0">
              <a:ln>
                <a:solidFill>
                  <a:schemeClr val="bg1">
                    <a:lumMod val="85000"/>
                    <a:alpha val="0"/>
                  </a:schemeClr>
                </a:solidFill>
              </a:ln>
              <a:solidFill>
                <a:srgbClr val="55CFD1"/>
              </a:solidFill>
              <a:latin typeface="맑은 고딕" pitchFamily="50" charset="-127"/>
              <a:cs typeface="Arial" panose="020B0604020202020204" pitchFamily="34" charset="0"/>
            </a:endParaRPr>
          </a:p>
        </p:txBody>
      </p:sp>
      <p:sp>
        <p:nvSpPr>
          <p:cNvPr id="7" name="TextBox 6"/>
          <p:cNvSpPr txBox="1"/>
          <p:nvPr/>
        </p:nvSpPr>
        <p:spPr>
          <a:xfrm>
            <a:off x="1127448" y="3505196"/>
            <a:ext cx="6653480" cy="584705"/>
          </a:xfrm>
          <a:prstGeom prst="rect">
            <a:avLst/>
          </a:prstGeom>
          <a:noFill/>
        </p:spPr>
        <p:txBody>
          <a:bodyPr wrap="square" lIns="91374" tIns="45685" rIns="91374" bIns="45685">
            <a:spAutoFit/>
          </a:bodyPr>
          <a:lstStyle/>
          <a:p>
            <a:pPr defTabSz="912813" fontAlgn="base">
              <a:spcBef>
                <a:spcPts val="600"/>
              </a:spcBef>
              <a:spcAft>
                <a:spcPct val="0"/>
              </a:spcAft>
              <a:buClr>
                <a:srgbClr val="FF5000"/>
              </a:buClr>
              <a:defRPr/>
            </a:pPr>
            <a:r>
              <a:rPr kumimoji="1" lang="en-US" altLang="ko-KR" sz="3200" b="1" dirty="0" smtClean="0">
                <a:ln>
                  <a:solidFill>
                    <a:schemeClr val="bg1">
                      <a:lumMod val="85000"/>
                      <a:alpha val="0"/>
                    </a:schemeClr>
                  </a:solidFill>
                </a:ln>
                <a:solidFill>
                  <a:srgbClr val="F2F2F2"/>
                </a:solidFill>
                <a:latin typeface="맑은 고딕" pitchFamily="50" charset="-127"/>
                <a:cs typeface="Arial" panose="020B0604020202020204" pitchFamily="34" charset="0"/>
              </a:rPr>
              <a:t>OO                 feedback</a:t>
            </a:r>
            <a:endParaRPr kumimoji="1" lang="en-US" altLang="ko-KR" sz="3200" b="1" dirty="0">
              <a:ln>
                <a:solidFill>
                  <a:schemeClr val="bg1">
                    <a:lumMod val="85000"/>
                    <a:alpha val="0"/>
                  </a:schemeClr>
                </a:solidFill>
              </a:ln>
              <a:solidFill>
                <a:srgbClr val="F2F2F2"/>
              </a:solidFill>
              <a:latin typeface="맑은 고딕" pitchFamily="50" charset="-127"/>
              <a:cs typeface="Arial" panose="020B0604020202020204" pitchFamily="34" charset="0"/>
            </a:endParaRPr>
          </a:p>
        </p:txBody>
      </p:sp>
    </p:spTree>
    <p:extLst>
      <p:ext uri="{BB962C8B-B14F-4D97-AF65-F5344CB8AC3E}">
        <p14:creationId xmlns:p14="http://schemas.microsoft.com/office/powerpoint/2010/main" val="398508117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07368" y="2708920"/>
            <a:ext cx="11233248" cy="2850011"/>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600" dirty="0" smtClean="0"/>
              <a:t>이해관계자는 유스케이스 행위 안에서 폭넓은 관심을 가지고 있는 사람이나 사물이다</a:t>
            </a:r>
            <a:r>
              <a:rPr lang="en-US" altLang="ko-KR" sz="1600" dirty="0" smtClean="0"/>
              <a:t>. </a:t>
            </a:r>
            <a:r>
              <a:rPr lang="ko-KR" altLang="en-US" sz="1600" dirty="0" smtClean="0"/>
              <a:t>물론</a:t>
            </a:r>
            <a:r>
              <a:rPr lang="en-US" altLang="ko-KR" sz="1600" dirty="0" smtClean="0"/>
              <a:t>, </a:t>
            </a:r>
            <a:r>
              <a:rPr lang="ko-KR" altLang="en-US" sz="1600" dirty="0" smtClean="0"/>
              <a:t>모든 일차 </a:t>
            </a:r>
            <a:r>
              <a:rPr lang="ko-KR" altLang="en-US" sz="1600" dirty="0" err="1" smtClean="0"/>
              <a:t>액터는</a:t>
            </a:r>
            <a:r>
              <a:rPr lang="ko-KR" altLang="en-US" sz="1600" dirty="0" smtClean="0"/>
              <a:t> 이해관계자이지만</a:t>
            </a:r>
            <a:r>
              <a:rPr lang="en-US" altLang="ko-KR" sz="1600" dirty="0" smtClean="0"/>
              <a:t>, </a:t>
            </a:r>
            <a:r>
              <a:rPr lang="ko-KR" altLang="en-US" sz="1600" dirty="0" smtClean="0"/>
              <a:t>어떤 이해관계자는 시스템의 동작을 다룰 권한이 있음에도 불구하고 시스템과 직접 상호작용하지 않는다</a:t>
            </a:r>
            <a:r>
              <a:rPr lang="en-US" altLang="ko-KR" sz="1600" dirty="0" smtClean="0"/>
              <a:t>. </a:t>
            </a:r>
            <a:r>
              <a:rPr lang="ko-KR" altLang="en-US" sz="1600" dirty="0" smtClean="0"/>
              <a:t>시스템 소유주나 회사의 이사회</a:t>
            </a:r>
            <a:r>
              <a:rPr lang="en-US" altLang="ko-KR" sz="1600" dirty="0" smtClean="0"/>
              <a:t>, </a:t>
            </a:r>
            <a:r>
              <a:rPr lang="ko-KR" altLang="en-US" sz="1600" dirty="0" smtClean="0"/>
              <a:t>그리고 국내 </a:t>
            </a:r>
            <a:r>
              <a:rPr lang="ko-KR" altLang="en-US" sz="1600" dirty="0" err="1" smtClean="0"/>
              <a:t>세무국이나</a:t>
            </a:r>
            <a:r>
              <a:rPr lang="ko-KR" altLang="en-US" sz="1600" dirty="0" smtClean="0"/>
              <a:t> </a:t>
            </a:r>
            <a:r>
              <a:rPr lang="ko-KR" altLang="en-US" sz="1600" dirty="0" err="1" smtClean="0"/>
              <a:t>보험국과</a:t>
            </a:r>
            <a:r>
              <a:rPr lang="ko-KR" altLang="en-US" sz="1600" dirty="0" smtClean="0"/>
              <a:t> 같은 정부의 규제이관이 그 예다</a:t>
            </a:r>
            <a:r>
              <a:rPr lang="en-US" altLang="ko-KR" sz="1600" dirty="0" smtClean="0"/>
              <a:t>.</a:t>
            </a:r>
          </a:p>
          <a:p>
            <a:r>
              <a:rPr lang="en-US" altLang="ko-KR" sz="1600" dirty="0" smtClean="0"/>
              <a:t>… </a:t>
            </a:r>
            <a:r>
              <a:rPr lang="ko-KR" altLang="en-US" sz="1600" dirty="0" smtClean="0"/>
              <a:t>그들의 이해 관계는 시스템이 수행하는 것</a:t>
            </a:r>
            <a:r>
              <a:rPr lang="en-US" altLang="ko-KR" sz="1600" dirty="0" smtClean="0"/>
              <a:t>, </a:t>
            </a:r>
            <a:r>
              <a:rPr lang="ko-KR" altLang="en-US" sz="1600" dirty="0" smtClean="0"/>
              <a:t>시스템이 만드는 로그</a:t>
            </a:r>
            <a:r>
              <a:rPr lang="en-US" altLang="ko-KR" sz="1600" dirty="0" smtClean="0"/>
              <a:t>, </a:t>
            </a:r>
            <a:r>
              <a:rPr lang="ko-KR" altLang="en-US" sz="1600" dirty="0" smtClean="0"/>
              <a:t>그리고 시스템이 수행하는 행동을 확인하고 타당성을 검증하는 과정에서 나타난다</a:t>
            </a:r>
            <a:r>
              <a:rPr lang="en-US" altLang="ko-KR" sz="1600" dirty="0" smtClean="0"/>
              <a:t>. </a:t>
            </a:r>
            <a:r>
              <a:rPr lang="ko-KR" altLang="en-US" sz="1600" dirty="0" smtClean="0"/>
              <a:t>유스케이스는 시스템이 이해관계자의 이익을 보호하는지를 보여주어야 한다</a:t>
            </a:r>
            <a:r>
              <a:rPr lang="en-US" altLang="ko-KR" sz="1600" dirty="0" smtClean="0"/>
              <a:t>. </a:t>
            </a:r>
            <a:r>
              <a:rPr lang="ko-KR" altLang="en-US" sz="1600" dirty="0" smtClean="0"/>
              <a:t>이것을 소홀히 했을 때 지불하는 대가를 보여주는 이야기를 소개한다</a:t>
            </a:r>
            <a:r>
              <a:rPr lang="en-US" altLang="ko-KR" sz="1600" dirty="0"/>
              <a:t>.</a:t>
            </a:r>
          </a:p>
          <a:p>
            <a:endParaRPr lang="en-US" altLang="ko-KR" sz="1600" dirty="0" smtClean="0"/>
          </a:p>
          <a:p>
            <a:pPr algn="r"/>
            <a:r>
              <a:rPr lang="en-US" altLang="ko-KR" sz="1600" dirty="0" smtClean="0">
                <a:solidFill>
                  <a:schemeClr val="bg1">
                    <a:lumMod val="50000"/>
                  </a:schemeClr>
                </a:solidFill>
              </a:rPr>
              <a:t>Writing Effective </a:t>
            </a:r>
            <a:r>
              <a:rPr lang="en-US" altLang="ko-KR" sz="1600" dirty="0" err="1" smtClean="0">
                <a:solidFill>
                  <a:schemeClr val="bg1">
                    <a:lumMod val="50000"/>
                  </a:schemeClr>
                </a:solidFill>
              </a:rPr>
              <a:t>Usecase</a:t>
            </a:r>
            <a:r>
              <a:rPr lang="ko-KR" altLang="en-US" sz="1600" dirty="0" smtClean="0">
                <a:solidFill>
                  <a:schemeClr val="bg1">
                    <a:lumMod val="50000"/>
                  </a:schemeClr>
                </a:solidFill>
              </a:rPr>
              <a:t> </a:t>
            </a:r>
            <a:r>
              <a:rPr lang="en-US" altLang="ko-KR" sz="1600" dirty="0" smtClean="0">
                <a:solidFill>
                  <a:schemeClr val="bg1">
                    <a:lumMod val="50000"/>
                  </a:schemeClr>
                </a:solidFill>
              </a:rPr>
              <a:t>– </a:t>
            </a:r>
            <a:r>
              <a:rPr lang="ko-KR" altLang="en-US" sz="1600" dirty="0" err="1" smtClean="0">
                <a:solidFill>
                  <a:schemeClr val="bg1">
                    <a:lumMod val="50000"/>
                  </a:schemeClr>
                </a:solidFill>
              </a:rPr>
              <a:t>앨리스터</a:t>
            </a:r>
            <a:r>
              <a:rPr lang="ko-KR" altLang="en-US" sz="1600" dirty="0" smtClean="0">
                <a:solidFill>
                  <a:schemeClr val="bg1">
                    <a:lumMod val="50000"/>
                  </a:schemeClr>
                </a:solidFill>
              </a:rPr>
              <a:t> </a:t>
            </a:r>
            <a:r>
              <a:rPr lang="ko-KR" altLang="en-US" sz="1600" dirty="0" err="1" smtClean="0">
                <a:solidFill>
                  <a:schemeClr val="bg1">
                    <a:lumMod val="50000"/>
                  </a:schemeClr>
                </a:solidFill>
              </a:rPr>
              <a:t>코오번</a:t>
            </a:r>
            <a:r>
              <a:rPr lang="en-US" altLang="ko-KR" sz="1600" dirty="0" smtClean="0">
                <a:solidFill>
                  <a:schemeClr val="bg1">
                    <a:lumMod val="50000"/>
                  </a:schemeClr>
                </a:solidFill>
              </a:rPr>
              <a:t>-</a:t>
            </a:r>
            <a:r>
              <a:rPr lang="en-US" altLang="ko-KR" sz="1600" dirty="0" smtClean="0"/>
              <a:t> </a:t>
            </a:r>
            <a:endParaRPr lang="ko-KR" altLang="en-US" sz="1600" dirty="0"/>
          </a:p>
        </p:txBody>
      </p:sp>
      <p:sp>
        <p:nvSpPr>
          <p:cNvPr id="3" name="직사각형 2"/>
          <p:cNvSpPr/>
          <p:nvPr/>
        </p:nvSpPr>
        <p:spPr>
          <a:xfrm>
            <a:off x="479376" y="116632"/>
            <a:ext cx="9577064" cy="1754326"/>
          </a:xfrm>
          <a:prstGeom prst="rect">
            <a:avLst/>
          </a:prstGeom>
        </p:spPr>
        <p:txBody>
          <a:bodyPr wrap="square">
            <a:spAutoFit/>
          </a:bodyPr>
          <a:lstStyle/>
          <a:p>
            <a:r>
              <a:rPr lang="ko-KR" altLang="en-US" dirty="0"/>
              <a:t>요구 사항 문서에서 인터페이스를 조작하는 사용자의 동작을 서술하면 다음과 같은 세 가지 문제가 발생한다</a:t>
            </a:r>
            <a:r>
              <a:rPr lang="en-US" altLang="ko-KR" dirty="0"/>
              <a:t>.</a:t>
            </a:r>
            <a:r>
              <a:rPr lang="ko-KR" altLang="en-US" dirty="0"/>
              <a:t/>
            </a:r>
            <a:br>
              <a:rPr lang="ko-KR" altLang="en-US" dirty="0"/>
            </a:br>
            <a:r>
              <a:rPr lang="en-US" altLang="ko-KR" dirty="0"/>
              <a:t>- </a:t>
            </a:r>
            <a:r>
              <a:rPr lang="ko-KR" altLang="en-US" dirty="0"/>
              <a:t>문서가 불필요하게 길어진다</a:t>
            </a:r>
            <a:r>
              <a:rPr lang="en-US" altLang="ko-KR" dirty="0"/>
              <a:t>.</a:t>
            </a:r>
            <a:r>
              <a:rPr lang="ko-KR" altLang="en-US" dirty="0"/>
              <a:t/>
            </a:r>
            <a:br>
              <a:rPr lang="ko-KR" altLang="en-US" dirty="0"/>
            </a:br>
            <a:r>
              <a:rPr lang="en-US" altLang="ko-KR" dirty="0"/>
              <a:t>- </a:t>
            </a:r>
            <a:r>
              <a:rPr lang="ko-KR" altLang="en-US" dirty="0"/>
              <a:t>요구사항이 불안정해지는데</a:t>
            </a:r>
            <a:r>
              <a:rPr lang="en-US" altLang="ko-KR" dirty="0"/>
              <a:t>, </a:t>
            </a:r>
            <a:r>
              <a:rPr lang="ko-KR" altLang="en-US" dirty="0"/>
              <a:t>이는 사용자 인터페이스 설계 관련 사소한 변경이 </a:t>
            </a:r>
            <a:r>
              <a:rPr lang="en-US" altLang="ko-KR" dirty="0"/>
              <a:t>(</a:t>
            </a:r>
            <a:r>
              <a:rPr lang="ko-KR" altLang="en-US" dirty="0"/>
              <a:t>결국 </a:t>
            </a:r>
            <a:r>
              <a:rPr lang="ko-KR" altLang="en-US" dirty="0" err="1"/>
              <a:t>요구상도</a:t>
            </a:r>
            <a:r>
              <a:rPr lang="ko-KR" altLang="en-US" dirty="0"/>
              <a:t> 아닌</a:t>
            </a:r>
            <a:r>
              <a:rPr lang="en-US" altLang="ko-KR" dirty="0"/>
              <a:t>) '</a:t>
            </a:r>
            <a:r>
              <a:rPr lang="ko-KR" altLang="en-US" dirty="0"/>
              <a:t>요구사항</a:t>
            </a:r>
            <a:r>
              <a:rPr lang="en-US" altLang="ko-KR" dirty="0"/>
              <a:t>'</a:t>
            </a:r>
            <a:r>
              <a:rPr lang="ko-KR" altLang="en-US" dirty="0"/>
              <a:t>에 변경을 일으킴을 의미한다</a:t>
            </a:r>
            <a:r>
              <a:rPr lang="en-US" altLang="ko-KR" dirty="0"/>
              <a:t>.</a:t>
            </a:r>
            <a:r>
              <a:rPr lang="ko-KR" altLang="en-US" dirty="0"/>
              <a:t/>
            </a:r>
            <a:br>
              <a:rPr lang="ko-KR" altLang="en-US" dirty="0"/>
            </a:br>
            <a:r>
              <a:rPr lang="en-US" altLang="ko-KR" dirty="0"/>
              <a:t>- </a:t>
            </a:r>
            <a:r>
              <a:rPr lang="ko-KR" altLang="en-US" dirty="0"/>
              <a:t>여러분이 그 일을 잘 </a:t>
            </a:r>
            <a:r>
              <a:rPr lang="ko-KR" altLang="en-US" dirty="0" err="1"/>
              <a:t>수행하리라</a:t>
            </a:r>
            <a:r>
              <a:rPr lang="ko-KR" altLang="en-US" dirty="0"/>
              <a:t> 믿어야 하는 </a:t>
            </a:r>
            <a:r>
              <a:rPr lang="en-US" altLang="ko-KR" dirty="0"/>
              <a:t>UI </a:t>
            </a:r>
            <a:r>
              <a:rPr lang="ko-KR" altLang="en-US" dirty="0"/>
              <a:t>설계자의 일을 빼앗는다</a:t>
            </a:r>
            <a:r>
              <a:rPr lang="en-US" altLang="ko-KR" dirty="0"/>
              <a:t>.</a:t>
            </a:r>
            <a:endParaRPr lang="ko-KR" altLang="en-US" dirty="0"/>
          </a:p>
        </p:txBody>
      </p:sp>
    </p:spTree>
    <p:extLst>
      <p:ext uri="{BB962C8B-B14F-4D97-AF65-F5344CB8AC3E}">
        <p14:creationId xmlns:p14="http://schemas.microsoft.com/office/powerpoint/2010/main" val="320630489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5360" y="1916832"/>
            <a:ext cx="11233248" cy="4573560"/>
          </a:xfrm>
          <a:prstGeom prst="rect">
            <a:avLst/>
          </a:prstGeom>
          <a:noFill/>
          <a:ln>
            <a:solidFill>
              <a:schemeClr val="bg1">
                <a:lumMod val="85000"/>
              </a:schemeClr>
            </a:solidFill>
          </a:ln>
        </p:spPr>
        <p:txBody>
          <a:bodyPr wrap="square" rtlCol="0">
            <a:spAutoFit/>
          </a:bodyPr>
          <a:lstStyle>
            <a:defPPr>
              <a:defRPr lang="ko-KR"/>
            </a:defPPr>
            <a:lvl1pPr>
              <a:lnSpc>
                <a:spcPct val="140000"/>
              </a:lnSpc>
            </a:lvl1pPr>
          </a:lstStyle>
          <a:p>
            <a:r>
              <a:rPr lang="ko-KR" altLang="en-US" sz="1600" b="1" dirty="0" smtClean="0"/>
              <a:t>확장 목록을 정당화한다</a:t>
            </a:r>
            <a:r>
              <a:rPr lang="en-US" altLang="ko-KR" sz="1600" b="1" dirty="0" smtClean="0"/>
              <a:t>.</a:t>
            </a:r>
          </a:p>
          <a:p>
            <a:r>
              <a:rPr lang="ko-KR" altLang="en-US" sz="1600" dirty="0" smtClean="0"/>
              <a:t>정당화</a:t>
            </a:r>
            <a:r>
              <a:rPr lang="en-US" altLang="ko-KR" sz="1600" dirty="0" smtClean="0"/>
              <a:t>(</a:t>
            </a:r>
            <a:r>
              <a:rPr lang="en-US" altLang="ko-KR" sz="1600" dirty="0" err="1" smtClean="0"/>
              <a:t>rotaionalization</a:t>
            </a:r>
            <a:r>
              <a:rPr lang="en-US" altLang="ko-KR" sz="1600" dirty="0" smtClean="0"/>
              <a:t>)</a:t>
            </a:r>
            <a:r>
              <a:rPr lang="ko-KR" altLang="en-US" sz="1600" dirty="0" smtClean="0"/>
              <a:t>활동의 목적은 확장 목록을 가능한 짧게 줄이는 것이다</a:t>
            </a:r>
            <a:r>
              <a:rPr lang="en-US" altLang="ko-KR" sz="1600" dirty="0" smtClean="0"/>
              <a:t>. </a:t>
            </a:r>
            <a:r>
              <a:rPr lang="ko-KR" altLang="en-US" sz="1600" dirty="0" smtClean="0"/>
              <a:t>이상적인 확장 조건 목록은 시스템이 반드시 처리 해야 하는 꼭 필요한 조건을 모두 보여준다</a:t>
            </a:r>
            <a:r>
              <a:rPr lang="en-US" altLang="ko-KR" sz="1600" dirty="0" smtClean="0"/>
              <a:t>. </a:t>
            </a:r>
            <a:r>
              <a:rPr lang="ko-KR" altLang="en-US" sz="1600" dirty="0" smtClean="0"/>
              <a:t>긴 요구 사항 문서는 언제나 읽기 어렵고 장황한 설명은 유지 보수가 어려움을 기억하기 바란다</a:t>
            </a:r>
            <a:r>
              <a:rPr lang="en-US" altLang="ko-KR" sz="1600" dirty="0" smtClean="0"/>
              <a:t>. </a:t>
            </a:r>
          </a:p>
          <a:p>
            <a:r>
              <a:rPr lang="en-US" altLang="ko-KR" sz="1600" dirty="0" smtClean="0"/>
              <a:t>…</a:t>
            </a:r>
          </a:p>
          <a:p>
            <a:pPr marL="285750" indent="-285750">
              <a:buFont typeface="Arial" panose="020B0604020202020204" pitchFamily="34" charset="0"/>
              <a:buChar char="•"/>
            </a:pPr>
            <a:r>
              <a:rPr lang="ko-KR" altLang="en-US" sz="1600" dirty="0" smtClean="0"/>
              <a:t>시스템이 반드시 조건을 감지 할 수 있어야 한다</a:t>
            </a:r>
            <a:r>
              <a:rPr lang="en-US" altLang="ko-KR" sz="1600" dirty="0" smtClean="0"/>
              <a:t>.</a:t>
            </a:r>
          </a:p>
          <a:p>
            <a:pPr marL="285750" indent="-285750">
              <a:buFont typeface="Arial" panose="020B0604020202020204" pitchFamily="34" charset="0"/>
              <a:buChar char="•"/>
            </a:pPr>
            <a:r>
              <a:rPr lang="ko-KR" altLang="en-US" sz="1600" dirty="0" smtClean="0"/>
              <a:t>시스템이 조건 감지를 반드시 처리해야 한다</a:t>
            </a:r>
            <a:r>
              <a:rPr lang="en-US" altLang="ko-KR" sz="1600" dirty="0" smtClean="0"/>
              <a:t>.</a:t>
            </a:r>
          </a:p>
          <a:p>
            <a:pPr marL="285750" indent="-285750">
              <a:buFont typeface="Arial" panose="020B0604020202020204" pitchFamily="34" charset="0"/>
              <a:buChar char="•"/>
            </a:pPr>
            <a:endParaRPr lang="en-US" altLang="ko-KR" sz="1600" dirty="0"/>
          </a:p>
          <a:p>
            <a:r>
              <a:rPr lang="ko-KR" altLang="en-US" sz="1600" dirty="0" smtClean="0"/>
              <a:t>감지 할 수 없는 조건을 삭제하기 전에</a:t>
            </a:r>
            <a:r>
              <a:rPr lang="en-US" altLang="ko-KR" sz="1600" dirty="0" smtClean="0"/>
              <a:t>, </a:t>
            </a:r>
            <a:r>
              <a:rPr lang="ko-KR" altLang="en-US" sz="1600" dirty="0" smtClean="0"/>
              <a:t>가능한 감지할 수 있도록 만든다</a:t>
            </a:r>
            <a:r>
              <a:rPr lang="en-US" altLang="ko-KR" sz="1600" dirty="0" smtClean="0"/>
              <a:t>. </a:t>
            </a:r>
            <a:r>
              <a:rPr lang="ko-KR" altLang="en-US" sz="1600" b="1" dirty="0" smtClean="0"/>
              <a:t>고객이 현금인출카드를 </a:t>
            </a:r>
            <a:r>
              <a:rPr lang="ko-KR" altLang="en-US" sz="1600" b="1" dirty="0" err="1" smtClean="0"/>
              <a:t>읽어버렸다</a:t>
            </a:r>
            <a:r>
              <a:rPr lang="ko-KR" altLang="en-US" sz="1600" dirty="0" err="1" smtClean="0"/>
              <a:t>와</a:t>
            </a:r>
            <a:r>
              <a:rPr lang="ko-KR" altLang="en-US" sz="1600" dirty="0" smtClean="0"/>
              <a:t> 같은 조건은 시스템이 감지할 수 있는 동등한 조건이 없으므로 삭제한다</a:t>
            </a:r>
            <a:r>
              <a:rPr lang="en-US" altLang="ko-KR" sz="1600" dirty="0" smtClean="0"/>
              <a:t>. </a:t>
            </a:r>
            <a:r>
              <a:rPr lang="ko-KR" altLang="en-US" sz="1600" dirty="0" smtClean="0"/>
              <a:t>감지할 수 없는 조건인 </a:t>
            </a:r>
            <a:r>
              <a:rPr lang="ko-KR" altLang="en-US" sz="1600" b="1" dirty="0" smtClean="0"/>
              <a:t>고객이 비밀번호를 </a:t>
            </a:r>
            <a:r>
              <a:rPr lang="ko-KR" altLang="en-US" sz="1600" b="1" dirty="0" err="1" smtClean="0"/>
              <a:t>잊어버렸다</a:t>
            </a:r>
            <a:r>
              <a:rPr lang="ko-KR" altLang="en-US" sz="1600" dirty="0" err="1" smtClean="0"/>
              <a:t>를</a:t>
            </a:r>
            <a:r>
              <a:rPr lang="ko-KR" altLang="en-US" sz="1600" dirty="0" smtClean="0"/>
              <a:t> </a:t>
            </a:r>
            <a:r>
              <a:rPr lang="ko-KR" altLang="en-US" sz="1600" b="1" dirty="0" smtClean="0"/>
              <a:t>비밀번호 입력 시간 초과</a:t>
            </a:r>
            <a:r>
              <a:rPr lang="ko-KR" altLang="en-US" sz="1600" dirty="0" smtClean="0"/>
              <a:t>와 같이 시스템이 감지 할 수 있는 것으로 바꾼다</a:t>
            </a:r>
            <a:r>
              <a:rPr lang="en-US" altLang="ko-KR" sz="1600" dirty="0" smtClean="0"/>
              <a:t>.</a:t>
            </a:r>
            <a:endParaRPr lang="en-US" altLang="ko-KR" sz="1600" dirty="0"/>
          </a:p>
          <a:p>
            <a:endParaRPr lang="en-US" altLang="ko-KR" sz="1600" dirty="0" smtClean="0"/>
          </a:p>
          <a:p>
            <a:pPr algn="r"/>
            <a:r>
              <a:rPr lang="en-US" altLang="ko-KR" sz="1600" dirty="0" smtClean="0">
                <a:solidFill>
                  <a:schemeClr val="bg1">
                    <a:lumMod val="50000"/>
                  </a:schemeClr>
                </a:solidFill>
              </a:rPr>
              <a:t>Writing Effective </a:t>
            </a:r>
            <a:r>
              <a:rPr lang="en-US" altLang="ko-KR" sz="1600" dirty="0" err="1" smtClean="0">
                <a:solidFill>
                  <a:schemeClr val="bg1">
                    <a:lumMod val="50000"/>
                  </a:schemeClr>
                </a:solidFill>
              </a:rPr>
              <a:t>Usecase</a:t>
            </a:r>
            <a:r>
              <a:rPr lang="ko-KR" altLang="en-US" sz="1600" dirty="0" smtClean="0">
                <a:solidFill>
                  <a:schemeClr val="bg1">
                    <a:lumMod val="50000"/>
                  </a:schemeClr>
                </a:solidFill>
              </a:rPr>
              <a:t> </a:t>
            </a:r>
            <a:r>
              <a:rPr lang="en-US" altLang="ko-KR" sz="1600" dirty="0" smtClean="0">
                <a:solidFill>
                  <a:schemeClr val="bg1">
                    <a:lumMod val="50000"/>
                  </a:schemeClr>
                </a:solidFill>
              </a:rPr>
              <a:t>– </a:t>
            </a:r>
            <a:r>
              <a:rPr lang="ko-KR" altLang="en-US" sz="1600" dirty="0" err="1" smtClean="0">
                <a:solidFill>
                  <a:schemeClr val="bg1">
                    <a:lumMod val="50000"/>
                  </a:schemeClr>
                </a:solidFill>
              </a:rPr>
              <a:t>앨리스터</a:t>
            </a:r>
            <a:r>
              <a:rPr lang="ko-KR" altLang="en-US" sz="1600" dirty="0" smtClean="0">
                <a:solidFill>
                  <a:schemeClr val="bg1">
                    <a:lumMod val="50000"/>
                  </a:schemeClr>
                </a:solidFill>
              </a:rPr>
              <a:t> </a:t>
            </a:r>
            <a:r>
              <a:rPr lang="ko-KR" altLang="en-US" sz="1600" dirty="0" err="1" smtClean="0">
                <a:solidFill>
                  <a:schemeClr val="bg1">
                    <a:lumMod val="50000"/>
                  </a:schemeClr>
                </a:solidFill>
              </a:rPr>
              <a:t>코오번</a:t>
            </a:r>
            <a:r>
              <a:rPr lang="en-US" altLang="ko-KR" sz="1600" dirty="0" smtClean="0">
                <a:solidFill>
                  <a:schemeClr val="bg1">
                    <a:lumMod val="50000"/>
                  </a:schemeClr>
                </a:solidFill>
              </a:rPr>
              <a:t>-</a:t>
            </a:r>
            <a:r>
              <a:rPr lang="en-US" altLang="ko-KR" sz="1600" dirty="0" smtClean="0"/>
              <a:t> </a:t>
            </a:r>
            <a:endParaRPr lang="ko-KR" altLang="en-US" sz="1600" dirty="0"/>
          </a:p>
        </p:txBody>
      </p:sp>
    </p:spTree>
    <p:extLst>
      <p:ext uri="{BB962C8B-B14F-4D97-AF65-F5344CB8AC3E}">
        <p14:creationId xmlns:p14="http://schemas.microsoft.com/office/powerpoint/2010/main" val="382191288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983432" y="782491"/>
            <a:ext cx="10081120" cy="5410712"/>
          </a:xfrm>
          <a:prstGeom prst="rect">
            <a:avLst/>
          </a:prstGeom>
        </p:spPr>
        <p:txBody>
          <a:bodyPr wrap="square">
            <a:spAutoFit/>
          </a:bodyPr>
          <a:lstStyle/>
          <a:p>
            <a:pPr marL="285750" indent="-285750">
              <a:lnSpc>
                <a:spcPct val="120000"/>
              </a:lnSpc>
              <a:buFont typeface="Arial" panose="020B0604020202020204" pitchFamily="34" charset="0"/>
              <a:buChar char="•"/>
            </a:pPr>
            <a:r>
              <a:rPr lang="en-US" altLang="ko-KR" b="1" dirty="0" err="1" smtClean="0">
                <a:solidFill>
                  <a:schemeClr val="bg1"/>
                </a:solidFill>
              </a:rPr>
              <a:t>Usecase</a:t>
            </a:r>
            <a:r>
              <a:rPr lang="en-US" altLang="ko-KR" b="1" dirty="0" smtClean="0">
                <a:solidFill>
                  <a:schemeClr val="bg1"/>
                </a:solidFill>
              </a:rPr>
              <a:t> </a:t>
            </a:r>
            <a:r>
              <a:rPr lang="ko-KR" altLang="en-US" b="1" dirty="0" smtClean="0">
                <a:solidFill>
                  <a:schemeClr val="bg1"/>
                </a:solidFill>
              </a:rPr>
              <a:t>이름은 동명사형으로 작성한다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a:solidFill>
                  <a:schemeClr val="bg1"/>
                </a:solidFill>
              </a:rPr>
              <a:t>시나리오는 읽기 쉬운 산문이면서 </a:t>
            </a:r>
            <a:r>
              <a:rPr lang="ko-KR" altLang="en-US" b="1">
                <a:solidFill>
                  <a:schemeClr val="bg1"/>
                </a:solidFill>
              </a:rPr>
              <a:t>연극 </a:t>
            </a:r>
            <a:r>
              <a:rPr lang="ko-KR" altLang="en-US" b="1" smtClean="0">
                <a:solidFill>
                  <a:schemeClr val="bg1"/>
                </a:solidFill>
              </a:rPr>
              <a:t>대본처럼 </a:t>
            </a:r>
            <a:r>
              <a:rPr lang="ko-KR" altLang="en-US" b="1" dirty="0">
                <a:solidFill>
                  <a:schemeClr val="bg1"/>
                </a:solidFill>
              </a:rPr>
              <a:t>대화를 주고 받으며 </a:t>
            </a:r>
            <a:r>
              <a:rPr lang="ko-KR" altLang="en-US" b="1" dirty="0" err="1">
                <a:solidFill>
                  <a:schemeClr val="bg1"/>
                </a:solidFill>
              </a:rPr>
              <a:t>액터와</a:t>
            </a:r>
            <a:r>
              <a:rPr lang="ko-KR" altLang="en-US" b="1" dirty="0">
                <a:solidFill>
                  <a:schemeClr val="bg1"/>
                </a:solidFill>
              </a:rPr>
              <a:t> 시스템간의 행위를 기술한다</a:t>
            </a:r>
            <a:r>
              <a:rPr lang="en-US" altLang="ko-KR" b="1" dirty="0">
                <a:solidFill>
                  <a:schemeClr val="bg1"/>
                </a:solidFill>
              </a:rPr>
              <a:t>.</a:t>
            </a:r>
          </a:p>
          <a:p>
            <a:pPr marL="285750" indent="-285750">
              <a:lnSpc>
                <a:spcPct val="120000"/>
              </a:lnSpc>
              <a:buFont typeface="Arial" panose="020B0604020202020204" pitchFamily="34" charset="0"/>
              <a:buChar char="•"/>
            </a:pPr>
            <a:r>
              <a:rPr lang="ko-KR" altLang="en-US" b="1" dirty="0">
                <a:solidFill>
                  <a:schemeClr val="bg1"/>
                </a:solidFill>
              </a:rPr>
              <a:t>시나리오는 누가 공을 가지고 있는지 명확하게 기술되어야 한다</a:t>
            </a:r>
            <a:r>
              <a:rPr lang="en-US" altLang="ko-KR" b="1" dirty="0">
                <a:solidFill>
                  <a:schemeClr val="bg1"/>
                </a:solidFill>
              </a:rPr>
              <a:t>.</a:t>
            </a:r>
          </a:p>
          <a:p>
            <a:pPr marL="285750" indent="-285750">
              <a:lnSpc>
                <a:spcPct val="120000"/>
              </a:lnSpc>
              <a:buFont typeface="Arial" panose="020B0604020202020204" pitchFamily="34" charset="0"/>
              <a:buChar char="•"/>
            </a:pPr>
            <a:r>
              <a:rPr lang="ko-KR" altLang="en-US" b="1" dirty="0">
                <a:solidFill>
                  <a:schemeClr val="bg1"/>
                </a:solidFill>
              </a:rPr>
              <a:t>시나리오는 </a:t>
            </a:r>
            <a:r>
              <a:rPr lang="en-US" altLang="ko-KR" b="1" dirty="0">
                <a:solidFill>
                  <a:schemeClr val="bg1"/>
                </a:solidFill>
              </a:rPr>
              <a:t>actor</a:t>
            </a:r>
            <a:r>
              <a:rPr lang="ko-KR" altLang="en-US" b="1" dirty="0">
                <a:solidFill>
                  <a:schemeClr val="bg1"/>
                </a:solidFill>
              </a:rPr>
              <a:t>가 목표로 하는 조건에 이루기 위해 </a:t>
            </a:r>
            <a:r>
              <a:rPr lang="en-US" altLang="ko-KR" b="1" dirty="0">
                <a:solidFill>
                  <a:schemeClr val="bg1"/>
                </a:solidFill>
              </a:rPr>
              <a:t>(</a:t>
            </a:r>
            <a:r>
              <a:rPr lang="ko-KR" altLang="en-US" b="1" dirty="0">
                <a:solidFill>
                  <a:schemeClr val="bg1"/>
                </a:solidFill>
              </a:rPr>
              <a:t>단계별로</a:t>
            </a:r>
            <a:r>
              <a:rPr lang="en-US" altLang="ko-KR" b="1" dirty="0">
                <a:solidFill>
                  <a:schemeClr val="bg1"/>
                </a:solidFill>
              </a:rPr>
              <a:t>)</a:t>
            </a:r>
            <a:r>
              <a:rPr lang="ko-KR" altLang="en-US" b="1" dirty="0">
                <a:solidFill>
                  <a:schemeClr val="bg1"/>
                </a:solidFill>
              </a:rPr>
              <a:t> 나아가야 한다</a:t>
            </a:r>
            <a:r>
              <a:rPr lang="en-US" altLang="ko-KR" b="1" dirty="0">
                <a:solidFill>
                  <a:schemeClr val="bg1"/>
                </a:solidFill>
              </a:rPr>
              <a:t>.</a:t>
            </a:r>
          </a:p>
          <a:p>
            <a:pPr marL="285750" indent="-285750">
              <a:lnSpc>
                <a:spcPct val="120000"/>
              </a:lnSpc>
              <a:buFont typeface="Arial" panose="020B0604020202020204" pitchFamily="34" charset="0"/>
              <a:buChar char="•"/>
            </a:pPr>
            <a:r>
              <a:rPr lang="ko-KR" altLang="en-US" b="1" dirty="0" smtClean="0">
                <a:solidFill>
                  <a:schemeClr val="bg1"/>
                </a:solidFill>
              </a:rPr>
              <a:t>시나리오는 주어로 시작해서 </a:t>
            </a:r>
            <a:r>
              <a:rPr lang="ko-KR" altLang="en-US" b="1" dirty="0" err="1" smtClean="0">
                <a:solidFill>
                  <a:schemeClr val="bg1"/>
                </a:solidFill>
              </a:rPr>
              <a:t>능동형으로</a:t>
            </a:r>
            <a:r>
              <a:rPr lang="ko-KR" altLang="en-US" b="1" dirty="0" smtClean="0">
                <a:solidFill>
                  <a:schemeClr val="bg1"/>
                </a:solidFill>
              </a:rPr>
              <a:t> 끝낸다</a:t>
            </a:r>
            <a:r>
              <a:rPr lang="en-US" altLang="ko-KR" b="1" dirty="0" smtClean="0">
                <a:solidFill>
                  <a:schemeClr val="bg1"/>
                </a:solidFill>
              </a:rPr>
              <a:t>. (</a:t>
            </a:r>
            <a:r>
              <a:rPr lang="ko-KR" altLang="en-US" b="1" dirty="0" smtClean="0">
                <a:solidFill>
                  <a:schemeClr val="bg1"/>
                </a:solidFill>
              </a:rPr>
              <a:t>수동형 문장이 있는지 확인한다</a:t>
            </a:r>
            <a:r>
              <a:rPr lang="en-US" altLang="ko-KR" b="1" dirty="0" smtClean="0">
                <a:solidFill>
                  <a:schemeClr val="bg1"/>
                </a:solidFill>
              </a:rPr>
              <a:t>.)</a:t>
            </a:r>
          </a:p>
          <a:p>
            <a:pPr marL="285750" indent="-285750">
              <a:lnSpc>
                <a:spcPct val="120000"/>
              </a:lnSpc>
              <a:buFont typeface="Arial" panose="020B0604020202020204" pitchFamily="34" charset="0"/>
              <a:buChar char="•"/>
            </a:pPr>
            <a:r>
              <a:rPr lang="ko-KR" altLang="en-US" b="1" dirty="0" err="1" smtClean="0">
                <a:solidFill>
                  <a:schemeClr val="bg1"/>
                </a:solidFill>
              </a:rPr>
              <a:t>시나리별</a:t>
            </a:r>
            <a:r>
              <a:rPr lang="ko-KR" altLang="en-US" b="1" dirty="0" smtClean="0">
                <a:solidFill>
                  <a:schemeClr val="bg1"/>
                </a:solidFill>
              </a:rPr>
              <a:t> 기술의 추상화 레벨이 비슷하도록 작성한다</a:t>
            </a:r>
            <a:r>
              <a:rPr lang="en-US" altLang="ko-KR" b="1" dirty="0" smtClean="0">
                <a:solidFill>
                  <a:schemeClr val="bg1"/>
                </a:solidFill>
              </a:rPr>
              <a:t>.</a:t>
            </a:r>
          </a:p>
          <a:p>
            <a:pPr marL="285750" indent="-285750">
              <a:lnSpc>
                <a:spcPct val="120000"/>
              </a:lnSpc>
              <a:buFont typeface="Arial" panose="020B0604020202020204" pitchFamily="34" charset="0"/>
              <a:buChar char="•"/>
            </a:pPr>
            <a:endParaRPr lang="en-US" altLang="ko-KR" b="1" dirty="0" smtClean="0">
              <a:solidFill>
                <a:schemeClr val="bg1"/>
              </a:solidFill>
            </a:endParaRPr>
          </a:p>
          <a:p>
            <a:pPr marL="285750" indent="-285750">
              <a:lnSpc>
                <a:spcPct val="120000"/>
              </a:lnSpc>
              <a:buFont typeface="Arial" panose="020B0604020202020204" pitchFamily="34" charset="0"/>
              <a:buChar char="•"/>
            </a:pPr>
            <a:r>
              <a:rPr lang="ko-KR" altLang="en-US" b="1" dirty="0" smtClean="0">
                <a:solidFill>
                  <a:schemeClr val="bg1"/>
                </a:solidFill>
              </a:rPr>
              <a:t>아래 순서로 고민을 하면서 작성을 한다</a:t>
            </a:r>
            <a:r>
              <a:rPr lang="en-US" altLang="ko-KR" b="1" dirty="0" smtClean="0">
                <a:solidFill>
                  <a:schemeClr val="bg1"/>
                </a:solidFill>
              </a:rPr>
              <a:t>.</a:t>
            </a:r>
          </a:p>
          <a:p>
            <a:pPr marL="742950" lvl="1" indent="-285750">
              <a:lnSpc>
                <a:spcPct val="120000"/>
              </a:lnSpc>
              <a:buFont typeface="Arial" panose="020B0604020202020204" pitchFamily="34" charset="0"/>
              <a:buChar char="•"/>
            </a:pPr>
            <a:r>
              <a:rPr lang="en-US" altLang="ko-KR" b="1" dirty="0" err="1" smtClean="0">
                <a:solidFill>
                  <a:schemeClr val="bg1"/>
                </a:solidFill>
              </a:rPr>
              <a:t>Usecase</a:t>
            </a:r>
            <a:r>
              <a:rPr lang="ko-KR" altLang="en-US" b="1" dirty="0" smtClean="0">
                <a:solidFill>
                  <a:schemeClr val="bg1"/>
                </a:solidFill>
              </a:rPr>
              <a:t>이름 </a:t>
            </a:r>
            <a:r>
              <a:rPr lang="en-US" altLang="ko-KR" b="1" dirty="0" smtClean="0">
                <a:solidFill>
                  <a:schemeClr val="bg1"/>
                </a:solidFill>
              </a:rPr>
              <a:t>-&gt; stakeholders &amp;interest -&gt; primary actor- &gt; success end condition -&gt; main scenario-&gt; extensions</a:t>
            </a:r>
          </a:p>
          <a:p>
            <a:pPr marL="285750" indent="-285750">
              <a:lnSpc>
                <a:spcPct val="120000"/>
              </a:lnSpc>
              <a:buFont typeface="Arial" panose="020B0604020202020204" pitchFamily="34" charset="0"/>
              <a:buChar char="•"/>
            </a:pPr>
            <a:r>
              <a:rPr lang="en-US" altLang="ko-KR" b="1" dirty="0" err="1" smtClean="0">
                <a:solidFill>
                  <a:schemeClr val="bg1"/>
                </a:solidFill>
              </a:rPr>
              <a:t>Extenstions</a:t>
            </a:r>
            <a:r>
              <a:rPr lang="ko-KR" altLang="en-US" b="1" dirty="0" smtClean="0">
                <a:solidFill>
                  <a:schemeClr val="bg1"/>
                </a:solidFill>
              </a:rPr>
              <a:t>에 </a:t>
            </a:r>
            <a:r>
              <a:rPr lang="ko-KR" altLang="en-US" b="1" dirty="0" err="1" smtClean="0">
                <a:solidFill>
                  <a:schemeClr val="bg1"/>
                </a:solidFill>
              </a:rPr>
              <a:t>메인시나리오</a:t>
            </a:r>
            <a:r>
              <a:rPr lang="ko-KR" altLang="en-US" b="1" dirty="0" smtClean="0">
                <a:solidFill>
                  <a:schemeClr val="bg1"/>
                </a:solidFill>
              </a:rPr>
              <a:t> 수행 중 발생할 수 있는 예외 상황</a:t>
            </a:r>
            <a:r>
              <a:rPr lang="en-US" altLang="ko-KR" b="1" dirty="0" smtClean="0">
                <a:solidFill>
                  <a:schemeClr val="bg1"/>
                </a:solidFill>
              </a:rPr>
              <a:t>, </a:t>
            </a:r>
            <a:r>
              <a:rPr lang="ko-KR" altLang="en-US" b="1" dirty="0" smtClean="0">
                <a:solidFill>
                  <a:schemeClr val="bg1"/>
                </a:solidFill>
              </a:rPr>
              <a:t>대체 상황들이 어떤 것이 있을지 많이 </a:t>
            </a:r>
            <a:r>
              <a:rPr lang="ko-KR" altLang="en-US" b="1" dirty="0" err="1" smtClean="0">
                <a:solidFill>
                  <a:schemeClr val="bg1"/>
                </a:solidFill>
              </a:rPr>
              <a:t>브레인스토밍하여</a:t>
            </a:r>
            <a:r>
              <a:rPr lang="en-US" altLang="ko-KR" b="1" dirty="0" smtClean="0">
                <a:solidFill>
                  <a:schemeClr val="bg1"/>
                </a:solidFill>
              </a:rPr>
              <a:t>, </a:t>
            </a:r>
            <a:r>
              <a:rPr lang="ko-KR" altLang="en-US" b="1" dirty="0" smtClean="0">
                <a:solidFill>
                  <a:schemeClr val="bg1"/>
                </a:solidFill>
              </a:rPr>
              <a:t>해당 상황에서 사용자의 이익을 만족 시키기 위해 해야 하는 행위가 무엇인지를 고민하여 </a:t>
            </a:r>
            <a:r>
              <a:rPr lang="ko-KR" altLang="en-US" b="1" dirty="0" err="1" smtClean="0">
                <a:solidFill>
                  <a:schemeClr val="bg1"/>
                </a:solidFill>
              </a:rPr>
              <a:t>상황별</a:t>
            </a:r>
            <a:r>
              <a:rPr lang="ko-KR" altLang="en-US" b="1" dirty="0" smtClean="0">
                <a:solidFill>
                  <a:schemeClr val="bg1"/>
                </a:solidFill>
              </a:rPr>
              <a:t> 시나리오를 작성한다</a:t>
            </a:r>
            <a:r>
              <a:rPr lang="en-US" altLang="ko-KR" b="1" dirty="0" smtClean="0">
                <a:solidFill>
                  <a:schemeClr val="bg1"/>
                </a:solidFill>
              </a:rPr>
              <a:t>.</a:t>
            </a:r>
          </a:p>
          <a:p>
            <a:pPr marL="285750" indent="-285750">
              <a:lnSpc>
                <a:spcPct val="120000"/>
              </a:lnSpc>
              <a:buFont typeface="Arial" panose="020B0604020202020204" pitchFamily="34" charset="0"/>
              <a:buChar char="•"/>
            </a:pPr>
            <a:endParaRPr lang="en-US" altLang="ko-KR" b="1" dirty="0" smtClean="0">
              <a:solidFill>
                <a:schemeClr val="bg1"/>
              </a:solidFill>
            </a:endParaRPr>
          </a:p>
          <a:p>
            <a:pPr marL="285750" indent="-285750">
              <a:lnSpc>
                <a:spcPct val="120000"/>
              </a:lnSpc>
              <a:buFont typeface="Arial" panose="020B0604020202020204" pitchFamily="34" charset="0"/>
              <a:buChar char="•"/>
            </a:pPr>
            <a:r>
              <a:rPr lang="en-US" altLang="ko-KR" b="1" dirty="0" smtClean="0">
                <a:solidFill>
                  <a:schemeClr val="bg1"/>
                </a:solidFill>
              </a:rPr>
              <a:t>(</a:t>
            </a:r>
            <a:r>
              <a:rPr lang="ko-KR" altLang="en-US" b="1" dirty="0" smtClean="0">
                <a:solidFill>
                  <a:schemeClr val="bg1"/>
                </a:solidFill>
              </a:rPr>
              <a:t>조심스럽지만</a:t>
            </a:r>
            <a:r>
              <a:rPr lang="en-US" altLang="ko-KR" b="1" dirty="0" smtClean="0">
                <a:solidFill>
                  <a:schemeClr val="bg1"/>
                </a:solidFill>
              </a:rPr>
              <a:t>… </a:t>
            </a:r>
            <a:r>
              <a:rPr lang="ko-KR" altLang="en-US" b="1" dirty="0" smtClean="0">
                <a:solidFill>
                  <a:schemeClr val="bg1"/>
                </a:solidFill>
              </a:rPr>
              <a:t>너무 당연한 </a:t>
            </a:r>
            <a:r>
              <a:rPr lang="en-US" altLang="ko-KR" b="1" dirty="0" smtClean="0">
                <a:solidFill>
                  <a:schemeClr val="bg1"/>
                </a:solidFill>
              </a:rPr>
              <a:t>preconditions</a:t>
            </a:r>
            <a:r>
              <a:rPr lang="ko-KR" altLang="en-US" b="1" dirty="0" smtClean="0">
                <a:solidFill>
                  <a:schemeClr val="bg1"/>
                </a:solidFill>
              </a:rPr>
              <a:t>는 작성하지 않는 편이</a:t>
            </a:r>
            <a:r>
              <a:rPr lang="en-US" altLang="ko-KR" b="1" dirty="0" smtClean="0">
                <a:solidFill>
                  <a:schemeClr val="bg1"/>
                </a:solidFill>
              </a:rPr>
              <a:t>.)</a:t>
            </a:r>
            <a:endParaRPr lang="ko-KR" altLang="en-US" b="1" dirty="0">
              <a:solidFill>
                <a:schemeClr val="bg1"/>
              </a:solidFill>
            </a:endParaRPr>
          </a:p>
        </p:txBody>
      </p:sp>
    </p:spTree>
    <p:extLst>
      <p:ext uri="{BB962C8B-B14F-4D97-AF65-F5344CB8AC3E}">
        <p14:creationId xmlns:p14="http://schemas.microsoft.com/office/powerpoint/2010/main" val="10915237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chemeClr val="tx1"/>
          </a:solidFill>
        </a:ln>
      </a:spPr>
      <a:bodyPr lIns="36000" tIns="36000" rIns="36000" bIns="36000" rtlCol="0" anchor="ctr"/>
      <a:lstStyle>
        <a:defPPr algn="ctr">
          <a:defRPr sz="12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5293</TotalTime>
  <Words>6720</Words>
  <Application>Microsoft Office PowerPoint</Application>
  <PresentationFormat>사용자 지정</PresentationFormat>
  <Paragraphs>956</Paragraphs>
  <Slides>112</Slides>
  <Notes>70</Notes>
  <HiddenSlides>4</HiddenSlides>
  <MMClips>0</MMClips>
  <ScaleCrop>false</ScaleCrop>
  <HeadingPairs>
    <vt:vector size="4" baseType="variant">
      <vt:variant>
        <vt:lpstr>테마</vt:lpstr>
      </vt:variant>
      <vt:variant>
        <vt:i4>1</vt:i4>
      </vt:variant>
      <vt:variant>
        <vt:lpstr>슬라이드 제목</vt:lpstr>
      </vt:variant>
      <vt:variant>
        <vt:i4>112</vt:i4>
      </vt:variant>
    </vt:vector>
  </HeadingPairs>
  <TitlesOfParts>
    <vt:vector size="113" baseType="lpstr">
      <vt:lpstr>Office 테마</vt:lpstr>
      <vt:lpstr>PowerPoint 프레젠테이션</vt:lpstr>
      <vt:lpstr>Revision History</vt:lpstr>
      <vt:lpstr>PowerPoint 프레젠테이션</vt:lpstr>
      <vt:lpstr>UML (Unified Modeling language) </vt:lpstr>
      <vt:lpstr>UML (Unified Modeling language) </vt:lpstr>
      <vt:lpstr>PowerPoint 프레젠테이션</vt:lpstr>
      <vt:lpstr>Stereotypes </vt:lpstr>
      <vt:lpstr>Tagged Values </vt:lpstr>
      <vt:lpstr>Constraints</vt:lpstr>
      <vt:lpstr>PowerPoint 프레젠테이션</vt:lpstr>
      <vt:lpstr>요구사항</vt:lpstr>
      <vt:lpstr>도메인</vt:lpstr>
      <vt:lpstr>Use cases</vt:lpstr>
      <vt:lpstr>Use cases 형식</vt:lpstr>
      <vt:lpstr>Use cases format 예제</vt:lpstr>
      <vt:lpstr>Fully dressed-up 예제</vt:lpstr>
      <vt:lpstr>Fully dressed-up 예제</vt:lpstr>
      <vt:lpstr>Fully dressed-up 예제</vt:lpstr>
      <vt:lpstr>Fully dressed-up 예제</vt:lpstr>
      <vt:lpstr>PowerPoint 프레젠테이션</vt:lpstr>
      <vt:lpstr>PowerPoint 프레젠테이션</vt:lpstr>
      <vt:lpstr>Usecase는 왜 작성하는가?</vt:lpstr>
      <vt:lpstr>PowerPoint 프레젠테이션</vt:lpstr>
      <vt:lpstr>PowerPoint 프레젠테이션</vt:lpstr>
      <vt:lpstr>Use case Diagram</vt:lpstr>
      <vt:lpstr>Use case Diagram</vt:lpstr>
      <vt:lpstr>Include &amp; Extend</vt:lpstr>
      <vt:lpstr>Include &amp; Extend</vt:lpstr>
      <vt:lpstr>Include와 Extend 관계 주의사항</vt:lpstr>
      <vt:lpstr>PowerPoint 프레젠테이션</vt:lpstr>
      <vt:lpstr>PowerPoint 프레젠테이션</vt:lpstr>
      <vt:lpstr>Composite use case diagram</vt:lpstr>
      <vt:lpstr>PowerPoint 프레젠테이션</vt:lpstr>
      <vt:lpstr>PowerPoint 프레젠테이션</vt:lpstr>
      <vt:lpstr>실습 - 산출물 목표</vt:lpstr>
      <vt:lpstr>PowerPoint 프레젠테이션</vt:lpstr>
      <vt:lpstr>PowerPoint 프레젠테이션</vt:lpstr>
      <vt:lpstr>PowerPoint 프레젠테이션</vt:lpstr>
      <vt:lpstr>PowerPoint 프레젠테이션</vt:lpstr>
      <vt:lpstr>PowerPoint 프레젠테이션</vt:lpstr>
      <vt:lpstr>1일차 실습</vt:lpstr>
      <vt:lpstr>PowerPoint 프레젠테이션</vt:lpstr>
      <vt:lpstr>Sequence Diagram</vt:lpstr>
      <vt:lpstr>Combined Fragment</vt:lpstr>
      <vt:lpstr>seq, strict </vt:lpstr>
      <vt:lpstr>alt, opt, ref </vt:lpstr>
      <vt:lpstr>loop, break</vt:lpstr>
      <vt:lpstr>PowerPoint 프레젠테이션</vt:lpstr>
      <vt:lpstr>par, critical</vt:lpstr>
      <vt:lpstr>assert, neg </vt:lpstr>
      <vt:lpstr>ignore, consider</vt:lpstr>
      <vt:lpstr>Boundary, Control, Entity</vt:lpstr>
      <vt:lpstr>PowerPoint 프레젠테이션</vt:lpstr>
      <vt:lpstr>System Sequence Diagram (SSD)</vt:lpstr>
      <vt:lpstr>PowerPoint 프레젠테이션</vt:lpstr>
      <vt:lpstr>PowerPoint 프레젠테이션</vt:lpstr>
      <vt:lpstr>도메인 모델</vt:lpstr>
      <vt:lpstr>도메인 모델</vt:lpstr>
      <vt:lpstr>도메인 모델</vt:lpstr>
      <vt:lpstr>PowerPoint 프레젠테이션</vt:lpstr>
      <vt:lpstr>PowerPoint 프레젠테이션</vt:lpstr>
      <vt:lpstr>실습 - 산출물 목표</vt:lpstr>
      <vt:lpstr>PowerPoint 프레젠테이션</vt:lpstr>
      <vt:lpstr>Class</vt:lpstr>
      <vt:lpstr>Abstract Class / Method</vt:lpstr>
      <vt:lpstr>Class relationship</vt:lpstr>
      <vt:lpstr>Generalization (일반화) &amp; Realization (실체화)</vt:lpstr>
      <vt:lpstr>Dependency (의존)</vt:lpstr>
      <vt:lpstr>Association(연관), Directed Association(방향성 연관)</vt:lpstr>
      <vt:lpstr>Aggregation (Shared Aggregation, 집합)</vt:lpstr>
      <vt:lpstr>Aggregation (Shared Aggregation, 집합)</vt:lpstr>
      <vt:lpstr>PowerPoint 프레젠테이션</vt:lpstr>
      <vt:lpstr>Composition (Composite Aggregation, 합성)</vt:lpstr>
      <vt:lpstr>UML Class Diagram Explained With C++ samples </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실습 산출물 목표</vt:lpstr>
      <vt:lpstr>PowerPoint 프레젠테이션</vt:lpstr>
      <vt:lpstr>PowerPoint 프레젠테이션</vt:lpstr>
      <vt:lpstr>PowerPoint 프레젠테이션</vt:lpstr>
      <vt:lpstr>Activity Diagram</vt:lpstr>
      <vt:lpstr>Action </vt:lpstr>
      <vt:lpstr>Activity</vt:lpstr>
      <vt:lpstr>Flow</vt:lpstr>
      <vt:lpstr>Control Node</vt:lpstr>
      <vt:lpstr>Example</vt:lpstr>
      <vt:lpstr>Interruptible Activity region </vt:lpstr>
      <vt:lpstr>Structured Activity</vt:lpstr>
      <vt:lpstr>Expansion region</vt:lpstr>
      <vt:lpstr>Expansion region - parallel</vt:lpstr>
      <vt:lpstr>Partition</vt:lpstr>
      <vt:lpstr>PowerPoint 프레젠테이션</vt:lpstr>
      <vt:lpstr>PowerPoint 프레젠테이션</vt:lpstr>
      <vt:lpstr>PowerPoint 프레젠테이션</vt:lpstr>
      <vt:lpstr>PowerPoint 프레젠테이션</vt:lpstr>
      <vt:lpstr>소프트웨어 설계란 무엇인가?</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이혜준/HYE JOON YI</dc:creator>
  <cp:lastModifiedBy>werdy</cp:lastModifiedBy>
  <cp:revision>676</cp:revision>
  <dcterms:created xsi:type="dcterms:W3CDTF">2021-06-02T00:51:12Z</dcterms:created>
  <dcterms:modified xsi:type="dcterms:W3CDTF">2026-08-28T13:40:03Z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