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355" r:id="rId2"/>
    <p:sldId id="356" r:id="rId3"/>
    <p:sldId id="357" r:id="rId4"/>
    <p:sldId id="358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76" r:id="rId23"/>
    <p:sldId id="377" r:id="rId24"/>
    <p:sldId id="378" r:id="rId25"/>
    <p:sldId id="379" r:id="rId26"/>
    <p:sldId id="380" r:id="rId27"/>
    <p:sldId id="381" r:id="rId28"/>
    <p:sldId id="382" r:id="rId29"/>
    <p:sldId id="383" r:id="rId30"/>
    <p:sldId id="384" r:id="rId31"/>
    <p:sldId id="3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65" autoAdjust="0"/>
    <p:restoredTop sz="57096" autoAdjust="0"/>
  </p:normalViewPr>
  <p:slideViewPr>
    <p:cSldViewPr showGuides="1">
      <p:cViewPr varScale="1">
        <p:scale>
          <a:sx n="65" d="100"/>
          <a:sy n="65" d="100"/>
        </p:scale>
        <p:origin x="205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B390-C473-4696-98C6-8A0C8FCAAABC}" type="datetimeFigureOut">
              <a:rPr lang="ko-KR" altLang="en-US" smtClean="0"/>
              <a:t>2024-04-08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23A25-6988-4880-9B02-B1245A972A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483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23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14.1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버전이 자유도가 높아 사용하기에는 더 편합니다만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자유도가 높을 수록</a:t>
            </a:r>
            <a:r>
              <a:rPr lang="en-US" altLang="ko-KR" baseline="0" dirty="0" smtClean="0"/>
              <a:t>, UML </a:t>
            </a:r>
            <a:r>
              <a:rPr lang="ko-KR" altLang="en-US" baseline="0" dirty="0" smtClean="0"/>
              <a:t>문법을 더 숙지할 필요가 있습니다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90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717C5-460F-4A32-8DBF-627906F5508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115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>
          <a:gsLst>
            <a:gs pos="0">
              <a:srgbClr val="BBFFE6"/>
            </a:gs>
            <a:gs pos="100000">
              <a:srgbClr val="55CFD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1355785" y="1122363"/>
            <a:ext cx="9027209" cy="4252575"/>
            <a:chOff x="956306" y="1185729"/>
            <a:chExt cx="9484030" cy="4486542"/>
          </a:xfrm>
        </p:grpSpPr>
        <p:sp>
          <p:nvSpPr>
            <p:cNvPr id="13" name="다이아몬드 12"/>
            <p:cNvSpPr/>
            <p:nvPr userDrawn="1"/>
          </p:nvSpPr>
          <p:spPr>
            <a:xfrm>
              <a:off x="3852729" y="1185729"/>
              <a:ext cx="4486542" cy="4486542"/>
            </a:xfrm>
            <a:prstGeom prst="diamond">
              <a:avLst/>
            </a:prstGeom>
            <a:no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다이아몬드 13"/>
            <p:cNvSpPr/>
            <p:nvPr userDrawn="1"/>
          </p:nvSpPr>
          <p:spPr>
            <a:xfrm>
              <a:off x="4113020" y="1446020"/>
              <a:ext cx="3965960" cy="3965960"/>
            </a:xfrm>
            <a:prstGeom prst="diamond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다이아몬드 14"/>
            <p:cNvSpPr/>
            <p:nvPr userDrawn="1"/>
          </p:nvSpPr>
          <p:spPr>
            <a:xfrm>
              <a:off x="2079833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다이아몬드 15"/>
            <p:cNvSpPr/>
            <p:nvPr userDrawn="1"/>
          </p:nvSpPr>
          <p:spPr>
            <a:xfrm>
              <a:off x="7196805" y="2026243"/>
              <a:ext cx="2805513" cy="2805513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다이아몬드 16"/>
            <p:cNvSpPr/>
            <p:nvPr userDrawn="1"/>
          </p:nvSpPr>
          <p:spPr>
            <a:xfrm>
              <a:off x="7038617" y="3962042"/>
              <a:ext cx="666573" cy="666573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다이아몬드 17"/>
            <p:cNvSpPr/>
            <p:nvPr userDrawn="1"/>
          </p:nvSpPr>
          <p:spPr>
            <a:xfrm>
              <a:off x="7745693" y="4122010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다이아몬드 18"/>
            <p:cNvSpPr/>
            <p:nvPr userDrawn="1"/>
          </p:nvSpPr>
          <p:spPr>
            <a:xfrm>
              <a:off x="7657120" y="4375313"/>
              <a:ext cx="491475" cy="506606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다이아몬드 19"/>
            <p:cNvSpPr/>
            <p:nvPr userDrawn="1"/>
          </p:nvSpPr>
          <p:spPr>
            <a:xfrm>
              <a:off x="9510843" y="280484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다이아몬드 20"/>
            <p:cNvSpPr/>
            <p:nvPr userDrawn="1"/>
          </p:nvSpPr>
          <p:spPr>
            <a:xfrm>
              <a:off x="9756580" y="1849386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다이아몬드 21"/>
            <p:cNvSpPr/>
            <p:nvPr userDrawn="1"/>
          </p:nvSpPr>
          <p:spPr>
            <a:xfrm>
              <a:off x="3693964" y="4201993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다이아몬드 22"/>
            <p:cNvSpPr/>
            <p:nvPr userDrawn="1"/>
          </p:nvSpPr>
          <p:spPr>
            <a:xfrm>
              <a:off x="4557089" y="5042508"/>
              <a:ext cx="491475" cy="506606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다이아몬드 23"/>
            <p:cNvSpPr/>
            <p:nvPr userDrawn="1"/>
          </p:nvSpPr>
          <p:spPr>
            <a:xfrm>
              <a:off x="4350165" y="2355992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다이아몬드 24"/>
            <p:cNvSpPr/>
            <p:nvPr userDrawn="1"/>
          </p:nvSpPr>
          <p:spPr>
            <a:xfrm>
              <a:off x="2006838" y="2694686"/>
              <a:ext cx="666573" cy="666573"/>
            </a:xfrm>
            <a:prstGeom prst="diamond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다이아몬드 25"/>
            <p:cNvSpPr/>
            <p:nvPr userDrawn="1"/>
          </p:nvSpPr>
          <p:spPr>
            <a:xfrm>
              <a:off x="2531511" y="4789205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다이아몬드 26"/>
            <p:cNvSpPr/>
            <p:nvPr userDrawn="1"/>
          </p:nvSpPr>
          <p:spPr>
            <a:xfrm>
              <a:off x="10112167" y="3623770"/>
              <a:ext cx="328169" cy="338272"/>
            </a:xfrm>
            <a:prstGeom prst="diamond">
              <a:avLst/>
            </a:prstGeom>
            <a:noFill/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다이아몬드 27"/>
            <p:cNvSpPr/>
            <p:nvPr userDrawn="1"/>
          </p:nvSpPr>
          <p:spPr>
            <a:xfrm>
              <a:off x="1567573" y="2635710"/>
              <a:ext cx="328169" cy="338272"/>
            </a:xfrm>
            <a:prstGeom prst="diamond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다이아몬드 28"/>
            <p:cNvSpPr/>
            <p:nvPr userDrawn="1"/>
          </p:nvSpPr>
          <p:spPr>
            <a:xfrm>
              <a:off x="956306" y="3090727"/>
              <a:ext cx="328169" cy="338272"/>
            </a:xfrm>
            <a:prstGeom prst="diamond">
              <a:avLst/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60741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4B4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3291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1" y="837138"/>
            <a:ext cx="11376000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2" name="다이아몬드 11"/>
          <p:cNvSpPr/>
          <p:nvPr userDrawn="1"/>
        </p:nvSpPr>
        <p:spPr>
          <a:xfrm>
            <a:off x="199871" y="190682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215461" y="231786"/>
            <a:ext cx="540399" cy="461594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4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00</a:t>
            </a:r>
            <a:endParaRPr kumimoji="1" lang="en-US" altLang="ko-KR" sz="24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chemeClr val="bg1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778689" y="138491"/>
            <a:ext cx="11005312" cy="424661"/>
          </a:xfrm>
          <a:prstGeom prst="rect">
            <a:avLst/>
          </a:prstGeom>
          <a:noFill/>
        </p:spPr>
        <p:txBody>
          <a:bodyPr wrap="squar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15" name="텍스트 개체 틀 9"/>
          <p:cNvSpPr>
            <a:spLocks noGrp="1"/>
          </p:cNvSpPr>
          <p:nvPr>
            <p:ph type="body" sz="quarter" idx="11"/>
          </p:nvPr>
        </p:nvSpPr>
        <p:spPr>
          <a:xfrm>
            <a:off x="778689" y="563152"/>
            <a:ext cx="11005312" cy="2449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00">
                <a:solidFill>
                  <a:schemeClr val="tx1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마스터 텍스트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3878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08000" y="581440"/>
            <a:ext cx="11376000" cy="45719"/>
          </a:xfrm>
          <a:prstGeom prst="rect">
            <a:avLst/>
          </a:prstGeom>
          <a:gradFill flip="none" rotWithShape="1">
            <a:gsLst>
              <a:gs pos="0">
                <a:srgbClr val="55CFD1">
                  <a:shade val="30000"/>
                  <a:satMod val="115000"/>
                </a:srgbClr>
              </a:gs>
              <a:gs pos="50000">
                <a:srgbClr val="55CFD1">
                  <a:shade val="67500"/>
                  <a:satMod val="115000"/>
                </a:srgbClr>
              </a:gs>
              <a:gs pos="100000">
                <a:srgbClr val="55CFD1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lang="ko-KR" altLang="en-US" sz="1200" dirty="0" smtClean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0"/>
          </p:nvPr>
        </p:nvSpPr>
        <p:spPr>
          <a:xfrm>
            <a:off x="408000" y="765138"/>
            <a:ext cx="11375999" cy="1415259"/>
          </a:xfrm>
          <a:prstGeom prst="rect">
            <a:avLst/>
          </a:prstGeom>
        </p:spPr>
        <p:txBody>
          <a:bodyPr wrap="square" lIns="36000" rIns="36000" rtlCol="0" anchor="t" anchorCtr="0">
            <a:spAutoFit/>
          </a:bodyPr>
          <a:lstStyle>
            <a:lvl1pPr>
              <a:defRPr lang="ko-KR" altLang="en-US" sz="1800" smtClean="0"/>
            </a:lvl1pPr>
            <a:lvl2pPr>
              <a:defRPr lang="ko-KR" altLang="en-US" sz="1600" smtClean="0"/>
            </a:lvl2pPr>
            <a:lvl3pPr>
              <a:defRPr lang="ko-KR" altLang="en-US" sz="1400" smtClean="0"/>
            </a:lvl3pPr>
            <a:lvl4pPr>
              <a:defRPr lang="ko-KR" altLang="en-US" sz="1200" smtClean="0"/>
            </a:lvl4pPr>
            <a:lvl5pPr>
              <a:defRPr lang="ko-KR" altLang="en-US" sz="1100"/>
            </a:lvl5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19" name="제목 1"/>
          <p:cNvSpPr>
            <a:spLocks noGrp="1"/>
          </p:cNvSpPr>
          <p:nvPr>
            <p:ph type="title"/>
          </p:nvPr>
        </p:nvSpPr>
        <p:spPr>
          <a:xfrm>
            <a:off x="408000" y="156779"/>
            <a:ext cx="3589311" cy="424661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>
            <a:lvl1pPr>
              <a:defRPr kumimoji="1" lang="ko-KR" altLang="en-US" sz="2400" b="1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912813" fontAlgn="base">
              <a:spcBef>
                <a:spcPts val="600"/>
              </a:spcBef>
              <a:spcAft>
                <a:spcPct val="0"/>
              </a:spcAft>
            </a:pPr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478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6605899"/>
            <a:ext cx="12192000" cy="252101"/>
          </a:xfrm>
          <a:prstGeom prst="rect">
            <a:avLst/>
          </a:prstGeom>
          <a:solidFill>
            <a:srgbClr val="55CFD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fld id="{CFA9321B-8E93-4938-ACA9-6254A66BA3E1}" type="slidenum">
              <a:rPr lang="ko-KR" altLang="en-US" sz="1200" smtClean="0">
                <a:solidFill>
                  <a:schemeClr val="bg1"/>
                </a:solidFill>
              </a:rPr>
              <a:pPr algn="r"/>
              <a:t>‹#›</a:t>
            </a:fld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79229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image" Target="../media/image36.png"/><Relationship Id="rId16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6.emf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950033" y="2678928"/>
            <a:ext cx="291933" cy="584705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32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88932" y="3106218"/>
            <a:ext cx="7414140" cy="1015592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60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Enterprise Architect</a:t>
            </a:r>
            <a:endParaRPr kumimoji="1" lang="en-US" altLang="ko-KR" sz="60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72902" y="4410636"/>
            <a:ext cx="646199" cy="276928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algn="ctr"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ko-KR" altLang="en-US" sz="1200" b="1" dirty="0" err="1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cs typeface="Arial" panose="020B0604020202020204" pitchFamily="34" charset="0"/>
              </a:rPr>
              <a:t>이혜준</a:t>
            </a:r>
            <a:endParaRPr kumimoji="1" lang="en-US" altLang="ko-KR" sz="1200" b="1" dirty="0" smtClean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0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다이아몬드 14"/>
          <p:cNvSpPr/>
          <p:nvPr/>
        </p:nvSpPr>
        <p:spPr>
          <a:xfrm>
            <a:off x="833931" y="1283459"/>
            <a:ext cx="564022" cy="564022"/>
          </a:xfrm>
          <a:prstGeom prst="diamond">
            <a:avLst/>
          </a:prstGeom>
          <a:solidFill>
            <a:srgbClr val="55C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56000" y="1324332"/>
            <a:ext cx="1284642" cy="523149"/>
          </a:xfrm>
          <a:prstGeom prst="rect">
            <a:avLst/>
          </a:prstGeom>
          <a:noFill/>
        </p:spPr>
        <p:txBody>
          <a:bodyPr wrap="none" lIns="91374" tIns="45685" rIns="91374" bIns="45685">
            <a:spAutoFit/>
          </a:bodyPr>
          <a:lstStyle/>
          <a:p>
            <a:pPr defTabSz="912813" fontAlgn="base">
              <a:spcBef>
                <a:spcPts val="600"/>
              </a:spcBef>
              <a:spcAft>
                <a:spcPct val="0"/>
              </a:spcAft>
              <a:defRPr/>
            </a:pPr>
            <a:r>
              <a:rPr kumimoji="1" lang="en-US" altLang="ko-KR" sz="2800" b="1" dirty="0" smtClean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4B465E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INDEX</a:t>
            </a:r>
            <a:endParaRPr kumimoji="1" lang="en-US" altLang="ko-KR" sz="2800" b="1" dirty="0">
              <a:ln>
                <a:solidFill>
                  <a:schemeClr val="bg1">
                    <a:lumMod val="85000"/>
                    <a:alpha val="0"/>
                  </a:schemeClr>
                </a:solidFill>
              </a:ln>
              <a:solidFill>
                <a:srgbClr val="4B465E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1704000" y="2217079"/>
            <a:ext cx="4392000" cy="3083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Model</a:t>
            </a:r>
            <a:endParaRPr lang="ko-KR" altLang="en-US" b="1"/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View</a:t>
            </a:r>
            <a:endParaRPr lang="ko-KR" altLang="en-US" b="1"/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Diagram</a:t>
            </a:r>
            <a:endParaRPr lang="ko-KR" altLang="en-US" b="1"/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Toolbox</a:t>
            </a:r>
            <a:endParaRPr lang="ko-KR" altLang="en-US" b="1"/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Class </a:t>
            </a:r>
            <a:r>
              <a:rPr lang="ko-KR" altLang="en-US" b="1"/>
              <a:t>element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Properties</a:t>
            </a:r>
            <a:endParaRPr lang="ko-KR" altLang="en-US" b="1"/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Relationship </a:t>
            </a:r>
            <a:r>
              <a:rPr lang="ko-KR" altLang="en-US" b="1"/>
              <a:t>direction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Line </a:t>
            </a:r>
            <a:r>
              <a:rPr lang="ko-KR" altLang="en-US" b="1"/>
              <a:t>style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 </a:t>
            </a:r>
            <a:r>
              <a:rPr lang="ko-KR" altLang="en-US" b="1"/>
              <a:t>Layout </a:t>
            </a:r>
            <a:r>
              <a:rPr lang="ko-KR" altLang="en-US" b="1" smtClean="0"/>
              <a:t>Alignment</a:t>
            </a:r>
            <a:endParaRPr lang="ko-KR" altLang="en-US" b="1"/>
          </a:p>
        </p:txBody>
      </p:sp>
      <p:sp>
        <p:nvSpPr>
          <p:cNvPr id="3" name="직사각형 2"/>
          <p:cNvSpPr/>
          <p:nvPr/>
        </p:nvSpPr>
        <p:spPr>
          <a:xfrm>
            <a:off x="5880000" y="2211981"/>
            <a:ext cx="6096000" cy="275152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Element </a:t>
            </a:r>
            <a:r>
              <a:rPr lang="ko-KR" altLang="en-US" b="1"/>
              <a:t>control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Activity </a:t>
            </a:r>
            <a:r>
              <a:rPr lang="ko-KR" altLang="en-US" b="1"/>
              <a:t>Diagram :: Object node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Generate </a:t>
            </a:r>
            <a:r>
              <a:rPr lang="ko-KR" altLang="en-US" b="1"/>
              <a:t>class diagram from code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Tagged </a:t>
            </a:r>
            <a:r>
              <a:rPr lang="ko-KR" altLang="en-US" b="1"/>
              <a:t>Values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Diagram </a:t>
            </a:r>
            <a:r>
              <a:rPr lang="ko-KR" altLang="en-US" b="1"/>
              <a:t>Theme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Diagram </a:t>
            </a:r>
            <a:r>
              <a:rPr lang="ko-KR" altLang="en-US" b="1"/>
              <a:t>Frames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Clipboard </a:t>
            </a:r>
            <a:r>
              <a:rPr lang="ko-KR" altLang="en-US" b="1"/>
              <a:t>Format </a:t>
            </a:r>
          </a:p>
          <a:p>
            <a:pPr marL="342900" indent="-342900">
              <a:lnSpc>
                <a:spcPct val="120000"/>
              </a:lnSpc>
              <a:buClr>
                <a:srgbClr val="55CFD1"/>
              </a:buClr>
              <a:buFont typeface="Wingdings" panose="05000000000000000000" pitchFamily="2" charset="2"/>
              <a:buChar char="l"/>
            </a:pPr>
            <a:r>
              <a:rPr lang="ko-KR" altLang="en-US" b="1" smtClean="0"/>
              <a:t>라이센스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794805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모델은 실제 구현에 앞서</a:t>
            </a:r>
            <a:r>
              <a:rPr lang="en-US" altLang="ko-KR" dirty="0" smtClean="0"/>
              <a:t>, </a:t>
            </a:r>
            <a:r>
              <a:rPr lang="ko-KR" altLang="en-US" dirty="0" smtClean="0"/>
              <a:t> </a:t>
            </a:r>
            <a:r>
              <a:rPr lang="ko-KR" altLang="en-US" dirty="0"/>
              <a:t>이렇게 만들면 잘 작동할지 미리 검증해 보는 </a:t>
            </a:r>
            <a:r>
              <a:rPr lang="ko-KR" altLang="en-US" dirty="0" smtClean="0"/>
              <a:t>것입니다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실제 물건을 만드는 것 보다 비용이 훨씬 적게 들 경우 모델을 만들어 설계를 검사합니다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EA</a:t>
            </a:r>
            <a:r>
              <a:rPr lang="ko-KR" altLang="en-US" dirty="0" smtClean="0"/>
              <a:t>에서 새로운 </a:t>
            </a:r>
            <a:r>
              <a:rPr lang="ko-KR" altLang="en-US" dirty="0"/>
              <a:t>프로젝트를 생성하면</a:t>
            </a:r>
            <a:r>
              <a:rPr lang="en-US" altLang="ko-KR" dirty="0"/>
              <a:t>, Project browser</a:t>
            </a:r>
            <a:r>
              <a:rPr lang="ko-KR" altLang="en-US" dirty="0"/>
              <a:t>에 </a:t>
            </a:r>
            <a:r>
              <a:rPr lang="en-US" altLang="ko-KR" dirty="0"/>
              <a:t>Model</a:t>
            </a:r>
            <a:r>
              <a:rPr lang="ko-KR" altLang="en-US" dirty="0"/>
              <a:t>폴더만 생성이 </a:t>
            </a:r>
            <a:r>
              <a:rPr lang="ko-KR" altLang="en-US" dirty="0" smtClean="0"/>
              <a:t>됩니다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119084" cy="424661"/>
          </a:xfrm>
        </p:spPr>
        <p:txBody>
          <a:bodyPr/>
          <a:lstStyle/>
          <a:p>
            <a:r>
              <a:rPr lang="en-US" altLang="ko-KR" dirty="0" smtClean="0"/>
              <a:t>Model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989000"/>
            <a:ext cx="11639550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74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Model</a:t>
            </a:r>
            <a:r>
              <a:rPr lang="ko-KR" altLang="en-US" dirty="0" smtClean="0"/>
              <a:t>에 모든 것을 한번에 표현하면</a:t>
            </a:r>
            <a:r>
              <a:rPr lang="en-US" altLang="ko-KR" dirty="0" smtClean="0"/>
              <a:t>,</a:t>
            </a:r>
            <a:r>
              <a:rPr lang="ko-KR" altLang="en-US" dirty="0" smtClean="0"/>
              <a:t> 너무 복잡해 작성하는 것도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이해하는 것도 어렵게 됩니다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관심의 대상</a:t>
            </a:r>
            <a:r>
              <a:rPr lang="en-US" altLang="ko-KR" dirty="0" smtClean="0"/>
              <a:t>(view point)</a:t>
            </a:r>
            <a:r>
              <a:rPr lang="ko-KR" altLang="en-US" dirty="0" smtClean="0"/>
              <a:t>에 따라 일부 요소만 표현한 것을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라고 하며 </a:t>
            </a:r>
            <a:r>
              <a:rPr lang="en-US" altLang="ko-KR" dirty="0" smtClean="0"/>
              <a:t>model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의 집합이 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EA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Diagram</a:t>
            </a:r>
            <a:r>
              <a:rPr lang="ko-KR" altLang="en-US" dirty="0" smtClean="0"/>
              <a:t>을 추가 하기 위해서는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가 생성 되어 있어야 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891457" cy="424661"/>
          </a:xfrm>
        </p:spPr>
        <p:txBody>
          <a:bodyPr/>
          <a:lstStyle/>
          <a:p>
            <a:r>
              <a:rPr lang="en-US" altLang="ko-KR" dirty="0" smtClean="0"/>
              <a:t>View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48" y="2111276"/>
            <a:ext cx="5286375" cy="4162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2648" y="2925000"/>
            <a:ext cx="4352925" cy="2790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/>
          <a:srcRect r="38800"/>
          <a:stretch/>
        </p:blipFill>
        <p:spPr>
          <a:xfrm>
            <a:off x="9122649" y="2925000"/>
            <a:ext cx="2664000" cy="27908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9469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EA</a:t>
            </a:r>
            <a:r>
              <a:rPr lang="ko-KR" altLang="en-US" dirty="0"/>
              <a:t>의 </a:t>
            </a:r>
            <a:r>
              <a:rPr lang="en-US" altLang="ko-KR" dirty="0"/>
              <a:t>View</a:t>
            </a:r>
            <a:r>
              <a:rPr lang="ko-KR" altLang="en-US" dirty="0"/>
              <a:t>에는 </a:t>
            </a:r>
            <a:r>
              <a:rPr lang="en-US" altLang="ko-KR" dirty="0"/>
              <a:t>Package, Diagram, Element</a:t>
            </a:r>
            <a:r>
              <a:rPr lang="ko-KR" altLang="en-US" dirty="0"/>
              <a:t>가 추가 될 수 있습니다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dirty="0" smtClean="0"/>
              <a:t>Diagram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그리기 위한 </a:t>
            </a:r>
            <a:r>
              <a:rPr lang="en-US" altLang="ko-KR" dirty="0" smtClean="0"/>
              <a:t>element 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Toolbox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Drag &amp; Drop</a:t>
            </a:r>
            <a:r>
              <a:rPr lang="ko-KR" altLang="en-US" dirty="0" smtClean="0"/>
              <a:t>으로도 추가 할 수 </a:t>
            </a:r>
            <a:r>
              <a:rPr lang="ko-KR" altLang="en-US" smtClean="0"/>
              <a:t>있습니다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Toolbox : Ctrl + Shift + 3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430066" cy="424661"/>
          </a:xfrm>
        </p:spPr>
        <p:txBody>
          <a:bodyPr/>
          <a:lstStyle/>
          <a:p>
            <a:r>
              <a:rPr lang="en-US" altLang="ko-KR" dirty="0" smtClean="0"/>
              <a:t>Diagram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135"/>
          <a:stretch/>
        </p:blipFill>
        <p:spPr>
          <a:xfrm>
            <a:off x="20173" y="1866900"/>
            <a:ext cx="3299850" cy="3724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000" y="1866900"/>
            <a:ext cx="7258050" cy="4991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000" y="1866900"/>
            <a:ext cx="7258050" cy="4991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9248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Toolbox</a:t>
            </a:r>
            <a:r>
              <a:rPr lang="ko-KR" altLang="en-US" dirty="0" smtClean="0"/>
              <a:t>는 선택한 </a:t>
            </a:r>
            <a:r>
              <a:rPr lang="en-US" altLang="ko-KR" dirty="0" smtClean="0"/>
              <a:t>Diagram</a:t>
            </a:r>
            <a:r>
              <a:rPr lang="ko-KR" altLang="en-US" dirty="0" smtClean="0"/>
              <a:t>의 종류에 따라 우선적으로 사용되는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들을 표시 합니다</a:t>
            </a:r>
            <a:r>
              <a:rPr lang="en-US" altLang="ko-KR" dirty="0" smtClean="0"/>
              <a:t>. </a:t>
            </a:r>
          </a:p>
          <a:p>
            <a:pPr>
              <a:lnSpc>
                <a:spcPct val="100000"/>
              </a:lnSpc>
            </a:pPr>
            <a:r>
              <a:rPr lang="ko-KR" altLang="en-US" dirty="0" smtClean="0"/>
              <a:t>주로 사용하는 툴은 상위의 해당 </a:t>
            </a:r>
            <a:r>
              <a:rPr lang="en-US" altLang="ko-KR" dirty="0" smtClean="0"/>
              <a:t>Diagram</a:t>
            </a:r>
            <a:r>
              <a:rPr lang="ko-KR" altLang="en-US" dirty="0" smtClean="0"/>
              <a:t>용 </a:t>
            </a:r>
            <a:r>
              <a:rPr lang="en-US" altLang="ko-KR" dirty="0" smtClean="0"/>
              <a:t>element </a:t>
            </a:r>
            <a:r>
              <a:rPr lang="ko-KR" altLang="en-US" dirty="0" smtClean="0"/>
              <a:t>섹션과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Common, Common relationships </a:t>
            </a:r>
            <a:r>
              <a:rPr lang="ko-KR" altLang="en-US" dirty="0" smtClean="0"/>
              <a:t>섹션을 사용합니다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342285" cy="424661"/>
          </a:xfrm>
        </p:spPr>
        <p:txBody>
          <a:bodyPr/>
          <a:lstStyle/>
          <a:p>
            <a:r>
              <a:rPr lang="en-US" altLang="ko-KR" dirty="0" smtClean="0"/>
              <a:t>Toolbox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969275"/>
            <a:ext cx="3771900" cy="51244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000" y="1979241"/>
            <a:ext cx="1752600" cy="52387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51378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Package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View</a:t>
            </a:r>
            <a:r>
              <a:rPr lang="ko-KR" altLang="en-US" dirty="0" smtClean="0"/>
              <a:t>내의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들을 폴더로 구분하기 위해 사용합니다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Class diagram</a:t>
            </a:r>
            <a:r>
              <a:rPr lang="ko-KR" altLang="en-US" dirty="0" smtClean="0"/>
              <a:t>일</a:t>
            </a:r>
            <a:r>
              <a:rPr lang="en-US" altLang="ko-KR" dirty="0" smtClean="0"/>
              <a:t> </a:t>
            </a:r>
            <a:r>
              <a:rPr lang="ko-KR" altLang="en-US" dirty="0" smtClean="0"/>
              <a:t>경우 </a:t>
            </a:r>
            <a:r>
              <a:rPr lang="en-US" altLang="ko-KR" dirty="0" smtClean="0"/>
              <a:t>Namespace </a:t>
            </a:r>
            <a:r>
              <a:rPr lang="ko-KR" altLang="en-US" dirty="0" smtClean="0"/>
              <a:t>표시 형식으로 </a:t>
            </a:r>
            <a:r>
              <a:rPr lang="en-US" altLang="ko-KR" dirty="0" smtClean="0"/>
              <a:t>Class element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Package</a:t>
            </a:r>
            <a:r>
              <a:rPr lang="ko-KR" altLang="en-US" dirty="0" smtClean="0"/>
              <a:t>이름이  표시 됩니다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383002" cy="424661"/>
          </a:xfrm>
        </p:spPr>
        <p:txBody>
          <a:bodyPr/>
          <a:lstStyle/>
          <a:p>
            <a:r>
              <a:rPr lang="en-US" altLang="ko-KR" dirty="0" smtClean="0"/>
              <a:t>Package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0" y="2277761"/>
            <a:ext cx="3438525" cy="29622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60" y="2277761"/>
            <a:ext cx="3438525" cy="3762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000" y="2277000"/>
            <a:ext cx="5610225" cy="37623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57991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Diagram </a:t>
            </a:r>
            <a:r>
              <a:rPr lang="ko-KR" altLang="en-US" dirty="0" smtClean="0"/>
              <a:t>배경에서</a:t>
            </a:r>
            <a:r>
              <a:rPr lang="en-US" altLang="ko-KR" dirty="0" smtClean="0"/>
              <a:t>, Mouse right click -&gt;</a:t>
            </a:r>
            <a:r>
              <a:rPr lang="ko-KR" altLang="en-US" dirty="0" smtClean="0"/>
              <a:t> </a:t>
            </a:r>
            <a:r>
              <a:rPr lang="en-US" altLang="ko-KR" dirty="0" smtClean="0"/>
              <a:t>Properties… -&gt; Diagram</a:t>
            </a:r>
            <a:br>
              <a:rPr lang="en-US" altLang="ko-KR" dirty="0" smtClean="0"/>
            </a:br>
            <a:r>
              <a:rPr lang="en-US" altLang="ko-KR" dirty="0" smtClean="0"/>
              <a:t>Show Namespace</a:t>
            </a:r>
            <a:r>
              <a:rPr lang="ko-KR" altLang="en-US" dirty="0" smtClean="0"/>
              <a:t>옵션을 해제 하여 </a:t>
            </a:r>
            <a:r>
              <a:rPr lang="en-US" altLang="ko-KR" dirty="0" smtClean="0"/>
              <a:t>Namespace</a:t>
            </a:r>
            <a:r>
              <a:rPr lang="ko-KR" altLang="en-US" dirty="0" smtClean="0"/>
              <a:t>를 표시 하지 않을 수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585446" cy="424661"/>
          </a:xfrm>
        </p:spPr>
        <p:txBody>
          <a:bodyPr/>
          <a:lstStyle/>
          <a:p>
            <a:r>
              <a:rPr lang="en-US" altLang="ko-KR" dirty="0" smtClean="0"/>
              <a:t>Namespace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0" y="1740698"/>
            <a:ext cx="5610225" cy="37623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000" y="1557000"/>
            <a:ext cx="8801100" cy="5172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8000" y="1845000"/>
            <a:ext cx="5524500" cy="372427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00577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5831862"/>
          </a:xfrm>
        </p:spPr>
        <p:txBody>
          <a:bodyPr/>
          <a:lstStyle/>
          <a:p>
            <a:r>
              <a:rPr lang="en-US" altLang="ko-KR" dirty="0" smtClean="0"/>
              <a:t>Element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sub diagram</a:t>
            </a:r>
            <a:r>
              <a:rPr lang="ko-KR" altLang="en-US" dirty="0" smtClean="0"/>
              <a:t>을 설정하면 오른쪽 하단에 </a:t>
            </a:r>
            <a:r>
              <a:rPr lang="en-US" altLang="ko-KR" dirty="0" smtClean="0"/>
              <a:t>sub diagram</a:t>
            </a:r>
            <a:r>
              <a:rPr lang="ko-KR" altLang="en-US" dirty="0"/>
              <a:t> </a:t>
            </a:r>
            <a:r>
              <a:rPr lang="ko-KR" altLang="en-US" dirty="0" smtClean="0"/>
              <a:t>아이콘이 표시 됩니다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Element </a:t>
            </a:r>
            <a:r>
              <a:rPr lang="ko-KR" altLang="en-US" dirty="0" smtClean="0"/>
              <a:t>선택 후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눈</a:t>
            </a:r>
            <a:r>
              <a:rPr lang="en-US" altLang="ko-KR" dirty="0" smtClean="0"/>
              <a:t>’ </a:t>
            </a:r>
            <a:r>
              <a:rPr lang="ko-KR" altLang="en-US" dirty="0" smtClean="0"/>
              <a:t>아이콘을 클릭하면 새 창으로 </a:t>
            </a:r>
            <a:r>
              <a:rPr lang="en-US" altLang="ko-KR" dirty="0" smtClean="0"/>
              <a:t>sub diagram</a:t>
            </a:r>
            <a:r>
              <a:rPr lang="ko-KR" altLang="en-US" dirty="0" smtClean="0"/>
              <a:t>을</a:t>
            </a:r>
            <a:r>
              <a:rPr lang="en-US" altLang="ko-KR" dirty="0"/>
              <a:t> </a:t>
            </a:r>
            <a:r>
              <a:rPr lang="ko-KR" altLang="en-US" dirty="0" smtClean="0"/>
              <a:t>볼 수 있습니다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Element </a:t>
            </a:r>
            <a:r>
              <a:rPr lang="ko-KR" altLang="en-US" dirty="0" smtClean="0"/>
              <a:t>더블 클릭 시 현재 창에 표시 되며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이전 </a:t>
            </a:r>
            <a:r>
              <a:rPr lang="en-US" altLang="ko-KR" smtClean="0"/>
              <a:t>diagram</a:t>
            </a:r>
            <a:r>
              <a:rPr lang="ko-KR" altLang="en-US" dirty="0" smtClean="0"/>
              <a:t>으로 돌아가고자 할 때는 </a:t>
            </a:r>
            <a:r>
              <a:rPr lang="en-US" altLang="ko-KR" dirty="0" smtClean="0"/>
              <a:t>Title </a:t>
            </a:r>
            <a:r>
              <a:rPr lang="ko-KR" altLang="en-US" dirty="0" smtClean="0"/>
              <a:t>에 뒤로 가기 클릭하면 이전 </a:t>
            </a:r>
            <a:r>
              <a:rPr lang="en-US" altLang="ko-KR" dirty="0" smtClean="0"/>
              <a:t>diagram</a:t>
            </a:r>
            <a:r>
              <a:rPr lang="ko-KR" altLang="en-US" dirty="0" smtClean="0"/>
              <a:t>으로 돌아갑니다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108666" cy="424661"/>
          </a:xfrm>
        </p:spPr>
        <p:txBody>
          <a:bodyPr/>
          <a:lstStyle/>
          <a:p>
            <a:r>
              <a:rPr lang="en-US" altLang="ko-KR" dirty="0"/>
              <a:t>Composite Diagram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71" y="909000"/>
            <a:ext cx="1684020" cy="137445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441" y="915544"/>
            <a:ext cx="1758315" cy="142398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00" y="2587250"/>
            <a:ext cx="1590675" cy="11811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6269" y="2781000"/>
            <a:ext cx="2316304" cy="1656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rcRect b="70122"/>
          <a:stretch/>
        </p:blipFill>
        <p:spPr>
          <a:xfrm>
            <a:off x="803700" y="5590462"/>
            <a:ext cx="4552125" cy="8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86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833224" cy="424661"/>
          </a:xfrm>
        </p:spPr>
        <p:txBody>
          <a:bodyPr/>
          <a:lstStyle/>
          <a:p>
            <a:r>
              <a:rPr lang="en-US" altLang="ko-KR" dirty="0" smtClean="0"/>
              <a:t>Composite Diagram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1117" b="5514"/>
          <a:stretch/>
        </p:blipFill>
        <p:spPr>
          <a:xfrm>
            <a:off x="408000" y="693000"/>
            <a:ext cx="6480000" cy="572389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r="43253" b="56686"/>
          <a:stretch/>
        </p:blipFill>
        <p:spPr>
          <a:xfrm>
            <a:off x="7608000" y="2438945"/>
            <a:ext cx="3816000" cy="223200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3535841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smtClean="0"/>
              <a:t>Class element </a:t>
            </a:r>
            <a:r>
              <a:rPr lang="ko-KR" altLang="en-US" smtClean="0"/>
              <a:t>우클릭 </a:t>
            </a:r>
            <a:r>
              <a:rPr lang="en-US" altLang="ko-KR" smtClean="0"/>
              <a:t>-&gt; Feature -&gt; Attributes</a:t>
            </a:r>
          </a:p>
          <a:p>
            <a:r>
              <a:rPr lang="en-US" altLang="ko-KR" smtClean="0"/>
              <a:t>Class element </a:t>
            </a:r>
            <a:r>
              <a:rPr lang="ko-KR" altLang="en-US" smtClean="0"/>
              <a:t>클릭 </a:t>
            </a:r>
            <a:r>
              <a:rPr lang="en-US" altLang="ko-KR" smtClean="0"/>
              <a:t>-&gt; </a:t>
            </a:r>
            <a:r>
              <a:rPr lang="ko-KR" altLang="en-US" smtClean="0"/>
              <a:t>돋보기 아이콘 </a:t>
            </a:r>
            <a:r>
              <a:rPr lang="en-US" altLang="ko-KR" smtClean="0"/>
              <a:t>-&gt; Element Attributes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212332" cy="424661"/>
          </a:xfrm>
        </p:spPr>
        <p:txBody>
          <a:bodyPr/>
          <a:lstStyle/>
          <a:p>
            <a:r>
              <a:rPr lang="en-US" altLang="ko-KR" dirty="0" smtClean="0"/>
              <a:t>Class element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2954"/>
          <a:stretch/>
        </p:blipFill>
        <p:spPr>
          <a:xfrm>
            <a:off x="136801" y="2715207"/>
            <a:ext cx="4686546" cy="2705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1598"/>
          <a:stretch/>
        </p:blipFill>
        <p:spPr>
          <a:xfrm>
            <a:off x="1704000" y="2715207"/>
            <a:ext cx="4752000" cy="2705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4"/>
          <a:srcRect l="1491"/>
          <a:stretch/>
        </p:blipFill>
        <p:spPr>
          <a:xfrm>
            <a:off x="3604044" y="2715207"/>
            <a:ext cx="4757175" cy="27051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6000" y="1197000"/>
            <a:ext cx="4829175" cy="5410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3137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212332" cy="424661"/>
          </a:xfrm>
        </p:spPr>
        <p:txBody>
          <a:bodyPr/>
          <a:lstStyle/>
          <a:p>
            <a:r>
              <a:rPr lang="en-US" altLang="ko-KR" dirty="0"/>
              <a:t>Class element</a:t>
            </a:r>
            <a:endParaRPr lang="ko-KR" altLang="en-US" dirty="0"/>
          </a:p>
        </p:txBody>
      </p:sp>
      <p:sp>
        <p:nvSpPr>
          <p:cNvPr id="7" name="TextBox 6" title="Hot key"/>
          <p:cNvSpPr txBox="1"/>
          <p:nvPr/>
        </p:nvSpPr>
        <p:spPr>
          <a:xfrm>
            <a:off x="9047999" y="1048614"/>
            <a:ext cx="2808001" cy="151638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none" lIns="72000" tIns="72000" rIns="72000" bIns="7200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 smtClean="0">
                <a:latin typeface="Consolas" panose="020B0609020204030204" pitchFamily="49" charset="0"/>
                <a:cs typeface="Arial" panose="020B0604020202020204" pitchFamily="34" charset="0"/>
              </a:rPr>
              <a:t>Add new           : 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ctrl + N</a:t>
            </a:r>
          </a:p>
          <a:p>
            <a:pPr>
              <a:lnSpc>
                <a:spcPct val="120000"/>
              </a:lnSpc>
            </a:pPr>
            <a:r>
              <a:rPr lang="en-US" altLang="ko-KR" sz="1200" dirty="0" smtClean="0">
                <a:latin typeface="Consolas" panose="020B0609020204030204" pitchFamily="49" charset="0"/>
                <a:cs typeface="Arial" panose="020B0604020202020204" pitchFamily="34" charset="0"/>
              </a:rPr>
              <a:t>Copy as new       : 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ctrl + C</a:t>
            </a:r>
          </a:p>
          <a:p>
            <a:pPr>
              <a:lnSpc>
                <a:spcPct val="120000"/>
              </a:lnSpc>
            </a:pPr>
            <a:r>
              <a:rPr lang="en-US" altLang="ko-KR" sz="1200" dirty="0" smtClean="0">
                <a:latin typeface="Consolas" panose="020B0609020204030204" pitchFamily="49" charset="0"/>
                <a:cs typeface="Arial" panose="020B0604020202020204" pitchFamily="34" charset="0"/>
              </a:rPr>
              <a:t>Properties window : 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ctrl + 2</a:t>
            </a:r>
          </a:p>
          <a:p>
            <a:pPr>
              <a:lnSpc>
                <a:spcPct val="120000"/>
              </a:lnSpc>
            </a:pPr>
            <a:r>
              <a:rPr lang="en-US" altLang="ko-KR" sz="1200" dirty="0" smtClean="0">
                <a:latin typeface="Consolas" panose="020B0609020204030204" pitchFamily="49" charset="0"/>
                <a:cs typeface="Arial" panose="020B0604020202020204" pitchFamily="34" charset="0"/>
              </a:rPr>
              <a:t>Move up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           : ctrl + Up</a:t>
            </a:r>
          </a:p>
          <a:p>
            <a:pPr>
              <a:lnSpc>
                <a:spcPct val="120000"/>
              </a:lnSpc>
            </a:pPr>
            <a:r>
              <a:rPr lang="en-US" altLang="ko-KR" sz="1200" dirty="0">
                <a:latin typeface="Consolas" panose="020B0609020204030204" pitchFamily="49" charset="0"/>
                <a:cs typeface="Arial" panose="020B0604020202020204" pitchFamily="34" charset="0"/>
              </a:rPr>
              <a:t>Move </a:t>
            </a:r>
            <a:r>
              <a:rPr lang="en-US" altLang="ko-KR" sz="1200" dirty="0" smtClean="0">
                <a:latin typeface="Consolas" panose="020B0609020204030204" pitchFamily="49" charset="0"/>
                <a:cs typeface="Arial" panose="020B0604020202020204" pitchFamily="34" charset="0"/>
              </a:rPr>
              <a:t>down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         : </a:t>
            </a:r>
            <a:r>
              <a:rPr lang="en-US" altLang="ko-KR" sz="1200" b="1" dirty="0">
                <a:latin typeface="Consolas" panose="020B0609020204030204" pitchFamily="49" charset="0"/>
                <a:cs typeface="Arial" panose="020B0604020202020204" pitchFamily="34" charset="0"/>
              </a:rPr>
              <a:t>ctrl + 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Down</a:t>
            </a:r>
          </a:p>
          <a:p>
            <a:pPr>
              <a:lnSpc>
                <a:spcPct val="120000"/>
              </a:lnSpc>
            </a:pPr>
            <a:r>
              <a:rPr lang="en-US" altLang="ko-KR" sz="1200" dirty="0" smtClean="0">
                <a:latin typeface="Consolas" panose="020B0609020204030204" pitchFamily="49" charset="0"/>
                <a:cs typeface="Arial" panose="020B0604020202020204" pitchFamily="34" charset="0"/>
              </a:rPr>
              <a:t>Delete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            : </a:t>
            </a:r>
            <a:r>
              <a:rPr lang="en-US" altLang="ko-KR" sz="1200" b="1" dirty="0">
                <a:latin typeface="Consolas" panose="020B0609020204030204" pitchFamily="49" charset="0"/>
                <a:cs typeface="Arial" panose="020B0604020202020204" pitchFamily="34" charset="0"/>
              </a:rPr>
              <a:t>ctrl + </a:t>
            </a:r>
            <a:r>
              <a: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rPr>
              <a:t>Del</a:t>
            </a:r>
            <a:endParaRPr lang="ko-KR" altLang="en-US" sz="1200" b="1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endParaRPr lang="en-US" altLang="ko-KR" sz="1200" b="1" dirty="0" smtClean="0"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0" y="1125000"/>
            <a:ext cx="8172450" cy="54102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053589" y="3980452"/>
            <a:ext cx="1512000" cy="360000"/>
          </a:xfrm>
          <a:prstGeom prst="rect">
            <a:avLst/>
          </a:prstGeom>
        </p:spPr>
        <p:txBody>
          <a:bodyPr wrap="square" lIns="36000" rIns="36000" rtlCol="0" anchor="b">
            <a:normAutofit/>
          </a:bodyPr>
          <a:lstStyle/>
          <a:p>
            <a:r>
              <a:rPr lang="en-US" altLang="ko-KR" sz="1000" smtClean="0">
                <a:solidFill>
                  <a:schemeClr val="accent6"/>
                </a:solidFill>
              </a:rPr>
              <a:t>{readOnly}</a:t>
            </a:r>
            <a:endParaRPr lang="ko-KR" altLang="en-US" sz="1000" dirty="0" smtClean="0">
              <a:solidFill>
                <a:schemeClr val="accent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53589" y="3800452"/>
            <a:ext cx="1512000" cy="360000"/>
          </a:xfrm>
          <a:prstGeom prst="rect">
            <a:avLst/>
          </a:prstGeom>
        </p:spPr>
        <p:txBody>
          <a:bodyPr wrap="square" lIns="36000" rIns="36000" rtlCol="0" anchor="b">
            <a:normAutofit/>
          </a:bodyPr>
          <a:lstStyle/>
          <a:p>
            <a:r>
              <a:rPr lang="en-US" altLang="ko-KR" sz="1000" smtClean="0">
                <a:solidFill>
                  <a:schemeClr val="accent6"/>
                </a:solidFill>
              </a:rPr>
              <a:t>underline</a:t>
            </a:r>
            <a:endParaRPr lang="ko-KR" altLang="en-US" sz="1000" dirty="0" smtClean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6586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212332" cy="424661"/>
          </a:xfrm>
        </p:spPr>
        <p:txBody>
          <a:bodyPr/>
          <a:lstStyle/>
          <a:p>
            <a:r>
              <a:rPr lang="en-US" altLang="ko-KR" dirty="0" smtClean="0"/>
              <a:t>Class element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909000"/>
            <a:ext cx="8172450" cy="54102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50651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보통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를 더블 클릭하면 </a:t>
            </a:r>
            <a:r>
              <a:rPr lang="en-US" altLang="ko-KR" dirty="0" smtClean="0"/>
              <a:t>Properties Dialog</a:t>
            </a:r>
            <a:r>
              <a:rPr lang="ko-KR" altLang="en-US" dirty="0" smtClean="0"/>
              <a:t>를 표시 합니다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Properties window</a:t>
            </a:r>
            <a:r>
              <a:rPr lang="ko-KR" altLang="en-US" dirty="0" smtClean="0"/>
              <a:t>가 열려 있다면</a:t>
            </a:r>
            <a:r>
              <a:rPr lang="en-US" altLang="ko-KR" dirty="0" smtClean="0"/>
              <a:t>, Element</a:t>
            </a:r>
            <a:r>
              <a:rPr lang="ko-KR" altLang="en-US" dirty="0" smtClean="0"/>
              <a:t>선택 시 주요 </a:t>
            </a:r>
            <a:r>
              <a:rPr lang="en-US" altLang="ko-KR" dirty="0" smtClean="0"/>
              <a:t>properties</a:t>
            </a:r>
            <a:r>
              <a:rPr lang="ko-KR" altLang="en-US" dirty="0" smtClean="0"/>
              <a:t>를 바로 표시 합니다</a:t>
            </a:r>
            <a:r>
              <a:rPr lang="en-US" altLang="ko-KR" dirty="0" smtClean="0"/>
              <a:t>. (</a:t>
            </a:r>
            <a:r>
              <a:rPr lang="en-US" altLang="ko-KR" dirty="0"/>
              <a:t>Ctrl + </a:t>
            </a:r>
            <a:r>
              <a:rPr lang="en-US" altLang="ko-KR" dirty="0" smtClean="0"/>
              <a:t>2)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694561" cy="424661"/>
          </a:xfrm>
        </p:spPr>
        <p:txBody>
          <a:bodyPr/>
          <a:lstStyle/>
          <a:p>
            <a:r>
              <a:rPr lang="en-US" altLang="ko-KR" dirty="0" smtClean="0"/>
              <a:t>Properties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00" y="1701000"/>
            <a:ext cx="7682703" cy="45727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000" y="1845000"/>
            <a:ext cx="5086350" cy="41624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89086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EA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Associate relationships </a:t>
            </a:r>
            <a:r>
              <a:rPr lang="ko-KR" altLang="en-US" dirty="0" smtClean="0"/>
              <a:t>은 방향성 없이 실선이</a:t>
            </a:r>
            <a:r>
              <a:rPr lang="en-US" altLang="ko-KR" dirty="0" smtClean="0"/>
              <a:t> </a:t>
            </a:r>
            <a:r>
              <a:rPr lang="ko-KR" altLang="en-US" dirty="0" smtClean="0"/>
              <a:t>그려집니다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b="1" dirty="0" smtClean="0"/>
              <a:t>방향 설정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선 선택 </a:t>
            </a:r>
            <a:r>
              <a:rPr lang="en-US" altLang="ko-KR" dirty="0" smtClean="0"/>
              <a:t>-&gt; </a:t>
            </a:r>
            <a:r>
              <a:rPr lang="en-US" altLang="ko-KR" dirty="0"/>
              <a:t>Mouse right click -&gt;</a:t>
            </a:r>
            <a:r>
              <a:rPr lang="ko-KR" altLang="en-US" dirty="0"/>
              <a:t> </a:t>
            </a:r>
            <a:r>
              <a:rPr lang="en-US" altLang="ko-KR" dirty="0" smtClean="0"/>
              <a:t>Advanced -&gt; Change Direction</a:t>
            </a:r>
          </a:p>
          <a:p>
            <a:r>
              <a:rPr lang="ko-KR" altLang="en-US" dirty="0" smtClean="0"/>
              <a:t>선을 그릴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먼저 선택한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source</a:t>
            </a:r>
            <a:r>
              <a:rPr lang="ko-KR" altLang="en-US" dirty="0" smtClean="0"/>
              <a:t>가 되고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drag</a:t>
            </a:r>
            <a:r>
              <a:rPr lang="ko-KR" altLang="en-US" dirty="0" smtClean="0"/>
              <a:t>하여 다음으로 선택한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destination</a:t>
            </a:r>
            <a:r>
              <a:rPr lang="ko-KR" altLang="en-US" dirty="0" smtClean="0"/>
              <a:t>이 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398298" cy="424661"/>
          </a:xfrm>
        </p:spPr>
        <p:txBody>
          <a:bodyPr/>
          <a:lstStyle/>
          <a:p>
            <a:r>
              <a:rPr lang="en-US" altLang="ko-KR" dirty="0" smtClean="0"/>
              <a:t>Relationship direction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20" y="2133000"/>
            <a:ext cx="8239125" cy="27146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620" y="5157000"/>
            <a:ext cx="3562350" cy="11239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1163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Line style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auto routing</a:t>
            </a:r>
            <a:r>
              <a:rPr lang="ko-KR" altLang="en-US" dirty="0" smtClean="0"/>
              <a:t>으로 설정하면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주위의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를 고려하여 선 모양을 바꾸어 줍니다만</a:t>
            </a:r>
            <a:r>
              <a:rPr lang="en-US" altLang="ko-KR" dirty="0" smtClean="0"/>
              <a:t>…..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574337" cy="424661"/>
          </a:xfrm>
        </p:spPr>
        <p:txBody>
          <a:bodyPr/>
          <a:lstStyle/>
          <a:p>
            <a:r>
              <a:rPr lang="en-US" altLang="ko-KR" dirty="0" smtClean="0"/>
              <a:t>Line style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r="13376" b="24710"/>
          <a:stretch/>
        </p:blipFill>
        <p:spPr>
          <a:xfrm>
            <a:off x="1560000" y="1917000"/>
            <a:ext cx="6840000" cy="3600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000" y="2205000"/>
            <a:ext cx="3324225" cy="2324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96404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Custom Line </a:t>
            </a:r>
            <a:r>
              <a:rPr lang="ko-KR" altLang="en-US" dirty="0"/>
              <a:t>상태에서는 </a:t>
            </a:r>
            <a:r>
              <a:rPr lang="en-US" altLang="ko-KR" dirty="0"/>
              <a:t>ctrl </a:t>
            </a:r>
            <a:r>
              <a:rPr lang="ko-KR" altLang="en-US" dirty="0"/>
              <a:t>키를 이용하여 선을 원하는 대로 꺾</a:t>
            </a:r>
            <a:r>
              <a:rPr lang="ko-KR" altLang="en-US" dirty="0" smtClean="0"/>
              <a:t>을 </a:t>
            </a:r>
            <a:r>
              <a:rPr lang="ko-KR" altLang="en-US" dirty="0"/>
              <a:t>수 있습니다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pPr lvl="1"/>
            <a:r>
              <a:rPr lang="ko-KR" altLang="en-US" b="1" dirty="0" smtClean="0"/>
              <a:t>선 꺾기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꺾고자 하는 위치에서 </a:t>
            </a:r>
            <a:r>
              <a:rPr lang="en-US" altLang="ko-KR" dirty="0" smtClean="0"/>
              <a:t>ctrl</a:t>
            </a:r>
            <a:r>
              <a:rPr lang="ko-KR" altLang="en-US" dirty="0" smtClean="0"/>
              <a:t>을 누른 상태에서 </a:t>
            </a:r>
            <a:r>
              <a:rPr lang="en-US" altLang="ko-KR" dirty="0" smtClean="0"/>
              <a:t>Drag</a:t>
            </a:r>
            <a:r>
              <a:rPr lang="ko-KR" altLang="en-US" dirty="0" smtClean="0"/>
              <a:t>하여 꺾은 선을 만들 수 있습니다</a:t>
            </a:r>
            <a:r>
              <a:rPr lang="en-US" altLang="ko-KR" dirty="0" smtClean="0"/>
              <a:t>.</a:t>
            </a:r>
          </a:p>
          <a:p>
            <a:pPr lvl="1"/>
            <a:r>
              <a:rPr lang="ko-KR" altLang="en-US" b="1" dirty="0" smtClean="0"/>
              <a:t>선 펴기</a:t>
            </a:r>
            <a:r>
              <a:rPr lang="ko-KR" altLang="en-US" dirty="0" smtClean="0"/>
              <a:t> </a:t>
            </a:r>
            <a:r>
              <a:rPr lang="en-US" altLang="ko-KR" dirty="0" smtClean="0"/>
              <a:t>: Line</a:t>
            </a:r>
            <a:r>
              <a:rPr lang="ko-KR" altLang="en-US" dirty="0" smtClean="0"/>
              <a:t>을 선택하면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꺾인 부분에 작은 사각형이 표시가 되며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en-US" altLang="ko-KR" dirty="0" smtClean="0"/>
              <a:t>ctrl</a:t>
            </a:r>
            <a:r>
              <a:rPr lang="ko-KR" altLang="en-US" dirty="0" smtClean="0"/>
              <a:t>을 누르고 작은 사각형을</a:t>
            </a:r>
            <a:r>
              <a:rPr lang="en-US" altLang="ko-KR" dirty="0"/>
              <a:t> </a:t>
            </a:r>
            <a:r>
              <a:rPr lang="en-US" altLang="ko-KR" dirty="0" smtClean="0"/>
              <a:t>click</a:t>
            </a:r>
            <a:r>
              <a:rPr lang="ko-KR" altLang="en-US" dirty="0" smtClean="0"/>
              <a:t>하면 꺾인 부분이 펴지면서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ko-KR" altLang="en-US" dirty="0" smtClean="0"/>
              <a:t>꺾인 부분을 표시하는 </a:t>
            </a:r>
            <a:r>
              <a:rPr lang="en-US" altLang="ko-KR" dirty="0" smtClean="0"/>
              <a:t>(</a:t>
            </a:r>
            <a:r>
              <a:rPr lang="ko-KR" altLang="en-US" dirty="0" smtClean="0"/>
              <a:t>선택한</a:t>
            </a:r>
            <a:r>
              <a:rPr lang="en-US" altLang="ko-KR" dirty="0" smtClean="0"/>
              <a:t>)</a:t>
            </a:r>
            <a:r>
              <a:rPr lang="ko-KR" altLang="en-US" dirty="0" smtClean="0"/>
              <a:t> 작은 사각형이 사라집니다</a:t>
            </a:r>
            <a:r>
              <a:rPr lang="en-US" altLang="ko-KR" dirty="0" smtClean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574337" cy="424661"/>
          </a:xfrm>
        </p:spPr>
        <p:txBody>
          <a:bodyPr/>
          <a:lstStyle/>
          <a:p>
            <a:r>
              <a:rPr lang="en-US" altLang="ko-KR" dirty="0" smtClean="0"/>
              <a:t>Line style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888" y="2781000"/>
            <a:ext cx="3324225" cy="23241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5699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5724562"/>
          </a:xfrm>
        </p:spPr>
        <p:txBody>
          <a:bodyPr/>
          <a:lstStyle/>
          <a:p>
            <a:r>
              <a:rPr lang="ko-KR" altLang="en-US" dirty="0" smtClean="0"/>
              <a:t>단축키는 </a:t>
            </a:r>
            <a:r>
              <a:rPr lang="en-US" altLang="ko-KR" dirty="0" smtClean="0"/>
              <a:t>Alt + L</a:t>
            </a:r>
            <a:r>
              <a:rPr lang="ko-KR" altLang="en-US" dirty="0" smtClean="0"/>
              <a:t>을 눌렀다 떼고 난 뒤 잠시 기다리면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추가 단축키를 입력 할 수 있습니다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>
                <a:solidFill>
                  <a:schemeClr val="accent1">
                    <a:lumMod val="7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Alt + L </a:t>
            </a:r>
            <a:r>
              <a:rPr lang="ko-KR" altLang="en-US" dirty="0" smtClean="0">
                <a:solidFill>
                  <a:schemeClr val="accent1">
                    <a:lumMod val="7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외우세요</a:t>
            </a:r>
            <a:r>
              <a:rPr lang="en-US" altLang="ko-KR" dirty="0" smtClean="0">
                <a:solidFill>
                  <a:schemeClr val="accent1">
                    <a:lumMod val="7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~ </a:t>
            </a:r>
            <a:r>
              <a:rPr lang="ko-KR" altLang="en-US" dirty="0" smtClean="0">
                <a:solidFill>
                  <a:schemeClr val="accent1">
                    <a:lumMod val="7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진지합니다</a:t>
            </a:r>
            <a:r>
              <a:rPr lang="en-US" altLang="ko-KR" dirty="0" smtClean="0">
                <a:solidFill>
                  <a:schemeClr val="accent1">
                    <a:lumMod val="75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.</a:t>
            </a:r>
          </a:p>
          <a:p>
            <a:pPr lvl="1"/>
            <a:endParaRPr lang="en-US" altLang="ko-KR" dirty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  <a:p>
            <a:pPr lvl="1"/>
            <a:endParaRPr lang="en-US" altLang="ko-KR" dirty="0" smtClean="0">
              <a:solidFill>
                <a:schemeClr val="accent1">
                  <a:lumMod val="75000"/>
                </a:schemeClr>
              </a:solidFill>
              <a:latin typeface="궁서" panose="02030600000101010101" pitchFamily="18" charset="-127"/>
              <a:ea typeface="궁서" panose="02030600000101010101" pitchFamily="18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802109" cy="424661"/>
          </a:xfrm>
        </p:spPr>
        <p:txBody>
          <a:bodyPr/>
          <a:lstStyle/>
          <a:p>
            <a:r>
              <a:rPr lang="en-US" altLang="ko-KR" dirty="0" smtClean="0"/>
              <a:t>Layout Alignment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840000" y="2203425"/>
            <a:ext cx="7210425" cy="3457575"/>
            <a:chOff x="422996" y="1629000"/>
            <a:chExt cx="7210425" cy="3457575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996" y="1629000"/>
              <a:ext cx="7210425" cy="345757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6" name="직사각형 5"/>
            <p:cNvSpPr/>
            <p:nvPr/>
          </p:nvSpPr>
          <p:spPr>
            <a:xfrm>
              <a:off x="5753734" y="1958948"/>
              <a:ext cx="1764533" cy="864379"/>
            </a:xfrm>
            <a:prstGeom prst="rect">
              <a:avLst/>
            </a:prstGeom>
            <a:noFill/>
            <a:ln w="762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200" dirty="0" smtClean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9840000" y="7029000"/>
            <a:ext cx="1800225" cy="971550"/>
            <a:chOff x="8976000" y="2277000"/>
            <a:chExt cx="1800225" cy="971550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76000" y="2277000"/>
              <a:ext cx="1800225" cy="971550"/>
            </a:xfrm>
            <a:prstGeom prst="rect">
              <a:avLst/>
            </a:prstGeom>
          </p:spPr>
        </p:pic>
        <p:sp>
          <p:nvSpPr>
            <p:cNvPr id="10" name="직사각형 9"/>
            <p:cNvSpPr/>
            <p:nvPr/>
          </p:nvSpPr>
          <p:spPr>
            <a:xfrm>
              <a:off x="8976000" y="2279096"/>
              <a:ext cx="1764533" cy="864379"/>
            </a:xfrm>
            <a:prstGeom prst="rect">
              <a:avLst/>
            </a:prstGeom>
            <a:noFill/>
            <a:ln w="76200">
              <a:solidFill>
                <a:schemeClr val="accent6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lang="ko-KR" altLang="en-US" sz="1200" dirty="0" smtClean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6152891" y="3540798"/>
            <a:ext cx="1800225" cy="1500356"/>
            <a:chOff x="8472000" y="3387097"/>
            <a:chExt cx="1800225" cy="1500356"/>
          </a:xfrm>
        </p:grpSpPr>
        <p:grpSp>
          <p:nvGrpSpPr>
            <p:cNvPr id="14" name="그룹 13"/>
            <p:cNvGrpSpPr/>
            <p:nvPr/>
          </p:nvGrpSpPr>
          <p:grpSpPr>
            <a:xfrm>
              <a:off x="8472000" y="3965380"/>
              <a:ext cx="1800225" cy="922073"/>
              <a:chOff x="9048000" y="4187025"/>
              <a:chExt cx="1800225" cy="922073"/>
            </a:xfrm>
          </p:grpSpPr>
          <p:pic>
            <p:nvPicPr>
              <p:cNvPr id="8" name="그림 7"/>
              <p:cNvPicPr>
                <a:picLocks noChangeAspect="1"/>
              </p:cNvPicPr>
              <p:nvPr/>
            </p:nvPicPr>
            <p:blipFill rotWithShape="1">
              <a:blip r:embed="rId4"/>
              <a:srcRect b="5093"/>
              <a:stretch/>
            </p:blipFill>
            <p:spPr>
              <a:xfrm>
                <a:off x="9048000" y="4187025"/>
                <a:ext cx="1800225" cy="922073"/>
              </a:xfrm>
              <a:prstGeom prst="rect">
                <a:avLst/>
              </a:prstGeom>
              <a:ln>
                <a:solidFill>
                  <a:srgbClr val="00B0F0"/>
                </a:solidFill>
              </a:ln>
            </p:spPr>
          </p:pic>
          <p:sp>
            <p:nvSpPr>
              <p:cNvPr id="11" name="직사각형 10"/>
              <p:cNvSpPr/>
              <p:nvPr/>
            </p:nvSpPr>
            <p:spPr>
              <a:xfrm>
                <a:off x="9065845" y="4187025"/>
                <a:ext cx="1764533" cy="922073"/>
              </a:xfrm>
              <a:prstGeom prst="rect">
                <a:avLst/>
              </a:prstGeom>
              <a:noFill/>
              <a:ln w="7620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lang="ko-KR" altLang="en-US" sz="1200" dirty="0" smtClean="0">
                  <a:solidFill>
                    <a:schemeClr val="tx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5" name="아래쪽 화살표 14"/>
            <p:cNvSpPr/>
            <p:nvPr/>
          </p:nvSpPr>
          <p:spPr>
            <a:xfrm>
              <a:off x="8669960" y="3387097"/>
              <a:ext cx="1440000" cy="476007"/>
            </a:xfrm>
            <a:prstGeom prst="downArrow">
              <a:avLst/>
            </a:prstGeom>
            <a:solidFill>
              <a:schemeClr val="bg1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lang="en-US" altLang="ko-KR" sz="1400" b="1" dirty="0" smtClean="0">
                  <a:solidFill>
                    <a:schemeClr val="tx1">
                      <a:lumMod val="75000"/>
                    </a:schemeClr>
                  </a:solidFill>
                </a:rPr>
                <a:t>Alt+ L</a:t>
              </a:r>
              <a:endParaRPr lang="ko-KR" altLang="en-US" sz="1400" b="1" dirty="0" smtClean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8995485" y="2203425"/>
            <a:ext cx="2319502" cy="3457575"/>
            <a:chOff x="8312499" y="1894017"/>
            <a:chExt cx="2319502" cy="3457575"/>
          </a:xfrm>
        </p:grpSpPr>
        <p:sp>
          <p:nvSpPr>
            <p:cNvPr id="18" name="TextBox 17" title="Hot key"/>
            <p:cNvSpPr txBox="1"/>
            <p:nvPr/>
          </p:nvSpPr>
          <p:spPr>
            <a:xfrm>
              <a:off x="8312499" y="1894017"/>
              <a:ext cx="2319502" cy="3457575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  <p:txBody>
            <a:bodyPr wrap="none" lIns="288000" tIns="72000" rIns="72000" bIns="72000" rtlCol="0" anchor="t" anchorCtr="0">
              <a:norm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SH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같은 높이로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SW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같은 길이로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SA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같은 크기로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AV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수직 가운데 정렬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AH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수평 중간 정렬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ZT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앞으로 가져 오기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ZB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맨 뒤로 보내기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AL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왼쪽 맞춤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AR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오른쪽 맞춤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AT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위쪽 맞춤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AB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아래쪽 맞춤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SX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가로 간격을 동일하게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r>
                <a:rPr lang="en-US" altLang="ko-KR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SY :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세로</a:t>
              </a:r>
              <a:r>
                <a:rPr lang="en-US" altLang="ko-KR" sz="1200" b="1" dirty="0">
                  <a:latin typeface="Consolas" panose="020B0609020204030204" pitchFamily="49" charset="0"/>
                  <a:cs typeface="Arial" panose="020B0604020202020204" pitchFamily="34" charset="0"/>
                </a:rPr>
                <a:t> </a:t>
              </a:r>
              <a:r>
                <a:rPr lang="ko-KR" altLang="en-US" sz="1200" b="1" dirty="0" smtClean="0">
                  <a:latin typeface="Consolas" panose="020B0609020204030204" pitchFamily="49" charset="0"/>
                  <a:cs typeface="Arial" panose="020B0604020202020204" pitchFamily="34" charset="0"/>
                </a:rPr>
                <a:t>간격을 동일하게</a:t>
              </a: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  <a:p>
              <a:pPr>
                <a:lnSpc>
                  <a:spcPct val="130000"/>
                </a:lnSpc>
              </a:pPr>
              <a:endParaRPr lang="en-US" altLang="ko-KR" sz="1200" b="1" dirty="0" smtClean="0">
                <a:latin typeface="Consolas" panose="020B0609020204030204" pitchFamily="49" charset="0"/>
                <a:cs typeface="Arial" panose="020B0604020202020204" pitchFamily="34" charset="0"/>
              </a:endParaRPr>
            </a:p>
          </p:txBody>
        </p:sp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69559" y="1986754"/>
              <a:ext cx="200025" cy="200025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369559" y="2224388"/>
              <a:ext cx="200025" cy="200025"/>
            </a:xfrm>
            <a:prstGeom prst="rect">
              <a:avLst/>
            </a:prstGeom>
          </p:spPr>
        </p:pic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369559" y="2462022"/>
              <a:ext cx="200025" cy="200025"/>
            </a:xfrm>
            <a:prstGeom prst="rect">
              <a:avLst/>
            </a:prstGeom>
          </p:spPr>
        </p:pic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369559" y="2699656"/>
              <a:ext cx="200025" cy="200025"/>
            </a:xfrm>
            <a:prstGeom prst="rect">
              <a:avLst/>
            </a:prstGeom>
          </p:spPr>
        </p:pic>
        <p:pic>
          <p:nvPicPr>
            <p:cNvPr id="23" name="그림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369559" y="2937290"/>
              <a:ext cx="200025" cy="200025"/>
            </a:xfrm>
            <a:prstGeom prst="rect">
              <a:avLst/>
            </a:prstGeom>
          </p:spPr>
        </p:pic>
        <p:pic>
          <p:nvPicPr>
            <p:cNvPr id="24" name="그림 2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69559" y="3174924"/>
              <a:ext cx="200025" cy="200025"/>
            </a:xfrm>
            <a:prstGeom prst="rect">
              <a:avLst/>
            </a:prstGeom>
          </p:spPr>
        </p:pic>
        <p:pic>
          <p:nvPicPr>
            <p:cNvPr id="25" name="그림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369559" y="3412558"/>
              <a:ext cx="200025" cy="200025"/>
            </a:xfrm>
            <a:prstGeom prst="rect">
              <a:avLst/>
            </a:prstGeom>
          </p:spPr>
        </p:pic>
        <p:pic>
          <p:nvPicPr>
            <p:cNvPr id="26" name="그림 2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369559" y="3650192"/>
              <a:ext cx="200025" cy="200025"/>
            </a:xfrm>
            <a:prstGeom prst="rect">
              <a:avLst/>
            </a:prstGeom>
          </p:spPr>
        </p:pic>
        <p:pic>
          <p:nvPicPr>
            <p:cNvPr id="27" name="그림 2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369559" y="3887826"/>
              <a:ext cx="200025" cy="200025"/>
            </a:xfrm>
            <a:prstGeom prst="rect">
              <a:avLst/>
            </a:prstGeom>
          </p:spPr>
        </p:pic>
        <p:pic>
          <p:nvPicPr>
            <p:cNvPr id="28" name="그림 2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369559" y="4125460"/>
              <a:ext cx="200025" cy="200025"/>
            </a:xfrm>
            <a:prstGeom prst="rect">
              <a:avLst/>
            </a:prstGeom>
          </p:spPr>
        </p:pic>
        <p:pic>
          <p:nvPicPr>
            <p:cNvPr id="29" name="그림 2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369559" y="4363094"/>
              <a:ext cx="200025" cy="200025"/>
            </a:xfrm>
            <a:prstGeom prst="rect">
              <a:avLst/>
            </a:prstGeom>
          </p:spPr>
        </p:pic>
        <p:pic>
          <p:nvPicPr>
            <p:cNvPr id="30" name="그림 29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369559" y="4600728"/>
              <a:ext cx="200025" cy="200025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8369559" y="4838362"/>
              <a:ext cx="200025" cy="2000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4251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4247862"/>
          </a:xfrm>
        </p:spPr>
        <p:txBody>
          <a:bodyPr>
            <a:normAutofit/>
          </a:bodyPr>
          <a:lstStyle/>
          <a:p>
            <a:r>
              <a:rPr lang="ko-KR" altLang="en-US" b="1" dirty="0" smtClean="0"/>
              <a:t>방향키</a:t>
            </a:r>
            <a:r>
              <a:rPr lang="ko-KR" altLang="en-US" dirty="0" smtClean="0"/>
              <a:t>로 그려진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들을 이동하며 선택 할 수 있습니다</a:t>
            </a:r>
            <a:r>
              <a:rPr lang="en-US" altLang="ko-KR" dirty="0" smtClean="0"/>
              <a:t>. </a:t>
            </a:r>
          </a:p>
          <a:p>
            <a:r>
              <a:rPr lang="en-US" altLang="ko-KR" b="1" dirty="0" smtClean="0"/>
              <a:t>F2</a:t>
            </a:r>
            <a:r>
              <a:rPr lang="ko-KR" altLang="en-US" dirty="0" smtClean="0"/>
              <a:t>로 선택한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의 이름을 변경 할 수 있습니다</a:t>
            </a:r>
            <a:r>
              <a:rPr lang="en-US" altLang="ko-KR" dirty="0" smtClean="0"/>
              <a:t>.</a:t>
            </a:r>
          </a:p>
          <a:p>
            <a:r>
              <a:rPr lang="en-US" altLang="ko-KR" b="1" dirty="0" smtClean="0"/>
              <a:t>Ctrl </a:t>
            </a:r>
            <a:r>
              <a:rPr lang="en-US" altLang="ko-KR" b="1" dirty="0"/>
              <a:t>+ </a:t>
            </a:r>
            <a:r>
              <a:rPr lang="ko-KR" altLang="en-US" b="1" dirty="0"/>
              <a:t>방향키</a:t>
            </a:r>
            <a:r>
              <a:rPr lang="ko-KR" altLang="en-US" dirty="0"/>
              <a:t>로 선택한 </a:t>
            </a:r>
            <a:r>
              <a:rPr lang="en-US" altLang="ko-KR" dirty="0"/>
              <a:t>element</a:t>
            </a:r>
            <a:r>
              <a:rPr lang="ko-KR" altLang="en-US" dirty="0"/>
              <a:t>의 크기를 변경 할 수 있습니다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Shift + </a:t>
            </a:r>
            <a:r>
              <a:rPr lang="ko-KR" altLang="en-US" b="1" dirty="0"/>
              <a:t>방향키</a:t>
            </a:r>
            <a:r>
              <a:rPr lang="ko-KR" altLang="en-US" dirty="0"/>
              <a:t>로 선택한 </a:t>
            </a:r>
            <a:r>
              <a:rPr lang="en-US" altLang="ko-KR" dirty="0"/>
              <a:t>element</a:t>
            </a:r>
            <a:r>
              <a:rPr lang="ko-KR" altLang="en-US" dirty="0"/>
              <a:t>의 위치를 변경할 수 있습니다</a:t>
            </a:r>
            <a:r>
              <a:rPr lang="en-US" altLang="ko-KR" dirty="0"/>
              <a:t>. </a:t>
            </a:r>
            <a:endParaRPr lang="en-US" altLang="ko-KR" dirty="0" smtClean="0"/>
          </a:p>
          <a:p>
            <a:r>
              <a:rPr lang="en-US" altLang="ko-KR" b="1" dirty="0" smtClean="0"/>
              <a:t>Ctrl + Element Drag &amp; Drop </a:t>
            </a:r>
            <a:r>
              <a:rPr lang="ko-KR" altLang="en-US" dirty="0" smtClean="0"/>
              <a:t>으로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를 복사 할 수 있습니다</a:t>
            </a:r>
            <a:r>
              <a:rPr lang="en-US" altLang="ko-KR" dirty="0" smtClean="0"/>
              <a:t>. </a:t>
            </a:r>
          </a:p>
          <a:p>
            <a:pPr lvl="1"/>
            <a:r>
              <a:rPr lang="en-US" altLang="ko-KR" sz="1800" dirty="0" smtClean="0"/>
              <a:t>Package element</a:t>
            </a:r>
            <a:r>
              <a:rPr lang="ko-KR" altLang="en-US" sz="1800" dirty="0" smtClean="0"/>
              <a:t>는 복사가 되지 않습니다</a:t>
            </a:r>
            <a:r>
              <a:rPr lang="en-US" altLang="ko-KR" dirty="0" smtClean="0"/>
              <a:t>.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108538" cy="424661"/>
          </a:xfrm>
        </p:spPr>
        <p:txBody>
          <a:bodyPr/>
          <a:lstStyle/>
          <a:p>
            <a:r>
              <a:rPr lang="en-US" altLang="ko-KR" dirty="0" smtClean="0"/>
              <a:t>Element control 2-1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6211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935862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Ctrl + Shift + </a:t>
            </a:r>
            <a:r>
              <a:rPr lang="ko-KR" altLang="en-US" b="1" dirty="0" smtClean="0"/>
              <a:t>방향키</a:t>
            </a:r>
            <a:r>
              <a:rPr lang="ko-KR" altLang="en-US" dirty="0" smtClean="0"/>
              <a:t>는 현재 선택된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에서 원하는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방향에 새로운 </a:t>
            </a:r>
            <a:r>
              <a:rPr lang="en-US" altLang="ko-KR" dirty="0" smtClean="0"/>
              <a:t>element</a:t>
            </a:r>
            <a:r>
              <a:rPr lang="ko-KR" altLang="en-US" dirty="0" smtClean="0"/>
              <a:t>를 추가하기 위한 </a:t>
            </a:r>
            <a:r>
              <a:rPr lang="en-US" altLang="ko-KR" dirty="0" smtClean="0"/>
              <a:t>popup </a:t>
            </a:r>
            <a:r>
              <a:rPr lang="ko-KR" altLang="en-US" dirty="0" smtClean="0"/>
              <a:t>메뉴를 생성합니다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108538" cy="424661"/>
          </a:xfrm>
        </p:spPr>
        <p:txBody>
          <a:bodyPr/>
          <a:lstStyle/>
          <a:p>
            <a:r>
              <a:rPr lang="en-US" altLang="ko-KR" dirty="0" smtClean="0"/>
              <a:t>Element control 2-2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9162"/>
          <a:stretch/>
        </p:blipFill>
        <p:spPr>
          <a:xfrm>
            <a:off x="372955" y="1952300"/>
            <a:ext cx="5544000" cy="3672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1663975" y="4976300"/>
            <a:ext cx="4536000" cy="468700"/>
          </a:xfrm>
          <a:prstGeom prst="rect">
            <a:avLst/>
          </a:prstGeom>
        </p:spPr>
        <p:txBody>
          <a:bodyPr wrap="none" lIns="36000" rIns="36000" rtlCol="0" anchor="b">
            <a:normAutofit/>
          </a:bodyPr>
          <a:lstStyle/>
          <a:p>
            <a:r>
              <a:rPr lang="en-US" altLang="ko-KR" sz="1200" b="1" dirty="0" err="1" smtClean="0">
                <a:solidFill>
                  <a:schemeClr val="accent1"/>
                </a:solidFill>
              </a:rPr>
              <a:t>Ctrl+Shift+Down</a:t>
            </a:r>
            <a:r>
              <a:rPr lang="en-US" altLang="ko-KR" sz="1200" b="1" dirty="0" smtClean="0">
                <a:solidFill>
                  <a:schemeClr val="accent1"/>
                </a:solidFill>
              </a:rPr>
              <a:t> 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→</a:t>
            </a:r>
            <a:r>
              <a:rPr lang="en-US" altLang="ko-KR" sz="1200" b="1" dirty="0" smtClean="0">
                <a:solidFill>
                  <a:schemeClr val="accent1"/>
                </a:solidFill>
              </a:rPr>
              <a:t> Tab </a:t>
            </a:r>
            <a:r>
              <a:rPr lang="ko-KR" altLang="en-US" sz="1200" b="1" dirty="0" smtClean="0">
                <a:solidFill>
                  <a:schemeClr val="accent1"/>
                </a:solidFill>
              </a:rPr>
              <a:t>→</a:t>
            </a:r>
            <a:r>
              <a:rPr lang="en-US" altLang="ko-KR" sz="1200" b="1" dirty="0" smtClean="0">
                <a:solidFill>
                  <a:schemeClr val="accent1"/>
                </a:solidFill>
              </a:rPr>
              <a:t>Right</a:t>
            </a:r>
            <a:endParaRPr lang="ko-KR" altLang="en-US" sz="1200" b="1" dirty="0" smtClean="0">
              <a:solidFill>
                <a:schemeClr val="accent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b="9162"/>
          <a:stretch/>
        </p:blipFill>
        <p:spPr>
          <a:xfrm>
            <a:off x="6312000" y="1989000"/>
            <a:ext cx="5543999" cy="3672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74569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Activity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input/output data</a:t>
            </a:r>
            <a:r>
              <a:rPr lang="ko-KR" altLang="en-US" dirty="0" smtClean="0"/>
              <a:t>정보를 표시 하기 위해 </a:t>
            </a:r>
            <a:r>
              <a:rPr lang="en-US" altLang="ko-KR" dirty="0" smtClean="0"/>
              <a:t>Object node element</a:t>
            </a:r>
            <a:r>
              <a:rPr lang="ko-KR" altLang="en-US" dirty="0" smtClean="0"/>
              <a:t>를 제공합니다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/>
              <a:t>EA 15.1 </a:t>
            </a:r>
            <a:r>
              <a:rPr lang="ko-KR" altLang="en-US" dirty="0" smtClean="0"/>
              <a:t>버전에서 </a:t>
            </a:r>
            <a:r>
              <a:rPr lang="ko-KR" altLang="en-US" dirty="0"/>
              <a:t>관계 </a:t>
            </a:r>
            <a:r>
              <a:rPr lang="ko-KR" altLang="en-US" dirty="0" smtClean="0"/>
              <a:t>설정 </a:t>
            </a:r>
            <a:r>
              <a:rPr lang="ko-KR" altLang="en-US" dirty="0"/>
              <a:t>제약이 강화 </a:t>
            </a:r>
            <a:r>
              <a:rPr lang="ko-KR" altLang="en-US" dirty="0" smtClean="0"/>
              <a:t>되어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Object node</a:t>
            </a:r>
            <a:r>
              <a:rPr lang="ko-KR" altLang="en-US" dirty="0" smtClean="0"/>
              <a:t>는 동일 데이터 타입 설정 후에 연결이 가능합니다</a:t>
            </a:r>
            <a:r>
              <a:rPr lang="en-US" altLang="ko-KR" dirty="0" smtClean="0"/>
              <a:t>. </a:t>
            </a:r>
          </a:p>
          <a:p>
            <a:pPr lvl="1"/>
            <a:r>
              <a:rPr lang="en-US" altLang="ko-KR" b="1" dirty="0" smtClean="0"/>
              <a:t>Object node </a:t>
            </a:r>
            <a:r>
              <a:rPr lang="ko-KR" altLang="en-US" b="1" dirty="0" smtClean="0"/>
              <a:t>추가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: Activity </a:t>
            </a:r>
            <a:r>
              <a:rPr lang="ko-KR" altLang="en-US" dirty="0" smtClean="0"/>
              <a:t>우 클릭 </a:t>
            </a:r>
            <a:r>
              <a:rPr lang="en-US" altLang="ko-KR" dirty="0" smtClean="0"/>
              <a:t>-&gt; New child element -&gt; </a:t>
            </a:r>
            <a:r>
              <a:rPr lang="en-US" altLang="ko-KR" dirty="0" err="1" smtClean="0"/>
              <a:t>ObjectNode</a:t>
            </a:r>
            <a:endParaRPr lang="en-US" altLang="ko-KR" dirty="0" smtClean="0"/>
          </a:p>
          <a:p>
            <a:pPr lvl="1"/>
            <a:r>
              <a:rPr lang="ko-KR" altLang="en-US" b="1" dirty="0" smtClean="0"/>
              <a:t>데이터 타입 설정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ObjectNode</a:t>
            </a:r>
            <a:r>
              <a:rPr lang="ko-KR" altLang="en-US" dirty="0" smtClean="0"/>
              <a:t>선택 </a:t>
            </a:r>
            <a:r>
              <a:rPr lang="en-US" altLang="ko-KR" dirty="0" smtClean="0"/>
              <a:t>-&gt; </a:t>
            </a:r>
            <a:r>
              <a:rPr lang="en-US" altLang="ko-KR" dirty="0" err="1" smtClean="0"/>
              <a:t>Ctrl+L</a:t>
            </a:r>
            <a:r>
              <a:rPr lang="en-US" altLang="ko-KR" dirty="0" smtClean="0"/>
              <a:t> -&gt; Select Classifier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4828433" cy="424661"/>
          </a:xfrm>
        </p:spPr>
        <p:txBody>
          <a:bodyPr/>
          <a:lstStyle/>
          <a:p>
            <a:r>
              <a:rPr lang="en-US" altLang="ko-KR" dirty="0" smtClean="0"/>
              <a:t>Activity Diagram :: Object node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000" y="2572771"/>
            <a:ext cx="1637867" cy="133396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2000" y="2205000"/>
            <a:ext cx="5040000" cy="3862096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908" y="2572771"/>
            <a:ext cx="1637867" cy="14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472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Develop -&gt; Files -&gt; Import Source Directory</a:t>
            </a:r>
          </a:p>
          <a:p>
            <a:pPr lvl="1"/>
            <a:r>
              <a:rPr lang="ko-KR" altLang="en-US" dirty="0" smtClean="0">
                <a:solidFill>
                  <a:schemeClr val="tx2"/>
                </a:solidFill>
              </a:rPr>
              <a:t>이런 것들은 대부분 기대하면 실망이 큽니다</a:t>
            </a:r>
            <a:r>
              <a:rPr lang="en-US" altLang="ko-KR" dirty="0" smtClean="0">
                <a:solidFill>
                  <a:schemeClr val="tx2"/>
                </a:solidFill>
              </a:rPr>
              <a:t>..</a:t>
            </a:r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5256819" cy="424661"/>
          </a:xfrm>
        </p:spPr>
        <p:txBody>
          <a:bodyPr/>
          <a:lstStyle/>
          <a:p>
            <a:r>
              <a:rPr lang="en-US" altLang="ko-KR" dirty="0" smtClean="0"/>
              <a:t>Generate class diagram from code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" y="1629000"/>
            <a:ext cx="9867900" cy="42005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05246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Class Diagram </a:t>
            </a:r>
            <a:r>
              <a:rPr lang="ko-KR" altLang="en-US" dirty="0" smtClean="0"/>
              <a:t>생성시</a:t>
            </a:r>
            <a:r>
              <a:rPr lang="en-US" altLang="ko-KR" dirty="0" smtClean="0"/>
              <a:t>, </a:t>
            </a:r>
            <a:r>
              <a:rPr lang="ko-KR" altLang="en-US" dirty="0" smtClean="0"/>
              <a:t>표시할 정보들을 선택 할 수 있습니다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5256819" cy="424661"/>
          </a:xfrm>
        </p:spPr>
        <p:txBody>
          <a:bodyPr/>
          <a:lstStyle/>
          <a:p>
            <a:r>
              <a:rPr lang="en-US" altLang="ko-KR" dirty="0"/>
              <a:t>Generate class diagram from code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000" y="1485069"/>
            <a:ext cx="4066024" cy="489341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748" y="2235693"/>
            <a:ext cx="3209925" cy="32480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2441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5256819" cy="424661"/>
          </a:xfrm>
        </p:spPr>
        <p:txBody>
          <a:bodyPr/>
          <a:lstStyle/>
          <a:p>
            <a:r>
              <a:rPr lang="en-US" altLang="ko-KR" dirty="0"/>
              <a:t>Generate class diagram from code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863" y="2502556"/>
            <a:ext cx="6010275" cy="20288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000" y="1701000"/>
            <a:ext cx="4152900" cy="41148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1642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EA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Tags value</a:t>
            </a:r>
            <a:r>
              <a:rPr lang="ko-KR" altLang="en-US" dirty="0" smtClean="0"/>
              <a:t>를 표시하지 않는 것이 기본 설정입니다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Diagram </a:t>
            </a:r>
            <a:r>
              <a:rPr lang="ko-KR" altLang="en-US" dirty="0" smtClean="0"/>
              <a:t>배경 우 클릭 </a:t>
            </a:r>
            <a:r>
              <a:rPr lang="en-US" altLang="ko-KR" dirty="0" smtClean="0"/>
              <a:t>-&gt; Properties -&gt; Elements -&gt;Tags </a:t>
            </a:r>
            <a:r>
              <a:rPr lang="ko-KR" altLang="en-US" dirty="0" smtClean="0"/>
              <a:t>를 활성화 해야 설정된 </a:t>
            </a:r>
            <a:r>
              <a:rPr lang="en-US" altLang="ko-KR" dirty="0" smtClean="0"/>
              <a:t>Tags</a:t>
            </a:r>
            <a:r>
              <a:rPr lang="ko-KR" altLang="en-US" dirty="0" smtClean="0"/>
              <a:t>가 표시 됩니다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323918" cy="424661"/>
          </a:xfrm>
        </p:spPr>
        <p:txBody>
          <a:bodyPr/>
          <a:lstStyle/>
          <a:p>
            <a:r>
              <a:rPr lang="en-US" altLang="ko-KR" dirty="0" smtClean="0"/>
              <a:t>Tagged Values </a:t>
            </a:r>
            <a:r>
              <a:rPr lang="ko-KR" altLang="en-US" dirty="0" smtClean="0"/>
              <a:t>활성화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000" y="1616775"/>
            <a:ext cx="8268938" cy="487292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9193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Element</a:t>
            </a:r>
            <a:r>
              <a:rPr lang="ko-KR" altLang="en-US" dirty="0"/>
              <a:t> </a:t>
            </a:r>
            <a:r>
              <a:rPr lang="ko-KR" altLang="en-US" dirty="0" smtClean="0"/>
              <a:t>선택 </a:t>
            </a:r>
            <a:r>
              <a:rPr lang="en-US" altLang="ko-KR" dirty="0" smtClean="0"/>
              <a:t>-&gt; ctrl +2 -&gt; Tags tab </a:t>
            </a:r>
            <a:r>
              <a:rPr lang="ko-KR" altLang="en-US" dirty="0" smtClean="0"/>
              <a:t>선택</a:t>
            </a:r>
            <a:r>
              <a:rPr lang="en-US" altLang="ko-KR" dirty="0" smtClean="0"/>
              <a:t>-&gt;    </a:t>
            </a:r>
            <a:r>
              <a:rPr lang="ko-KR" altLang="en-US" dirty="0" smtClean="0"/>
              <a:t>아이콘 클릭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439509" cy="424661"/>
          </a:xfrm>
        </p:spPr>
        <p:txBody>
          <a:bodyPr/>
          <a:lstStyle/>
          <a:p>
            <a:r>
              <a:rPr lang="en-US" altLang="ko-KR" dirty="0" smtClean="0"/>
              <a:t>Tags value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000" y="837000"/>
            <a:ext cx="219075" cy="2095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754" y="2567775"/>
            <a:ext cx="3457575" cy="16764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4000" y="1197000"/>
            <a:ext cx="5353050" cy="508635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35300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Start -&gt; Preferences -&gt; Diagram -&gt; Themes</a:t>
            </a:r>
          </a:p>
          <a:p>
            <a:pPr lvl="1"/>
            <a:r>
              <a:rPr lang="en-US" altLang="ko-KR" dirty="0" err="1" smtClean="0">
                <a:solidFill>
                  <a:schemeClr val="bg1">
                    <a:lumMod val="65000"/>
                  </a:schemeClr>
                </a:solidFill>
              </a:rPr>
              <a:t>Flatline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테마 추천 합니다</a:t>
            </a:r>
            <a:r>
              <a:rPr lang="en-US" altLang="ko-KR" dirty="0" smtClean="0">
                <a:solidFill>
                  <a:schemeClr val="bg1">
                    <a:lumMod val="65000"/>
                  </a:schemeClr>
                </a:solidFill>
              </a:rPr>
              <a:t>. </a:t>
            </a:r>
          </a:p>
          <a:p>
            <a:pPr lvl="1"/>
            <a:r>
              <a:rPr lang="en-US" altLang="ko-KR" dirty="0" smtClean="0"/>
              <a:t>Gradients and Background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Paper </a:t>
            </a:r>
            <a:r>
              <a:rPr lang="ko-KR" altLang="en-US" dirty="0" smtClean="0"/>
              <a:t>색상으로 흰색 설정해야 배경이 흰색이 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254284" cy="424661"/>
          </a:xfrm>
        </p:spPr>
        <p:txBody>
          <a:bodyPr/>
          <a:lstStyle/>
          <a:p>
            <a:r>
              <a:rPr lang="en-US" altLang="ko-KR" dirty="0" smtClean="0"/>
              <a:t>Diagram Theme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00" y="1701000"/>
            <a:ext cx="5010150" cy="123825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00" y="3069000"/>
            <a:ext cx="5040000" cy="35477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8000" y="3068999"/>
            <a:ext cx="5040000" cy="354777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84484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smtClean="0"/>
              <a:t>선택한 </a:t>
            </a:r>
            <a:r>
              <a:rPr lang="en-US" altLang="ko-KR" dirty="0" smtClean="0"/>
              <a:t>Diagram</a:t>
            </a:r>
            <a:r>
              <a:rPr lang="ko-KR" altLang="en-US" dirty="0" smtClean="0"/>
              <a:t>을 복사 하여 타 프로그램에 붙여 넣기가 가능합니다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붙여 넣기 시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en-US" altLang="ko-KR" dirty="0" smtClean="0"/>
              <a:t>Diagram frame</a:t>
            </a:r>
            <a:r>
              <a:rPr lang="ko-KR" altLang="en-US" dirty="0" smtClean="0"/>
              <a:t>이 자동으로 추가 되어 붙여 넣기가 되는데</a:t>
            </a:r>
            <a:r>
              <a:rPr lang="en-US" altLang="ko-KR" dirty="0" smtClean="0"/>
              <a:t>, frame</a:t>
            </a:r>
            <a:r>
              <a:rPr lang="ko-KR" altLang="en-US" dirty="0"/>
              <a:t> </a:t>
            </a:r>
            <a:r>
              <a:rPr lang="ko-KR" altLang="en-US" dirty="0" smtClean="0"/>
              <a:t>옵션을 설정 할 수 있습니다</a:t>
            </a:r>
            <a:r>
              <a:rPr lang="en-US" altLang="ko-KR" dirty="0" smtClean="0"/>
              <a:t>. </a:t>
            </a:r>
          </a:p>
          <a:p>
            <a:pPr lvl="1"/>
            <a:r>
              <a:rPr lang="en-US" altLang="ko-KR" dirty="0"/>
              <a:t>Start -&gt; Preferences -&gt; Diagram </a:t>
            </a:r>
            <a:r>
              <a:rPr lang="en-US" altLang="ko-KR" dirty="0" smtClean="0"/>
              <a:t>-&gt; Diagram Frames</a:t>
            </a:r>
          </a:p>
          <a:p>
            <a:pPr lvl="1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585831" cy="424661"/>
          </a:xfrm>
        </p:spPr>
        <p:txBody>
          <a:bodyPr/>
          <a:lstStyle/>
          <a:p>
            <a:r>
              <a:rPr lang="en-US" altLang="ko-KR" dirty="0" smtClean="0"/>
              <a:t>Diagram Frames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00" y="2080320"/>
            <a:ext cx="6264000" cy="44093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000" y="2213500"/>
            <a:ext cx="3780952" cy="173333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8000" y="4797000"/>
            <a:ext cx="3190476" cy="110476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4929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ko-KR" dirty="0" smtClean="0"/>
              <a:t>Clipboard Format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Metafile</a:t>
            </a:r>
            <a:r>
              <a:rPr lang="ko-KR" altLang="en-US" dirty="0" smtClean="0"/>
              <a:t>로 변경 할 경우</a:t>
            </a:r>
            <a:r>
              <a:rPr lang="en-US" altLang="ko-KR" dirty="0" smtClean="0"/>
              <a:t>, </a:t>
            </a:r>
            <a:br>
              <a:rPr lang="en-US" altLang="ko-KR" dirty="0" smtClean="0"/>
            </a:br>
            <a:r>
              <a:rPr lang="en-US" altLang="ko-KR" dirty="0" smtClean="0"/>
              <a:t>Metafile</a:t>
            </a:r>
            <a:r>
              <a:rPr lang="ko-KR" altLang="en-US" dirty="0" smtClean="0"/>
              <a:t>을 인식하는 </a:t>
            </a:r>
            <a:r>
              <a:rPr lang="en-US" altLang="ko-KR" dirty="0" smtClean="0"/>
              <a:t>app</a:t>
            </a:r>
            <a:r>
              <a:rPr lang="ko-KR" altLang="en-US" dirty="0" smtClean="0"/>
              <a:t>에서는 붙여 넣기가 되나</a:t>
            </a:r>
            <a:r>
              <a:rPr lang="en-US" altLang="ko-KR" dirty="0" smtClean="0"/>
              <a:t>, Wiki</a:t>
            </a:r>
            <a:r>
              <a:rPr lang="ko-KR" altLang="en-US" dirty="0" smtClean="0"/>
              <a:t>에서는 붙여 넣기가 되지  않습니다</a:t>
            </a:r>
            <a:r>
              <a:rPr lang="en-US" altLang="ko-KR" dirty="0" smtClean="0"/>
              <a:t>. </a:t>
            </a:r>
            <a:br>
              <a:rPr lang="en-US" altLang="ko-KR" dirty="0" smtClean="0"/>
            </a:br>
            <a:r>
              <a:rPr lang="ko-KR" altLang="en-US" dirty="0" smtClean="0"/>
              <a:t>하지만</a:t>
            </a:r>
            <a:r>
              <a:rPr lang="en-US" altLang="ko-KR" dirty="0" smtClean="0"/>
              <a:t>, Metafile</a:t>
            </a:r>
            <a:r>
              <a:rPr lang="ko-KR" altLang="en-US" dirty="0" smtClean="0"/>
              <a:t>로 설정 할 경우</a:t>
            </a:r>
            <a:r>
              <a:rPr lang="en-US" altLang="ko-KR" dirty="0" smtClean="0"/>
              <a:t>, </a:t>
            </a:r>
            <a:r>
              <a:rPr lang="en-US" altLang="ko-KR" dirty="0"/>
              <a:t>PowerPoint </a:t>
            </a:r>
            <a:r>
              <a:rPr lang="ko-KR" altLang="en-US" dirty="0" smtClean="0"/>
              <a:t>에서는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배경을 </a:t>
            </a:r>
            <a:r>
              <a:rPr lang="en-US" altLang="ko-KR" dirty="0" smtClean="0"/>
              <a:t>PPT</a:t>
            </a:r>
            <a:r>
              <a:rPr lang="ko-KR" altLang="en-US" dirty="0" smtClean="0"/>
              <a:t>에 맞춰 줍니다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2865267" cy="424661"/>
          </a:xfrm>
        </p:spPr>
        <p:txBody>
          <a:bodyPr/>
          <a:lstStyle/>
          <a:p>
            <a:r>
              <a:rPr lang="en-US" altLang="ko-KR" dirty="0" smtClean="0"/>
              <a:t>Clipboard Format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b="23764"/>
          <a:stretch/>
        </p:blipFill>
        <p:spPr>
          <a:xfrm>
            <a:off x="2208000" y="2349000"/>
            <a:ext cx="6842536" cy="36720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9728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3068335" cy="424661"/>
          </a:xfrm>
        </p:spPr>
        <p:txBody>
          <a:bodyPr/>
          <a:lstStyle/>
          <a:p>
            <a:r>
              <a:rPr lang="en-US" altLang="ko-KR" dirty="0" smtClean="0"/>
              <a:t>Meta file vs Bitmap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00" y="688838"/>
            <a:ext cx="11016000" cy="583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1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408001" y="765138"/>
            <a:ext cx="11376000" cy="273586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구매 시 해당 버전을 평생 사용 가능 합니다만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유지 보수 기간인 </a:t>
            </a:r>
            <a:r>
              <a:rPr lang="en-US" altLang="ko-KR" dirty="0" smtClean="0"/>
              <a:t>1</a:t>
            </a:r>
            <a:r>
              <a:rPr lang="ko-KR" altLang="en-US" dirty="0" smtClean="0"/>
              <a:t>년 동안만 최신 버전으로 업데이트가 됩니다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유지 보수 기간이 만료 되면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설치 파일을 공식 홈에서 다운로드 받을 방법이 사라집니다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만료 직전에 최신 버전 백업이 필요 합니다</a:t>
            </a:r>
            <a:r>
              <a:rPr lang="en-US" altLang="ko-KR" smtClean="0"/>
              <a:t>.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408000" y="156779"/>
            <a:ext cx="1415639" cy="424661"/>
          </a:xfrm>
        </p:spPr>
        <p:txBody>
          <a:bodyPr/>
          <a:lstStyle/>
          <a:p>
            <a:r>
              <a:rPr lang="ko-KR" altLang="en-US" dirty="0" smtClean="0"/>
              <a:t>라이센스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2983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tx1"/>
          </a:solidFill>
        </a:ln>
      </a:spPr>
      <a:bodyPr lIns="36000" tIns="36000" rIns="36000" bIns="36000" rtlCol="0" anchor="ctr"/>
      <a:lstStyle>
        <a:defPPr algn="ctr">
          <a:defRPr sz="12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1087</Words>
  <Application>Microsoft Office PowerPoint</Application>
  <PresentationFormat>와이드스크린</PresentationFormat>
  <Paragraphs>157</Paragraphs>
  <Slides>31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궁서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Model</vt:lpstr>
      <vt:lpstr>View</vt:lpstr>
      <vt:lpstr>Diagram</vt:lpstr>
      <vt:lpstr>Toolbox</vt:lpstr>
      <vt:lpstr>Package</vt:lpstr>
      <vt:lpstr>Namespace 설정</vt:lpstr>
      <vt:lpstr>Composite Diagram</vt:lpstr>
      <vt:lpstr>Composite Diagram 설정</vt:lpstr>
      <vt:lpstr>Class element</vt:lpstr>
      <vt:lpstr>Class element</vt:lpstr>
      <vt:lpstr>Class element</vt:lpstr>
      <vt:lpstr>Properties</vt:lpstr>
      <vt:lpstr>Relationship direction</vt:lpstr>
      <vt:lpstr>Line style</vt:lpstr>
      <vt:lpstr>Line style</vt:lpstr>
      <vt:lpstr>Layout Alignment</vt:lpstr>
      <vt:lpstr>Element control 2-1</vt:lpstr>
      <vt:lpstr>Element control 2-2</vt:lpstr>
      <vt:lpstr>Activity Diagram :: Object node</vt:lpstr>
      <vt:lpstr>Generate class diagram from code</vt:lpstr>
      <vt:lpstr>Generate class diagram from code</vt:lpstr>
      <vt:lpstr>Generate class diagram from code</vt:lpstr>
      <vt:lpstr>Tagged Values 활성화</vt:lpstr>
      <vt:lpstr>Tags value 설정</vt:lpstr>
      <vt:lpstr>Diagram Theme 설정</vt:lpstr>
      <vt:lpstr>Diagram Frames</vt:lpstr>
      <vt:lpstr>Clipboard Format </vt:lpstr>
      <vt:lpstr>Meta file vs Bitmap</vt:lpstr>
      <vt:lpstr>라이센스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이혜준/HYE JOON YI</dc:creator>
  <cp:lastModifiedBy>이혜준/HYE JOON YI</cp:lastModifiedBy>
  <cp:revision>120</cp:revision>
  <dcterms:created xsi:type="dcterms:W3CDTF">2021-06-02T00:51:12Z</dcterms:created>
  <dcterms:modified xsi:type="dcterms:W3CDTF">2024-04-08T06:23:11Z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