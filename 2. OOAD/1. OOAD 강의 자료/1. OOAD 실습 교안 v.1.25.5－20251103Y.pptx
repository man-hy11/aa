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5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sldIdLst>
    <p:sldId id="256" r:id="rId2"/>
    <p:sldId id="424" r:id="rId3"/>
    <p:sldId id="260" r:id="rId4"/>
    <p:sldId id="422" r:id="rId5"/>
    <p:sldId id="263" r:id="rId6"/>
    <p:sldId id="415" r:id="rId7"/>
    <p:sldId id="351" r:id="rId8"/>
    <p:sldId id="425" r:id="rId9"/>
    <p:sldId id="387" r:id="rId10"/>
    <p:sldId id="388" r:id="rId11"/>
    <p:sldId id="389" r:id="rId12"/>
    <p:sldId id="416" r:id="rId13"/>
    <p:sldId id="355" r:id="rId14"/>
    <p:sldId id="407" r:id="rId15"/>
    <p:sldId id="356" r:id="rId16"/>
    <p:sldId id="357" r:id="rId17"/>
    <p:sldId id="352" r:id="rId18"/>
    <p:sldId id="267" r:id="rId19"/>
    <p:sldId id="344" r:id="rId20"/>
    <p:sldId id="269" r:id="rId21"/>
    <p:sldId id="358" r:id="rId22"/>
    <p:sldId id="359" r:id="rId23"/>
    <p:sldId id="360" r:id="rId24"/>
    <p:sldId id="275" r:id="rId25"/>
    <p:sldId id="276" r:id="rId26"/>
    <p:sldId id="419" r:id="rId27"/>
    <p:sldId id="278" r:id="rId28"/>
    <p:sldId id="421" r:id="rId29"/>
    <p:sldId id="405" r:id="rId30"/>
    <p:sldId id="280" r:id="rId31"/>
    <p:sldId id="281" r:id="rId32"/>
    <p:sldId id="396" r:id="rId33"/>
    <p:sldId id="282" r:id="rId34"/>
    <p:sldId id="283" r:id="rId35"/>
    <p:sldId id="286" r:id="rId36"/>
    <p:sldId id="390" r:id="rId37"/>
    <p:sldId id="393" r:id="rId38"/>
    <p:sldId id="285" r:id="rId39"/>
    <p:sldId id="345" r:id="rId40"/>
    <p:sldId id="402" r:id="rId41"/>
    <p:sldId id="361" r:id="rId42"/>
    <p:sldId id="294" r:id="rId43"/>
    <p:sldId id="420" r:id="rId44"/>
    <p:sldId id="289" r:id="rId45"/>
    <p:sldId id="290" r:id="rId46"/>
    <p:sldId id="291" r:id="rId47"/>
    <p:sldId id="397" r:id="rId48"/>
    <p:sldId id="417" r:id="rId49"/>
    <p:sldId id="399" r:id="rId50"/>
    <p:sldId id="301" r:id="rId51"/>
    <p:sldId id="362" r:id="rId52"/>
    <p:sldId id="363" r:id="rId53"/>
    <p:sldId id="364" r:id="rId54"/>
    <p:sldId id="307" r:id="rId55"/>
    <p:sldId id="308" r:id="rId56"/>
    <p:sldId id="365" r:id="rId57"/>
    <p:sldId id="404" r:id="rId58"/>
    <p:sldId id="406" r:id="rId59"/>
    <p:sldId id="400" r:id="rId60"/>
    <p:sldId id="346" r:id="rId61"/>
    <p:sldId id="311" r:id="rId62"/>
    <p:sldId id="367" r:id="rId63"/>
    <p:sldId id="313" r:id="rId64"/>
    <p:sldId id="368" r:id="rId65"/>
    <p:sldId id="369" r:id="rId66"/>
    <p:sldId id="370" r:id="rId67"/>
    <p:sldId id="371" r:id="rId68"/>
    <p:sldId id="372" r:id="rId69"/>
    <p:sldId id="373" r:id="rId70"/>
    <p:sldId id="374" r:id="rId71"/>
    <p:sldId id="375" r:id="rId72"/>
    <p:sldId id="418" r:id="rId73"/>
    <p:sldId id="341" r:id="rId74"/>
    <p:sldId id="401" r:id="rId75"/>
    <p:sldId id="342" r:id="rId76"/>
    <p:sldId id="376" r:id="rId77"/>
    <p:sldId id="403" r:id="rId78"/>
    <p:sldId id="343" r:id="rId79"/>
    <p:sldId id="331" r:id="rId80"/>
    <p:sldId id="332" r:id="rId81"/>
    <p:sldId id="333" r:id="rId82"/>
    <p:sldId id="339" r:id="rId83"/>
    <p:sldId id="391" r:id="rId84"/>
    <p:sldId id="423" r:id="rId85"/>
    <p:sldId id="377" r:id="rId86"/>
    <p:sldId id="379" r:id="rId87"/>
    <p:sldId id="380" r:id="rId88"/>
    <p:sldId id="381" r:id="rId89"/>
    <p:sldId id="382" r:id="rId90"/>
    <p:sldId id="383" r:id="rId91"/>
    <p:sldId id="384" r:id="rId92"/>
    <p:sldId id="385" r:id="rId93"/>
    <p:sldId id="378" r:id="rId94"/>
    <p:sldId id="409" r:id="rId95"/>
    <p:sldId id="408" r:id="rId96"/>
    <p:sldId id="411" r:id="rId97"/>
    <p:sldId id="410" r:id="rId98"/>
    <p:sldId id="412" r:id="rId99"/>
    <p:sldId id="413" r:id="rId100"/>
    <p:sldId id="414" r:id="rId10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3198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36D"/>
    <a:srgbClr val="2A2D72"/>
    <a:srgbClr val="213A81"/>
    <a:srgbClr val="2F6E99"/>
    <a:srgbClr val="95E9EB"/>
    <a:srgbClr val="406FA2"/>
    <a:srgbClr val="BFF2F3"/>
    <a:srgbClr val="00FFFF"/>
    <a:srgbClr val="00CCFF"/>
    <a:srgbClr val="597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89037" autoAdjust="0"/>
  </p:normalViewPr>
  <p:slideViewPr>
    <p:cSldViewPr>
      <p:cViewPr>
        <p:scale>
          <a:sx n="125" d="100"/>
          <a:sy n="125" d="100"/>
        </p:scale>
        <p:origin x="-496" y="-52"/>
      </p:cViewPr>
      <p:guideLst>
        <p:guide orient="horz" pos="1620"/>
        <p:guide pos="31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2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8944F-6416-492C-B6C3-972994AD2AFD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2678C-18E7-4230-B1D8-B77B8B4C5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102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851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697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131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964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109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필수 </a:t>
            </a:r>
            <a:r>
              <a:rPr lang="en-US" altLang="ko-KR" dirty="0"/>
              <a:t>Skip</a:t>
            </a:r>
            <a:r>
              <a:rPr lang="ko-KR" altLang="en-US" dirty="0"/>
              <a:t>부분 제외하고 </a:t>
            </a:r>
            <a:r>
              <a:rPr lang="en-US" altLang="ko-KR" dirty="0"/>
              <a:t>1.5</a:t>
            </a:r>
            <a:r>
              <a:rPr lang="ko-KR" altLang="en-US" dirty="0"/>
              <a:t>배속</a:t>
            </a:r>
            <a:r>
              <a:rPr lang="ko-KR" altLang="en-US" baseline="0" dirty="0"/>
              <a:t> 학습 권장 </a:t>
            </a:r>
            <a:r>
              <a:rPr lang="en-US" altLang="ko-KR" baseline="0" dirty="0"/>
              <a:t>(84</a:t>
            </a:r>
            <a:r>
              <a:rPr lang="ko-KR" altLang="en-US" baseline="0" dirty="0"/>
              <a:t>분</a:t>
            </a:r>
            <a:r>
              <a:rPr lang="en-US" altLang="ko-KR" baseline="0" dirty="0"/>
              <a:t>) + </a:t>
            </a:r>
            <a:r>
              <a:rPr lang="ko-KR" altLang="en-US" baseline="0" dirty="0" err="1"/>
              <a:t>추가학습의</a:t>
            </a:r>
            <a:r>
              <a:rPr lang="ko-KR" altLang="en-US" baseline="0" dirty="0"/>
              <a:t> </a:t>
            </a:r>
            <a:r>
              <a:rPr lang="en-US" altLang="ko-KR" baseline="0" dirty="0"/>
              <a:t>2. Object-Oriented Principles 1.5</a:t>
            </a:r>
            <a:r>
              <a:rPr lang="ko-KR" altLang="en-US" baseline="0" dirty="0"/>
              <a:t>배속 학습 </a:t>
            </a:r>
            <a:r>
              <a:rPr lang="en-US" altLang="ko-KR" baseline="0" dirty="0"/>
              <a:t>(25</a:t>
            </a:r>
            <a:r>
              <a:rPr lang="ko-KR" altLang="en-US" baseline="0" dirty="0"/>
              <a:t>분</a:t>
            </a:r>
            <a:r>
              <a:rPr lang="en-US" altLang="ko-KR" baseline="0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46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695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921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1BD5044-E4F2-B483-2ECC-ED1A0016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E21FA555-335C-206E-48A6-F70991925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8532196A-CE5C-C1EA-152B-DCB308D83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F9804E38-9CCA-AFE4-9431-D4C90522F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52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86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88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800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66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939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1.5</a:t>
            </a:r>
            <a:r>
              <a:rPr lang="ko-KR" altLang="en-US" dirty="0"/>
              <a:t>배속 학습 권장 </a:t>
            </a:r>
            <a:r>
              <a:rPr lang="en-US" altLang="ko-KR" dirty="0"/>
              <a:t>(52</a:t>
            </a:r>
            <a:r>
              <a:rPr lang="ko-KR" altLang="en-US" baseline="0" dirty="0"/>
              <a:t>분</a:t>
            </a:r>
            <a:r>
              <a:rPr lang="en-US" altLang="ko-KR" baseline="0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425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573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1.5</a:t>
            </a:r>
            <a:r>
              <a:rPr lang="ko-KR" altLang="en-US" dirty="0"/>
              <a:t>배속 학습 권장 </a:t>
            </a:r>
            <a:r>
              <a:rPr lang="en-US" altLang="ko-KR" dirty="0"/>
              <a:t>(60</a:t>
            </a:r>
            <a:r>
              <a:rPr lang="en-US" altLang="ko-KR" baseline="0" dirty="0"/>
              <a:t> + 61 = 121</a:t>
            </a:r>
            <a:r>
              <a:rPr lang="ko-KR" altLang="en-US" baseline="0" dirty="0"/>
              <a:t>분</a:t>
            </a:r>
            <a:r>
              <a:rPr lang="en-US" altLang="ko-KR" baseline="0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889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1.5</a:t>
            </a:r>
            <a:r>
              <a:rPr lang="ko-KR" altLang="en-US" dirty="0"/>
              <a:t>배속 학습 권장 </a:t>
            </a:r>
            <a:r>
              <a:rPr lang="en-US" altLang="ko-KR" dirty="0"/>
              <a:t>(35</a:t>
            </a:r>
            <a:r>
              <a:rPr lang="en-US" altLang="ko-KR" baseline="0" dirty="0"/>
              <a:t> + 42 = 77</a:t>
            </a:r>
            <a:r>
              <a:rPr lang="ko-KR" altLang="en-US" baseline="0" dirty="0"/>
              <a:t>분</a:t>
            </a:r>
            <a:r>
              <a:rPr lang="en-US" altLang="ko-KR" baseline="0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486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0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" y="1566"/>
            <a:ext cx="9138432" cy="514036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525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sz="3600" b="0" kern="1200" spc="-100" baseline="0" dirty="0">
                <a:ln>
                  <a:noFill/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algn="l" defTabSz="759272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</p:spPr>
        <p:txBody>
          <a:bodyPr/>
          <a:lstStyle>
            <a:lvl1pPr marL="361950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20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6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65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760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marL="0" indent="0" algn="l">
              <a:lnSpc>
                <a:spcPct val="150000"/>
              </a:lnSpc>
              <a:buClr>
                <a:srgbClr val="95E9EB"/>
              </a:buClr>
              <a:buFont typeface="Arial" panose="020B0604020202020204" pitchFamily="34" charset="0"/>
              <a:buNone/>
              <a:defRPr lang="ko-KR" altLang="en-US" sz="24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81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3751262"/>
          </a:xfrm>
          <a:prstGeom prst="rect">
            <a:avLst/>
          </a:prstGeom>
        </p:spPr>
        <p:txBody>
          <a:bodyPr/>
          <a:lstStyle>
            <a:lvl1pPr marL="271463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1338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8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04863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5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74738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2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346200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0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95536" y="21631"/>
            <a:ext cx="8430220" cy="531531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0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algn="l" defTabSz="759272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472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3C65-D02E-4E12-BBF0-35296EE360B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48A1-790C-457C-9116-8D1E07851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2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1.ppt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4294967295"/>
          </p:nvPr>
        </p:nvSpPr>
        <p:spPr>
          <a:xfrm>
            <a:off x="641881" y="1986905"/>
            <a:ext cx="7772400" cy="714003"/>
          </a:xfrm>
        </p:spPr>
        <p:txBody>
          <a:bodyPr>
            <a:normAutofit/>
          </a:bodyPr>
          <a:lstStyle/>
          <a:p>
            <a:r>
              <a:rPr lang="en-US" altLang="ko-KR" sz="32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</a:t>
            </a:r>
            <a:r>
              <a:rPr lang="en-US" altLang="ko-KR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2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Day1</a:t>
            </a:r>
            <a:r>
              <a:rPr lang="en-US" altLang="ko-KR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3200" dirty="0">
              <a:solidFill>
                <a:schemeClr val="accent6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idx="4294967295"/>
          </p:nvPr>
        </p:nvSpPr>
        <p:spPr>
          <a:xfrm>
            <a:off x="651876" y="881324"/>
            <a:ext cx="7772400" cy="4920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en-US" altLang="ko-KR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Associate Architect </a:t>
            </a:r>
            <a:r>
              <a:rPr lang="ko-KR" altLang="en-US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양성과정</a:t>
            </a:r>
          </a:p>
        </p:txBody>
      </p:sp>
      <p:sp>
        <p:nvSpPr>
          <p:cNvPr id="10" name="텍스트 개체 틀 2"/>
          <p:cNvSpPr txBox="1">
            <a:spLocks/>
          </p:cNvSpPr>
          <p:nvPr/>
        </p:nvSpPr>
        <p:spPr>
          <a:xfrm>
            <a:off x="2627784" y="3435846"/>
            <a:ext cx="3888432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800" b="1" kern="1200" dirty="0" smtClean="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rgbClr val="00FFFF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첨단기술아카데미</a:t>
            </a: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2026.09.02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1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강사 소개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474872" y="851684"/>
            <a:ext cx="5681304" cy="7325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15082">
              <a:lnSpc>
                <a:spcPct val="160000"/>
              </a:lnSpc>
              <a:buClr>
                <a:schemeClr val="accent5"/>
              </a:buClr>
            </a:pP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ko-KR" altLang="en-US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err="1" smtClean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이혜준</a:t>
            </a:r>
            <a:r>
              <a:rPr lang="ko-KR" altLang="en-US" sz="1400" dirty="0" smtClean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Architect</a:t>
            </a:r>
          </a:p>
          <a:p>
            <a:pPr defTabSz="715082">
              <a:lnSpc>
                <a:spcPct val="160000"/>
              </a:lnSpc>
              <a:buClr>
                <a:schemeClr val="accent5"/>
              </a:buClr>
            </a:pP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</a:t>
            </a:r>
            <a:r>
              <a:rPr lang="ko-KR" altLang="en-US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삼성전자 </a:t>
            </a:r>
            <a:r>
              <a:rPr lang="ko-KR" altLang="en-US" sz="1400" dirty="0" smtClean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메모리사업부 </a:t>
            </a:r>
            <a:r>
              <a:rPr lang="en-US" altLang="ko-KR" sz="1400" dirty="0" smtClean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1400" dirty="0" smtClean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  <a:endParaRPr lang="en-US" altLang="ko-KR" sz="140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779662"/>
            <a:ext cx="3744416" cy="308664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1779662"/>
            <a:ext cx="3888432" cy="31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3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51288" y="1582947"/>
            <a:ext cx="4492362" cy="219007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교육안내</a:t>
            </a:r>
            <a:br>
              <a:rPr lang="ko-KR" altLang="en-US" sz="2000" dirty="0"/>
            </a:br>
            <a:r>
              <a:rPr lang="ko-KR" altLang="en-US" sz="2000" dirty="0"/>
              <a:t>실습환경 세팅 및 </a:t>
            </a:r>
            <a:r>
              <a:rPr lang="en-US" altLang="ko-KR" sz="2000" dirty="0"/>
              <a:t>tool </a:t>
            </a:r>
            <a:r>
              <a:rPr lang="ko-KR" altLang="en-US" sz="2000" dirty="0"/>
              <a:t>사용연습</a:t>
            </a:r>
            <a:br>
              <a:rPr lang="ko-KR" altLang="en-US" sz="2000" dirty="0"/>
            </a:br>
            <a:r>
              <a:rPr lang="ko-KR" altLang="en-US" sz="2000" dirty="0"/>
              <a:t>영상학습</a:t>
            </a:r>
            <a:br>
              <a:rPr lang="ko-KR" altLang="en-US" sz="2000" dirty="0"/>
            </a:br>
            <a:r>
              <a:rPr lang="ko-KR" altLang="en-US" sz="2000" dirty="0"/>
              <a:t>조별활동 안내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931056" y="987574"/>
            <a:ext cx="223224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48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Day1</a:t>
            </a:r>
            <a:endParaRPr lang="ko-KR" altLang="en-US" sz="4800" dirty="0">
              <a:ln>
                <a:noFill/>
              </a:ln>
              <a:solidFill>
                <a:srgbClr val="95E9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5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OOAD</a:t>
            </a:r>
            <a:r>
              <a:rPr lang="en-US" altLang="ko-KR" dirty="0"/>
              <a:t> </a:t>
            </a:r>
            <a:r>
              <a:rPr lang="ko-KR" altLang="en-US" dirty="0"/>
              <a:t>일정 안내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513264" y="699542"/>
            <a:ext cx="2520280" cy="3744416"/>
            <a:chOff x="539552" y="699542"/>
            <a:chExt cx="2520280" cy="3744416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539552" y="1182566"/>
              <a:ext cx="2520280" cy="3261392"/>
            </a:xfrm>
            <a:prstGeom prst="roundRect">
              <a:avLst>
                <a:gd name="adj" fmla="val 5556"/>
              </a:avLst>
            </a:prstGeom>
            <a:noFill/>
            <a:ln>
              <a:solidFill>
                <a:srgbClr val="83A1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내용 개체 틀 2"/>
            <p:cNvSpPr txBox="1">
              <a:spLocks/>
            </p:cNvSpPr>
            <p:nvPr/>
          </p:nvSpPr>
          <p:spPr>
            <a:xfrm>
              <a:off x="1548824" y="699542"/>
              <a:ext cx="501740" cy="3827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715082">
                <a:lnSpc>
                  <a:spcPct val="160000"/>
                </a:lnSpc>
                <a:buNone/>
              </a:pPr>
              <a:r>
                <a:rPr lang="en-US" altLang="ko-KR" sz="18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Day1</a:t>
              </a: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861072" y="1275606"/>
              <a:ext cx="1877245" cy="4750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15082">
                <a:lnSpc>
                  <a:spcPct val="160000"/>
                </a:lnSpc>
              </a:pP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Overview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&amp; </a:t>
              </a: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A</a:t>
              </a: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683568" y="1846963"/>
              <a:ext cx="2232248" cy="21464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ㆍ이론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: UP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기반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OOPT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- Stage 1000. Plan (Inception)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- Stage 2030. Analyze (OOA)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E3E58"/>
                </a:solidFill>
              </a:endParaRPr>
            </a:p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ㆍ실습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: OO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A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- Requirements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- Use case D.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- Fully Dressed-up Form</a:t>
              </a: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791580" y="1774955"/>
              <a:ext cx="2016224" cy="0"/>
            </a:xfrm>
            <a:prstGeom prst="line">
              <a:avLst/>
            </a:prstGeom>
            <a:ln w="28575">
              <a:solidFill>
                <a:srgbClr val="B2CC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/>
          <p:cNvGrpSpPr/>
          <p:nvPr/>
        </p:nvGrpSpPr>
        <p:grpSpPr>
          <a:xfrm>
            <a:off x="3293157" y="699542"/>
            <a:ext cx="2520280" cy="3744416"/>
            <a:chOff x="3293157" y="627534"/>
            <a:chExt cx="2520280" cy="3744416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3293157" y="1110558"/>
              <a:ext cx="2520280" cy="3261392"/>
            </a:xfrm>
            <a:prstGeom prst="roundRect">
              <a:avLst>
                <a:gd name="adj" fmla="val 5556"/>
              </a:avLst>
            </a:prstGeom>
            <a:noFill/>
            <a:ln>
              <a:solidFill>
                <a:srgbClr val="6679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내용 개체 틀 2"/>
            <p:cNvSpPr txBox="1">
              <a:spLocks/>
            </p:cNvSpPr>
            <p:nvPr/>
          </p:nvSpPr>
          <p:spPr>
            <a:xfrm>
              <a:off x="4302428" y="627534"/>
              <a:ext cx="501740" cy="3827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715082">
                <a:lnSpc>
                  <a:spcPct val="160000"/>
                </a:lnSpc>
                <a:buNone/>
              </a:pPr>
              <a:r>
                <a:rPr lang="en-US" altLang="ko-KR" sz="18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6679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Day2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677032" y="1203598"/>
              <a:ext cx="1752531" cy="4750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15082">
                <a:lnSpc>
                  <a:spcPct val="160000"/>
                </a:lnSpc>
              </a:pP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A</a:t>
              </a: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  →  OOA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 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365165" y="1774955"/>
              <a:ext cx="2376264" cy="2426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ㆍ이론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: UP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기반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OOPT 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 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- Stage 2030. Analyze (OOA)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 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- Stage 2040. Design (OOD)</a:t>
              </a:r>
            </a:p>
            <a:p>
              <a:pPr defTabSz="715082">
                <a:lnSpc>
                  <a:spcPct val="130000"/>
                </a:lnSpc>
              </a:pP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E3E58"/>
                </a:solidFill>
              </a:endParaRPr>
            </a:p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ㆍ실습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: OO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A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D/OOA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                 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- Fully Dressed-up Form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- Domain model -&gt; Class D.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- System Sequence D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. 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   -&gt; Sequence D.</a:t>
              </a: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3545185" y="1702947"/>
              <a:ext cx="2016224" cy="0"/>
            </a:xfrm>
            <a:prstGeom prst="line">
              <a:avLst/>
            </a:prstGeom>
            <a:ln w="28575">
              <a:solidFill>
                <a:srgbClr val="B2CC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/>
          <p:cNvGrpSpPr/>
          <p:nvPr/>
        </p:nvGrpSpPr>
        <p:grpSpPr>
          <a:xfrm>
            <a:off x="6084168" y="699542"/>
            <a:ext cx="2520280" cy="3744416"/>
            <a:chOff x="539552" y="699542"/>
            <a:chExt cx="2520280" cy="3744416"/>
          </a:xfrm>
        </p:grpSpPr>
        <p:sp>
          <p:nvSpPr>
            <p:cNvPr id="45" name="모서리가 둥근 직사각형 44"/>
            <p:cNvSpPr/>
            <p:nvPr/>
          </p:nvSpPr>
          <p:spPr>
            <a:xfrm>
              <a:off x="539552" y="1182566"/>
              <a:ext cx="2520280" cy="3261392"/>
            </a:xfrm>
            <a:prstGeom prst="roundRect">
              <a:avLst>
                <a:gd name="adj" fmla="val 5254"/>
              </a:avLst>
            </a:prstGeom>
            <a:noFill/>
            <a:ln>
              <a:solidFill>
                <a:srgbClr val="2A2D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내용 개체 틀 2"/>
            <p:cNvSpPr txBox="1">
              <a:spLocks/>
            </p:cNvSpPr>
            <p:nvPr/>
          </p:nvSpPr>
          <p:spPr>
            <a:xfrm>
              <a:off x="1548823" y="699542"/>
              <a:ext cx="501740" cy="3827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715082">
                <a:lnSpc>
                  <a:spcPct val="160000"/>
                </a:lnSpc>
                <a:buNone/>
              </a:pPr>
              <a:r>
                <a:rPr lang="en-US" altLang="ko-KR" sz="18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A2D7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Day3</a:t>
              </a: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28611" y="1275606"/>
              <a:ext cx="1342162" cy="4750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15082">
                <a:lnSpc>
                  <a:spcPct val="160000"/>
                </a:lnSpc>
              </a:pP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OOA</a:t>
              </a:r>
              <a:r>
                <a:rPr lang="en-US" altLang="ko-KR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D</a:t>
              </a: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→ OOI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611560" y="1846963"/>
              <a:ext cx="2376264" cy="19463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ㆍ이론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: UP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기반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OOPT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  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- Stage 2050 Construct (OOI</a:t>
              </a:r>
              <a:r>
                <a:rPr lang="en-US" altLang="ko-KR" sz="12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)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E3E58"/>
                </a:solidFill>
              </a:endParaRPr>
            </a:p>
            <a:p>
              <a:pPr defTabSz="715082">
                <a:lnSpc>
                  <a:spcPct val="130000"/>
                </a:lnSpc>
              </a:pP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E3E58"/>
                </a:solidFill>
              </a:endParaRPr>
            </a:p>
            <a:p>
              <a:pPr defTabSz="715082">
                <a:lnSpc>
                  <a:spcPct val="130000"/>
                </a:lnSpc>
              </a:pP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E3E58"/>
                </a:solidFill>
              </a:endParaRPr>
            </a:p>
            <a:p>
              <a:pPr defTabSz="715082">
                <a:lnSpc>
                  <a:spcPct val="130000"/>
                </a:lnSpc>
              </a:pP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ㆍ실습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: OOI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&amp;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E3E58"/>
                  </a:solidFill>
                </a:rPr>
                <a:t>Iteration</a:t>
              </a:r>
            </a:p>
            <a:p>
              <a:pPr defTabSz="715082">
                <a:lnSpc>
                  <a:spcPct val="130000"/>
                </a:lnSpc>
              </a:pP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- Iteration</a:t>
              </a:r>
            </a:p>
            <a:p>
              <a:pPr defTabSz="715082">
                <a:lnSpc>
                  <a:spcPct val="130000"/>
                </a:lnSpc>
              </a:pPr>
              <a:r>
                <a:rPr lang="ko-KR" altLang="en-US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   </a:t>
              </a:r>
              <a:r>
                <a:rPr lang="en-US" altLang="ko-KR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- </a:t>
              </a:r>
              <a:r>
                <a:rPr lang="ko-KR" altLang="en-US" sz="12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</a:rPr>
                <a:t>조별 실습 발표</a:t>
              </a: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791580" y="1774955"/>
              <a:ext cx="2016224" cy="0"/>
            </a:xfrm>
            <a:prstGeom prst="line">
              <a:avLst/>
            </a:prstGeom>
            <a:ln w="28575">
              <a:solidFill>
                <a:srgbClr val="B2CC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/>
          <p:cNvSpPr/>
          <p:nvPr/>
        </p:nvSpPr>
        <p:spPr>
          <a:xfrm>
            <a:off x="437804" y="4594896"/>
            <a:ext cx="6457720" cy="288032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ko-KR" sz="1400" spc="-10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** OOPT (OO Programming with Traceability), </a:t>
            </a:r>
            <a:r>
              <a:rPr lang="ko-KR" altLang="en-US" sz="1400" spc="-10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참고자료 확인</a:t>
            </a:r>
          </a:p>
        </p:txBody>
      </p:sp>
    </p:spTree>
    <p:extLst>
      <p:ext uri="{BB962C8B-B14F-4D97-AF65-F5344CB8AC3E}">
        <p14:creationId xmlns:p14="http://schemas.microsoft.com/office/powerpoint/2010/main" val="15834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OOAD</a:t>
            </a:r>
            <a:r>
              <a:rPr lang="en-US" altLang="ko-KR" dirty="0"/>
              <a:t> </a:t>
            </a:r>
            <a:r>
              <a:rPr lang="ko-KR" altLang="en-US" dirty="0"/>
              <a:t>일정 안내</a:t>
            </a:r>
            <a:r>
              <a:rPr lang="en-US" altLang="ko-KR" dirty="0"/>
              <a:t>: </a:t>
            </a:r>
            <a:r>
              <a:rPr lang="ko-KR" altLang="en-US" dirty="0"/>
              <a:t>상세 커리큘럼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835696" y="650906"/>
            <a:ext cx="5403414" cy="2977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①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이론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온라인 영상 학습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과          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②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실습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팀과제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으로 구성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039C5013-DAB4-42EC-A4A9-171D296E4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233" y="1203598"/>
            <a:ext cx="6711533" cy="35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E3D1A8AA-A191-9330-FD2A-5DD51605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OOAD</a:t>
            </a:r>
            <a:r>
              <a:rPr lang="en-US" altLang="ko-KR" dirty="0"/>
              <a:t> Overview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2" y="2315716"/>
            <a:ext cx="7439896" cy="806732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755576" y="3160238"/>
            <a:ext cx="3364994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0" dirty="0"/>
              <a:t>요구사항 도출</a:t>
            </a:r>
            <a:endParaRPr lang="en-US" altLang="ko-KR" spc="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0" dirty="0"/>
              <a:t>요구사항 지정</a:t>
            </a:r>
            <a:endParaRPr lang="en-US" altLang="ko-KR" spc="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0" dirty="0"/>
              <a:t>개념 모델</a:t>
            </a:r>
            <a:r>
              <a:rPr lang="en-US" altLang="ko-KR" spc="0" dirty="0"/>
              <a:t>(Conceptual Model)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객체 모형</a:t>
            </a:r>
            <a:r>
              <a:rPr lang="en-US" altLang="ko-KR" sz="1200" spc="0" dirty="0"/>
              <a:t>(Object Model)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동적 모형</a:t>
            </a:r>
            <a:r>
              <a:rPr lang="en-US" altLang="ko-KR" sz="1200" spc="0" dirty="0"/>
              <a:t>(Dynamic Model)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기능 모형</a:t>
            </a:r>
            <a:r>
              <a:rPr lang="en-US" altLang="ko-KR" sz="1200" spc="0" dirty="0"/>
              <a:t>(Function Model)</a:t>
            </a:r>
          </a:p>
          <a:p>
            <a:pPr lvl="2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427984" y="3160238"/>
            <a:ext cx="3456384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0" dirty="0"/>
              <a:t>객체 명세</a:t>
            </a:r>
            <a:r>
              <a:rPr lang="en-US" altLang="ko-KR" spc="0" dirty="0"/>
              <a:t>(Static</a:t>
            </a:r>
            <a:r>
              <a:rPr lang="ko-KR" altLang="en-US" spc="0" dirty="0"/>
              <a:t> </a:t>
            </a:r>
            <a:r>
              <a:rPr lang="en-US" altLang="ko-KR" spc="0" dirty="0"/>
              <a:t>Model)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속성</a:t>
            </a:r>
            <a:r>
              <a:rPr lang="en-US" altLang="ko-KR" sz="1200" spc="0" dirty="0"/>
              <a:t>(attribute)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동작</a:t>
            </a:r>
            <a:r>
              <a:rPr lang="en-US" altLang="ko-KR" sz="1200" spc="0" dirty="0"/>
              <a:t>(behavior)</a:t>
            </a:r>
            <a:endParaRPr lang="en-US" altLang="ko-KR" spc="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0" dirty="0"/>
              <a:t>객체 간의 관계</a:t>
            </a:r>
            <a:r>
              <a:rPr lang="en-US" altLang="ko-KR" spc="0" dirty="0"/>
              <a:t>/</a:t>
            </a:r>
            <a:r>
              <a:rPr lang="ko-KR" altLang="en-US" spc="0" dirty="0"/>
              <a:t>협력</a:t>
            </a:r>
            <a:r>
              <a:rPr lang="en-US" altLang="ko-KR" spc="0" dirty="0"/>
              <a:t>(Dynamic Model)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ko-KR" altLang="en-US" sz="1200" spc="0" dirty="0"/>
              <a:t>상호작용</a:t>
            </a:r>
            <a:r>
              <a:rPr lang="en-US" altLang="ko-KR" sz="1200" spc="0" dirty="0"/>
              <a:t>(interaction)</a:t>
            </a: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97284" y="771550"/>
            <a:ext cx="3351238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OOAD (Object-Oriented Analysis and Design)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5496" y="1150646"/>
            <a:ext cx="6048672" cy="55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소프트웨어 시스템을 분석하고 설계하기 위한 개발 방법론</a:t>
            </a:r>
            <a:endParaRPr lang="en-US" altLang="ko-KR" spc="-11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객체지향적인 접근 방법을 사용하여 소프트웨어 시스템을 개발하는 과정</a:t>
            </a:r>
            <a:endParaRPr lang="en-US" altLang="ko-KR" spc="-11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251520" y="2067694"/>
            <a:ext cx="7632848" cy="7877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462375" lvl="1" indent="0">
              <a:lnSpc>
                <a:spcPct val="110000"/>
              </a:lnSpc>
              <a:buClr>
                <a:schemeClr val="accent1"/>
              </a:buClr>
              <a:buNone/>
            </a:pPr>
            <a:r>
              <a:rPr lang="en-US" altLang="ko-KR" b="1" spc="-110" dirty="0"/>
              <a:t>      [</a:t>
            </a:r>
            <a:r>
              <a:rPr lang="ko-KR" altLang="en-US" b="1" spc="-110" dirty="0"/>
              <a:t>문제 도메인을 이해하고 요구사항을 분석하는 단계</a:t>
            </a:r>
            <a:r>
              <a:rPr lang="en-US" altLang="ko-KR" b="1" spc="-110" dirty="0"/>
              <a:t>]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499992" y="2093300"/>
            <a:ext cx="4283968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  <a:buClr>
                <a:schemeClr val="accent1"/>
              </a:buClr>
            </a:pPr>
            <a:r>
              <a:rPr lang="en-US" altLang="ko-KR" sz="1200" b="1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b="1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시스템의 구조와 설계를 수립하는 단계</a:t>
            </a:r>
            <a:r>
              <a:rPr lang="en-US" altLang="ko-KR" sz="1200" b="1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3647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827584" y="2015325"/>
            <a:ext cx="3434126" cy="1924577"/>
          </a:xfrm>
          <a:prstGeom prst="roundRect">
            <a:avLst>
              <a:gd name="adj" fmla="val 1355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623240" y="2015325"/>
            <a:ext cx="3434126" cy="1924577"/>
          </a:xfrm>
          <a:prstGeom prst="roundRect">
            <a:avLst>
              <a:gd name="adj" fmla="val 1355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3E32455B-A765-9542-379B-4D1013BB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OOAD Overview - </a:t>
            </a:r>
            <a:r>
              <a:rPr lang="ko-KR" altLang="en-US" dirty="0"/>
              <a:t>단계별 다이어그램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24" y="987575"/>
            <a:ext cx="8136904" cy="86409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67252" y="2143130"/>
            <a:ext cx="2592288" cy="1652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Fully Dressed-up Form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Use Case Diagram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System Sequence Diagram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Domain Model</a:t>
            </a:r>
            <a:endParaRPr lang="ko-KR" altLang="en-US" sz="1200" b="1" dirty="0">
              <a:solidFill>
                <a:srgbClr val="2A2D72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63054" y="2139702"/>
            <a:ext cx="2484134" cy="169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Sequence Diagram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rgbClr val="2A2D72"/>
                </a:solidFill>
              </a:rPr>
              <a:t>Class Diagram</a:t>
            </a:r>
            <a:endParaRPr lang="ko-KR" altLang="en-US" sz="1200" b="1" dirty="0">
              <a:solidFill>
                <a:srgbClr val="2A2D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8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90F43FD-73FD-404E-D899-3432A18F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489802" y="1626663"/>
            <a:ext cx="2597660" cy="8010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210522" y="1626663"/>
            <a:ext cx="2597660" cy="8010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937640" y="1626663"/>
            <a:ext cx="2785044" cy="8010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object 4" hidden="1">
            <a:extLst>
              <a:ext uri="{FF2B5EF4-FFF2-40B4-BE49-F238E27FC236}">
                <a16:creationId xmlns="" xmlns:a16="http://schemas.microsoft.com/office/drawing/2014/main" id="{6B11B02B-E35D-C79B-47D1-5E306897B23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6208014" y="4813441"/>
            <a:ext cx="276129" cy="116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75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51435">
              <a:lnSpc>
                <a:spcPts val="930"/>
              </a:lnSpc>
              <a:spcBef>
                <a:spcPts val="41"/>
              </a:spcBef>
            </a:pPr>
            <a:fld id="{81D60167-4931-47E6-BA6A-407CBD079E47}" type="slidenum">
              <a:rPr lang="en-US" altLang="ko-KR" sz="900" spc="-38">
                <a:solidFill>
                  <a:srgbClr val="888888"/>
                </a:solidFill>
                <a:latin typeface="Calibri"/>
                <a:cs typeface="Calibri"/>
              </a:rPr>
              <a:pPr marL="51435">
                <a:lnSpc>
                  <a:spcPts val="930"/>
                </a:lnSpc>
                <a:spcBef>
                  <a:spcPts val="41"/>
                </a:spcBef>
              </a:pPr>
              <a:t>8</a:t>
            </a:fld>
            <a:endParaRPr spc="-19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37064" y="1737515"/>
            <a:ext cx="2703136" cy="5562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5082">
              <a:buNone/>
            </a:pPr>
            <a:r>
              <a:rPr lang="en-US" altLang="ko-KR" sz="14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OOA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(Object Oriented Analysis)</a:t>
            </a:r>
          </a:p>
          <a:p>
            <a:pPr marL="0" indent="0" algn="ctr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cs typeface="Arial" panose="020B0604020202020204" pitchFamily="34" charset="0"/>
              </a:rPr>
              <a:t>객체지향분석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11236D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214896" y="1737515"/>
            <a:ext cx="2600858" cy="5562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5082">
              <a:buNone/>
            </a:pPr>
            <a:r>
              <a:rPr lang="en-US" altLang="ko-KR" sz="14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OOD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(Object Oriented Design)</a:t>
            </a:r>
          </a:p>
          <a:p>
            <a:pPr marL="0" indent="0" algn="ctr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cs typeface="Arial" panose="020B0604020202020204" pitchFamily="34" charset="0"/>
              </a:rPr>
              <a:t>객체지향설계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11236D"/>
              </a:solidFill>
              <a:cs typeface="Arial" panose="020B0604020202020204" pitchFamily="34" charset="0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6041691" y="1737515"/>
            <a:ext cx="2592184" cy="5562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5082"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OOI </a:t>
            </a:r>
            <a:r>
              <a:rPr lang="en-US" altLang="ko-KR" sz="1400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(Object Oriented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Implementation</a:t>
            </a:r>
            <a:r>
              <a:rPr lang="en-US" altLang="ko-KR" sz="1400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  <a:p>
            <a:pPr marL="0" indent="0" algn="ctr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cs typeface="Arial" panose="020B0604020202020204" pitchFamily="34" charset="0"/>
              </a:rPr>
              <a:t>객체지향구현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11236D"/>
              </a:solidFill>
              <a:cs typeface="Arial" panose="020B0604020202020204" pitchFamily="34" charset="0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OOAD Overview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005654"/>
            <a:ext cx="7560840" cy="3158384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>
          <a:xfrm>
            <a:off x="497284" y="555526"/>
            <a:ext cx="3351238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OOAD (Object-Oriented Analysis and Design)</a:t>
            </a: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35496" y="934622"/>
            <a:ext cx="6048672" cy="55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소프트웨어 시스템을 분석하고 설계하기 위한 개발 방법론</a:t>
            </a:r>
            <a:endParaRPr lang="en-US" altLang="ko-KR" spc="-11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객체지향적인 접근 방법을 사용하여 소프트웨어 시스템을 개발하는 과정</a:t>
            </a:r>
            <a:endParaRPr lang="en-US" altLang="ko-KR" spc="-110" dirty="0"/>
          </a:p>
        </p:txBody>
      </p:sp>
    </p:spTree>
    <p:extLst>
      <p:ext uri="{BB962C8B-B14F-4D97-AF65-F5344CB8AC3E}">
        <p14:creationId xmlns:p14="http://schemas.microsoft.com/office/powerpoint/2010/main" val="47944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012" y="1339966"/>
            <a:ext cx="5347292" cy="6383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1012" y="2048810"/>
            <a:ext cx="5242876" cy="27551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71653" y="3246906"/>
            <a:ext cx="1618271" cy="146707"/>
          </a:xfrm>
          <a:prstGeom prst="rect">
            <a:avLst/>
          </a:prstGeom>
          <a:solidFill>
            <a:srgbClr val="DADFE6"/>
          </a:solidFill>
        </p:spPr>
        <p:txBody>
          <a:bodyPr vert="horz" wrap="square" lIns="0" tIns="32385" rIns="0" bIns="0" rtlCol="0">
            <a:spAutoFit/>
          </a:bodyPr>
          <a:lstStyle/>
          <a:p>
            <a:pPr marL="64018" defTabSz="859536">
              <a:spcBef>
                <a:spcPts val="240"/>
              </a:spcBef>
            </a:pPr>
            <a:r>
              <a:rPr lang="en-US" altLang="ko-KR" sz="741" kern="1200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Class</a:t>
            </a:r>
            <a:r>
              <a:rPr lang="ko-KR" altLang="en-US" sz="741" kern="1200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들의</a:t>
            </a:r>
            <a:r>
              <a:rPr lang="ko-KR" altLang="en-US" sz="741" kern="1200" spc="-102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 </a:t>
            </a:r>
            <a:r>
              <a:rPr lang="ko-KR" altLang="en-US" sz="741" kern="1200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후보와</a:t>
            </a:r>
            <a:r>
              <a:rPr lang="ko-KR" altLang="en-US" sz="741" kern="1200" spc="-106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 </a:t>
            </a:r>
            <a:r>
              <a:rPr lang="ko-KR" altLang="en-US" sz="741" kern="1200" dirty="0" err="1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관계정도를</a:t>
            </a:r>
            <a:r>
              <a:rPr lang="ko-KR" altLang="en-US" sz="741" kern="1200" spc="-102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 </a:t>
            </a:r>
            <a:r>
              <a:rPr lang="ko-KR" altLang="en-US" sz="741" kern="1200" spc="-18" dirty="0">
                <a:solidFill>
                  <a:schemeClr val="tx1"/>
                </a:solidFill>
                <a:latin typeface="Malgun Gothic"/>
                <a:ea typeface="+mn-ea"/>
                <a:cs typeface="+mn-cs"/>
              </a:rPr>
              <a:t>파악</a:t>
            </a:r>
            <a:endParaRPr lang="ko-KR" altLang="en-US" sz="788" dirty="0">
              <a:latin typeface="Malgun Gothic"/>
              <a:cs typeface="Malgun Gothic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699542"/>
            <a:ext cx="1157753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A bird-eye view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OOAD </a:t>
            </a:r>
            <a:r>
              <a:rPr lang="ko-KR" altLang="en-US" dirty="0"/>
              <a:t>예시 </a:t>
            </a:r>
            <a:r>
              <a:rPr lang="en-US" altLang="ko-KR" dirty="0"/>
              <a:t>- Play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Dice Game!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21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E9279F-2735-9F8C-6597-9F91DF32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="" xmlns:a16="http://schemas.microsoft.com/office/drawing/2014/main" id="{4FC9BD69-D98C-327D-6505-F95E6E750307}"/>
              </a:ext>
            </a:extLst>
          </p:cNvPr>
          <p:cNvSpPr txBox="1"/>
          <p:nvPr/>
        </p:nvSpPr>
        <p:spPr>
          <a:xfrm>
            <a:off x="603940" y="771550"/>
            <a:ext cx="3391996" cy="4482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Use Case </a:t>
            </a:r>
          </a:p>
          <a:p>
            <a:pPr>
              <a:spcBef>
                <a:spcPts val="278"/>
              </a:spcBef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="" xmlns:a16="http://schemas.microsoft.com/office/drawing/2014/main" id="{901A2065-C6E3-8564-9C6C-320A86DA4B70}"/>
              </a:ext>
            </a:extLst>
          </p:cNvPr>
          <p:cNvSpPr txBox="1"/>
          <p:nvPr/>
        </p:nvSpPr>
        <p:spPr>
          <a:xfrm>
            <a:off x="4567849" y="771550"/>
            <a:ext cx="3163969" cy="42255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Domain Model</a:t>
            </a:r>
          </a:p>
          <a:p>
            <a:pPr>
              <a:spcBef>
                <a:spcPts val="75"/>
              </a:spcBef>
            </a:pPr>
            <a:endParaRPr sz="1200" dirty="0">
              <a:latin typeface="Calibri"/>
              <a:cs typeface="Calibri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="" xmlns:a16="http://schemas.microsoft.com/office/drawing/2014/main" id="{6E5FD797-D0B3-6A24-2C59-0AEE4082D5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839" y="2211710"/>
            <a:ext cx="3166717" cy="2152995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OOAD </a:t>
            </a:r>
            <a:r>
              <a:rPr lang="ko-KR" altLang="en-US" dirty="0"/>
              <a:t>예시 </a:t>
            </a:r>
            <a:r>
              <a:rPr lang="en-US" altLang="ko-KR" dirty="0"/>
              <a:t>- Play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Dice Game! (OOA)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="" xmlns:a16="http://schemas.microsoft.com/office/drawing/2014/main" id="{58350E8C-8377-4B07-8040-00C7CF476B2D}"/>
              </a:ext>
            </a:extLst>
          </p:cNvPr>
          <p:cNvSpPr txBox="1">
            <a:spLocks/>
          </p:cNvSpPr>
          <p:nvPr/>
        </p:nvSpPr>
        <p:spPr>
          <a:xfrm>
            <a:off x="99884" y="1151914"/>
            <a:ext cx="4112076" cy="1110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플레이어</a:t>
            </a:r>
            <a:r>
              <a:rPr lang="en-US" altLang="ko-KR" spc="-110" dirty="0"/>
              <a:t>(Player)</a:t>
            </a:r>
            <a:r>
              <a:rPr lang="ko-KR" altLang="en-US" spc="-110" dirty="0"/>
              <a:t>가 주사위 굴리기를 요청한다</a:t>
            </a:r>
            <a:r>
              <a:rPr lang="en-US" altLang="ko-KR" spc="-110" dirty="0"/>
              <a:t>.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시스템은 결과를 보여준다</a:t>
            </a:r>
            <a:r>
              <a:rPr lang="en-US" altLang="ko-KR" spc="-110" dirty="0"/>
              <a:t>.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주사위 합이 </a:t>
            </a:r>
            <a:r>
              <a:rPr lang="en-US" altLang="ko-KR" spc="-110" dirty="0"/>
              <a:t>7</a:t>
            </a:r>
            <a:r>
              <a:rPr lang="ko-KR" altLang="en-US" spc="-110" dirty="0"/>
              <a:t>이면 플레이어가 이긴다</a:t>
            </a:r>
            <a:r>
              <a:rPr lang="en-US" altLang="ko-KR" spc="-110" dirty="0"/>
              <a:t>.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그렇지 않으면 플레이어가 진다</a:t>
            </a:r>
            <a:r>
              <a:rPr lang="en-US" altLang="ko-KR" spc="-110" dirty="0"/>
              <a:t>.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="" xmlns:a16="http://schemas.microsoft.com/office/drawing/2014/main" id="{98386144-0848-4B02-9FE9-2ED349B11446}"/>
              </a:ext>
            </a:extLst>
          </p:cNvPr>
          <p:cNvSpPr txBox="1">
            <a:spLocks/>
          </p:cNvSpPr>
          <p:nvPr/>
        </p:nvSpPr>
        <p:spPr>
          <a:xfrm>
            <a:off x="4067944" y="1151914"/>
            <a:ext cx="4112076" cy="1110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객체 관점에서 도메인에 대하여 기술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개념</a:t>
            </a:r>
            <a:r>
              <a:rPr lang="en-US" altLang="ko-KR" spc="-110" dirty="0"/>
              <a:t>, </a:t>
            </a:r>
            <a:r>
              <a:rPr lang="ko-KR" altLang="en-US" spc="-110" dirty="0"/>
              <a:t>속성</a:t>
            </a:r>
            <a:r>
              <a:rPr lang="en-US" altLang="ko-KR" spc="-110" dirty="0"/>
              <a:t>, </a:t>
            </a:r>
            <a:r>
              <a:rPr lang="ko-KR" altLang="en-US" spc="-110" dirty="0"/>
              <a:t>관계</a:t>
            </a:r>
            <a:r>
              <a:rPr lang="en-US" altLang="ko-KR" spc="-110" dirty="0"/>
              <a:t>(association) </a:t>
            </a:r>
            <a:r>
              <a:rPr lang="ko-KR" altLang="en-US" spc="-110" dirty="0"/>
              <a:t>등을 식별</a:t>
            </a:r>
          </a:p>
        </p:txBody>
      </p:sp>
    </p:spTree>
    <p:extLst>
      <p:ext uri="{BB962C8B-B14F-4D97-AF65-F5344CB8AC3E}">
        <p14:creationId xmlns:p14="http://schemas.microsoft.com/office/powerpoint/2010/main" val="338192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1943258C-700B-3DC6-4362-73FAD096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3EB2DA4-6A84-4095-99A1-C3BFE4AB8B2F}"/>
              </a:ext>
            </a:extLst>
          </p:cNvPr>
          <p:cNvSpPr txBox="1"/>
          <p:nvPr/>
        </p:nvSpPr>
        <p:spPr>
          <a:xfrm>
            <a:off x="592600" y="781927"/>
            <a:ext cx="3665080" cy="13117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Sequence Diagram</a:t>
            </a:r>
          </a:p>
          <a:p>
            <a:pPr marL="9525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endParaRPr lang="en-US" sz="1200" dirty="0">
              <a:latin typeface="Malgun Gothic"/>
              <a:cs typeface="Malgun Gothic"/>
            </a:endParaRPr>
          </a:p>
          <a:p>
            <a:pPr marL="0"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일련의</a:t>
            </a:r>
            <a:r>
              <a:rPr sz="1200" spc="-41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기능</a:t>
            </a:r>
            <a:r>
              <a:rPr sz="1200" dirty="0">
                <a:latin typeface="Malgun Gothic"/>
                <a:cs typeface="Malgun Gothic"/>
              </a:rPr>
              <a:t>(</a:t>
            </a:r>
            <a:r>
              <a:rPr sz="1200" dirty="0" err="1">
                <a:latin typeface="Malgun Gothic"/>
                <a:cs typeface="Malgun Gothic"/>
              </a:rPr>
              <a:t>동작</a:t>
            </a:r>
            <a:r>
              <a:rPr sz="1200" dirty="0">
                <a:latin typeface="Malgun Gothic"/>
                <a:cs typeface="Malgun Gothic"/>
              </a:rPr>
              <a:t>)에</a:t>
            </a:r>
            <a:r>
              <a:rPr sz="1200" spc="-34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대해</a:t>
            </a:r>
            <a:r>
              <a:rPr sz="1200" spc="-41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책임</a:t>
            </a:r>
            <a:r>
              <a:rPr sz="1200" dirty="0">
                <a:latin typeface="Malgun Gothic"/>
                <a:cs typeface="Malgun Gothic"/>
              </a:rPr>
              <a:t>(</a:t>
            </a:r>
            <a:r>
              <a:rPr sz="1200" dirty="0" err="1">
                <a:latin typeface="Malgun Gothic"/>
                <a:cs typeface="Malgun Gothic"/>
              </a:rPr>
              <a:t>메소드</a:t>
            </a:r>
            <a:r>
              <a:rPr sz="1200" dirty="0">
                <a:latin typeface="Malgun Gothic"/>
                <a:cs typeface="Malgun Gothic"/>
              </a:rPr>
              <a:t>)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lang="en-US" sz="1200" spc="-45" dirty="0">
                <a:latin typeface="Malgun Gothic"/>
                <a:cs typeface="Malgun Gothic"/>
              </a:rPr>
              <a:t> </a:t>
            </a:r>
            <a:r>
              <a:rPr sz="1200" spc="-19" dirty="0" err="1">
                <a:latin typeface="Malgun Gothic"/>
                <a:cs typeface="Malgun Gothic"/>
              </a:rPr>
              <a:t>할당</a:t>
            </a:r>
            <a:endParaRPr lang="en-US" sz="1200" spc="-19" dirty="0">
              <a:latin typeface="Malgun Gothic"/>
              <a:cs typeface="Malgun Gothic"/>
            </a:endParaRPr>
          </a:p>
          <a:p>
            <a:pPr marL="0"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spc="-19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객체</a:t>
            </a:r>
            <a:r>
              <a:rPr lang="ko-KR" altLang="en-US" sz="1200" dirty="0">
                <a:latin typeface="Malgun Gothic"/>
                <a:cs typeface="Malgun Gothic"/>
              </a:rPr>
              <a:t>간 </a:t>
            </a:r>
            <a:r>
              <a:rPr sz="1200" dirty="0" err="1">
                <a:latin typeface="Malgun Gothic"/>
                <a:cs typeface="Malgun Gothic"/>
              </a:rPr>
              <a:t>상호작용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lang="ko-KR" altLang="en-US" sz="1200" spc="-30" dirty="0">
                <a:latin typeface="Malgun Gothic"/>
                <a:cs typeface="Malgun Gothic"/>
              </a:rPr>
              <a:t>표현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274320" marR="3810">
              <a:lnSpc>
                <a:spcPct val="150000"/>
              </a:lnSpc>
              <a:spcBef>
                <a:spcPts val="255"/>
              </a:spcBef>
            </a:pPr>
            <a:endParaRPr sz="1050" dirty="0">
              <a:latin typeface="Malgun Gothic"/>
              <a:cs typeface="Malgun Gothic"/>
            </a:endParaRPr>
          </a:p>
          <a:p>
            <a:pPr marR="314325" algn="ctr"/>
            <a:r>
              <a:rPr sz="1350" b="1" spc="-8" dirty="0">
                <a:solidFill>
                  <a:srgbClr val="000099"/>
                </a:solidFill>
                <a:latin typeface="Verdana"/>
                <a:cs typeface="Verdana"/>
              </a:rPr>
              <a:t>Play!</a:t>
            </a:r>
            <a:endParaRPr sz="1350" dirty="0">
              <a:latin typeface="Verdana"/>
              <a:cs typeface="Verdan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709B90AB-76EF-DCB8-B196-D546285556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441" y="2283718"/>
            <a:ext cx="2944471" cy="212765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A99A38A9-4877-BC9F-19C1-91559CD0AF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316323"/>
            <a:ext cx="3705980" cy="136676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="" xmlns:a16="http://schemas.microsoft.com/office/drawing/2014/main" id="{22A66331-8BA4-0221-4810-6DB01581F3AE}"/>
              </a:ext>
            </a:extLst>
          </p:cNvPr>
          <p:cNvSpPr txBox="1"/>
          <p:nvPr/>
        </p:nvSpPr>
        <p:spPr>
          <a:xfrm>
            <a:off x="4544421" y="771550"/>
            <a:ext cx="4176464" cy="10514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Class Diagram</a:t>
            </a:r>
          </a:p>
          <a:p>
            <a:pPr marL="9525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endParaRPr lang="en-US" sz="1200" spc="-19" dirty="0">
              <a:latin typeface="Malgun Gothic"/>
            </a:endParaRPr>
          </a:p>
          <a:p>
            <a:pPr marL="0"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spc="-8" dirty="0">
                <a:latin typeface="Malgun Gothic"/>
                <a:cs typeface="Malgun Gothic"/>
              </a:rPr>
              <a:t> </a:t>
            </a:r>
            <a:r>
              <a:rPr lang="en-US" sz="1200" dirty="0" err="1">
                <a:latin typeface="Malgun Gothic"/>
                <a:cs typeface="Malgun Gothic"/>
              </a:rPr>
              <a:t>Class</a:t>
            </a:r>
            <a:r>
              <a:rPr sz="1200" dirty="0" err="1">
                <a:latin typeface="Malgun Gothic"/>
                <a:cs typeface="Malgun Gothic"/>
              </a:rPr>
              <a:t>들의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정적인</a:t>
            </a:r>
            <a:r>
              <a:rPr sz="1200" spc="-49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뷰(Static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view)</a:t>
            </a:r>
            <a:r>
              <a:rPr sz="1200" spc="-49" dirty="0">
                <a:latin typeface="Malgun Gothic"/>
                <a:cs typeface="Malgun Gothic"/>
              </a:rPr>
              <a:t> </a:t>
            </a:r>
            <a:r>
              <a:rPr sz="1200" spc="-19" dirty="0" err="1">
                <a:latin typeface="Malgun Gothic"/>
                <a:cs typeface="Malgun Gothic"/>
              </a:rPr>
              <a:t>정의</a:t>
            </a:r>
            <a:endParaRPr lang="en-US" sz="1200" spc="-19" dirty="0">
              <a:latin typeface="Malgun Gothic"/>
              <a:cs typeface="Malgun Gothic"/>
            </a:endParaRPr>
          </a:p>
          <a:p>
            <a:pPr marL="0"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spc="-8" dirty="0">
                <a:latin typeface="Malgun Gothic"/>
                <a:cs typeface="Malgun Gothic"/>
              </a:rPr>
              <a:t> </a:t>
            </a:r>
            <a:r>
              <a:rPr lang="en-US" sz="1200" dirty="0" err="1">
                <a:latin typeface="Malgun Gothic"/>
                <a:cs typeface="Malgun Gothic"/>
              </a:rPr>
              <a:t>Class</a:t>
            </a:r>
            <a:r>
              <a:rPr sz="1200" dirty="0" err="1">
                <a:latin typeface="Malgun Gothic"/>
                <a:cs typeface="Malgun Gothic"/>
              </a:rPr>
              <a:t>의</a:t>
            </a:r>
            <a:r>
              <a:rPr sz="1200" spc="-41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속성과</a:t>
            </a:r>
            <a:r>
              <a:rPr sz="1200" spc="-38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메소드</a:t>
            </a:r>
            <a:r>
              <a:rPr lang="en-US" sz="1200" dirty="0"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latin typeface="Malgun Gothic"/>
                <a:cs typeface="Malgun Gothic"/>
              </a:rPr>
              <a:t>표현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0"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spc="-8" dirty="0">
                <a:latin typeface="Malgun Gothic"/>
                <a:cs typeface="Malgun Gothic"/>
              </a:rPr>
              <a:t> Sequence </a:t>
            </a:r>
            <a:r>
              <a:rPr lang="en-US" sz="1200" spc="-8" dirty="0" err="1">
                <a:latin typeface="Malgun Gothic"/>
                <a:cs typeface="Malgun Gothic"/>
              </a:rPr>
              <a:t>Diagmam</a:t>
            </a:r>
            <a:r>
              <a:rPr lang="ko-KR" altLang="en-US" sz="1200" spc="-8" dirty="0">
                <a:latin typeface="Malgun Gothic"/>
                <a:cs typeface="Malgun Gothic"/>
              </a:rPr>
              <a:t>으로 </a:t>
            </a:r>
            <a:r>
              <a:rPr lang="en-US" sz="1200" spc="-41" dirty="0">
                <a:latin typeface="Malgun Gothic"/>
                <a:cs typeface="Malgun Gothic"/>
              </a:rPr>
              <a:t>Class Diagram</a:t>
            </a:r>
            <a:r>
              <a:rPr sz="1200" spc="-34" dirty="0">
                <a:latin typeface="Malgun Gothic"/>
                <a:cs typeface="Malgun Gothic"/>
              </a:rPr>
              <a:t> </a:t>
            </a:r>
            <a:r>
              <a:rPr sz="1200" dirty="0" err="1">
                <a:latin typeface="Malgun Gothic"/>
                <a:cs typeface="Malgun Gothic"/>
              </a:rPr>
              <a:t>일부</a:t>
            </a:r>
            <a:r>
              <a:rPr lang="en-US" sz="1200" dirty="0"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latin typeface="Malgun Gothic"/>
                <a:cs typeface="Malgun Gothic"/>
              </a:rPr>
              <a:t>구현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OOAD </a:t>
            </a:r>
            <a:r>
              <a:rPr lang="ko-KR" altLang="en-US" dirty="0"/>
              <a:t>예시 </a:t>
            </a:r>
            <a:r>
              <a:rPr lang="en-US" altLang="ko-KR" dirty="0"/>
              <a:t>- Play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Dice Game! (OOD)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15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</a:t>
            </a:r>
            <a:r>
              <a:rPr lang="ko-KR" altLang="en-US" dirty="0"/>
              <a:t>개발 방법론 </a:t>
            </a:r>
            <a:r>
              <a:rPr lang="en-US" altLang="ko-KR" dirty="0"/>
              <a:t>- RUP (Rational Unified Process)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561672" y="699542"/>
            <a:ext cx="4371389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RUP: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IBM Rational 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사에서 개발한 소프트웨어 개발 방법론</a:t>
            </a:r>
            <a:endParaRPr lang="en-US" altLang="ko-KR" sz="14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99884" y="1006630"/>
            <a:ext cx="7272808" cy="55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>
                <a:solidFill>
                  <a:srgbClr val="11236D"/>
                </a:solidFill>
              </a:rPr>
              <a:t>반복적</a:t>
            </a:r>
            <a:r>
              <a:rPr lang="en-US" altLang="ko-KR" spc="-110" dirty="0">
                <a:solidFill>
                  <a:srgbClr val="11236D"/>
                </a:solidFill>
              </a:rPr>
              <a:t>(</a:t>
            </a:r>
            <a:r>
              <a:rPr lang="en-US" altLang="ko-KR" u="sng" spc="-110" dirty="0">
                <a:solidFill>
                  <a:srgbClr val="11236D"/>
                </a:solidFill>
              </a:rPr>
              <a:t>iterative</a:t>
            </a:r>
            <a:r>
              <a:rPr lang="en-US" altLang="ko-KR" spc="-110" dirty="0">
                <a:solidFill>
                  <a:srgbClr val="11236D"/>
                </a:solidFill>
              </a:rPr>
              <a:t>)</a:t>
            </a:r>
            <a:r>
              <a:rPr lang="ko-KR" altLang="en-US" spc="-110" dirty="0">
                <a:solidFill>
                  <a:srgbClr val="11236D"/>
                </a:solidFill>
              </a:rPr>
              <a:t>이고 점증적</a:t>
            </a:r>
            <a:r>
              <a:rPr lang="en-US" altLang="ko-KR" spc="-110" dirty="0">
                <a:solidFill>
                  <a:srgbClr val="11236D"/>
                </a:solidFill>
              </a:rPr>
              <a:t>(</a:t>
            </a:r>
            <a:r>
              <a:rPr lang="en-US" altLang="ko-KR" u="sng" spc="-110" dirty="0">
                <a:solidFill>
                  <a:srgbClr val="11236D"/>
                </a:solidFill>
              </a:rPr>
              <a:t>incremental</a:t>
            </a:r>
            <a:r>
              <a:rPr lang="en-US" altLang="ko-KR" spc="-110" dirty="0">
                <a:solidFill>
                  <a:srgbClr val="11236D"/>
                </a:solidFill>
              </a:rPr>
              <a:t>)</a:t>
            </a:r>
            <a:r>
              <a:rPr lang="ko-KR" altLang="en-US" spc="-110" dirty="0"/>
              <a:t>으로 소프트웨어 개발을 진행하는 유연한 개발 방법론</a:t>
            </a:r>
            <a:endParaRPr lang="en-US" altLang="ko-KR" spc="-11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u="sng" spc="-110" dirty="0">
                <a:solidFill>
                  <a:srgbClr val="11236D"/>
                </a:solidFill>
              </a:rPr>
              <a:t>Iteration</a:t>
            </a:r>
            <a:r>
              <a:rPr lang="ko-KR" altLang="en-US" spc="-110" dirty="0"/>
              <a:t>를 통해 요구 사항</a:t>
            </a:r>
            <a:r>
              <a:rPr lang="en-US" altLang="ko-KR" spc="-110" dirty="0"/>
              <a:t>, </a:t>
            </a:r>
            <a:r>
              <a:rPr lang="ko-KR" altLang="en-US" spc="-110" dirty="0"/>
              <a:t>분석</a:t>
            </a:r>
            <a:r>
              <a:rPr lang="en-US" altLang="ko-KR" spc="-110" dirty="0"/>
              <a:t>, </a:t>
            </a:r>
            <a:r>
              <a:rPr lang="ko-KR" altLang="en-US" spc="-110" dirty="0"/>
              <a:t>설계</a:t>
            </a:r>
            <a:r>
              <a:rPr lang="en-US" altLang="ko-KR" spc="-110" dirty="0"/>
              <a:t>, </a:t>
            </a:r>
            <a:r>
              <a:rPr lang="ko-KR" altLang="en-US" spc="-110" dirty="0"/>
              <a:t>구현</a:t>
            </a:r>
            <a:r>
              <a:rPr lang="en-US" altLang="ko-KR" spc="-110" dirty="0"/>
              <a:t>, </a:t>
            </a:r>
            <a:r>
              <a:rPr lang="ko-KR" altLang="en-US" spc="-110" dirty="0"/>
              <a:t>테스트 및 배포와 같은 소프트웨어 개발 프로세스를 수행</a:t>
            </a:r>
            <a:endParaRPr lang="en-US" altLang="ko-KR" spc="-11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61672" y="1658506"/>
            <a:ext cx="973023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RUP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의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9884" y="1974233"/>
            <a:ext cx="8648580" cy="1086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u="sng" spc="-110" dirty="0">
                <a:solidFill>
                  <a:srgbClr val="11236D"/>
                </a:solidFill>
              </a:rPr>
              <a:t>Inception</a:t>
            </a:r>
            <a:r>
              <a:rPr lang="en-US" altLang="ko-KR" spc="-110" dirty="0"/>
              <a:t> : </a:t>
            </a:r>
            <a:r>
              <a:rPr lang="ko-KR" altLang="en-US" spc="-110" dirty="0"/>
              <a:t>프로젝트 목표 설정</a:t>
            </a:r>
            <a:r>
              <a:rPr lang="en-US" altLang="ko-KR" spc="-110" dirty="0"/>
              <a:t>, </a:t>
            </a:r>
            <a:r>
              <a:rPr lang="ko-KR" altLang="en-US" spc="-110" dirty="0"/>
              <a:t>사업성 분석</a:t>
            </a:r>
            <a:r>
              <a:rPr lang="en-US" altLang="ko-KR" spc="-110" dirty="0"/>
              <a:t>, </a:t>
            </a:r>
            <a:r>
              <a:rPr lang="ko-KR" altLang="en-US" spc="-110" dirty="0"/>
              <a:t>대략적 범위 및</a:t>
            </a:r>
            <a:r>
              <a:rPr lang="en-US" altLang="ko-KR" spc="-110" dirty="0"/>
              <a:t> </a:t>
            </a:r>
            <a:r>
              <a:rPr lang="ko-KR" altLang="en-US" spc="-110" dirty="0"/>
              <a:t>비용 추정</a:t>
            </a:r>
            <a:endParaRPr lang="en-US" altLang="ko-KR" spc="-11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u="sng" spc="-110" dirty="0">
                <a:solidFill>
                  <a:srgbClr val="11236D"/>
                </a:solidFill>
              </a:rPr>
              <a:t>Elaboration</a:t>
            </a:r>
            <a:r>
              <a:rPr lang="en-US" altLang="ko-KR" spc="-110" dirty="0"/>
              <a:t> : </a:t>
            </a:r>
            <a:r>
              <a:rPr lang="ko-KR" altLang="en-US" spc="-110" dirty="0"/>
              <a:t>프로젝트 목표 정제</a:t>
            </a:r>
            <a:r>
              <a:rPr lang="en-US" altLang="ko-KR" spc="-110" dirty="0"/>
              <a:t>, </a:t>
            </a:r>
            <a:r>
              <a:rPr lang="ko-KR" altLang="en-US" spc="-110" dirty="0"/>
              <a:t>반복적</a:t>
            </a:r>
            <a:r>
              <a:rPr lang="en-US" altLang="ko-KR" spc="-110" dirty="0"/>
              <a:t> </a:t>
            </a:r>
            <a:r>
              <a:rPr lang="ko-KR" altLang="en-US" b="1" u="sng" spc="-110" dirty="0"/>
              <a:t>핵심 아키텍처 설계</a:t>
            </a:r>
            <a:r>
              <a:rPr lang="en-US" altLang="ko-KR" spc="-110" dirty="0"/>
              <a:t>, </a:t>
            </a:r>
            <a:r>
              <a:rPr lang="ko-KR" altLang="en-US" spc="-110" dirty="0"/>
              <a:t>고위험 요소 제거</a:t>
            </a:r>
            <a:r>
              <a:rPr lang="en-US" altLang="ko-KR" spc="-110" dirty="0"/>
              <a:t>, </a:t>
            </a:r>
            <a:r>
              <a:rPr lang="ko-KR" altLang="en-US" spc="-110" dirty="0"/>
              <a:t>주요 요구사항</a:t>
            </a:r>
            <a:r>
              <a:rPr lang="en-US" altLang="ko-KR" spc="-110" dirty="0"/>
              <a:t>/</a:t>
            </a:r>
            <a:r>
              <a:rPr lang="ko-KR" altLang="en-US" spc="-110" dirty="0"/>
              <a:t>범위 명세</a:t>
            </a:r>
            <a:r>
              <a:rPr lang="en-US" altLang="ko-KR" spc="-110" dirty="0"/>
              <a:t>, </a:t>
            </a:r>
            <a:r>
              <a:rPr lang="ko-KR" altLang="en-US" spc="-110" dirty="0"/>
              <a:t>현실적 비용 추정</a:t>
            </a:r>
            <a:endParaRPr lang="en-US" altLang="ko-KR" spc="-11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u="sng" spc="-110" dirty="0">
                <a:solidFill>
                  <a:srgbClr val="11236D"/>
                </a:solidFill>
              </a:rPr>
              <a:t>Construction</a:t>
            </a:r>
            <a:r>
              <a:rPr lang="en-US" altLang="ko-KR" spc="-110" dirty="0"/>
              <a:t> : </a:t>
            </a:r>
            <a:r>
              <a:rPr lang="ko-KR" altLang="en-US" spc="-110" dirty="0"/>
              <a:t>상세 요구사항에 대해 반복적 설계</a:t>
            </a:r>
            <a:r>
              <a:rPr lang="en-US" altLang="ko-KR" spc="-110" dirty="0"/>
              <a:t>/</a:t>
            </a:r>
            <a:r>
              <a:rPr lang="ko-KR" altLang="en-US" spc="-110" dirty="0"/>
              <a:t>구현</a:t>
            </a:r>
            <a:r>
              <a:rPr lang="en-US" altLang="ko-KR" spc="-110" dirty="0"/>
              <a:t>, </a:t>
            </a:r>
            <a:r>
              <a:rPr lang="ko-KR" altLang="en-US" spc="-110" dirty="0" err="1"/>
              <a:t>저위험</a:t>
            </a:r>
            <a:r>
              <a:rPr lang="ko-KR" altLang="en-US" spc="-110" dirty="0"/>
              <a:t> 요소 제거</a:t>
            </a:r>
            <a:r>
              <a:rPr lang="en-US" altLang="ko-KR" spc="-110" dirty="0"/>
              <a:t>, </a:t>
            </a:r>
            <a:r>
              <a:rPr lang="ko-KR" altLang="en-US" spc="-110" dirty="0"/>
              <a:t>배포 준비</a:t>
            </a:r>
            <a:endParaRPr lang="ko-KR" altLang="en-US" b="1" u="sng" spc="-110" dirty="0">
              <a:solidFill>
                <a:srgbClr val="11236D"/>
              </a:solidFill>
            </a:endParaRP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u="sng" spc="-110" dirty="0">
                <a:solidFill>
                  <a:srgbClr val="11236D"/>
                </a:solidFill>
              </a:rPr>
              <a:t>Transition</a:t>
            </a:r>
            <a:r>
              <a:rPr lang="en-US" altLang="ko-KR" spc="-110" dirty="0"/>
              <a:t> : </a:t>
            </a:r>
            <a:r>
              <a:rPr lang="ko-KR" altLang="en-US" spc="-110" dirty="0"/>
              <a:t>베타 테스트 및 배포</a:t>
            </a:r>
          </a:p>
        </p:txBody>
      </p:sp>
      <p:pic>
        <p:nvPicPr>
          <p:cNvPr id="2050" name="Picture 2" descr="https://upload.wikimedia.org/wikipedia/commons/thumb/c/c2/Unified_Process_Model_for_Iterative_Development.svg/500px-Unified_Process_Model_for_Iterative_Development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75" y="3291830"/>
            <a:ext cx="2448272" cy="1733378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20" y="3291830"/>
            <a:ext cx="3831664" cy="17699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976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</a:t>
            </a:r>
            <a:r>
              <a:rPr lang="ko-KR" altLang="en-US" dirty="0"/>
              <a:t>개발 방법론 </a:t>
            </a:r>
            <a:r>
              <a:rPr lang="en-US" altLang="ko-KR" dirty="0"/>
              <a:t>- OOPT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527740" y="699542"/>
            <a:ext cx="361252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OOPT (Object-Oriented Process with Traceability)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8812" y="1071018"/>
            <a:ext cx="7867564" cy="1050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객체지향 프로그래밍과 추적 가능성</a:t>
            </a:r>
            <a:r>
              <a:rPr lang="en-US" altLang="ko-KR" spc="-110" dirty="0"/>
              <a:t>(Traceability)</a:t>
            </a:r>
            <a:r>
              <a:rPr lang="ko-KR" altLang="en-US" spc="-110" dirty="0"/>
              <a:t>을 결합한 소프트웨어 개발 방법론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요구사항에서부터 코드까지 모든 요소를 연결하고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일관성을 유지하는 것을 목표로 함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반복적</a:t>
            </a:r>
            <a:r>
              <a:rPr lang="en-US" altLang="ko-KR" spc="-110" dirty="0"/>
              <a:t>(iterative)</a:t>
            </a:r>
            <a:r>
              <a:rPr lang="ko-KR" altLang="en-US" spc="-110" dirty="0"/>
              <a:t>이고 점증적</a:t>
            </a:r>
            <a:r>
              <a:rPr lang="en-US" altLang="ko-KR" spc="-110" dirty="0"/>
              <a:t>(incremental)</a:t>
            </a:r>
            <a:r>
              <a:rPr lang="ko-KR" altLang="en-US" spc="-110" dirty="0"/>
              <a:t>인 특징은 </a:t>
            </a:r>
            <a:r>
              <a:rPr lang="en-US" altLang="ko-KR" b="1" u="sng" spc="-110" dirty="0">
                <a:solidFill>
                  <a:srgbClr val="11236D"/>
                </a:solidFill>
              </a:rPr>
              <a:t>RUP</a:t>
            </a:r>
            <a:r>
              <a:rPr lang="ko-KR" altLang="en-US" b="1" u="sng" spc="-110" dirty="0">
                <a:solidFill>
                  <a:srgbClr val="11236D"/>
                </a:solidFill>
              </a:rPr>
              <a:t>와 유사함</a:t>
            </a:r>
            <a:endParaRPr lang="en-US" altLang="ko-KR" b="1" u="sng" spc="-110" dirty="0">
              <a:solidFill>
                <a:srgbClr val="11236D"/>
              </a:solidFill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요구사항 변경이 많은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S/W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 개발 에 효과적인 방법론으로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이</a:t>
            </a:r>
            <a:r>
              <a:rPr lang="ko-KR" altLang="en-US" dirty="0">
                <a:solidFill>
                  <a:srgbClr val="24292F"/>
                </a:solidFill>
                <a:latin typeface="Noto Sans KR"/>
              </a:rPr>
              <a:t>외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다양한 산업 분야에서도 활용 중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u="sng" spc="-110" dirty="0">
                <a:solidFill>
                  <a:srgbClr val="11236D"/>
                </a:solidFill>
              </a:rPr>
              <a:t>이번 </a:t>
            </a:r>
            <a:r>
              <a:rPr lang="en-US" altLang="ko-KR" b="1" u="sng" spc="-110" dirty="0">
                <a:solidFill>
                  <a:srgbClr val="11236D"/>
                </a:solidFill>
              </a:rPr>
              <a:t>OOAD </a:t>
            </a:r>
            <a:r>
              <a:rPr lang="ko-KR" altLang="en-US" b="1" u="sng" spc="-110" dirty="0">
                <a:solidFill>
                  <a:srgbClr val="11236D"/>
                </a:solidFill>
              </a:rPr>
              <a:t>과목에서 실습할 </a:t>
            </a:r>
            <a:r>
              <a:rPr lang="ko-KR" altLang="en-US" spc="-110" dirty="0"/>
              <a:t>개발 방법론</a:t>
            </a:r>
            <a:endParaRPr lang="en-US" altLang="ko-KR" spc="-110" dirty="0"/>
          </a:p>
        </p:txBody>
      </p:sp>
      <p:graphicFrame>
        <p:nvGraphicFramePr>
          <p:cNvPr id="11" name="개체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763468"/>
              </p:ext>
            </p:extLst>
          </p:nvPr>
        </p:nvGraphicFramePr>
        <p:xfrm>
          <a:off x="527740" y="365187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프레젠테이션" showAsIcon="1" r:id="rId3" imgW="914400" imgH="806400" progId="PowerPoint.Show.12">
                  <p:embed/>
                </p:oleObj>
              </mc:Choice>
              <mc:Fallback>
                <p:oleObj name="프레젠테이션" showAsIcon="1" r:id="rId3" imgW="914400" imgH="806400" progId="PowerPoint.Show.12">
                  <p:embed/>
                  <p:pic>
                    <p:nvPicPr>
                      <p:cNvPr id="11" name="개체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7740" y="365187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내용 개체 틀 2"/>
          <p:cNvSpPr txBox="1">
            <a:spLocks/>
          </p:cNvSpPr>
          <p:nvPr/>
        </p:nvSpPr>
        <p:spPr>
          <a:xfrm>
            <a:off x="550152" y="3225774"/>
            <a:ext cx="82554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OOPT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소개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6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</a:t>
            </a:r>
            <a:r>
              <a:rPr lang="ko-KR" altLang="en-US" dirty="0"/>
              <a:t>개발 방법론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527740" y="699542"/>
            <a:ext cx="3585533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반복적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(iterative)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이고 점증적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(incremental)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인 개발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8812" y="1071018"/>
            <a:ext cx="7867564" cy="1050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요구사항을 단계적으로 구체화할 수 있고</a:t>
            </a:r>
            <a:r>
              <a:rPr lang="en-US" altLang="ko-KR" spc="-110" dirty="0"/>
              <a:t>, </a:t>
            </a:r>
            <a:r>
              <a:rPr lang="ko-KR" altLang="en-US" spc="-110" dirty="0"/>
              <a:t>변경에 유연하게 대응 가능</a:t>
            </a:r>
            <a:endParaRPr lang="en-US" altLang="ko-KR" spc="-110" dirty="0"/>
          </a:p>
        </p:txBody>
      </p:sp>
      <p:pic>
        <p:nvPicPr>
          <p:cNvPr id="7" name="Google Shape;1352;p141">
            <a:extLst>
              <a:ext uri="{FF2B5EF4-FFF2-40B4-BE49-F238E27FC236}">
                <a16:creationId xmlns="" xmlns:a16="http://schemas.microsoft.com/office/drawing/2014/main" id="{64896236-3FAB-44AB-AF96-342CD5DC4F9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6754" y="2355726"/>
            <a:ext cx="4035246" cy="195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57;p142">
            <a:extLst>
              <a:ext uri="{FF2B5EF4-FFF2-40B4-BE49-F238E27FC236}">
                <a16:creationId xmlns="" xmlns:a16="http://schemas.microsoft.com/office/drawing/2014/main" id="{7285C10B-2B76-4ADC-A828-EF9E03BDBD8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8184" y="1429729"/>
            <a:ext cx="2121318" cy="1718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59;p142">
            <a:extLst>
              <a:ext uri="{FF2B5EF4-FFF2-40B4-BE49-F238E27FC236}">
                <a16:creationId xmlns="" xmlns:a16="http://schemas.microsoft.com/office/drawing/2014/main" id="{F5DAEC9C-33A7-4F72-933F-CE8936FA77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7811" y="3523913"/>
            <a:ext cx="2091691" cy="1481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134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UML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5496" y="2207906"/>
            <a:ext cx="8712968" cy="228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>
                <a:solidFill>
                  <a:schemeClr val="tx1"/>
                </a:solidFill>
              </a:rPr>
              <a:t>의사소통 도구</a:t>
            </a:r>
            <a:r>
              <a:rPr lang="en-US" altLang="ko-KR" spc="-110" dirty="0"/>
              <a:t>: </a:t>
            </a:r>
            <a:r>
              <a:rPr lang="ko-KR" altLang="en-US" spc="-110" dirty="0"/>
              <a:t>시각적 모델을 사용하여 이해관계자에게 개념을 명확하게 전달하고 이해하기 </a:t>
            </a:r>
            <a:r>
              <a:rPr lang="ko-KR" altLang="en-US" spc="-110" dirty="0" err="1"/>
              <a:t>쉽게함</a:t>
            </a:r>
            <a:endParaRPr lang="en-US" altLang="ko-KR" spc="-110" dirty="0"/>
          </a:p>
          <a:p>
            <a:pPr lvl="1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/>
              <a:t>분석</a:t>
            </a:r>
            <a:r>
              <a:rPr lang="en-US" altLang="ko-KR" b="1" spc="-110" dirty="0"/>
              <a:t>/</a:t>
            </a:r>
            <a:r>
              <a:rPr lang="ko-KR" altLang="en-US" b="1" spc="-110" dirty="0"/>
              <a:t>설계 지원</a:t>
            </a:r>
            <a:r>
              <a:rPr lang="en-US" altLang="ko-KR" spc="-110" dirty="0"/>
              <a:t>: </a:t>
            </a:r>
            <a:r>
              <a:rPr lang="ko-KR" altLang="en-US" spc="-110" dirty="0"/>
              <a:t>시스템의 구성 요소</a:t>
            </a:r>
            <a:r>
              <a:rPr lang="en-US" altLang="ko-KR" spc="-110" dirty="0"/>
              <a:t>, </a:t>
            </a:r>
            <a:r>
              <a:rPr lang="ko-KR" altLang="en-US" spc="-110" dirty="0"/>
              <a:t>관계</a:t>
            </a:r>
            <a:r>
              <a:rPr lang="en-US" altLang="ko-KR" spc="-110" dirty="0"/>
              <a:t>, </a:t>
            </a:r>
            <a:r>
              <a:rPr lang="ko-KR" altLang="en-US" spc="-110" dirty="0"/>
              <a:t>동작 및 구조를 모델링하여 문제를 이해하고 해결하는 데 도움이 됨</a:t>
            </a:r>
            <a:endParaRPr lang="en-US" altLang="ko-KR" spc="-110" dirty="0"/>
          </a:p>
          <a:p>
            <a:pPr lvl="1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/>
              <a:t>시스템 이해</a:t>
            </a:r>
            <a:r>
              <a:rPr lang="en-US" altLang="ko-KR" spc="-110" dirty="0"/>
              <a:t>: SW</a:t>
            </a:r>
            <a:r>
              <a:rPr lang="ko-KR" altLang="en-US" spc="-110" dirty="0"/>
              <a:t> 시스템의 전체 구조와 작동 방식을 시각화하여 시스템의 복잡성을 이해하고 시스템을 개선하는데 도움을 줌</a:t>
            </a:r>
            <a:endParaRPr lang="en-US" altLang="ko-KR" spc="-110" dirty="0"/>
          </a:p>
          <a:p>
            <a:pPr lvl="1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/>
              <a:t>문서화</a:t>
            </a:r>
            <a:r>
              <a:rPr lang="en-US" altLang="ko-KR" spc="-110" dirty="0"/>
              <a:t>: UML </a:t>
            </a:r>
            <a:r>
              <a:rPr lang="ko-KR" altLang="en-US" spc="-110" dirty="0"/>
              <a:t>다이어그램은 요구 사항</a:t>
            </a:r>
            <a:r>
              <a:rPr lang="en-US" altLang="ko-KR" spc="-110" dirty="0"/>
              <a:t>, </a:t>
            </a:r>
            <a:r>
              <a:rPr lang="ko-KR" altLang="en-US" spc="-110" dirty="0"/>
              <a:t>설계 및 구현에 대한 문서화된 정보를 제공하여 프로젝트의 문서화를 지원함</a:t>
            </a:r>
            <a:endParaRPr lang="en-US" altLang="ko-KR" spc="-110" dirty="0"/>
          </a:p>
          <a:p>
            <a:pPr lvl="1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/>
              <a:t>품질 향상</a:t>
            </a:r>
            <a:r>
              <a:rPr lang="en-US" altLang="ko-KR" spc="-110" dirty="0"/>
              <a:t>: </a:t>
            </a:r>
            <a:r>
              <a:rPr lang="ko-KR" altLang="en-US" spc="-110" dirty="0"/>
              <a:t>시스템을 분석</a:t>
            </a:r>
            <a:r>
              <a:rPr lang="en-US" altLang="ko-KR" spc="-110" dirty="0"/>
              <a:t>/</a:t>
            </a:r>
            <a:r>
              <a:rPr lang="ko-KR" altLang="en-US" spc="-110" dirty="0"/>
              <a:t>설계하는 과정에서 문제를 식별하고 해결할 수 있어</a:t>
            </a:r>
            <a:r>
              <a:rPr lang="en-US" altLang="ko-KR" spc="-110" dirty="0"/>
              <a:t> SW</a:t>
            </a:r>
            <a:r>
              <a:rPr lang="ko-KR" altLang="en-US" spc="-110" dirty="0"/>
              <a:t>시스템 품질을 향상에 도움이 됨</a:t>
            </a:r>
            <a:endParaRPr lang="en-US" altLang="ko-KR" spc="-11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02211" y="699542"/>
            <a:ext cx="2444580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UML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(Unified Modeling Language)</a:t>
            </a: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496" y="1078638"/>
            <a:ext cx="6624736" cy="340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소프트웨어 시스템을 시각적으로 모델링하고 문서화하는 데 사용되는 표준화된 언어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497284" y="1828810"/>
            <a:ext cx="2742739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UML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을 작성하는 이유는 무엇인가요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4562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 목표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97284" y="699542"/>
            <a:ext cx="3308598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반복적인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OOPT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개발 방법론을 체험해봅니다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5496" y="1040538"/>
            <a:ext cx="6696744" cy="55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10" dirty="0"/>
              <a:t>OOA</a:t>
            </a:r>
            <a:r>
              <a:rPr lang="ko-KR" altLang="en-US" spc="-110" dirty="0"/>
              <a:t>와 </a:t>
            </a:r>
            <a:r>
              <a:rPr lang="en-US" altLang="ko-KR" spc="-110" dirty="0"/>
              <a:t>OOD</a:t>
            </a:r>
            <a:r>
              <a:rPr lang="ko-KR" altLang="en-US" spc="-110" dirty="0"/>
              <a:t>를 이해하고 수행하여 각각의 단계에서 산출물을 만들어 봅니다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각 산출물을 여러 번의 </a:t>
            </a:r>
            <a:r>
              <a:rPr lang="en-US" altLang="ko-KR" spc="-110" dirty="0"/>
              <a:t>Iteration</a:t>
            </a:r>
            <a:r>
              <a:rPr lang="ko-KR" altLang="en-US" spc="-110" dirty="0"/>
              <a:t>을 반복하여 수행합니다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‘</a:t>
            </a:r>
            <a:r>
              <a:rPr lang="ko-KR" altLang="en-US" spc="-150" dirty="0"/>
              <a:t>정답</a:t>
            </a:r>
            <a:r>
              <a:rPr lang="en-US" altLang="ko-KR" spc="-150" dirty="0"/>
              <a:t>’ </a:t>
            </a:r>
            <a:r>
              <a:rPr lang="ko-KR" altLang="en-US" spc="-150" dirty="0"/>
              <a:t>이 무엇인지 보다 </a:t>
            </a:r>
            <a:r>
              <a:rPr lang="ko-KR" altLang="en-US" b="1" u="sng" spc="-150" dirty="0"/>
              <a:t>전 과정을 체험해본다는 마인드로 </a:t>
            </a:r>
            <a:r>
              <a:rPr lang="ko-KR" altLang="en-US" spc="-150" dirty="0" err="1"/>
              <a:t>부담없이</a:t>
            </a:r>
            <a:r>
              <a:rPr lang="ko-KR" altLang="en-US" spc="-150" dirty="0"/>
              <a:t> 작성해봅니다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1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97284" y="2173610"/>
            <a:ext cx="195726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UML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작성에 익숙해집니다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5496" y="2552706"/>
            <a:ext cx="8208912" cy="5814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10" dirty="0"/>
              <a:t>Use Case Diagram, System Sequence Diagram, Domain Model </a:t>
            </a:r>
            <a:r>
              <a:rPr lang="ko-KR" altLang="en-US" spc="-110" dirty="0"/>
              <a:t>등을 </a:t>
            </a:r>
            <a:r>
              <a:rPr lang="en-US" altLang="ko-KR" spc="-110" dirty="0"/>
              <a:t>UML Tool</a:t>
            </a:r>
            <a:r>
              <a:rPr lang="ko-KR" altLang="en-US" spc="-110" dirty="0"/>
              <a:t>을 사용하여 작성해 봅니다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u="sng" spc="-110" dirty="0">
                <a:solidFill>
                  <a:srgbClr val="11236D"/>
                </a:solidFill>
              </a:rPr>
              <a:t>이번 과목에서 학습한 모든 </a:t>
            </a:r>
            <a:r>
              <a:rPr lang="en-US" altLang="ko-KR" b="1" u="sng" spc="-110" dirty="0">
                <a:solidFill>
                  <a:srgbClr val="11236D"/>
                </a:solidFill>
              </a:rPr>
              <a:t>Diagram</a:t>
            </a:r>
            <a:r>
              <a:rPr lang="ko-KR" altLang="en-US" b="1" u="sng" spc="-110" dirty="0">
                <a:solidFill>
                  <a:srgbClr val="11236D"/>
                </a:solidFill>
              </a:rPr>
              <a:t>은 인증 과제에 사용</a:t>
            </a:r>
            <a:r>
              <a:rPr lang="ko-KR" altLang="en-US" spc="-110" dirty="0"/>
              <a:t>됩니다</a:t>
            </a:r>
            <a:endParaRPr lang="en-US" altLang="ko-KR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1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497284" y="3431590"/>
            <a:ext cx="5732338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모든 조원들이 개발중인 시스템을 동일하게 이해할 수 있도록 노력해봅니다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496" y="3810686"/>
            <a:ext cx="8712968" cy="773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용어의 일관성을 유지하고 의사소통을 원활히 하기 위해 </a:t>
            </a:r>
            <a:r>
              <a:rPr lang="en-US" altLang="ko-KR" spc="-110" dirty="0"/>
              <a:t>Glossary</a:t>
            </a:r>
            <a:r>
              <a:rPr lang="ko-KR" altLang="en-US" spc="-110" dirty="0"/>
              <a:t>를</a:t>
            </a:r>
            <a:r>
              <a:rPr lang="en-US" altLang="ko-KR" spc="-110" dirty="0"/>
              <a:t> </a:t>
            </a:r>
            <a:r>
              <a:rPr lang="ko-KR" altLang="en-US" spc="-110" dirty="0"/>
              <a:t>꼼꼼하게 작성합니다</a:t>
            </a:r>
            <a:endParaRPr lang="en-US" altLang="ko-KR" sz="1000" spc="-11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1" spc="-110" dirty="0"/>
              <a:t>조원들과 함께 주도적으로 작성해보고</a:t>
            </a:r>
            <a:r>
              <a:rPr lang="en-US" altLang="ko-KR" b="1" spc="-110" dirty="0"/>
              <a:t>,</a:t>
            </a:r>
            <a:r>
              <a:rPr lang="ko-KR" altLang="en-US" spc="-110" dirty="0"/>
              <a:t> 각 </a:t>
            </a:r>
            <a:r>
              <a:rPr lang="en-US" altLang="ko-KR" spc="-110" dirty="0"/>
              <a:t>Iteration </a:t>
            </a:r>
            <a:r>
              <a:rPr lang="ko-KR" altLang="en-US" spc="-110" dirty="0"/>
              <a:t>마다 작성된 산출물을 리뷰해봅니다</a:t>
            </a:r>
            <a:r>
              <a:rPr lang="en-US" altLang="ko-KR" spc="-110" dirty="0"/>
              <a:t>.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10" dirty="0"/>
              <a:t>의사소통이 잘 되었는지</a:t>
            </a:r>
            <a:r>
              <a:rPr lang="en-US" altLang="ko-KR" spc="-110" dirty="0"/>
              <a:t>, </a:t>
            </a:r>
            <a:r>
              <a:rPr lang="ko-KR" altLang="en-US" spc="-110" dirty="0"/>
              <a:t>시스템의 요구사항을 모두 동일하게 이해하고 있는지</a:t>
            </a:r>
            <a:r>
              <a:rPr lang="en-US" altLang="ko-KR" spc="-110" dirty="0"/>
              <a:t> </a:t>
            </a:r>
            <a:r>
              <a:rPr lang="ko-KR" altLang="en-US" spc="-110" dirty="0"/>
              <a:t>확인할 수 있습니다</a:t>
            </a:r>
            <a:r>
              <a:rPr lang="en-US" altLang="ko-KR" spc="-110" dirty="0"/>
              <a:t>.</a:t>
            </a:r>
            <a:endParaRPr lang="ko-KR" altLang="en-US" spc="-110" dirty="0"/>
          </a:p>
        </p:txBody>
      </p:sp>
    </p:spTree>
    <p:extLst>
      <p:ext uri="{BB962C8B-B14F-4D97-AF65-F5344CB8AC3E}">
        <p14:creationId xmlns:p14="http://schemas.microsoft.com/office/powerpoint/2010/main" val="173270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환경설정</a:t>
            </a:r>
            <a:r>
              <a:rPr lang="en-US" altLang="ko-KR" dirty="0"/>
              <a:t>] </a:t>
            </a:r>
            <a:r>
              <a:rPr lang="ko-KR" altLang="en-US" dirty="0"/>
              <a:t>실습환경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-17130" y="627534"/>
            <a:ext cx="8045514" cy="1007411"/>
            <a:chOff x="5671502" y="844259"/>
            <a:chExt cx="5597242" cy="1007411"/>
          </a:xfrm>
        </p:grpSpPr>
        <p:sp>
          <p:nvSpPr>
            <p:cNvPr id="8" name="내용 개체 틀 2"/>
            <p:cNvSpPr txBox="1">
              <a:spLocks/>
            </p:cNvSpPr>
            <p:nvPr/>
          </p:nvSpPr>
          <p:spPr>
            <a:xfrm>
              <a:off x="6021406" y="844259"/>
              <a:ext cx="548227" cy="3189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5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UML</a:t>
              </a:r>
              <a:endParaRPr lang="en-US" altLang="ko-KR" sz="15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내용 개체 틀 2"/>
            <p:cNvSpPr txBox="1">
              <a:spLocks/>
            </p:cNvSpPr>
            <p:nvPr/>
          </p:nvSpPr>
          <p:spPr>
            <a:xfrm>
              <a:off x="5671502" y="1222654"/>
              <a:ext cx="5597242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(</a:t>
              </a:r>
              <a:r>
                <a:rPr lang="ko-KR" altLang="en-US" spc="0" dirty="0"/>
                <a:t>재택</a:t>
              </a:r>
              <a:r>
                <a:rPr lang="en-US" altLang="ko-KR" spc="0" dirty="0"/>
                <a:t>) draw.io : </a:t>
              </a:r>
              <a:r>
                <a:rPr lang="en-US" altLang="ko-KR" spc="0" dirty="0">
                  <a:hlinkClick r:id="rId3"/>
                </a:rPr>
                <a:t>https://app.diagrams.net/</a:t>
              </a:r>
              <a:endParaRPr lang="en-US" altLang="ko-KR" spc="0" dirty="0"/>
            </a:p>
            <a:p>
              <a:pPr lvl="2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b="1" spc="0" dirty="0">
                  <a:solidFill>
                    <a:srgbClr val="11236D"/>
                  </a:solidFill>
                </a:rPr>
                <a:t>동시편집 오류 해결</a:t>
              </a:r>
              <a:r>
                <a:rPr lang="ko-KR" altLang="en-US" sz="1100" spc="0" dirty="0">
                  <a:solidFill>
                    <a:srgbClr val="11236D"/>
                  </a:solidFill>
                </a:rPr>
                <a:t> </a:t>
              </a:r>
              <a:r>
                <a:rPr lang="en-US" altLang="ko-KR" sz="1100" b="1" spc="0" dirty="0">
                  <a:solidFill>
                    <a:srgbClr val="11236D"/>
                  </a:solidFill>
                </a:rPr>
                <a:t>TIP</a:t>
              </a:r>
              <a:r>
                <a:rPr lang="en-US" altLang="ko-KR" sz="1100" spc="0" dirty="0"/>
                <a:t>: app.diagrams.net </a:t>
              </a:r>
              <a:r>
                <a:rPr lang="ko-KR" altLang="en-US" sz="1100" spc="0" dirty="0"/>
                <a:t>메뉴 항목 </a:t>
              </a:r>
              <a:r>
                <a:rPr lang="en-US" altLang="ko-KR" sz="1100" spc="0" dirty="0"/>
                <a:t>[</a:t>
              </a:r>
              <a:r>
                <a:rPr lang="ko-KR" altLang="en-US" sz="1100" spc="0" dirty="0"/>
                <a:t>추가 도구 </a:t>
              </a:r>
              <a:r>
                <a:rPr lang="en-US" altLang="ko-KR" sz="1100" spc="0" dirty="0"/>
                <a:t>&gt; </a:t>
              </a:r>
              <a:r>
                <a:rPr lang="ko-KR" altLang="en-US" sz="1100" spc="0" dirty="0"/>
                <a:t>자동 저장</a:t>
              </a:r>
              <a:r>
                <a:rPr lang="en-US" altLang="ko-KR" sz="1100" spc="0" dirty="0"/>
                <a:t>] </a:t>
              </a:r>
              <a:r>
                <a:rPr lang="ko-KR" altLang="en-US" sz="1100" spc="0" dirty="0"/>
                <a:t>체크 </a:t>
              </a:r>
              <a:r>
                <a:rPr lang="ko-KR" altLang="en-US" sz="1100" spc="0" dirty="0" smtClean="0"/>
                <a:t>해제</a:t>
              </a:r>
              <a:endParaRPr lang="en-US" altLang="ko-KR" sz="1100" spc="0" dirty="0" smtClean="0"/>
            </a:p>
            <a:p>
              <a:pPr lvl="2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spc="0" dirty="0" smtClean="0">
                  <a:solidFill>
                    <a:srgbClr val="FF0000"/>
                  </a:solidFill>
                </a:rPr>
                <a:t>설정 해도 동시 편집 오류가 발생 합니다</a:t>
              </a:r>
              <a:r>
                <a:rPr lang="en-US" altLang="ko-KR" sz="1100" spc="0" dirty="0" smtClean="0">
                  <a:solidFill>
                    <a:srgbClr val="FF0000"/>
                  </a:solidFill>
                </a:rPr>
                <a:t>. </a:t>
              </a:r>
              <a:r>
                <a:rPr lang="ko-KR" altLang="en-US" sz="1100" spc="0" dirty="0" smtClean="0">
                  <a:solidFill>
                    <a:srgbClr val="FF0000"/>
                  </a:solidFill>
                </a:rPr>
                <a:t>주의 해주세요</a:t>
              </a:r>
              <a:endParaRPr lang="en-US" altLang="ko-KR" sz="1100" spc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0276" y="2355025"/>
            <a:ext cx="8440156" cy="1008112"/>
            <a:chOff x="5671502" y="843558"/>
            <a:chExt cx="5597242" cy="1008112"/>
          </a:xfrm>
        </p:grpSpPr>
        <p:sp>
          <p:nvSpPr>
            <p:cNvPr id="11" name="내용 개체 틀 2"/>
            <p:cNvSpPr txBox="1">
              <a:spLocks/>
            </p:cNvSpPr>
            <p:nvPr/>
          </p:nvSpPr>
          <p:spPr>
            <a:xfrm>
              <a:off x="5994217" y="843558"/>
              <a:ext cx="402900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팀 룸 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내용 개체 틀 2"/>
            <p:cNvSpPr txBox="1">
              <a:spLocks/>
            </p:cNvSpPr>
            <p:nvPr/>
          </p:nvSpPr>
          <p:spPr>
            <a:xfrm>
              <a:off x="5671502" y="1222654"/>
              <a:ext cx="5597242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(</a:t>
              </a:r>
              <a:r>
                <a:rPr lang="ko-KR" altLang="en-US" spc="0" dirty="0"/>
                <a:t>재택</a:t>
              </a:r>
              <a:r>
                <a:rPr lang="en-US" altLang="ko-KR" spc="0" dirty="0"/>
                <a:t>) Discord (</a:t>
              </a:r>
              <a:r>
                <a:rPr lang="ko-KR" altLang="en-US" spc="0" dirty="0"/>
                <a:t>무제한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생성시 </a:t>
              </a:r>
              <a:r>
                <a:rPr lang="en-US" altLang="ko-KR" spc="0" dirty="0"/>
                <a:t>5</a:t>
              </a:r>
              <a:r>
                <a:rPr lang="ko-KR" altLang="en-US" spc="0" dirty="0" err="1"/>
                <a:t>주내내</a:t>
              </a:r>
              <a:r>
                <a:rPr lang="ko-KR" altLang="en-US" spc="0" dirty="0"/>
                <a:t> 사용 가능</a:t>
              </a:r>
              <a:r>
                <a:rPr lang="en-US" altLang="ko-KR" spc="0" dirty="0"/>
                <a:t>)</a:t>
              </a: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(</a:t>
              </a:r>
              <a:r>
                <a:rPr lang="ko-KR" altLang="en-US" spc="0" dirty="0"/>
                <a:t>사내</a:t>
              </a:r>
              <a:r>
                <a:rPr lang="en-US" altLang="ko-KR" spc="0" dirty="0"/>
                <a:t>) Knox meeting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0276" y="3651169"/>
            <a:ext cx="5597242" cy="1008112"/>
            <a:chOff x="5671502" y="843558"/>
            <a:chExt cx="5597242" cy="1008112"/>
          </a:xfrm>
        </p:grpSpPr>
        <p:sp>
          <p:nvSpPr>
            <p:cNvPr id="14" name="내용 개체 틀 2"/>
            <p:cNvSpPr txBox="1">
              <a:spLocks/>
            </p:cNvSpPr>
            <p:nvPr/>
          </p:nvSpPr>
          <p:spPr>
            <a:xfrm>
              <a:off x="6168786" y="843558"/>
              <a:ext cx="724557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3.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팀 과제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내용 개체 틀 2"/>
            <p:cNvSpPr txBox="1">
              <a:spLocks/>
            </p:cNvSpPr>
            <p:nvPr/>
          </p:nvSpPr>
          <p:spPr>
            <a:xfrm>
              <a:off x="5671502" y="1222654"/>
              <a:ext cx="5597242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(</a:t>
              </a:r>
              <a:r>
                <a:rPr lang="ko-KR" altLang="en-US" spc="0" dirty="0"/>
                <a:t>재택</a:t>
              </a:r>
              <a:r>
                <a:rPr lang="en-US" altLang="ko-KR" spc="0" dirty="0"/>
                <a:t>) Google Doc</a:t>
              </a: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(</a:t>
              </a:r>
              <a:r>
                <a:rPr lang="ko-KR" altLang="en-US" spc="0" dirty="0"/>
                <a:t>사내</a:t>
              </a:r>
              <a:r>
                <a:rPr lang="en-US" altLang="ko-KR" spc="0" dirty="0"/>
                <a:t>) MOSAIC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726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259602"/>
            <a:ext cx="5604012" cy="3312368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/>
              <a:t>[</a:t>
            </a:r>
            <a:r>
              <a:rPr lang="ko-KR" altLang="en-US" sz="1600" dirty="0"/>
              <a:t>필수</a:t>
            </a:r>
            <a:r>
              <a:rPr lang="en-US" altLang="ko-KR" sz="1600" dirty="0"/>
              <a:t>]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1.1 An Introduction to OOAD - OOAD </a:t>
            </a:r>
            <a:r>
              <a:rPr lang="en-US" altLang="ko-KR" sz="1200" b="0" dirty="0"/>
              <a:t>(46min)</a:t>
            </a:r>
            <a:br>
              <a:rPr lang="en-US" altLang="ko-KR" sz="1200" b="0" dirty="0"/>
            </a:br>
            <a:r>
              <a:rPr lang="en-US" altLang="ko-KR" sz="2000" dirty="0"/>
              <a:t>1.3 An Introduction to OOAD - OOPT </a:t>
            </a:r>
            <a:r>
              <a:rPr lang="en-US" altLang="ko-KR" sz="1200" b="0" dirty="0"/>
              <a:t>(24min)</a:t>
            </a:r>
            <a:br>
              <a:rPr lang="en-US" altLang="ko-KR" sz="1200" b="0" dirty="0"/>
            </a:br>
            <a:r>
              <a:rPr lang="en-US" altLang="ko-KR" sz="2000" dirty="0"/>
              <a:t>2.2 An Introduction to UML - Case Study with UML </a:t>
            </a:r>
            <a:r>
              <a:rPr lang="en-US" altLang="ko-KR" sz="1200" b="0" dirty="0"/>
              <a:t>(26min)</a:t>
            </a:r>
            <a:br>
              <a:rPr lang="en-US" altLang="ko-KR" sz="1200" b="0" dirty="0"/>
            </a:br>
            <a:r>
              <a:rPr lang="en-US" altLang="ko-KR" sz="2000" dirty="0"/>
              <a:t>3.1 OOA - Use Case </a:t>
            </a:r>
            <a:r>
              <a:rPr lang="en-US" altLang="ko-KR" sz="1200" b="0" dirty="0"/>
              <a:t>(35min)</a:t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600" dirty="0">
                <a:solidFill>
                  <a:schemeClr val="accent5"/>
                </a:solidFill>
              </a:rPr>
              <a:t>[</a:t>
            </a:r>
            <a:r>
              <a:rPr lang="ko-KR" altLang="en-US" sz="1600" dirty="0">
                <a:solidFill>
                  <a:schemeClr val="accent5"/>
                </a:solidFill>
              </a:rPr>
              <a:t>추가학습</a:t>
            </a:r>
            <a:r>
              <a:rPr lang="en-US" altLang="ko-KR" sz="1600" dirty="0">
                <a:solidFill>
                  <a:schemeClr val="accent5"/>
                </a:solidFill>
              </a:rPr>
              <a:t>]</a:t>
            </a:r>
            <a:r>
              <a:rPr lang="en-US" altLang="ko-KR" sz="1200" b="0" dirty="0">
                <a:solidFill>
                  <a:schemeClr val="accent5"/>
                </a:solidFill>
              </a:rPr>
              <a:t/>
            </a:r>
            <a:br>
              <a:rPr lang="en-US" altLang="ko-KR" sz="1200" b="0" dirty="0">
                <a:solidFill>
                  <a:schemeClr val="accent5"/>
                </a:solidFill>
              </a:rPr>
            </a:br>
            <a:r>
              <a:rPr lang="en-US" altLang="ko-KR" sz="2000" dirty="0">
                <a:solidFill>
                  <a:schemeClr val="accent5"/>
                </a:solidFill>
              </a:rPr>
              <a:t>1.2 An Introduction to OOAD - UP </a:t>
            </a:r>
            <a:r>
              <a:rPr lang="en-US" altLang="ko-KR" sz="1200" b="0" dirty="0">
                <a:solidFill>
                  <a:schemeClr val="accent5"/>
                </a:solidFill>
              </a:rPr>
              <a:t>(40min)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899710" y="757073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영상학습</a:t>
            </a:r>
          </a:p>
        </p:txBody>
      </p:sp>
    </p:spTree>
    <p:extLst>
      <p:ext uri="{BB962C8B-B14F-4D97-AF65-F5344CB8AC3E}">
        <p14:creationId xmlns:p14="http://schemas.microsoft.com/office/powerpoint/2010/main" val="31879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1995686"/>
            <a:ext cx="5748028" cy="2016224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과제 소개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* (25-0</a:t>
            </a:r>
            <a:r>
              <a:rPr lang="ko-KR" altLang="en-US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)(</a:t>
            </a:r>
            <a:r>
              <a:rPr lang="ko-KR" altLang="en-US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조별과제</a:t>
            </a: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OOOO</a:t>
            </a:r>
            <a:r>
              <a:rPr lang="ko-KR" altLang="en-US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시스템</a:t>
            </a:r>
            <a:endParaRPr lang="en-US" altLang="ko-KR" sz="1400" b="0" spc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400" b="0" spc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양식 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(1~9)</a:t>
            </a:r>
          </a:p>
          <a:p>
            <a:pPr>
              <a:lnSpc>
                <a:spcPct val="130000"/>
              </a:lnSpc>
            </a:pPr>
            <a:r>
              <a:rPr lang="en-US" altLang="ko-KR" sz="16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1.2 (</a:t>
            </a:r>
            <a:r>
              <a:rPr lang="ko-KR" altLang="en-US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0" spc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팀과제</a:t>
            </a:r>
            <a:r>
              <a:rPr lang="ko-KR" altLang="en-US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실습 양식</a:t>
            </a:r>
            <a:r>
              <a:rPr lang="en-US" altLang="ko-KR" sz="1400" b="0" spc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400" b="0" spc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xlsx</a:t>
            </a:r>
            <a:endParaRPr lang="ko-KR" altLang="en-US" sz="1400" b="0" spc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900576" y="1059582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Requirement Analysis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899710" y="741711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#1] OOA</a:t>
            </a:r>
          </a:p>
        </p:txBody>
      </p:sp>
    </p:spTree>
    <p:extLst>
      <p:ext uri="{BB962C8B-B14F-4D97-AF65-F5344CB8AC3E}">
        <p14:creationId xmlns:p14="http://schemas.microsoft.com/office/powerpoint/2010/main" val="255952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안내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453068" y="873111"/>
            <a:ext cx="4320480" cy="3509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보통의 고객은 변덕스럽고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보통의 개발자는 부분적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자기분야에만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능숙하며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보통의 프로젝트 관리자는 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 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하다</a:t>
            </a:r>
            <a:endParaRPr lang="en-US" altLang="ko-KR" sz="1200" spc="-15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altLang="ko-KR" sz="1200" spc="-15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시작단계인 요구사항 분석이 무엇보다 중요하므로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주제를 정하여 핵심요구사항을 정리하는 활동부터 시작</a:t>
            </a:r>
            <a:endParaRPr lang="en-US" altLang="ko-KR" sz="1200" spc="-15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altLang="ko-KR" sz="1200" spc="-15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설계가 잘 되어도 구현 단계에서 예상치 못한 변경이 발생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</a:b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(library 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버전업 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or 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사용 스펙 변경 등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)</a:t>
            </a: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altLang="ko-KR" sz="1200" spc="-150" dirty="0"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marL="144000" indent="-144000" defTabSz="715082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따라서 </a:t>
            </a:r>
            <a:r>
              <a:rPr lang="ko-KR" altLang="en-US" sz="1200" spc="-150" dirty="0" err="1">
                <a:solidFill>
                  <a:srgbClr val="1E1E2A"/>
                </a:solidFill>
                <a:latin typeface="맑은 고딕" panose="020B0503020000020004" pitchFamily="50" charset="-127"/>
              </a:rPr>
              <a:t>핵심모듈에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 대해서는 최대한 빨리 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Test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코드를 구현하여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, </a:t>
            </a:r>
            <a:b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</a:b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설계에 이상이 없는지</a:t>
            </a:r>
            <a:r>
              <a:rPr lang="en-US" altLang="ko-KR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pc="-150" dirty="0">
                <a:solidFill>
                  <a:srgbClr val="1E1E2A"/>
                </a:solidFill>
                <a:latin typeface="맑은 고딕" panose="020B0503020000020004" pitchFamily="50" charset="-127"/>
              </a:rPr>
              <a:t>구현이 가능한 설계인지를 판단해야</a:t>
            </a:r>
            <a:endParaRPr lang="en-US" altLang="ko-KR" sz="1500" b="1" spc="-11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131590"/>
            <a:ext cx="4499168" cy="349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62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OOPT of OOAD (</a:t>
            </a:r>
            <a:r>
              <a:rPr lang="ko-KR" altLang="en-US" dirty="0"/>
              <a:t>주요활동 </a:t>
            </a:r>
            <a:r>
              <a:rPr lang="en-US" altLang="ko-KR" dirty="0"/>
              <a:t>3 </a:t>
            </a:r>
            <a:r>
              <a:rPr lang="ko-KR" altLang="en-US" dirty="0"/>
              <a:t>단계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07" name="그룹 106"/>
          <p:cNvGrpSpPr/>
          <p:nvPr/>
        </p:nvGrpSpPr>
        <p:grpSpPr>
          <a:xfrm>
            <a:off x="439073" y="904670"/>
            <a:ext cx="8176102" cy="4178232"/>
            <a:chOff x="272730" y="843558"/>
            <a:chExt cx="8508084" cy="4304837"/>
          </a:xfrm>
        </p:grpSpPr>
        <p:sp>
          <p:nvSpPr>
            <p:cNvPr id="4" name="직사각형 3"/>
            <p:cNvSpPr/>
            <p:nvPr/>
          </p:nvSpPr>
          <p:spPr>
            <a:xfrm>
              <a:off x="663371" y="3831410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4043" y="3965796"/>
              <a:ext cx="1284764" cy="44394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User 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(Functional)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 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</a:b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Requirements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63371" y="3678538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63371" y="3525667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63371" y="3372795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63371" y="3219923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63371" y="3067051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63371" y="2914179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63371" y="2761307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764986" y="3831410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764986" y="3678538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764986" y="3525667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64986" y="3372795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764986" y="3219923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764986" y="3067051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764986" y="2914179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1764986" y="2761307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62200" y="3965677"/>
              <a:ext cx="889426" cy="2695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Use Cases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22" name="직선 화살표 연결선 21"/>
            <p:cNvCxnSpPr>
              <a:stCxn id="12" idx="3"/>
              <a:endCxn id="20" idx="1"/>
            </p:cNvCxnSpPr>
            <p:nvPr/>
          </p:nvCxnSpPr>
          <p:spPr>
            <a:xfrm>
              <a:off x="1311380" y="2812264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>
              <a:stCxn id="11" idx="3"/>
              <a:endCxn id="19" idx="1"/>
            </p:cNvCxnSpPr>
            <p:nvPr/>
          </p:nvCxnSpPr>
          <p:spPr>
            <a:xfrm>
              <a:off x="1311380" y="2965136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>
              <a:stCxn id="10" idx="3"/>
              <a:endCxn id="18" idx="1"/>
            </p:cNvCxnSpPr>
            <p:nvPr/>
          </p:nvCxnSpPr>
          <p:spPr>
            <a:xfrm>
              <a:off x="1311380" y="3118008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9" idx="3"/>
              <a:endCxn id="17" idx="1"/>
            </p:cNvCxnSpPr>
            <p:nvPr/>
          </p:nvCxnSpPr>
          <p:spPr>
            <a:xfrm>
              <a:off x="1311380" y="3270880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8" idx="3"/>
              <a:endCxn id="16" idx="1"/>
            </p:cNvCxnSpPr>
            <p:nvPr/>
          </p:nvCxnSpPr>
          <p:spPr>
            <a:xfrm>
              <a:off x="1311380" y="3423752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>
              <a:stCxn id="7" idx="3"/>
              <a:endCxn id="15" idx="1"/>
            </p:cNvCxnSpPr>
            <p:nvPr/>
          </p:nvCxnSpPr>
          <p:spPr>
            <a:xfrm>
              <a:off x="1311380" y="3576624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stCxn id="6" idx="3"/>
              <a:endCxn id="14" idx="1"/>
            </p:cNvCxnSpPr>
            <p:nvPr/>
          </p:nvCxnSpPr>
          <p:spPr>
            <a:xfrm>
              <a:off x="1311380" y="3729496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4" idx="3"/>
              <a:endCxn id="13" idx="1"/>
            </p:cNvCxnSpPr>
            <p:nvPr/>
          </p:nvCxnSpPr>
          <p:spPr>
            <a:xfrm>
              <a:off x="1311380" y="3882368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46239"/>
            <a:stretch>
              <a:fillRect/>
            </a:stretch>
          </p:blipFill>
          <p:spPr bwMode="auto">
            <a:xfrm>
              <a:off x="3527580" y="2347314"/>
              <a:ext cx="1360817" cy="903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1" name="직선 화살표 연결선 30"/>
            <p:cNvCxnSpPr>
              <a:stCxn id="19" idx="3"/>
              <a:endCxn id="30" idx="1"/>
            </p:cNvCxnSpPr>
            <p:nvPr/>
          </p:nvCxnSpPr>
          <p:spPr>
            <a:xfrm flipV="1">
              <a:off x="2437382" y="2799117"/>
              <a:ext cx="1090198" cy="1660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46239"/>
            <a:stretch>
              <a:fillRect/>
            </a:stretch>
          </p:blipFill>
          <p:spPr bwMode="auto">
            <a:xfrm>
              <a:off x="3527580" y="3437379"/>
              <a:ext cx="1360817" cy="903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3" name="직선 화살표 연결선 32"/>
            <p:cNvCxnSpPr>
              <a:stCxn id="13" idx="3"/>
              <a:endCxn id="32" idx="1"/>
            </p:cNvCxnSpPr>
            <p:nvPr/>
          </p:nvCxnSpPr>
          <p:spPr>
            <a:xfrm>
              <a:off x="2437382" y="3882368"/>
              <a:ext cx="1090198" cy="681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985032" y="3238252"/>
              <a:ext cx="480410" cy="27185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…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02271" y="4217487"/>
              <a:ext cx="1575011" cy="44394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4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System 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</a:b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Sequence Diagrams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38" name="직선 화살표 연결선 37"/>
            <p:cNvCxnSpPr>
              <a:stCxn id="30" idx="3"/>
            </p:cNvCxnSpPr>
            <p:nvPr/>
          </p:nvCxnSpPr>
          <p:spPr>
            <a:xfrm>
              <a:off x="4888397" y="2799117"/>
              <a:ext cx="128253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2" idx="3"/>
            </p:cNvCxnSpPr>
            <p:nvPr/>
          </p:nvCxnSpPr>
          <p:spPr>
            <a:xfrm>
              <a:off x="4888397" y="3889182"/>
              <a:ext cx="12727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02202" y="2353649"/>
              <a:ext cx="1760073" cy="815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02202" y="3576624"/>
              <a:ext cx="1760073" cy="815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" name="TextBox 47"/>
            <p:cNvSpPr txBox="1"/>
            <p:nvPr/>
          </p:nvSpPr>
          <p:spPr>
            <a:xfrm>
              <a:off x="6885258" y="3135118"/>
              <a:ext cx="480410" cy="27185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…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70051" y="4360398"/>
              <a:ext cx="1575011" cy="2695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Sequence Diagrams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69386" y="1082982"/>
              <a:ext cx="2273298" cy="96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1" name="TextBox 50"/>
            <p:cNvSpPr txBox="1"/>
            <p:nvPr/>
          </p:nvSpPr>
          <p:spPr>
            <a:xfrm>
              <a:off x="6829892" y="2005179"/>
              <a:ext cx="1189683" cy="2695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Class Diagram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91409" y="4672741"/>
              <a:ext cx="1086795" cy="475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1000.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Plan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634436" y="4664933"/>
              <a:ext cx="1086795" cy="475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2030.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Analyze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351455" y="4512064"/>
              <a:ext cx="2208479" cy="160680"/>
              <a:chOff x="539552" y="6309320"/>
              <a:chExt cx="1512168" cy="171301"/>
            </a:xfrm>
          </p:grpSpPr>
          <p:cxnSp>
            <p:nvCxnSpPr>
              <p:cNvPr id="55" name="직선 연결선 54"/>
              <p:cNvCxnSpPr/>
              <p:nvPr/>
            </p:nvCxnSpPr>
            <p:spPr>
              <a:xfrm>
                <a:off x="539552" y="6475567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flipV="1">
                <a:off x="539552" y="6309320"/>
                <a:ext cx="0" cy="162977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flipV="1">
                <a:off x="2051720" y="6309320"/>
                <a:ext cx="0" cy="17130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8" name="그룹 57"/>
            <p:cNvGrpSpPr/>
            <p:nvPr/>
          </p:nvGrpSpPr>
          <p:grpSpPr>
            <a:xfrm>
              <a:off x="2837388" y="4512061"/>
              <a:ext cx="2656834" cy="152872"/>
              <a:chOff x="539552" y="6309320"/>
              <a:chExt cx="1512168" cy="216024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539552" y="6525344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431540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1943708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2" name="그룹 61"/>
            <p:cNvGrpSpPr/>
            <p:nvPr/>
          </p:nvGrpSpPr>
          <p:grpSpPr>
            <a:xfrm>
              <a:off x="5475972" y="4512061"/>
              <a:ext cx="3304842" cy="152872"/>
              <a:chOff x="539552" y="6309320"/>
              <a:chExt cx="1512168" cy="216024"/>
            </a:xfrm>
          </p:grpSpPr>
          <p:cxnSp>
            <p:nvCxnSpPr>
              <p:cNvPr id="63" name="직선 연결선 62"/>
              <p:cNvCxnSpPr/>
              <p:nvPr/>
            </p:nvCxnSpPr>
            <p:spPr>
              <a:xfrm>
                <a:off x="539552" y="6525344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431540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1943708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/>
            <p:cNvSpPr txBox="1"/>
            <p:nvPr/>
          </p:nvSpPr>
          <p:spPr>
            <a:xfrm>
              <a:off x="6586763" y="4664934"/>
              <a:ext cx="1086795" cy="475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2040.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Design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7" name="화살표: 오른쪽으로 구부러짐 3">
              <a:extLst>
                <a:ext uri="{FF2B5EF4-FFF2-40B4-BE49-F238E27FC236}">
                  <a16:creationId xmlns="" xmlns:a16="http://schemas.microsoft.com/office/drawing/2014/main" id="{09A6D9AB-6E4E-4BB1-AEB9-DEBE6C50033C}"/>
                </a:ext>
              </a:extLst>
            </p:cNvPr>
            <p:cNvSpPr/>
            <p:nvPr/>
          </p:nvSpPr>
          <p:spPr>
            <a:xfrm rot="19709074">
              <a:off x="8070400" y="2364516"/>
              <a:ext cx="361557" cy="351419"/>
            </a:xfrm>
            <a:prstGeom prst="curvedRightArrow">
              <a:avLst/>
            </a:prstGeom>
            <a:gradFill rotWithShape="0">
              <a:gsLst>
                <a:gs pos="0">
                  <a:srgbClr val="FF99CC"/>
                </a:gs>
                <a:gs pos="100000">
                  <a:srgbClr val="FF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lIns="92075" tIns="46038" rIns="92075" bIns="46038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8" name="화살표: 오른쪽으로 구부러짐 69">
              <a:extLst>
                <a:ext uri="{FF2B5EF4-FFF2-40B4-BE49-F238E27FC236}">
                  <a16:creationId xmlns="" xmlns:a16="http://schemas.microsoft.com/office/drawing/2014/main" id="{099D5F76-1A56-436F-B82F-576843FF0F5B}"/>
                </a:ext>
              </a:extLst>
            </p:cNvPr>
            <p:cNvSpPr/>
            <p:nvPr/>
          </p:nvSpPr>
          <p:spPr>
            <a:xfrm rot="8909074">
              <a:off x="8399352" y="2193998"/>
              <a:ext cx="361557" cy="351419"/>
            </a:xfrm>
            <a:prstGeom prst="curvedRightArrow">
              <a:avLst/>
            </a:prstGeom>
            <a:gradFill rotWithShape="0">
              <a:gsLst>
                <a:gs pos="0">
                  <a:srgbClr val="FF99CC"/>
                </a:gs>
                <a:gs pos="100000">
                  <a:srgbClr val="FF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lIns="92075" tIns="46038" rIns="92075" bIns="46038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="" xmlns:a16="http://schemas.microsoft.com/office/drawing/2014/main" id="{B9795CBF-4A2E-4AED-9BBE-EF67EF507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8436" y="1111392"/>
              <a:ext cx="1099856" cy="603162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2695D73D-09D0-45B9-BD8A-C8AFCD31ED66}"/>
                </a:ext>
              </a:extLst>
            </p:cNvPr>
            <p:cNvSpPr txBox="1"/>
            <p:nvPr/>
          </p:nvSpPr>
          <p:spPr>
            <a:xfrm>
              <a:off x="4312561" y="1740524"/>
              <a:ext cx="1236389" cy="2695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Domain Model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73" name="그림 72"/>
            <p:cNvPicPr>
              <a:picLocks noChangeAspect="1"/>
            </p:cNvPicPr>
            <p:nvPr/>
          </p:nvPicPr>
          <p:blipFill rotWithShape="1">
            <a:blip r:embed="rId6"/>
            <a:srcRect l="22266" t="36732" r="9696" b="20915"/>
            <a:stretch/>
          </p:blipFill>
          <p:spPr>
            <a:xfrm>
              <a:off x="1983675" y="909993"/>
              <a:ext cx="1924184" cy="1191222"/>
            </a:xfrm>
            <a:prstGeom prst="rect">
              <a:avLst/>
            </a:prstGeom>
          </p:spPr>
        </p:pic>
        <p:cxnSp>
          <p:nvCxnSpPr>
            <p:cNvPr id="74" name="꺾인 연결선 73"/>
            <p:cNvCxnSpPr>
              <a:stCxn id="20" idx="0"/>
              <a:endCxn id="73" idx="2"/>
            </p:cNvCxnSpPr>
            <p:nvPr/>
          </p:nvCxnSpPr>
          <p:spPr>
            <a:xfrm rot="5400000" flipH="1" flipV="1">
              <a:off x="2193429" y="2008970"/>
              <a:ext cx="660092" cy="84458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/>
            <p:cNvSpPr/>
            <p:nvPr/>
          </p:nvSpPr>
          <p:spPr>
            <a:xfrm>
              <a:off x="6174984" y="874655"/>
              <a:ext cx="2592033" cy="3720294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796206" y="843558"/>
              <a:ext cx="2334160" cy="133570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7" name="꺾인 연결선 76"/>
            <p:cNvCxnSpPr>
              <a:stCxn id="76" idx="0"/>
              <a:endCxn id="75" idx="0"/>
            </p:cNvCxnSpPr>
            <p:nvPr/>
          </p:nvCxnSpPr>
          <p:spPr>
            <a:xfrm rot="16200000" flipH="1">
              <a:off x="5201594" y="-1394751"/>
              <a:ext cx="31097" cy="4507715"/>
            </a:xfrm>
            <a:prstGeom prst="bentConnector3">
              <a:avLst>
                <a:gd name="adj1" fmla="val -735119"/>
              </a:avLst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077" y="1203035"/>
              <a:ext cx="1114353" cy="725264"/>
            </a:xfrm>
            <a:prstGeom prst="rect">
              <a:avLst/>
            </a:prstGeom>
          </p:spPr>
        </p:pic>
        <p:sp>
          <p:nvSpPr>
            <p:cNvPr id="88" name="TextBox 87"/>
            <p:cNvSpPr txBox="1"/>
            <p:nvPr/>
          </p:nvSpPr>
          <p:spPr>
            <a:xfrm>
              <a:off x="272730" y="1899409"/>
              <a:ext cx="1459913" cy="2695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4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lang="en-US" altLang="ko-KR" sz="1100" dirty="0">
                  <a:cs typeface="Arial" panose="020B0604020202020204" pitchFamily="34" charset="0"/>
                </a:rPr>
                <a:t>Use Case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Diagram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93" name="직선 화살표 연결선 92"/>
            <p:cNvCxnSpPr/>
            <p:nvPr/>
          </p:nvCxnSpPr>
          <p:spPr>
            <a:xfrm>
              <a:off x="5608039" y="1505604"/>
              <a:ext cx="553148" cy="5177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/>
            <p:cNvCxnSpPr>
              <a:endCxn id="88" idx="2"/>
            </p:cNvCxnSpPr>
            <p:nvPr/>
          </p:nvCxnSpPr>
          <p:spPr>
            <a:xfrm flipH="1" flipV="1">
              <a:off x="1002687" y="2168946"/>
              <a:ext cx="980988" cy="5923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5290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ko-KR" altLang="en-US" sz="2000" dirty="0"/>
              <a:t> </a:t>
            </a:r>
            <a:r>
              <a:rPr lang="en-US" altLang="ko-KR" sz="2000" dirty="0"/>
              <a:t>- </a:t>
            </a:r>
            <a:r>
              <a:rPr lang="ko-KR" altLang="en-US" dirty="0"/>
              <a:t>산출물 리스트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18668" y="771550"/>
            <a:ext cx="5436096" cy="2148126"/>
            <a:chOff x="5651399" y="843558"/>
            <a:chExt cx="4780508" cy="2148126"/>
          </a:xfrm>
        </p:grpSpPr>
        <p:sp>
          <p:nvSpPr>
            <p:cNvPr id="6" name="내용 개체 틀 2"/>
            <p:cNvSpPr txBox="1">
              <a:spLocks/>
            </p:cNvSpPr>
            <p:nvPr/>
          </p:nvSpPr>
          <p:spPr>
            <a:xfrm>
              <a:off x="6082661" y="843558"/>
              <a:ext cx="3297247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각 활동들을 전체적으로 점진적으로 반복하여 수행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" name="내용 개체 틀 2"/>
            <p:cNvSpPr txBox="1">
              <a:spLocks/>
            </p:cNvSpPr>
            <p:nvPr/>
          </p:nvSpPr>
          <p:spPr>
            <a:xfrm>
              <a:off x="5651399" y="1222654"/>
              <a:ext cx="4780508" cy="1493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10" dirty="0"/>
                <a:t>OOA</a:t>
              </a:r>
              <a:r>
                <a:rPr lang="ko-KR" altLang="en-US" spc="-110" dirty="0"/>
                <a:t>가 잘 되어 있어야 </a:t>
              </a:r>
              <a:r>
                <a:rPr lang="en-US" altLang="ko-KR" spc="-110" dirty="0"/>
                <a:t>OOD</a:t>
              </a:r>
              <a:r>
                <a:rPr lang="ko-KR" altLang="en-US" spc="-110" dirty="0"/>
                <a:t>와 </a:t>
              </a:r>
              <a:r>
                <a:rPr lang="en-US" altLang="ko-KR" spc="-110" dirty="0"/>
                <a:t>OOP</a:t>
              </a:r>
              <a:r>
                <a:rPr lang="ko-KR" altLang="en-US" spc="-110" dirty="0"/>
                <a:t>가 수월함</a:t>
              </a: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-110" dirty="0"/>
                <a:t>용어집은 반드시 작성</a:t>
              </a: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10" dirty="0"/>
                <a:t>1~9</a:t>
              </a:r>
              <a:r>
                <a:rPr lang="ko-KR" altLang="en-US" spc="-110" dirty="0"/>
                <a:t>까지 적어도 </a:t>
              </a:r>
              <a:r>
                <a:rPr lang="en-US" altLang="ko-KR" spc="-110" dirty="0"/>
                <a:t>2~3</a:t>
              </a:r>
              <a:r>
                <a:rPr lang="ko-KR" altLang="en-US" spc="-110" dirty="0"/>
                <a:t>번의 </a:t>
              </a:r>
              <a:r>
                <a:rPr lang="en-US" altLang="ko-KR" spc="-110" dirty="0"/>
                <a:t>Iteration</a:t>
              </a:r>
              <a:r>
                <a:rPr lang="ko-KR" altLang="en-US" spc="-110" dirty="0"/>
                <a:t>이 수행해 볼 것</a:t>
              </a:r>
              <a:endParaRPr lang="en-US" altLang="ko-KR" spc="-110" dirty="0"/>
            </a:p>
          </p:txBody>
        </p:sp>
        <p:sp>
          <p:nvSpPr>
            <p:cNvPr id="8" name="내용 개체 틀 2"/>
            <p:cNvSpPr txBox="1">
              <a:spLocks/>
            </p:cNvSpPr>
            <p:nvPr/>
          </p:nvSpPr>
          <p:spPr>
            <a:xfrm>
              <a:off x="6082661" y="2774765"/>
              <a:ext cx="4281322" cy="2169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1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모든 다이어그램은 인증과제에 사용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12" y="802969"/>
            <a:ext cx="2463278" cy="182742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061" y="2775421"/>
            <a:ext cx="3380229" cy="182917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3640" y="3113262"/>
            <a:ext cx="4572000" cy="61061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z="12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각각의 다이어그램을 한번씩은 작성해 볼 것 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z="12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인증과제 작성에 필요한 사항을 사전 실습</a:t>
            </a:r>
          </a:p>
        </p:txBody>
      </p:sp>
    </p:spTree>
    <p:extLst>
      <p:ext uri="{BB962C8B-B14F-4D97-AF65-F5344CB8AC3E}">
        <p14:creationId xmlns:p14="http://schemas.microsoft.com/office/powerpoint/2010/main" val="377505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90112" y="771550"/>
            <a:ext cx="412965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32540"/>
            <a:ext cx="8426262" cy="2895394"/>
          </a:xfrm>
          <a:prstGeom prst="rect">
            <a:avLst/>
          </a:prstGeom>
        </p:spPr>
      </p:pic>
      <p:sp>
        <p:nvSpPr>
          <p:cNvPr id="27" name="내용 개체 틀 2"/>
          <p:cNvSpPr txBox="1">
            <a:spLocks/>
          </p:cNvSpPr>
          <p:nvPr/>
        </p:nvSpPr>
        <p:spPr>
          <a:xfrm>
            <a:off x="467544" y="3936069"/>
            <a:ext cx="4362347" cy="9399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10000"/>
              </a:lnSpc>
              <a:buNone/>
            </a:pPr>
            <a:r>
              <a: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en-US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실습 평가 기준</a:t>
            </a:r>
            <a:r>
              <a: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각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Iteration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마다 모든 산출물이 누락없이 작성되었는가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산출물 간의 연관성을 고려하여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작성하였는가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모든 조원이 활발히 참여했는가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  <a:endParaRPr lang="ko-KR" altLang="en-US" sz="1200" spc="-100" dirty="0">
              <a:ln>
                <a:solidFill>
                  <a:srgbClr val="5B9BD5">
                    <a:alpha val="0"/>
                  </a:srgbClr>
                </a:solidFill>
              </a:ln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02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Requirements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19041" y="771550"/>
            <a:ext cx="3364994" cy="1008112"/>
            <a:chOff x="5671502" y="843558"/>
            <a:chExt cx="3364994" cy="1008112"/>
          </a:xfrm>
        </p:grpSpPr>
        <p:sp>
          <p:nvSpPr>
            <p:cNvPr id="7" name="내용 개체 틀 2"/>
            <p:cNvSpPr txBox="1">
              <a:spLocks/>
            </p:cNvSpPr>
            <p:nvPr/>
          </p:nvSpPr>
          <p:spPr>
            <a:xfrm>
              <a:off x="6168786" y="843558"/>
              <a:ext cx="2149627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FR </a:t>
              </a:r>
              <a:r>
                <a:rPr lang="en-US" altLang="ko-KR" sz="14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(Functional Requirement)</a:t>
              </a:r>
            </a:p>
          </p:txBody>
        </p:sp>
        <p:sp>
          <p:nvSpPr>
            <p:cNvPr id="8" name="내용 개체 틀 2"/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 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 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119040" y="2269998"/>
            <a:ext cx="5605087" cy="1008112"/>
            <a:chOff x="5671502" y="843558"/>
            <a:chExt cx="3364994" cy="1008112"/>
          </a:xfrm>
        </p:grpSpPr>
        <p:sp>
          <p:nvSpPr>
            <p:cNvPr id="10" name="내용 개체 틀 2"/>
            <p:cNvSpPr txBox="1">
              <a:spLocks/>
            </p:cNvSpPr>
            <p:nvPr/>
          </p:nvSpPr>
          <p:spPr>
            <a:xfrm>
              <a:off x="5970045" y="843558"/>
              <a:ext cx="3012780" cy="2977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NFR </a:t>
              </a:r>
              <a:r>
                <a:rPr lang="en-US" altLang="ko-KR" sz="14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(Quality Attributes)  </a:t>
              </a:r>
              <a:r>
                <a:rPr lang="en-US" altLang="ko-KR" sz="11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* Constraints</a:t>
              </a:r>
              <a:r>
                <a:rPr lang="ko-KR" altLang="en-US" sz="11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는 </a:t>
              </a:r>
              <a:r>
                <a:rPr lang="en-US" altLang="ko-KR" sz="1100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Optional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내용 개체 틀 2"/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 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 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19041" y="3496498"/>
            <a:ext cx="3364994" cy="1008112"/>
            <a:chOff x="5671502" y="843558"/>
            <a:chExt cx="3364994" cy="1008112"/>
          </a:xfrm>
        </p:grpSpPr>
        <p:sp>
          <p:nvSpPr>
            <p:cNvPr id="13" name="내용 개체 틀 2"/>
            <p:cNvSpPr txBox="1">
              <a:spLocks/>
            </p:cNvSpPr>
            <p:nvPr/>
          </p:nvSpPr>
          <p:spPr>
            <a:xfrm>
              <a:off x="6168786" y="843558"/>
              <a:ext cx="1368965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</a:t>
              </a: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참고</a:t>
              </a:r>
              <a:r>
                <a:rPr lang="en-US" altLang="ko-KR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) </a:t>
              </a: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문장 작성시</a:t>
              </a:r>
              <a:endPara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내용 개체 틀 2"/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주어를 생략하지 않는다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서술어는 능동태로 작성한다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간결하고 명확한 문장으로 작성한다</a:t>
              </a:r>
              <a:r>
                <a:rPr lang="en-US" altLang="ko-KR" spc="0" dirty="0"/>
                <a:t>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691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한쪽 모서리는 잘리고 다른 쪽 모서리는 둥근 사각형 13"/>
          <p:cNvSpPr/>
          <p:nvPr/>
        </p:nvSpPr>
        <p:spPr>
          <a:xfrm>
            <a:off x="495300" y="774048"/>
            <a:ext cx="3716660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Use Case Diagram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34626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Actor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및 시스템의 주요기능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시스템 개발 범위 파악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652943" y="2752685"/>
            <a:ext cx="6112623" cy="2152823"/>
            <a:chOff x="746396" y="1916832"/>
            <a:chExt cx="11643559" cy="4100779"/>
          </a:xfrm>
        </p:grpSpPr>
        <p:grpSp>
          <p:nvGrpSpPr>
            <p:cNvPr id="9" name="그룹 8"/>
            <p:cNvGrpSpPr/>
            <p:nvPr/>
          </p:nvGrpSpPr>
          <p:grpSpPr>
            <a:xfrm>
              <a:off x="7548402" y="2391685"/>
              <a:ext cx="4841553" cy="3151070"/>
              <a:chOff x="2343594" y="2630241"/>
              <a:chExt cx="5915025" cy="4076700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3594" y="2630241"/>
                <a:ext cx="5915025" cy="4076700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9963512">
                <a:off x="4371975" y="4262604"/>
                <a:ext cx="400050" cy="902067"/>
              </a:xfrm>
              <a:prstGeom prst="rect">
                <a:avLst/>
              </a:prstGeom>
            </p:spPr>
          </p:pic>
        </p:grp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396" y="1916832"/>
              <a:ext cx="6802007" cy="4100779"/>
            </a:xfrm>
            <a:prstGeom prst="rect">
              <a:avLst/>
            </a:prstGeom>
          </p:spPr>
        </p:pic>
      </p:grpSp>
      <p:sp>
        <p:nvSpPr>
          <p:cNvPr id="2" name="직사각형 1"/>
          <p:cNvSpPr/>
          <p:nvPr/>
        </p:nvSpPr>
        <p:spPr>
          <a:xfrm>
            <a:off x="527650" y="1198952"/>
            <a:ext cx="4742837" cy="373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Association (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연관관계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 :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Actor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와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Use Case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의 상호작용을 표현 </a:t>
            </a:r>
            <a:endParaRPr lang="en-US" altLang="ko-KR" sz="14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2C6BDE28-D1E1-45BC-808B-C14FF0062105}"/>
              </a:ext>
            </a:extLst>
          </p:cNvPr>
          <p:cNvSpPr txBox="1"/>
          <p:nvPr/>
        </p:nvSpPr>
        <p:spPr>
          <a:xfrm>
            <a:off x="512489" y="2419067"/>
            <a:ext cx="1493912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(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참고</a:t>
            </a:r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) 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영화예매시스템</a:t>
            </a:r>
            <a:endParaRPr lang="ko-KR" altLang="en-US" sz="1100" b="1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FF927AD-8884-41CD-8682-253022DC64D5}"/>
              </a:ext>
            </a:extLst>
          </p:cNvPr>
          <p:cNvSpPr txBox="1"/>
          <p:nvPr/>
        </p:nvSpPr>
        <p:spPr>
          <a:xfrm>
            <a:off x="77372" y="1559039"/>
            <a:ext cx="8023020" cy="6106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z="1200" spc="0"/>
              <a:t> Spec</a:t>
            </a:r>
            <a:r>
              <a:rPr lang="ko-KR" altLang="en-US" sz="1200" spc="0" dirty="0"/>
              <a:t>에는 선으로만 정의되어 있으나</a:t>
            </a:r>
            <a:r>
              <a:rPr lang="en-US" altLang="ko-KR" sz="1200" spc="0" dirty="0"/>
              <a:t>,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z="1200" spc="0" dirty="0"/>
              <a:t> 현실에서는 화살표 관계로 표시하는 경우도 종종 있음 </a:t>
            </a:r>
            <a:r>
              <a:rPr lang="en-US" altLang="ko-KR" sz="1200" spc="0" dirty="0"/>
              <a:t>(</a:t>
            </a:r>
            <a:r>
              <a:rPr lang="ko-KR" altLang="en-US" sz="1200" spc="0" dirty="0"/>
              <a:t>가독성↑</a:t>
            </a:r>
            <a:r>
              <a:rPr lang="en-US" altLang="ko-KR" sz="1200" spc="0" dirty="0"/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A944A718-F79F-4731-A986-5D30681C4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272" y="1234289"/>
            <a:ext cx="1659113" cy="11214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F324DDC-C40E-4867-A1B6-5D9E72EE7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5672" y="2959005"/>
            <a:ext cx="1472792" cy="15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03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61A223B5-BD74-4446-1E94-9BC6B43B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altLang="ko-KR" dirty="0"/>
              <a:t>Use Case </a:t>
            </a:r>
            <a:r>
              <a:rPr lang="en-US" dirty="0"/>
              <a:t>- Brief Form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D7B50A53-A3C7-77D1-F10D-4CB5106D98FF}"/>
              </a:ext>
            </a:extLst>
          </p:cNvPr>
          <p:cNvGrpSpPr/>
          <p:nvPr/>
        </p:nvGrpSpPr>
        <p:grpSpPr>
          <a:xfrm>
            <a:off x="150756" y="1203598"/>
            <a:ext cx="5789395" cy="1008112"/>
            <a:chOff x="5671500" y="816223"/>
            <a:chExt cx="5789395" cy="1008112"/>
          </a:xfrm>
        </p:grpSpPr>
        <p:sp>
          <p:nvSpPr>
            <p:cNvPr id="5" name="내용 개체 틀 2">
              <a:extLst>
                <a:ext uri="{FF2B5EF4-FFF2-40B4-BE49-F238E27FC236}">
                  <a16:creationId xmlns="" xmlns:a16="http://schemas.microsoft.com/office/drawing/2014/main" id="{0173C4AF-890B-0944-E3EA-A001162E10DF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16223"/>
              <a:ext cx="1064394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이름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(Name)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내용 개체 틀 2">
              <a:extLst>
                <a:ext uri="{FF2B5EF4-FFF2-40B4-BE49-F238E27FC236}">
                  <a16:creationId xmlns="" xmlns:a16="http://schemas.microsoft.com/office/drawing/2014/main" id="{E4A98E4B-07BB-470E-4EE3-C6E0A05B4CE4}"/>
                </a:ext>
              </a:extLst>
            </p:cNvPr>
            <p:cNvSpPr txBox="1">
              <a:spLocks/>
            </p:cNvSpPr>
            <p:nvPr/>
          </p:nvSpPr>
          <p:spPr>
            <a:xfrm>
              <a:off x="5671500" y="1195319"/>
              <a:ext cx="5789395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Use</a:t>
              </a:r>
              <a:r>
                <a:rPr lang="ko-KR" altLang="en-US" spc="0" dirty="0"/>
                <a:t> </a:t>
              </a:r>
              <a:r>
                <a:rPr lang="en-US" altLang="ko-KR" spc="0" dirty="0"/>
                <a:t>Case</a:t>
              </a:r>
              <a:r>
                <a:rPr lang="ko-KR" altLang="en-US" spc="0" dirty="0"/>
                <a:t>를 짧고 직관적으로 표현</a:t>
              </a:r>
              <a:r>
                <a:rPr lang="en-US" altLang="ko-KR" spc="0" dirty="0"/>
                <a:t>(</a:t>
              </a:r>
              <a:r>
                <a:rPr lang="ko-KR" altLang="en-US" spc="0" dirty="0"/>
                <a:t>동사 </a:t>
              </a:r>
              <a:r>
                <a:rPr lang="en-US" altLang="ko-KR" spc="0" dirty="0"/>
                <a:t>+ </a:t>
              </a:r>
              <a:r>
                <a:rPr lang="ko-KR" altLang="en-US" spc="0" dirty="0"/>
                <a:t>목적어 형태가 일반적</a:t>
              </a:r>
              <a:r>
                <a:rPr lang="en-US" altLang="ko-KR" spc="0" dirty="0"/>
                <a:t>).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예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 등록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주문 조회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결제 처리</a:t>
              </a:r>
              <a:endParaRPr lang="en-US" altLang="ko-KR" spc="0" dirty="0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EF17CFEE-6781-B3CB-8BA3-F6AEE55D8F0C}"/>
              </a:ext>
            </a:extLst>
          </p:cNvPr>
          <p:cNvGrpSpPr/>
          <p:nvPr/>
        </p:nvGrpSpPr>
        <p:grpSpPr>
          <a:xfrm>
            <a:off x="119040" y="2211710"/>
            <a:ext cx="5605087" cy="1008112"/>
            <a:chOff x="5671502" y="843558"/>
            <a:chExt cx="3364994" cy="1008112"/>
          </a:xfrm>
        </p:grpSpPr>
        <p:sp>
          <p:nvSpPr>
            <p:cNvPr id="8" name="내용 개체 틀 2">
              <a:extLst>
                <a:ext uri="{FF2B5EF4-FFF2-40B4-BE49-F238E27FC236}">
                  <a16:creationId xmlns="" xmlns:a16="http://schemas.microsoft.com/office/drawing/2014/main" id="{3B38F75F-D454-DE46-40C3-261F0D3FB5EB}"/>
                </a:ext>
              </a:extLst>
            </p:cNvPr>
            <p:cNvSpPr txBox="1">
              <a:spLocks/>
            </p:cNvSpPr>
            <p:nvPr/>
          </p:nvSpPr>
          <p:spPr>
            <a:xfrm>
              <a:off x="5970045" y="843558"/>
              <a:ext cx="3012780" cy="2977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설명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(Description)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내용 개체 틀 2">
              <a:extLst>
                <a:ext uri="{FF2B5EF4-FFF2-40B4-BE49-F238E27FC236}">
                  <a16:creationId xmlns="" xmlns:a16="http://schemas.microsoft.com/office/drawing/2014/main" id="{CA1DB928-2585-EF8F-0089-971770E617CC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 err="1"/>
                <a:t>액터의</a:t>
              </a:r>
              <a:r>
                <a:rPr lang="ko-KR" altLang="en-US" spc="0" dirty="0"/>
                <a:t> 의도와 시스템의 책임을 </a:t>
              </a:r>
              <a:r>
                <a:rPr lang="en-US" altLang="ko-KR" spc="0" dirty="0"/>
                <a:t>1~2 </a:t>
              </a:r>
              <a:r>
                <a:rPr lang="ko-KR" altLang="en-US" spc="0" dirty="0"/>
                <a:t>문장으로 기술</a:t>
              </a:r>
              <a:r>
                <a:rPr lang="en-US" altLang="ko-KR" spc="0" dirty="0"/>
                <a:t>. 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구체적 동작이나 </a:t>
              </a:r>
              <a:r>
                <a:rPr lang="en-US" altLang="ko-KR" spc="0" dirty="0"/>
                <a:t>UI, </a:t>
              </a:r>
              <a:r>
                <a:rPr lang="ko-KR" altLang="en-US" spc="0" dirty="0"/>
                <a:t>내부 설계는 배제</a:t>
              </a:r>
              <a:r>
                <a:rPr lang="en-US" altLang="ko-KR" spc="0" dirty="0"/>
                <a:t>.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4FCE76CC-9BA4-8CE6-AD9E-C7DBB591F5E6}"/>
              </a:ext>
            </a:extLst>
          </p:cNvPr>
          <p:cNvGrpSpPr/>
          <p:nvPr/>
        </p:nvGrpSpPr>
        <p:grpSpPr>
          <a:xfrm>
            <a:off x="119040" y="3291830"/>
            <a:ext cx="8430219" cy="1440160"/>
            <a:chOff x="5671501" y="843558"/>
            <a:chExt cx="8430219" cy="1440160"/>
          </a:xfrm>
        </p:grpSpPr>
        <p:sp>
          <p:nvSpPr>
            <p:cNvPr id="11" name="내용 개체 틀 2">
              <a:extLst>
                <a:ext uri="{FF2B5EF4-FFF2-40B4-BE49-F238E27FC236}">
                  <a16:creationId xmlns="" xmlns:a16="http://schemas.microsoft.com/office/drawing/2014/main" id="{77031657-3582-F234-FEEC-279CCC47F355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43558"/>
              <a:ext cx="1561325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예시 </a:t>
              </a:r>
              <a:r>
                <a:rPr lang="en-US" altLang="ko-KR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– </a:t>
              </a: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온라인 쇼핑몰</a:t>
              </a:r>
              <a:endPara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내용 개체 틀 2">
              <a:extLst>
                <a:ext uri="{FF2B5EF4-FFF2-40B4-BE49-F238E27FC236}">
                  <a16:creationId xmlns="" xmlns:a16="http://schemas.microsoft.com/office/drawing/2014/main" id="{872255BE-1CC5-B9EC-AA29-32D86AB85D39}"/>
                </a:ext>
              </a:extLst>
            </p:cNvPr>
            <p:cNvSpPr txBox="1">
              <a:spLocks/>
            </p:cNvSpPr>
            <p:nvPr/>
          </p:nvSpPr>
          <p:spPr>
            <a:xfrm>
              <a:off x="5671501" y="1222654"/>
              <a:ext cx="8430219" cy="106106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사용자 등록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사용자가 계정을 등록하여 시스템에 접근할 수 있게 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로그인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사용자가 자격 증명을 제출하면 시스템은 검증 후 접근 권한을 부여한다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주문 조회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고객이 자신의 과거 주문 내역을 확인할 수 있도록 시스템이 기록을 제공한다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결제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고객이 결제를 요청하면 시스템은 결제 정보를 검증하고 승인 여부를 반환한다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altLang="ko-KR" spc="0" dirty="0"/>
            </a:p>
          </p:txBody>
        </p:sp>
      </p:grpSp>
      <p:sp>
        <p:nvSpPr>
          <p:cNvPr id="13" name="한쪽 모서리는 잘리고 다른 쪽 모서리는 둥근 사각형 13">
            <a:extLst>
              <a:ext uri="{FF2B5EF4-FFF2-40B4-BE49-F238E27FC236}">
                <a16:creationId xmlns="" xmlns:a16="http://schemas.microsoft.com/office/drawing/2014/main" id="{F42A1FE7-3E83-C286-BE94-998EFB8F84CB}"/>
              </a:ext>
            </a:extLst>
          </p:cNvPr>
          <p:cNvSpPr/>
          <p:nvPr/>
        </p:nvSpPr>
        <p:spPr>
          <a:xfrm>
            <a:off x="495300" y="774048"/>
            <a:ext cx="213248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BB2F3B55-3125-81EE-2FBB-0B2101FE5884}"/>
              </a:ext>
            </a:extLst>
          </p:cNvPr>
          <p:cNvSpPr/>
          <p:nvPr/>
        </p:nvSpPr>
        <p:spPr>
          <a:xfrm>
            <a:off x="605318" y="807554"/>
            <a:ext cx="18064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Use Case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를 간단하게 작성</a:t>
            </a:r>
          </a:p>
        </p:txBody>
      </p:sp>
    </p:spTree>
    <p:extLst>
      <p:ext uri="{BB962C8B-B14F-4D97-AF65-F5344CB8AC3E}">
        <p14:creationId xmlns:p14="http://schemas.microsoft.com/office/powerpoint/2010/main" val="250120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Fully Dressed-up Form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1331119" y="1923678"/>
            <a:ext cx="6348164" cy="2940225"/>
            <a:chOff x="669562" y="1396228"/>
            <a:chExt cx="9909911" cy="4907898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l="22266" t="36732" r="9696" b="20915"/>
            <a:stretch/>
          </p:blipFill>
          <p:spPr>
            <a:xfrm>
              <a:off x="669562" y="1396228"/>
              <a:ext cx="6234119" cy="4907898"/>
            </a:xfrm>
            <a:prstGeom prst="rect">
              <a:avLst/>
            </a:prstGeom>
          </p:spPr>
        </p:pic>
        <p:pic>
          <p:nvPicPr>
            <p:cNvPr id="11" name="내용 개체 틀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6867120" y="1418017"/>
              <a:ext cx="3712353" cy="48388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63808E93-F554-4E04-AD7D-85389752DC2C}"/>
              </a:ext>
            </a:extLst>
          </p:cNvPr>
          <p:cNvGrpSpPr/>
          <p:nvPr/>
        </p:nvGrpSpPr>
        <p:grpSpPr>
          <a:xfrm>
            <a:off x="35496" y="627534"/>
            <a:ext cx="7981348" cy="1034738"/>
            <a:chOff x="5671502" y="816932"/>
            <a:chExt cx="3364994" cy="1034738"/>
          </a:xfrm>
        </p:grpSpPr>
        <p:sp>
          <p:nvSpPr>
            <p:cNvPr id="7" name="내용 개체 틀 2">
              <a:extLst>
                <a:ext uri="{FF2B5EF4-FFF2-40B4-BE49-F238E27FC236}">
                  <a16:creationId xmlns="" xmlns:a16="http://schemas.microsoft.com/office/drawing/2014/main" id="{F423959E-DD9D-489C-85BA-8FD5D5942D03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260670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고객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개발자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테스터 등 이해관계자가 요구사항을 동일하게 이해하도록 상세히 작성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="" xmlns:a16="http://schemas.microsoft.com/office/drawing/2014/main" id="{5BD52651-F44C-4BDF-916D-F97879CA4FF8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복잡한 시스템을 이해하기 쉬운 형태로 표현하여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의사소통을 원활하게 함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요구사항을 정확히 반영했는지 확인하고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이해관계자들 간의 합의를 이끌어내는데도 중요한 역할</a:t>
              </a:r>
              <a:endParaRPr lang="en-US" altLang="ko-KR" spc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03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5BF3FE8-4F1F-4ABC-CBA6-4E4DC84F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DB8BE240-CB3B-E83D-8C96-7A2C8381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Fully Dressed-up Form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59FEE612-52FD-C1BE-8312-CF02E7207519}"/>
              </a:ext>
            </a:extLst>
          </p:cNvPr>
          <p:cNvSpPr/>
          <p:nvPr/>
        </p:nvSpPr>
        <p:spPr>
          <a:xfrm>
            <a:off x="605318" y="807554"/>
            <a:ext cx="34626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Actor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및 시스템의 주요기능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시스템 개발 범위 파악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D4B5FE31-01C4-96D7-EF16-9086C0B655F1}"/>
              </a:ext>
            </a:extLst>
          </p:cNvPr>
          <p:cNvSpPr/>
          <p:nvPr/>
        </p:nvSpPr>
        <p:spPr>
          <a:xfrm>
            <a:off x="527650" y="1096991"/>
            <a:ext cx="2336409" cy="373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Essential UI-Free Style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작성</a:t>
            </a:r>
            <a:endParaRPr lang="en-US" altLang="ko-KR" sz="14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6E7E-5A10-A2A3-F781-5072752194B1}"/>
              </a:ext>
            </a:extLst>
          </p:cNvPr>
          <p:cNvSpPr txBox="1"/>
          <p:nvPr/>
        </p:nvSpPr>
        <p:spPr>
          <a:xfrm>
            <a:off x="77372" y="1457078"/>
            <a:ext cx="8023020" cy="6106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z="1200" spc="0" dirty="0"/>
              <a:t> </a:t>
            </a:r>
            <a:r>
              <a:rPr lang="ko-KR" altLang="en-US" sz="1200" spc="0" dirty="0"/>
              <a:t>요구사항 분석 초기 단계에서는 구체적 시나리오를 피하는 것이 바람직함</a:t>
            </a:r>
            <a:r>
              <a:rPr lang="en-US" altLang="ko-KR" sz="1200" spc="0" dirty="0"/>
              <a:t>(</a:t>
            </a:r>
            <a:r>
              <a:rPr lang="ko-KR" altLang="en-US" sz="1200" spc="0" dirty="0"/>
              <a:t>설계 </a:t>
            </a:r>
            <a:r>
              <a:rPr lang="ko-KR" altLang="en-US" sz="1200" dirty="0"/>
              <a:t>유연성</a:t>
            </a:r>
            <a:r>
              <a:rPr lang="en-US" altLang="ko-KR" sz="1200" dirty="0"/>
              <a:t>)</a:t>
            </a:r>
            <a:endParaRPr lang="en-US" altLang="ko-KR" sz="1200" spc="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z="1200" spc="0" dirty="0"/>
              <a:t> </a:t>
            </a:r>
            <a:r>
              <a:rPr lang="ko-KR" altLang="en-US" sz="1200" dirty="0"/>
              <a:t>예제</a:t>
            </a:r>
            <a:r>
              <a:rPr lang="en-US" altLang="ko-KR" sz="1200" dirty="0"/>
              <a:t>: </a:t>
            </a:r>
            <a:r>
              <a:rPr lang="en-US" altLang="ko-KR" sz="1200" b="1" i="1" dirty="0"/>
              <a:t>Manage Users</a:t>
            </a:r>
            <a:r>
              <a:rPr lang="en-US" altLang="ko-KR" sz="1200" dirty="0"/>
              <a:t> use case</a:t>
            </a:r>
            <a:endParaRPr lang="en-US" altLang="ko-KR" sz="1200" spc="0" dirty="0"/>
          </a:p>
        </p:txBody>
      </p:sp>
      <p:sp>
        <p:nvSpPr>
          <p:cNvPr id="8" name="한쪽 모서리는 잘리고 다른 쪽 모서리는 둥근 사각형 13">
            <a:extLst>
              <a:ext uri="{FF2B5EF4-FFF2-40B4-BE49-F238E27FC236}">
                <a16:creationId xmlns="" xmlns:a16="http://schemas.microsoft.com/office/drawing/2014/main" id="{A9AE6FB6-436A-AD9A-277B-7F698340F883}"/>
              </a:ext>
            </a:extLst>
          </p:cNvPr>
          <p:cNvSpPr/>
          <p:nvPr/>
        </p:nvSpPr>
        <p:spPr>
          <a:xfrm>
            <a:off x="495300" y="774048"/>
            <a:ext cx="2060476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610DBA96-8F21-B004-7A92-4FA256CE82F3}"/>
              </a:ext>
            </a:extLst>
          </p:cNvPr>
          <p:cNvSpPr/>
          <p:nvPr/>
        </p:nvSpPr>
        <p:spPr>
          <a:xfrm>
            <a:off x="605318" y="807554"/>
            <a:ext cx="18784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Use Case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작성 가이드라인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91E35BE2-E3CB-BB87-B43D-444BF7745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076530"/>
            <a:ext cx="5112568" cy="94737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BF4E4D19-AA9A-5082-95C9-C7EAFED6E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6" y="3997420"/>
            <a:ext cx="4565100" cy="93637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FFE4721F-B880-C899-68EC-245A21621AC9}"/>
              </a:ext>
            </a:extLst>
          </p:cNvPr>
          <p:cNvSpPr/>
          <p:nvPr/>
        </p:nvSpPr>
        <p:spPr>
          <a:xfrm>
            <a:off x="527650" y="3041207"/>
            <a:ext cx="2043957" cy="373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Black-Box Use cases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작성</a:t>
            </a:r>
            <a:endParaRPr lang="en-US" altLang="ko-KR" sz="14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872636A-8538-AA5D-DBFE-2B263A37622C}"/>
              </a:ext>
            </a:extLst>
          </p:cNvPr>
          <p:cNvSpPr txBox="1"/>
          <p:nvPr/>
        </p:nvSpPr>
        <p:spPr>
          <a:xfrm>
            <a:off x="77372" y="3401294"/>
            <a:ext cx="8023020" cy="6106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시스템이 </a:t>
            </a:r>
            <a:r>
              <a:rPr lang="ko-KR" altLang="en-US" sz="1200" b="1" dirty="0"/>
              <a:t>어떻게 동작하는지</a:t>
            </a:r>
            <a:r>
              <a:rPr lang="en-US" altLang="ko-KR" sz="1200" dirty="0"/>
              <a:t> </a:t>
            </a:r>
            <a:r>
              <a:rPr lang="ko-KR" altLang="en-US" sz="1200" dirty="0"/>
              <a:t>내부 동작을 서술하지 않음</a:t>
            </a:r>
            <a:endParaRPr lang="en-US" altLang="ko-KR" sz="120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z="1200" spc="0" dirty="0"/>
              <a:t> 시스템이 하는 일을 정의</a:t>
            </a:r>
            <a:endParaRPr lang="en-US" altLang="ko-KR" sz="1200" spc="0" dirty="0"/>
          </a:p>
        </p:txBody>
      </p:sp>
    </p:spTree>
    <p:extLst>
      <p:ext uri="{BB962C8B-B14F-4D97-AF65-F5344CB8AC3E}">
        <p14:creationId xmlns:p14="http://schemas.microsoft.com/office/powerpoint/2010/main" val="2232171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Domain Model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="" xmlns:a16="http://schemas.microsoft.com/office/drawing/2014/main" id="{89999A5C-2E42-4759-BC0A-360961C0156A}"/>
              </a:ext>
            </a:extLst>
          </p:cNvPr>
          <p:cNvSpPr txBox="1">
            <a:spLocks/>
          </p:cNvSpPr>
          <p:nvPr/>
        </p:nvSpPr>
        <p:spPr>
          <a:xfrm>
            <a:off x="37946" y="2876940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462375" lvl="1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US" altLang="ko-KR" spc="-150" dirty="0"/>
          </a:p>
        </p:txBody>
      </p:sp>
      <p:sp>
        <p:nvSpPr>
          <p:cNvPr id="24" name="내용 개체 틀 2">
            <a:extLst>
              <a:ext uri="{FF2B5EF4-FFF2-40B4-BE49-F238E27FC236}">
                <a16:creationId xmlns="" xmlns:a16="http://schemas.microsoft.com/office/drawing/2014/main" id="{D414A888-7BCB-4380-B8A5-0201D2D0DBEE}"/>
              </a:ext>
            </a:extLst>
          </p:cNvPr>
          <p:cNvSpPr txBox="1">
            <a:spLocks/>
          </p:cNvSpPr>
          <p:nvPr/>
        </p:nvSpPr>
        <p:spPr>
          <a:xfrm>
            <a:off x="552162" y="689864"/>
            <a:ext cx="4502836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Domain Model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은 가장 중요한 모델로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주요 도메인을 시각화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="" xmlns:a16="http://schemas.microsoft.com/office/drawing/2014/main" id="{77757F10-6FFF-4136-93F3-A50D748DCD2A}"/>
              </a:ext>
            </a:extLst>
          </p:cNvPr>
          <p:cNvSpPr txBox="1">
            <a:spLocks/>
          </p:cNvSpPr>
          <p:nvPr/>
        </p:nvSpPr>
        <p:spPr>
          <a:xfrm>
            <a:off x="35496" y="107863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비즈니스 도메인이나 문제 영역 등 관심 영역을 구체화하는 단계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중요한 개념들이 모두 고려되었는지</a:t>
            </a:r>
            <a:r>
              <a:rPr lang="en-US" altLang="ko-KR" spc="-150" dirty="0"/>
              <a:t>, </a:t>
            </a:r>
            <a:r>
              <a:rPr lang="ko-KR" altLang="en-US" spc="-150" dirty="0"/>
              <a:t>누락된 것은 없는지 표현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개념적 모델</a:t>
            </a:r>
            <a:r>
              <a:rPr lang="en-US" altLang="ko-KR" spc="-150" dirty="0"/>
              <a:t>(conceptual model), </a:t>
            </a:r>
            <a:r>
              <a:rPr lang="ko-KR" altLang="en-US" spc="-150" dirty="0"/>
              <a:t>도메인 객체 모델</a:t>
            </a:r>
            <a:r>
              <a:rPr lang="en-US" altLang="ko-KR" spc="-150" dirty="0"/>
              <a:t>(domain object model), </a:t>
            </a:r>
            <a:r>
              <a:rPr lang="ko-KR" altLang="en-US" spc="-150" dirty="0"/>
              <a:t>분석 객체 모델</a:t>
            </a:r>
            <a:r>
              <a:rPr lang="en-US" altLang="ko-KR" spc="-150" dirty="0"/>
              <a:t>(analysis object model)</a:t>
            </a:r>
            <a:r>
              <a:rPr lang="ko-KR" altLang="en-US" spc="-150" dirty="0"/>
              <a:t>이라고도 함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="" xmlns:a16="http://schemas.microsoft.com/office/drawing/2014/main" id="{068CB283-61FD-40F0-BF55-928F9A52F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38741"/>
              </p:ext>
            </p:extLst>
          </p:nvPr>
        </p:nvGraphicFramePr>
        <p:xfrm>
          <a:off x="900949" y="3760022"/>
          <a:ext cx="4751171" cy="1260000"/>
        </p:xfrm>
        <a:graphic>
          <a:graphicData uri="http://schemas.openxmlformats.org/drawingml/2006/table">
            <a:tbl>
              <a:tblPr/>
              <a:tblGrid>
                <a:gridCol w="869115">
                  <a:extLst>
                    <a:ext uri="{9D8B030D-6E8A-4147-A177-3AD203B41FA5}">
                      <a16:colId xmlns="" xmlns:a16="http://schemas.microsoft.com/office/drawing/2014/main" val="2378189426"/>
                    </a:ext>
                  </a:extLst>
                </a:gridCol>
                <a:gridCol w="1941028">
                  <a:extLst>
                    <a:ext uri="{9D8B030D-6E8A-4147-A177-3AD203B41FA5}">
                      <a16:colId xmlns="" xmlns:a16="http://schemas.microsoft.com/office/drawing/2014/main" val="2409638596"/>
                    </a:ext>
                  </a:extLst>
                </a:gridCol>
                <a:gridCol w="1941028">
                  <a:extLst>
                    <a:ext uri="{9D8B030D-6E8A-4147-A177-3AD203B41FA5}">
                      <a16:colId xmlns="" xmlns:a16="http://schemas.microsoft.com/office/drawing/2014/main" val="78152971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Conceptual Class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Class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00268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정의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비즈니스 도메인 또는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문제 영역을 모델링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객체지향 프로그래밍의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단위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703776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특징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시스템의 핵심 개념과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관계를 표현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실제 구현에 종속적으로</a:t>
                      </a: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객체 생성에 사용됨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374072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24B08A48-B807-4B32-94D8-559E277E546D}"/>
              </a:ext>
            </a:extLst>
          </p:cNvPr>
          <p:cNvGrpSpPr/>
          <p:nvPr/>
        </p:nvGrpSpPr>
        <p:grpSpPr>
          <a:xfrm>
            <a:off x="61805" y="2211710"/>
            <a:ext cx="8693586" cy="1008112"/>
            <a:chOff x="5671502" y="843558"/>
            <a:chExt cx="8693586" cy="1008112"/>
          </a:xfrm>
        </p:grpSpPr>
        <p:sp>
          <p:nvSpPr>
            <p:cNvPr id="17" name="내용 개체 틀 2">
              <a:extLst>
                <a:ext uri="{FF2B5EF4-FFF2-40B4-BE49-F238E27FC236}">
                  <a16:creationId xmlns="" xmlns:a16="http://schemas.microsoft.com/office/drawing/2014/main" id="{A9696E24-D6D7-47B1-93C5-D12E0C67991E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43558"/>
              <a:ext cx="4164602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Conceptual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Class(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개념적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Class)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혹은 객체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(Object)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를 표현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내용 개체 틀 2">
              <a:extLst>
                <a:ext uri="{FF2B5EF4-FFF2-40B4-BE49-F238E27FC236}">
                  <a16:creationId xmlns="" xmlns:a16="http://schemas.microsoft.com/office/drawing/2014/main" id="{A61034A4-047D-4ED8-8EE2-1865D05594AD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8693586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는 설계</a:t>
              </a:r>
              <a:r>
                <a:rPr lang="en-US" altLang="ko-KR" spc="-150" dirty="0"/>
                <a:t>/</a:t>
              </a:r>
              <a:r>
                <a:rPr lang="ko-KR" altLang="en-US" spc="-150" dirty="0"/>
                <a:t>구현에 사용하는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의 상위 레벨</a:t>
              </a:r>
              <a:endParaRPr lang="en-US" altLang="ko-KR" spc="-150" dirty="0"/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시스템의 핵심 개념과 관계를 표현하는 데 사용    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(ex) 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고객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",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주문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",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제품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  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등</a:t>
              </a:r>
              <a:endParaRPr lang="en-US" altLang="ko-KR" b="0" i="0" dirty="0">
                <a:solidFill>
                  <a:srgbClr val="24292F"/>
                </a:solidFill>
                <a:effectLst/>
                <a:latin typeface="Noto Sans KR"/>
              </a:endParaRP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>
                  <a:solidFill>
                    <a:srgbClr val="11236D"/>
                  </a:solidFill>
                </a:rPr>
                <a:t>(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주의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) 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설계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/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구현 단계의 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Class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 수준으로 상세 정의하지 않도록 함</a:t>
              </a:r>
              <a:endParaRPr lang="en-US" altLang="ko-KR" spc="-150" dirty="0"/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altLang="ko-KR" spc="-150" dirty="0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44A5ED02-9142-4AA1-91BB-646D094C8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266560"/>
            <a:ext cx="2745138" cy="264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67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한쪽 모서리는 잘리고 다른 쪽 모서리는 둥근 사각형 12"/>
          <p:cNvSpPr/>
          <p:nvPr/>
        </p:nvSpPr>
        <p:spPr>
          <a:xfrm>
            <a:off x="495300" y="1635646"/>
            <a:ext cx="285256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4440" y="3370217"/>
            <a:ext cx="1802645" cy="156773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Domain Model - Conceptual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 찾기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2938" y="1664945"/>
            <a:ext cx="34626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Main Success Scenario (or Basic Flow):</a:t>
            </a:r>
            <a:endParaRPr lang="ko-KR" altLang="en-US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496" y="2067694"/>
            <a:ext cx="5112568" cy="2952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1. 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Customer</a:t>
            </a:r>
            <a:r>
              <a:rPr lang="en-US" altLang="ko-KR" sz="1000" spc="-110" dirty="0"/>
              <a:t> arrives at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POS checkout</a:t>
            </a:r>
            <a:r>
              <a:rPr lang="en-US" altLang="ko-KR" sz="1000" spc="-110" dirty="0"/>
              <a:t> with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goods</a:t>
            </a:r>
            <a:r>
              <a:rPr lang="en-US" altLang="ko-KR" sz="1000" spc="-110" dirty="0"/>
              <a:t> and/or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services</a:t>
            </a:r>
            <a:r>
              <a:rPr lang="en-US" altLang="ko-KR" sz="1000" spc="-110" dirty="0"/>
              <a:t> to purchase.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2. 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Cashier</a:t>
            </a:r>
            <a:r>
              <a:rPr lang="en-US" altLang="ko-KR" sz="1000" spc="-110" dirty="0">
                <a:solidFill>
                  <a:srgbClr val="4156BD"/>
                </a:solidFill>
              </a:rPr>
              <a:t> </a:t>
            </a:r>
            <a:r>
              <a:rPr lang="en-US" altLang="ko-KR" sz="1000" spc="-110" dirty="0"/>
              <a:t>starts a new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sale</a:t>
            </a:r>
            <a:r>
              <a:rPr lang="en-US" altLang="ko-KR" sz="1000" b="1" spc="-110" dirty="0">
                <a:solidFill>
                  <a:srgbClr val="4156BD"/>
                </a:solidFill>
              </a:rPr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3.  Cashier enters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item identifier.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4.  System records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sale line item </a:t>
            </a:r>
            <a:r>
              <a:rPr lang="en-US" altLang="ko-KR" sz="1000" spc="-110" dirty="0"/>
              <a:t>and presents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product description</a:t>
            </a:r>
            <a:r>
              <a:rPr lang="en-US" altLang="ko-KR" sz="1000" b="1" spc="-110" dirty="0">
                <a:solidFill>
                  <a:srgbClr val="4156BD"/>
                </a:solidFill>
              </a:rPr>
              <a:t>, price,</a:t>
            </a:r>
            <a:r>
              <a:rPr lang="en-US" altLang="ko-KR" sz="1000" spc="-110" dirty="0"/>
              <a:t> and running total. Price calculated from a set of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price rules.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Cashier repeats steps 3-4 until indicates done.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5.  System presents total with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taxes</a:t>
            </a:r>
            <a:r>
              <a:rPr lang="en-US" altLang="ko-KR" sz="1000" spc="-110" dirty="0"/>
              <a:t> calculated.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6.  Cashier tells Customer the total, and asks for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payment</a:t>
            </a:r>
            <a:r>
              <a:rPr lang="en-US" altLang="ko-KR" sz="1000" b="1" spc="-110" dirty="0">
                <a:solidFill>
                  <a:srgbClr val="4156BD"/>
                </a:solidFill>
              </a:rPr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7.  Customer pays and System handles payment.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8.  System logs completed sale and sends sale and payment information to the external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Accounting </a:t>
            </a:r>
            <a:r>
              <a:rPr lang="en-US" altLang="ko-KR" sz="1000" spc="-110" dirty="0"/>
              <a:t>system (for accounting and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commissions</a:t>
            </a:r>
            <a:r>
              <a:rPr lang="en-US" altLang="ko-KR" sz="1000" spc="-110" dirty="0"/>
              <a:t>) and Inventory system (to update inventory).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9.  System presents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receipt</a:t>
            </a:r>
            <a:r>
              <a:rPr lang="en-US" altLang="ko-KR" sz="1000" spc="-110" dirty="0"/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10.  Customer leaves with receipt and goods (if any).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Extensions (or Alternative Flows): […]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967536" y="2067694"/>
            <a:ext cx="4176464" cy="1243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7a. Paying by cash:1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Cashier enters the cash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amount tendered.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 presents the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balance due,</a:t>
            </a: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and releases the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 drawer.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Cashier deposits cash tendered and returns balance in cash to Customer.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 records the cash payment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5292080" y="2139702"/>
            <a:ext cx="0" cy="10801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3D5A7307-CC71-49E2-8A33-37BD5B049EC9}"/>
              </a:ext>
            </a:extLst>
          </p:cNvPr>
          <p:cNvGrpSpPr/>
          <p:nvPr/>
        </p:nvGrpSpPr>
        <p:grpSpPr>
          <a:xfrm>
            <a:off x="35496" y="617856"/>
            <a:ext cx="8693586" cy="1017790"/>
            <a:chOff x="5671502" y="905888"/>
            <a:chExt cx="8693586" cy="1017790"/>
          </a:xfrm>
        </p:grpSpPr>
        <p:sp>
          <p:nvSpPr>
            <p:cNvPr id="15" name="내용 개체 틀 2">
              <a:extLst>
                <a:ext uri="{FF2B5EF4-FFF2-40B4-BE49-F238E27FC236}">
                  <a16:creationId xmlns="" xmlns:a16="http://schemas.microsoft.com/office/drawing/2014/main" id="{7D4CE56C-DC53-42DF-97C1-AF7CAC2F647A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905888"/>
              <a:ext cx="226664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요구사항을 문장으로 작성하면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내용 개체 틀 2">
              <a:extLst>
                <a:ext uri="{FF2B5EF4-FFF2-40B4-BE49-F238E27FC236}">
                  <a16:creationId xmlns="" xmlns:a16="http://schemas.microsoft.com/office/drawing/2014/main" id="{210D9740-3107-4BD2-A16D-FB91D2FA816F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94662"/>
              <a:ext cx="8693586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-150" dirty="0"/>
                <a:t>명사들은 </a:t>
              </a: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의 후보가 되며</a:t>
              </a:r>
              <a:r>
                <a:rPr lang="en-US" altLang="ko-KR" spc="-150" dirty="0"/>
                <a:t>, </a:t>
              </a:r>
              <a:r>
                <a:rPr lang="ko-KR" altLang="en-US" spc="-150" dirty="0"/>
                <a:t>그 특징들은 속성</a:t>
              </a:r>
              <a:r>
                <a:rPr lang="en-US" altLang="ko-KR" spc="-150" dirty="0"/>
                <a:t>(attribute)</a:t>
              </a:r>
              <a:r>
                <a:rPr lang="ko-KR" altLang="en-US" spc="-150" dirty="0"/>
                <a:t>이 됨</a:t>
              </a:r>
              <a:endParaRPr lang="en-US" altLang="ko-KR" b="1" u="sng" spc="-150" dirty="0">
                <a:solidFill>
                  <a:srgbClr val="11236D"/>
                </a:solidFill>
              </a:endParaRPr>
            </a:p>
            <a:p>
              <a:pPr lvl="1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 </a:t>
              </a:r>
              <a:r>
                <a:rPr lang="ko-KR" altLang="en-US" spc="-150" dirty="0"/>
                <a:t>사이의 연관관계</a:t>
              </a:r>
              <a:r>
                <a:rPr lang="en-US" altLang="ko-KR" spc="-150" dirty="0"/>
                <a:t>(association)</a:t>
              </a:r>
              <a:r>
                <a:rPr lang="ko-KR" altLang="en-US" spc="-150" dirty="0"/>
                <a:t>는</a:t>
              </a:r>
              <a:r>
                <a:rPr lang="en-US" altLang="ko-KR" spc="-150" dirty="0"/>
                <a:t> </a:t>
              </a:r>
              <a:r>
                <a:rPr lang="ko-KR" altLang="en-US" spc="-150" dirty="0"/>
                <a:t>표현</a:t>
              </a:r>
              <a:r>
                <a:rPr lang="en-US" altLang="ko-KR" spc="-150" dirty="0"/>
                <a:t>,  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(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주의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) 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메소드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(operation)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는 추가하지 않음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 </a:t>
              </a:r>
            </a:p>
            <a:p>
              <a:pPr marL="462375" lvl="1" indent="0">
                <a:lnSpc>
                  <a:spcPct val="150000"/>
                </a:lnSpc>
                <a:buClr>
                  <a:schemeClr val="accent1"/>
                </a:buClr>
                <a:buNone/>
              </a:pPr>
              <a:endParaRPr lang="en-US" altLang="ko-KR" spc="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819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한쪽 모서리는 잘리고 다른 쪽 모서리는 둥근 사각형 6"/>
          <p:cNvSpPr/>
          <p:nvPr/>
        </p:nvSpPr>
        <p:spPr>
          <a:xfrm>
            <a:off x="495300" y="774048"/>
            <a:ext cx="3860676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System Sequence Diagram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3750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시스템의 외부 이벤트 반응에 대해 표현하는 다이어그램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8AB4B3A8-65ED-413F-A8D3-67D39FF6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390" y="1995686"/>
            <a:ext cx="5434516" cy="2913279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="" xmlns:a16="http://schemas.microsoft.com/office/drawing/2014/main" id="{7BEF9C4C-C8A4-44B2-90CD-79976BE3ACCB}"/>
              </a:ext>
            </a:extLst>
          </p:cNvPr>
          <p:cNvSpPr txBox="1">
            <a:spLocks/>
          </p:cNvSpPr>
          <p:nvPr/>
        </p:nvSpPr>
        <p:spPr>
          <a:xfrm>
            <a:off x="35496" y="1150646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 시스템의 특정 시나리오를 설명하는 데 유용 </a:t>
            </a:r>
            <a:r>
              <a:rPr lang="en-US" altLang="ko-KR" b="0" i="0" dirty="0">
                <a:solidFill>
                  <a:srgbClr val="24292F"/>
                </a:solidFill>
                <a:effectLst/>
                <a:latin typeface="Noto Sans KR"/>
              </a:rPr>
              <a:t>   (ex) </a:t>
            </a:r>
            <a:r>
              <a:rPr lang="ko-KR" altLang="en-US" b="0" i="0" dirty="0">
                <a:solidFill>
                  <a:srgbClr val="24292F"/>
                </a:solidFill>
                <a:effectLst/>
                <a:latin typeface="Noto Sans KR"/>
              </a:rPr>
              <a:t>온라인 쇼핑 주문 등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외부와의 상호작용</a:t>
            </a:r>
            <a:r>
              <a:rPr lang="en-US" altLang="ko-KR" spc="-150" dirty="0"/>
              <a:t>(interaction)</a:t>
            </a:r>
            <a:r>
              <a:rPr lang="ko-KR" altLang="en-US" spc="-150" dirty="0"/>
              <a:t>을 중심으로 시스템의 동적인 측면을 시간순서로 표현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</p:txBody>
      </p:sp>
    </p:spTree>
    <p:extLst>
      <p:ext uri="{BB962C8B-B14F-4D97-AF65-F5344CB8AC3E}">
        <p14:creationId xmlns:p14="http://schemas.microsoft.com/office/powerpoint/2010/main" val="2565278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는 잘리고 다른 쪽 모서리는 둥근 사각형 5"/>
          <p:cNvSpPr/>
          <p:nvPr/>
        </p:nvSpPr>
        <p:spPr>
          <a:xfrm>
            <a:off x="495300" y="774048"/>
            <a:ext cx="3716660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System Sequence Diagram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35346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System Sequence Diagram   vs   Sequence Diagram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45F3BABD-010F-4BC7-86F4-DEC7D7BC80D6}"/>
              </a:ext>
            </a:extLst>
          </p:cNvPr>
          <p:cNvGrpSpPr/>
          <p:nvPr/>
        </p:nvGrpSpPr>
        <p:grpSpPr>
          <a:xfrm>
            <a:off x="149277" y="1370354"/>
            <a:ext cx="7981348" cy="1034738"/>
            <a:chOff x="5671502" y="816932"/>
            <a:chExt cx="3364994" cy="1034738"/>
          </a:xfrm>
        </p:grpSpPr>
        <p:sp>
          <p:nvSpPr>
            <p:cNvPr id="9" name="내용 개체 틀 2">
              <a:extLst>
                <a:ext uri="{FF2B5EF4-FFF2-40B4-BE49-F238E27FC236}">
                  <a16:creationId xmlns="" xmlns:a16="http://schemas.microsoft.com/office/drawing/2014/main" id="{B5C47556-E89B-40F0-B6D5-D49F50CED503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292875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System Sequence Diagram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은 개발할 시스템의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Input/</a:t>
              </a:r>
              <a:r>
                <a:rPr lang="en-US" altLang="ko-KR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Ouput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이벤트를 표현하는 것에 집중</a:t>
              </a:r>
            </a:p>
          </p:txBody>
        </p:sp>
        <p:sp>
          <p:nvSpPr>
            <p:cNvPr id="10" name="내용 개체 틀 2">
              <a:extLst>
                <a:ext uri="{FF2B5EF4-FFF2-40B4-BE49-F238E27FC236}">
                  <a16:creationId xmlns="" xmlns:a16="http://schemas.microsoft.com/office/drawing/2014/main" id="{EC0A3909-1C69-4FB7-93CE-AAD33BF65807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System Sequence Diagram: </a:t>
              </a:r>
              <a:r>
                <a:rPr lang="ko-KR" altLang="en-US" u="sng" spc="-110" dirty="0">
                  <a:solidFill>
                    <a:srgbClr val="11236D"/>
                  </a:solidFill>
                </a:rPr>
                <a:t>외부 </a:t>
              </a:r>
              <a:r>
                <a:rPr lang="en-US" altLang="ko-KR" u="sng" spc="-110" dirty="0">
                  <a:solidFill>
                    <a:srgbClr val="11236D"/>
                  </a:solidFill>
                </a:rPr>
                <a:t>Actor</a:t>
              </a:r>
              <a:r>
                <a:rPr lang="ko-KR" altLang="en-US" u="sng" spc="-110" dirty="0">
                  <a:solidFill>
                    <a:srgbClr val="11236D"/>
                  </a:solidFill>
                </a:rPr>
                <a:t>가 시스템과 상호작용하는 이벤트 시나리오</a:t>
              </a:r>
              <a:r>
                <a:rPr lang="ko-KR" altLang="en-US" spc="0" dirty="0"/>
                <a:t>를 표현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Sequence Diagram : </a:t>
              </a:r>
              <a:r>
                <a:rPr lang="ko-KR" altLang="en-US" u="sng" spc="-110" dirty="0">
                  <a:solidFill>
                    <a:srgbClr val="11236D"/>
                  </a:solidFill>
                </a:rPr>
                <a:t>외부 </a:t>
              </a:r>
              <a:r>
                <a:rPr lang="en-US" altLang="ko-KR" u="sng" spc="-110" dirty="0">
                  <a:solidFill>
                    <a:srgbClr val="11236D"/>
                  </a:solidFill>
                </a:rPr>
                <a:t>Actor</a:t>
              </a:r>
              <a:r>
                <a:rPr lang="ko-KR" altLang="en-US" u="sng" spc="-110" dirty="0">
                  <a:solidFill>
                    <a:srgbClr val="11236D"/>
                  </a:solidFill>
                </a:rPr>
                <a:t>와 시스템내 </a:t>
              </a:r>
              <a:r>
                <a:rPr lang="en-US" altLang="ko-KR" u="sng" spc="-110" dirty="0">
                  <a:solidFill>
                    <a:srgbClr val="11236D"/>
                  </a:solidFill>
                </a:rPr>
                <a:t>Use Case</a:t>
              </a:r>
              <a:r>
                <a:rPr lang="ko-KR" altLang="en-US" u="sng" spc="-110" dirty="0">
                  <a:solidFill>
                    <a:srgbClr val="11236D"/>
                  </a:solidFill>
                </a:rPr>
                <a:t>의 시간에 따른 상호작용</a:t>
              </a:r>
              <a:r>
                <a:rPr lang="ko-KR" altLang="en-US" spc="0" dirty="0"/>
                <a:t>을 표현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="" xmlns:a16="http://schemas.microsoft.com/office/drawing/2014/main" id="{AE501986-5FEE-4DB1-A7E9-7A4E55C40ECD}"/>
              </a:ext>
            </a:extLst>
          </p:cNvPr>
          <p:cNvGrpSpPr/>
          <p:nvPr/>
        </p:nvGrpSpPr>
        <p:grpSpPr>
          <a:xfrm>
            <a:off x="149277" y="2617132"/>
            <a:ext cx="7981348" cy="1034738"/>
            <a:chOff x="5671502" y="816932"/>
            <a:chExt cx="3364994" cy="1034738"/>
          </a:xfrm>
        </p:grpSpPr>
        <p:sp>
          <p:nvSpPr>
            <p:cNvPr id="13" name="내용 개체 틀 2">
              <a:extLst>
                <a:ext uri="{FF2B5EF4-FFF2-40B4-BE49-F238E27FC236}">
                  <a16:creationId xmlns="" xmlns:a16="http://schemas.microsoft.com/office/drawing/2014/main" id="{3FFC993C-A12E-418B-A55D-037B35FBF259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3003422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따라서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외부와의 이벤트에 따라 수행하는 행위만 보여주고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시스템 내부 동작은 알려주지 않음</a:t>
              </a:r>
            </a:p>
          </p:txBody>
        </p:sp>
        <p:sp>
          <p:nvSpPr>
            <p:cNvPr id="14" name="내용 개체 틀 2">
              <a:extLst>
                <a:ext uri="{FF2B5EF4-FFF2-40B4-BE49-F238E27FC236}">
                  <a16:creationId xmlns="" xmlns:a16="http://schemas.microsoft.com/office/drawing/2014/main" id="{52A14D28-C2D6-454B-AA81-41553E6D4E6A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내부 동작은 블랙박스</a:t>
              </a:r>
              <a:endParaRPr lang="en-US" altLang="ko-KR" spc="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F24E1FE6-0AD6-43DB-9C55-35FC751D722B}"/>
              </a:ext>
            </a:extLst>
          </p:cNvPr>
          <p:cNvGrpSpPr/>
          <p:nvPr/>
        </p:nvGrpSpPr>
        <p:grpSpPr>
          <a:xfrm>
            <a:off x="149277" y="3625244"/>
            <a:ext cx="7981349" cy="1034738"/>
            <a:chOff x="5671502" y="816932"/>
            <a:chExt cx="3364994" cy="1034738"/>
          </a:xfrm>
        </p:grpSpPr>
        <p:sp>
          <p:nvSpPr>
            <p:cNvPr id="16" name="내용 개체 틀 2">
              <a:extLst>
                <a:ext uri="{FF2B5EF4-FFF2-40B4-BE49-F238E27FC236}">
                  <a16:creationId xmlns="" xmlns:a16="http://schemas.microsoft.com/office/drawing/2014/main" id="{7C10C4F7-80CD-4DE4-A6D4-F73143E87B95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2330288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3.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네이밍은 인터페이스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입력장치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버튼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터치 등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)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관점보다 </a:t>
              </a: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추상화하여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표현</a:t>
              </a:r>
            </a:p>
          </p:txBody>
        </p:sp>
        <p:sp>
          <p:nvSpPr>
            <p:cNvPr id="17" name="내용 개체 틀 2">
              <a:extLst>
                <a:ext uri="{FF2B5EF4-FFF2-40B4-BE49-F238E27FC236}">
                  <a16:creationId xmlns="" xmlns:a16="http://schemas.microsoft.com/office/drawing/2014/main" id="{4831CFC0-DF7A-431C-A6EE-886C1BED83A1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보통은 동사형으로 작성 </a:t>
              </a:r>
              <a:r>
                <a:rPr lang="en-US" altLang="ko-KR" spc="0" dirty="0"/>
                <a:t>(</a:t>
              </a:r>
              <a:r>
                <a:rPr lang="en-US" altLang="ko-KR" spc="0" dirty="0" err="1"/>
                <a:t>makeNewSale</a:t>
              </a:r>
              <a:r>
                <a:rPr lang="en-US" altLang="ko-KR" spc="0" dirty="0"/>
                <a:t>, </a:t>
              </a:r>
              <a:r>
                <a:rPr lang="en-US" altLang="ko-KR" spc="0" dirty="0" err="1"/>
                <a:t>enterItem</a:t>
              </a:r>
              <a:r>
                <a:rPr lang="en-US" altLang="ko-KR" spc="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121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Sequence Diagram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0E8F327B-28BB-4DF5-9B6F-AF7D6237A231}"/>
              </a:ext>
            </a:extLst>
          </p:cNvPr>
          <p:cNvGrpSpPr/>
          <p:nvPr/>
        </p:nvGrpSpPr>
        <p:grpSpPr>
          <a:xfrm>
            <a:off x="107504" y="579976"/>
            <a:ext cx="7981348" cy="1034738"/>
            <a:chOff x="5671502" y="816932"/>
            <a:chExt cx="3364994" cy="1034738"/>
          </a:xfrm>
        </p:grpSpPr>
        <p:sp>
          <p:nvSpPr>
            <p:cNvPr id="7" name="내용 개체 틀 2">
              <a:extLst>
                <a:ext uri="{FF2B5EF4-FFF2-40B4-BE49-F238E27FC236}">
                  <a16:creationId xmlns="" xmlns:a16="http://schemas.microsoft.com/office/drawing/2014/main" id="{22BE2DA6-87D0-47EC-B3E5-0FDA1FBC74F2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97658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객체들 간의 상호작용을 시각화</a:t>
              </a:r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="" xmlns:a16="http://schemas.microsoft.com/office/drawing/2014/main" id="{C8F0F55D-79CA-48AC-99CC-96BA05722584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주로 시간의 흐름에 따라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객체 사이의 이벤트</a:t>
              </a:r>
              <a:r>
                <a:rPr lang="en-US" altLang="ko-KR" spc="0" dirty="0"/>
                <a:t>/</a:t>
              </a:r>
              <a:r>
                <a:rPr lang="ko-KR" altLang="en-US" spc="0" dirty="0"/>
                <a:t>메시지 등을 표현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객체들의 동적 상태를 모델링하여 시스템의 동작을 이해하는 데 도움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46CD90EB-7B87-4602-A2DC-AB032BB8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04" y="1827027"/>
            <a:ext cx="2628502" cy="19830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2BB689E4-1764-4F8B-B08A-78E63C65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636" y="1826314"/>
            <a:ext cx="3009882" cy="3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30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Class Diagram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56EEE91A-54A7-4BCB-8458-37EB25A97F9B}"/>
              </a:ext>
            </a:extLst>
          </p:cNvPr>
          <p:cNvGrpSpPr/>
          <p:nvPr/>
        </p:nvGrpSpPr>
        <p:grpSpPr>
          <a:xfrm>
            <a:off x="107504" y="579976"/>
            <a:ext cx="8424936" cy="1034738"/>
            <a:chOff x="5671502" y="816932"/>
            <a:chExt cx="3364994" cy="1034738"/>
          </a:xfrm>
        </p:grpSpPr>
        <p:sp>
          <p:nvSpPr>
            <p:cNvPr id="10" name="내용 개체 틀 2">
              <a:extLst>
                <a:ext uri="{FF2B5EF4-FFF2-40B4-BE49-F238E27FC236}">
                  <a16:creationId xmlns="" xmlns:a16="http://schemas.microsoft.com/office/drawing/2014/main" id="{0B9E3999-F02A-4542-9538-6305B855F702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2585079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클래스의 구조 및 클래스 간의 관계를 표현하여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시스템의 구조를 파악할 수 있게 함</a:t>
              </a:r>
            </a:p>
          </p:txBody>
        </p:sp>
        <p:sp>
          <p:nvSpPr>
            <p:cNvPr id="11" name="내용 개체 틀 2">
              <a:extLst>
                <a:ext uri="{FF2B5EF4-FFF2-40B4-BE49-F238E27FC236}">
                  <a16:creationId xmlns="" xmlns:a16="http://schemas.microsoft.com/office/drawing/2014/main" id="{40FFAC4A-C06B-4ECA-8790-6DC02CF7019B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b="1" spc="0" dirty="0">
                  <a:solidFill>
                    <a:srgbClr val="11236D"/>
                  </a:solidFill>
                </a:rPr>
                <a:t>Class:</a:t>
              </a:r>
              <a:r>
                <a:rPr lang="en-US" altLang="ko-KR" spc="0" dirty="0"/>
                <a:t> </a:t>
              </a:r>
              <a:r>
                <a:rPr lang="ko-KR" altLang="en-US" spc="0" dirty="0"/>
                <a:t>시스템 내의 개체</a:t>
              </a:r>
              <a:r>
                <a:rPr lang="en-US" altLang="ko-KR" spc="0" dirty="0"/>
                <a:t>(entity)</a:t>
              </a:r>
              <a:r>
                <a:rPr lang="ko-KR" altLang="en-US" spc="0" dirty="0"/>
                <a:t>를 나타내며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속성</a:t>
              </a:r>
              <a:r>
                <a:rPr lang="en-US" altLang="ko-KR" spc="0" dirty="0"/>
                <a:t>(attribute)</a:t>
              </a:r>
              <a:r>
                <a:rPr lang="ko-KR" altLang="en-US" spc="0" dirty="0"/>
                <a:t>과 동작</a:t>
              </a:r>
              <a:r>
                <a:rPr lang="en-US" altLang="ko-KR" spc="0" dirty="0"/>
                <a:t>(method)</a:t>
              </a:r>
              <a:r>
                <a:rPr lang="ko-KR" altLang="en-US" spc="0" dirty="0"/>
                <a:t>을 정의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b="1" spc="0" dirty="0">
                  <a:solidFill>
                    <a:srgbClr val="11236D"/>
                  </a:solidFill>
                </a:rPr>
                <a:t>Attribute:</a:t>
              </a:r>
              <a:r>
                <a:rPr lang="en-US" altLang="ko-KR" spc="0" dirty="0"/>
                <a:t> </a:t>
              </a:r>
              <a:r>
                <a:rPr lang="ko-KR" altLang="en-US" spc="0" dirty="0"/>
                <a:t>클래스의 특성을 나타내는 변수나 필드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b="1" spc="0" dirty="0">
                  <a:solidFill>
                    <a:srgbClr val="11236D"/>
                  </a:solidFill>
                </a:rPr>
                <a:t>Method:</a:t>
              </a:r>
              <a:r>
                <a:rPr lang="en-US" altLang="ko-KR" spc="0" dirty="0"/>
                <a:t> </a:t>
              </a:r>
              <a:r>
                <a:rPr lang="ko-KR" altLang="en-US" spc="0" dirty="0"/>
                <a:t>클래스의 동작을 나타내는 함수나 프로시저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b="1" spc="0" dirty="0">
                  <a:solidFill>
                    <a:srgbClr val="11236D"/>
                  </a:solidFill>
                </a:rPr>
                <a:t>Relationship:</a:t>
              </a:r>
              <a:r>
                <a:rPr lang="en-US" altLang="ko-KR" spc="0" dirty="0"/>
                <a:t> </a:t>
              </a:r>
              <a:r>
                <a:rPr lang="ko-KR" altLang="en-US" spc="0" dirty="0"/>
                <a:t>클래스 간의 연관성을 상속</a:t>
              </a:r>
              <a:r>
                <a:rPr lang="en-US" altLang="ko-KR" spc="0" dirty="0"/>
                <a:t>(Inheritance), </a:t>
              </a:r>
              <a:r>
                <a:rPr lang="ko-KR" altLang="en-US" spc="0" dirty="0"/>
                <a:t>집합</a:t>
              </a:r>
              <a:r>
                <a:rPr lang="en-US" altLang="ko-KR" spc="0" dirty="0"/>
                <a:t>(Aggregation), </a:t>
              </a:r>
              <a:r>
                <a:rPr lang="ko-KR" altLang="en-US" spc="0" dirty="0"/>
                <a:t>복합</a:t>
              </a:r>
              <a:r>
                <a:rPr lang="en-US" altLang="ko-KR" spc="0" dirty="0"/>
                <a:t>(Composition) </a:t>
              </a:r>
              <a:r>
                <a:rPr lang="ko-KR" altLang="en-US" spc="0" dirty="0"/>
                <a:t>등으로 표시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5D5E84B0-B855-4B10-9371-0683BE21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16" y="1949792"/>
            <a:ext cx="3603223" cy="3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27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한쪽 모서리는 잘리고 다른 쪽 모서리는 둥근 사각형 9"/>
          <p:cNvSpPr/>
          <p:nvPr/>
        </p:nvSpPr>
        <p:spPr>
          <a:xfrm>
            <a:off x="495300" y="766428"/>
            <a:ext cx="357264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Traceability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3750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요구사항이 구현되어 있는 </a:t>
            </a:r>
            <a:r>
              <a:rPr lang="ko-KR" altLang="en-US" sz="12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메소드와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Class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의 지도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828887" y="1994628"/>
            <a:ext cx="7520839" cy="2593346"/>
            <a:chOff x="229678" y="2072404"/>
            <a:chExt cx="10103272" cy="327681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678" y="2072404"/>
              <a:ext cx="6132996" cy="3276816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6096" y="2288798"/>
              <a:ext cx="4896854" cy="2727362"/>
            </a:xfrm>
            <a:prstGeom prst="rect">
              <a:avLst/>
            </a:prstGeom>
          </p:spPr>
        </p:pic>
      </p:grpSp>
      <p:sp>
        <p:nvSpPr>
          <p:cNvPr id="9" name="내용 개체 틀 2"/>
          <p:cNvSpPr txBox="1">
            <a:spLocks/>
          </p:cNvSpPr>
          <p:nvPr/>
        </p:nvSpPr>
        <p:spPr>
          <a:xfrm>
            <a:off x="126886" y="120359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 err="1"/>
              <a:t>변경점</a:t>
            </a:r>
            <a:r>
              <a:rPr lang="ko-KR" altLang="en-US" spc="-150" dirty="0"/>
              <a:t> 관리를 위해</a:t>
            </a:r>
            <a:r>
              <a:rPr lang="en-US" altLang="ko-KR" spc="-150" dirty="0"/>
              <a:t>, </a:t>
            </a:r>
            <a:r>
              <a:rPr lang="ko-KR" altLang="en-US" spc="-150" dirty="0"/>
              <a:t>연관성을 초기부터 기록한다</a:t>
            </a:r>
            <a:endParaRPr lang="en-US" altLang="ko-KR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예</a:t>
            </a:r>
            <a:r>
              <a:rPr lang="en-US" altLang="ko-KR" spc="-150" dirty="0"/>
              <a:t>) </a:t>
            </a:r>
            <a:r>
              <a:rPr lang="ko-KR" altLang="en-US" spc="-150" dirty="0"/>
              <a:t>요구사항 </a:t>
            </a:r>
            <a:r>
              <a:rPr lang="en-US" altLang="ko-KR" spc="-150" dirty="0"/>
              <a:t>– use case – operation – method – class </a:t>
            </a:r>
          </a:p>
        </p:txBody>
      </p:sp>
    </p:spTree>
    <p:extLst>
      <p:ext uri="{BB962C8B-B14F-4D97-AF65-F5344CB8AC3E}">
        <p14:creationId xmlns:p14="http://schemas.microsoft.com/office/powerpoint/2010/main" val="3311859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996F74D-C5CC-C208-8574-F38A52FB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한쪽 모서리는 잘리고 다른 쪽 모서리는 둥근 사각형 11"/>
          <p:cNvSpPr/>
          <p:nvPr/>
        </p:nvSpPr>
        <p:spPr>
          <a:xfrm>
            <a:off x="495300" y="766428"/>
            <a:ext cx="357264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A6DF1596-BA13-561E-9DC3-45823D58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Traceability in Action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2679F9C-7BD3-BA21-9E1C-C0CE26375EB7}"/>
              </a:ext>
            </a:extLst>
          </p:cNvPr>
          <p:cNvSpPr/>
          <p:nvPr/>
        </p:nvSpPr>
        <p:spPr>
          <a:xfrm>
            <a:off x="605318" y="807554"/>
            <a:ext cx="3750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테스트 코드를 활용하는 방법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="" xmlns:a16="http://schemas.microsoft.com/office/drawing/2014/main" id="{3139028C-E798-A12A-232A-5735A5318B17}"/>
              </a:ext>
            </a:extLst>
          </p:cNvPr>
          <p:cNvSpPr txBox="1">
            <a:spLocks/>
          </p:cNvSpPr>
          <p:nvPr/>
        </p:nvSpPr>
        <p:spPr>
          <a:xfrm>
            <a:off x="126886" y="120359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기능 단위로 패키지를 구성하면</a:t>
            </a:r>
            <a:r>
              <a:rPr lang="en-US" altLang="ko-KR" spc="-150" dirty="0"/>
              <a:t>, Test Code</a:t>
            </a:r>
            <a:r>
              <a:rPr lang="ko-KR" altLang="en-US" spc="-150" dirty="0"/>
              <a:t>로 </a:t>
            </a:r>
            <a:r>
              <a:rPr lang="en-US" altLang="ko-KR" spc="-150" dirty="0"/>
              <a:t>Traceability </a:t>
            </a:r>
            <a:r>
              <a:rPr lang="ko-KR" altLang="en-US" spc="-150" dirty="0"/>
              <a:t>적용 가능</a:t>
            </a:r>
            <a:r>
              <a:rPr lang="en-US" altLang="ko-KR" spc="-150" dirty="0"/>
              <a:t> 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(Sample </a:t>
            </a:r>
            <a:r>
              <a:rPr lang="ko-KR" altLang="en-US" spc="-150" dirty="0"/>
              <a:t>참고</a:t>
            </a:r>
            <a:r>
              <a:rPr lang="en-US" altLang="ko-KR" spc="-150" dirty="0"/>
              <a:t>) </a:t>
            </a:r>
            <a:r>
              <a:rPr lang="en-US" altLang="ko-KR" dirty="0"/>
              <a:t>Cucumber Framework TC </a:t>
            </a:r>
            <a:r>
              <a:rPr lang="ko-KR" altLang="en-US" dirty="0"/>
              <a:t>코드 </a:t>
            </a:r>
            <a:r>
              <a:rPr lang="en-US" altLang="ko-KR" dirty="0"/>
              <a:t>- </a:t>
            </a:r>
            <a:r>
              <a:rPr lang="en-US" altLang="ko-KR" dirty="0" err="1"/>
              <a:t>dicegame.zip</a:t>
            </a:r>
            <a:endParaRPr lang="en-US" altLang="ko-KR" spc="-150" dirty="0"/>
          </a:p>
        </p:txBody>
      </p:sp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4D60840A-3940-9B9B-E387-83743A88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61" y="1933605"/>
            <a:ext cx="3499939" cy="2726377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C8C7C12D-4904-5A8E-C835-21B12F835FF8}"/>
              </a:ext>
            </a:extLst>
          </p:cNvPr>
          <p:cNvCxnSpPr/>
          <p:nvPr/>
        </p:nvCxnSpPr>
        <p:spPr>
          <a:xfrm>
            <a:off x="1722661" y="2420037"/>
            <a:ext cx="94139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307CDC51-78E8-12B7-455F-597B7E373CFB}"/>
              </a:ext>
            </a:extLst>
          </p:cNvPr>
          <p:cNvSpPr txBox="1"/>
          <p:nvPr/>
        </p:nvSpPr>
        <p:spPr>
          <a:xfrm>
            <a:off x="4553257" y="1456420"/>
            <a:ext cx="434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기능 단위 패키지 구성은 이 걸 극대화 합니다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614" y="1973767"/>
            <a:ext cx="3265810" cy="95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43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996F74D-C5CC-C208-8574-F38A52FB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는 잘리고 다른 쪽 모서리는 둥근 사각형 5"/>
          <p:cNvSpPr/>
          <p:nvPr/>
        </p:nvSpPr>
        <p:spPr>
          <a:xfrm>
            <a:off x="495300" y="766428"/>
            <a:ext cx="357264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A6DF1596-BA13-561E-9DC3-45823D58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Traceability in Action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2679F9C-7BD3-BA21-9E1C-C0CE26375EB7}"/>
              </a:ext>
            </a:extLst>
          </p:cNvPr>
          <p:cNvSpPr/>
          <p:nvPr/>
        </p:nvSpPr>
        <p:spPr>
          <a:xfrm>
            <a:off x="605318" y="807554"/>
            <a:ext cx="3750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테스트 코드를 활용하는 방법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="" xmlns:a16="http://schemas.microsoft.com/office/drawing/2014/main" id="{3139028C-E798-A12A-232A-5735A5318B17}"/>
              </a:ext>
            </a:extLst>
          </p:cNvPr>
          <p:cNvSpPr txBox="1">
            <a:spLocks/>
          </p:cNvSpPr>
          <p:nvPr/>
        </p:nvSpPr>
        <p:spPr>
          <a:xfrm>
            <a:off x="126886" y="120359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(Sample </a:t>
            </a:r>
            <a:r>
              <a:rPr lang="ko-KR" altLang="en-US" spc="-150" dirty="0"/>
              <a:t>참고</a:t>
            </a:r>
            <a:r>
              <a:rPr lang="en-US" altLang="ko-KR" spc="-150" dirty="0"/>
              <a:t>) </a:t>
            </a:r>
            <a:r>
              <a:rPr lang="en-US" altLang="ko-KR" dirty="0"/>
              <a:t>Cucumber Framework TC </a:t>
            </a:r>
            <a:r>
              <a:rPr lang="ko-KR" altLang="en-US" dirty="0"/>
              <a:t>코드 </a:t>
            </a:r>
            <a:r>
              <a:rPr lang="en-US" altLang="ko-KR" dirty="0"/>
              <a:t>- </a:t>
            </a:r>
            <a:r>
              <a:rPr lang="en-US" altLang="ko-KR" dirty="0" err="1"/>
              <a:t>dicegame.zip</a:t>
            </a:r>
            <a:endParaRPr lang="en-US" altLang="ko-KR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play a </a:t>
            </a:r>
            <a:r>
              <a:rPr lang="en-US" altLang="ko-KR" spc="-150" dirty="0" err="1"/>
              <a:t>dicegame</a:t>
            </a:r>
            <a:r>
              <a:rPr lang="en-US" altLang="ko-KR" spc="-150" dirty="0"/>
              <a:t> </a:t>
            </a:r>
            <a:r>
              <a:rPr lang="ko-KR" altLang="en-US" spc="-150" dirty="0" err="1"/>
              <a:t>유스케이스</a:t>
            </a:r>
            <a:r>
              <a:rPr lang="ko-KR" altLang="en-US" spc="-150" dirty="0"/>
              <a:t> </a:t>
            </a:r>
            <a:r>
              <a:rPr lang="en-US" altLang="ko-KR" spc="-150" dirty="0"/>
              <a:t>&amp; system sequence diagram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en-US" altLang="ko-KR" sz="1200" spc="-150" dirty="0"/>
              <a:t>https://</a:t>
            </a:r>
            <a:r>
              <a:rPr lang="en-US" altLang="ko-KR" sz="1200" spc="-150" dirty="0" err="1"/>
              <a:t>github.com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growdai1y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dicegame</a:t>
            </a:r>
            <a:r>
              <a:rPr lang="en-US" altLang="ko-KR" sz="1200" spc="-150" dirty="0"/>
              <a:t>/blob/main/app/</a:t>
            </a:r>
            <a:r>
              <a:rPr lang="en-US" altLang="ko-KR" sz="1200" spc="-150" dirty="0" err="1"/>
              <a:t>src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testSystem</a:t>
            </a:r>
            <a:r>
              <a:rPr lang="en-US" altLang="ko-KR" sz="1200" spc="-150" dirty="0"/>
              <a:t>/resources/</a:t>
            </a:r>
            <a:r>
              <a:rPr lang="en-US" altLang="ko-KR" sz="1200" spc="-150" dirty="0" err="1"/>
              <a:t>dicegame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play_a_dicegame.feature</a:t>
            </a:r>
            <a:endParaRPr lang="en-US" altLang="ko-KR" sz="1200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구현  코드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en-US" altLang="ko-KR" sz="1200" spc="-150" dirty="0"/>
              <a:t>https://</a:t>
            </a:r>
            <a:r>
              <a:rPr lang="en-US" altLang="ko-KR" sz="1200" spc="-150" dirty="0" err="1"/>
              <a:t>github.com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growdai1y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dicegame</a:t>
            </a:r>
            <a:r>
              <a:rPr lang="en-US" altLang="ko-KR" sz="1200" spc="-150" dirty="0"/>
              <a:t>/blob/main/app/</a:t>
            </a:r>
            <a:r>
              <a:rPr lang="en-US" altLang="ko-KR" sz="1200" spc="-150" dirty="0" err="1"/>
              <a:t>src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testSystem</a:t>
            </a:r>
            <a:r>
              <a:rPr lang="en-US" altLang="ko-KR" sz="1200" spc="-150" dirty="0"/>
              <a:t>/java/</a:t>
            </a:r>
            <a:r>
              <a:rPr lang="en-US" altLang="ko-KR" sz="1200" spc="-150" dirty="0" err="1"/>
              <a:t>dicegame</a:t>
            </a:r>
            <a:r>
              <a:rPr lang="en-US" altLang="ko-KR" sz="1200" spc="-150" dirty="0"/>
              <a:t>/</a:t>
            </a:r>
            <a:r>
              <a:rPr lang="en-US" altLang="ko-KR" sz="1200" spc="-150" dirty="0" err="1"/>
              <a:t>PlayDiceGameSteps.java</a:t>
            </a:r>
            <a:endParaRPr lang="en-US" altLang="ko-KR" sz="1200" spc="-150" dirty="0"/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</p:txBody>
      </p:sp>
    </p:spTree>
    <p:extLst>
      <p:ext uri="{BB962C8B-B14F-4D97-AF65-F5344CB8AC3E}">
        <p14:creationId xmlns:p14="http://schemas.microsoft.com/office/powerpoint/2010/main" val="2408403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Glossary</a:t>
            </a:r>
            <a:endParaRPr lang="ko-KR" altLang="en-US" dirty="0"/>
          </a:p>
        </p:txBody>
      </p:sp>
      <p:pic>
        <p:nvPicPr>
          <p:cNvPr id="4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641" y="1831245"/>
            <a:ext cx="4113338" cy="186284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="" xmlns:a16="http://schemas.microsoft.com/office/drawing/2014/main" id="{3139028C-E798-A12A-232A-5735A5318B17}"/>
              </a:ext>
            </a:extLst>
          </p:cNvPr>
          <p:cNvSpPr txBox="1">
            <a:spLocks/>
          </p:cNvSpPr>
          <p:nvPr/>
        </p:nvSpPr>
        <p:spPr>
          <a:xfrm>
            <a:off x="126886" y="120359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특정 분야의 전문용어를 명확히 정의하여 이해관계자간의 소통에 활용</a:t>
            </a:r>
            <a:endParaRPr lang="en-US" altLang="ko-KR" spc="-150" dirty="0"/>
          </a:p>
        </p:txBody>
      </p:sp>
      <p:sp>
        <p:nvSpPr>
          <p:cNvPr id="8" name="한쪽 모서리는 잘리고 다른 쪽 모서리는 둥근 사각형 7"/>
          <p:cNvSpPr/>
          <p:nvPr/>
        </p:nvSpPr>
        <p:spPr>
          <a:xfrm>
            <a:off x="495300" y="766428"/>
            <a:ext cx="357264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32679F9C-7BD3-BA21-9E1C-C0CE26375EB7}"/>
              </a:ext>
            </a:extLst>
          </p:cNvPr>
          <p:cNvSpPr/>
          <p:nvPr/>
        </p:nvSpPr>
        <p:spPr>
          <a:xfrm>
            <a:off x="605318" y="807554"/>
            <a:ext cx="3750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용어집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70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2427734"/>
            <a:ext cx="5892044" cy="1584176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조별 실습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- 1.2 (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팀과제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실습 양식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xlsx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* 1~3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900576" y="1275606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Requirement Analysis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899710" y="957735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#1] OOA</a:t>
            </a:r>
          </a:p>
        </p:txBody>
      </p:sp>
    </p:spTree>
    <p:extLst>
      <p:ext uri="{BB962C8B-B14F-4D97-AF65-F5344CB8AC3E}">
        <p14:creationId xmlns:p14="http://schemas.microsoft.com/office/powerpoint/2010/main" val="1313651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- Overview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54816" t="-383" b="82437"/>
          <a:stretch/>
        </p:blipFill>
        <p:spPr>
          <a:xfrm>
            <a:off x="4716016" y="1464568"/>
            <a:ext cx="4001963" cy="819150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472534" y="841611"/>
            <a:ext cx="6187698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실습을 조원들과 협업하여 설계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과제 상세 내용은 별도 파일 참고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="" xmlns:a16="http://schemas.microsoft.com/office/drawing/2014/main" id="{3139028C-E798-A12A-232A-5735A5318B17}"/>
              </a:ext>
            </a:extLst>
          </p:cNvPr>
          <p:cNvSpPr txBox="1">
            <a:spLocks/>
          </p:cNvSpPr>
          <p:nvPr/>
        </p:nvSpPr>
        <p:spPr>
          <a:xfrm>
            <a:off x="126886" y="1442909"/>
            <a:ext cx="8693586" cy="1776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Supposed to develop a new system</a:t>
            </a:r>
          </a:p>
          <a:p>
            <a:pPr lvl="1">
              <a:lnSpc>
                <a:spcPct val="11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ko-KR" spc="-150" dirty="0"/>
              <a:t>Let’s analyze and design your own new system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en-US" altLang="ko-KR" sz="1100" spc="-150" dirty="0"/>
              <a:t>OOAD development method : UP based OOPT</a:t>
            </a:r>
          </a:p>
          <a:p>
            <a:pPr marL="900000" lvl="2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›"/>
            </a:pPr>
            <a:r>
              <a:rPr lang="en-US" altLang="ko-KR" sz="1100" spc="-150" dirty="0"/>
              <a:t>Use a UML tool</a:t>
            </a:r>
          </a:p>
          <a:p>
            <a:pPr marL="1080000" lvl="3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-"/>
            </a:pPr>
            <a:r>
              <a:rPr lang="en-US" altLang="ko-KR" sz="1100" spc="-150" dirty="0"/>
              <a:t>Use-case diagram</a:t>
            </a:r>
          </a:p>
          <a:p>
            <a:pPr marL="1080000" lvl="3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-"/>
            </a:pPr>
            <a:r>
              <a:rPr lang="en-US" altLang="ko-KR" sz="1100" spc="-150" dirty="0"/>
              <a:t>Class diagram</a:t>
            </a:r>
          </a:p>
          <a:p>
            <a:pPr marL="1080000" lvl="3" indent="-180000">
              <a:lnSpc>
                <a:spcPct val="110000"/>
              </a:lnSpc>
              <a:buClr>
                <a:schemeClr val="accent1"/>
              </a:buClr>
              <a:buFont typeface="맑은 고딕" panose="020B0503020000020004" pitchFamily="50" charset="-127"/>
              <a:buChar char="-"/>
            </a:pPr>
            <a:r>
              <a:rPr lang="en-US" altLang="ko-KR" sz="1100" spc="-150" dirty="0"/>
              <a:t>System Sequence diagrams and Sequence diagrams</a:t>
            </a:r>
            <a:endParaRPr lang="en-US" altLang="ko-KR" spc="-15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580183"/>
            <a:ext cx="5832648" cy="86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57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산출물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74872" y="771550"/>
            <a:ext cx="412965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2" y="1388035"/>
            <a:ext cx="8261889" cy="286215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098615" y="1592131"/>
            <a:ext cx="1547525" cy="808618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66776" y="888663"/>
            <a:ext cx="1452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실습</a:t>
            </a:r>
            <a:r>
              <a:rPr lang="en-US" altLang="ko-KR" sz="1050" dirty="0"/>
              <a:t>#1 1</a:t>
            </a:r>
            <a:r>
              <a:rPr lang="ko-KR" altLang="en-US" sz="1050" dirty="0"/>
              <a:t>일차 산출물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7312632" y="877377"/>
            <a:ext cx="1355461" cy="26520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="" xmlns:a16="http://schemas.microsoft.com/office/drawing/2014/main" id="{EB690833-FE13-4AA8-8B02-01656BC08854}"/>
              </a:ext>
            </a:extLst>
          </p:cNvPr>
          <p:cNvSpPr txBox="1">
            <a:spLocks/>
          </p:cNvSpPr>
          <p:nvPr/>
        </p:nvSpPr>
        <p:spPr>
          <a:xfrm>
            <a:off x="467544" y="3936069"/>
            <a:ext cx="4362347" cy="9399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10000"/>
              </a:lnSpc>
              <a:buNone/>
            </a:pPr>
            <a:r>
              <a: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en-US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실습 평가 기준</a:t>
            </a:r>
            <a:r>
              <a: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각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Iteration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마다 모든 산출물이 누락없이 작성되었는가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산출물 간의 연관성을 고려하여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작성하였는가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</a:p>
          <a:p>
            <a:pPr defTabSz="715082">
              <a:lnSpc>
                <a:spcPct val="110000"/>
              </a:lnSpc>
              <a:buFontTx/>
              <a:buChar char="-"/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모든 조원이 활발히 참여했는가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?</a:t>
            </a:r>
            <a:endParaRPr lang="ko-KR" altLang="en-US" sz="1200" spc="-100" dirty="0">
              <a:ln>
                <a:solidFill>
                  <a:srgbClr val="5B9BD5">
                    <a:alpha val="0"/>
                  </a:srgbClr>
                </a:solidFill>
              </a:ln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542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한쪽 모서리는 잘리고 다른 쪽 모서리는 둥근 사각형 6"/>
          <p:cNvSpPr/>
          <p:nvPr/>
        </p:nvSpPr>
        <p:spPr>
          <a:xfrm>
            <a:off x="495300" y="774048"/>
            <a:ext cx="4220716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– Requirements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61269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요구사항 분석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– 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주요기능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/ case / actor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도출하여 정리하기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316158"/>
            <a:ext cx="2980919" cy="341907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8290F188-938F-4BE0-A2B1-0919980CFA35}"/>
              </a:ext>
            </a:extLst>
          </p:cNvPr>
          <p:cNvGrpSpPr/>
          <p:nvPr/>
        </p:nvGrpSpPr>
        <p:grpSpPr>
          <a:xfrm>
            <a:off x="126886" y="1381043"/>
            <a:ext cx="3364994" cy="1008112"/>
            <a:chOff x="5671502" y="843558"/>
            <a:chExt cx="3364994" cy="1008112"/>
          </a:xfrm>
        </p:grpSpPr>
        <p:sp>
          <p:nvSpPr>
            <p:cNvPr id="9" name="내용 개체 틀 2">
              <a:extLst>
                <a:ext uri="{FF2B5EF4-FFF2-40B4-BE49-F238E27FC236}">
                  <a16:creationId xmlns="" xmlns:a16="http://schemas.microsoft.com/office/drawing/2014/main" id="{7FA0B31A-980A-4F95-B32B-B979339B84AC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43558"/>
              <a:ext cx="883255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문장 작성시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내용 개체 틀 2">
              <a:extLst>
                <a:ext uri="{FF2B5EF4-FFF2-40B4-BE49-F238E27FC236}">
                  <a16:creationId xmlns="" xmlns:a16="http://schemas.microsoft.com/office/drawing/2014/main" id="{AEF67749-4AB8-4EE9-9EE5-6A950C972E5C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주어를 생략하지 않는다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서술어는 능동태로 작성한다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간결하고 명확한 문장으로 작성한다</a:t>
              </a:r>
              <a:r>
                <a:rPr lang="en-US" altLang="ko-KR" spc="0" dirty="0"/>
                <a:t>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348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B95F847-B70B-C3B1-9EBA-396BC9DC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ACE0C614-A387-D3DD-3773-14E4E07B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– Requirements</a:t>
            </a:r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662FA6EE-F469-2D77-D4BB-9B84ECA783E9}"/>
              </a:ext>
            </a:extLst>
          </p:cNvPr>
          <p:cNvGrpSpPr/>
          <p:nvPr/>
        </p:nvGrpSpPr>
        <p:grpSpPr>
          <a:xfrm>
            <a:off x="150756" y="1203598"/>
            <a:ext cx="5789395" cy="1008112"/>
            <a:chOff x="5671500" y="816223"/>
            <a:chExt cx="5789395" cy="1008112"/>
          </a:xfrm>
        </p:grpSpPr>
        <p:sp>
          <p:nvSpPr>
            <p:cNvPr id="5" name="내용 개체 틀 2">
              <a:extLst>
                <a:ext uri="{FF2B5EF4-FFF2-40B4-BE49-F238E27FC236}">
                  <a16:creationId xmlns="" xmlns:a16="http://schemas.microsoft.com/office/drawing/2014/main" id="{882D4221-092F-2D29-70D4-51EEE3E9C7D6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16223"/>
              <a:ext cx="1064394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이름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(Name)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내용 개체 틀 2">
              <a:extLst>
                <a:ext uri="{FF2B5EF4-FFF2-40B4-BE49-F238E27FC236}">
                  <a16:creationId xmlns="" xmlns:a16="http://schemas.microsoft.com/office/drawing/2014/main" id="{F65A449C-6B0B-8954-9AF2-9EA1809795E6}"/>
                </a:ext>
              </a:extLst>
            </p:cNvPr>
            <p:cNvSpPr txBox="1">
              <a:spLocks/>
            </p:cNvSpPr>
            <p:nvPr/>
          </p:nvSpPr>
          <p:spPr>
            <a:xfrm>
              <a:off x="5671500" y="1195319"/>
              <a:ext cx="5789395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0" dirty="0"/>
                <a:t>Use</a:t>
              </a:r>
              <a:r>
                <a:rPr lang="ko-KR" altLang="en-US" spc="0" dirty="0"/>
                <a:t> </a:t>
              </a:r>
              <a:r>
                <a:rPr lang="en-US" altLang="ko-KR" spc="0" dirty="0"/>
                <a:t>Case</a:t>
              </a:r>
              <a:r>
                <a:rPr lang="ko-KR" altLang="en-US" spc="0" dirty="0"/>
                <a:t>를 짧고 직관적으로 표현</a:t>
              </a:r>
              <a:r>
                <a:rPr lang="en-US" altLang="ko-KR" spc="0" dirty="0"/>
                <a:t>(</a:t>
              </a:r>
              <a:r>
                <a:rPr lang="ko-KR" altLang="en-US" spc="0" dirty="0"/>
                <a:t>동사 </a:t>
              </a:r>
              <a:r>
                <a:rPr lang="en-US" altLang="ko-KR" spc="0" dirty="0"/>
                <a:t>+ </a:t>
              </a:r>
              <a:r>
                <a:rPr lang="ko-KR" altLang="en-US" spc="0" dirty="0"/>
                <a:t>목적어 형태가 일반적</a:t>
              </a:r>
              <a:r>
                <a:rPr lang="en-US" altLang="ko-KR" spc="0" dirty="0"/>
                <a:t>).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예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 등록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주문 조회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결제 처리</a:t>
              </a:r>
              <a:endParaRPr lang="en-US" altLang="ko-KR" spc="0" dirty="0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8BE0D809-8F32-4186-E468-21EC428BE602}"/>
              </a:ext>
            </a:extLst>
          </p:cNvPr>
          <p:cNvGrpSpPr/>
          <p:nvPr/>
        </p:nvGrpSpPr>
        <p:grpSpPr>
          <a:xfrm>
            <a:off x="119040" y="2211710"/>
            <a:ext cx="5605087" cy="1008112"/>
            <a:chOff x="5671502" y="843558"/>
            <a:chExt cx="3364994" cy="1008112"/>
          </a:xfrm>
        </p:grpSpPr>
        <p:sp>
          <p:nvSpPr>
            <p:cNvPr id="8" name="내용 개체 틀 2">
              <a:extLst>
                <a:ext uri="{FF2B5EF4-FFF2-40B4-BE49-F238E27FC236}">
                  <a16:creationId xmlns="" xmlns:a16="http://schemas.microsoft.com/office/drawing/2014/main" id="{BEECD795-1147-BB3C-8063-7846F5A2D74F}"/>
                </a:ext>
              </a:extLst>
            </p:cNvPr>
            <p:cNvSpPr txBox="1">
              <a:spLocks/>
            </p:cNvSpPr>
            <p:nvPr/>
          </p:nvSpPr>
          <p:spPr>
            <a:xfrm>
              <a:off x="5970045" y="843558"/>
              <a:ext cx="3012780" cy="2977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설명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(Description)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내용 개체 틀 2">
              <a:extLst>
                <a:ext uri="{FF2B5EF4-FFF2-40B4-BE49-F238E27FC236}">
                  <a16:creationId xmlns="" xmlns:a16="http://schemas.microsoft.com/office/drawing/2014/main" id="{BEE8D476-9F99-CE27-DD88-CAC96711FE87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 err="1"/>
                <a:t>액터의</a:t>
              </a:r>
              <a:r>
                <a:rPr lang="ko-KR" altLang="en-US" spc="0" dirty="0"/>
                <a:t> 의도와 시스템의 책임을 </a:t>
              </a:r>
              <a:r>
                <a:rPr lang="en-US" altLang="ko-KR" spc="0" dirty="0"/>
                <a:t>1~2 </a:t>
              </a:r>
              <a:r>
                <a:rPr lang="ko-KR" altLang="en-US" spc="0" dirty="0"/>
                <a:t>문장으로 기술</a:t>
              </a:r>
              <a:r>
                <a:rPr lang="en-US" altLang="ko-KR" spc="0" dirty="0"/>
                <a:t>. 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구체적 동작이나 </a:t>
              </a:r>
              <a:r>
                <a:rPr lang="en-US" altLang="ko-KR" spc="0" dirty="0"/>
                <a:t>UI, </a:t>
              </a:r>
              <a:r>
                <a:rPr lang="ko-KR" altLang="en-US" spc="0" dirty="0"/>
                <a:t>내부 설계는 배제</a:t>
              </a:r>
              <a:r>
                <a:rPr lang="en-US" altLang="ko-KR" spc="0" dirty="0"/>
                <a:t>.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DA535CB-ACF3-01D6-01F6-EB23B78D9ADC}"/>
              </a:ext>
            </a:extLst>
          </p:cNvPr>
          <p:cNvGrpSpPr/>
          <p:nvPr/>
        </p:nvGrpSpPr>
        <p:grpSpPr>
          <a:xfrm>
            <a:off x="119040" y="3291830"/>
            <a:ext cx="8430219" cy="1440160"/>
            <a:chOff x="5671501" y="843558"/>
            <a:chExt cx="8430219" cy="1440160"/>
          </a:xfrm>
        </p:grpSpPr>
        <p:sp>
          <p:nvSpPr>
            <p:cNvPr id="11" name="내용 개체 틀 2">
              <a:extLst>
                <a:ext uri="{FF2B5EF4-FFF2-40B4-BE49-F238E27FC236}">
                  <a16:creationId xmlns="" xmlns:a16="http://schemas.microsoft.com/office/drawing/2014/main" id="{7F7E7155-A981-57AA-E6CE-5097163C0D6B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43558"/>
              <a:ext cx="1561325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예시 </a:t>
              </a:r>
              <a:r>
                <a:rPr lang="en-US" altLang="ko-KR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– </a:t>
              </a:r>
              <a:r>
                <a:rPr lang="ko-KR" altLang="en-US" sz="1400" b="1" u="sng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온라인 쇼핑몰</a:t>
              </a:r>
              <a:endParaRPr lang="en-US" altLang="ko-KR" sz="1400" b="1" u="sng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내용 개체 틀 2">
              <a:extLst>
                <a:ext uri="{FF2B5EF4-FFF2-40B4-BE49-F238E27FC236}">
                  <a16:creationId xmlns="" xmlns:a16="http://schemas.microsoft.com/office/drawing/2014/main" id="{19E59B9D-BDCF-4F18-9F40-8E4EAEF4C6A1}"/>
                </a:ext>
              </a:extLst>
            </p:cNvPr>
            <p:cNvSpPr txBox="1">
              <a:spLocks/>
            </p:cNvSpPr>
            <p:nvPr/>
          </p:nvSpPr>
          <p:spPr>
            <a:xfrm>
              <a:off x="5671501" y="1222654"/>
              <a:ext cx="8430219" cy="106106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사용자 등록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사용자가 계정을 등록하여 시스템에 접근할 수 있게 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로그인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사용자가 자격 증명을 제출하면 시스템은 검증 후 접근 권한을 부여한다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주문 조회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고객이 자신의 과거 주문 내역을 확인할 수 있도록 시스템이 기록을 제공한다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결제</a:t>
              </a:r>
              <a:r>
                <a:rPr lang="en-US" altLang="ko-KR" spc="0" dirty="0"/>
                <a:t>: </a:t>
              </a:r>
              <a:r>
                <a:rPr lang="ko-KR" altLang="en-US" spc="0" dirty="0"/>
                <a:t>고객이 결제를 요청하면 시스템은 결제 정보를 검증하고 승인 여부를 반환한다</a:t>
              </a:r>
              <a:r>
                <a:rPr lang="en-US" altLang="ko-KR" spc="0" dirty="0"/>
                <a:t>.</a:t>
              </a:r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altLang="ko-KR" spc="0" dirty="0"/>
            </a:p>
          </p:txBody>
        </p:sp>
      </p:grpSp>
      <p:sp>
        <p:nvSpPr>
          <p:cNvPr id="13" name="한쪽 모서리는 잘리고 다른 쪽 모서리는 둥근 사각형 13">
            <a:extLst>
              <a:ext uri="{FF2B5EF4-FFF2-40B4-BE49-F238E27FC236}">
                <a16:creationId xmlns="" xmlns:a16="http://schemas.microsoft.com/office/drawing/2014/main" id="{672E9FC0-9865-E879-2F88-E36CA2737AA7}"/>
              </a:ext>
            </a:extLst>
          </p:cNvPr>
          <p:cNvSpPr/>
          <p:nvPr/>
        </p:nvSpPr>
        <p:spPr>
          <a:xfrm>
            <a:off x="495300" y="774048"/>
            <a:ext cx="213248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4CA391D4-D0C1-A5F0-89C6-F8670B7AA3F1}"/>
              </a:ext>
            </a:extLst>
          </p:cNvPr>
          <p:cNvSpPr/>
          <p:nvPr/>
        </p:nvSpPr>
        <p:spPr>
          <a:xfrm>
            <a:off x="605318" y="807554"/>
            <a:ext cx="18064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Use Case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를 간단하게 작성</a:t>
            </a:r>
          </a:p>
        </p:txBody>
      </p:sp>
    </p:spTree>
    <p:extLst>
      <p:ext uri="{BB962C8B-B14F-4D97-AF65-F5344CB8AC3E}">
        <p14:creationId xmlns:p14="http://schemas.microsoft.com/office/powerpoint/2010/main" val="3818699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한쪽 모서리는 잘리고 다른 쪽 모서리는 둥근 사각형 40"/>
          <p:cNvSpPr/>
          <p:nvPr/>
        </p:nvSpPr>
        <p:spPr>
          <a:xfrm>
            <a:off x="495300" y="774048"/>
            <a:ext cx="4220716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– Requirements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61269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요구사항 분석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– 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주요기능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/ case / actor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도출하여 정리하기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6228184" y="915566"/>
            <a:ext cx="2231534" cy="3927997"/>
            <a:chOff x="6411456" y="887273"/>
            <a:chExt cx="2446640" cy="4481498"/>
          </a:xfrm>
        </p:grpSpPr>
        <p:sp>
          <p:nvSpPr>
            <p:cNvPr id="7" name="직사각형 6"/>
            <p:cNvSpPr/>
            <p:nvPr/>
          </p:nvSpPr>
          <p:spPr>
            <a:xfrm>
              <a:off x="6732033" y="4687266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47532" y="4877167"/>
              <a:ext cx="1353644" cy="4916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r>
                <a:rPr lang="en-US" altLang="ko-KR" dirty="0">
                  <a:cs typeface="Arial" panose="020B0604020202020204" pitchFamily="34" charset="0"/>
                </a:rPr>
                <a:t>User </a:t>
              </a:r>
              <a:r>
                <a:rPr lang="en-US" altLang="ko-KR" sz="900" dirty="0">
                  <a:cs typeface="Arial" panose="020B0604020202020204" pitchFamily="34" charset="0"/>
                </a:rPr>
                <a:t>(Functional)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  <a:br>
                <a:rPr lang="en-US" altLang="ko-KR" dirty="0">
                  <a:cs typeface="Arial" panose="020B0604020202020204" pitchFamily="34" charset="0"/>
                </a:rPr>
              </a:br>
              <a:r>
                <a:rPr lang="en-US" altLang="ko-KR" dirty="0">
                  <a:cs typeface="Arial" panose="020B0604020202020204" pitchFamily="34" charset="0"/>
                </a:rPr>
                <a:t>Requirements</a:t>
              </a:r>
              <a:endParaRPr lang="ko-KR" altLang="en-US" dirty="0">
                <a:cs typeface="Arial" panose="020B0604020202020204" pitchFamily="34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732033" y="4471242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732033" y="4255218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732033" y="4039194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732033" y="3823170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732033" y="3607146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732033" y="3391122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732033" y="3175098"/>
              <a:ext cx="720080" cy="144016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956169" y="4687266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956169" y="4471242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956169" y="4255218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956169" y="4039194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956169" y="3823170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956169" y="3607146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956169" y="3391122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7956169" y="3175098"/>
              <a:ext cx="747180" cy="144016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67570" y="4876999"/>
              <a:ext cx="937111" cy="29847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r>
                <a:rPr lang="en-US" altLang="ko-KR" dirty="0">
                  <a:cs typeface="Arial" panose="020B0604020202020204" pitchFamily="34" charset="0"/>
                </a:rPr>
                <a:t>Use Cases</a:t>
              </a:r>
              <a:endParaRPr lang="ko-KR" altLang="en-US" dirty="0">
                <a:cs typeface="Arial" panose="020B0604020202020204" pitchFamily="34" charset="0"/>
              </a:endParaRPr>
            </a:p>
          </p:txBody>
        </p:sp>
        <p:cxnSp>
          <p:nvCxnSpPr>
            <p:cNvPr id="25" name="직선 화살표 연결선 24"/>
            <p:cNvCxnSpPr>
              <a:stCxn id="15" idx="3"/>
              <a:endCxn id="23" idx="1"/>
            </p:cNvCxnSpPr>
            <p:nvPr/>
          </p:nvCxnSpPr>
          <p:spPr>
            <a:xfrm>
              <a:off x="7452113" y="3247106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6" name="직선 화살표 연결선 25"/>
            <p:cNvCxnSpPr>
              <a:stCxn id="14" idx="3"/>
              <a:endCxn id="22" idx="1"/>
            </p:cNvCxnSpPr>
            <p:nvPr/>
          </p:nvCxnSpPr>
          <p:spPr>
            <a:xfrm>
              <a:off x="7452113" y="3463130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7" name="직선 화살표 연결선 26"/>
            <p:cNvCxnSpPr>
              <a:stCxn id="13" idx="3"/>
              <a:endCxn id="21" idx="1"/>
            </p:cNvCxnSpPr>
            <p:nvPr/>
          </p:nvCxnSpPr>
          <p:spPr>
            <a:xfrm>
              <a:off x="7452113" y="3679154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8" name="직선 화살표 연결선 27"/>
            <p:cNvCxnSpPr>
              <a:stCxn id="12" idx="3"/>
              <a:endCxn id="20" idx="1"/>
            </p:cNvCxnSpPr>
            <p:nvPr/>
          </p:nvCxnSpPr>
          <p:spPr>
            <a:xfrm>
              <a:off x="7452113" y="3895178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9" name="직선 화살표 연결선 28"/>
            <p:cNvCxnSpPr>
              <a:stCxn id="11" idx="3"/>
              <a:endCxn id="19" idx="1"/>
            </p:cNvCxnSpPr>
            <p:nvPr/>
          </p:nvCxnSpPr>
          <p:spPr>
            <a:xfrm>
              <a:off x="7452113" y="4111202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30" name="직선 화살표 연결선 29"/>
            <p:cNvCxnSpPr>
              <a:stCxn id="10" idx="3"/>
              <a:endCxn id="18" idx="1"/>
            </p:cNvCxnSpPr>
            <p:nvPr/>
          </p:nvCxnSpPr>
          <p:spPr>
            <a:xfrm>
              <a:off x="7452113" y="4327226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31" name="직선 화살표 연결선 30"/>
            <p:cNvCxnSpPr>
              <a:stCxn id="9" idx="3"/>
              <a:endCxn id="17" idx="1"/>
            </p:cNvCxnSpPr>
            <p:nvPr/>
          </p:nvCxnSpPr>
          <p:spPr>
            <a:xfrm>
              <a:off x="7452113" y="4543250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32" name="직선 화살표 연결선 31"/>
            <p:cNvCxnSpPr>
              <a:stCxn id="7" idx="3"/>
              <a:endCxn id="16" idx="1"/>
            </p:cNvCxnSpPr>
            <p:nvPr/>
          </p:nvCxnSpPr>
          <p:spPr>
            <a:xfrm>
              <a:off x="7452113" y="4759274"/>
              <a:ext cx="504056" cy="1588"/>
            </a:xfrm>
            <a:prstGeom prst="straightConnector1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arrow"/>
            </a:ln>
            <a:effectLst/>
          </p:spPr>
        </p:cxnSp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2"/>
            <a:srcRect l="22266" t="36732" r="9696" b="20915"/>
            <a:stretch/>
          </p:blipFill>
          <p:spPr>
            <a:xfrm>
              <a:off x="6468420" y="925669"/>
              <a:ext cx="2350046" cy="1850106"/>
            </a:xfrm>
            <a:prstGeom prst="rect">
              <a:avLst/>
            </a:prstGeom>
          </p:spPr>
        </p:pic>
        <p:sp>
          <p:nvSpPr>
            <p:cNvPr id="35" name="직사각형 34"/>
            <p:cNvSpPr/>
            <p:nvPr/>
          </p:nvSpPr>
          <p:spPr>
            <a:xfrm>
              <a:off x="6411456" y="887273"/>
              <a:ext cx="2446640" cy="1938227"/>
            </a:xfrm>
            <a:prstGeom prst="rect">
              <a:avLst/>
            </a:prstGeom>
            <a:noFill/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4" name="꺾인 연결선 33"/>
            <p:cNvCxnSpPr>
              <a:stCxn id="23" idx="0"/>
              <a:endCxn id="33" idx="2"/>
            </p:cNvCxnSpPr>
            <p:nvPr/>
          </p:nvCxnSpPr>
          <p:spPr>
            <a:xfrm rot="16200000" flipV="1">
              <a:off x="7786940" y="2632279"/>
              <a:ext cx="399323" cy="68631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36" name="오른쪽 화살표 35"/>
          <p:cNvSpPr/>
          <p:nvPr/>
        </p:nvSpPr>
        <p:spPr>
          <a:xfrm>
            <a:off x="4139952" y="2548906"/>
            <a:ext cx="1246026" cy="504957"/>
          </a:xfrm>
          <a:prstGeom prst="rightArrow">
            <a:avLst/>
          </a:prstGeom>
          <a:solidFill>
            <a:srgbClr val="B2CC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91" y="1635646"/>
            <a:ext cx="2819572" cy="2905447"/>
          </a:xfrm>
          <a:prstGeom prst="rect">
            <a:avLst/>
          </a:prstGeom>
        </p:spPr>
      </p:pic>
      <p:sp>
        <p:nvSpPr>
          <p:cNvPr id="39" name="직사각형 38"/>
          <p:cNvSpPr/>
          <p:nvPr/>
        </p:nvSpPr>
        <p:spPr>
          <a:xfrm>
            <a:off x="4193292" y="3143622"/>
            <a:ext cx="2698929" cy="114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40000"/>
              </a:lnSpc>
              <a:spcBef>
                <a:spcPct val="20000"/>
              </a:spcBef>
            </a:pP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기능들의 문장화</a:t>
            </a:r>
            <a:endParaRPr lang="en-US" altLang="ko-KR" sz="1100" b="1" spc="-1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  <a:p>
            <a:pPr defTabSz="715082">
              <a:lnSpc>
                <a:spcPct val="140000"/>
              </a:lnSpc>
              <a:spcBef>
                <a:spcPct val="20000"/>
              </a:spcBef>
            </a:pP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- </a:t>
            </a: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주어를 생략하지 않는다</a:t>
            </a: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.</a:t>
            </a:r>
          </a:p>
          <a:p>
            <a:pPr defTabSz="715082">
              <a:lnSpc>
                <a:spcPct val="140000"/>
              </a:lnSpc>
              <a:spcBef>
                <a:spcPct val="20000"/>
              </a:spcBef>
            </a:pP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- </a:t>
            </a: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서술어는 능동태로 작성한다</a:t>
            </a: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.</a:t>
            </a:r>
          </a:p>
          <a:p>
            <a:pPr defTabSz="715082">
              <a:lnSpc>
                <a:spcPct val="140000"/>
              </a:lnSpc>
              <a:spcBef>
                <a:spcPct val="20000"/>
              </a:spcBef>
            </a:pP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- </a:t>
            </a: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간결하고 명확한</a:t>
            </a: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문장으로</a:t>
            </a: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</a:t>
            </a:r>
            <a:r>
              <a:rPr lang="ko-KR" altLang="en-US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작성한다</a:t>
            </a:r>
            <a:r>
              <a:rPr lang="en-US" altLang="ko-KR" sz="1100" b="1" spc="-1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9746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한쪽 모서리는 잘리고 다른 쪽 모서리는 둥근 사각형 8"/>
          <p:cNvSpPr/>
          <p:nvPr/>
        </p:nvSpPr>
        <p:spPr>
          <a:xfrm>
            <a:off x="495300" y="774048"/>
            <a:ext cx="4940796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Requirements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5318" y="807554"/>
            <a:ext cx="61269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핵심적인 요구사항을 문장으로 작성한 후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, use case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로 정리해두면 효율적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55262" b="85068"/>
          <a:stretch/>
        </p:blipFill>
        <p:spPr>
          <a:xfrm>
            <a:off x="5508104" y="749230"/>
            <a:ext cx="3146970" cy="5538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17676"/>
          <a:stretch/>
        </p:blipFill>
        <p:spPr>
          <a:xfrm>
            <a:off x="429910" y="1315310"/>
            <a:ext cx="8699951" cy="37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8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</a:t>
            </a:r>
            <a:r>
              <a:rPr lang="en-US" altLang="ko-KR" dirty="0" err="1"/>
              <a:t>OOA</a:t>
            </a:r>
            <a:r>
              <a:rPr lang="en-US" altLang="ko-KR" dirty="0"/>
              <a:t> - </a:t>
            </a:r>
            <a:r>
              <a:rPr lang="en-US" altLang="ko-KR" dirty="0" err="1"/>
              <a:t>Day2</a:t>
            </a:r>
            <a:r>
              <a:rPr lang="en-US" altLang="ko-KR" dirty="0"/>
              <a:t> </a:t>
            </a:r>
            <a:r>
              <a:rPr lang="ko-KR" altLang="en-US" dirty="0"/>
              <a:t>활동 안내</a:t>
            </a:r>
          </a:p>
        </p:txBody>
      </p:sp>
      <p:pic>
        <p:nvPicPr>
          <p:cNvPr id="4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587" y="757746"/>
            <a:ext cx="7475862" cy="409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128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419623"/>
            <a:ext cx="5604012" cy="331236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필수</a:t>
            </a:r>
            <a:r>
              <a:rPr lang="en-US" altLang="ko-KR" sz="1600" dirty="0"/>
              <a:t>]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2.1 An Introduction to UML - UML Overview </a:t>
            </a:r>
            <a:r>
              <a:rPr lang="en-US" altLang="ko-KR" sz="1200" b="0" dirty="0"/>
              <a:t>(76min)</a:t>
            </a:r>
            <a:br>
              <a:rPr lang="en-US" altLang="ko-KR" sz="1200" b="0" dirty="0"/>
            </a:br>
            <a:r>
              <a:rPr lang="fr-FR" altLang="ko-KR" sz="1200" b="0" dirty="0"/>
              <a:t/>
            </a:r>
            <a:br>
              <a:rPr lang="fr-FR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endParaRPr lang="en-US" altLang="ko-KR" sz="12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899710" y="1029743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영상학습</a:t>
            </a:r>
          </a:p>
        </p:txBody>
      </p:sp>
    </p:spTree>
    <p:extLst>
      <p:ext uri="{BB962C8B-B14F-4D97-AF65-F5344CB8AC3E}">
        <p14:creationId xmlns:p14="http://schemas.microsoft.com/office/powerpoint/2010/main" val="616508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4294967295"/>
          </p:nvPr>
        </p:nvSpPr>
        <p:spPr>
          <a:xfrm>
            <a:off x="641881" y="1986905"/>
            <a:ext cx="7772400" cy="714003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 </a:t>
            </a:r>
            <a:r>
              <a:rPr lang="en-US" altLang="ko-KR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(Day2)</a:t>
            </a:r>
            <a:endParaRPr lang="ko-KR" altLang="en-US" sz="3200" dirty="0">
              <a:solidFill>
                <a:schemeClr val="accent6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idx="4294967295"/>
          </p:nvPr>
        </p:nvSpPr>
        <p:spPr>
          <a:xfrm>
            <a:off x="651876" y="881324"/>
            <a:ext cx="7772400" cy="4920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en-US" altLang="ko-KR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Associate Architect </a:t>
            </a:r>
            <a:r>
              <a:rPr lang="ko-KR" altLang="en-US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양성과정</a:t>
            </a:r>
          </a:p>
        </p:txBody>
      </p:sp>
    </p:spTree>
    <p:extLst>
      <p:ext uri="{BB962C8B-B14F-4D97-AF65-F5344CB8AC3E}">
        <p14:creationId xmlns:p14="http://schemas.microsoft.com/office/powerpoint/2010/main" val="1671719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419623"/>
            <a:ext cx="5604012" cy="331236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필수</a:t>
            </a:r>
            <a:r>
              <a:rPr lang="en-US" altLang="ko-KR" sz="1600" dirty="0"/>
              <a:t>]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3.2 OOA - System Sequence Diagram </a:t>
            </a:r>
            <a:r>
              <a:rPr lang="en-US" altLang="ko-KR" sz="1100" b="0" dirty="0"/>
              <a:t>(18min)</a:t>
            </a:r>
            <a:br>
              <a:rPr lang="en-US" altLang="ko-KR" sz="1100" b="0" dirty="0"/>
            </a:br>
            <a:r>
              <a:rPr lang="en-US" altLang="ko-KR" sz="2000" dirty="0"/>
              <a:t>3.3 OOA - Domain Model </a:t>
            </a:r>
            <a:r>
              <a:rPr lang="en-US" altLang="ko-KR" sz="1100" b="0" dirty="0"/>
              <a:t>(33min)</a:t>
            </a:r>
            <a:br>
              <a:rPr lang="en-US" altLang="ko-KR" sz="11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endParaRPr lang="en-US" altLang="ko-KR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899710" y="1029743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영상학습</a:t>
            </a:r>
          </a:p>
        </p:txBody>
      </p:sp>
    </p:spTree>
    <p:extLst>
      <p:ext uri="{BB962C8B-B14F-4D97-AF65-F5344CB8AC3E}">
        <p14:creationId xmlns:p14="http://schemas.microsoft.com/office/powerpoint/2010/main" val="5352620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2211710"/>
            <a:ext cx="6036060" cy="1800200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- 1.2 (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팀과제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실습 양식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xlsx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* 3~5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Requirement Analysis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899710" y="1029743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#1] OOA</a:t>
            </a:r>
          </a:p>
        </p:txBody>
      </p:sp>
    </p:spTree>
    <p:extLst>
      <p:ext uri="{BB962C8B-B14F-4D97-AF65-F5344CB8AC3E}">
        <p14:creationId xmlns:p14="http://schemas.microsoft.com/office/powerpoint/2010/main" val="17047570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- OOPT of OOAD (</a:t>
            </a:r>
            <a:r>
              <a:rPr lang="ko-KR" altLang="en-US" dirty="0"/>
              <a:t>주요활동 </a:t>
            </a:r>
            <a:r>
              <a:rPr lang="en-US" altLang="ko-KR" dirty="0"/>
              <a:t>3 </a:t>
            </a:r>
            <a:r>
              <a:rPr lang="ko-KR" altLang="en-US" dirty="0"/>
              <a:t>단계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07" name="그룹 106"/>
          <p:cNvGrpSpPr/>
          <p:nvPr/>
        </p:nvGrpSpPr>
        <p:grpSpPr>
          <a:xfrm>
            <a:off x="370828" y="913930"/>
            <a:ext cx="8326341" cy="4105002"/>
            <a:chOff x="287113" y="843558"/>
            <a:chExt cx="8493701" cy="4314398"/>
          </a:xfrm>
        </p:grpSpPr>
        <p:sp>
          <p:nvSpPr>
            <p:cNvPr id="4" name="직사각형 3"/>
            <p:cNvSpPr/>
            <p:nvPr/>
          </p:nvSpPr>
          <p:spPr>
            <a:xfrm>
              <a:off x="663371" y="3831410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6701" y="3965796"/>
              <a:ext cx="1259449" cy="4528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User 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(Functional)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 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</a:b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Requirements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63371" y="3678538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63371" y="3525667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63371" y="3372795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63371" y="3219923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63371" y="3067051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63371" y="2914179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63371" y="2761307"/>
              <a:ext cx="648008" cy="10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764986" y="3831410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764986" y="3678538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764986" y="3525667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64986" y="3372795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764986" y="3219923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764986" y="3067051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764986" y="2914179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1764986" y="2761307"/>
              <a:ext cx="672396" cy="1019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70962" y="3965677"/>
              <a:ext cx="871901" cy="2749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Use Cases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22" name="직선 화살표 연결선 21"/>
            <p:cNvCxnSpPr>
              <a:stCxn id="12" idx="3"/>
              <a:endCxn id="20" idx="1"/>
            </p:cNvCxnSpPr>
            <p:nvPr/>
          </p:nvCxnSpPr>
          <p:spPr>
            <a:xfrm>
              <a:off x="1311380" y="2812264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>
              <a:stCxn id="11" idx="3"/>
              <a:endCxn id="19" idx="1"/>
            </p:cNvCxnSpPr>
            <p:nvPr/>
          </p:nvCxnSpPr>
          <p:spPr>
            <a:xfrm>
              <a:off x="1311380" y="2965136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>
              <a:stCxn id="10" idx="3"/>
              <a:endCxn id="18" idx="1"/>
            </p:cNvCxnSpPr>
            <p:nvPr/>
          </p:nvCxnSpPr>
          <p:spPr>
            <a:xfrm>
              <a:off x="1311380" y="3118008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9" idx="3"/>
              <a:endCxn id="17" idx="1"/>
            </p:cNvCxnSpPr>
            <p:nvPr/>
          </p:nvCxnSpPr>
          <p:spPr>
            <a:xfrm>
              <a:off x="1311380" y="3270880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8" idx="3"/>
              <a:endCxn id="16" idx="1"/>
            </p:cNvCxnSpPr>
            <p:nvPr/>
          </p:nvCxnSpPr>
          <p:spPr>
            <a:xfrm>
              <a:off x="1311380" y="3423752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>
              <a:stCxn id="7" idx="3"/>
              <a:endCxn id="15" idx="1"/>
            </p:cNvCxnSpPr>
            <p:nvPr/>
          </p:nvCxnSpPr>
          <p:spPr>
            <a:xfrm>
              <a:off x="1311380" y="3576624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stCxn id="6" idx="3"/>
              <a:endCxn id="14" idx="1"/>
            </p:cNvCxnSpPr>
            <p:nvPr/>
          </p:nvCxnSpPr>
          <p:spPr>
            <a:xfrm>
              <a:off x="1311380" y="3729496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4" idx="3"/>
              <a:endCxn id="13" idx="1"/>
            </p:cNvCxnSpPr>
            <p:nvPr/>
          </p:nvCxnSpPr>
          <p:spPr>
            <a:xfrm>
              <a:off x="1311380" y="3882368"/>
              <a:ext cx="453606" cy="1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46239"/>
            <a:stretch>
              <a:fillRect/>
            </a:stretch>
          </p:blipFill>
          <p:spPr bwMode="auto">
            <a:xfrm>
              <a:off x="3527580" y="2347314"/>
              <a:ext cx="1360817" cy="903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1" name="직선 화살표 연결선 30"/>
            <p:cNvCxnSpPr>
              <a:stCxn id="19" idx="3"/>
              <a:endCxn id="30" idx="1"/>
            </p:cNvCxnSpPr>
            <p:nvPr/>
          </p:nvCxnSpPr>
          <p:spPr>
            <a:xfrm flipV="1">
              <a:off x="2437382" y="2799117"/>
              <a:ext cx="1090198" cy="1660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46239"/>
            <a:stretch>
              <a:fillRect/>
            </a:stretch>
          </p:blipFill>
          <p:spPr bwMode="auto">
            <a:xfrm>
              <a:off x="3527580" y="3437379"/>
              <a:ext cx="1360817" cy="903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3" name="직선 화살표 연결선 32"/>
            <p:cNvCxnSpPr>
              <a:stCxn id="13" idx="3"/>
              <a:endCxn id="32" idx="1"/>
            </p:cNvCxnSpPr>
            <p:nvPr/>
          </p:nvCxnSpPr>
          <p:spPr>
            <a:xfrm>
              <a:off x="2437382" y="3882368"/>
              <a:ext cx="1090198" cy="681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994497" y="3238252"/>
              <a:ext cx="470944" cy="27731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…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17786" y="4217487"/>
              <a:ext cx="1543977" cy="4528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4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System 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</a:b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Sequence Diagrams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38" name="직선 화살표 연결선 37"/>
            <p:cNvCxnSpPr>
              <a:stCxn id="30" idx="3"/>
            </p:cNvCxnSpPr>
            <p:nvPr/>
          </p:nvCxnSpPr>
          <p:spPr>
            <a:xfrm>
              <a:off x="4888397" y="2799117"/>
              <a:ext cx="128253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2" idx="3"/>
            </p:cNvCxnSpPr>
            <p:nvPr/>
          </p:nvCxnSpPr>
          <p:spPr>
            <a:xfrm>
              <a:off x="4888397" y="3889182"/>
              <a:ext cx="12727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02202" y="2353649"/>
              <a:ext cx="1760073" cy="815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02202" y="3576624"/>
              <a:ext cx="1760073" cy="815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" name="TextBox 47"/>
            <p:cNvSpPr txBox="1"/>
            <p:nvPr/>
          </p:nvSpPr>
          <p:spPr>
            <a:xfrm>
              <a:off x="6894725" y="3135118"/>
              <a:ext cx="470944" cy="27731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…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85567" y="4360398"/>
              <a:ext cx="1543977" cy="2749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Sequence Diagrams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69386" y="1082982"/>
              <a:ext cx="2273298" cy="96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1" name="TextBox 50"/>
            <p:cNvSpPr txBox="1"/>
            <p:nvPr/>
          </p:nvSpPr>
          <p:spPr>
            <a:xfrm>
              <a:off x="6841612" y="2005179"/>
              <a:ext cx="1166242" cy="2749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Class Diagram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02115" y="4672741"/>
              <a:ext cx="1065380" cy="485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1000.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Plan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645142" y="4664932"/>
              <a:ext cx="1065381" cy="485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2030.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Analyze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351455" y="4512064"/>
              <a:ext cx="2208479" cy="160680"/>
              <a:chOff x="539552" y="6309320"/>
              <a:chExt cx="1512168" cy="171301"/>
            </a:xfrm>
          </p:grpSpPr>
          <p:cxnSp>
            <p:nvCxnSpPr>
              <p:cNvPr id="55" name="직선 연결선 54"/>
              <p:cNvCxnSpPr/>
              <p:nvPr/>
            </p:nvCxnSpPr>
            <p:spPr>
              <a:xfrm>
                <a:off x="539552" y="6475567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flipV="1">
                <a:off x="539552" y="6309320"/>
                <a:ext cx="0" cy="162977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flipV="1">
                <a:off x="2051720" y="6309320"/>
                <a:ext cx="0" cy="17130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8" name="그룹 57"/>
            <p:cNvGrpSpPr/>
            <p:nvPr/>
          </p:nvGrpSpPr>
          <p:grpSpPr>
            <a:xfrm>
              <a:off x="2837388" y="4512061"/>
              <a:ext cx="2656834" cy="152872"/>
              <a:chOff x="539552" y="6309320"/>
              <a:chExt cx="1512168" cy="216024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539552" y="6525344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431540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1943708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2" name="그룹 61"/>
            <p:cNvGrpSpPr/>
            <p:nvPr/>
          </p:nvGrpSpPr>
          <p:grpSpPr>
            <a:xfrm>
              <a:off x="5475972" y="4512061"/>
              <a:ext cx="3304842" cy="152872"/>
              <a:chOff x="539552" y="6309320"/>
              <a:chExt cx="1512168" cy="216024"/>
            </a:xfrm>
          </p:grpSpPr>
          <p:cxnSp>
            <p:nvCxnSpPr>
              <p:cNvPr id="63" name="직선 연결선 62"/>
              <p:cNvCxnSpPr/>
              <p:nvPr/>
            </p:nvCxnSpPr>
            <p:spPr>
              <a:xfrm>
                <a:off x="539552" y="6525344"/>
                <a:ext cx="151216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431540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1943708" y="6417332"/>
                <a:ext cx="216024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/>
            <p:cNvSpPr txBox="1"/>
            <p:nvPr/>
          </p:nvSpPr>
          <p:spPr>
            <a:xfrm>
              <a:off x="6597470" y="4664934"/>
              <a:ext cx="1065381" cy="485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Stage 2040.</a:t>
              </a:r>
              <a:b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Design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7" name="화살표: 오른쪽으로 구부러짐 3">
              <a:extLst>
                <a:ext uri="{FF2B5EF4-FFF2-40B4-BE49-F238E27FC236}">
                  <a16:creationId xmlns="" xmlns:a16="http://schemas.microsoft.com/office/drawing/2014/main" id="{09A6D9AB-6E4E-4BB1-AEB9-DEBE6C50033C}"/>
                </a:ext>
              </a:extLst>
            </p:cNvPr>
            <p:cNvSpPr/>
            <p:nvPr/>
          </p:nvSpPr>
          <p:spPr>
            <a:xfrm rot="19709074">
              <a:off x="8070400" y="2364516"/>
              <a:ext cx="361557" cy="351419"/>
            </a:xfrm>
            <a:prstGeom prst="curvedRightArrow">
              <a:avLst/>
            </a:prstGeom>
            <a:gradFill rotWithShape="0">
              <a:gsLst>
                <a:gs pos="0">
                  <a:srgbClr val="FF99CC"/>
                </a:gs>
                <a:gs pos="100000">
                  <a:srgbClr val="FF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lIns="92075" tIns="46038" rIns="92075" bIns="46038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8" name="화살표: 오른쪽으로 구부러짐 69">
              <a:extLst>
                <a:ext uri="{FF2B5EF4-FFF2-40B4-BE49-F238E27FC236}">
                  <a16:creationId xmlns="" xmlns:a16="http://schemas.microsoft.com/office/drawing/2014/main" id="{099D5F76-1A56-436F-B82F-576843FF0F5B}"/>
                </a:ext>
              </a:extLst>
            </p:cNvPr>
            <p:cNvSpPr/>
            <p:nvPr/>
          </p:nvSpPr>
          <p:spPr>
            <a:xfrm rot="8909074">
              <a:off x="8399352" y="2193998"/>
              <a:ext cx="361557" cy="351419"/>
            </a:xfrm>
            <a:prstGeom prst="curvedRightArrow">
              <a:avLst/>
            </a:prstGeom>
            <a:gradFill rotWithShape="0">
              <a:gsLst>
                <a:gs pos="0">
                  <a:srgbClr val="FF99CC"/>
                </a:gs>
                <a:gs pos="100000">
                  <a:srgbClr val="FF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 type="none" w="sm" len="sm"/>
              <a:tailEnd type="none" w="sm" len="sm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lIns="92075" tIns="46038" rIns="92075" bIns="46038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="" xmlns:a16="http://schemas.microsoft.com/office/drawing/2014/main" id="{B9795CBF-4A2E-4AED-9BBE-EF67EF507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8436" y="1111392"/>
              <a:ext cx="1099856" cy="603162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2695D73D-09D0-45B9-BD8A-C8AFCD31ED66}"/>
                </a:ext>
              </a:extLst>
            </p:cNvPr>
            <p:cNvSpPr txBox="1"/>
            <p:nvPr/>
          </p:nvSpPr>
          <p:spPr>
            <a:xfrm>
              <a:off x="4324741" y="1740524"/>
              <a:ext cx="1212028" cy="2749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1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Domain Model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73" name="그림 72"/>
            <p:cNvPicPr>
              <a:picLocks noChangeAspect="1"/>
            </p:cNvPicPr>
            <p:nvPr/>
          </p:nvPicPr>
          <p:blipFill rotWithShape="1">
            <a:blip r:embed="rId6"/>
            <a:srcRect l="22266" t="36732" r="9696" b="20915"/>
            <a:stretch/>
          </p:blipFill>
          <p:spPr>
            <a:xfrm>
              <a:off x="1983675" y="909993"/>
              <a:ext cx="1924184" cy="1191222"/>
            </a:xfrm>
            <a:prstGeom prst="rect">
              <a:avLst/>
            </a:prstGeom>
          </p:spPr>
        </p:pic>
        <p:cxnSp>
          <p:nvCxnSpPr>
            <p:cNvPr id="74" name="꺾인 연결선 73"/>
            <p:cNvCxnSpPr>
              <a:stCxn id="20" idx="0"/>
              <a:endCxn id="73" idx="2"/>
            </p:cNvCxnSpPr>
            <p:nvPr/>
          </p:nvCxnSpPr>
          <p:spPr>
            <a:xfrm rot="5400000" flipH="1" flipV="1">
              <a:off x="2193429" y="2008970"/>
              <a:ext cx="660092" cy="84458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/>
            <p:cNvSpPr/>
            <p:nvPr/>
          </p:nvSpPr>
          <p:spPr>
            <a:xfrm>
              <a:off x="6174984" y="874655"/>
              <a:ext cx="2592033" cy="3720294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796206" y="843558"/>
              <a:ext cx="2334160" cy="133570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7" name="꺾인 연결선 76"/>
            <p:cNvCxnSpPr>
              <a:stCxn id="76" idx="0"/>
              <a:endCxn id="75" idx="0"/>
            </p:cNvCxnSpPr>
            <p:nvPr/>
          </p:nvCxnSpPr>
          <p:spPr>
            <a:xfrm rot="16200000" flipH="1">
              <a:off x="5201594" y="-1394751"/>
              <a:ext cx="31097" cy="4507715"/>
            </a:xfrm>
            <a:prstGeom prst="bentConnector3">
              <a:avLst>
                <a:gd name="adj1" fmla="val -735119"/>
              </a:avLst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077" y="1203035"/>
              <a:ext cx="1114353" cy="725264"/>
            </a:xfrm>
            <a:prstGeom prst="rect">
              <a:avLst/>
            </a:prstGeom>
          </p:spPr>
        </p:pic>
        <p:sp>
          <p:nvSpPr>
            <p:cNvPr id="88" name="TextBox 87"/>
            <p:cNvSpPr txBox="1"/>
            <p:nvPr/>
          </p:nvSpPr>
          <p:spPr>
            <a:xfrm>
              <a:off x="287113" y="1899408"/>
              <a:ext cx="1431147" cy="2749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lnSpc>
                  <a:spcPct val="100000"/>
                </a:lnSpc>
                <a:spcBef>
                  <a:spcPct val="60000"/>
                </a:spcBef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 sz="1400" b="1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6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6858000" algn="r"/>
                </a:tabLst>
                <a:defRPr/>
              </a:pPr>
              <a:r>
                <a:rPr lang="en-US" altLang="ko-KR" sz="1100" dirty="0">
                  <a:cs typeface="Arial" panose="020B0604020202020204" pitchFamily="34" charset="0"/>
                </a:rPr>
                <a:t>Use Case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맑은 고딕" pitchFamily="50" charset="-127"/>
                  <a:cs typeface="Arial" panose="020B0604020202020204" pitchFamily="34" charset="0"/>
                </a:rPr>
                <a:t>Diagram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맑은 고딕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93" name="직선 화살표 연결선 92"/>
            <p:cNvCxnSpPr/>
            <p:nvPr/>
          </p:nvCxnSpPr>
          <p:spPr>
            <a:xfrm>
              <a:off x="5608039" y="1505604"/>
              <a:ext cx="553148" cy="5177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/>
            <p:cNvCxnSpPr>
              <a:endCxn id="88" idx="2"/>
            </p:cNvCxnSpPr>
            <p:nvPr/>
          </p:nvCxnSpPr>
          <p:spPr>
            <a:xfrm flipH="1" flipV="1">
              <a:off x="1002687" y="2174363"/>
              <a:ext cx="980989" cy="5869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62394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74872" y="771550"/>
            <a:ext cx="412965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2" y="1373724"/>
            <a:ext cx="8303536" cy="289077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670537" y="1563638"/>
            <a:ext cx="2032671" cy="103732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308304" y="842943"/>
            <a:ext cx="1452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실습</a:t>
            </a:r>
            <a:r>
              <a:rPr lang="en-US" altLang="ko-KR" sz="1050" dirty="0"/>
              <a:t>#1 2</a:t>
            </a:r>
            <a:r>
              <a:rPr lang="ko-KR" altLang="en-US" sz="1050" dirty="0"/>
              <a:t>일차 산출물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354160" y="831657"/>
            <a:ext cx="1355461" cy="26520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639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OOA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1037396" y="895183"/>
            <a:ext cx="7076551" cy="3912828"/>
            <a:chOff x="827584" y="699542"/>
            <a:chExt cx="7496175" cy="414485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584" y="699542"/>
              <a:ext cx="7496175" cy="394335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312989" y="3750658"/>
              <a:ext cx="15728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Fully Dressed-up Form</a:t>
              </a:r>
              <a:endParaRPr lang="ko-KR" altLang="en-US" sz="105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35223" y="2877658"/>
              <a:ext cx="18982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System Sequence Diagram</a:t>
              </a:r>
              <a:endParaRPr lang="ko-KR" altLang="en-US" sz="105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33449" y="4582782"/>
              <a:ext cx="1144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Domain Model</a:t>
              </a:r>
              <a:endParaRPr lang="ko-KR" altLang="en-US" sz="105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21787" y="3008463"/>
              <a:ext cx="13019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Traceability Table</a:t>
              </a:r>
              <a:endParaRPr lang="ko-KR" altLang="en-US" sz="1050" dirty="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836582" y="1030001"/>
            <a:ext cx="28083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Build(Iteration1)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의 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OOA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진행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6057035" y="1347558"/>
            <a:ext cx="2553430" cy="288087"/>
            <a:chOff x="3800244" y="899160"/>
            <a:chExt cx="3422406" cy="386128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0244" y="930925"/>
              <a:ext cx="3422406" cy="354363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5002374" y="899160"/>
              <a:ext cx="281940" cy="386128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084168" y="800492"/>
            <a:ext cx="2437589" cy="400687"/>
            <a:chOff x="2187546" y="1450983"/>
            <a:chExt cx="3185436" cy="523617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7546" y="1450983"/>
              <a:ext cx="3185436" cy="487613"/>
            </a:xfrm>
            <a:prstGeom prst="rect">
              <a:avLst/>
            </a:prstGeom>
          </p:spPr>
        </p:pic>
        <p:sp>
          <p:nvSpPr>
            <p:cNvPr id="18" name="직사각형 17"/>
            <p:cNvSpPr/>
            <p:nvPr/>
          </p:nvSpPr>
          <p:spPr>
            <a:xfrm>
              <a:off x="2483743" y="1501726"/>
              <a:ext cx="278243" cy="472874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81335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Fully Dressed up Form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C29F06A0-019A-4385-BC19-CCDC624622BB}"/>
              </a:ext>
            </a:extLst>
          </p:cNvPr>
          <p:cNvGrpSpPr/>
          <p:nvPr/>
        </p:nvGrpSpPr>
        <p:grpSpPr>
          <a:xfrm>
            <a:off x="1331119" y="1995686"/>
            <a:ext cx="6348164" cy="2940225"/>
            <a:chOff x="669562" y="1396228"/>
            <a:chExt cx="9909911" cy="4907898"/>
          </a:xfrm>
        </p:grpSpPr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F2B57B75-5F63-4C4E-8322-FC7D12F9FD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266" t="36732" r="9696" b="20915"/>
            <a:stretch/>
          </p:blipFill>
          <p:spPr>
            <a:xfrm>
              <a:off x="669562" y="1396228"/>
              <a:ext cx="6234119" cy="4907898"/>
            </a:xfrm>
            <a:prstGeom prst="rect">
              <a:avLst/>
            </a:prstGeom>
          </p:spPr>
        </p:pic>
        <p:pic>
          <p:nvPicPr>
            <p:cNvPr id="12" name="내용 개체 틀 4">
              <a:extLst>
                <a:ext uri="{FF2B5EF4-FFF2-40B4-BE49-F238E27FC236}">
                  <a16:creationId xmlns="" xmlns:a16="http://schemas.microsoft.com/office/drawing/2014/main" id="{CDA1FC59-96A1-437E-BBAA-5241BD83E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6867120" y="1418017"/>
              <a:ext cx="3712353" cy="48388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" name="그룹 12">
            <a:extLst>
              <a:ext uri="{FF2B5EF4-FFF2-40B4-BE49-F238E27FC236}">
                <a16:creationId xmlns="" xmlns:a16="http://schemas.microsoft.com/office/drawing/2014/main" id="{A4209DED-1298-4FF2-AA8E-85549D52DD8C}"/>
              </a:ext>
            </a:extLst>
          </p:cNvPr>
          <p:cNvGrpSpPr/>
          <p:nvPr/>
        </p:nvGrpSpPr>
        <p:grpSpPr>
          <a:xfrm>
            <a:off x="119037" y="744924"/>
            <a:ext cx="7981348" cy="1034738"/>
            <a:chOff x="5671502" y="816932"/>
            <a:chExt cx="3364994" cy="1034738"/>
          </a:xfrm>
        </p:grpSpPr>
        <p:sp>
          <p:nvSpPr>
            <p:cNvPr id="14" name="내용 개체 틀 2">
              <a:extLst>
                <a:ext uri="{FF2B5EF4-FFF2-40B4-BE49-F238E27FC236}">
                  <a16:creationId xmlns="" xmlns:a16="http://schemas.microsoft.com/office/drawing/2014/main" id="{7A1C07EE-2C72-440D-A290-EBCB1015A336}"/>
                </a:ext>
              </a:extLst>
            </p:cNvPr>
            <p:cNvSpPr txBox="1">
              <a:spLocks/>
            </p:cNvSpPr>
            <p:nvPr/>
          </p:nvSpPr>
          <p:spPr>
            <a:xfrm>
              <a:off x="5879152" y="816932"/>
              <a:ext cx="260670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고객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개발자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,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테스터 등 이해관계자가 요구사항을 동일하게 이해하도록 상세히 작성</a:t>
              </a:r>
              <a:endPara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내용 개체 틀 2">
              <a:extLst>
                <a:ext uri="{FF2B5EF4-FFF2-40B4-BE49-F238E27FC236}">
                  <a16:creationId xmlns="" xmlns:a16="http://schemas.microsoft.com/office/drawing/2014/main" id="{5A47AC95-4831-4072-91E5-F7AFB5B6ED8C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3364994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복잡한 시스템을 이해하기 쉬운 형태로 표현하여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의사소통을 원활하게 함</a:t>
              </a:r>
              <a:endParaRPr lang="en-US" altLang="ko-KR" spc="0" dirty="0"/>
            </a:p>
            <a:p>
              <a:pPr lvl="1">
                <a:lnSpc>
                  <a:spcPct val="11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0" dirty="0"/>
                <a:t>요구사항을 정확히 반영했는지 확인하고</a:t>
              </a:r>
              <a:r>
                <a:rPr lang="en-US" altLang="ko-KR" spc="0" dirty="0"/>
                <a:t>, </a:t>
              </a:r>
              <a:r>
                <a:rPr lang="ko-KR" altLang="en-US" spc="0" dirty="0"/>
                <a:t>이해관계자들 간의 합의를 이끌어내는데도 중요한 역할</a:t>
              </a:r>
              <a:endParaRPr lang="en-US" altLang="ko-KR" spc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51226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038115" y="1059984"/>
            <a:ext cx="5651725" cy="3506392"/>
            <a:chOff x="339680" y="1224793"/>
            <a:chExt cx="8759053" cy="559887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680" y="1224793"/>
              <a:ext cx="4269056" cy="559887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2253" y="1224793"/>
              <a:ext cx="4516480" cy="5598874"/>
            </a:xfrm>
            <a:prstGeom prst="rect">
              <a:avLst/>
            </a:prstGeom>
          </p:spPr>
        </p:pic>
      </p:grpSp>
      <p:sp>
        <p:nvSpPr>
          <p:cNvPr id="2" name="모서리가 둥근 직사각형 1"/>
          <p:cNvSpPr/>
          <p:nvPr/>
        </p:nvSpPr>
        <p:spPr>
          <a:xfrm>
            <a:off x="3636848" y="3565877"/>
            <a:ext cx="4747961" cy="1146681"/>
          </a:xfrm>
          <a:prstGeom prst="roundRect">
            <a:avLst>
              <a:gd name="adj" fmla="val 10718"/>
            </a:avLst>
          </a:prstGeom>
          <a:solidFill>
            <a:srgbClr val="2F6E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Fully Dressed up Form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741008" y="3654753"/>
            <a:ext cx="4647416" cy="921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몇 건의 </a:t>
            </a:r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case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에 대해서는 아주 상세하게 </a:t>
            </a:r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Fully Dressed up Form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을 작성해보세요</a:t>
            </a:r>
            <a:endParaRPr lang="en-US" altLang="ko-KR" sz="11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이 과정을 통해 해당시스템의 주요 기능에 대해 </a:t>
            </a:r>
            <a:r>
              <a:rPr lang="ko-KR" altLang="en-US" sz="11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심도있게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 이해하게 되며</a:t>
            </a:r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,</a:t>
            </a: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en-US" altLang="ko-KR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Sequence Diagram</a:t>
            </a:r>
            <a:r>
              <a:rPr lang="ko-KR" altLang="en-US" sz="11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을 작성할 때도 필요합니다</a:t>
            </a:r>
            <a:endParaRPr lang="en-US" altLang="ko-KR" sz="11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483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한쪽 모서리는 잘리고 다른 쪽 모서리는 둥근 사각형 9"/>
          <p:cNvSpPr/>
          <p:nvPr/>
        </p:nvSpPr>
        <p:spPr>
          <a:xfrm>
            <a:off x="495300" y="774048"/>
            <a:ext cx="609292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System Sequence Diagram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5318" y="807554"/>
            <a:ext cx="57668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사용자 또는 외부 시스템과 시스템 간의 상호 작용을 시간 순서대로 나타내는 다이어그램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5318" y="1314513"/>
            <a:ext cx="65589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Use Case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를 실행하는 과정에서 시스템이 수행하는 동작을 시각적으로 표현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878484C0-D80E-4FF4-87A8-8BFA45C6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11" y="1995686"/>
            <a:ext cx="4940469" cy="264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562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Domain Model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="" xmlns:a16="http://schemas.microsoft.com/office/drawing/2014/main" id="{89999A5C-2E42-4759-BC0A-360961C0156A}"/>
              </a:ext>
            </a:extLst>
          </p:cNvPr>
          <p:cNvSpPr txBox="1">
            <a:spLocks/>
          </p:cNvSpPr>
          <p:nvPr/>
        </p:nvSpPr>
        <p:spPr>
          <a:xfrm>
            <a:off x="48994" y="2876940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462375" lvl="1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US" altLang="ko-KR" spc="-150" dirty="0"/>
          </a:p>
        </p:txBody>
      </p:sp>
      <p:sp>
        <p:nvSpPr>
          <p:cNvPr id="24" name="내용 개체 틀 2">
            <a:extLst>
              <a:ext uri="{FF2B5EF4-FFF2-40B4-BE49-F238E27FC236}">
                <a16:creationId xmlns="" xmlns:a16="http://schemas.microsoft.com/office/drawing/2014/main" id="{D414A888-7BCB-4380-B8A5-0201D2D0DBEE}"/>
              </a:ext>
            </a:extLst>
          </p:cNvPr>
          <p:cNvSpPr txBox="1">
            <a:spLocks/>
          </p:cNvSpPr>
          <p:nvPr/>
        </p:nvSpPr>
        <p:spPr>
          <a:xfrm>
            <a:off x="563210" y="627534"/>
            <a:ext cx="5322291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Domain Model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OOAD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에서 가장 중요한 모델로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주요 도메인을 시각화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="" xmlns:a16="http://schemas.microsoft.com/office/drawing/2014/main" id="{77757F10-6FFF-4136-93F3-A50D748DCD2A}"/>
              </a:ext>
            </a:extLst>
          </p:cNvPr>
          <p:cNvSpPr txBox="1">
            <a:spLocks/>
          </p:cNvSpPr>
          <p:nvPr/>
        </p:nvSpPr>
        <p:spPr>
          <a:xfrm>
            <a:off x="46544" y="1016308"/>
            <a:ext cx="8693586" cy="629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비즈니스 도메인이나 문제 영역 등 관심 영역을 구체화하는 단계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중요한 개념들이 모두 고려되었는지</a:t>
            </a:r>
            <a:r>
              <a:rPr lang="en-US" altLang="ko-KR" spc="-150" dirty="0"/>
              <a:t>, </a:t>
            </a:r>
            <a:r>
              <a:rPr lang="ko-KR" altLang="en-US" spc="-150" dirty="0"/>
              <a:t>누락된 것은 없는지 표현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ko-KR" altLang="en-US" spc="-150" dirty="0"/>
              <a:t>개념적 모델</a:t>
            </a:r>
            <a:r>
              <a:rPr lang="en-US" altLang="ko-KR" spc="-150" dirty="0"/>
              <a:t>(conceptual model), </a:t>
            </a:r>
            <a:r>
              <a:rPr lang="ko-KR" altLang="en-US" spc="-150" dirty="0"/>
              <a:t>도메인 객체 모델</a:t>
            </a:r>
            <a:r>
              <a:rPr lang="en-US" altLang="ko-KR" spc="-150" dirty="0"/>
              <a:t>(domain object model), </a:t>
            </a:r>
            <a:r>
              <a:rPr lang="ko-KR" altLang="en-US" spc="-150" dirty="0"/>
              <a:t>분석 객체 모델</a:t>
            </a:r>
            <a:r>
              <a:rPr lang="en-US" altLang="ko-KR" spc="-150" dirty="0"/>
              <a:t>(analysis object model)</a:t>
            </a:r>
            <a:r>
              <a:rPr lang="ko-KR" altLang="en-US" spc="-150" dirty="0"/>
              <a:t>이라고도 함</a:t>
            </a:r>
            <a:endParaRPr lang="en-US" altLang="ko-KR" spc="-15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ko-KR" spc="-15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="" xmlns:a16="http://schemas.microsoft.com/office/drawing/2014/main" id="{068CB283-61FD-40F0-BF55-928F9A52F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22535"/>
              </p:ext>
            </p:extLst>
          </p:nvPr>
        </p:nvGraphicFramePr>
        <p:xfrm>
          <a:off x="900949" y="3760022"/>
          <a:ext cx="4751171" cy="1260000"/>
        </p:xfrm>
        <a:graphic>
          <a:graphicData uri="http://schemas.openxmlformats.org/drawingml/2006/table">
            <a:tbl>
              <a:tblPr/>
              <a:tblGrid>
                <a:gridCol w="869115">
                  <a:extLst>
                    <a:ext uri="{9D8B030D-6E8A-4147-A177-3AD203B41FA5}">
                      <a16:colId xmlns="" xmlns:a16="http://schemas.microsoft.com/office/drawing/2014/main" val="2378189426"/>
                    </a:ext>
                  </a:extLst>
                </a:gridCol>
                <a:gridCol w="1941028">
                  <a:extLst>
                    <a:ext uri="{9D8B030D-6E8A-4147-A177-3AD203B41FA5}">
                      <a16:colId xmlns="" xmlns:a16="http://schemas.microsoft.com/office/drawing/2014/main" val="2409638596"/>
                    </a:ext>
                  </a:extLst>
                </a:gridCol>
                <a:gridCol w="1941028">
                  <a:extLst>
                    <a:ext uri="{9D8B030D-6E8A-4147-A177-3AD203B41FA5}">
                      <a16:colId xmlns="" xmlns:a16="http://schemas.microsoft.com/office/drawing/2014/main" val="78152971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Conceptual Class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kern="1200" spc="-150" baseline="0" dirty="0">
                          <a:solidFill>
                            <a:srgbClr val="11236D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Class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00268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정의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비즈니스 도메인 또는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문제 영역을 모델링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객체지향 프로그래밍의 기본 요소로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객체의 특징을 캡슐화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703776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특징</a:t>
                      </a:r>
                    </a:p>
                  </a:txBody>
                  <a:tcPr marL="70757" marR="70757" marT="32657" marB="32657" anchor="ctr">
                    <a:lnL>
                      <a:noFill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시스템의 핵심 개념과 </a:t>
                      </a:r>
                      <a:endParaRPr lang="en-US" altLang="ko-KR" sz="1000" kern="1200" spc="-150" baseline="0" dirty="0">
                        <a:solidFill>
                          <a:srgbClr val="1E1E2A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관계를 표현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실제 구현에 사용하는</a:t>
                      </a:r>
                    </a:p>
                    <a:p>
                      <a:pPr algn="ctr"/>
                      <a:r>
                        <a:rPr lang="ko-KR" altLang="en-US" sz="1000" kern="1200" spc="-150" baseline="0" dirty="0">
                          <a:solidFill>
                            <a:srgbClr val="1E1E2A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객체 생성의 단위 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374072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24B08A48-B807-4B32-94D8-559E277E546D}"/>
              </a:ext>
            </a:extLst>
          </p:cNvPr>
          <p:cNvGrpSpPr/>
          <p:nvPr/>
        </p:nvGrpSpPr>
        <p:grpSpPr>
          <a:xfrm>
            <a:off x="72853" y="2211710"/>
            <a:ext cx="8693586" cy="1008112"/>
            <a:chOff x="5671502" y="843558"/>
            <a:chExt cx="8693586" cy="1008112"/>
          </a:xfrm>
        </p:grpSpPr>
        <p:sp>
          <p:nvSpPr>
            <p:cNvPr id="17" name="내용 개체 틀 2">
              <a:extLst>
                <a:ext uri="{FF2B5EF4-FFF2-40B4-BE49-F238E27FC236}">
                  <a16:creationId xmlns="" xmlns:a16="http://schemas.microsoft.com/office/drawing/2014/main" id="{A9696E24-D6D7-47B1-93C5-D12E0C67991E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843558"/>
              <a:ext cx="4164602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Conceptual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Class(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개념적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Class)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 혹은 객체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(Object)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를 표현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내용 개체 틀 2">
              <a:extLst>
                <a:ext uri="{FF2B5EF4-FFF2-40B4-BE49-F238E27FC236}">
                  <a16:creationId xmlns="" xmlns:a16="http://schemas.microsoft.com/office/drawing/2014/main" id="{A61034A4-047D-4ED8-8EE2-1865D05594AD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22654"/>
              <a:ext cx="8693586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는 설계</a:t>
              </a:r>
              <a:r>
                <a:rPr lang="en-US" altLang="ko-KR" spc="-150" dirty="0"/>
                <a:t>/</a:t>
              </a:r>
              <a:r>
                <a:rPr lang="ko-KR" altLang="en-US" spc="-150" dirty="0"/>
                <a:t>구현에 사용하는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의 상위 레벨</a:t>
              </a:r>
              <a:endParaRPr lang="en-US" altLang="ko-KR" spc="-150" dirty="0"/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시스템의 핵심 개념과 관계를 표현하는 데 사용    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(ex) 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고객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",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주문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", "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제품</a:t>
              </a:r>
              <a:r>
                <a:rPr lang="en-US" altLang="ko-KR" b="0" i="0" dirty="0">
                  <a:solidFill>
                    <a:srgbClr val="24292F"/>
                  </a:solidFill>
                  <a:effectLst/>
                  <a:latin typeface="Noto Sans KR"/>
                </a:rPr>
                <a:t>"  </a:t>
              </a:r>
              <a:r>
                <a:rPr lang="ko-KR" altLang="en-US" b="0" i="0" dirty="0">
                  <a:solidFill>
                    <a:srgbClr val="24292F"/>
                  </a:solidFill>
                  <a:effectLst/>
                  <a:latin typeface="Noto Sans KR"/>
                </a:rPr>
                <a:t>등</a:t>
              </a:r>
              <a:endParaRPr lang="en-US" altLang="ko-KR" b="0" i="0" dirty="0">
                <a:solidFill>
                  <a:srgbClr val="24292F"/>
                </a:solidFill>
                <a:effectLst/>
                <a:latin typeface="Noto Sans KR"/>
              </a:endParaRPr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>
                  <a:solidFill>
                    <a:srgbClr val="11236D"/>
                  </a:solidFill>
                </a:rPr>
                <a:t>(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주의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) 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설계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/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구현 단계의 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Class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 수준으로 상세 정의하지 않도록 함</a:t>
              </a:r>
              <a:endParaRPr lang="en-US" altLang="ko-KR" spc="-150" dirty="0"/>
            </a:p>
            <a:p>
              <a:pPr lvl="1">
                <a:lnSpc>
                  <a:spcPct val="15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en-US" altLang="ko-KR" spc="-150" dirty="0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44A5ED02-9142-4AA1-91BB-646D094C8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266560"/>
            <a:ext cx="2745138" cy="264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45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한쪽 모서리는 잘리고 다른 쪽 모서리는 둥근 사각형 12"/>
          <p:cNvSpPr/>
          <p:nvPr/>
        </p:nvSpPr>
        <p:spPr>
          <a:xfrm>
            <a:off x="495300" y="1635646"/>
            <a:ext cx="2852564" cy="349007"/>
          </a:xfrm>
          <a:prstGeom prst="snipRound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06FA2"/>
              </a:gs>
              <a:gs pos="42000">
                <a:srgbClr val="2F6E99"/>
              </a:gs>
              <a:gs pos="100000">
                <a:srgbClr val="213A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24308" y="3291830"/>
            <a:ext cx="1982909" cy="1724513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#1] OOA - Domain Model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12938" y="1664945"/>
            <a:ext cx="34626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Main Success Scenario (or Basic Flow):</a:t>
            </a:r>
            <a:endParaRPr lang="ko-KR" altLang="en-US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496" y="2067694"/>
            <a:ext cx="5112568" cy="2952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6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lvl="1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2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1. 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Customer</a:t>
            </a:r>
            <a:r>
              <a:rPr lang="en-US" altLang="ko-KR" sz="1000" spc="-110" dirty="0"/>
              <a:t> arrives at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POS checkout</a:t>
            </a:r>
            <a:r>
              <a:rPr lang="en-US" altLang="ko-KR" sz="1000" spc="-110" dirty="0"/>
              <a:t> with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goods</a:t>
            </a:r>
            <a:r>
              <a:rPr lang="en-US" altLang="ko-KR" sz="1000" spc="-110" dirty="0"/>
              <a:t> and/or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services</a:t>
            </a:r>
            <a:r>
              <a:rPr lang="en-US" altLang="ko-KR" sz="1000" spc="-110" dirty="0"/>
              <a:t> to purchase.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2. 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Cashier</a:t>
            </a:r>
            <a:r>
              <a:rPr lang="en-US" altLang="ko-KR" sz="1000" spc="-110" dirty="0">
                <a:solidFill>
                  <a:srgbClr val="4156BD"/>
                </a:solidFill>
              </a:rPr>
              <a:t> </a:t>
            </a:r>
            <a:r>
              <a:rPr lang="en-US" altLang="ko-KR" sz="1000" spc="-110" dirty="0"/>
              <a:t>starts a new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sale</a:t>
            </a:r>
            <a:r>
              <a:rPr lang="en-US" altLang="ko-KR" sz="1000" b="1" spc="-110" dirty="0">
                <a:solidFill>
                  <a:srgbClr val="4156BD"/>
                </a:solidFill>
              </a:rPr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3.  Cashier enters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item identifier.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4.  System records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sale line item </a:t>
            </a:r>
            <a:r>
              <a:rPr lang="en-US" altLang="ko-KR" sz="1000" spc="-110" dirty="0"/>
              <a:t>and presents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product description</a:t>
            </a:r>
            <a:r>
              <a:rPr lang="en-US" altLang="ko-KR" sz="1000" b="1" spc="-110" dirty="0">
                <a:solidFill>
                  <a:srgbClr val="4156BD"/>
                </a:solidFill>
              </a:rPr>
              <a:t>, price,</a:t>
            </a:r>
            <a:r>
              <a:rPr lang="en-US" altLang="ko-KR" sz="1000" spc="-110" dirty="0"/>
              <a:t> and running total. Price calculated from a set of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price rules.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Cashier repeats steps 3-4 until indicates done.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5.  System presents total with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taxes</a:t>
            </a:r>
            <a:r>
              <a:rPr lang="en-US" altLang="ko-KR" sz="1000" spc="-110" dirty="0"/>
              <a:t> calculated.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6.  Cashier tells Customer the total, and asks for </a:t>
            </a:r>
            <a:r>
              <a:rPr lang="en-US" altLang="ko-KR" sz="1000" b="1" u="sng" spc="-110" dirty="0">
                <a:solidFill>
                  <a:srgbClr val="4156BD"/>
                </a:solidFill>
              </a:rPr>
              <a:t>payment</a:t>
            </a:r>
            <a:r>
              <a:rPr lang="en-US" altLang="ko-KR" sz="1000" b="1" spc="-110" dirty="0">
                <a:solidFill>
                  <a:srgbClr val="4156BD"/>
                </a:solidFill>
              </a:rPr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7.  Customer pays and System handles payment.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8.  System logs completed sale and sends sale and payment information to the external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Accounting </a:t>
            </a:r>
            <a:r>
              <a:rPr lang="en-US" altLang="ko-KR" sz="1000" spc="-110" dirty="0"/>
              <a:t>system (for accounting and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commissions</a:t>
            </a:r>
            <a:r>
              <a:rPr lang="en-US" altLang="ko-KR" sz="1000" spc="-110" dirty="0"/>
              <a:t>) and Inventory system (to update inventory).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9.  System presents </a:t>
            </a:r>
            <a:r>
              <a:rPr lang="en-US" altLang="ko-KR" sz="1000" b="1" spc="-110" dirty="0">
                <a:solidFill>
                  <a:srgbClr val="4156BD"/>
                </a:solidFill>
              </a:rPr>
              <a:t>receipt</a:t>
            </a:r>
            <a:r>
              <a:rPr lang="en-US" altLang="ko-KR" sz="1000" spc="-110" dirty="0"/>
              <a:t>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10.  Customer leaves with receipt and goods (if any).</a:t>
            </a:r>
          </a:p>
          <a:p>
            <a:pPr marL="462375" lvl="1" indent="0">
              <a:lnSpc>
                <a:spcPct val="120000"/>
              </a:lnSpc>
              <a:buClr>
                <a:schemeClr val="accent1"/>
              </a:buClr>
              <a:buNone/>
            </a:pPr>
            <a:r>
              <a:rPr lang="en-US" altLang="ko-KR" sz="1000" spc="-110" dirty="0"/>
              <a:t>Extensions (or Alternative Flows): […]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967536" y="2067694"/>
            <a:ext cx="4176464" cy="1243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7a. Paying by cash:1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Cashier enters the cash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amount tendered.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 presents the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balance due,</a:t>
            </a: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and releases the </a:t>
            </a:r>
            <a:r>
              <a:rPr lang="en-US" altLang="ko-KR" sz="1000" b="1" spc="-11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 drawer.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Cashier deposits cash tendered and returns balance in cash to Customer.</a:t>
            </a:r>
          </a:p>
          <a:p>
            <a:pPr marL="462375" lvl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+mj-lt"/>
              <a:buNone/>
            </a:pPr>
            <a:r>
              <a:rPr lang="en-US" altLang="ko-KR" sz="1000" spc="-11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 records the cash payment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5292080" y="2139702"/>
            <a:ext cx="0" cy="10801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3D5A7307-CC71-49E2-8A33-37BD5B049EC9}"/>
              </a:ext>
            </a:extLst>
          </p:cNvPr>
          <p:cNvGrpSpPr/>
          <p:nvPr/>
        </p:nvGrpSpPr>
        <p:grpSpPr>
          <a:xfrm>
            <a:off x="35496" y="545848"/>
            <a:ext cx="8693586" cy="1017790"/>
            <a:chOff x="5671502" y="905888"/>
            <a:chExt cx="8693586" cy="1017790"/>
          </a:xfrm>
        </p:grpSpPr>
        <p:sp>
          <p:nvSpPr>
            <p:cNvPr id="15" name="내용 개체 틀 2">
              <a:extLst>
                <a:ext uri="{FF2B5EF4-FFF2-40B4-BE49-F238E27FC236}">
                  <a16:creationId xmlns="" xmlns:a16="http://schemas.microsoft.com/office/drawing/2014/main" id="{7D4CE56C-DC53-42DF-97C1-AF7CAC2F647A}"/>
                </a:ext>
              </a:extLst>
            </p:cNvPr>
            <p:cNvSpPr txBox="1">
              <a:spLocks/>
            </p:cNvSpPr>
            <p:nvPr/>
          </p:nvSpPr>
          <p:spPr>
            <a:xfrm>
              <a:off x="6168786" y="905888"/>
              <a:ext cx="2266646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요구사항을 문장으로 작성하면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내용 개체 틀 2">
              <a:extLst>
                <a:ext uri="{FF2B5EF4-FFF2-40B4-BE49-F238E27FC236}">
                  <a16:creationId xmlns="" xmlns:a16="http://schemas.microsoft.com/office/drawing/2014/main" id="{210D9740-3107-4BD2-A16D-FB91D2FA816F}"/>
                </a:ext>
              </a:extLst>
            </p:cNvPr>
            <p:cNvSpPr txBox="1">
              <a:spLocks/>
            </p:cNvSpPr>
            <p:nvPr/>
          </p:nvSpPr>
          <p:spPr>
            <a:xfrm>
              <a:off x="5671502" y="1294662"/>
              <a:ext cx="8693586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2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ko-KR" altLang="en-US" spc="-150" dirty="0"/>
                <a:t>명사들은 </a:t>
              </a: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</a:t>
              </a:r>
              <a:r>
                <a:rPr lang="ko-KR" altLang="en-US" spc="-150" dirty="0"/>
                <a:t>의 후보가 되며</a:t>
              </a:r>
              <a:r>
                <a:rPr lang="en-US" altLang="ko-KR" spc="-150" dirty="0"/>
                <a:t>, </a:t>
              </a:r>
              <a:r>
                <a:rPr lang="ko-KR" altLang="en-US" spc="-150" dirty="0"/>
                <a:t>그 특징들은 속성</a:t>
              </a:r>
              <a:r>
                <a:rPr lang="en-US" altLang="ko-KR" spc="-150" dirty="0"/>
                <a:t>(attribute)</a:t>
              </a:r>
              <a:r>
                <a:rPr lang="ko-KR" altLang="en-US" spc="-150" dirty="0"/>
                <a:t>이 됨</a:t>
              </a:r>
              <a:endParaRPr lang="en-US" altLang="ko-KR" b="1" u="sng" spc="-150" dirty="0">
                <a:solidFill>
                  <a:srgbClr val="11236D"/>
                </a:solidFill>
              </a:endParaRPr>
            </a:p>
            <a:p>
              <a:pPr lvl="1">
                <a:lnSpc>
                  <a:spcPct val="10000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r>
                <a:rPr lang="en-US" altLang="ko-KR" spc="-150" dirty="0"/>
                <a:t>Conceptual</a:t>
              </a:r>
              <a:r>
                <a:rPr lang="ko-KR" altLang="en-US" spc="-150" dirty="0"/>
                <a:t> </a:t>
              </a:r>
              <a:r>
                <a:rPr lang="en-US" altLang="ko-KR" spc="-150" dirty="0"/>
                <a:t>Class </a:t>
              </a:r>
              <a:r>
                <a:rPr lang="ko-KR" altLang="en-US" spc="-150" dirty="0"/>
                <a:t>사이의 연관관계</a:t>
              </a:r>
              <a:r>
                <a:rPr lang="en-US" altLang="ko-KR" spc="-150" dirty="0"/>
                <a:t>(association)</a:t>
              </a:r>
              <a:r>
                <a:rPr lang="ko-KR" altLang="en-US" spc="-150" dirty="0"/>
                <a:t>는</a:t>
              </a:r>
              <a:r>
                <a:rPr lang="en-US" altLang="ko-KR" spc="-150" dirty="0"/>
                <a:t> </a:t>
              </a:r>
              <a:r>
                <a:rPr lang="ko-KR" altLang="en-US" spc="-150" dirty="0"/>
                <a:t>표현</a:t>
              </a:r>
              <a:r>
                <a:rPr lang="en-US" altLang="ko-KR" spc="-150" dirty="0"/>
                <a:t>,  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(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주의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) 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메소드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(operation)</a:t>
              </a:r>
              <a:r>
                <a:rPr lang="ko-KR" altLang="en-US" b="1" u="sng" spc="-150" dirty="0">
                  <a:solidFill>
                    <a:srgbClr val="11236D"/>
                  </a:solidFill>
                </a:rPr>
                <a:t>는 추가하지 않음</a:t>
              </a:r>
              <a:r>
                <a:rPr lang="en-US" altLang="ko-KR" b="1" u="sng" spc="-150" dirty="0">
                  <a:solidFill>
                    <a:srgbClr val="11236D"/>
                  </a:solidFill>
                </a:rPr>
                <a:t> </a:t>
              </a:r>
            </a:p>
            <a:p>
              <a:pPr marL="462375" lvl="1" indent="0">
                <a:lnSpc>
                  <a:spcPct val="150000"/>
                </a:lnSpc>
                <a:buClr>
                  <a:schemeClr val="accent1"/>
                </a:buClr>
                <a:buNone/>
              </a:pPr>
              <a:endParaRPr lang="en-US" altLang="ko-KR" spc="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47182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305446"/>
            <a:ext cx="5604012" cy="331236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필수</a:t>
            </a:r>
            <a:r>
              <a:rPr lang="en-US" altLang="ko-KR" sz="1600" dirty="0"/>
              <a:t>]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4.1 OOD - Sequence Diagram </a:t>
            </a:r>
            <a:r>
              <a:rPr lang="en-US" altLang="ko-KR" sz="1200" b="0" dirty="0"/>
              <a:t>(47min)</a:t>
            </a:r>
            <a:r>
              <a:rPr lang="pt-BR" altLang="ko-KR" sz="1200" b="0" dirty="0"/>
              <a:t/>
            </a:r>
            <a:br>
              <a:rPr lang="pt-BR" altLang="ko-KR" sz="1200" b="0" dirty="0"/>
            </a:br>
            <a:r>
              <a:rPr lang="en-US" altLang="ko-KR" sz="2000" dirty="0"/>
              <a:t>4.2 OOD - Class Diagram </a:t>
            </a:r>
            <a:r>
              <a:rPr lang="en-US" altLang="ko-KR" sz="1200" b="0" dirty="0"/>
              <a:t>(85min)</a:t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endParaRPr lang="en-US" altLang="ko-KR" sz="1200" b="0" dirty="0">
              <a:solidFill>
                <a:schemeClr val="accent5"/>
              </a:solidFill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899710" y="915566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영상학습</a:t>
            </a:r>
          </a:p>
        </p:txBody>
      </p:sp>
    </p:spTree>
    <p:extLst>
      <p:ext uri="{BB962C8B-B14F-4D97-AF65-F5344CB8AC3E}">
        <p14:creationId xmlns:p14="http://schemas.microsoft.com/office/powerpoint/2010/main" val="7519707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87824" y="2067694"/>
            <a:ext cx="5040560" cy="2190079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지난 조별활동 내용 리뷰 및 공유</a:t>
            </a:r>
          </a:p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* </a:t>
            </a:r>
            <a:r>
              <a:rPr lang="ko-KR" altLang="en-US" sz="14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커피 </a:t>
            </a:r>
            <a:r>
              <a:rPr lang="ko-KR" altLang="en-US" sz="14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키오스크</a:t>
            </a:r>
            <a:r>
              <a:rPr lang="en-US" altLang="ko-KR" sz="14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주차관리 시스템</a:t>
            </a:r>
            <a:endParaRPr lang="en-US" altLang="ko-KR" sz="14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조별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결과 리뷰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Requirement Analysis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899710" y="1029743"/>
            <a:ext cx="5056666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#1] OOA(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9406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지난 차수 사례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-17130" y="1681178"/>
            <a:ext cx="8621578" cy="943524"/>
            <a:chOff x="5671502" y="843558"/>
            <a:chExt cx="8621578" cy="943524"/>
          </a:xfrm>
        </p:grpSpPr>
        <p:sp>
          <p:nvSpPr>
            <p:cNvPr id="11" name="내용 개체 틀 2"/>
            <p:cNvSpPr txBox="1">
              <a:spLocks/>
            </p:cNvSpPr>
            <p:nvPr/>
          </p:nvSpPr>
          <p:spPr>
            <a:xfrm>
              <a:off x="6168786" y="843558"/>
              <a:ext cx="2104743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23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년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A04-F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조 카페 </a:t>
              </a: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키오스크</a:t>
              </a:r>
              <a:endPara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내용 개체 틀 2"/>
            <p:cNvSpPr txBox="1">
              <a:spLocks/>
            </p:cNvSpPr>
            <p:nvPr/>
          </p:nvSpPr>
          <p:spPr>
            <a:xfrm>
              <a:off x="5671502" y="1158066"/>
              <a:ext cx="8621578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en-US" altLang="ko-KR" dirty="0"/>
                <a:t>https://app.moqups.com/DcV0PNsf7GlZ3XuY3d4W7cC2YfipLQL2/view/page/a8f3563ea</a:t>
              </a:r>
            </a:p>
            <a:p>
              <a:pPr lvl="1"/>
              <a:r>
                <a:rPr lang="en-US" altLang="ko-KR" dirty="0"/>
                <a:t>https://docs.google.com/spreadsheets/d/1czIveKsbpYNL7U-aqc9yINndTm8KiLwayEwrY7INdvw/edit#gid=20057407684	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-17130" y="843558"/>
            <a:ext cx="8621578" cy="648072"/>
            <a:chOff x="5671502" y="843558"/>
            <a:chExt cx="8621578" cy="648072"/>
          </a:xfrm>
        </p:grpSpPr>
        <p:sp>
          <p:nvSpPr>
            <p:cNvPr id="21" name="내용 개체 틀 2"/>
            <p:cNvSpPr txBox="1">
              <a:spLocks/>
            </p:cNvSpPr>
            <p:nvPr/>
          </p:nvSpPr>
          <p:spPr>
            <a:xfrm>
              <a:off x="6168786" y="843558"/>
              <a:ext cx="1999137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24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년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B4 5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조 </a:t>
              </a: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: Smart Watch</a:t>
              </a:r>
            </a:p>
          </p:txBody>
        </p:sp>
        <p:sp>
          <p:nvSpPr>
            <p:cNvPr id="22" name="내용 개체 틀 2"/>
            <p:cNvSpPr txBox="1">
              <a:spLocks/>
            </p:cNvSpPr>
            <p:nvPr/>
          </p:nvSpPr>
          <p:spPr>
            <a:xfrm>
              <a:off x="5671502" y="1177122"/>
              <a:ext cx="8621578" cy="31450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en-US" altLang="ko-KR" dirty="0"/>
                <a:t>https://docs.google.com/spreadsheets/d/1kD2v6ZD0G4HP4_QnLoGhd3DXemenmtGzW90Iw5c2VTk/edit?gid=1017754402#gid=1017754402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287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74872" y="771550"/>
            <a:ext cx="412965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2" y="1359270"/>
            <a:ext cx="8254981" cy="291968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657750" y="2602230"/>
            <a:ext cx="2012546" cy="83185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668344" y="842943"/>
            <a:ext cx="10615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실습</a:t>
            </a:r>
            <a:r>
              <a:rPr lang="en-US" altLang="ko-KR" sz="1050" dirty="0"/>
              <a:t>#2 </a:t>
            </a:r>
            <a:r>
              <a:rPr lang="ko-KR" altLang="en-US" sz="1050" dirty="0"/>
              <a:t>산출물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714201" y="831657"/>
            <a:ext cx="956720" cy="26520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689739" y="1563638"/>
            <a:ext cx="2012546" cy="103732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3740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1821831"/>
            <a:ext cx="4492362" cy="2190079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endParaRPr lang="ko-KR" altLang="en-US" sz="20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87824" y="2427734"/>
            <a:ext cx="5976664" cy="11521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0" dirty="0"/>
              <a:t>- 1.2 (</a:t>
            </a:r>
            <a:r>
              <a:rPr lang="ko-KR" altLang="en-US" sz="1800" b="0" dirty="0"/>
              <a:t>실습</a:t>
            </a:r>
            <a:r>
              <a:rPr lang="en-US" altLang="ko-KR" sz="1800" b="0" dirty="0"/>
              <a:t>) </a:t>
            </a:r>
            <a:r>
              <a:rPr lang="ko-KR" altLang="en-US" sz="1800" b="0" dirty="0" err="1"/>
              <a:t>팀과제</a:t>
            </a:r>
            <a:r>
              <a:rPr lang="ko-KR" altLang="en-US" sz="1800" b="0" dirty="0"/>
              <a:t> 실습 양식</a:t>
            </a:r>
            <a:r>
              <a:rPr lang="en-US" altLang="ko-KR" sz="1800" b="0" dirty="0"/>
              <a:t>.</a:t>
            </a:r>
            <a:r>
              <a:rPr lang="en-US" altLang="ko-KR" sz="1800" b="0" dirty="0" err="1"/>
              <a:t>xlsx</a:t>
            </a:r>
            <a:r>
              <a:rPr lang="en-US" altLang="ko-KR" sz="1800" b="0" dirty="0"/>
              <a:t/>
            </a:r>
            <a:br>
              <a:rPr lang="en-US" altLang="ko-KR" sz="1800" b="0" dirty="0"/>
            </a:br>
            <a:r>
              <a:rPr lang="en-US" altLang="ko-KR" sz="1800" b="0" dirty="0"/>
              <a:t>  * 5,6,7 </a:t>
            </a:r>
            <a:r>
              <a:rPr lang="ko-KR" altLang="en-US" sz="1800" b="0" dirty="0"/>
              <a:t>중심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UML Design Exercise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899710" y="1029743"/>
            <a:ext cx="5056666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#2] OOD</a:t>
            </a:r>
          </a:p>
        </p:txBody>
      </p:sp>
    </p:spTree>
    <p:extLst>
      <p:ext uri="{BB962C8B-B14F-4D97-AF65-F5344CB8AC3E}">
        <p14:creationId xmlns:p14="http://schemas.microsoft.com/office/powerpoint/2010/main" val="14349669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OOD - Sequence Diagram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Sequence Diagram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작성시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코드를 떠올리며 메소드 도출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B2F3629-74EB-45E2-BB89-5C99F5824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04" y="1827027"/>
            <a:ext cx="2628502" cy="19830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6E48B4D3-CC56-4777-A570-0E33CE235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636" y="1826314"/>
            <a:ext cx="3009882" cy="3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25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314857" y="1636836"/>
            <a:ext cx="6442278" cy="3222082"/>
            <a:chOff x="214962" y="365125"/>
            <a:chExt cx="11526570" cy="590443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962" y="436027"/>
              <a:ext cx="5780370" cy="558875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365125"/>
              <a:ext cx="5645532" cy="5904435"/>
            </a:xfrm>
            <a:prstGeom prst="rect">
              <a:avLst/>
            </a:prstGeom>
          </p:spPr>
        </p:pic>
      </p:grp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95536" y="21631"/>
            <a:ext cx="8430220" cy="531531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OOD - Sequence Diagram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95536" y="631157"/>
            <a:ext cx="7776864" cy="69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오류 사례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동일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Project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내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표기방법과 스타일이 다른 경우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→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사전에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Notation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표기법을 통일하여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작성자가 다르더라도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동일한 산출물이 나오도록 </a:t>
            </a:r>
            <a:endParaRPr lang="en-US" altLang="ko-KR" sz="12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835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72" y="1419622"/>
            <a:ext cx="5989952" cy="3666004"/>
          </a:xfrm>
          <a:prstGeom prst="rect">
            <a:avLst/>
          </a:prstGeom>
        </p:spPr>
      </p:pic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395536" y="21631"/>
            <a:ext cx="8430220" cy="531531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OOD - Sequence Diagram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95536" y="627534"/>
            <a:ext cx="7776864" cy="69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오류 사례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전체 시퀀스를 한 페이지에 그리는 경우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가독성 ↓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→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Use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Case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혹은 단위 메소드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함수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별로 나누어 작성</a:t>
            </a:r>
            <a:endParaRPr lang="en-US" altLang="ko-KR" sz="12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025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OOD - Class Diagram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82" y="1419622"/>
            <a:ext cx="4189556" cy="350714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95536" y="63115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하나씩 속성을 채우고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메소드를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배치해 볼 것</a:t>
            </a:r>
          </a:p>
        </p:txBody>
      </p:sp>
    </p:spTree>
    <p:extLst>
      <p:ext uri="{BB962C8B-B14F-4D97-AF65-F5344CB8AC3E}">
        <p14:creationId xmlns:p14="http://schemas.microsoft.com/office/powerpoint/2010/main" val="24388785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OOI – </a:t>
            </a:r>
            <a:r>
              <a:rPr lang="ko-KR" altLang="en-US" dirty="0"/>
              <a:t>코드 작성 </a:t>
            </a:r>
            <a:r>
              <a:rPr lang="en-US" altLang="ko-KR" dirty="0"/>
              <a:t>(Optional)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139721" y="1283717"/>
            <a:ext cx="6185324" cy="2800201"/>
            <a:chOff x="445328" y="1251309"/>
            <a:chExt cx="8502057" cy="443927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328" y="1708573"/>
              <a:ext cx="2962688" cy="3524742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7904" y="1251309"/>
              <a:ext cx="5239481" cy="4439270"/>
            </a:xfrm>
            <a:prstGeom prst="rect">
              <a:avLst/>
            </a:prstGeom>
          </p:spPr>
        </p:pic>
      </p:grpSp>
      <p:sp>
        <p:nvSpPr>
          <p:cNvPr id="7" name="직사각형 6"/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코딩을 하면서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누락된 내용이나 변경이 필요한 부분 발견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여기까지가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첫번째 </a:t>
            </a:r>
            <a:r>
              <a:rPr lang="en-US" altLang="ko-KR" sz="1400" spc="-1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Iteraion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187624" y="4135867"/>
            <a:ext cx="7128792" cy="64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첫번째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Iteration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의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OOD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를 빠르게 마친 조는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OOI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까지 진행해 볼 것</a:t>
            </a:r>
            <a:endParaRPr lang="en-US" altLang="ko-KR" sz="1200" spc="-100" dirty="0">
              <a:ln>
                <a:solidFill>
                  <a:srgbClr val="5B9BD5">
                    <a:alpha val="0"/>
                  </a:srgbClr>
                </a:solidFill>
              </a:ln>
              <a:cs typeface="Arial" panose="020B0604020202020204" pitchFamily="34" charset="0"/>
            </a:endParaRP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단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,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본 과정에서는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OOA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와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OOD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 를 경험하는 것이 목표이므로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OOI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에 많은 시간 할애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cs typeface="Arial" panose="020B0604020202020204" pitchFamily="34" charset="0"/>
              </a:rPr>
              <a:t> (X)</a:t>
            </a:r>
          </a:p>
        </p:txBody>
      </p:sp>
    </p:spTree>
    <p:extLst>
      <p:ext uri="{BB962C8B-B14F-4D97-AF65-F5344CB8AC3E}">
        <p14:creationId xmlns:p14="http://schemas.microsoft.com/office/powerpoint/2010/main" val="489858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#2] OOI – Refactoring</a:t>
            </a:r>
            <a:r>
              <a:rPr lang="ko-KR" altLang="en-US" dirty="0"/>
              <a:t> </a:t>
            </a:r>
            <a:r>
              <a:rPr lang="en-US" altLang="ko-KR" dirty="0"/>
              <a:t>(Optional)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096609" y="1694284"/>
            <a:ext cx="6820647" cy="3325738"/>
            <a:chOff x="93624" y="314654"/>
            <a:chExt cx="12051800" cy="637709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24" y="314654"/>
              <a:ext cx="7772536" cy="394918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8717" y="2467145"/>
              <a:ext cx="7346707" cy="42246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</p:grpSp>
      <p:sp>
        <p:nvSpPr>
          <p:cNvPr id="10" name="직사각형 9"/>
          <p:cNvSpPr/>
          <p:nvPr/>
        </p:nvSpPr>
        <p:spPr>
          <a:xfrm>
            <a:off x="395536" y="631157"/>
            <a:ext cx="7776864" cy="69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구현을 진행 하다 보면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의존성이 높은 관계들이 발생함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설계 단계부터 이를 고려해야 하며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구현 중 재설계를 하는 것도 중요</a:t>
            </a:r>
            <a:endParaRPr lang="en-US" altLang="ko-KR" sz="12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4514227-9C3A-4BE9-A0F9-0E69BEA573EB}"/>
              </a:ext>
            </a:extLst>
          </p:cNvPr>
          <p:cNvSpPr txBox="1"/>
          <p:nvPr/>
        </p:nvSpPr>
        <p:spPr>
          <a:xfrm>
            <a:off x="6409607" y="1825349"/>
            <a:ext cx="2035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11236D"/>
                </a:solidFill>
                <a:cs typeface="Arial" panose="020B0604020202020204" pitchFamily="34" charset="0"/>
              </a:rPr>
              <a:t>Refactoring</a:t>
            </a:r>
            <a:endParaRPr lang="ko-KR" altLang="en-US" b="1" i="1" dirty="0">
              <a:solidFill>
                <a:srgbClr val="11236D"/>
              </a:solidFill>
            </a:endParaRPr>
          </a:p>
        </p:txBody>
      </p:sp>
      <p:sp>
        <p:nvSpPr>
          <p:cNvPr id="6" name="화살표: 아래로 구부러짐 5">
            <a:extLst>
              <a:ext uri="{FF2B5EF4-FFF2-40B4-BE49-F238E27FC236}">
                <a16:creationId xmlns="" xmlns:a16="http://schemas.microsoft.com/office/drawing/2014/main" id="{3B57F657-162A-4AE0-8071-396D995E36A0}"/>
              </a:ext>
            </a:extLst>
          </p:cNvPr>
          <p:cNvSpPr/>
          <p:nvPr/>
        </p:nvSpPr>
        <p:spPr>
          <a:xfrm rot="1899732">
            <a:off x="5547000" y="2038630"/>
            <a:ext cx="1338619" cy="576064"/>
          </a:xfrm>
          <a:prstGeom prst="curvedDownArrow">
            <a:avLst/>
          </a:prstGeom>
          <a:solidFill>
            <a:srgbClr val="4156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180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OOA – OOD - OOI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95536" y="685697"/>
            <a:ext cx="7776864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요구사항이 단계별로 올바로 전달되는지 지속 점검하지 않으면 마지막에 큰 대가를 치르게 됨</a:t>
            </a:r>
            <a:endParaRPr lang="en-US" altLang="ko-KR" sz="14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80272" y="4407925"/>
            <a:ext cx="3168352" cy="276998"/>
          </a:xfrm>
          <a:prstGeom prst="rect">
            <a:avLst/>
          </a:prstGeom>
          <a:solidFill>
            <a:srgbClr val="5974BF"/>
          </a:solidFill>
        </p:spPr>
        <p:txBody>
          <a:bodyPr wrap="square">
            <a:spAutoFit/>
          </a:bodyPr>
          <a:lstStyle/>
          <a:p>
            <a:pPr algn="ctr"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왜 이럴까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?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설계도대로 만들었는데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2540" y="4419001"/>
            <a:ext cx="2281713" cy="276999"/>
          </a:xfrm>
          <a:prstGeom prst="rect">
            <a:avLst/>
          </a:prstGeom>
          <a:solidFill>
            <a:srgbClr val="5974BF"/>
          </a:solidFill>
        </p:spPr>
        <p:txBody>
          <a:bodyPr wrap="square">
            <a:spAutoFit/>
          </a:bodyPr>
          <a:lstStyle/>
          <a:p>
            <a:pPr algn="ctr" defTabSz="715082">
              <a:spcBef>
                <a:spcPct val="20000"/>
              </a:spcBef>
            </a:pP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왜 이럴까</a:t>
            </a:r>
            <a:r>
              <a:rPr lang="en-US" altLang="ko-KR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? </a:t>
            </a:r>
            <a:r>
              <a:rPr lang="ko-KR" altLang="en-US" sz="12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순서대로 했는데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2381"/>
          <a:stretch/>
        </p:blipFill>
        <p:spPr>
          <a:xfrm>
            <a:off x="1272540" y="1485005"/>
            <a:ext cx="2281713" cy="288412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272" y="1485005"/>
            <a:ext cx="3168352" cy="28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711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요구사항이 수시로 변경되는 일이 많다면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26016" y="1331610"/>
            <a:ext cx="8189584" cy="3024336"/>
            <a:chOff x="179260" y="1328227"/>
            <a:chExt cx="11949008" cy="467071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60" y="1820486"/>
              <a:ext cx="7118273" cy="3416531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9155" y="1328227"/>
              <a:ext cx="5479113" cy="4670719"/>
            </a:xfrm>
            <a:prstGeom prst="rect">
              <a:avLst/>
            </a:prstGeom>
          </p:spPr>
        </p:pic>
      </p:grpSp>
      <p:sp>
        <p:nvSpPr>
          <p:cNvPr id="8" name="직사각형 7"/>
          <p:cNvSpPr/>
          <p:nvPr/>
        </p:nvSpPr>
        <p:spPr>
          <a:xfrm>
            <a:off x="395536" y="631157"/>
            <a:ext cx="7776864" cy="69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초기 단계부터 영향도를 고려하여 추적성을 기록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  <a:p>
            <a:pPr defTabSz="715082"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변경이 발생 시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수정해야할 지점 파악 용이</a:t>
            </a:r>
            <a:endParaRPr lang="en-US" altLang="ko-KR" sz="12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01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4294967295"/>
          </p:nvPr>
        </p:nvSpPr>
        <p:spPr>
          <a:xfrm>
            <a:off x="641881" y="1986905"/>
            <a:ext cx="7772400" cy="714003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 </a:t>
            </a:r>
            <a:r>
              <a:rPr lang="en-US" altLang="ko-KR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(Day3)</a:t>
            </a:r>
            <a:endParaRPr lang="ko-KR" altLang="en-US" sz="3200" dirty="0">
              <a:solidFill>
                <a:schemeClr val="accent6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idx="4294967295"/>
          </p:nvPr>
        </p:nvSpPr>
        <p:spPr>
          <a:xfrm>
            <a:off x="651876" y="881324"/>
            <a:ext cx="7772400" cy="4920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en-US" altLang="ko-KR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Associate Architect </a:t>
            </a:r>
            <a:r>
              <a:rPr lang="ko-KR" altLang="en-US" cap="all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양성과정</a:t>
            </a:r>
          </a:p>
        </p:txBody>
      </p:sp>
    </p:spTree>
    <p:extLst>
      <p:ext uri="{BB962C8B-B14F-4D97-AF65-F5344CB8AC3E}">
        <p14:creationId xmlns:p14="http://schemas.microsoft.com/office/powerpoint/2010/main" val="10743782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15816" y="2067695"/>
            <a:ext cx="4492362" cy="1800200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조별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결과 리뷰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endParaRPr lang="en-US" altLang="ko-KR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solidFill>
                  <a:srgbClr val="11236D"/>
                </a:solidFill>
              </a:rPr>
              <a:t>UML Design Exercise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899710" y="1029743"/>
            <a:ext cx="5056666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#2] OOD(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60548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419623"/>
            <a:ext cx="5604012" cy="331236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필수</a:t>
            </a:r>
            <a:r>
              <a:rPr lang="en-US" altLang="ko-KR" sz="1600" dirty="0"/>
              <a:t>]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5.1 OOI - Sequence Visibility </a:t>
            </a:r>
            <a:r>
              <a:rPr lang="en-US" altLang="ko-KR" sz="1200" b="0" dirty="0"/>
              <a:t>(33min)</a:t>
            </a:r>
            <a:br>
              <a:rPr lang="en-US" altLang="ko-KR" sz="1200" b="0" dirty="0"/>
            </a:br>
            <a:r>
              <a:rPr lang="en-US" altLang="ko-KR" sz="2000" dirty="0"/>
              <a:t>5.2 OOI - Mapping Designs to Code </a:t>
            </a:r>
            <a:r>
              <a:rPr lang="en-US" altLang="ko-KR" sz="1200" b="0" dirty="0"/>
              <a:t>(19min)</a:t>
            </a:r>
            <a:br>
              <a:rPr lang="en-US" altLang="ko-KR" sz="1200" b="0" dirty="0"/>
            </a:br>
            <a:r>
              <a:rPr lang="en-US" altLang="ko-KR" sz="2000" dirty="0"/>
              <a:t>6 Summary </a:t>
            </a:r>
            <a:r>
              <a:rPr lang="en-US" altLang="ko-KR" sz="1200" b="0" dirty="0"/>
              <a:t>(21min)</a:t>
            </a:r>
            <a:br>
              <a:rPr lang="en-US" altLang="ko-KR" sz="1200" b="0" dirty="0"/>
            </a:br>
            <a:r>
              <a:rPr lang="en-US" altLang="ko-KR" sz="1200" b="0" dirty="0"/>
              <a:t/>
            </a:r>
            <a:br>
              <a:rPr lang="en-US" altLang="ko-KR" sz="1200" b="0" dirty="0"/>
            </a:br>
            <a:endParaRPr lang="en-US" altLang="ko-KR" sz="12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899710" y="1029743"/>
            <a:ext cx="439248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영상학습</a:t>
            </a:r>
          </a:p>
        </p:txBody>
      </p:sp>
    </p:spTree>
    <p:extLst>
      <p:ext uri="{BB962C8B-B14F-4D97-AF65-F5344CB8AC3E}">
        <p14:creationId xmlns:p14="http://schemas.microsoft.com/office/powerpoint/2010/main" val="36437535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1995686"/>
            <a:ext cx="6215572" cy="2190079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신규기능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 후 전체 과정 반복 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(1~9)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OOD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800" b="0" dirty="0" err="1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OOI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집중하여 디자인 또는 구현 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(6~8 </a:t>
            </a:r>
            <a:r>
              <a:rPr lang="ko-KR" altLang="en-US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</a:t>
            </a:r>
            <a:r>
              <a:rPr lang="en-US" altLang="ko-KR" sz="18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b="0" dirty="0">
              <a:solidFill>
                <a:srgbClr val="11236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solidFill>
                  <a:srgbClr val="11236D"/>
                </a:solidFill>
              </a:rPr>
              <a:t>세부구현 및 과제 업데이트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899710" y="1029743"/>
            <a:ext cx="5056666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#3] OOI</a:t>
            </a:r>
          </a:p>
        </p:txBody>
      </p:sp>
    </p:spTree>
    <p:extLst>
      <p:ext uri="{BB962C8B-B14F-4D97-AF65-F5344CB8AC3E}">
        <p14:creationId xmlns:p14="http://schemas.microsoft.com/office/powerpoint/2010/main" val="86755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74872" y="906076"/>
            <a:ext cx="4129657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2" y="1493796"/>
            <a:ext cx="8196049" cy="291968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661559" y="2736756"/>
            <a:ext cx="1986169" cy="83185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668344" y="977469"/>
            <a:ext cx="10615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실습</a:t>
            </a:r>
            <a:r>
              <a:rPr lang="en-US" altLang="ko-KR" sz="1050" dirty="0"/>
              <a:t>#3 </a:t>
            </a:r>
            <a:r>
              <a:rPr lang="ko-KR" altLang="en-US" sz="1050" dirty="0"/>
              <a:t>산출물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714201" y="966183"/>
            <a:ext cx="956720" cy="26520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52612" y="1704514"/>
            <a:ext cx="1992620" cy="18539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3088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추가 요구사항</a:t>
            </a: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480154" y="987574"/>
            <a:ext cx="6612126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현재까지 진행된 실습에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,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추가 요구사항을 반영하여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UML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을 작성해주세요</a:t>
            </a:r>
            <a:endParaRPr lang="en-US" altLang="ko-KR" sz="1400" b="1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16099" y="1419622"/>
            <a:ext cx="4572000" cy="7721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-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실습 안내 파일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–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추가 요구사항 확인</a:t>
            </a:r>
            <a:endParaRPr lang="en-US" altLang="ko-KR" sz="12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- OOA </a:t>
            </a:r>
            <a:r>
              <a:rPr lang="ko-KR" altLang="en-US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신규 기능 추가 후 전체 과정 반복 </a:t>
            </a:r>
            <a:r>
              <a:rPr lang="en-US" altLang="ko-KR" sz="12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(1~9)</a:t>
            </a:r>
            <a:endParaRPr lang="ko-KR" altLang="en-US" sz="1200" spc="-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0005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 txBox="1">
            <a:spLocks/>
          </p:cNvSpPr>
          <p:nvPr/>
        </p:nvSpPr>
        <p:spPr>
          <a:xfrm>
            <a:off x="2928428" y="1821831"/>
            <a:ext cx="6215572" cy="2190079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0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ko-KR" altLang="en-US" sz="20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진행과정 및 산출물 설명</a:t>
            </a:r>
            <a:br>
              <a:rPr lang="ko-KR" altLang="en-US" sz="20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b. </a:t>
            </a:r>
            <a:r>
              <a:rPr lang="ko-KR" altLang="en-US" sz="2000" b="0" dirty="0">
                <a:solidFill>
                  <a:srgbClr val="11236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소감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900576" y="1347614"/>
            <a:ext cx="5544616" cy="936104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 err="1">
                <a:solidFill>
                  <a:srgbClr val="11236D"/>
                </a:solidFill>
              </a:rPr>
              <a:t>팀과제</a:t>
            </a:r>
            <a:r>
              <a:rPr lang="ko-KR" altLang="en-US" sz="3600" dirty="0">
                <a:solidFill>
                  <a:srgbClr val="11236D"/>
                </a:solidFill>
              </a:rPr>
              <a:t> 진행 회고</a:t>
            </a:r>
            <a:endParaRPr lang="ko-KR" altLang="en-US" sz="3600" dirty="0">
              <a:ln>
                <a:noFill/>
              </a:ln>
              <a:solidFill>
                <a:srgbClr val="11236D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899710" y="1029743"/>
            <a:ext cx="5056666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ko-KR" altLang="en-US" sz="3600" dirty="0">
                <a:ln>
                  <a:noFill/>
                </a:ln>
                <a:solidFill>
                  <a:srgbClr val="95E9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회고</a:t>
            </a:r>
            <a:endParaRPr lang="en-US" altLang="ko-KR" sz="3600" dirty="0">
              <a:ln>
                <a:noFill/>
              </a:ln>
              <a:solidFill>
                <a:srgbClr val="95E9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2786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 err="1"/>
              <a:t>팀과제</a:t>
            </a:r>
            <a:r>
              <a:rPr lang="ko-KR" altLang="en-US" dirty="0"/>
              <a:t> 진행 회고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-17130" y="771550"/>
            <a:ext cx="8621578" cy="989056"/>
            <a:chOff x="5671502" y="843558"/>
            <a:chExt cx="8621578" cy="989056"/>
          </a:xfrm>
        </p:grpSpPr>
        <p:sp>
          <p:nvSpPr>
            <p:cNvPr id="9" name="내용 개체 틀 2"/>
            <p:cNvSpPr txBox="1">
              <a:spLocks/>
            </p:cNvSpPr>
            <p:nvPr/>
          </p:nvSpPr>
          <p:spPr>
            <a:xfrm>
              <a:off x="6168786" y="843558"/>
              <a:ext cx="2374048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1. </a:t>
              </a:r>
              <a:r>
                <a:rPr lang="ko-KR" altLang="en-US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진행과정에 대한 설명과 함께 </a:t>
              </a:r>
            </a:p>
          </p:txBody>
        </p:sp>
        <p:sp>
          <p:nvSpPr>
            <p:cNvPr id="10" name="내용 개체 틀 2"/>
            <p:cNvSpPr txBox="1">
              <a:spLocks/>
            </p:cNvSpPr>
            <p:nvPr/>
          </p:nvSpPr>
          <p:spPr>
            <a:xfrm>
              <a:off x="5671502" y="1203598"/>
              <a:ext cx="8621578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ko-KR" altLang="en-US" dirty="0"/>
                <a:t>시행착오</a:t>
              </a:r>
            </a:p>
            <a:p>
              <a:pPr lvl="1"/>
              <a:r>
                <a:rPr lang="ko-KR" altLang="en-US" dirty="0"/>
                <a:t>우리는 왜 어려웠나 </a:t>
              </a:r>
              <a:r>
                <a:rPr lang="en-US" altLang="ko-KR" dirty="0"/>
                <a:t>vs. </a:t>
              </a:r>
              <a:r>
                <a:rPr lang="ko-KR" altLang="en-US" dirty="0"/>
                <a:t>우리는 왜 수월했나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가장 적응이 빨랐던 단계 </a:t>
              </a:r>
              <a:r>
                <a:rPr lang="en-US" altLang="ko-KR" dirty="0"/>
                <a:t>vs. </a:t>
              </a:r>
              <a:r>
                <a:rPr lang="ko-KR" altLang="en-US" dirty="0"/>
                <a:t>가장 고통스런 단계들을 자유롭게 논의합니다</a:t>
              </a:r>
            </a:p>
          </p:txBody>
        </p:sp>
      </p:grpSp>
      <p:sp>
        <p:nvSpPr>
          <p:cNvPr id="12" name="내용 개체 틀 2"/>
          <p:cNvSpPr txBox="1">
            <a:spLocks/>
          </p:cNvSpPr>
          <p:nvPr/>
        </p:nvSpPr>
        <p:spPr>
          <a:xfrm>
            <a:off x="480154" y="1995686"/>
            <a:ext cx="1107676" cy="297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2. 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최종 산출물 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0" y="2427734"/>
            <a:ext cx="8621578" cy="989056"/>
            <a:chOff x="5671502" y="843558"/>
            <a:chExt cx="8621578" cy="989056"/>
          </a:xfrm>
        </p:grpSpPr>
        <p:sp>
          <p:nvSpPr>
            <p:cNvPr id="14" name="내용 개체 틀 2"/>
            <p:cNvSpPr txBox="1">
              <a:spLocks/>
            </p:cNvSpPr>
            <p:nvPr/>
          </p:nvSpPr>
          <p:spPr>
            <a:xfrm>
              <a:off x="6168786" y="843558"/>
              <a:ext cx="841577" cy="297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247529" indent="-247529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6312" indent="-206274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509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7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513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5172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15211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45248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75286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05325" indent="-165020" algn="l" defTabSz="660076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15082">
                <a:lnSpc>
                  <a:spcPct val="160000"/>
                </a:lnSpc>
                <a:buNone/>
              </a:pPr>
              <a:r>
                <a:rPr lang="en-US" altLang="ko-KR" sz="1400" b="1" spc="-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3. </a:t>
              </a:r>
              <a:r>
                <a:rPr lang="ko-KR" altLang="en-US" sz="1400" b="1" spc="-100" dirty="0" err="1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4156BD"/>
                  </a:solidFill>
                  <a:cs typeface="Arial" panose="020B0604020202020204" pitchFamily="34" charset="0"/>
                </a:rPr>
                <a:t>적용소감</a:t>
              </a:r>
              <a:endPara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내용 개체 틀 2"/>
            <p:cNvSpPr txBox="1">
              <a:spLocks/>
            </p:cNvSpPr>
            <p:nvPr/>
          </p:nvSpPr>
          <p:spPr>
            <a:xfrm>
              <a:off x="5671502" y="1203598"/>
              <a:ext cx="8621578" cy="6290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361950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600" b="1" spc="-120" baseline="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14375" lvl="1" indent="-252000">
                <a:lnSpc>
                  <a:spcPct val="110000"/>
                </a:lnSpc>
                <a:spcBef>
                  <a:spcPct val="200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 sz="1200" spc="-15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076325" indent="-252000">
                <a:lnSpc>
                  <a:spcPct val="130000"/>
                </a:lnSpc>
                <a:spcBef>
                  <a:spcPct val="20000"/>
                </a:spcBef>
                <a:buSzPct val="100000"/>
                <a:buFont typeface="+mj-lt"/>
                <a:buAutoNum type="arabicPeriod"/>
                <a:defRPr sz="1400" spc="-120" baseline="0">
                  <a:solidFill>
                    <a:srgbClr val="1E1E2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343025" indent="-266700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2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1619250" indent="-276225">
                <a:lnSpc>
                  <a:spcPct val="130000"/>
                </a:lnSpc>
                <a:spcBef>
                  <a:spcPct val="20000"/>
                </a:spcBef>
                <a:buFont typeface="+mj-lt"/>
                <a:buAutoNum type="arabicPeriod"/>
                <a:defRPr sz="100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vl="1"/>
              <a:r>
                <a:rPr lang="ko-KR" altLang="en-US" dirty="0"/>
                <a:t>나는 현업에서 이 과정을</a:t>
              </a:r>
              <a:r>
                <a:rPr lang="en-US" altLang="ko-KR" dirty="0"/>
                <a:t>/ </a:t>
              </a:r>
              <a:r>
                <a:rPr lang="ko-KR" altLang="en-US" dirty="0"/>
                <a:t>이 과정 중 어떤 부분을 적용할 수 있을까</a:t>
              </a:r>
              <a:r>
                <a:rPr lang="en-US" altLang="ko-KR" dirty="0"/>
                <a:t>? </a:t>
              </a:r>
            </a:p>
            <a:p>
              <a:pPr lvl="1"/>
              <a:r>
                <a:rPr lang="ko-KR" altLang="en-US" dirty="0"/>
                <a:t>가능하다면 어느 부분이 개선이 되어야 할까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다음 </a:t>
              </a:r>
              <a:r>
                <a:rPr lang="en-US" altLang="ko-KR" dirty="0"/>
                <a:t>AA </a:t>
              </a:r>
              <a:r>
                <a:rPr lang="ko-KR" altLang="en-US" dirty="0"/>
                <a:t>과정을 위해 미리 준비해야 할 것 한가지</a:t>
              </a:r>
            </a:p>
            <a:p>
              <a:pPr lvl="1"/>
              <a:r>
                <a:rPr lang="ko-KR" altLang="en-US" dirty="0"/>
                <a:t>현업에서 이 기법을 적용해서 좋은 성과를 얻기 위해서는 어떻게 해야 할까요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처음부터 개발하는 것이 아니라</a:t>
              </a:r>
              <a:r>
                <a:rPr lang="en-US" altLang="ko-KR" dirty="0"/>
                <a:t>, </a:t>
              </a:r>
              <a:r>
                <a:rPr lang="ko-KR" altLang="en-US" dirty="0"/>
                <a:t>특정 부분만 개발하거나 또는 </a:t>
              </a:r>
              <a:r>
                <a:rPr lang="en-US" altLang="ko-KR" dirty="0"/>
                <a:t>open source / </a:t>
              </a:r>
              <a:r>
                <a:rPr lang="ko-KR" altLang="en-US" dirty="0" err="1"/>
                <a:t>구글링</a:t>
              </a:r>
              <a:r>
                <a:rPr lang="ko-KR" altLang="en-US" dirty="0"/>
                <a:t> 등 기존 코드로부터 개발을 시작하는 경우에는</a:t>
              </a:r>
              <a:r>
                <a:rPr lang="en-US" altLang="ko-KR" dirty="0"/>
                <a:t>, OOPT(UP)</a:t>
              </a:r>
              <a:r>
                <a:rPr lang="ko-KR" altLang="en-US" dirty="0"/>
                <a:t>를 어떻게 수정</a:t>
              </a:r>
              <a:r>
                <a:rPr lang="en-US" altLang="ko-KR" dirty="0"/>
                <a:t>·</a:t>
              </a:r>
              <a:r>
                <a:rPr lang="ko-KR" altLang="en-US" dirty="0"/>
                <a:t>확장하면 좋을까요</a:t>
              </a:r>
              <a:r>
                <a:rPr lang="en-US" altLang="ko-KR" dirty="0"/>
                <a:t>?</a:t>
              </a:r>
            </a:p>
            <a:p>
              <a:pPr lvl="1"/>
              <a:r>
                <a:rPr lang="ko-KR" altLang="en-US" dirty="0"/>
                <a:t>기타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5815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 err="1"/>
              <a:t>팀과제</a:t>
            </a:r>
            <a:r>
              <a:rPr lang="ko-KR" altLang="en-US" dirty="0"/>
              <a:t> 진행 회고 예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80154" y="699151"/>
            <a:ext cx="2123979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buNone/>
            </a:pP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지난 </a:t>
            </a: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3</a:t>
            </a:r>
            <a:r>
              <a:rPr lang="ko-KR" altLang="en-US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일간의 실습 과정 회고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87" y="1275606"/>
            <a:ext cx="4311540" cy="27650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275606"/>
            <a:ext cx="4119358" cy="18876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1" y="3147814"/>
            <a:ext cx="3051999" cy="17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17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5387988" cy="53389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과정정리</a:t>
            </a:r>
          </a:p>
        </p:txBody>
      </p:sp>
    </p:spTree>
    <p:extLst>
      <p:ext uri="{BB962C8B-B14F-4D97-AF65-F5344CB8AC3E}">
        <p14:creationId xmlns:p14="http://schemas.microsoft.com/office/powerpoint/2010/main" val="22750644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808" y="1995686"/>
            <a:ext cx="3376520" cy="630667"/>
          </a:xfrm>
          <a:prstGeom prst="rect">
            <a:avLst/>
          </a:prstGeom>
          <a:noFill/>
        </p:spPr>
        <p:txBody>
          <a:bodyPr wrap="square" lIns="0" tIns="37964" rIns="75927" bIns="37964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95E9EB"/>
                </a:solidFill>
                <a:latin typeface="+mj-lt"/>
                <a:ea typeface="맑은 고딕" panose="020B0503020000020004" pitchFamily="50" charset="-127"/>
              </a:rPr>
              <a:t>수고하셨습니다</a:t>
            </a:r>
            <a:r>
              <a:rPr lang="en-US" altLang="ko-KR" sz="3600" b="1" dirty="0">
                <a:solidFill>
                  <a:srgbClr val="95E9EB"/>
                </a:solidFill>
                <a:latin typeface="+mj-lt"/>
                <a:ea typeface="맑은 고딕" panose="020B0503020000020004" pitchFamily="50" charset="-127"/>
              </a:rPr>
              <a:t>.</a:t>
            </a:r>
            <a:endParaRPr lang="ko-KR" altLang="en-US" sz="3600" b="1" dirty="0">
              <a:solidFill>
                <a:srgbClr val="95E9EB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5571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6420" y="123478"/>
            <a:ext cx="5387988" cy="533895"/>
          </a:xfrm>
        </p:spPr>
        <p:txBody>
          <a:bodyPr>
            <a:normAutofit fontScale="90000"/>
          </a:bodyPr>
          <a:lstStyle/>
          <a:p>
            <a:r>
              <a:rPr lang="en-US" altLang="ko-KR" u="sng" dirty="0"/>
              <a:t>revision</a:t>
            </a:r>
            <a:endParaRPr lang="ko-KR" altLang="en-US" u="sng" dirty="0"/>
          </a:p>
        </p:txBody>
      </p:sp>
      <p:sp>
        <p:nvSpPr>
          <p:cNvPr id="3" name="내용 개체 틀 2"/>
          <p:cNvSpPr txBox="1">
            <a:spLocks/>
          </p:cNvSpPr>
          <p:nvPr/>
        </p:nvSpPr>
        <p:spPr>
          <a:xfrm>
            <a:off x="2915816" y="771550"/>
            <a:ext cx="6048672" cy="41644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2023.12 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첨단기술아카데미 초안 개발</a:t>
            </a:r>
            <a:endParaRPr lang="en-US" altLang="ko-KR" sz="14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2024.03 24-1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강의 결과 반영</a:t>
            </a: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배선욱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sequence/class diagram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가이드 추가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김상훈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25" dirty="0" err="1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RUP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개념 소개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UML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작성 목적 추가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실습순서 오류 수정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마용재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25" dirty="0" err="1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overview,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 추가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호종현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시간표 추가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Appendix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(UP,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특성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Use Case Diagram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김영현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25" spc="-60" dirty="0" err="1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OOAD</a:t>
            </a:r>
            <a:r>
              <a:rPr lang="en-US" altLang="ko-KR" sz="1025" spc="-6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25" spc="-6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025" spc="-6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(Play a Dice Game), Traceability - Cucumber Framework TC </a:t>
            </a:r>
            <a:r>
              <a:rPr lang="ko-KR" altLang="en-US" sz="1025" spc="-60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추가</a:t>
            </a:r>
            <a:endParaRPr lang="en-US" altLang="ko-KR" sz="1025" spc="-60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2024.04 24-2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강의 결과 반영</a:t>
            </a: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호종현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Domain Model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변경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(operation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없는 그림으로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김영현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Advanced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안내 위치 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일차로 변경</a:t>
            </a:r>
            <a:endParaRPr lang="en-US" altLang="ko-KR" sz="1025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2025.01 OOAD 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요구공학 순서 변경</a:t>
            </a: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별도 제공 반영</a:t>
            </a:r>
            <a:endParaRPr lang="en-US" altLang="ko-KR" sz="14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2025.02 25-1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강의 결과 반영</a:t>
            </a:r>
            <a:r>
              <a:rPr lang="en-US" altLang="ko-KR" sz="20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20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김영현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SW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개발방법론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(OOAD)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목적 추가</a:t>
            </a:r>
            <a:endParaRPr lang="en-US" altLang="ko-KR" sz="1025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r>
              <a:rPr lang="ko-KR" altLang="en-US" sz="1025" dirty="0" err="1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마용재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Class Diagram Notation 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lang="en-US" altLang="ko-KR" sz="1025" dirty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57042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6420" y="123478"/>
            <a:ext cx="5387988" cy="533895"/>
          </a:xfrm>
        </p:spPr>
        <p:txBody>
          <a:bodyPr>
            <a:normAutofit fontScale="90000"/>
          </a:bodyPr>
          <a:lstStyle/>
          <a:p>
            <a:r>
              <a:rPr lang="en-US" altLang="ko-KR" u="sng" dirty="0"/>
              <a:t>revision</a:t>
            </a:r>
            <a:endParaRPr lang="ko-KR" altLang="en-US" u="sng" dirty="0"/>
          </a:p>
        </p:txBody>
      </p:sp>
      <p:sp>
        <p:nvSpPr>
          <p:cNvPr id="3" name="내용 개체 틀 2"/>
          <p:cNvSpPr txBox="1">
            <a:spLocks/>
          </p:cNvSpPr>
          <p:nvPr/>
        </p:nvSpPr>
        <p:spPr>
          <a:xfrm>
            <a:off x="2915816" y="771550"/>
            <a:ext cx="6048672" cy="6286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15082">
              <a:lnSpc>
                <a:spcPct val="160000"/>
              </a:lnSpc>
              <a:buNone/>
            </a:pPr>
            <a:r>
              <a:rPr lang="en-US" altLang="ko-KR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2025.08 OOAD </a:t>
            </a:r>
            <a:r>
              <a:rPr lang="ko-KR" altLang="en-US" sz="1400" b="1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온라인 강의 테이블 반영</a:t>
            </a:r>
            <a:endParaRPr lang="en-US" altLang="ko-KR" sz="1400" b="1" dirty="0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715082">
              <a:lnSpc>
                <a:spcPct val="160000"/>
              </a:lnSpc>
              <a:buNone/>
            </a:pPr>
            <a:endParaRPr lang="en-US" altLang="ko-KR" sz="1025" dirty="0"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4565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861D462-8FD8-6160-097F-00BDE1B5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85A7EF8-9497-2B9D-6DC0-E561FA9F5C33}"/>
              </a:ext>
            </a:extLst>
          </p:cNvPr>
          <p:cNvSpPr txBox="1"/>
          <p:nvPr/>
        </p:nvSpPr>
        <p:spPr>
          <a:xfrm>
            <a:off x="2843808" y="1995686"/>
            <a:ext cx="3376520" cy="630667"/>
          </a:xfrm>
          <a:prstGeom prst="rect">
            <a:avLst/>
          </a:prstGeom>
          <a:noFill/>
        </p:spPr>
        <p:txBody>
          <a:bodyPr wrap="square" lIns="0" tIns="37964" rIns="75927" bIns="37964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95E9EB"/>
                </a:solidFill>
                <a:latin typeface="+mj-lt"/>
                <a:ea typeface="맑은 고딕" panose="020B0503020000020004" pitchFamily="50" charset="-127"/>
              </a:rPr>
              <a:t>Appendix</a:t>
            </a:r>
            <a:endParaRPr lang="ko-KR" altLang="en-US" sz="3600" b="1" dirty="0">
              <a:solidFill>
                <a:srgbClr val="95E9EB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56393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8EB831-3FC1-433E-B933-441D09E5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03C7312-7A5B-F4DE-4E69-4917C8B4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특성 </a:t>
            </a:r>
            <a:r>
              <a:rPr lang="en-US" altLang="ko-KR" dirty="0"/>
              <a:t>(ISO/IEC 9126)</a:t>
            </a:r>
            <a:endParaRPr lang="ko-KR" altLang="en-US" dirty="0"/>
          </a:p>
        </p:txBody>
      </p:sp>
      <p:pic>
        <p:nvPicPr>
          <p:cNvPr id="1026" name="Picture 2" descr="isoiec">
            <a:extLst>
              <a:ext uri="{FF2B5EF4-FFF2-40B4-BE49-F238E27FC236}">
                <a16:creationId xmlns="" xmlns:a16="http://schemas.microsoft.com/office/drawing/2014/main" id="{C32822A6-9330-5081-C8E2-31494566E3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764" y="699542"/>
            <a:ext cx="6840760" cy="40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6985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8DACF0-A719-579B-33D5-FFCB18EC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10E63D8-6C43-C80A-F88B-E64B7770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특성 </a:t>
            </a:r>
            <a:r>
              <a:rPr lang="en-US" altLang="ko-KR" dirty="0"/>
              <a:t>(ISO/IEC 25010)</a:t>
            </a:r>
            <a:endParaRPr lang="ko-KR" altLang="en-US" dirty="0"/>
          </a:p>
        </p:txBody>
      </p:sp>
      <p:pic>
        <p:nvPicPr>
          <p:cNvPr id="2050" name="Picture 2" descr="isoiec2">
            <a:extLst>
              <a:ext uri="{FF2B5EF4-FFF2-40B4-BE49-F238E27FC236}">
                <a16:creationId xmlns="" xmlns:a16="http://schemas.microsoft.com/office/drawing/2014/main" id="{E4DE48A4-6123-1968-337C-8721FCB9CD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02" y="720487"/>
            <a:ext cx="6823794" cy="422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9158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A326FF4-316F-5C16-4F29-0593F39A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</a:t>
            </a:r>
            <a:r>
              <a:rPr lang="ko-KR" altLang="en-US" dirty="0"/>
              <a:t> 다이어그램의 관계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="" xmlns:a16="http://schemas.microsoft.com/office/drawing/2014/main" id="{4A3C2F62-BDB1-8F8E-E3F6-10E70DEF412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00" y="843558"/>
            <a:ext cx="7560000" cy="3960000"/>
          </a:xfrm>
        </p:spPr>
      </p:pic>
    </p:spTree>
    <p:extLst>
      <p:ext uri="{BB962C8B-B14F-4D97-AF65-F5344CB8AC3E}">
        <p14:creationId xmlns:p14="http://schemas.microsoft.com/office/powerpoint/2010/main" val="28333268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930E34E-E5B8-04D2-2C0C-D0D69980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D7E87E2-DE12-A9CE-75AE-CF910B9C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</a:t>
            </a:r>
            <a:r>
              <a:rPr lang="ko-KR" altLang="en-US" dirty="0"/>
              <a:t> 다이어그램의 관계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="" xmlns:a16="http://schemas.microsoft.com/office/drawing/2014/main" id="{FA47BB2D-C014-F4AD-F9CE-4253F6DAC08D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00" y="900000"/>
            <a:ext cx="7560000" cy="3960000"/>
          </a:xfrm>
        </p:spPr>
      </p:pic>
    </p:spTree>
    <p:extLst>
      <p:ext uri="{BB962C8B-B14F-4D97-AF65-F5344CB8AC3E}">
        <p14:creationId xmlns:p14="http://schemas.microsoft.com/office/powerpoint/2010/main" val="41220939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752568D-5C53-63BF-1AE4-13521D42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A52542D-DBDE-D837-708B-8BE02908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</a:t>
            </a:r>
            <a:r>
              <a:rPr lang="ko-KR" altLang="en-US" dirty="0"/>
              <a:t> 다이어그램의 관계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="" xmlns:a16="http://schemas.microsoft.com/office/drawing/2014/main" id="{797C49DE-3760-3D95-4668-E7D694318DE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00" y="900000"/>
            <a:ext cx="7560000" cy="3960000"/>
          </a:xfrm>
        </p:spPr>
      </p:pic>
    </p:spTree>
    <p:extLst>
      <p:ext uri="{BB962C8B-B14F-4D97-AF65-F5344CB8AC3E}">
        <p14:creationId xmlns:p14="http://schemas.microsoft.com/office/powerpoint/2010/main" val="17524771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1FD7CED-583E-B171-4E23-ECE51FAF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117A0E6-4C04-E326-A6D3-E3F7F3B5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</a:t>
            </a:r>
            <a:r>
              <a:rPr lang="ko-KR" altLang="en-US" dirty="0"/>
              <a:t> 다이어그램의 관계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="" xmlns:a16="http://schemas.microsoft.com/office/drawing/2014/main" id="{CADE067A-6194-6D99-CAD9-4FC9EF4F4CFD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00" y="900000"/>
            <a:ext cx="7560000" cy="3960000"/>
          </a:xfrm>
        </p:spPr>
      </p:pic>
    </p:spTree>
    <p:extLst>
      <p:ext uri="{BB962C8B-B14F-4D97-AF65-F5344CB8AC3E}">
        <p14:creationId xmlns:p14="http://schemas.microsoft.com/office/powerpoint/2010/main" val="15935910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</a:t>
            </a:r>
            <a:r>
              <a:rPr lang="ko-KR" altLang="en-US" dirty="0"/>
              <a:t> 다이어그램의 관계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="" xmlns:a16="http://schemas.microsoft.com/office/drawing/2014/main" id="{ED9657AE-1593-DFF7-E1F3-ACEF0AB30930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000" y="900000"/>
            <a:ext cx="7560000" cy="3960000"/>
          </a:xfrm>
        </p:spPr>
      </p:pic>
    </p:spTree>
    <p:extLst>
      <p:ext uri="{BB962C8B-B14F-4D97-AF65-F5344CB8AC3E}">
        <p14:creationId xmlns:p14="http://schemas.microsoft.com/office/powerpoint/2010/main" val="1457958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E4C401-F123-B9AD-A2D3-EE416C96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C4EED4-367F-CF3E-62BC-3B5F9A95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UP </a:t>
            </a:r>
            <a:r>
              <a:rPr lang="ko-KR" altLang="en-US" dirty="0"/>
              <a:t>주요 활용 분야 </a:t>
            </a:r>
            <a:r>
              <a:rPr lang="en-US" altLang="ko-KR" dirty="0"/>
              <a:t>(Discipline)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="" xmlns:a16="http://schemas.microsoft.com/office/drawing/2014/main" id="{21B74033-BBAA-C340-20E6-E26645859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908050"/>
            <a:ext cx="6321951" cy="3751263"/>
          </a:xfrm>
        </p:spPr>
      </p:pic>
    </p:spTree>
    <p:extLst>
      <p:ext uri="{BB962C8B-B14F-4D97-AF65-F5344CB8AC3E}">
        <p14:creationId xmlns:p14="http://schemas.microsoft.com/office/powerpoint/2010/main" val="38560944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E2A20A65-5018-4CA0-B8A6-9681D1D7D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36091"/>
            <a:ext cx="2386454" cy="247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="" xmlns:a16="http://schemas.microsoft.com/office/drawing/2014/main" id="{3EDBA29E-2943-489B-BAA5-DF7ACD1C5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901" y="1736091"/>
            <a:ext cx="3769523" cy="263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212EE85D-B6AA-470B-8A62-8C8028018B89}"/>
              </a:ext>
            </a:extLst>
          </p:cNvPr>
          <p:cNvSpPr txBox="1"/>
          <p:nvPr/>
        </p:nvSpPr>
        <p:spPr>
          <a:xfrm>
            <a:off x="1281017" y="1372571"/>
            <a:ext cx="223224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lang="en-US" sz="1200" b="1" dirty="0">
                <a:solidFill>
                  <a:srgbClr val="2A2D72"/>
                </a:solidFill>
                <a:latin typeface="Malgun Gothic"/>
                <a:cs typeface="Malgun Gothic"/>
              </a:rPr>
              <a:t>[Class]</a:t>
            </a:r>
            <a:endParaRPr sz="1350" b="1" dirty="0">
              <a:solidFill>
                <a:srgbClr val="2A2D72"/>
              </a:solidFill>
              <a:latin typeface="Verdana"/>
              <a:cs typeface="Verdana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="" xmlns:a16="http://schemas.microsoft.com/office/drawing/2014/main" id="{0732A073-6CB7-4863-A121-7F65284C3F52}"/>
              </a:ext>
            </a:extLst>
          </p:cNvPr>
          <p:cNvSpPr txBox="1"/>
          <p:nvPr/>
        </p:nvSpPr>
        <p:spPr>
          <a:xfrm>
            <a:off x="5336915" y="1372571"/>
            <a:ext cx="223224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  <a:buClr>
                <a:srgbClr val="92D050"/>
              </a:buClr>
              <a:tabLst>
                <a:tab pos="273844" algn="l"/>
              </a:tabLst>
            </a:pPr>
            <a:r>
              <a:rPr lang="en-US" sz="1200" b="1" dirty="0">
                <a:solidFill>
                  <a:srgbClr val="2A2D72"/>
                </a:solidFill>
                <a:latin typeface="Malgun Gothic"/>
                <a:cs typeface="Malgun Gothic"/>
              </a:rPr>
              <a:t>[Relation]</a:t>
            </a:r>
            <a:endParaRPr sz="1350" b="1" dirty="0">
              <a:solidFill>
                <a:srgbClr val="2A2D72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633001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Generalization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일반화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="" xmlns:a16="http://schemas.microsoft.com/office/drawing/2014/main" id="{2315B07F-AA33-4AE0-9B9F-355C2D94B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24000"/>
            <a:ext cx="3224450" cy="268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C9B2F9-A541-455E-9544-683DA8748777}"/>
              </a:ext>
            </a:extLst>
          </p:cNvPr>
          <p:cNvSpPr txBox="1"/>
          <p:nvPr/>
        </p:nvSpPr>
        <p:spPr>
          <a:xfrm>
            <a:off x="5076825" y="1132767"/>
            <a:ext cx="31683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public class Person {</a:t>
            </a:r>
          </a:p>
          <a:p>
            <a:r>
              <a:rPr lang="en-US" altLang="ko-KR" sz="1200" dirty="0"/>
              <a:t>	private String name;</a:t>
            </a:r>
          </a:p>
          <a:p>
            <a:r>
              <a:rPr lang="en-US" altLang="ko-KR" sz="1200" dirty="0"/>
              <a:t>	private int age;</a:t>
            </a:r>
          </a:p>
          <a:p>
            <a:r>
              <a:rPr lang="en-US" altLang="ko-KR" sz="1200" dirty="0"/>
              <a:t>	private String address;</a:t>
            </a:r>
          </a:p>
          <a:p>
            <a:endParaRPr lang="en-US" altLang="ko-KR" sz="1200" dirty="0"/>
          </a:p>
          <a:p>
            <a:r>
              <a:rPr lang="en-US" altLang="ko-KR" sz="1200" dirty="0"/>
              <a:t>	public void eat() {</a:t>
            </a:r>
          </a:p>
          <a:p>
            <a:r>
              <a:rPr lang="en-US" altLang="ko-KR" sz="1200" dirty="0"/>
              <a:t>		//...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	public void sleep() {</a:t>
            </a:r>
          </a:p>
          <a:p>
            <a:r>
              <a:rPr lang="en-US" altLang="ko-KR" sz="1200" dirty="0"/>
              <a:t>		//...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class Student </a:t>
            </a:r>
            <a:r>
              <a:rPr lang="en-US" altLang="ko-KR" sz="1200" dirty="0">
                <a:solidFill>
                  <a:srgbClr val="FF0000"/>
                </a:solidFill>
              </a:rPr>
              <a:t>extends</a:t>
            </a:r>
            <a:r>
              <a:rPr lang="en-US" altLang="ko-KR" sz="1200" dirty="0"/>
              <a:t> Person {</a:t>
            </a:r>
          </a:p>
          <a:p>
            <a:r>
              <a:rPr lang="en-US" altLang="ko-KR" sz="1200" dirty="0"/>
              <a:t>	private Long </a:t>
            </a:r>
            <a:r>
              <a:rPr lang="en-US" altLang="ko-KR" sz="1200" dirty="0" err="1"/>
              <a:t>studentId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	private String major;</a:t>
            </a:r>
          </a:p>
          <a:p>
            <a:endParaRPr lang="en-US" altLang="ko-KR" sz="1200" dirty="0"/>
          </a:p>
          <a:p>
            <a:r>
              <a:rPr lang="en-US" altLang="ko-KR" sz="1200" dirty="0"/>
              <a:t>	public void study() {</a:t>
            </a:r>
          </a:p>
          <a:p>
            <a:r>
              <a:rPr lang="en-US" altLang="ko-KR" sz="1200" dirty="0"/>
              <a:t>		//...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774288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Realization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실체화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1B6B7F4E-0CF9-45CE-A600-943F1F190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1927"/>
            <a:ext cx="3177792" cy="269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3165C9A-15AF-4C6C-90B8-F9F3973EBC14}"/>
              </a:ext>
            </a:extLst>
          </p:cNvPr>
          <p:cNvSpPr txBox="1"/>
          <p:nvPr/>
        </p:nvSpPr>
        <p:spPr>
          <a:xfrm>
            <a:off x="5076825" y="1743955"/>
            <a:ext cx="40671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interface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00B0F0"/>
                </a:solidFill>
              </a:rPr>
              <a:t>ToDo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eat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sleep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}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implements</a:t>
            </a:r>
            <a:r>
              <a:rPr lang="ko-KR" altLang="en-US" sz="1200" dirty="0"/>
              <a:t> </a:t>
            </a:r>
            <a:r>
              <a:rPr lang="ko-KR" altLang="en-US" sz="1200" dirty="0" err="1">
                <a:solidFill>
                  <a:srgbClr val="00B0F0"/>
                </a:solidFill>
              </a:rPr>
              <a:t>ToDo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//...</a:t>
            </a:r>
          </a:p>
          <a:p>
            <a:endParaRPr lang="ko-KR" altLang="en-US" sz="1200" dirty="0"/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eat</a:t>
            </a:r>
            <a:r>
              <a:rPr lang="ko-KR" altLang="en-US" sz="1200" dirty="0"/>
              <a:t>()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("밥 먹기");</a:t>
            </a:r>
          </a:p>
          <a:p>
            <a:r>
              <a:rPr lang="ko-KR" altLang="en-US" sz="1200" dirty="0"/>
              <a:t>	}</a:t>
            </a:r>
          </a:p>
          <a:p>
            <a:endParaRPr lang="ko-KR" altLang="en-US" sz="1200" dirty="0"/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sleep</a:t>
            </a:r>
            <a:r>
              <a:rPr lang="ko-KR" altLang="en-US" sz="1200" dirty="0"/>
              <a:t>()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("잠 자기");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47752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Dependency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의존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41DDB69E-7CF7-448D-B12E-2D0CE4C0A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00637"/>
            <a:ext cx="3332351" cy="290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3D2413B-7B6B-4E9A-A924-E3631E302CCD}"/>
              </a:ext>
            </a:extLst>
          </p:cNvPr>
          <p:cNvSpPr txBox="1"/>
          <p:nvPr/>
        </p:nvSpPr>
        <p:spPr>
          <a:xfrm>
            <a:off x="5076825" y="1436287"/>
            <a:ext cx="358266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j-lt"/>
              </a:rPr>
              <a:t>public class Car {</a:t>
            </a:r>
          </a:p>
          <a:p>
            <a:r>
              <a:rPr lang="en-US" altLang="ko-KR" sz="1200" dirty="0">
                <a:latin typeface="+mj-lt"/>
              </a:rPr>
              <a:t>    private String </a:t>
            </a:r>
            <a:r>
              <a:rPr lang="en-US" altLang="ko-KR" sz="1200" dirty="0" err="1">
                <a:latin typeface="+mj-lt"/>
              </a:rPr>
              <a:t>carNumber</a:t>
            </a:r>
            <a:r>
              <a:rPr lang="en-US" altLang="ko-KR" sz="1200" dirty="0">
                <a:latin typeface="+mj-lt"/>
              </a:rPr>
              <a:t>;</a:t>
            </a:r>
          </a:p>
          <a:p>
            <a:r>
              <a:rPr lang="en-US" altLang="ko-KR" sz="1200" dirty="0">
                <a:latin typeface="+mj-lt"/>
              </a:rPr>
              <a:t>    private String model;</a:t>
            </a:r>
          </a:p>
          <a:p>
            <a:endParaRPr lang="en-US" altLang="ko-KR" sz="1200" dirty="0">
              <a:latin typeface="+mj-lt"/>
            </a:endParaRPr>
          </a:p>
          <a:p>
            <a:r>
              <a:rPr lang="en-US" altLang="ko-KR" sz="1200" dirty="0">
                <a:latin typeface="+mj-lt"/>
              </a:rPr>
              <a:t>    public void move() {</a:t>
            </a:r>
          </a:p>
          <a:p>
            <a:r>
              <a:rPr lang="en-US" altLang="ko-KR" sz="1200" dirty="0">
                <a:latin typeface="+mj-lt"/>
              </a:rPr>
              <a:t>		//...</a:t>
            </a:r>
          </a:p>
          <a:p>
            <a:r>
              <a:rPr lang="en-US" altLang="ko-KR" sz="1200" dirty="0">
                <a:latin typeface="+mj-lt"/>
              </a:rPr>
              <a:t>	}</a:t>
            </a:r>
          </a:p>
          <a:p>
            <a:r>
              <a:rPr lang="en-US" altLang="ko-KR" sz="1200" dirty="0">
                <a:latin typeface="+mj-lt"/>
              </a:rPr>
              <a:t>}</a:t>
            </a:r>
          </a:p>
          <a:p>
            <a:endParaRPr lang="en-US" altLang="ko-KR" sz="1200" dirty="0">
              <a:latin typeface="+mj-lt"/>
            </a:endParaRPr>
          </a:p>
          <a:p>
            <a:r>
              <a:rPr lang="en-US" altLang="ko-KR" sz="1200" dirty="0">
                <a:latin typeface="+mj-lt"/>
              </a:rPr>
              <a:t>public class Person {</a:t>
            </a:r>
          </a:p>
          <a:p>
            <a:r>
              <a:rPr lang="en-US" altLang="ko-KR" sz="1200" dirty="0">
                <a:latin typeface="+mj-lt"/>
              </a:rPr>
              <a:t>    //...</a:t>
            </a:r>
          </a:p>
          <a:p>
            <a:endParaRPr lang="en-US" altLang="ko-KR" sz="1200" dirty="0">
              <a:latin typeface="+mj-lt"/>
            </a:endParaRPr>
          </a:p>
          <a:p>
            <a:r>
              <a:rPr lang="en-US" altLang="ko-KR" sz="1200" dirty="0">
                <a:latin typeface="+mj-lt"/>
              </a:rPr>
              <a:t>    public void drive(</a:t>
            </a:r>
            <a:r>
              <a:rPr lang="en-US" altLang="ko-KR" sz="1200" dirty="0">
                <a:solidFill>
                  <a:srgbClr val="FF0000"/>
                </a:solidFill>
                <a:latin typeface="+mj-lt"/>
              </a:rPr>
              <a:t>Car car</a:t>
            </a:r>
            <a:r>
              <a:rPr lang="en-US" altLang="ko-KR" sz="1200" dirty="0">
                <a:latin typeface="+mj-lt"/>
              </a:rPr>
              <a:t>) {</a:t>
            </a:r>
          </a:p>
          <a:p>
            <a:r>
              <a:rPr lang="en-US" altLang="ko-KR" sz="1200" dirty="0">
                <a:latin typeface="+mj-lt"/>
              </a:rPr>
              <a:t>        </a:t>
            </a:r>
            <a:r>
              <a:rPr lang="en-US" altLang="ko-KR" sz="1200" dirty="0" err="1">
                <a:latin typeface="+mj-lt"/>
              </a:rPr>
              <a:t>System.out.println</a:t>
            </a:r>
            <a:r>
              <a:rPr lang="en-US" altLang="ko-KR" sz="1200" dirty="0">
                <a:latin typeface="+mj-lt"/>
              </a:rPr>
              <a:t>("</a:t>
            </a:r>
            <a:r>
              <a:rPr lang="ko-KR" altLang="en-US" sz="1200" dirty="0">
                <a:latin typeface="+mj-lt"/>
              </a:rPr>
              <a:t>신나는 드라이브</a:t>
            </a:r>
            <a:r>
              <a:rPr lang="en-US" altLang="ko-KR" sz="1200" dirty="0">
                <a:latin typeface="+mj-lt"/>
              </a:rPr>
              <a:t>");</a:t>
            </a:r>
          </a:p>
          <a:p>
            <a:r>
              <a:rPr lang="en-US" altLang="ko-KR" sz="1200" dirty="0">
                <a:latin typeface="+mj-lt"/>
              </a:rPr>
              <a:t>        </a:t>
            </a:r>
            <a:r>
              <a:rPr lang="en-US" altLang="ko-KR" sz="1200" dirty="0" err="1">
                <a:latin typeface="+mj-lt"/>
              </a:rPr>
              <a:t>car.move</a:t>
            </a:r>
            <a:r>
              <a:rPr lang="en-US" altLang="ko-KR" sz="1200" dirty="0">
                <a:latin typeface="+mj-lt"/>
              </a:rPr>
              <a:t>();</a:t>
            </a:r>
          </a:p>
          <a:p>
            <a:r>
              <a:rPr lang="en-US" altLang="ko-KR" sz="1200" dirty="0">
                <a:latin typeface="+mj-lt"/>
              </a:rPr>
              <a:t>    }</a:t>
            </a:r>
          </a:p>
          <a:p>
            <a:r>
              <a:rPr lang="en-US" altLang="ko-KR" sz="1200" dirty="0">
                <a:latin typeface="+mj-lt"/>
              </a:rPr>
              <a:t>}</a:t>
            </a:r>
            <a:endParaRPr lang="ko-KR" alt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82330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Association &amp; Direct Association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연관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&amp; 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직접 연관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3D2413B-7B6B-4E9A-A924-E3631E302CCD}"/>
              </a:ext>
            </a:extLst>
          </p:cNvPr>
          <p:cNvSpPr txBox="1"/>
          <p:nvPr/>
        </p:nvSpPr>
        <p:spPr>
          <a:xfrm>
            <a:off x="5076056" y="1635646"/>
            <a:ext cx="358266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public class Subject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    private List&lt;</a:t>
            </a:r>
            <a:r>
              <a:rPr lang="en-US" altLang="ko-KR" sz="1200" dirty="0">
                <a:solidFill>
                  <a:srgbClr val="FF0000"/>
                </a:solidFill>
              </a:rPr>
              <a:t>Student</a:t>
            </a:r>
            <a:r>
              <a:rPr lang="en-US" altLang="ko-KR" sz="1200" dirty="0"/>
              <a:t>&gt; </a:t>
            </a:r>
            <a:r>
              <a:rPr lang="en-US" altLang="ko-KR" sz="1200" dirty="0" err="1"/>
              <a:t>studentList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public void </a:t>
            </a:r>
            <a:r>
              <a:rPr lang="en-US" altLang="ko-KR" sz="1200" dirty="0" err="1"/>
              <a:t>addStudent</a:t>
            </a:r>
            <a:r>
              <a:rPr lang="en-US" altLang="ko-KR" sz="1200" dirty="0"/>
              <a:t>(Student student) {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studentList.add</a:t>
            </a:r>
            <a:r>
              <a:rPr lang="en-US" altLang="ko-KR" sz="1200" dirty="0"/>
              <a:t>(student);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class Student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    private List&lt;</a:t>
            </a:r>
            <a:r>
              <a:rPr lang="en-US" altLang="ko-KR" sz="1200" dirty="0">
                <a:solidFill>
                  <a:srgbClr val="FF0000"/>
                </a:solidFill>
              </a:rPr>
              <a:t>Subject</a:t>
            </a:r>
            <a:r>
              <a:rPr lang="en-US" altLang="ko-KR" sz="1200" dirty="0"/>
              <a:t>&gt; </a:t>
            </a:r>
            <a:r>
              <a:rPr lang="en-US" altLang="ko-KR" sz="1200" dirty="0" err="1"/>
              <a:t>subjectList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public void </a:t>
            </a:r>
            <a:r>
              <a:rPr lang="en-US" altLang="ko-KR" sz="1200" dirty="0" err="1"/>
              <a:t>addSubject</a:t>
            </a:r>
            <a:r>
              <a:rPr lang="en-US" altLang="ko-KR" sz="1200" dirty="0"/>
              <a:t>(Subject subject) {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subjectList.add</a:t>
            </a:r>
            <a:r>
              <a:rPr lang="en-US" altLang="ko-KR" sz="1200" dirty="0"/>
              <a:t>(subject);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76A9BD9F-F195-4220-BFCB-E33FCE255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7694"/>
            <a:ext cx="3528947" cy="160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440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Aggregation 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집약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3D2413B-7B6B-4E9A-A924-E3631E302CCD}"/>
              </a:ext>
            </a:extLst>
          </p:cNvPr>
          <p:cNvSpPr txBox="1"/>
          <p:nvPr/>
        </p:nvSpPr>
        <p:spPr>
          <a:xfrm>
            <a:off x="5076056" y="1635646"/>
            <a:ext cx="3582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public class Car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    private </a:t>
            </a:r>
            <a:r>
              <a:rPr lang="en-US" altLang="ko-KR" sz="1200" dirty="0">
                <a:solidFill>
                  <a:srgbClr val="FF0000"/>
                </a:solidFill>
              </a:rPr>
              <a:t>Engine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engine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    private </a:t>
            </a:r>
            <a:r>
              <a:rPr lang="en-US" altLang="ko-KR" sz="1200" dirty="0">
                <a:solidFill>
                  <a:srgbClr val="FF0000"/>
                </a:solidFill>
              </a:rPr>
              <a:t>Radio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radio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public Car(</a:t>
            </a:r>
            <a:r>
              <a:rPr lang="en-US" altLang="ko-KR" sz="1200" dirty="0">
                <a:solidFill>
                  <a:srgbClr val="FF0000"/>
                </a:solidFill>
              </a:rPr>
              <a:t>Engine </a:t>
            </a:r>
            <a:r>
              <a:rPr lang="en-US" altLang="ko-KR" sz="1200" dirty="0" err="1">
                <a:solidFill>
                  <a:srgbClr val="FF0000"/>
                </a:solidFill>
              </a:rPr>
              <a:t>engine</a:t>
            </a:r>
            <a:r>
              <a:rPr lang="en-US" altLang="ko-KR" sz="1200" dirty="0">
                <a:solidFill>
                  <a:srgbClr val="FF0000"/>
                </a:solidFill>
              </a:rPr>
              <a:t>, Radio radio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this.engine</a:t>
            </a:r>
            <a:r>
              <a:rPr lang="en-US" altLang="ko-KR" sz="1200" dirty="0"/>
              <a:t> = engine;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this.radio</a:t>
            </a:r>
            <a:r>
              <a:rPr lang="en-US" altLang="ko-KR" sz="1200" dirty="0"/>
              <a:t> = radio;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class Engine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class Radio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1A64178-1826-4C5F-AAC2-C0D0BFF29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07401"/>
            <a:ext cx="3261914" cy="298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1661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D640FB-A836-4A5E-AD5F-A7A4F56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EC29F9-B5DB-DDE6-301F-CB129600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ko-KR" altLang="en-US" dirty="0"/>
              <a:t> 다이어그램 </a:t>
            </a:r>
            <a:r>
              <a:rPr lang="en-US" altLang="ko-KR" dirty="0"/>
              <a:t>Notation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1E9F1ED-1334-4ACF-BAE2-5490A44DACC2}"/>
              </a:ext>
            </a:extLst>
          </p:cNvPr>
          <p:cNvSpPr/>
          <p:nvPr/>
        </p:nvSpPr>
        <p:spPr>
          <a:xfrm>
            <a:off x="395536" y="679797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5082">
              <a:spcBef>
                <a:spcPct val="20000"/>
              </a:spcBef>
            </a:pPr>
            <a:r>
              <a:rPr lang="en-US" altLang="ko-KR" sz="1400" b="1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Composition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 (</a:t>
            </a:r>
            <a:r>
              <a:rPr lang="ko-KR" altLang="en-US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합성</a:t>
            </a:r>
            <a:r>
              <a:rPr lang="en-US" altLang="ko-KR" sz="1400" spc="-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3D2413B-7B6B-4E9A-A924-E3631E302CCD}"/>
              </a:ext>
            </a:extLst>
          </p:cNvPr>
          <p:cNvSpPr txBox="1"/>
          <p:nvPr/>
        </p:nvSpPr>
        <p:spPr>
          <a:xfrm>
            <a:off x="5076056" y="1635646"/>
            <a:ext cx="3582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public class Car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    private </a:t>
            </a:r>
            <a:r>
              <a:rPr lang="en-US" altLang="ko-KR" sz="1200" dirty="0">
                <a:solidFill>
                  <a:srgbClr val="FF0000"/>
                </a:solidFill>
              </a:rPr>
              <a:t>Engine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engine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    private </a:t>
            </a:r>
            <a:r>
              <a:rPr lang="en-US" altLang="ko-KR" sz="1200" dirty="0">
                <a:solidFill>
                  <a:srgbClr val="FF0000"/>
                </a:solidFill>
              </a:rPr>
              <a:t>Radio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radio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public Car() {</a:t>
            </a:r>
          </a:p>
          <a:p>
            <a:r>
              <a:rPr lang="en-US" altLang="ko-KR" sz="1200" dirty="0"/>
              <a:t>	engine = </a:t>
            </a:r>
            <a:r>
              <a:rPr lang="en-US" altLang="ko-KR" sz="1200" dirty="0">
                <a:solidFill>
                  <a:srgbClr val="FF0000"/>
                </a:solidFill>
              </a:rPr>
              <a:t>new</a:t>
            </a:r>
            <a:r>
              <a:rPr lang="en-US" altLang="ko-KR" sz="1200" dirty="0"/>
              <a:t> Engine();</a:t>
            </a:r>
          </a:p>
          <a:p>
            <a:r>
              <a:rPr lang="en-US" altLang="ko-KR" sz="1200" dirty="0"/>
              <a:t>	radio = </a:t>
            </a:r>
            <a:r>
              <a:rPr lang="en-US" altLang="ko-KR" sz="1200" dirty="0">
                <a:solidFill>
                  <a:srgbClr val="FF0000"/>
                </a:solidFill>
              </a:rPr>
              <a:t>new</a:t>
            </a:r>
            <a:r>
              <a:rPr lang="en-US" altLang="ko-KR" sz="1200" dirty="0"/>
              <a:t> Radio();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class Engine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}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class Radio {</a:t>
            </a:r>
          </a:p>
          <a:p>
            <a:r>
              <a:rPr lang="en-US" altLang="ko-KR" sz="1200" dirty="0"/>
              <a:t>    //...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920ECA74-1CB4-4CB3-A0E5-5EECD59CA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9662"/>
            <a:ext cx="3097469" cy="257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50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156BD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bg1"/>
        </a:solidFill>
      </a:spPr>
      <a:bodyPr wrap="square">
        <a:spAutoFit/>
      </a:bodyPr>
      <a:lstStyle>
        <a:defPPr algn="l">
          <a:defRPr sz="800" spc="-100" dirty="0" smtClean="0">
            <a:ln>
              <a:solidFill>
                <a:srgbClr val="5B9BD5">
                  <a:alpha val="0"/>
                </a:srgbClr>
              </a:solidFill>
            </a:ln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9370</TotalTime>
  <Words>3991</Words>
  <Application>Microsoft Office PowerPoint</Application>
  <PresentationFormat>화면 슬라이드 쇼(16:9)</PresentationFormat>
  <Paragraphs>712</Paragraphs>
  <Slides>100</Slides>
  <Notes>20</Notes>
  <HiddenSlides>8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2" baseType="lpstr">
      <vt:lpstr>Office 테마</vt:lpstr>
      <vt:lpstr>프레젠테이션</vt:lpstr>
      <vt:lpstr>OOAD (Day1)</vt:lpstr>
      <vt:lpstr>강사 소개</vt:lpstr>
      <vt:lpstr>교육안내 실습환경 세팅 및 tool 사용연습 영상학습 조별활동 안내</vt:lpstr>
      <vt:lpstr>OOAD 일정 안내</vt:lpstr>
      <vt:lpstr>OOAD 일정 안내: 상세 커리큘럼</vt:lpstr>
      <vt:lpstr>OOAD Overview</vt:lpstr>
      <vt:lpstr>OOAD Overview - 단계별 다이어그램</vt:lpstr>
      <vt:lpstr>OOAD Overview </vt:lpstr>
      <vt:lpstr>OOAD 예시 - Play a Dice Game!</vt:lpstr>
      <vt:lpstr>OOAD 예시 - Play a Dice Game! (OOA)</vt:lpstr>
      <vt:lpstr>OOAD 예시 - Play a Dice Game! (OOD)</vt:lpstr>
      <vt:lpstr>SW개발 방법론 - RUP (Rational Unified Process)</vt:lpstr>
      <vt:lpstr>SW개발 방법론 - OOPT</vt:lpstr>
      <vt:lpstr>SW개발 방법론</vt:lpstr>
      <vt:lpstr>UML</vt:lpstr>
      <vt:lpstr>과정 목표</vt:lpstr>
      <vt:lpstr>[환경설정] 실습환경 Setting</vt:lpstr>
      <vt:lpstr>[필수]  1.1 An Introduction to OOAD - OOAD (46min) 1.3 An Introduction to OOAD - OOPT (24min) 2.2 An Introduction to UML - Case Study with UML (26min) 3.1 OOA - Use Case (35min)   [추가학습] 1.2 An Introduction to OOAD - UP (40min)</vt:lpstr>
      <vt:lpstr>PowerPoint 프레젠테이션</vt:lpstr>
      <vt:lpstr>실습 안내</vt:lpstr>
      <vt:lpstr>실습 - OOPT of OOAD (주요활동 3 단계)</vt:lpstr>
      <vt:lpstr>실습 - 산출물 리스트</vt:lpstr>
      <vt:lpstr>실습 - 산출물 목표</vt:lpstr>
      <vt:lpstr>1. Requirements</vt:lpstr>
      <vt:lpstr>2. Use Case Diagram</vt:lpstr>
      <vt:lpstr>2. Use Case - Brief Form</vt:lpstr>
      <vt:lpstr>3. Fully Dressed-up Form</vt:lpstr>
      <vt:lpstr>3. Fully Dressed-up Form</vt:lpstr>
      <vt:lpstr>4. Domain Model</vt:lpstr>
      <vt:lpstr>4. Domain Model - Conceptual Class 찾기</vt:lpstr>
      <vt:lpstr>5. System Sequence Diagram</vt:lpstr>
      <vt:lpstr>5. System Sequence Diagram</vt:lpstr>
      <vt:lpstr>6. Sequence Diagram</vt:lpstr>
      <vt:lpstr>7. Class Diagram</vt:lpstr>
      <vt:lpstr>8. Traceability</vt:lpstr>
      <vt:lpstr>8. Traceability in Action</vt:lpstr>
      <vt:lpstr>8. Traceability in Action</vt:lpstr>
      <vt:lpstr>9. Glossary</vt:lpstr>
      <vt:lpstr>PowerPoint 프레젠테이션</vt:lpstr>
      <vt:lpstr>실습 - Overview</vt:lpstr>
      <vt:lpstr>실습 – 산출물 </vt:lpstr>
      <vt:lpstr>[실습#1] OOA – Requirements</vt:lpstr>
      <vt:lpstr>[실습#1] OOA – Requirements</vt:lpstr>
      <vt:lpstr>[실습#1] OOA – Requirements</vt:lpstr>
      <vt:lpstr>[실습#1] OOA - Requirements </vt:lpstr>
      <vt:lpstr>[실습#1] OOA - Day2 활동 안내</vt:lpstr>
      <vt:lpstr>[필수]  2.1 An Introduction to UML - UML Overview (76min)      </vt:lpstr>
      <vt:lpstr>OOAD (Day2)</vt:lpstr>
      <vt:lpstr>[필수]  3.2 OOA - System Sequence Diagram (18min) 3.3 OOA - Domain Model (33min)   </vt:lpstr>
      <vt:lpstr>PowerPoint 프레젠테이션</vt:lpstr>
      <vt:lpstr>실습 - OOPT of OOAD (주요활동 3 단계)</vt:lpstr>
      <vt:lpstr>실습 - 산출물 목표</vt:lpstr>
      <vt:lpstr>실습 - OOA</vt:lpstr>
      <vt:lpstr>[실습#1] OOA - Fully Dressed up Form</vt:lpstr>
      <vt:lpstr>[실습#1] OOA - Fully Dressed up Form</vt:lpstr>
      <vt:lpstr>[실습#1] OOA - System Sequence Diagram</vt:lpstr>
      <vt:lpstr>[실습#1] OOA - Domain Model</vt:lpstr>
      <vt:lpstr>[실습#1] OOA - Domain Model</vt:lpstr>
      <vt:lpstr>[필수]  4.1 OOD - Sequence Diagram (47min) 4.2 OOD - Class Diagram (85min)  </vt:lpstr>
      <vt:lpstr>PowerPoint 프레젠테이션</vt:lpstr>
      <vt:lpstr>지난 차수 사례</vt:lpstr>
      <vt:lpstr>실습 - 산출물 목표</vt:lpstr>
      <vt:lpstr>- 1.2 (실습) 팀과제 실습 양식.xlsx   * 5,6,7 중심</vt:lpstr>
      <vt:lpstr>[실습#2] OOD - Sequence Diagram</vt:lpstr>
      <vt:lpstr>[실습#2] OOD - Sequence Diagram</vt:lpstr>
      <vt:lpstr>[실습#2] OOD - Sequence Diagram</vt:lpstr>
      <vt:lpstr>[실습#2] OOD - Class Diagram</vt:lpstr>
      <vt:lpstr>[실습#2] OOI – 코드 작성 (Optional)</vt:lpstr>
      <vt:lpstr>[실습#2] OOI – Refactoring (Optional)</vt:lpstr>
      <vt:lpstr>OOA – OOD - OOI</vt:lpstr>
      <vt:lpstr>요구사항이 수시로 변경되는 일이 많다면</vt:lpstr>
      <vt:lpstr>OOAD (Day3)</vt:lpstr>
      <vt:lpstr>PowerPoint 프레젠테이션</vt:lpstr>
      <vt:lpstr>[필수]  5.1 OOI - Sequence Visibility (33min) 5.2 OOI - Mapping Designs to Code (19min) 6 Summary (21min)  </vt:lpstr>
      <vt:lpstr>PowerPoint 프레젠테이션</vt:lpstr>
      <vt:lpstr>실습 - 산출물 목표</vt:lpstr>
      <vt:lpstr>실습 - 추가 요구사항</vt:lpstr>
      <vt:lpstr>PowerPoint 프레젠테이션</vt:lpstr>
      <vt:lpstr>실습 – 팀과제 진행 회고</vt:lpstr>
      <vt:lpstr>실습 - 팀과제 진행 회고 예</vt:lpstr>
      <vt:lpstr>과정정리</vt:lpstr>
      <vt:lpstr>PowerPoint 프레젠테이션</vt:lpstr>
      <vt:lpstr>revision</vt:lpstr>
      <vt:lpstr>revision</vt:lpstr>
      <vt:lpstr>PowerPoint 프레젠테이션</vt:lpstr>
      <vt:lpstr>품질 특성 (ISO/IEC 9126)</vt:lpstr>
      <vt:lpstr>품질 특성 (ISO/IEC 25010)</vt:lpstr>
      <vt:lpstr>Use Case 다이어그램의 관계</vt:lpstr>
      <vt:lpstr>Use Case 다이어그램의 관계</vt:lpstr>
      <vt:lpstr>Use Case 다이어그램의 관계</vt:lpstr>
      <vt:lpstr>Use Case 다이어그램의 관계</vt:lpstr>
      <vt:lpstr>Use Case 다이어그램의 관계</vt:lpstr>
      <vt:lpstr>UP 주요 활용 분야 (Discipline)</vt:lpstr>
      <vt:lpstr>Class 다이어그램 Notation</vt:lpstr>
      <vt:lpstr>Class 다이어그램 Notation</vt:lpstr>
      <vt:lpstr>Class 다이어그램 Notation</vt:lpstr>
      <vt:lpstr>Class 다이어그램 Notation</vt:lpstr>
      <vt:lpstr>Class 다이어그램 Notation</vt:lpstr>
      <vt:lpstr>Class 다이어그램 Notation</vt:lpstr>
      <vt:lpstr>Class 다이어그램 Notation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강의 제목 입력</dc:title>
  <dc:creator>강혜진</dc:creator>
  <cp:lastModifiedBy>werdy</cp:lastModifiedBy>
  <cp:revision>311</cp:revision>
  <dcterms:created xsi:type="dcterms:W3CDTF">2021-01-19T01:45:28Z</dcterms:created>
  <dcterms:modified xsi:type="dcterms:W3CDTF">2026-08-28T13:42:36Z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2FB1AD746EF52BA4D52A73A95DA2E0F5FF4EB29CE622C325A15E6BA3A15E5DB0D0D873C082A33E16F2A431E1451ACDB111213E5969C7A417F36BEBF1B15B5596</vt:lpwstr>
  </property>
</Properties>
</file>