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90" r:id="rId3"/>
    <p:sldId id="291" r:id="rId4"/>
    <p:sldId id="259" r:id="rId5"/>
    <p:sldId id="270" r:id="rId6"/>
    <p:sldId id="271" r:id="rId7"/>
    <p:sldId id="272" r:id="rId8"/>
    <p:sldId id="257" r:id="rId9"/>
    <p:sldId id="258" r:id="rId10"/>
    <p:sldId id="268" r:id="rId11"/>
    <p:sldId id="293" r:id="rId12"/>
    <p:sldId id="269" r:id="rId13"/>
    <p:sldId id="273" r:id="rId14"/>
    <p:sldId id="274" r:id="rId15"/>
    <p:sldId id="275" r:id="rId16"/>
    <p:sldId id="277" r:id="rId17"/>
    <p:sldId id="276" r:id="rId18"/>
    <p:sldId id="260" r:id="rId19"/>
    <p:sldId id="261" r:id="rId20"/>
    <p:sldId id="280" r:id="rId21"/>
    <p:sldId id="292" r:id="rId22"/>
    <p:sldId id="262" r:id="rId23"/>
    <p:sldId id="263" r:id="rId24"/>
    <p:sldId id="264" r:id="rId25"/>
    <p:sldId id="265" r:id="rId26"/>
    <p:sldId id="281" r:id="rId27"/>
    <p:sldId id="266" r:id="rId28"/>
    <p:sldId id="295" r:id="rId29"/>
    <p:sldId id="296" r:id="rId30"/>
    <p:sldId id="267" r:id="rId31"/>
    <p:sldId id="283" r:id="rId32"/>
    <p:sldId id="284" r:id="rId33"/>
    <p:sldId id="286" r:id="rId34"/>
    <p:sldId id="297" r:id="rId35"/>
    <p:sldId id="285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8496" autoAdjust="0"/>
  </p:normalViewPr>
  <p:slideViewPr>
    <p:cSldViewPr showGuides="1">
      <p:cViewPr varScale="1">
        <p:scale>
          <a:sx n="130" d="100"/>
          <a:sy n="130" d="100"/>
        </p:scale>
        <p:origin x="-203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B390-C473-4696-98C6-8A0C8FCAAAB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23A25-6988-4880-9B02-B1245A972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8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ko-kr/cpp/cpp/interface?view=msvc-170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36</a:t>
            </a:r>
            <a:r>
              <a:rPr lang="ko-KR" altLang="en-US" dirty="0" smtClean="0"/>
              <a:t>분 이내로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473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https://m.blog.naver.com/PostView.nhn?blogId=kjhoi79&amp;logNo=221186564986&amp;proxyReferer=https:%2F%2Fwww.google.com%2F</a:t>
            </a:r>
          </a:p>
          <a:p>
            <a:r>
              <a:rPr lang="en-US" altLang="ko-KR" dirty="0" smtClean="0"/>
              <a:t>https://imcreator.tistory.com/7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6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꼬리 인터페이스 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흔들기 돌리기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기쁨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슬픔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반가움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짜증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무기력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03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562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035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157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768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10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459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꼬리 인터페이스 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흔들기 돌리기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기쁨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슬픔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반가움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짜증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무기력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580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40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153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51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381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899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 내부 정보를 은닉함으로  외부에 영향을 주지 않고 내부 구현을 자유롭게 수정할 수 있게 만드는 메커니즘입니다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287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02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꼬리 인터페이스 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흔들기 돌리기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기쁨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슬픔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반가움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짜증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무기력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70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1884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14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키워드가 존재 하며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키워드 사용 시 인터페이스가 지켜야 할 조건을 갖추지 못하면 컴파일 되지 않습니다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인터페이스를 언어에서 지원하지 않기 때문에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 개발을 해왔다면 인터페이스라는 개념을 잘 지키기 어렵습니다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인터페이스로 설계하여 구현한 코드에 인터페이스에 반하는 변경을 시도 해도 빌드에 아무런 문제가 없습니다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것은 불편하고 위험한 것이기에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 C++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__interface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키워드를 아래와 같이 정의하고 있으며 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키워드와 거의 비슷한 개념을 가지고 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 MS C++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인터페이스의 정의에 따르면 인터페이스는 기능이 어떻게 동작하는지 알 수 있는 구현이 존재해서는 안됩니다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한마디로 순수 가상 메서드만으로 이루어져 있어야 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 ( C++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소멸자에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이야기는 논외로 하고 싶습니다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atinLnBrk="0"/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</a:t>
            </a:r>
            <a:r>
              <a:rPr lang="ko-KR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전용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C++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인터페이스는 다음과 같이 정의할 수 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이상의 기본 인터페이스에서 상속할 수 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클래스에서 상속할 수 없습니다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공용 순수 가상 메서드만 포함할 수 있습니다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생성자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소멸자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또는 연산자를 포함할 수 없습니다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정적 메서드를 포함할 수 없습니다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멤버를 포함할 수 없습니다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속성은 허용됩니다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    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0"/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__interface | Microsoft Learn</a:t>
            </a:r>
            <a:endParaRPr lang="ko-KR" alt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54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616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45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13" name="다이아몬드 12"/>
            <p:cNvSpPr/>
            <p:nvPr userDrawn="1"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다이아몬드 13"/>
            <p:cNvSpPr/>
            <p:nvPr userDrawn="1"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다이아몬드 14"/>
            <p:cNvSpPr/>
            <p:nvPr userDrawn="1"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다이아몬드 15"/>
            <p:cNvSpPr/>
            <p:nvPr userDrawn="1"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다이아몬드 16"/>
            <p:cNvSpPr/>
            <p:nvPr userDrawn="1"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다이아몬드 17"/>
            <p:cNvSpPr/>
            <p:nvPr userDrawn="1"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다이아몬드 18"/>
            <p:cNvSpPr/>
            <p:nvPr userDrawn="1"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다이아몬드 19"/>
            <p:cNvSpPr/>
            <p:nvPr userDrawn="1"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다이아몬드 20"/>
            <p:cNvSpPr/>
            <p:nvPr userDrawn="1"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다이아몬드 21"/>
            <p:cNvSpPr/>
            <p:nvPr userDrawn="1"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다이아몬드 22"/>
            <p:cNvSpPr/>
            <p:nvPr userDrawn="1"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/>
            <p:cNvSpPr/>
            <p:nvPr userDrawn="1"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다이아몬드 24"/>
            <p:cNvSpPr/>
            <p:nvPr userDrawn="1"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다이아몬드 25"/>
            <p:cNvSpPr/>
            <p:nvPr userDrawn="1"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다이아몬드 26"/>
            <p:cNvSpPr/>
            <p:nvPr userDrawn="1"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/>
            <p:cNvSpPr/>
            <p:nvPr userDrawn="1"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/>
            <p:cNvSpPr/>
            <p:nvPr userDrawn="1"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07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4B4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9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2" name="다이아몬드 11"/>
          <p:cNvSpPr/>
          <p:nvPr userDrawn="1"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15461" y="231786"/>
            <a:ext cx="540399" cy="46159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4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00</a:t>
            </a:r>
            <a:endParaRPr kumimoji="1" lang="en-US" altLang="ko-KR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5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87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 smtClean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8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CFA9321B-8E93-4938-ACA9-6254A66BA3E1}" type="slidenum">
              <a:rPr lang="ko-KR" altLang="en-US" sz="1200" smtClean="0">
                <a:solidFill>
                  <a:schemeClr val="bg1"/>
                </a:solidFill>
              </a:rPr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2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3857" y="2397984"/>
            <a:ext cx="3743199" cy="2062032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128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OOP</a:t>
            </a:r>
            <a:endParaRPr kumimoji="1" lang="en-US" altLang="ko-KR" sz="128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72903" y="4410636"/>
            <a:ext cx="646199" cy="276928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ko-KR" altLang="en-US" sz="1200" b="1" dirty="0" err="1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이혜준</a:t>
            </a:r>
            <a:endParaRPr kumimoji="1" lang="en-US" altLang="ko-KR" sz="1200" b="1" dirty="0" smtClean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00614" y="2493000"/>
            <a:ext cx="3475177" cy="3692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3"/>
                </a:solidFill>
                <a:latin typeface="맑은 고딕" pitchFamily="50" charset="-127"/>
                <a:cs typeface="Arial" panose="020B0604020202020204" pitchFamily="34" charset="0"/>
              </a:rPr>
              <a:t>Principles of Object-Oriented</a:t>
            </a:r>
          </a:p>
        </p:txBody>
      </p:sp>
    </p:spTree>
    <p:extLst>
      <p:ext uri="{BB962C8B-B14F-4D97-AF65-F5344CB8AC3E}">
        <p14:creationId xmlns:p14="http://schemas.microsoft.com/office/powerpoint/2010/main" val="77038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48238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둘 다</a:t>
            </a:r>
            <a:r>
              <a:rPr lang="en-US" altLang="ko-KR" dirty="0" smtClean="0"/>
              <a:t>, </a:t>
            </a:r>
            <a:r>
              <a:rPr lang="ko-KR" altLang="en-US" dirty="0"/>
              <a:t>캡슐화</a:t>
            </a:r>
            <a:r>
              <a:rPr lang="en-US" altLang="ko-KR" dirty="0"/>
              <a:t>, </a:t>
            </a:r>
            <a:r>
              <a:rPr lang="ko-KR" altLang="en-US" dirty="0"/>
              <a:t>정보 감추기</a:t>
            </a:r>
            <a:r>
              <a:rPr lang="en-US" altLang="ko-KR" dirty="0"/>
              <a:t>, </a:t>
            </a:r>
            <a:r>
              <a:rPr lang="ko-KR" altLang="en-US" dirty="0"/>
              <a:t>추상화와 같은 소프트웨어 설계 원칙을 준수하여 </a:t>
            </a:r>
            <a:r>
              <a:rPr lang="ko-KR" altLang="en-US" dirty="0" smtClean="0"/>
              <a:t>하위 </a:t>
            </a:r>
            <a:r>
              <a:rPr lang="ko-KR" altLang="en-US" dirty="0"/>
              <a:t>구성요소의 선택</a:t>
            </a:r>
            <a:r>
              <a:rPr lang="en-US" altLang="ko-KR" dirty="0"/>
              <a:t>, </a:t>
            </a:r>
            <a:r>
              <a:rPr lang="ko-KR" altLang="en-US" dirty="0"/>
              <a:t>교체</a:t>
            </a:r>
            <a:r>
              <a:rPr lang="en-US" altLang="ko-KR" dirty="0"/>
              <a:t>, </a:t>
            </a:r>
            <a:r>
              <a:rPr lang="ko-KR" altLang="en-US" dirty="0"/>
              <a:t>조합을 </a:t>
            </a:r>
            <a:r>
              <a:rPr lang="ko-KR" altLang="en-US" dirty="0" smtClean="0"/>
              <a:t>통하여 </a:t>
            </a:r>
            <a:r>
              <a:rPr lang="ko-KR" altLang="en-US" dirty="0"/>
              <a:t>빠른 시스템 구축과 발전을 달성하는 </a:t>
            </a:r>
            <a:r>
              <a:rPr lang="ko-KR" altLang="en-US" dirty="0" smtClean="0"/>
              <a:t>것이 목적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b="1" dirty="0" smtClean="0"/>
              <a:t>모듈</a:t>
            </a:r>
            <a:r>
              <a:rPr lang="ko-KR" altLang="en-US" dirty="0" smtClean="0"/>
              <a:t>은 </a:t>
            </a:r>
            <a:r>
              <a:rPr lang="ko-KR" altLang="en-US" b="1" dirty="0"/>
              <a:t>정적인</a:t>
            </a:r>
            <a:r>
              <a:rPr lang="ko-KR" altLang="en-US" dirty="0"/>
              <a:t> 구조</a:t>
            </a:r>
            <a:r>
              <a:rPr lang="en-US" altLang="ko-KR" dirty="0"/>
              <a:t>, </a:t>
            </a:r>
            <a:r>
              <a:rPr lang="ko-KR" altLang="en-US" b="1" dirty="0"/>
              <a:t>구현 </a:t>
            </a:r>
            <a:r>
              <a:rPr lang="ko-KR" altLang="en-US" b="1" dirty="0" smtClean="0"/>
              <a:t>단위</a:t>
            </a:r>
            <a:endParaRPr lang="en-US" altLang="ko-KR" b="1" dirty="0" smtClean="0"/>
          </a:p>
          <a:p>
            <a:pPr>
              <a:lnSpc>
                <a:spcPct val="120000"/>
              </a:lnSpc>
            </a:pPr>
            <a:r>
              <a:rPr lang="ko-KR" altLang="en-US" b="1" dirty="0" smtClean="0"/>
              <a:t>컴포넌트</a:t>
            </a:r>
            <a:r>
              <a:rPr lang="ko-KR" altLang="en-US" dirty="0" smtClean="0"/>
              <a:t>는 </a:t>
            </a:r>
            <a:r>
              <a:rPr lang="ko-KR" altLang="en-US" b="1" dirty="0" smtClean="0"/>
              <a:t>런타임</a:t>
            </a:r>
            <a:r>
              <a:rPr lang="ko-KR" altLang="en-US" dirty="0" smtClean="0"/>
              <a:t>에 독립적으로 배포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b="1" dirty="0" smtClean="0"/>
              <a:t>실행</a:t>
            </a:r>
            <a:r>
              <a:rPr lang="ko-KR" altLang="en-US" dirty="0" smtClean="0"/>
              <a:t>되는 </a:t>
            </a:r>
            <a:r>
              <a:rPr lang="ko-KR" altLang="en-US" b="1" dirty="0" smtClean="0"/>
              <a:t>단위</a:t>
            </a:r>
            <a:endParaRPr lang="en-US" altLang="ko-KR" b="1" dirty="0" smtClean="0"/>
          </a:p>
          <a:p>
            <a:pPr>
              <a:lnSpc>
                <a:spcPct val="120000"/>
              </a:lnSpc>
            </a:pPr>
            <a:r>
              <a:rPr lang="ko-KR" altLang="en-US" dirty="0"/>
              <a:t>시스템이 실행되면 </a:t>
            </a:r>
            <a:r>
              <a:rPr lang="ko-KR" altLang="en-US" dirty="0" smtClean="0"/>
              <a:t>모듈은 하나 </a:t>
            </a:r>
            <a:r>
              <a:rPr lang="ko-KR" altLang="en-US" dirty="0"/>
              <a:t>또는 여러 </a:t>
            </a:r>
            <a:r>
              <a:rPr lang="ko-KR" altLang="en-US" dirty="0" smtClean="0"/>
              <a:t>컴포넌트에 매핑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50839" cy="424661"/>
          </a:xfrm>
        </p:spPr>
        <p:txBody>
          <a:bodyPr/>
          <a:lstStyle/>
          <a:p>
            <a:r>
              <a:rPr lang="en-US" altLang="ko-KR" dirty="0" smtClean="0"/>
              <a:t>Module vs Component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1" b="3971"/>
          <a:stretch/>
        </p:blipFill>
        <p:spPr>
          <a:xfrm>
            <a:off x="2783632" y="3068959"/>
            <a:ext cx="5328592" cy="34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07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719171"/>
          </a:xfrm>
        </p:spPr>
        <p:txBody>
          <a:bodyPr/>
          <a:lstStyle/>
          <a:p>
            <a:r>
              <a:rPr lang="ko-KR" altLang="en-US" dirty="0" smtClean="0"/>
              <a:t>모듈</a:t>
            </a:r>
            <a:endParaRPr lang="en-US" altLang="ko-KR" smtClean="0"/>
          </a:p>
          <a:p>
            <a:r>
              <a:rPr lang="ko-KR" altLang="en-US" smtClean="0"/>
              <a:t>책임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918708" cy="424661"/>
          </a:xfrm>
        </p:spPr>
        <p:txBody>
          <a:bodyPr/>
          <a:lstStyle/>
          <a:p>
            <a:r>
              <a:rPr lang="en-US" altLang="ko-KR" dirty="0" smtClean="0"/>
              <a:t>Class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2060848"/>
            <a:ext cx="4246895" cy="2880320"/>
          </a:xfrm>
          <a:prstGeom prst="rect">
            <a:avLst/>
          </a:prstGeom>
          <a:ln>
            <a:noFill/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2" y="2274501"/>
            <a:ext cx="5704762" cy="2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7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6001" y="1619015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1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55823" y="1789951"/>
            <a:ext cx="2449576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추상화 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Abstraction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6001" y="2545334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2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6001" y="3471653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3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6001" y="4397972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4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6001" y="5324293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5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7513" y="2716056"/>
            <a:ext cx="2728499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캡슐화 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Encapsulation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93030" y="3642161"/>
            <a:ext cx="2150712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상속 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Inheritance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94321" y="4568266"/>
            <a:ext cx="2798518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err="1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다형성</a:t>
            </a: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Polymorphism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5823" y="5494369"/>
            <a:ext cx="2337366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합성 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Composition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86001" y="692696"/>
            <a:ext cx="769822" cy="73859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4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0</a:t>
            </a:r>
            <a:endParaRPr kumimoji="1" lang="en-US" altLang="ko-KR" sz="4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55823" y="863846"/>
            <a:ext cx="2996200" cy="40003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알고리즘 분해</a:t>
            </a:r>
            <a:r>
              <a:rPr kumimoji="1" lang="en-US" altLang="ko-KR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객체지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향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37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04623" cy="1456809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시스템이 사용할 데이터를 이해하고</a:t>
            </a:r>
            <a:r>
              <a:rPr lang="en-US" altLang="ko-KR" dirty="0"/>
              <a:t>, </a:t>
            </a:r>
            <a:r>
              <a:rPr lang="ko-KR" altLang="en-US" dirty="0"/>
              <a:t>어떻게 알고리즘을 적용할 것 인지 고민하여 분할하고</a:t>
            </a:r>
            <a:r>
              <a:rPr lang="en-US" altLang="ko-KR" dirty="0"/>
              <a:t>, </a:t>
            </a:r>
            <a:r>
              <a:rPr lang="ko-KR" altLang="en-US" dirty="0"/>
              <a:t>분해한 것을 분업으로 </a:t>
            </a:r>
            <a:r>
              <a:rPr lang="ko-KR" altLang="en-US" dirty="0" smtClean="0"/>
              <a:t>개발했습니다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일정 이상의 복잡함을 넘어서면 적용하는데 많은 에너지가 드는 것 같았습니다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140196" cy="424661"/>
          </a:xfrm>
        </p:spPr>
        <p:txBody>
          <a:bodyPr/>
          <a:lstStyle/>
          <a:p>
            <a:r>
              <a:rPr lang="ko-KR" altLang="en-US" dirty="0" smtClean="0"/>
              <a:t>알고리즘 분해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0" y="1977796"/>
            <a:ext cx="5543984" cy="43540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312024" y="1973739"/>
            <a:ext cx="5400600" cy="31947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건축가라면 이미 세운 </a:t>
            </a:r>
            <a:r>
              <a:rPr lang="en-US" altLang="ko-KR" sz="1600" b="1" dirty="0"/>
              <a:t>100</a:t>
            </a:r>
            <a:r>
              <a:rPr lang="ko-KR" altLang="en-US" sz="1600" b="1" dirty="0"/>
              <a:t>층 건물 밑에 추가로 지하 층</a:t>
            </a:r>
            <a:r>
              <a:rPr lang="ko-KR" altLang="en-US" sz="1600" dirty="0"/>
              <a:t>을 만들 생각은 아예 하지도 않을 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그런 일을 한다면 비용이 많이 들 뿐만 아니라 의심할 바 없이 실패로 끝날 테니까</a:t>
            </a:r>
            <a:r>
              <a:rPr lang="en-US" altLang="ko-KR" sz="1600" dirty="0"/>
              <a:t>. 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ko-KR" altLang="en-US" sz="1600" dirty="0" smtClean="0"/>
              <a:t>놀랍게도 </a:t>
            </a:r>
            <a:r>
              <a:rPr lang="ko-KR" altLang="en-US" sz="1600" b="1" dirty="0"/>
              <a:t>소프트웨어 시스템 사용자들은</a:t>
            </a:r>
            <a:r>
              <a:rPr lang="ko-KR" altLang="en-US" sz="1600" dirty="0"/>
              <a:t> 그 정도에 버금가는 </a:t>
            </a:r>
            <a:r>
              <a:rPr lang="ko-KR" altLang="en-US" sz="1600" b="1" dirty="0"/>
              <a:t>큰 변경을 요청할 때도 두 번도 채 생각하지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게다가 단순 프로그래밍 작업 정도가 아니냐고 주장한다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그래디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부치 외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954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2267287"/>
          </a:xfrm>
        </p:spPr>
        <p:txBody>
          <a:bodyPr vert="horz" wrap="square" lIns="36000" tIns="45720" rIns="36000" bIns="45720" rtlCol="0" anchor="t" anchorCtr="0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 smtClean="0"/>
              <a:t>하나의 </a:t>
            </a:r>
            <a:r>
              <a:rPr lang="ko-KR" altLang="en-US" b="1" dirty="0" smtClean="0"/>
              <a:t>객체는 그 안을 이루는 작은 객체의 집합</a:t>
            </a:r>
            <a:r>
              <a:rPr lang="ko-KR" altLang="en-US" dirty="0" smtClean="0"/>
              <a:t>으로 이루어져 있습니다</a:t>
            </a:r>
            <a:endParaRPr lang="en-US" altLang="ko-KR" dirty="0" smtClean="0"/>
          </a:p>
          <a:p>
            <a:pPr>
              <a:lnSpc>
                <a:spcPct val="100000"/>
              </a:lnSpc>
            </a:pPr>
            <a:r>
              <a:rPr lang="ko-KR" altLang="en-US" dirty="0" smtClean="0"/>
              <a:t>객체들은 맡은 책임을 다하고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메시지를 주고 받으며 협력</a:t>
            </a:r>
            <a:r>
              <a:rPr lang="ko-KR" altLang="en-US" dirty="0" smtClean="0"/>
              <a:t>하여 더 복잡한 일들을 처리 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고도화된 객체들의 특징은 내부가 계층으로 나누어져 있고 계층을 이루는 객체들도 잘 분리 되어 있습니다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잘 분리된 객체들은 맡은 </a:t>
            </a:r>
            <a:r>
              <a:rPr lang="ko-KR" altLang="en-US" b="1" dirty="0" smtClean="0"/>
              <a:t>역할과 책임</a:t>
            </a:r>
            <a:r>
              <a:rPr lang="ko-KR" altLang="en-US" dirty="0" smtClean="0"/>
              <a:t>이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협업하는 </a:t>
            </a:r>
            <a:r>
              <a:rPr lang="ko-KR" altLang="en-US" dirty="0" err="1" smtClean="0"/>
              <a:t>객체들에게</a:t>
            </a:r>
            <a:r>
              <a:rPr lang="ko-KR" altLang="en-US" dirty="0" smtClean="0"/>
              <a:t> 필요한 </a:t>
            </a:r>
            <a:r>
              <a:rPr lang="ko-KR" altLang="en-US" b="1" dirty="0" smtClean="0"/>
              <a:t>인터페이스</a:t>
            </a:r>
            <a:r>
              <a:rPr lang="ko-KR" altLang="en-US" dirty="0" smtClean="0"/>
              <a:t>만 제공합니다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인터페이스는 적당히 추상화 되어 있어 인터페이스 사용이 어렵지 않습니다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415639" cy="424661"/>
          </a:xfrm>
        </p:spPr>
        <p:txBody>
          <a:bodyPr/>
          <a:lstStyle/>
          <a:p>
            <a:r>
              <a:rPr lang="ko-KR" altLang="en-US" dirty="0" smtClean="0"/>
              <a:t>객체지향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357747" y="3184100"/>
            <a:ext cx="2931784" cy="2813935"/>
            <a:chOff x="399964" y="3616796"/>
            <a:chExt cx="2931784" cy="269685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000" y="3616796"/>
              <a:ext cx="2923748" cy="1900436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직사각형 4"/>
            <p:cNvSpPr/>
            <p:nvPr/>
          </p:nvSpPr>
          <p:spPr>
            <a:xfrm>
              <a:off x="399964" y="5517232"/>
              <a:ext cx="2931784" cy="79642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고양이가 귀여울 수 있는 것은  식빵을 굽게 하기 위해 그 내부가 어떻게 동작해야 하는지 이해하지 않아도 되기 때문 아닐까?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575720" y="3032425"/>
            <a:ext cx="8496944" cy="31947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객체 지향 분해는 </a:t>
            </a:r>
            <a:r>
              <a:rPr lang="ko-KR" altLang="en-US" sz="1600" b="1" dirty="0"/>
              <a:t>공통으로 사용하는 메커니즘을 재 사용함</a:t>
            </a:r>
            <a:r>
              <a:rPr lang="ko-KR" altLang="en-US" sz="1600" dirty="0"/>
              <a:t>으로써 전체 시스템을 작게 유지하기 때문에 시스템을 더 경제적으로 표현한다</a:t>
            </a:r>
            <a:r>
              <a:rPr lang="en-US" altLang="ko-KR" sz="1600" dirty="0"/>
              <a:t>. </a:t>
            </a:r>
            <a:r>
              <a:rPr lang="ko-KR" altLang="en-US" sz="1600" dirty="0"/>
              <a:t>또한 객체 지향 시스템은 변화에 더 유연하게 대처 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안정된 중간 형태를 기반으로 하기 때문에 시스템을 키워 나가기에 더 적합하다</a:t>
            </a:r>
            <a:r>
              <a:rPr lang="en-US" altLang="ko-KR" sz="1600" dirty="0"/>
              <a:t>. </a:t>
            </a:r>
            <a:r>
              <a:rPr lang="ko-KR" altLang="en-US" sz="1600" dirty="0"/>
              <a:t>실제로 객체 지향 분해로 복잡한 소프트웨어 시스템을 구축하면 위험을 줄일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이는 이미 증명된 작은 시스템으로부터 점진적으로 진화하면서 설계했기 때문이다</a:t>
            </a:r>
            <a:r>
              <a:rPr lang="en-US" altLang="ko-KR" sz="1600" dirty="0"/>
              <a:t>. </a:t>
            </a:r>
            <a:r>
              <a:rPr lang="ko-KR" altLang="en-US" sz="1600" dirty="0"/>
              <a:t>더 나아가 </a:t>
            </a:r>
            <a:r>
              <a:rPr lang="ko-KR" altLang="en-US" sz="1600" b="1" dirty="0"/>
              <a:t>객체 지향 분해는 소프트웨어 고유의 복잡도에 직접 대응</a:t>
            </a:r>
            <a:r>
              <a:rPr lang="ko-KR" altLang="en-US" sz="1600" dirty="0"/>
              <a:t>한다</a:t>
            </a:r>
            <a:r>
              <a:rPr lang="en-US" altLang="ko-KR" sz="1600" dirty="0"/>
              <a:t>. </a:t>
            </a:r>
            <a:r>
              <a:rPr lang="ko-KR" altLang="en-US" sz="1600" dirty="0"/>
              <a:t>광범위한 상태의 공간에서 관심을 분리해 사려 깊은 판단을 돕기 때문이다</a:t>
            </a:r>
            <a:r>
              <a:rPr lang="en-US" altLang="ko-KR" sz="1600" dirty="0" smtClean="0"/>
              <a:t>. </a:t>
            </a:r>
          </a:p>
          <a:p>
            <a:endParaRPr lang="en-US" altLang="ko-KR" sz="1600" dirty="0" smtClean="0"/>
          </a:p>
          <a:p>
            <a:pPr algn="r"/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600" dirty="0" err="1" smtClean="0">
                <a:solidFill>
                  <a:schemeClr val="bg1">
                    <a:lumMod val="50000"/>
                  </a:schemeClr>
                </a:solidFill>
              </a:rPr>
              <a:t>그래디</a:t>
            </a:r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</a:rPr>
              <a:t> 부치 외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71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55016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 </a:t>
            </a:r>
            <a:r>
              <a:rPr lang="en-US" altLang="ko-KR" dirty="0"/>
              <a:t>S/W</a:t>
            </a:r>
            <a:r>
              <a:rPr lang="ko-KR" altLang="en-US" dirty="0"/>
              <a:t>에서 객체 지향이 쉽지 않은 것은 개발해야 하는 복잡한 시스템의 내부를 경험과 상상력을 동원하여 계층을 나누고 객체들로 분해하고 잘 협력하도록 하여</a:t>
            </a:r>
            <a:r>
              <a:rPr lang="en-US" altLang="ko-KR" dirty="0"/>
              <a:t>, </a:t>
            </a:r>
            <a:r>
              <a:rPr lang="ko-KR" altLang="en-US" dirty="0"/>
              <a:t>복잡함을 정복하고 기능과 품질을 만족하며 동작 하도록 만들어야 하기 </a:t>
            </a:r>
            <a:r>
              <a:rPr lang="ko-KR" altLang="en-US" dirty="0" smtClean="0"/>
              <a:t>때문입니다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en-US" altLang="ko-KR" dirty="0" smtClean="0"/>
              <a:t>S/W </a:t>
            </a:r>
            <a:r>
              <a:rPr lang="ko-KR" altLang="en-US" dirty="0" smtClean="0"/>
              <a:t>객체는 </a:t>
            </a:r>
            <a:r>
              <a:rPr lang="ko-KR" altLang="en-US" dirty="0"/>
              <a:t>실제 세상에 존재하는 객체들과는 행동하는 양식이 다른 경우가 많습니다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864754" cy="424661"/>
          </a:xfrm>
        </p:spPr>
        <p:txBody>
          <a:bodyPr/>
          <a:lstStyle/>
          <a:p>
            <a:r>
              <a:rPr lang="ko-KR" altLang="en-US" dirty="0" smtClean="0"/>
              <a:t>이상한 나라의 객체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7999" y="2569196"/>
            <a:ext cx="11375999" cy="388414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 smtClean="0"/>
              <a:t>객체 </a:t>
            </a:r>
            <a:r>
              <a:rPr lang="ko-KR" altLang="en-US" sz="1600" dirty="0"/>
              <a:t>지향 패러다임의 목적은 현실 세계를 모방하는 것이 아니라 </a:t>
            </a:r>
            <a:r>
              <a:rPr lang="ko-KR" altLang="en-US" sz="1600" b="1" dirty="0"/>
              <a:t>현실 세계를 기반으로 새로운 세계를 창조</a:t>
            </a:r>
            <a:r>
              <a:rPr lang="ko-KR" altLang="en-US" sz="1600" dirty="0"/>
              <a:t>하는 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따라서 소프트웨어 세계에서 살아가는 객체는 현실 세계에 존재하는 개체와는 전혀 다른 모습을 보이는 것이 일반적이다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ko-KR" altLang="en-US" sz="1600" dirty="0"/>
              <a:t>현실 세계의 전등은 사람의 손길이 없이는 스스로 불을 밝힐 수 없지만 소프트웨어 세계의 전등은 외부의 도움 없이도 스스로 전원을 켜거나 끌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현실 세계에서는 사람이 직접 주문 금액을 계산하지만 소프트웨어 세계에서는 주문 객체가 자신의 금액을 계산한다</a:t>
            </a:r>
            <a:r>
              <a:rPr lang="en-US" altLang="ko-KR" sz="1600" dirty="0"/>
              <a:t>. </a:t>
            </a:r>
            <a:r>
              <a:rPr lang="ko-KR" altLang="en-US" sz="1600" dirty="0"/>
              <a:t>자동차가 스스로 시동을 걸고 통장이 스스로 금액을 인출하는 세상을 상상해 보라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실행 중인 객체 지향 애플리케이션의 내부를 들여다 볼 수 있다면 겉으로는 우리가 알고 있는 세계와 유사해 보이지만 본질적으로는 매우 이질적인 모습을 지닌 세계와 마주치게 될 것이다</a:t>
            </a:r>
            <a:r>
              <a:rPr lang="en-US" altLang="ko-KR" sz="1600" dirty="0"/>
              <a:t>. </a:t>
            </a:r>
            <a:r>
              <a:rPr lang="ko-KR" altLang="en-US" sz="1600" dirty="0"/>
              <a:t>아마 그 세계는 마치 토끼를 뒤쫓던 한 소녀가 경험한 이상한 나라 만큼이나 낯설고 기묘할 </a:t>
            </a:r>
            <a:r>
              <a:rPr lang="ko-KR" altLang="en-US" sz="1600" dirty="0" smtClean="0"/>
              <a:t>것이다</a:t>
            </a:r>
            <a:r>
              <a:rPr lang="en-US" altLang="ko-KR" sz="1600" dirty="0" smtClean="0"/>
              <a:t> </a:t>
            </a:r>
            <a:endParaRPr lang="en-US" altLang="ko-KR" sz="1600" dirty="0"/>
          </a:p>
          <a:p>
            <a:pPr algn="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객체지향의 사실과 오해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조영호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2182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634" y="1758757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1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4345" y="3505196"/>
            <a:ext cx="2435149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Abstraction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8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60" y="680820"/>
            <a:ext cx="5944715" cy="58626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528048" y="680821"/>
            <a:ext cx="5400600" cy="586269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 smtClean="0"/>
              <a:t>추상화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어떤 양상</a:t>
            </a:r>
            <a:r>
              <a:rPr lang="en-US" altLang="ko-KR" dirty="0"/>
              <a:t>, </a:t>
            </a:r>
            <a:r>
              <a:rPr lang="ko-KR" altLang="en-US" dirty="0"/>
              <a:t>세부 사항</a:t>
            </a:r>
            <a:r>
              <a:rPr lang="en-US" altLang="ko-KR" dirty="0"/>
              <a:t>, </a:t>
            </a:r>
            <a:r>
              <a:rPr lang="ko-KR" altLang="en-US" dirty="0"/>
              <a:t>구조를 좀 더 명확하게 이해하기 위해 특정 절차나 물체를 의도적으로 생략하거나 감춤으로써 복잡도를 극복하는 방법이다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lnSpc>
                <a:spcPct val="140000"/>
              </a:lnSpc>
            </a:pPr>
            <a:r>
              <a:rPr lang="ko-KR" altLang="en-US" dirty="0" smtClean="0"/>
              <a:t>복잡성을 </a:t>
            </a:r>
            <a:r>
              <a:rPr lang="ko-KR" altLang="en-US" dirty="0"/>
              <a:t>다루기 위해 추상화는 두 차원에서 이루어진다 </a:t>
            </a:r>
            <a:r>
              <a:rPr lang="en-US" altLang="ko-KR" dirty="0"/>
              <a:t>[</a:t>
            </a:r>
            <a:r>
              <a:rPr lang="en-US" altLang="ko-KR" dirty="0" err="1"/>
              <a:t>kramer</a:t>
            </a:r>
            <a:r>
              <a:rPr lang="en-US" altLang="ko-KR" dirty="0"/>
              <a:t> 2007</a:t>
            </a:r>
            <a:r>
              <a:rPr lang="en-US" altLang="ko-KR" dirty="0" smtClean="0"/>
              <a:t>]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첫 </a:t>
            </a:r>
            <a:r>
              <a:rPr lang="ko-KR" altLang="en-US" dirty="0"/>
              <a:t>번째 차원은 구체적인 사물들 간의 </a:t>
            </a:r>
            <a:r>
              <a:rPr lang="ko-KR" altLang="en-US" b="1" dirty="0"/>
              <a:t>공통점은 취하고 차이점은 버리는 일반화</a:t>
            </a:r>
            <a:r>
              <a:rPr lang="ko-KR" altLang="en-US" dirty="0"/>
              <a:t>를 통해 단순하게 만드는 것이다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두 </a:t>
            </a:r>
            <a:r>
              <a:rPr lang="ko-KR" altLang="en-US" dirty="0"/>
              <a:t>번째 차원은 중요한 부분을 강조하기 위해 </a:t>
            </a:r>
            <a:r>
              <a:rPr lang="ko-KR" altLang="en-US" b="1" dirty="0"/>
              <a:t>불필요한 세부 사항을 제거</a:t>
            </a:r>
            <a:r>
              <a:rPr lang="ko-KR" altLang="en-US" dirty="0"/>
              <a:t>함으로써 단순하게 만드는 것이다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>
              <a:lnSpc>
                <a:spcPct val="140000"/>
              </a:lnSpc>
            </a:pPr>
            <a:r>
              <a:rPr lang="ko-KR" altLang="en-US" dirty="0" smtClean="0"/>
              <a:t>모든 </a:t>
            </a:r>
            <a:r>
              <a:rPr lang="ko-KR" altLang="en-US" dirty="0"/>
              <a:t>경우에 추상화의 목적은 복잡성을 이해하기 쉬운 수준으로 단순화하는 것이라는 점을 기억하라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algn="r">
              <a:lnSpc>
                <a:spcPct val="140000"/>
              </a:lnSpc>
            </a:pP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객체지향의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사실과 오해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조영호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 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1107862" cy="424661"/>
          </a:xfrm>
        </p:spPr>
        <p:txBody>
          <a:bodyPr/>
          <a:lstStyle/>
          <a:p>
            <a:r>
              <a:rPr lang="ko-KR" altLang="en-US" dirty="0" smtClean="0"/>
              <a:t>추상화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36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5999" cy="1862048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 smtClean="0"/>
              <a:t>관찰자는 추상화를 얼마나 할 것인지 결정 할 수 있습니다</a:t>
            </a:r>
            <a:r>
              <a:rPr lang="en-US" altLang="ko-KR" dirty="0" smtClean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개발자의 </a:t>
            </a:r>
            <a:r>
              <a:rPr lang="ko-KR" altLang="en-US" b="1" dirty="0"/>
              <a:t>개발 경험과 도메인 이해도에 따라</a:t>
            </a:r>
            <a:r>
              <a:rPr lang="ko-KR" altLang="en-US" dirty="0"/>
              <a:t> 같은 기능을 구현한다 해도 클래스의 </a:t>
            </a:r>
            <a:r>
              <a:rPr lang="ko-KR" altLang="en-US" b="1" dirty="0"/>
              <a:t>추상화 수준이 다양</a:t>
            </a:r>
            <a:r>
              <a:rPr lang="ko-KR" altLang="en-US" dirty="0"/>
              <a:t>하게 나타날 수 있습니다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 smtClean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832420" cy="424661"/>
          </a:xfrm>
        </p:spPr>
        <p:txBody>
          <a:bodyPr/>
          <a:lstStyle/>
          <a:p>
            <a:r>
              <a:rPr lang="ko-KR" altLang="en-US" dirty="0" smtClean="0"/>
              <a:t>추상화 레벨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926" y="1973739"/>
            <a:ext cx="10950682" cy="164352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/>
              <a:t>추상화는 다른 실체와 구별되는 실체에 있는 본질 특성으로</a:t>
            </a:r>
            <a:r>
              <a:rPr lang="en-US" altLang="ko-KR" dirty="0"/>
              <a:t>, </a:t>
            </a:r>
            <a:r>
              <a:rPr lang="ko-KR" altLang="en-US" dirty="0"/>
              <a:t>추상화는 관찰자 시각에 따라 상대적으로 구분된다</a:t>
            </a:r>
            <a:r>
              <a:rPr lang="en-US" altLang="ko-KR" dirty="0"/>
              <a:t>. </a:t>
            </a:r>
            <a:r>
              <a:rPr lang="ko-KR" altLang="en-US" dirty="0"/>
              <a:t>객체의 본질적 특성에 집중해 </a:t>
            </a:r>
            <a:r>
              <a:rPr lang="ko-KR" altLang="en-US" dirty="0" err="1"/>
              <a:t>추상화하며</a:t>
            </a:r>
            <a:r>
              <a:rPr lang="en-US" altLang="ko-KR" dirty="0"/>
              <a:t>, </a:t>
            </a:r>
            <a:r>
              <a:rPr lang="ko-KR" altLang="en-US" dirty="0"/>
              <a:t>추상화는 객체 모델에서 기본 요소다</a:t>
            </a:r>
            <a:r>
              <a:rPr lang="en-US" altLang="ko-KR" dirty="0"/>
              <a:t>. </a:t>
            </a:r>
            <a:r>
              <a:rPr lang="ko-KR" altLang="en-US" dirty="0"/>
              <a:t>때로는 추상화의 결과인 추상적 개념</a:t>
            </a:r>
            <a:r>
              <a:rPr lang="en-US" altLang="ko-KR" dirty="0"/>
              <a:t>, </a:t>
            </a:r>
            <a:r>
              <a:rPr lang="ko-KR" altLang="en-US" dirty="0" err="1"/>
              <a:t>클래스등을</a:t>
            </a:r>
            <a:r>
              <a:rPr lang="ko-KR" altLang="en-US" dirty="0"/>
              <a:t> 의미한다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algn="r"/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그래디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 부치 외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26" y="5922740"/>
            <a:ext cx="10950682" cy="6388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텍스트 개체 틀 1"/>
          <p:cNvSpPr txBox="1">
            <a:spLocks/>
          </p:cNvSpPr>
          <p:nvPr/>
        </p:nvSpPr>
        <p:spPr>
          <a:xfrm>
            <a:off x="405267" y="4201824"/>
            <a:ext cx="11376000" cy="2395528"/>
          </a:xfrm>
          <a:prstGeom prst="rect">
            <a:avLst/>
          </a:prstGeom>
        </p:spPr>
        <p:txBody>
          <a:bodyPr vert="horz" wrap="square" lIns="36000" tIns="45720" rIns="36000" bIns="45720" rtlCol="0" anchor="t" anchorCtr="0">
            <a:spAutoFit/>
          </a:bodyPr>
          <a:lstStyle>
            <a:lvl1pPr marL="228600"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mtClean="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600" smtClean="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400" smtClean="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200" smtClean="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1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ko-KR" altLang="en-US" dirty="0"/>
              <a:t>저 수준 추상화는 </a:t>
            </a:r>
            <a:r>
              <a:rPr lang="ko-KR" altLang="en-US" dirty="0" err="1"/>
              <a:t>재사용성이</a:t>
            </a:r>
            <a:r>
              <a:rPr lang="ko-KR" altLang="en-US" dirty="0"/>
              <a:t> 낮아지고 작은 요구사항에도 계속 변경될 가능성이 높아 집니다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고 수준 추상화는 </a:t>
            </a:r>
            <a:r>
              <a:rPr lang="ko-KR" altLang="en-US" dirty="0" err="1"/>
              <a:t>재사용성이</a:t>
            </a:r>
            <a:r>
              <a:rPr lang="ko-KR" altLang="en-US" dirty="0"/>
              <a:t> 높고 요구사항의 변경에도 영향을 덜 받게 됩니다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추상화 수준을 높일 때</a:t>
            </a:r>
            <a:r>
              <a:rPr lang="en-US" altLang="ko-KR" dirty="0"/>
              <a:t>, </a:t>
            </a:r>
            <a:r>
              <a:rPr lang="ko-KR" altLang="en-US" dirty="0"/>
              <a:t>세부 사항을 제거하는 것이 아닌 숨겨야 하기에 어렵습니다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기능 요구사항을 </a:t>
            </a:r>
            <a:r>
              <a:rPr lang="en-US" altLang="ko-KR" dirty="0"/>
              <a:t>100% </a:t>
            </a:r>
            <a:r>
              <a:rPr lang="ko-KR" altLang="en-US" dirty="0"/>
              <a:t>만족하면서</a:t>
            </a:r>
            <a:r>
              <a:rPr lang="en-US" altLang="ko-KR" dirty="0"/>
              <a:t>, </a:t>
            </a:r>
            <a:r>
              <a:rPr lang="ko-KR" altLang="en-US" dirty="0"/>
              <a:t>복잡한 부분은 숨길 수 있는 어딘가를 고민해야 합니다</a:t>
            </a:r>
            <a:r>
              <a:rPr lang="en-US" altLang="ko-KR" dirty="0"/>
              <a:t>. 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319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74250"/>
          </a:xfrm>
        </p:spPr>
        <p:txBody>
          <a:bodyPr/>
          <a:lstStyle/>
          <a:p>
            <a:r>
              <a:rPr lang="ko-KR" altLang="en-US" dirty="0" smtClean="0"/>
              <a:t>내부를 구성하는 객체들은 협업 하여 맡은 역할과 책임을 다함</a:t>
            </a:r>
            <a:endParaRPr lang="en-US" altLang="ko-KR" dirty="0" smtClean="0"/>
          </a:p>
          <a:p>
            <a:r>
              <a:rPr lang="ko-KR" altLang="en-US" dirty="0"/>
              <a:t>하위로 내려 갈 수록 추상화 수준이 낮아지고 책임이 상세 </a:t>
            </a:r>
            <a:r>
              <a:rPr lang="ko-KR" altLang="en-US" dirty="0" smtClean="0"/>
              <a:t>해짐</a:t>
            </a:r>
            <a:endParaRPr lang="en-US" altLang="ko-KR" dirty="0" smtClean="0"/>
          </a:p>
          <a:p>
            <a:r>
              <a:rPr lang="ko-KR" altLang="en-US" dirty="0" smtClean="0"/>
              <a:t>협업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책임</a:t>
            </a:r>
            <a:endParaRPr lang="en-US" altLang="ko-KR" dirty="0" smtClean="0"/>
          </a:p>
          <a:p>
            <a:r>
              <a:rPr lang="ko-KR" altLang="en-US" dirty="0"/>
              <a:t>결합 </a:t>
            </a:r>
            <a:r>
              <a:rPr lang="en-US" altLang="ko-KR" dirty="0"/>
              <a:t>vs </a:t>
            </a:r>
            <a:r>
              <a:rPr lang="ko-KR" altLang="en-US" smtClean="0"/>
              <a:t>응집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107862" cy="424661"/>
          </a:xfrm>
        </p:spPr>
        <p:txBody>
          <a:bodyPr/>
          <a:lstStyle/>
          <a:p>
            <a:r>
              <a:rPr lang="ko-KR" altLang="en-US" dirty="0" smtClean="0"/>
              <a:t>추상화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2564904"/>
            <a:ext cx="9269949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9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341632"/>
          </a:xfrm>
        </p:spPr>
        <p:txBody>
          <a:bodyPr/>
          <a:lstStyle/>
          <a:p>
            <a:r>
              <a:rPr lang="ko-KR" altLang="en-US" dirty="0" smtClean="0"/>
              <a:t>복잡한 데이터를 효율적으로 처리하기 위해서는 데이터를 추상화하여 처리할 필요가 있습니다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345381" cy="424661"/>
          </a:xfrm>
        </p:spPr>
        <p:txBody>
          <a:bodyPr/>
          <a:lstStyle/>
          <a:p>
            <a:r>
              <a:rPr lang="ko-KR" altLang="en-US" dirty="0" smtClean="0"/>
              <a:t>데이터 추상화 </a:t>
            </a:r>
            <a:r>
              <a:rPr lang="en-US" altLang="ko-KR" dirty="0" smtClean="0"/>
              <a:t>I</a:t>
            </a:r>
            <a:endParaRPr lang="ko-KR" altLang="en-US" dirty="0"/>
          </a:p>
        </p:txBody>
      </p:sp>
      <p:sp>
        <p:nvSpPr>
          <p:cNvPr id="4" name="AutoShape 2" descr="external_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2702825"/>
            <a:ext cx="5295900" cy="12477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08" y="2702825"/>
            <a:ext cx="5295900" cy="8953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08" y="3933056"/>
            <a:ext cx="52959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2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723549"/>
          </a:xfrm>
        </p:spPr>
        <p:txBody>
          <a:bodyPr/>
          <a:lstStyle/>
          <a:p>
            <a:r>
              <a:rPr lang="ko-KR" altLang="en-US" dirty="0"/>
              <a:t>타입의 추가는 모든 </a:t>
            </a:r>
            <a:r>
              <a:rPr lang="ko-KR" altLang="en-US"/>
              <a:t>기존 </a:t>
            </a:r>
            <a:r>
              <a:rPr lang="ko-KR" altLang="en-US" smtClean="0"/>
              <a:t>기능 함수에 </a:t>
            </a:r>
            <a:r>
              <a:rPr lang="ko-KR" altLang="en-US" dirty="0"/>
              <a:t>추가된 타입을 처리하기 위한 코드들이 구현되어야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많은 기존 코드 수정 및 단위 테스트 유지 보수를 어렵게 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데이터 추상화는 오퍼레이션 추가 시</a:t>
            </a:r>
            <a:r>
              <a:rPr lang="en-US" altLang="ko-KR" dirty="0"/>
              <a:t>, </a:t>
            </a:r>
            <a:r>
              <a:rPr lang="ko-KR" altLang="en-US" dirty="0"/>
              <a:t>함수 하나를 구현하여 추가하면 되기에</a:t>
            </a:r>
            <a:r>
              <a:rPr lang="en-US" altLang="ko-KR" dirty="0"/>
              <a:t> </a:t>
            </a:r>
            <a:r>
              <a:rPr lang="ko-KR" altLang="en-US" dirty="0"/>
              <a:t>기존 코드의 변경을 최소화하는 장점이 있습니다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441561" cy="424661"/>
          </a:xfrm>
        </p:spPr>
        <p:txBody>
          <a:bodyPr/>
          <a:lstStyle/>
          <a:p>
            <a:r>
              <a:rPr lang="ko-KR" altLang="en-US" dirty="0" smtClean="0"/>
              <a:t>데이터 추상화 </a:t>
            </a:r>
            <a:r>
              <a:rPr lang="en-US" altLang="ko-KR" dirty="0" smtClean="0"/>
              <a:t>II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35" y="2564904"/>
            <a:ext cx="5295900" cy="2514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2492896"/>
            <a:ext cx="52959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341632"/>
          </a:xfrm>
        </p:spPr>
        <p:txBody>
          <a:bodyPr/>
          <a:lstStyle/>
          <a:p>
            <a:r>
              <a:rPr lang="ko-KR" altLang="en-US" dirty="0" smtClean="0"/>
              <a:t>타입 추가의 효율을 위해 행위를 </a:t>
            </a:r>
            <a:r>
              <a:rPr lang="ko-KR" altLang="en-US" dirty="0" err="1" smtClean="0"/>
              <a:t>추상화할</a:t>
            </a:r>
            <a:r>
              <a:rPr lang="ko-KR" altLang="en-US" dirty="0" smtClean="0"/>
              <a:t> 필요가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037604" cy="424661"/>
          </a:xfrm>
        </p:spPr>
        <p:txBody>
          <a:bodyPr/>
          <a:lstStyle/>
          <a:p>
            <a:r>
              <a:rPr lang="ko-KR" altLang="en-US" dirty="0" smtClean="0"/>
              <a:t>행위 추상화 </a:t>
            </a:r>
            <a:r>
              <a:rPr lang="en-US" altLang="ko-KR" dirty="0" smtClean="0"/>
              <a:t>I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2152245"/>
            <a:ext cx="5019675" cy="14763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00" y="4674096"/>
            <a:ext cx="4981575" cy="16383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2204864"/>
            <a:ext cx="4981575" cy="18002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1984" y="4293096"/>
            <a:ext cx="49815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2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5832016" cy="155016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행위를 추상화 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타입 추가로 인한 기존 코드의 수정을 최소화하는 장점이 있습니다</a:t>
            </a:r>
            <a:endParaRPr lang="en-US" altLang="ko-KR" dirty="0" smtClean="0"/>
          </a:p>
          <a:p>
            <a:pPr>
              <a:lnSpc>
                <a:spcPct val="120000"/>
              </a:lnSpc>
            </a:pPr>
            <a:r>
              <a:rPr lang="ko-KR" altLang="en-US" dirty="0" smtClean="0"/>
              <a:t>하지만 행위를 추가하는 것은 기존 코드의 많은 수정을 야기 할 수 있습니다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133784" cy="424661"/>
          </a:xfrm>
        </p:spPr>
        <p:txBody>
          <a:bodyPr/>
          <a:lstStyle/>
          <a:p>
            <a:r>
              <a:rPr lang="ko-KR" altLang="en-US" dirty="0" smtClean="0"/>
              <a:t>행위 추상화 </a:t>
            </a:r>
            <a:r>
              <a:rPr lang="en-US" altLang="ko-KR" dirty="0" smtClean="0"/>
              <a:t>II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836712"/>
            <a:ext cx="54387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6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4422872" cy="424661"/>
          </a:xfrm>
        </p:spPr>
        <p:txBody>
          <a:bodyPr/>
          <a:lstStyle/>
          <a:p>
            <a:r>
              <a:rPr lang="ko-KR" altLang="en-US" dirty="0" smtClean="0"/>
              <a:t>객체 지향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추상 데이터 타입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3392" y="1700808"/>
            <a:ext cx="10950682" cy="358251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/>
              <a:t>타입 </a:t>
            </a:r>
            <a:r>
              <a:rPr lang="ko-KR" altLang="en-US" dirty="0" err="1"/>
              <a:t>추가라는</a:t>
            </a:r>
            <a:r>
              <a:rPr lang="ko-KR" altLang="en-US" dirty="0"/>
              <a:t> 변경의 압력이 더 강한 경우에는 객체지향의 손을 들어줘야 한다</a:t>
            </a:r>
            <a:r>
              <a:rPr lang="en-US" altLang="ko-KR" dirty="0"/>
              <a:t>. </a:t>
            </a:r>
            <a:r>
              <a:rPr lang="ko-KR" altLang="en-US" dirty="0"/>
              <a:t>추상 데이터 타입의 경우 새로운 타입을 추가하려면 타입을 체크하는 클라이언트 코드를 일일이 찾아 수정한 후 올바르게 작동하는지 테스트해야 한다</a:t>
            </a:r>
            <a:r>
              <a:rPr lang="en-US" altLang="ko-KR" dirty="0"/>
              <a:t>. </a:t>
            </a:r>
            <a:r>
              <a:rPr lang="ko-KR" altLang="en-US" dirty="0"/>
              <a:t>반면 객체지향의 경우에는 클라이언트 코드를 수정할 필요가 없다</a:t>
            </a:r>
            <a:r>
              <a:rPr lang="en-US" altLang="ko-KR" dirty="0"/>
              <a:t>. </a:t>
            </a:r>
            <a:r>
              <a:rPr lang="ko-KR" altLang="en-US" dirty="0"/>
              <a:t>간단하게 새로운 클래스를 상속 계층에 추가하기만 하면 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이에 반해 변경의 주된 압력이 오퍼레이션을 추가하는 것이라면 추상 데이터 타입의 승리를 선언해야 한다</a:t>
            </a:r>
            <a:r>
              <a:rPr lang="en-US" altLang="ko-KR" dirty="0"/>
              <a:t>. </a:t>
            </a:r>
            <a:r>
              <a:rPr lang="ko-KR" altLang="en-US" dirty="0"/>
              <a:t>객체지향의 경우 새로운 오퍼레이션을 추가하기 위해서는 상속 계층에 속하는 모든 클래스를 한번에 수정해야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algn="r"/>
            <a:r>
              <a:rPr lang="ko-KR" altLang="en-US" dirty="0" err="1" smtClean="0">
                <a:solidFill>
                  <a:schemeClr val="bg1">
                    <a:lumMod val="50000"/>
                  </a:schemeClr>
                </a:solidFill>
              </a:rPr>
              <a:t>오프젝트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조영호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74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543605" cy="424661"/>
          </a:xfrm>
        </p:spPr>
        <p:txBody>
          <a:bodyPr/>
          <a:lstStyle/>
          <a:p>
            <a:r>
              <a:rPr lang="en-US" altLang="ko-KR" dirty="0" smtClean="0"/>
              <a:t>CF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765138"/>
            <a:ext cx="4229100" cy="3429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243" y="765934"/>
            <a:ext cx="6086475" cy="28289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2852936"/>
            <a:ext cx="5000625" cy="36766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9243" y="3717032"/>
            <a:ext cx="42672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8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634" y="1758757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2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4345" y="3505196"/>
            <a:ext cx="2883990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Encapsulation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31704" y="4941168"/>
            <a:ext cx="270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FF00"/>
                </a:solidFill>
              </a:rPr>
              <a:t>9</a:t>
            </a:r>
            <a:r>
              <a:rPr lang="ko-KR" altLang="en-US" dirty="0" smtClean="0">
                <a:solidFill>
                  <a:srgbClr val="FFFF00"/>
                </a:solidFill>
              </a:rPr>
              <a:t>시 </a:t>
            </a:r>
            <a:r>
              <a:rPr lang="en-US" altLang="ko-KR" dirty="0" smtClean="0">
                <a:solidFill>
                  <a:srgbClr val="FFFF00"/>
                </a:solidFill>
              </a:rPr>
              <a:t>20</a:t>
            </a:r>
            <a:r>
              <a:rPr lang="ko-KR" altLang="en-US" dirty="0" smtClean="0">
                <a:solidFill>
                  <a:srgbClr val="FFFF00"/>
                </a:solidFill>
              </a:rPr>
              <a:t>분에 시작 합니다</a:t>
            </a:r>
            <a:r>
              <a:rPr lang="en-US" altLang="ko-KR" dirty="0" smtClean="0">
                <a:solidFill>
                  <a:srgbClr val="FFFF00"/>
                </a:solidFill>
              </a:rPr>
              <a:t>.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55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2210728" cy="424661"/>
          </a:xfrm>
        </p:spPr>
        <p:txBody>
          <a:bodyPr/>
          <a:lstStyle/>
          <a:p>
            <a:r>
              <a:rPr lang="en-US" altLang="ko-KR" dirty="0" smtClean="0"/>
              <a:t>Encapsulation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346010"/>
          </a:xfrm>
        </p:spPr>
        <p:txBody>
          <a:bodyPr/>
          <a:lstStyle/>
          <a:p>
            <a:r>
              <a:rPr lang="ko-KR" altLang="en-US" dirty="0"/>
              <a:t>데이터와 데이터 처리 함수를 </a:t>
            </a:r>
            <a:r>
              <a:rPr lang="ko-KR" altLang="en-US" dirty="0" smtClean="0"/>
              <a:t>묶고 데이터와 </a:t>
            </a:r>
            <a:r>
              <a:rPr lang="ko-KR" altLang="en-US" dirty="0"/>
              <a:t>함수에 대한 외부 접근을 제한</a:t>
            </a:r>
            <a:r>
              <a:rPr lang="en-US" altLang="ko-KR" dirty="0"/>
              <a:t>(Information Hiding)</a:t>
            </a:r>
            <a:r>
              <a:rPr lang="ko-KR" altLang="en-US" dirty="0"/>
              <a:t>하여 외부에서 필요한 것만 </a:t>
            </a:r>
            <a:r>
              <a:rPr lang="ko-KR" altLang="en-US" dirty="0" smtClean="0"/>
              <a:t>접근하도록 만드는 것</a:t>
            </a:r>
            <a:endParaRPr lang="en-US" altLang="ko-KR" dirty="0" smtClean="0"/>
          </a:p>
          <a:p>
            <a:r>
              <a:rPr lang="ko-KR" altLang="en-US" dirty="0" smtClean="0"/>
              <a:t>외부에 </a:t>
            </a:r>
            <a:r>
              <a:rPr lang="ko-KR" altLang="en-US" dirty="0"/>
              <a:t>파급효과 없이 내부 구조를 변경이 </a:t>
            </a:r>
            <a:r>
              <a:rPr lang="ko-KR" altLang="en-US" dirty="0" smtClean="0"/>
              <a:t>가능</a:t>
            </a:r>
            <a:endParaRPr lang="en-US" altLang="ko-KR" dirty="0"/>
          </a:p>
          <a:p>
            <a:pPr lvl="0"/>
            <a:r>
              <a:rPr lang="ko-KR" altLang="en-US" dirty="0" err="1" smtClean="0"/>
              <a:t>다형성을</a:t>
            </a:r>
            <a:r>
              <a:rPr lang="ko-KR" altLang="en-US" dirty="0" smtClean="0"/>
              <a:t> 가능하게 하여 기존 </a:t>
            </a:r>
            <a:r>
              <a:rPr lang="ko-KR" altLang="en-US" dirty="0"/>
              <a:t>코드를 수정하지 않고 기능을 확장할 수 있는 기반이 됨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808" y="3178164"/>
            <a:ext cx="3342857" cy="3000000"/>
          </a:xfrm>
          <a:prstGeom prst="rect">
            <a:avLst/>
          </a:prstGeom>
        </p:spPr>
      </p:pic>
      <p:cxnSp>
        <p:nvCxnSpPr>
          <p:cNvPr id="5" name="직선 연결선 4"/>
          <p:cNvCxnSpPr>
            <a:endCxn id="6" idx="2"/>
          </p:cNvCxnSpPr>
          <p:nvPr/>
        </p:nvCxnSpPr>
        <p:spPr>
          <a:xfrm>
            <a:off x="7464152" y="4600024"/>
            <a:ext cx="521868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7986020" y="4492012"/>
            <a:ext cx="216024" cy="2160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7464152" y="5098349"/>
            <a:ext cx="540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막힌 원호 7"/>
          <p:cNvSpPr/>
          <p:nvPr/>
        </p:nvSpPr>
        <p:spPr>
          <a:xfrm rot="16200000">
            <a:off x="7986020" y="4989513"/>
            <a:ext cx="216000" cy="216000"/>
          </a:xfrm>
          <a:prstGeom prst="blockArc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11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2229328"/>
          </a:xfrm>
        </p:spPr>
        <p:txBody>
          <a:bodyPr/>
          <a:lstStyle/>
          <a:p>
            <a:r>
              <a:rPr lang="ko-KR" altLang="en-US" dirty="0" smtClean="0"/>
              <a:t>구현은 </a:t>
            </a:r>
            <a:r>
              <a:rPr lang="ko-KR" altLang="en-US" dirty="0"/>
              <a:t>유지보수가 용이한 방향으로 </a:t>
            </a:r>
            <a:r>
              <a:rPr lang="en-US" altLang="ko-KR" dirty="0"/>
              <a:t>hide</a:t>
            </a:r>
            <a:r>
              <a:rPr lang="ko-KR" altLang="en-US" dirty="0"/>
              <a:t>되고</a:t>
            </a:r>
            <a:r>
              <a:rPr lang="en-US" altLang="ko-KR" dirty="0"/>
              <a:t>, </a:t>
            </a:r>
            <a:r>
              <a:rPr lang="ko-KR" altLang="en-US" dirty="0"/>
              <a:t>책임지는 기능은 사용성이 좋은 방향으로 </a:t>
            </a:r>
            <a:r>
              <a:rPr lang="en-US" altLang="ko-KR" dirty="0"/>
              <a:t>Open</a:t>
            </a:r>
            <a:r>
              <a:rPr lang="ko-KR" altLang="en-US" dirty="0"/>
              <a:t>되어야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책임지는 기능이 명확하고</a:t>
            </a:r>
            <a:r>
              <a:rPr lang="en-US" altLang="ko-KR" dirty="0"/>
              <a:t>,</a:t>
            </a:r>
            <a:r>
              <a:rPr lang="ko-KR" altLang="en-US" dirty="0"/>
              <a:t> 사용성 좋은 서비스를 제공하는 </a:t>
            </a:r>
            <a:r>
              <a:rPr lang="en-US" altLang="ko-KR" dirty="0"/>
              <a:t>class</a:t>
            </a:r>
            <a:r>
              <a:rPr lang="ko-KR" altLang="en-US" dirty="0"/>
              <a:t>들 간의 </a:t>
            </a:r>
            <a:r>
              <a:rPr lang="ko-KR" altLang="en-US" dirty="0" smtClean="0"/>
              <a:t>협력으로 </a:t>
            </a:r>
            <a:r>
              <a:rPr lang="en-US" altLang="ko-KR" dirty="0"/>
              <a:t>SW</a:t>
            </a:r>
            <a:r>
              <a:rPr lang="ko-KR" altLang="en-US" dirty="0"/>
              <a:t>는 구현되어야 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Bool </a:t>
            </a:r>
            <a:r>
              <a:rPr lang="en-US" altLang="ko-KR" dirty="0" err="1"/>
              <a:t>File.copy</a:t>
            </a:r>
            <a:r>
              <a:rPr lang="en-US" altLang="ko-KR" dirty="0"/>
              <a:t>(</a:t>
            </a:r>
            <a:r>
              <a:rPr lang="en-US" altLang="ko-KR" dirty="0" err="1"/>
              <a:t>src</a:t>
            </a:r>
            <a:r>
              <a:rPr lang="en-US" altLang="ko-KR" dirty="0"/>
              <a:t>, </a:t>
            </a:r>
            <a:r>
              <a:rPr lang="en-US" altLang="ko-KR" dirty="0" err="1"/>
              <a:t>dest</a:t>
            </a:r>
            <a:r>
              <a:rPr lang="en-US" altLang="ko-KR" dirty="0"/>
              <a:t>)</a:t>
            </a:r>
          </a:p>
          <a:p>
            <a:pPr lvl="0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017809" cy="424661"/>
          </a:xfrm>
        </p:spPr>
        <p:txBody>
          <a:bodyPr/>
          <a:lstStyle/>
          <a:p>
            <a:r>
              <a:rPr lang="en-US" altLang="ko-KR" dirty="0" smtClean="0"/>
              <a:t>Information Hiding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36004"/>
          <a:stretch/>
        </p:blipFill>
        <p:spPr>
          <a:xfrm>
            <a:off x="4367808" y="4221088"/>
            <a:ext cx="3342857" cy="191988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 rot="16200000">
            <a:off x="4620144" y="3828549"/>
            <a:ext cx="715448" cy="216024"/>
            <a:chOff x="5868144" y="3719158"/>
            <a:chExt cx="715448" cy="216024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" name="타원 6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 rot="16200000">
            <a:off x="4910624" y="3828549"/>
            <a:ext cx="715448" cy="216024"/>
            <a:chOff x="5868144" y="3719158"/>
            <a:chExt cx="715448" cy="216024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타원 9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 rot="16200000">
            <a:off x="5201104" y="3828549"/>
            <a:ext cx="715448" cy="216024"/>
            <a:chOff x="5868144" y="3719158"/>
            <a:chExt cx="715448" cy="216024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" name="타원 12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 rot="16200000">
            <a:off x="5491584" y="3828549"/>
            <a:ext cx="715448" cy="216024"/>
            <a:chOff x="5868144" y="3719158"/>
            <a:chExt cx="715448" cy="216024"/>
          </a:xfrm>
        </p:grpSpPr>
        <p:cxnSp>
          <p:nvCxnSpPr>
            <p:cNvPr id="15" name="직선 연결선 14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타원 15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 rot="16200000">
            <a:off x="5782064" y="3828549"/>
            <a:ext cx="715448" cy="216024"/>
            <a:chOff x="5868144" y="3719158"/>
            <a:chExt cx="715448" cy="216024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타원 18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 rot="16200000">
            <a:off x="6072544" y="3828549"/>
            <a:ext cx="715448" cy="216024"/>
            <a:chOff x="5868144" y="3719158"/>
            <a:chExt cx="715448" cy="216024"/>
          </a:xfrm>
        </p:grpSpPr>
        <p:cxnSp>
          <p:nvCxnSpPr>
            <p:cNvPr id="21" name="직선 연결선 20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타원 21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 rot="16200000">
            <a:off x="6363024" y="3828549"/>
            <a:ext cx="715448" cy="216024"/>
            <a:chOff x="5868144" y="3719158"/>
            <a:chExt cx="715448" cy="216024"/>
          </a:xfrm>
        </p:grpSpPr>
        <p:cxnSp>
          <p:nvCxnSpPr>
            <p:cNvPr id="24" name="직선 연결선 23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" name="타원 24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/>
          <p:cNvGrpSpPr/>
          <p:nvPr/>
        </p:nvGrpSpPr>
        <p:grpSpPr>
          <a:xfrm rot="16200000">
            <a:off x="6653501" y="3828549"/>
            <a:ext cx="715448" cy="216024"/>
            <a:chOff x="5868144" y="3719158"/>
            <a:chExt cx="715448" cy="216024"/>
          </a:xfrm>
        </p:grpSpPr>
        <p:cxnSp>
          <p:nvCxnSpPr>
            <p:cNvPr id="27" name="직선 연결선 26"/>
            <p:cNvCxnSpPr/>
            <p:nvPr/>
          </p:nvCxnSpPr>
          <p:spPr>
            <a:xfrm>
              <a:off x="5868144" y="3842748"/>
              <a:ext cx="504056" cy="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타원 27"/>
            <p:cNvSpPr/>
            <p:nvPr/>
          </p:nvSpPr>
          <p:spPr>
            <a:xfrm>
              <a:off x="6367568" y="3719158"/>
              <a:ext cx="216024" cy="21602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73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488159" cy="424661"/>
          </a:xfrm>
        </p:spPr>
        <p:txBody>
          <a:bodyPr/>
          <a:lstStyle/>
          <a:p>
            <a:r>
              <a:rPr lang="en-US" altLang="ko-KR" dirty="0" smtClean="0"/>
              <a:t>Interface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93" y="2276872"/>
            <a:ext cx="4950320" cy="4032448"/>
          </a:xfrm>
          <a:prstGeom prst="rect">
            <a:avLst/>
          </a:prstGeom>
        </p:spPr>
      </p:pic>
      <p:sp>
        <p:nvSpPr>
          <p:cNvPr id="11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2515047"/>
          </a:xfrm>
        </p:spPr>
        <p:txBody>
          <a:bodyPr/>
          <a:lstStyle/>
          <a:p>
            <a:r>
              <a:rPr lang="en-US" altLang="ko-KR" dirty="0" smtClean="0"/>
              <a:t>Interface </a:t>
            </a:r>
            <a:r>
              <a:rPr lang="ko-KR" altLang="en-US" dirty="0" smtClean="0"/>
              <a:t>후보</a:t>
            </a:r>
            <a:r>
              <a:rPr lang="en-US" altLang="ko-KR" dirty="0" smtClean="0"/>
              <a:t>1</a:t>
            </a:r>
          </a:p>
          <a:p>
            <a:pPr lvl="1"/>
            <a:r>
              <a:rPr lang="en-US" altLang="ko-KR" dirty="0" smtClean="0"/>
              <a:t>Bool </a:t>
            </a:r>
            <a:r>
              <a:rPr lang="en-US" altLang="ko-KR" dirty="0" err="1" smtClean="0"/>
              <a:t>setTailLanguage</a:t>
            </a:r>
            <a:r>
              <a:rPr lang="en-US" altLang="ko-KR" dirty="0" smtClean="0"/>
              <a:t>(String)</a:t>
            </a:r>
          </a:p>
          <a:p>
            <a:r>
              <a:rPr lang="en-US" altLang="ko-KR" dirty="0"/>
              <a:t>Interface </a:t>
            </a:r>
            <a:r>
              <a:rPr lang="ko-KR" altLang="en-US" dirty="0" smtClean="0"/>
              <a:t>후보</a:t>
            </a:r>
            <a:r>
              <a:rPr lang="en-US" altLang="ko-KR" dirty="0" smtClean="0"/>
              <a:t>2</a:t>
            </a:r>
            <a:endParaRPr lang="en-US" altLang="ko-KR" dirty="0"/>
          </a:p>
          <a:p>
            <a:pPr lvl="1"/>
            <a:r>
              <a:rPr lang="en-US" altLang="ko-KR" dirty="0" smtClean="0"/>
              <a:t>Bool </a:t>
            </a:r>
            <a:r>
              <a:rPr lang="en-US" altLang="ko-KR" dirty="0" err="1" smtClean="0"/>
              <a:t>enableSwing</a:t>
            </a:r>
            <a:r>
              <a:rPr lang="en-US" altLang="ko-KR" dirty="0" smtClean="0"/>
              <a:t>(way), Bool </a:t>
            </a:r>
            <a:r>
              <a:rPr lang="en-US" altLang="ko-KR" dirty="0" err="1" smtClean="0"/>
              <a:t>enableStand</a:t>
            </a:r>
            <a:r>
              <a:rPr lang="en-US" altLang="ko-KR" dirty="0" smtClean="0"/>
              <a:t>(way), Bool </a:t>
            </a:r>
            <a:r>
              <a:rPr lang="en-US" altLang="ko-KR" dirty="0" err="1" smtClean="0"/>
              <a:t>setHair</a:t>
            </a:r>
            <a:r>
              <a:rPr lang="en-US" altLang="ko-KR" dirty="0" smtClean="0"/>
              <a:t>(shape)</a:t>
            </a:r>
          </a:p>
          <a:p>
            <a:pPr lvl="0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911" y="2276872"/>
            <a:ext cx="6419048" cy="4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634" y="1758757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3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4345" y="3505196"/>
            <a:ext cx="2367631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Inheritance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31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1827034" cy="424661"/>
          </a:xfrm>
        </p:spPr>
        <p:txBody>
          <a:bodyPr/>
          <a:lstStyle/>
          <a:p>
            <a:r>
              <a:rPr lang="en-US" altLang="ko-KR" dirty="0" smtClean="0"/>
              <a:t>Inheritance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096710"/>
          </a:xfrm>
        </p:spPr>
        <p:txBody>
          <a:bodyPr/>
          <a:lstStyle/>
          <a:p>
            <a:r>
              <a:rPr lang="ko-KR" altLang="en-US" dirty="0"/>
              <a:t>공통된 특성을 가진 객체들을 추상화한</a:t>
            </a:r>
            <a:r>
              <a:rPr lang="en-US" altLang="ko-KR" dirty="0"/>
              <a:t>, Base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를 만들고 상속하여 </a:t>
            </a:r>
            <a:r>
              <a:rPr lang="ko-KR" altLang="en-US" dirty="0" err="1" smtClean="0"/>
              <a:t>재사용성을</a:t>
            </a:r>
            <a:r>
              <a:rPr lang="ko-KR" altLang="en-US" dirty="0" smtClean="0"/>
              <a:t> 높임</a:t>
            </a:r>
            <a:endParaRPr lang="en-US" altLang="ko-KR" dirty="0" smtClean="0"/>
          </a:p>
          <a:p>
            <a:r>
              <a:rPr lang="en-US" altLang="ko-KR" dirty="0" smtClean="0"/>
              <a:t>Generalization</a:t>
            </a:r>
          </a:p>
          <a:p>
            <a:r>
              <a:rPr lang="ko-KR" altLang="en-US" dirty="0" smtClean="0"/>
              <a:t>객체들 간에 </a:t>
            </a:r>
            <a:r>
              <a:rPr lang="en-US" altLang="ko-KR" dirty="0" smtClean="0"/>
              <a:t>is </a:t>
            </a:r>
            <a:r>
              <a:rPr lang="en-US" altLang="ko-KR" dirty="0"/>
              <a:t>a kind of </a:t>
            </a:r>
            <a:r>
              <a:rPr lang="en-US" altLang="ko-KR" dirty="0" smtClean="0"/>
              <a:t>, is a </a:t>
            </a:r>
            <a:r>
              <a:rPr lang="ko-KR" altLang="en-US" dirty="0" smtClean="0"/>
              <a:t>관계를 표현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2" y="2780928"/>
            <a:ext cx="4758123" cy="286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634" y="1758757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4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4345" y="3505196"/>
            <a:ext cx="2988955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Polymorphism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98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2497089" cy="424661"/>
          </a:xfrm>
        </p:spPr>
        <p:txBody>
          <a:bodyPr/>
          <a:lstStyle/>
          <a:p>
            <a:r>
              <a:rPr lang="en-US" altLang="ko-KR" dirty="0" smtClean="0"/>
              <a:t>Polymorphism 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096710"/>
          </a:xfrm>
        </p:spPr>
        <p:txBody>
          <a:bodyPr/>
          <a:lstStyle/>
          <a:p>
            <a:r>
              <a:rPr lang="ko-KR" altLang="en-US" dirty="0" smtClean="0"/>
              <a:t>하나의 인터페이스 뒤에 여러가지 구현을 숨길 수 있는 능력</a:t>
            </a:r>
            <a:endParaRPr lang="en-US" altLang="ko-KR" dirty="0" smtClean="0"/>
          </a:p>
          <a:p>
            <a:r>
              <a:rPr lang="en-US" altLang="ko-KR" dirty="0" smtClean="0"/>
              <a:t>Polymorphism</a:t>
            </a:r>
            <a:r>
              <a:rPr lang="ko-KR" altLang="en-US" dirty="0"/>
              <a:t>은 </a:t>
            </a:r>
            <a:r>
              <a:rPr lang="ko-KR" altLang="en-US" dirty="0" err="1"/>
              <a:t>공통부를</a:t>
            </a:r>
            <a:r>
              <a:rPr lang="ko-KR" altLang="en-US" dirty="0"/>
              <a:t> </a:t>
            </a:r>
            <a:r>
              <a:rPr lang="en-US" altLang="ko-KR" dirty="0"/>
              <a:t>base class</a:t>
            </a:r>
            <a:r>
              <a:rPr lang="ko-KR" altLang="en-US" dirty="0"/>
              <a:t>로 나누어 재사용하는 상속을 넘어</a:t>
            </a:r>
            <a:r>
              <a:rPr lang="en-US" altLang="ko-KR" dirty="0"/>
              <a:t>, </a:t>
            </a:r>
            <a:r>
              <a:rPr lang="ko-KR" altLang="en-US" dirty="0"/>
              <a:t>확장을 용이하게 만든다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4" y="2276872"/>
            <a:ext cx="5644112" cy="42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8"/>
          <a:stretch/>
        </p:blipFill>
        <p:spPr bwMode="auto">
          <a:xfrm>
            <a:off x="6744072" y="3356992"/>
            <a:ext cx="4199196" cy="165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103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5955916" cy="167840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dirty="0"/>
              <a:t>같은 함수가 문맥에 의해 다른 내용을 실행 할 수 있음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Abstraction Level</a:t>
            </a:r>
            <a:r>
              <a:rPr lang="ko-KR" altLang="en-US" dirty="0"/>
              <a:t>을 잘 정의 해야 </a:t>
            </a:r>
            <a:r>
              <a:rPr lang="en-US" altLang="ko-KR" dirty="0"/>
              <a:t>Polymorphism</a:t>
            </a:r>
            <a:r>
              <a:rPr lang="ko-KR" altLang="en-US" dirty="0"/>
              <a:t>을 통한 확장이 용이해진다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593269" cy="424661"/>
          </a:xfrm>
        </p:spPr>
        <p:txBody>
          <a:bodyPr/>
          <a:lstStyle/>
          <a:p>
            <a:r>
              <a:rPr lang="en-US" altLang="ko-KR" dirty="0" smtClean="0"/>
              <a:t>Polymorphism II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2118692"/>
            <a:ext cx="5524500" cy="22479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4" y="4349452"/>
            <a:ext cx="4010025" cy="22479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164" y="1412354"/>
            <a:ext cx="5524500" cy="29527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164" y="4368502"/>
            <a:ext cx="55245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3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3634" y="1758757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5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4345" y="3505196"/>
            <a:ext cx="2667585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Composition</a:t>
            </a:r>
            <a:endParaRPr kumimoji="1" lang="en-US" altLang="ko-KR" sz="32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2F2F2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8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832420" cy="424661"/>
          </a:xfrm>
        </p:spPr>
        <p:txBody>
          <a:bodyPr/>
          <a:lstStyle/>
          <a:p>
            <a:r>
              <a:rPr lang="ko-KR" altLang="en-US" dirty="0" smtClean="0"/>
              <a:t>어려운 상속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5992" y="1707421"/>
            <a:ext cx="11592656" cy="474591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/>
              <a:t>일반적인 개념상</a:t>
            </a:r>
            <a:r>
              <a:rPr lang="en-US" altLang="ko-KR" dirty="0"/>
              <a:t>, </a:t>
            </a:r>
            <a:r>
              <a:rPr lang="ko-KR" altLang="en-US" dirty="0"/>
              <a:t>모든 정사각형은 직사각형이다</a:t>
            </a:r>
            <a:r>
              <a:rPr lang="en-US" altLang="ko-KR" dirty="0"/>
              <a:t>. </a:t>
            </a:r>
            <a:r>
              <a:rPr lang="ko-KR" altLang="en-US" dirty="0"/>
              <a:t>그러므로 </a:t>
            </a:r>
            <a:r>
              <a:rPr lang="en-US" altLang="ko-KR" dirty="0" smtClean="0"/>
              <a:t>Square </a:t>
            </a:r>
            <a:r>
              <a:rPr lang="ko-KR" altLang="en-US" dirty="0"/>
              <a:t>클래스는 </a:t>
            </a:r>
            <a:r>
              <a:rPr lang="en-US" altLang="ko-KR" dirty="0"/>
              <a:t>Rectangle </a:t>
            </a:r>
            <a:r>
              <a:rPr lang="ko-KR" altLang="en-US" dirty="0"/>
              <a:t>클래스에서 파생된다고 보는 것이 합리적이다 </a:t>
            </a:r>
            <a:r>
              <a:rPr lang="en-US" altLang="ko-KR" dirty="0"/>
              <a:t>(</a:t>
            </a:r>
            <a:r>
              <a:rPr lang="ko-KR" altLang="en-US" dirty="0"/>
              <a:t>그림 </a:t>
            </a:r>
            <a:r>
              <a:rPr lang="en-US" altLang="ko-KR" dirty="0"/>
              <a:t>10-1 </a:t>
            </a:r>
            <a:r>
              <a:rPr lang="ko-KR" altLang="en-US" dirty="0"/>
              <a:t>참고</a:t>
            </a:r>
            <a:r>
              <a:rPr lang="en-US" altLang="ko-KR" dirty="0" smtClean="0"/>
              <a:t>).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이와 같은 </a:t>
            </a:r>
            <a:r>
              <a:rPr lang="en-US" altLang="ko-KR" dirty="0"/>
              <a:t>IS-A </a:t>
            </a:r>
            <a:r>
              <a:rPr lang="ko-KR" altLang="en-US" dirty="0"/>
              <a:t>관계의 사용은 객체 지향 분석의 기본적인 기법 중 하나로 생각될 수 있다</a:t>
            </a:r>
            <a:r>
              <a:rPr lang="en-US" altLang="ko-KR" dirty="0"/>
              <a:t>. </a:t>
            </a:r>
            <a:r>
              <a:rPr lang="ko-KR" altLang="en-US" dirty="0"/>
              <a:t>정사각형은 직사각형이다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 err="1"/>
              <a:t>Squre</a:t>
            </a:r>
            <a:r>
              <a:rPr lang="en-US" altLang="ko-KR" dirty="0"/>
              <a:t> </a:t>
            </a:r>
            <a:r>
              <a:rPr lang="ko-KR" altLang="en-US" dirty="0"/>
              <a:t>클래스는 </a:t>
            </a:r>
            <a:r>
              <a:rPr lang="en-US" altLang="ko-KR" dirty="0"/>
              <a:t>Rectangle </a:t>
            </a:r>
            <a:r>
              <a:rPr lang="ko-KR" altLang="en-US" dirty="0"/>
              <a:t>클래스에서 파생되어야 한다</a:t>
            </a:r>
            <a:r>
              <a:rPr lang="en-US" altLang="ko-KR" dirty="0"/>
              <a:t>. </a:t>
            </a:r>
            <a:r>
              <a:rPr lang="ko-KR" altLang="en-US" dirty="0"/>
              <a:t>그러나 이런 식의 생각은 </a:t>
            </a:r>
            <a:r>
              <a:rPr lang="ko-KR" altLang="en-US" b="1" dirty="0"/>
              <a:t>미묘</a:t>
            </a:r>
            <a:r>
              <a:rPr lang="ko-KR" altLang="en-US" dirty="0"/>
              <a:t>하지만 심각한 문제를 낳을 수 있다</a:t>
            </a:r>
            <a:r>
              <a:rPr lang="en-US" altLang="ko-KR" dirty="0"/>
              <a:t>. </a:t>
            </a:r>
            <a:r>
              <a:rPr lang="ko-KR" altLang="en-US" dirty="0"/>
              <a:t>일반적으로 이런 문제는 코드에서 보게 되기 전까지는 예측할 수 없다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뭔가 잘 못되었다는 첫 번째 증거는 </a:t>
            </a:r>
            <a:r>
              <a:rPr lang="en-US" altLang="ko-KR" dirty="0"/>
              <a:t>Square</a:t>
            </a:r>
            <a:r>
              <a:rPr lang="ko-KR" altLang="en-US" dirty="0"/>
              <a:t>가 </a:t>
            </a:r>
            <a:r>
              <a:rPr lang="en-US" altLang="ko-KR" dirty="0" err="1"/>
              <a:t>itsHeight</a:t>
            </a:r>
            <a:r>
              <a:rPr lang="ko-KR" altLang="en-US" dirty="0"/>
              <a:t>와 </a:t>
            </a:r>
            <a:r>
              <a:rPr lang="en-US" altLang="ko-KR" dirty="0" err="1"/>
              <a:t>ItsWidth</a:t>
            </a:r>
            <a:r>
              <a:rPr lang="en-US" altLang="ko-KR" dirty="0"/>
              <a:t> </a:t>
            </a:r>
            <a:r>
              <a:rPr lang="ko-KR" altLang="en-US" dirty="0"/>
              <a:t>멤버 변수를 필요로 하지 않는다는 사실이다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pPr algn="r"/>
            <a:r>
              <a:rPr lang="ko-KR" altLang="en-US" dirty="0" err="1" smtClean="0">
                <a:solidFill>
                  <a:schemeClr val="bg1">
                    <a:lumMod val="50000"/>
                  </a:schemeClr>
                </a:solidFill>
              </a:rPr>
              <a:t>클린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소프트웨어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로버트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C,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마틴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61" y="2132856"/>
            <a:ext cx="2657475" cy="1752600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958834"/>
            <a:ext cx="11375999" cy="37119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 err="1" smtClean="0"/>
              <a:t>공통부를</a:t>
            </a:r>
            <a:r>
              <a:rPr lang="ko-KR" altLang="en-US" dirty="0" smtClean="0"/>
              <a:t> 추상화 하려는데 미묘하게 다른 부분들이 생깁니다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193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832420" cy="424661"/>
          </a:xfrm>
        </p:spPr>
        <p:txBody>
          <a:bodyPr/>
          <a:lstStyle/>
          <a:p>
            <a:r>
              <a:rPr lang="ko-KR" altLang="en-US" dirty="0" smtClean="0"/>
              <a:t>어려운 상속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8000" y="2708920"/>
            <a:ext cx="11592656" cy="264072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en-US" altLang="ko-KR" dirty="0"/>
              <a:t>LSP</a:t>
            </a:r>
            <a:r>
              <a:rPr lang="ko-KR" altLang="en-US" dirty="0"/>
              <a:t>는 다음과 같이 설명할 수 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lvl="1"/>
            <a:endParaRPr lang="en-US" altLang="ko-KR" sz="500" dirty="0"/>
          </a:p>
          <a:p>
            <a:pPr lvl="1"/>
            <a:r>
              <a:rPr lang="ko-KR" altLang="en-US" dirty="0"/>
              <a:t>서브타입</a:t>
            </a:r>
            <a:r>
              <a:rPr lang="en-US" altLang="ko-KR" dirty="0"/>
              <a:t>(subtype)</a:t>
            </a:r>
            <a:r>
              <a:rPr lang="ko-KR" altLang="en-US" dirty="0"/>
              <a:t>은 그것의 기반 타입</a:t>
            </a:r>
            <a:r>
              <a:rPr lang="en-US" altLang="ko-KR" dirty="0"/>
              <a:t>(base type)</a:t>
            </a:r>
            <a:r>
              <a:rPr lang="ko-KR" altLang="en-US" dirty="0"/>
              <a:t>으로 치환 가능해야 한다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1988</a:t>
            </a:r>
            <a:r>
              <a:rPr lang="ko-KR" altLang="en-US" dirty="0"/>
              <a:t>년에 바버라 </a:t>
            </a:r>
            <a:r>
              <a:rPr lang="ko-KR" altLang="en-US" dirty="0" err="1"/>
              <a:t>리스코프</a:t>
            </a:r>
            <a:r>
              <a:rPr lang="en-US" altLang="ko-KR" dirty="0"/>
              <a:t>(Barbara </a:t>
            </a:r>
            <a:r>
              <a:rPr lang="en-US" altLang="ko-KR" dirty="0" err="1"/>
              <a:t>Liskov</a:t>
            </a:r>
            <a:r>
              <a:rPr lang="en-US" altLang="ko-KR" dirty="0"/>
              <a:t>)</a:t>
            </a:r>
            <a:r>
              <a:rPr lang="ko-KR" altLang="en-US" dirty="0"/>
              <a:t>가 처음으로 이 원칙을 작성했다</a:t>
            </a:r>
            <a:r>
              <a:rPr lang="en-US" altLang="ko-KR" dirty="0"/>
              <a:t>. </a:t>
            </a:r>
            <a:r>
              <a:rPr lang="ko-KR" altLang="en-US" dirty="0"/>
              <a:t>그녀는 다음과 같이 말했다</a:t>
            </a:r>
            <a:r>
              <a:rPr lang="en-US" altLang="ko-KR" dirty="0"/>
              <a:t>. </a:t>
            </a:r>
          </a:p>
          <a:p>
            <a:endParaRPr lang="en-US" altLang="ko-KR" sz="500" dirty="0"/>
          </a:p>
          <a:p>
            <a:pPr lvl="1"/>
            <a:r>
              <a:rPr lang="ko-KR" altLang="en-US" dirty="0"/>
              <a:t>타입 </a:t>
            </a:r>
            <a:r>
              <a:rPr lang="en-US" altLang="ko-KR" dirty="0"/>
              <a:t>S</a:t>
            </a:r>
            <a:r>
              <a:rPr lang="ko-KR" altLang="en-US" dirty="0"/>
              <a:t>의 각 객체 </a:t>
            </a:r>
            <a:r>
              <a:rPr lang="en-US" altLang="ko-KR" dirty="0"/>
              <a:t>o1</a:t>
            </a:r>
            <a:r>
              <a:rPr lang="ko-KR" altLang="en-US" dirty="0"/>
              <a:t>과 타입 </a:t>
            </a:r>
            <a:r>
              <a:rPr lang="en-US" altLang="ko-KR" dirty="0"/>
              <a:t>T</a:t>
            </a:r>
            <a:r>
              <a:rPr lang="ko-KR" altLang="en-US" dirty="0"/>
              <a:t>의 각 객체 </a:t>
            </a:r>
            <a:r>
              <a:rPr lang="en-US" altLang="ko-KR" dirty="0"/>
              <a:t>o2</a:t>
            </a:r>
            <a:r>
              <a:rPr lang="ko-KR" altLang="en-US" dirty="0"/>
              <a:t>가 있을 때</a:t>
            </a:r>
            <a:r>
              <a:rPr lang="en-US" altLang="ko-KR" dirty="0"/>
              <a:t>, T</a:t>
            </a:r>
            <a:r>
              <a:rPr lang="ko-KR" altLang="en-US" dirty="0"/>
              <a:t>로 프로그램 </a:t>
            </a:r>
            <a:r>
              <a:rPr lang="en-US" altLang="ko-KR" dirty="0"/>
              <a:t>P</a:t>
            </a:r>
            <a:r>
              <a:rPr lang="ko-KR" altLang="en-US" dirty="0"/>
              <a:t>를 정의했음에도 불구하고</a:t>
            </a:r>
            <a:r>
              <a:rPr lang="en-US" altLang="ko-KR" dirty="0"/>
              <a:t>, o2</a:t>
            </a:r>
            <a:r>
              <a:rPr lang="ko-KR" altLang="en-US" dirty="0"/>
              <a:t>를 </a:t>
            </a:r>
            <a:r>
              <a:rPr lang="en-US" altLang="ko-KR" dirty="0"/>
              <a:t>o1</a:t>
            </a:r>
            <a:r>
              <a:rPr lang="ko-KR" altLang="en-US" dirty="0"/>
              <a:t>로 치환할 때 </a:t>
            </a:r>
            <a:r>
              <a:rPr lang="en-US" altLang="ko-KR" dirty="0"/>
              <a:t>P</a:t>
            </a:r>
            <a:r>
              <a:rPr lang="ko-KR" altLang="en-US" dirty="0"/>
              <a:t>의 행위가 변하지 않으면</a:t>
            </a:r>
            <a:r>
              <a:rPr lang="en-US" altLang="ko-KR" dirty="0"/>
              <a:t>, S</a:t>
            </a:r>
            <a:r>
              <a:rPr lang="ko-KR" altLang="en-US" dirty="0"/>
              <a:t>는 </a:t>
            </a:r>
            <a:r>
              <a:rPr lang="en-US" altLang="ko-KR" dirty="0"/>
              <a:t>T</a:t>
            </a:r>
            <a:r>
              <a:rPr lang="ko-KR" altLang="en-US" dirty="0"/>
              <a:t>의 서브타입이다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sz="1000" dirty="0"/>
          </a:p>
          <a:p>
            <a:pPr algn="r"/>
            <a:r>
              <a:rPr lang="ko-KR" altLang="en-US" dirty="0" err="1" smtClean="0">
                <a:solidFill>
                  <a:schemeClr val="bg1">
                    <a:lumMod val="50000"/>
                  </a:schemeClr>
                </a:solidFill>
              </a:rPr>
              <a:t>클린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소프트웨어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로버트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C,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마틴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dirty="0"/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3936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 smtClean="0"/>
              <a:t>Fly </a:t>
            </a:r>
            <a:r>
              <a:rPr lang="ko-KR" altLang="en-US" dirty="0" smtClean="0"/>
              <a:t>메서드를 제공하는 새를 상속 받은 펭귄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펭귄으로 치환 시 날지 못하고 뒤뚱거리나 아무런 동작 안하는 등 행위가 변하면 </a:t>
            </a:r>
            <a:r>
              <a:rPr lang="en-US" altLang="ko-KR" dirty="0" smtClean="0"/>
              <a:t>LSP</a:t>
            </a:r>
            <a:r>
              <a:rPr lang="ko-KR" altLang="en-US" dirty="0" smtClean="0"/>
              <a:t>를 위반 합니다</a:t>
            </a:r>
            <a:r>
              <a:rPr lang="en-US" altLang="ko-KR" dirty="0" smtClean="0"/>
              <a:t>. </a:t>
            </a:r>
          </a:p>
          <a:p>
            <a:pPr>
              <a:lnSpc>
                <a:spcPct val="110000"/>
              </a:lnSpc>
            </a:pPr>
            <a:r>
              <a:rPr lang="ko-KR" altLang="en-US" dirty="0" smtClean="0"/>
              <a:t>상속의 어려움은 주어진 </a:t>
            </a:r>
            <a:r>
              <a:rPr lang="ko-KR" altLang="en-US" dirty="0"/>
              <a:t>요구사항을 분석하여 </a:t>
            </a:r>
            <a:r>
              <a:rPr lang="en-US" altLang="ko-KR" dirty="0"/>
              <a:t>LSP</a:t>
            </a:r>
            <a:r>
              <a:rPr lang="ko-KR" altLang="en-US" dirty="0"/>
              <a:t>를 지켜 상속을 사용하였음에도 불구하고 미래에 </a:t>
            </a:r>
            <a:r>
              <a:rPr lang="en-US" altLang="ko-KR" dirty="0"/>
              <a:t>LSP</a:t>
            </a:r>
            <a:r>
              <a:rPr lang="ko-KR" altLang="en-US" dirty="0"/>
              <a:t>를 깨는 요구사항이 들어오는 </a:t>
            </a:r>
            <a:r>
              <a:rPr lang="ko-KR" altLang="en-US" dirty="0" smtClean="0"/>
              <a:t>일들이 발생하곤 합니다</a:t>
            </a:r>
            <a:r>
              <a:rPr lang="en-US" altLang="ko-KR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084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2048826" cy="424661"/>
          </a:xfrm>
        </p:spPr>
        <p:txBody>
          <a:bodyPr/>
          <a:lstStyle/>
          <a:p>
            <a:r>
              <a:rPr lang="en-US" altLang="ko-KR" dirty="0" smtClean="0"/>
              <a:t>Composition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56760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 smtClean="0"/>
              <a:t>하나의 객체가 다른 객체들을 가지고 그 책임을 만족 시킬 수 있음</a:t>
            </a:r>
            <a:r>
              <a:rPr lang="en-US" altLang="ko-KR" dirty="0" smtClean="0"/>
              <a:t>(</a:t>
            </a:r>
            <a:r>
              <a:rPr lang="ko-KR" altLang="en-US" dirty="0" smtClean="0"/>
              <a:t> </a:t>
            </a:r>
            <a:r>
              <a:rPr lang="en-US" altLang="ko-KR" dirty="0" smtClean="0"/>
              <a:t>has a)</a:t>
            </a:r>
          </a:p>
          <a:p>
            <a:pPr>
              <a:lnSpc>
                <a:spcPct val="110000"/>
              </a:lnSpc>
            </a:pPr>
            <a:r>
              <a:rPr lang="ko-KR" altLang="en-US" dirty="0" smtClean="0"/>
              <a:t>객체들의 협업으로 복잡한 문제를 해결 할 수 있다는 것은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재료가 되는 수많은 작은 객체가 존재한다면</a:t>
            </a:r>
            <a:r>
              <a:rPr lang="en-US" altLang="ko-KR" dirty="0" smtClean="0"/>
              <a:t>, </a:t>
            </a:r>
            <a:r>
              <a:rPr lang="ko-KR" altLang="en-US" b="1" dirty="0" smtClean="0"/>
              <a:t>런타임</a:t>
            </a:r>
            <a:r>
              <a:rPr lang="ko-KR" altLang="en-US" dirty="0" smtClean="0"/>
              <a:t>에도 필요에 따라 </a:t>
            </a:r>
            <a:r>
              <a:rPr lang="ko-KR" altLang="en-US" b="1" dirty="0" smtClean="0"/>
              <a:t>객체들을 협업</a:t>
            </a:r>
            <a:r>
              <a:rPr lang="ko-KR" altLang="en-US" dirty="0" smtClean="0"/>
              <a:t>하게 하여 </a:t>
            </a:r>
            <a:r>
              <a:rPr lang="ko-KR" altLang="en-US" b="1" dirty="0" err="1" smtClean="0"/>
              <a:t>재사용성과</a:t>
            </a:r>
            <a:r>
              <a:rPr lang="ko-KR" altLang="en-US" b="1" dirty="0" smtClean="0"/>
              <a:t> 확장성</a:t>
            </a:r>
            <a:r>
              <a:rPr lang="ko-KR" altLang="en-US" dirty="0" smtClean="0"/>
              <a:t>을 높일 수 있음</a:t>
            </a:r>
            <a:endParaRPr lang="en-US" altLang="ko-KR" dirty="0" smtClean="0"/>
          </a:p>
          <a:p>
            <a:pPr>
              <a:lnSpc>
                <a:spcPct val="110000"/>
              </a:lnSpc>
            </a:pPr>
            <a:r>
              <a:rPr lang="ko-KR" altLang="en-US" dirty="0" smtClean="0"/>
              <a:t>다른 </a:t>
            </a:r>
            <a:r>
              <a:rPr lang="ko-KR" altLang="en-US" dirty="0"/>
              <a:t>객체에 대한 참조를 획득하여 런타임 시 </a:t>
            </a:r>
            <a:r>
              <a:rPr lang="ko-KR" altLang="en-US" dirty="0" smtClean="0"/>
              <a:t>동적으로 새로운 객체를 정의하는 방법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95400" y="2924944"/>
            <a:ext cx="10950682" cy="31947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 smtClean="0"/>
              <a:t>클래스 </a:t>
            </a:r>
            <a:r>
              <a:rPr lang="ko-KR" altLang="en-US" dirty="0"/>
              <a:t>상속보다 객체 합성을 더 선호하는 이유는 각 클래스의 캡슐화를 유지 할 수 있고</a:t>
            </a:r>
            <a:r>
              <a:rPr lang="en-US" altLang="ko-KR" dirty="0"/>
              <a:t>, </a:t>
            </a:r>
            <a:r>
              <a:rPr lang="ko-KR" altLang="en-US" dirty="0"/>
              <a:t>각 클래스의 한 가지 작업에 집중할 수 있기 때문입니다</a:t>
            </a:r>
            <a:r>
              <a:rPr lang="en-US" altLang="ko-KR" dirty="0"/>
              <a:t>. </a:t>
            </a:r>
            <a:r>
              <a:rPr lang="ko-KR" altLang="en-US" dirty="0"/>
              <a:t>클래스와 클래스 계층이 소규모로 유지되면서 통제 불능의 괴물로 자랄 가능성은 적습니다</a:t>
            </a:r>
            <a:r>
              <a:rPr lang="en-US" altLang="ko-KR" dirty="0"/>
              <a:t>. </a:t>
            </a:r>
            <a:r>
              <a:rPr lang="ko-KR" altLang="en-US" dirty="0"/>
              <a:t>객체 합성으로 설계되면 클래스의 수는 적어지고 객체의 수는 좀더 많아질 수 있지만</a:t>
            </a:r>
            <a:r>
              <a:rPr lang="en-US" altLang="ko-KR" dirty="0"/>
              <a:t>, </a:t>
            </a:r>
            <a:r>
              <a:rPr lang="ko-KR" altLang="en-US" dirty="0"/>
              <a:t>시스템의 행동은 클래스에 정의된 정적인 내용보다는 런타임에 드러나는 객체 합성에 의한 상호 관련성에 따라 달라질 수 있습니다</a:t>
            </a:r>
            <a:r>
              <a:rPr lang="en-US" altLang="ko-KR" dirty="0"/>
              <a:t>. </a:t>
            </a:r>
            <a:r>
              <a:rPr lang="ko-KR" altLang="en-US" dirty="0"/>
              <a:t>이로써 우리는 객체지향의 두번째 원칙을 만족시킬 수 있습니다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endParaRPr lang="en-US" altLang="ko-KR" dirty="0"/>
          </a:p>
          <a:p>
            <a:pPr algn="ctr"/>
            <a:r>
              <a:rPr lang="ko-KR" altLang="en-US" dirty="0" smtClean="0"/>
              <a:t>클래스 </a:t>
            </a:r>
            <a:r>
              <a:rPr lang="ko-KR" altLang="en-US" dirty="0"/>
              <a:t>상속 보다 객체 합성을 선호하라* </a:t>
            </a:r>
            <a:r>
              <a:rPr lang="en-US" altLang="ko-KR" dirty="0"/>
              <a:t>(Favor object composition over class inheritance.).</a:t>
            </a:r>
          </a:p>
          <a:p>
            <a:pPr algn="r"/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디자인 패턴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US" altLang="ko-KR" dirty="0" err="1" smtClean="0">
                <a:solidFill>
                  <a:schemeClr val="bg1">
                    <a:lumMod val="50000"/>
                  </a:schemeClr>
                </a:solidFill>
              </a:rPr>
              <a:t>GoF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611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5250022" cy="424661"/>
          </a:xfrm>
        </p:spPr>
        <p:txBody>
          <a:bodyPr/>
          <a:lstStyle/>
          <a:p>
            <a:r>
              <a:rPr lang="en-US" altLang="ko-KR" dirty="0" smtClean="0"/>
              <a:t>Dependency Injection(</a:t>
            </a:r>
            <a:r>
              <a:rPr lang="ko-KR" altLang="en-US" dirty="0" smtClean="0"/>
              <a:t>의존성 주입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38725"/>
          <a:stretch/>
        </p:blipFill>
        <p:spPr>
          <a:xfrm>
            <a:off x="354632" y="4506211"/>
            <a:ext cx="5544616" cy="2038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0"/>
          <a:stretch/>
        </p:blipFill>
        <p:spPr>
          <a:xfrm>
            <a:off x="263352" y="3754278"/>
            <a:ext cx="4608512" cy="6953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486"/>
          <a:stretch/>
        </p:blipFill>
        <p:spPr>
          <a:xfrm>
            <a:off x="6744072" y="3645024"/>
            <a:ext cx="2580160" cy="71437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03"/>
          <a:stretch/>
        </p:blipFill>
        <p:spPr>
          <a:xfrm>
            <a:off x="6651520" y="4359399"/>
            <a:ext cx="3456384" cy="923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805" y="3231058"/>
            <a:ext cx="4743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smtClean="0"/>
              <a:t>텍스트 파일로부터 </a:t>
            </a:r>
            <a:r>
              <a:rPr lang="ko-KR" altLang="en-US" sz="1400" dirty="0" smtClean="0"/>
              <a:t>영화 정보를 로딩 하고 검색 책임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알 필요가 없는 것을 의존하고 있음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56040" y="3219734"/>
            <a:ext cx="5461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285750" indent="-285750">
              <a:buFont typeface="Arial" panose="020B0604020202020204" pitchFamily="34" charset="0"/>
              <a:buChar char="•"/>
              <a:defRPr sz="1400"/>
            </a:lvl1pPr>
          </a:lstStyle>
          <a:p>
            <a:r>
              <a:rPr lang="ko-KR" altLang="en-US" dirty="0"/>
              <a:t>영화 정보를 로딩하고 검색 책임을 가진 객체를 외부에서 주입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000" y="692696"/>
            <a:ext cx="11592656" cy="125572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 smtClean="0"/>
              <a:t>의존성 </a:t>
            </a:r>
            <a:r>
              <a:rPr lang="ko-KR" altLang="en-US" dirty="0"/>
              <a:t>주입은 여러분이 만든 클래스의 구성을 클래스 </a:t>
            </a:r>
            <a:r>
              <a:rPr lang="ko-KR" altLang="en-US" dirty="0" err="1"/>
              <a:t>의존체들의</a:t>
            </a:r>
            <a:r>
              <a:rPr lang="ko-KR" altLang="en-US" dirty="0"/>
              <a:t> </a:t>
            </a:r>
            <a:r>
              <a:rPr lang="ko-KR" altLang="en-US" dirty="0" err="1"/>
              <a:t>구성으로부터</a:t>
            </a:r>
            <a:r>
              <a:rPr lang="ko-KR" altLang="en-US" dirty="0"/>
              <a:t> 분리한다</a:t>
            </a:r>
            <a:r>
              <a:rPr lang="en-US" altLang="ko-KR" dirty="0"/>
              <a:t>. </a:t>
            </a:r>
            <a:r>
              <a:rPr lang="ko-KR" altLang="en-US" dirty="0"/>
              <a:t>이는 여러분이 매번 자신만의 것을 직접 제작하는 대신에 </a:t>
            </a:r>
            <a:r>
              <a:rPr lang="en-US" altLang="ko-KR" dirty="0"/>
              <a:t>(</a:t>
            </a:r>
            <a:r>
              <a:rPr lang="ko-KR" altLang="en-US" dirty="0"/>
              <a:t>공급업체의</a:t>
            </a:r>
            <a:r>
              <a:rPr lang="en-US" altLang="ko-KR" dirty="0"/>
              <a:t>) </a:t>
            </a:r>
            <a:r>
              <a:rPr lang="ko-KR" altLang="en-US" dirty="0"/>
              <a:t>상품 진열대에서 무언가를 구입해오는 일과 같다</a:t>
            </a:r>
            <a:r>
              <a:rPr lang="en-US" altLang="ko-KR" dirty="0" smtClean="0"/>
              <a:t>.</a:t>
            </a:r>
          </a:p>
          <a:p>
            <a:pPr algn="r"/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객체지향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사고 프로세스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맷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와이스펠드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08000" y="2057014"/>
            <a:ext cx="11592656" cy="86793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dirty="0"/>
              <a:t>인터페이스에 정의된 메시지를 통해서만 코드를 재사용하는 방법을 </a:t>
            </a:r>
            <a:r>
              <a:rPr lang="ko-KR" altLang="en-US" b="1" dirty="0"/>
              <a:t>합성</a:t>
            </a:r>
            <a:r>
              <a:rPr lang="ko-KR" altLang="en-US" dirty="0"/>
              <a:t>이라고 부른다</a:t>
            </a:r>
            <a:r>
              <a:rPr lang="en-US" altLang="ko-KR" dirty="0"/>
              <a:t>. .</a:t>
            </a:r>
            <a:endParaRPr lang="en-US" altLang="ko-KR" dirty="0" smtClean="0"/>
          </a:p>
          <a:p>
            <a:pPr algn="r"/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</a:rPr>
              <a:t>오브젝트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조영호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980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941424" cy="424661"/>
          </a:xfrm>
        </p:spPr>
        <p:txBody>
          <a:bodyPr/>
          <a:lstStyle/>
          <a:p>
            <a:r>
              <a:rPr lang="ko-KR" altLang="en-US" dirty="0" smtClean="0"/>
              <a:t>상속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합성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5992" y="818564"/>
            <a:ext cx="11592656" cy="12988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400" b="1" dirty="0"/>
              <a:t>상속이 종종 오용 되거나 남용 되는 이유는 </a:t>
            </a:r>
            <a:r>
              <a:rPr lang="ko-KR" altLang="en-US" sz="1400" dirty="0"/>
              <a:t>상속이 설계 전략으로 사용되는 근본적인 결함 때문이 아니고 </a:t>
            </a:r>
            <a:r>
              <a:rPr lang="ko-KR" altLang="en-US" sz="1400" b="1" dirty="0"/>
              <a:t>상속이 무엇인지를 제대로 이해하지 못했기 때문이다</a:t>
            </a:r>
            <a:r>
              <a:rPr lang="en-US" altLang="ko-KR" sz="1400" b="1" dirty="0"/>
              <a:t>. </a:t>
            </a:r>
            <a:r>
              <a:rPr lang="en-US" altLang="ko-KR" sz="1400" dirty="0"/>
              <a:t> </a:t>
            </a:r>
            <a:r>
              <a:rPr lang="ko-KR" altLang="en-US" sz="1400" dirty="0"/>
              <a:t>결론을 내리자면 상속과 합성은 모두 객체 지향 시스템 구축에 중요한 기술이라는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설계자와 개발자는 두 가지의 장단점을 모두 이해하고 적절한 맥락에서 이들을 사용하기 위해 시간을 할애해야 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algn="r"/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객체지향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사고 프로세스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맷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와이스펠드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35992" y="2275958"/>
            <a:ext cx="11592656" cy="9609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pPr latinLnBrk="0"/>
            <a:r>
              <a:rPr lang="ko-KR" altLang="en-US" sz="1400" dirty="0"/>
              <a:t>상속을 절대 사용하지 말라는 것은 아니다</a:t>
            </a:r>
            <a:r>
              <a:rPr lang="en-US" altLang="ko-KR" sz="1400" dirty="0"/>
              <a:t>. </a:t>
            </a:r>
            <a:r>
              <a:rPr lang="ko-KR" altLang="en-US" sz="1400" dirty="0"/>
              <a:t>대부분의 설계에서는 상속과 합성을 함께 사용해야 한다</a:t>
            </a:r>
            <a:r>
              <a:rPr lang="en-US" altLang="ko-KR" sz="1400" dirty="0"/>
              <a:t>.  </a:t>
            </a:r>
            <a:r>
              <a:rPr lang="ko-KR" altLang="en-US" sz="1400" dirty="0" smtClean="0"/>
              <a:t>코드를 </a:t>
            </a:r>
            <a:r>
              <a:rPr lang="ko-KR" altLang="en-US" sz="1400" dirty="0"/>
              <a:t>재사용하는 경우에는 상속보다 합성을 선호하는 것이 옳지만 </a:t>
            </a:r>
            <a:r>
              <a:rPr lang="ko-KR" altLang="en-US" sz="1400" dirty="0" err="1"/>
              <a:t>다형성을</a:t>
            </a:r>
            <a:r>
              <a:rPr lang="ko-KR" altLang="en-US" sz="1400" dirty="0"/>
              <a:t> 위해 인터페이스를 재사용하는 경우에는 상속과 합성을 함께 </a:t>
            </a:r>
            <a:r>
              <a:rPr lang="ko-KR" altLang="en-US" sz="1400" dirty="0" err="1"/>
              <a:t>조합해야서</a:t>
            </a:r>
            <a:r>
              <a:rPr lang="ko-KR" altLang="en-US" sz="1400" dirty="0"/>
              <a:t> 사용할 수 밖에 없다</a:t>
            </a:r>
            <a:r>
              <a:rPr lang="en-US" altLang="ko-KR" sz="1400" dirty="0"/>
              <a:t>. </a:t>
            </a:r>
            <a:r>
              <a:rPr lang="en-US" altLang="ko-KR" sz="1400" dirty="0" smtClean="0"/>
              <a:t>   </a:t>
            </a:r>
          </a:p>
          <a:p>
            <a:pPr algn="r" latinLnBrk="0"/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오브젝트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조영호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35992" y="3431731"/>
            <a:ext cx="11592656" cy="12625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pPr latinLnBrk="0"/>
            <a:r>
              <a:rPr lang="ko-KR" altLang="en-US" sz="1400" dirty="0"/>
              <a:t>필자는 될 수 있으면 합성을 사용해야 한다고 생각하는 방식에 현실적인 문제가 숨겨져 있다고 생각한다</a:t>
            </a:r>
            <a:r>
              <a:rPr lang="en-US" altLang="ko-KR" sz="1400" dirty="0"/>
              <a:t>. </a:t>
            </a:r>
            <a:r>
              <a:rPr lang="ko-KR" altLang="en-US" sz="1400" dirty="0"/>
              <a:t>합성을 상속보다 많이 </a:t>
            </a:r>
            <a:r>
              <a:rPr lang="ko-KR" altLang="en-US" sz="1400" dirty="0" err="1"/>
              <a:t>써야만하는</a:t>
            </a:r>
            <a:r>
              <a:rPr lang="ko-KR" altLang="en-US" sz="1400" dirty="0"/>
              <a:t> 경우라면 그런 생각이 더 적절할 수도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그런 현실을 고려한다고해도 무조건 </a:t>
            </a:r>
            <a:r>
              <a:rPr lang="ko-KR" altLang="en-US" sz="1400" dirty="0" err="1"/>
              <a:t>합성만</a:t>
            </a:r>
            <a:r>
              <a:rPr lang="ko-KR" altLang="en-US" sz="1400" dirty="0"/>
              <a:t> 사용해야 하는 건 아니다</a:t>
            </a:r>
            <a:r>
              <a:rPr lang="en-US" altLang="ko-KR" sz="1400" dirty="0"/>
              <a:t>. </a:t>
            </a:r>
            <a:r>
              <a:rPr lang="ko-KR" altLang="en-US" sz="1400" dirty="0"/>
              <a:t>합성을 쓰는 편이 적절한 경우가 더 많다고 해서 상속이 나쁘다고 만은 말할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그러므로 합성과 상속을 상황에 맞게 적절히 섞어 쓰도록 하자</a:t>
            </a:r>
            <a:r>
              <a:rPr lang="en-US" altLang="ko-KR" sz="1400" dirty="0" smtClean="0"/>
              <a:t>.</a:t>
            </a:r>
            <a:r>
              <a:rPr lang="en-US" altLang="ko-KR" sz="1400" dirty="0"/>
              <a:t> </a:t>
            </a:r>
            <a:r>
              <a:rPr lang="en-US" altLang="ko-KR" sz="1400" dirty="0" smtClean="0"/>
              <a:t>   </a:t>
            </a:r>
          </a:p>
          <a:p>
            <a:pPr algn="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객체지향 사고 프로세스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맷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와이스펠드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23898" y="4889125"/>
            <a:ext cx="11592656" cy="15642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pPr latinLnBrk="0"/>
            <a:r>
              <a:rPr lang="ko-KR" altLang="en-US" sz="1400" dirty="0"/>
              <a:t>결론적으로 재사용을 위해서 새로운 구성요소를 생성할 필요 없이 필요한 기존의 구성요소를 조립해서 모든 새로운 기능을 얻어올 수 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가능한 구성요소의 집합이 실제로 사용할 수 있을 만큼 충분하지 않기 때문에</a:t>
            </a:r>
            <a:r>
              <a:rPr lang="en-US" altLang="ko-KR" sz="1400" dirty="0"/>
              <a:t>, </a:t>
            </a:r>
            <a:r>
              <a:rPr lang="ko-KR" altLang="en-US" sz="1400" dirty="0"/>
              <a:t>기존 구성요소의 조합을 통해 재사용만으로 목적을 달성할 수 있는 경우는 드뭅니다</a:t>
            </a:r>
            <a:r>
              <a:rPr lang="en-US" altLang="ko-KR" sz="1400" dirty="0"/>
              <a:t>. </a:t>
            </a:r>
            <a:r>
              <a:rPr lang="ko-KR" altLang="en-US" sz="1400" dirty="0"/>
              <a:t>상속에 의한 재사용은 기존 클래스들을 조합해서 새로운 구성요소를 쉽게 만들 수 있도록 해줍니다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그러므로 상속과 </a:t>
            </a:r>
            <a:r>
              <a:rPr lang="ko-KR" altLang="en-US" sz="1400" dirty="0" err="1"/>
              <a:t>객체합성은</a:t>
            </a:r>
            <a:r>
              <a:rPr lang="ko-KR" altLang="en-US" sz="1400" dirty="0"/>
              <a:t> 적절히 </a:t>
            </a:r>
            <a:r>
              <a:rPr lang="ko-KR" altLang="en-US" sz="1400" dirty="0" err="1"/>
              <a:t>조합되어야</a:t>
            </a:r>
            <a:r>
              <a:rPr lang="ko-KR" altLang="en-US" sz="1400" dirty="0"/>
              <a:t> 완벽한 재사용이 가능합니다</a:t>
            </a:r>
            <a:r>
              <a:rPr lang="en-US" altLang="ko-KR" sz="1400" dirty="0"/>
              <a:t>. </a:t>
            </a:r>
            <a:endParaRPr lang="ko-KR" altLang="en-US" sz="1400" dirty="0"/>
          </a:p>
          <a:p>
            <a:pPr algn="r" latinLnBrk="0"/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디자인 패턴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en-US" altLang="ko-KR" sz="1400" dirty="0" err="1" smtClean="0">
                <a:solidFill>
                  <a:schemeClr val="bg1">
                    <a:lumMod val="50000"/>
                  </a:schemeClr>
                </a:solidFill>
              </a:rPr>
              <a:t>GoF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 -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5923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50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2586088" cy="424661"/>
          </a:xfrm>
        </p:spPr>
        <p:txBody>
          <a:bodyPr/>
          <a:lstStyle/>
          <a:p>
            <a:r>
              <a:rPr lang="en-US" altLang="ko-KR" dirty="0"/>
              <a:t>Revision History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734686"/>
              </p:ext>
            </p:extLst>
          </p:nvPr>
        </p:nvGraphicFramePr>
        <p:xfrm>
          <a:off x="479376" y="719666"/>
          <a:ext cx="11305256" cy="522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xmlns="" val="285392629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151020701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891268528"/>
                    </a:ext>
                  </a:extLst>
                </a:gridCol>
                <a:gridCol w="8424936">
                  <a:extLst>
                    <a:ext uri="{9D8B030D-6E8A-4147-A177-3AD203B41FA5}">
                      <a16:colId xmlns:a16="http://schemas.microsoft.com/office/drawing/2014/main" xmlns="" val="1210699394"/>
                    </a:ext>
                  </a:extLst>
                </a:gridCol>
              </a:tblGrid>
              <a:tr h="326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#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 smtClean="0"/>
                        <a:t>ver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작성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변경점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979896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24-04-11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DS </a:t>
                      </a:r>
                      <a:r>
                        <a:rPr lang="ko-KR" altLang="en-US" sz="1400" dirty="0" err="1" smtClean="0"/>
                        <a:t>이혜준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기본 </a:t>
                      </a:r>
                      <a:r>
                        <a:rPr lang="en-US" altLang="ko-KR" sz="1400" dirty="0" smtClean="0"/>
                        <a:t>OOP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각 항목별</a:t>
                      </a:r>
                      <a:r>
                        <a:rPr lang="ko-KR" altLang="en-US" sz="1400" dirty="0" smtClean="0"/>
                        <a:t> 내용 구성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20899450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24-04-14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DS </a:t>
                      </a:r>
                      <a:r>
                        <a:rPr lang="ko-KR" altLang="en-US" sz="1400" dirty="0" err="1" smtClean="0"/>
                        <a:t>이혜준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오타 수정 및 주요 내용 굵게 표시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09731995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24-08-09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DS </a:t>
                      </a:r>
                      <a:r>
                        <a:rPr lang="ko-KR" altLang="en-US" sz="1400" dirty="0" err="1" smtClean="0"/>
                        <a:t>이혜준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Encapsulation - </a:t>
                      </a:r>
                      <a:r>
                        <a:rPr lang="en-US" altLang="ko-KR" sz="1400" smtClean="0"/>
                        <a:t>Interface </a:t>
                      </a:r>
                      <a:r>
                        <a:rPr lang="ko-KR" altLang="en-US" sz="1400" smtClean="0"/>
                        <a:t>추가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65794003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25-08-06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DS </a:t>
                      </a:r>
                      <a:r>
                        <a:rPr lang="ko-KR" altLang="en-US" sz="1400" dirty="0" err="1" smtClean="0"/>
                        <a:t>이혜준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LSP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smtClean="0"/>
                        <a:t>설명 추가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5504329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6408309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6821814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55026063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2970031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79523603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82574531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7378047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293288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59685062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3396037"/>
                  </a:ext>
                </a:extLst>
              </a:tr>
              <a:tr h="32685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426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95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00738" y="116632"/>
            <a:ext cx="5179490" cy="424661"/>
          </a:xfrm>
        </p:spPr>
        <p:txBody>
          <a:bodyPr/>
          <a:lstStyle/>
          <a:p>
            <a:r>
              <a:rPr lang="ko-KR" altLang="en-US" spc="-300" dirty="0" smtClean="0">
                <a:latin typeface="새굴림" panose="02030600000101010101" pitchFamily="18" charset="-127"/>
                <a:ea typeface="새굴림" panose="02030600000101010101" pitchFamily="18" charset="-127"/>
                <a:cs typeface="Ebrima" panose="02000000000000000000" pitchFamily="2" charset="0"/>
              </a:rPr>
              <a:t>Ｓｉｍｐｌｅ　ｉｓ　ｔｈｅ　Ｂｅｓｔ？</a:t>
            </a:r>
            <a:endParaRPr lang="ko-KR" altLang="en-US" spc="-300" dirty="0">
              <a:latin typeface="새굴림" panose="02030600000101010101" pitchFamily="18" charset="-127"/>
              <a:ea typeface="새굴림" panose="02030600000101010101" pitchFamily="18" charset="-127"/>
              <a:cs typeface="Ebrima" panose="02000000000000000000" pitchFamily="2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17" y="1916832"/>
            <a:ext cx="6213801" cy="3560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81317" y="912723"/>
            <a:ext cx="6966811" cy="60939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  <a:defRPr sz="1400" b="1"/>
            </a:lvl1pPr>
          </a:lstStyle>
          <a:p>
            <a:r>
              <a:rPr lang="ko-KR" altLang="en-US" sz="1200" dirty="0"/>
              <a:t>Ｔｈｅ　Ｔａｓｋ　ｏｆ　ｔｈｅ　ｓｏｆｔｗａｒｅ　ｄｅｖｅｌｏｐｍｅｎｔ　ｔｅａｍ　ｉｓ　ｔｏ　ｅｎｇｉｎｅｅｒ　ｔｈｅ　ｉｌｌｕｓｔｉｏｎ　ｏｆ　ｓｉｍｐｌｉｃｉｔｙ．</a:t>
            </a:r>
          </a:p>
        </p:txBody>
      </p:sp>
    </p:spTree>
    <p:extLst>
      <p:ext uri="{BB962C8B-B14F-4D97-AF65-F5344CB8AC3E}">
        <p14:creationId xmlns:p14="http://schemas.microsoft.com/office/powerpoint/2010/main" val="151049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1789</Words>
  <Application>Microsoft Office PowerPoint</Application>
  <PresentationFormat>사용자 지정</PresentationFormat>
  <Paragraphs>242</Paragraphs>
  <Slides>35</Slides>
  <Notes>23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Office 테마</vt:lpstr>
      <vt:lpstr>PowerPoint 프레젠테이션</vt:lpstr>
      <vt:lpstr>Module vs Component</vt:lpstr>
      <vt:lpstr>Class</vt:lpstr>
      <vt:lpstr>PowerPoint 프레젠테이션</vt:lpstr>
      <vt:lpstr>알고리즘 분해</vt:lpstr>
      <vt:lpstr>객체지향</vt:lpstr>
      <vt:lpstr>이상한 나라의 객체</vt:lpstr>
      <vt:lpstr>PowerPoint 프레젠테이션</vt:lpstr>
      <vt:lpstr>추상화</vt:lpstr>
      <vt:lpstr>추상화 레벨</vt:lpstr>
      <vt:lpstr>추상화</vt:lpstr>
      <vt:lpstr>데이터 추상화 I</vt:lpstr>
      <vt:lpstr>데이터 추상화 II</vt:lpstr>
      <vt:lpstr>행위 추상화 I</vt:lpstr>
      <vt:lpstr>행위 추상화 II</vt:lpstr>
      <vt:lpstr>객체 지향 vs 추상 데이터 타입</vt:lpstr>
      <vt:lpstr>CF</vt:lpstr>
      <vt:lpstr>PowerPoint 프레젠테이션</vt:lpstr>
      <vt:lpstr>Encapsulation</vt:lpstr>
      <vt:lpstr>Information Hiding</vt:lpstr>
      <vt:lpstr>Interface</vt:lpstr>
      <vt:lpstr>PowerPoint 프레젠테이션</vt:lpstr>
      <vt:lpstr>Inheritance</vt:lpstr>
      <vt:lpstr>PowerPoint 프레젠테이션</vt:lpstr>
      <vt:lpstr>Polymorphism I</vt:lpstr>
      <vt:lpstr>Polymorphism II</vt:lpstr>
      <vt:lpstr>PowerPoint 프레젠테이션</vt:lpstr>
      <vt:lpstr>어려운 상속</vt:lpstr>
      <vt:lpstr>어려운 상속</vt:lpstr>
      <vt:lpstr>Composition</vt:lpstr>
      <vt:lpstr>Dependency Injection(의존성 주입)</vt:lpstr>
      <vt:lpstr>상속 vs 합성</vt:lpstr>
      <vt:lpstr>PowerPoint 프레젠테이션</vt:lpstr>
      <vt:lpstr>Revision History</vt:lpstr>
      <vt:lpstr>Ｓｉｍｐｌｅ　ｉｓ　ｔｈｅ　Ｂｅｓｔ？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이혜준/HYE JOON YI</dc:creator>
  <cp:lastModifiedBy>werdy</cp:lastModifiedBy>
  <cp:revision>197</cp:revision>
  <dcterms:created xsi:type="dcterms:W3CDTF">2021-06-02T00:51:12Z</dcterms:created>
  <dcterms:modified xsi:type="dcterms:W3CDTF">2026-06-17T00:49:49Z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