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451" r:id="rId2"/>
    <p:sldId id="617" r:id="rId3"/>
    <p:sldId id="566" r:id="rId4"/>
    <p:sldId id="618" r:id="rId5"/>
    <p:sldId id="621" r:id="rId6"/>
    <p:sldId id="619" r:id="rId7"/>
    <p:sldId id="620" r:id="rId8"/>
    <p:sldId id="622" r:id="rId9"/>
    <p:sldId id="623" r:id="rId10"/>
    <p:sldId id="624" r:id="rId11"/>
    <p:sldId id="627" r:id="rId12"/>
    <p:sldId id="625" r:id="rId13"/>
    <p:sldId id="626" r:id="rId14"/>
    <p:sldId id="628" r:id="rId15"/>
    <p:sldId id="629" r:id="rId16"/>
    <p:sldId id="616" r:id="rId17"/>
    <p:sldId id="543" r:id="rId18"/>
    <p:sldId id="514" r:id="rId19"/>
    <p:sldId id="630" r:id="rId20"/>
    <p:sldId id="489" r:id="rId21"/>
    <p:sldId id="490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9F9"/>
    <a:srgbClr val="D9D9D9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0" autoAdjust="0"/>
    <p:restoredTop sz="92476" autoAdjust="0"/>
  </p:normalViewPr>
  <p:slideViewPr>
    <p:cSldViewPr showGuides="1">
      <p:cViewPr varScale="1">
        <p:scale>
          <a:sx n="116" d="100"/>
          <a:sy n="116" d="100"/>
        </p:scale>
        <p:origin x="33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8B390-C473-4696-98C6-8A0C8FCAAAB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23A25-6988-4880-9B02-B1245A972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483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717C5-460F-4A32-8DBF-627906F5508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780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717C5-460F-4A32-8DBF-627906F5508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179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  <a:p>
            <a:r>
              <a:rPr lang="ko-KR" altLang="ko-KR" dirty="0"/>
              <a:t>클래스가 다른 클래스의 컬렉션 또는 컨테이너인 경우 집계가 발생할 수 있지만 포함된 클래스가 컨테이너에 대한 강력한 수명 주기 종속성을 갖지 않는 경우(기본적으로 컨테이너가 파괴되더라도 해당 콘텐츠는 그렇지 않습니다.) 집계와 연관 사이에 혼동이 있을 수 있습니다. 연관은 포함을 의미하지 않는다는 점에서만 집계와 다릅니다.</a:t>
            </a:r>
            <a:endParaRPr lang="en-US" altLang="ko-KR" dirty="0"/>
          </a:p>
          <a:p>
            <a:r>
              <a:rPr lang="ko-KR" altLang="en-US" dirty="0" err="1"/>
              <a:t>다수성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717C5-460F-4A32-8DBF-627906F5508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055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753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gradFill>
          <a:gsLst>
            <a:gs pos="0">
              <a:srgbClr val="BBFFE6"/>
            </a:gs>
            <a:gs pos="100000">
              <a:srgbClr val="55CFD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1355785" y="1122363"/>
            <a:ext cx="9027209" cy="4252575"/>
            <a:chOff x="956306" y="1185729"/>
            <a:chExt cx="9484030" cy="4486542"/>
          </a:xfrm>
        </p:grpSpPr>
        <p:sp>
          <p:nvSpPr>
            <p:cNvPr id="13" name="다이아몬드 12"/>
            <p:cNvSpPr/>
            <p:nvPr userDrawn="1"/>
          </p:nvSpPr>
          <p:spPr>
            <a:xfrm>
              <a:off x="3852729" y="1185729"/>
              <a:ext cx="4486542" cy="4486542"/>
            </a:xfrm>
            <a:prstGeom prst="diamond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다이아몬드 13"/>
            <p:cNvSpPr/>
            <p:nvPr userDrawn="1"/>
          </p:nvSpPr>
          <p:spPr>
            <a:xfrm>
              <a:off x="4113020" y="1446020"/>
              <a:ext cx="3965960" cy="3965960"/>
            </a:xfrm>
            <a:prstGeom prst="diamond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다이아몬드 14"/>
            <p:cNvSpPr/>
            <p:nvPr userDrawn="1"/>
          </p:nvSpPr>
          <p:spPr>
            <a:xfrm>
              <a:off x="2079833" y="2026243"/>
              <a:ext cx="2805513" cy="2805513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다이아몬드 15"/>
            <p:cNvSpPr/>
            <p:nvPr userDrawn="1"/>
          </p:nvSpPr>
          <p:spPr>
            <a:xfrm>
              <a:off x="7196805" y="2026243"/>
              <a:ext cx="2805513" cy="2805513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다이아몬드 16"/>
            <p:cNvSpPr/>
            <p:nvPr userDrawn="1"/>
          </p:nvSpPr>
          <p:spPr>
            <a:xfrm>
              <a:off x="7038617" y="3962042"/>
              <a:ext cx="666573" cy="666573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다이아몬드 17"/>
            <p:cNvSpPr/>
            <p:nvPr userDrawn="1"/>
          </p:nvSpPr>
          <p:spPr>
            <a:xfrm>
              <a:off x="7745693" y="4122010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다이아몬드 18"/>
            <p:cNvSpPr/>
            <p:nvPr userDrawn="1"/>
          </p:nvSpPr>
          <p:spPr>
            <a:xfrm>
              <a:off x="7657120" y="4375313"/>
              <a:ext cx="491475" cy="506606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다이아몬드 19"/>
            <p:cNvSpPr/>
            <p:nvPr userDrawn="1"/>
          </p:nvSpPr>
          <p:spPr>
            <a:xfrm>
              <a:off x="9510843" y="2804846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다이아몬드 20"/>
            <p:cNvSpPr/>
            <p:nvPr userDrawn="1"/>
          </p:nvSpPr>
          <p:spPr>
            <a:xfrm>
              <a:off x="9756580" y="1849386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다이아몬드 21"/>
            <p:cNvSpPr/>
            <p:nvPr userDrawn="1"/>
          </p:nvSpPr>
          <p:spPr>
            <a:xfrm>
              <a:off x="3693964" y="4201993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다이아몬드 22"/>
            <p:cNvSpPr/>
            <p:nvPr userDrawn="1"/>
          </p:nvSpPr>
          <p:spPr>
            <a:xfrm>
              <a:off x="4557089" y="5042508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다이아몬드 23"/>
            <p:cNvSpPr/>
            <p:nvPr userDrawn="1"/>
          </p:nvSpPr>
          <p:spPr>
            <a:xfrm>
              <a:off x="4350165" y="2355992"/>
              <a:ext cx="666573" cy="666573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다이아몬드 24"/>
            <p:cNvSpPr/>
            <p:nvPr userDrawn="1"/>
          </p:nvSpPr>
          <p:spPr>
            <a:xfrm>
              <a:off x="2006838" y="2694686"/>
              <a:ext cx="666573" cy="666573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다이아몬드 25"/>
            <p:cNvSpPr/>
            <p:nvPr userDrawn="1"/>
          </p:nvSpPr>
          <p:spPr>
            <a:xfrm>
              <a:off x="2531511" y="4789205"/>
              <a:ext cx="328169" cy="338272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다이아몬드 26"/>
            <p:cNvSpPr/>
            <p:nvPr userDrawn="1"/>
          </p:nvSpPr>
          <p:spPr>
            <a:xfrm>
              <a:off x="10112167" y="3623770"/>
              <a:ext cx="328169" cy="338272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다이아몬드 27"/>
            <p:cNvSpPr/>
            <p:nvPr userDrawn="1"/>
          </p:nvSpPr>
          <p:spPr>
            <a:xfrm>
              <a:off x="1567573" y="2635710"/>
              <a:ext cx="328169" cy="338272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다이아몬드 28"/>
            <p:cNvSpPr/>
            <p:nvPr userDrawn="1"/>
          </p:nvSpPr>
          <p:spPr>
            <a:xfrm>
              <a:off x="956306" y="3090727"/>
              <a:ext cx="328169" cy="338272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074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4B4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29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1" y="837138"/>
            <a:ext cx="11376000" cy="1415259"/>
          </a:xfrm>
          <a:prstGeom prst="rect">
            <a:avLst/>
          </a:prstGeom>
        </p:spPr>
        <p:txBody>
          <a:bodyPr wrap="square" lIns="36000" rIns="36000" rtlCol="0" anchor="t" anchorCtr="0">
            <a:sp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다이아몬드 11"/>
          <p:cNvSpPr/>
          <p:nvPr userDrawn="1"/>
        </p:nvSpPr>
        <p:spPr>
          <a:xfrm>
            <a:off x="199871" y="190682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215461" y="231786"/>
            <a:ext cx="540399" cy="46159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00</a:t>
            </a:r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778689" y="138491"/>
            <a:ext cx="11005312" cy="424661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  <p:sp>
        <p:nvSpPr>
          <p:cNvPr id="15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778689" y="563152"/>
            <a:ext cx="11005312" cy="244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63878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408000" y="581440"/>
            <a:ext cx="11376000" cy="45719"/>
          </a:xfrm>
          <a:prstGeom prst="rect">
            <a:avLst/>
          </a:prstGeom>
          <a:gradFill flip="none" rotWithShape="1">
            <a:gsLst>
              <a:gs pos="0">
                <a:srgbClr val="55CFD1">
                  <a:shade val="30000"/>
                  <a:satMod val="115000"/>
                </a:srgbClr>
              </a:gs>
              <a:gs pos="50000">
                <a:srgbClr val="55CFD1">
                  <a:shade val="67500"/>
                  <a:satMod val="115000"/>
                </a:srgbClr>
              </a:gs>
              <a:gs pos="100000">
                <a:srgbClr val="55CFD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415259"/>
          </a:xfrm>
          <a:prstGeom prst="rect">
            <a:avLst/>
          </a:prstGeom>
        </p:spPr>
        <p:txBody>
          <a:bodyPr wrap="square" lIns="36000" rIns="36000" rtlCol="0" anchor="t" anchorCtr="0">
            <a:sp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3589311" cy="424661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6478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87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43884"/>
            <a:ext cx="12192000" cy="447737"/>
          </a:xfrm>
          <a:prstGeom prst="rect">
            <a:avLst/>
          </a:prstGeom>
        </p:spPr>
      </p:pic>
      <p:sp>
        <p:nvSpPr>
          <p:cNvPr id="4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11712624" y="6669360"/>
            <a:ext cx="479376" cy="222261"/>
          </a:xfrm>
          <a:prstGeom prst="rect">
            <a:avLst/>
          </a:prstGeom>
        </p:spPr>
        <p:txBody>
          <a:bodyPr lIns="121917" tIns="60958" rIns="121917" bIns="60958"/>
          <a:lstStyle>
            <a:lvl1pPr marL="0" algn="ctr" defTabSz="1219170" rtl="0" eaLnBrk="1" latinLnBrk="1" hangingPunct="1">
              <a:defRPr lang="ko-KR" altLang="en-US" sz="12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022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35360" y="1211626"/>
            <a:ext cx="11617291" cy="5001683"/>
          </a:xfrm>
          <a:prstGeom prst="rect">
            <a:avLst/>
          </a:prstGeom>
        </p:spPr>
        <p:txBody>
          <a:bodyPr/>
          <a:lstStyle>
            <a:lvl1pPr marL="361942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7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21766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4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3124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0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43294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6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79488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3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633163" y="28842"/>
            <a:ext cx="11240293" cy="708708"/>
          </a:xfrm>
          <a:prstGeom prst="rect">
            <a:avLst/>
          </a:prstGeom>
        </p:spPr>
        <p:txBody>
          <a:bodyPr vert="horz" lIns="101233" tIns="50617" rIns="101233" bIns="50617" rtlCol="0" anchor="ctr">
            <a:normAutofit/>
          </a:bodyPr>
          <a:lstStyle>
            <a:lvl1pPr algn="l">
              <a:defRPr lang="ko-KR" altLang="en-US" sz="3200" b="1" spc="-133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tx1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1012337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5029936" y="6562303"/>
            <a:ext cx="1920000" cy="277872"/>
          </a:xfrm>
          <a:prstGeom prst="rect">
            <a:avLst/>
          </a:prstGeom>
        </p:spPr>
        <p:txBody>
          <a:bodyPr lIns="121917" tIns="60958" rIns="121917" bIns="60958"/>
          <a:lstStyle>
            <a:lvl1pPr marL="0" algn="ctr" defTabSz="1219170" rtl="0" eaLnBrk="1" latinLnBrk="1" hangingPunct="1">
              <a:defRPr lang="ko-KR" altLang="en-US" sz="17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6891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35360" y="1211626"/>
            <a:ext cx="11617291" cy="5001683"/>
          </a:xfrm>
          <a:prstGeom prst="rect">
            <a:avLst/>
          </a:prstGeom>
        </p:spPr>
        <p:txBody>
          <a:bodyPr/>
          <a:lstStyle>
            <a:lvl1pPr marL="361942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7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21766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4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3124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0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43294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6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79488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3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633163" y="28842"/>
            <a:ext cx="11240293" cy="708708"/>
          </a:xfrm>
          <a:prstGeom prst="rect">
            <a:avLst/>
          </a:prstGeom>
        </p:spPr>
        <p:txBody>
          <a:bodyPr vert="horz" lIns="101233" tIns="50617" rIns="101233" bIns="50617" rtlCol="0" anchor="ctr">
            <a:normAutofit/>
          </a:bodyPr>
          <a:lstStyle>
            <a:lvl1pPr algn="l">
              <a:defRPr lang="ko-KR" altLang="en-US" sz="3200" b="1" spc="-133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tx1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1012337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5029936" y="6562303"/>
            <a:ext cx="1920000" cy="277872"/>
          </a:xfrm>
          <a:prstGeom prst="rect">
            <a:avLst/>
          </a:prstGeom>
        </p:spPr>
        <p:txBody>
          <a:bodyPr lIns="121917" tIns="60958" rIns="121917" bIns="60958"/>
          <a:lstStyle>
            <a:lvl1pPr marL="0" algn="ctr" defTabSz="1219170" rtl="0" eaLnBrk="1" latinLnBrk="1" hangingPunct="1">
              <a:defRPr lang="ko-KR" altLang="en-US" sz="17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782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408000" y="581440"/>
            <a:ext cx="11376000" cy="45719"/>
          </a:xfrm>
          <a:prstGeom prst="rect">
            <a:avLst/>
          </a:prstGeom>
          <a:gradFill flip="none" rotWithShape="1">
            <a:gsLst>
              <a:gs pos="0">
                <a:srgbClr val="55CFD1">
                  <a:shade val="30000"/>
                  <a:satMod val="115000"/>
                </a:srgbClr>
              </a:gs>
              <a:gs pos="50000">
                <a:srgbClr val="55CFD1">
                  <a:shade val="67500"/>
                  <a:satMod val="115000"/>
                </a:srgbClr>
              </a:gs>
              <a:gs pos="100000">
                <a:srgbClr val="55CFD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76000" cy="1439862"/>
          </a:xfrm>
          <a:prstGeom prst="rect">
            <a:avLst/>
          </a:prstGeom>
        </p:spPr>
        <p:txBody>
          <a:bodyPr wrap="none" lIns="36000" rIns="36000" rtlCol="0" anchor="t" anchorCtr="0">
            <a:norm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3589311" cy="424661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2563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75200" y="-1638"/>
            <a:ext cx="11240293" cy="708708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>
              <a:defRPr lang="ko-KR" altLang="en-US" sz="2933" b="1" spc="-133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bg1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1012337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5029936" y="6562303"/>
            <a:ext cx="1920000" cy="277872"/>
          </a:xfrm>
          <a:prstGeom prst="rect">
            <a:avLst/>
          </a:prstGeom>
        </p:spPr>
        <p:txBody>
          <a:bodyPr/>
          <a:lstStyle>
            <a:lvl1pPr marL="0" algn="ctr" defTabSz="1219170" rtl="0" eaLnBrk="1" latinLnBrk="1" hangingPunct="1">
              <a:defRPr lang="ko-KR" altLang="en-US" sz="1733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335360" y="1038907"/>
            <a:ext cx="11617291" cy="5001683"/>
          </a:xfrm>
          <a:prstGeom prst="rect">
            <a:avLst/>
          </a:prstGeom>
        </p:spPr>
        <p:txBody>
          <a:bodyPr>
            <a:normAutofit/>
          </a:bodyPr>
          <a:lstStyle>
            <a:lvl1pPr marL="361942" indent="-239994">
              <a:lnSpc>
                <a:spcPct val="120000"/>
              </a:lnSpc>
              <a:spcAft>
                <a:spcPts val="667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2133" spc="-93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21766" indent="-239994">
              <a:lnSpc>
                <a:spcPct val="120000"/>
              </a:lnSpc>
              <a:spcAft>
                <a:spcPts val="667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867" spc="-93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3124" indent="-239994">
              <a:lnSpc>
                <a:spcPct val="120000"/>
              </a:lnSpc>
              <a:spcAft>
                <a:spcPts val="667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600" spc="-93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432948" indent="-239994">
              <a:lnSpc>
                <a:spcPct val="120000"/>
              </a:lnSpc>
              <a:spcAft>
                <a:spcPts val="667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400" spc="-93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794888" indent="-239994">
              <a:lnSpc>
                <a:spcPct val="120000"/>
              </a:lnSpc>
              <a:spcAft>
                <a:spcPts val="667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067" spc="-93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141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0" y="6605899"/>
            <a:ext cx="12192000" cy="252101"/>
          </a:xfrm>
          <a:prstGeom prst="rect">
            <a:avLst/>
          </a:prstGeom>
          <a:solidFill>
            <a:srgbClr val="55CFD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CFA9321B-8E93-4938-ACA9-6254A66BA3E1}" type="slidenum">
              <a:rPr lang="ko-KR" altLang="en-US" sz="1200" smtClean="0">
                <a:solidFill>
                  <a:schemeClr val="bg1"/>
                </a:solidFill>
              </a:rPr>
              <a:pPr algn="r"/>
              <a:t>‹#›</a:t>
            </a:fld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79229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4" r:id="rId5"/>
    <p:sldLayoutId id="2147483666" r:id="rId6"/>
    <p:sldLayoutId id="2147483668" r:id="rId7"/>
    <p:sldLayoutId id="2147483669" r:id="rId8"/>
    <p:sldLayoutId id="2147483670" r:id="rId9"/>
    <p:sldLayoutId id="214748367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36312" y="1758756"/>
            <a:ext cx="769822" cy="31546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19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48" y="3505196"/>
            <a:ext cx="8208912" cy="584705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3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OO                 Feedback 26-0904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95800" y="4089901"/>
            <a:ext cx="2887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EBF9F9"/>
                </a:solidFill>
              </a:rPr>
              <a:t>08</a:t>
            </a:r>
            <a:r>
              <a:rPr lang="ko-KR" altLang="en-US" b="1" dirty="0">
                <a:solidFill>
                  <a:srgbClr val="EBF9F9"/>
                </a:solidFill>
              </a:rPr>
              <a:t>시 </a:t>
            </a:r>
            <a:r>
              <a:rPr lang="en-US" altLang="ko-KR" b="1" dirty="0">
                <a:solidFill>
                  <a:srgbClr val="EBF9F9"/>
                </a:solidFill>
              </a:rPr>
              <a:t>30</a:t>
            </a:r>
            <a:r>
              <a:rPr lang="ko-KR" altLang="en-US" b="1" dirty="0">
                <a:solidFill>
                  <a:srgbClr val="EBF9F9"/>
                </a:solidFill>
              </a:rPr>
              <a:t>분에 시작합니다</a:t>
            </a:r>
            <a:endParaRPr lang="en-US" altLang="ko-KR" b="1" dirty="0">
              <a:solidFill>
                <a:srgbClr val="EBF9F9"/>
              </a:solidFill>
            </a:endParaRPr>
          </a:p>
          <a:p>
            <a:r>
              <a:rPr lang="ko-KR" altLang="en-US" dirty="0">
                <a:solidFill>
                  <a:srgbClr val="EBF9F9"/>
                </a:solidFill>
              </a:rPr>
              <a:t>카페에 업로드 하였습니다</a:t>
            </a:r>
          </a:p>
        </p:txBody>
      </p:sp>
    </p:spTree>
    <p:extLst>
      <p:ext uri="{BB962C8B-B14F-4D97-AF65-F5344CB8AC3E}">
        <p14:creationId xmlns:p14="http://schemas.microsoft.com/office/powerpoint/2010/main" val="385534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08000" y="765138"/>
            <a:ext cx="9977488" cy="307706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buFont typeface="Wingdings" panose="05000000000000000000" pitchFamily="2" charset="2"/>
              <a:buChar char="u"/>
              <a:defRPr/>
            </a:pPr>
            <a:r>
              <a:rPr kumimoji="1" lang="ko-KR" altLang="en-US" sz="14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시퀀스 다이어그램은 시스템을 구성하는 객체들간의 상호 작용에 대한 관점을 표현합니다</a:t>
            </a:r>
            <a:endParaRPr kumimoji="1" lang="en-US" altLang="ko-KR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08000" y="156779"/>
            <a:ext cx="2941698" cy="424661"/>
          </a:xfrm>
        </p:spPr>
        <p:txBody>
          <a:bodyPr/>
          <a:lstStyle/>
          <a:p>
            <a:r>
              <a:rPr lang="en-US" altLang="ko-KR" dirty="0"/>
              <a:t>Sequence Diagram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24" y="1124744"/>
            <a:ext cx="10760184" cy="5424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7115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00" y="725549"/>
            <a:ext cx="4156117" cy="2883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528558" y="1233302"/>
            <a:ext cx="4663442" cy="1477257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buFont typeface="Wingdings" panose="05000000000000000000" pitchFamily="2" charset="2"/>
              <a:buChar char="u"/>
              <a:defRPr/>
            </a:pPr>
            <a:r>
              <a:rPr kumimoji="1" lang="en-US" altLang="ko-KR" sz="14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Multiplicity in a relation</a:t>
            </a:r>
          </a:p>
          <a:p>
            <a:pPr lvl="1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defRPr/>
            </a:pPr>
            <a:r>
              <a:rPr lang="en-US" altLang="ko-KR" sz="1400" dirty="0"/>
              <a:t>“</a:t>
            </a:r>
            <a:r>
              <a:rPr lang="en-US" altLang="ko-KR" sz="1400" b="1" dirty="0"/>
              <a:t>0..1</a:t>
            </a:r>
            <a:r>
              <a:rPr lang="en-US" altLang="ko-KR" sz="1400" dirty="0"/>
              <a:t>”       → No instances, or one instance</a:t>
            </a:r>
          </a:p>
          <a:p>
            <a:pPr lvl="1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defRPr/>
            </a:pPr>
            <a:r>
              <a:rPr lang="en-US" altLang="ko-KR" sz="1400" dirty="0"/>
              <a:t>“</a:t>
            </a:r>
            <a:r>
              <a:rPr lang="en-US" altLang="ko-KR" sz="1400" b="1" dirty="0"/>
              <a:t>1</a:t>
            </a:r>
            <a:r>
              <a:rPr lang="en-US" altLang="ko-KR" sz="1400" dirty="0"/>
              <a:t>”          → Exactly one instance</a:t>
            </a:r>
          </a:p>
          <a:p>
            <a:pPr lvl="1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defRPr/>
            </a:pPr>
            <a:r>
              <a:rPr lang="en-US" altLang="ko-KR" sz="1400" dirty="0"/>
              <a:t>“</a:t>
            </a:r>
            <a:r>
              <a:rPr lang="en-US" altLang="ko-KR" sz="1400" b="1" dirty="0"/>
              <a:t>0..*</a:t>
            </a:r>
            <a:r>
              <a:rPr lang="en-US" altLang="ko-KR" sz="1400" dirty="0"/>
              <a:t> or </a:t>
            </a:r>
            <a:r>
              <a:rPr lang="en-US" altLang="ko-KR" sz="1400" b="1" dirty="0"/>
              <a:t>*</a:t>
            </a:r>
            <a:r>
              <a:rPr lang="en-US" altLang="ko-KR" sz="1400" dirty="0"/>
              <a:t>” → Zero or more instances</a:t>
            </a:r>
          </a:p>
          <a:p>
            <a:pPr lvl="1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defRPr/>
            </a:pPr>
            <a:r>
              <a:rPr lang="en-US" altLang="ko-KR" sz="1400" dirty="0"/>
              <a:t>“</a:t>
            </a:r>
            <a:r>
              <a:rPr lang="en-US" altLang="ko-KR" sz="1400" b="1" dirty="0"/>
              <a:t>1..*</a:t>
            </a:r>
            <a:r>
              <a:rPr lang="en-US" altLang="ko-KR" sz="1400" dirty="0"/>
              <a:t>”       → One or more instances</a:t>
            </a:r>
            <a:endParaRPr kumimoji="1" lang="en-US" altLang="ko-KR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08000" y="156779"/>
            <a:ext cx="2759084" cy="424661"/>
          </a:xfrm>
        </p:spPr>
        <p:txBody>
          <a:bodyPr/>
          <a:lstStyle/>
          <a:p>
            <a:r>
              <a:rPr lang="en-US" altLang="ko-KR" dirty="0"/>
              <a:t>Class relationship</a:t>
            </a:r>
            <a:endParaRPr lang="ko-KR" altLang="en-US" dirty="0"/>
          </a:p>
        </p:txBody>
      </p:sp>
      <p:pic>
        <p:nvPicPr>
          <p:cNvPr id="12" name="Picture 2" descr="https://t1.daumcdn.net/cfile/tistory/992CE44A5B49C9A21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00" y="3898608"/>
            <a:ext cx="6494720" cy="243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38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884296"/>
            <a:ext cx="9073008" cy="4623931"/>
          </a:xfrm>
          <a:prstGeom prst="rect">
            <a:avLst/>
          </a:prstGeom>
        </p:spPr>
      </p:pic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</a:pPr>
            <a:r>
              <a:rPr lang="ko-KR" altLang="en-US" sz="1500" dirty="0"/>
              <a:t>우리가 이해하려는 도메인을 </a:t>
            </a:r>
            <a:r>
              <a:rPr lang="ko-KR" altLang="en-US" sz="1500" b="1" dirty="0"/>
              <a:t>근사</a:t>
            </a:r>
            <a:r>
              <a:rPr lang="en-US" altLang="ko-KR" sz="1500" b="1" dirty="0"/>
              <a:t>(approximation)</a:t>
            </a:r>
            <a:r>
              <a:rPr lang="ko-KR" altLang="en-US" sz="1500" dirty="0"/>
              <a:t> 해서 표현한 것일 뿐이며 </a:t>
            </a:r>
            <a:r>
              <a:rPr lang="ko-KR" altLang="en-US" sz="1500" b="1" dirty="0"/>
              <a:t>이해와 의사소통을 위한 주요 도구</a:t>
            </a:r>
            <a:r>
              <a:rPr lang="ko-KR" altLang="en-US" sz="1500" dirty="0"/>
              <a:t>이다</a:t>
            </a:r>
            <a:endParaRPr lang="en-US" altLang="ko-KR" sz="1500" dirty="0"/>
          </a:p>
          <a:p>
            <a:pPr marL="285750" indent="-285750">
              <a:lnSpc>
                <a:spcPct val="120000"/>
              </a:lnSpc>
            </a:pPr>
            <a:r>
              <a:rPr lang="ko-KR" altLang="en-US" sz="1500" dirty="0"/>
              <a:t>단 하나의 정답이 존재 할 수 없으며</a:t>
            </a:r>
            <a:r>
              <a:rPr lang="en-US" altLang="ko-KR" sz="1500" dirty="0"/>
              <a:t>, </a:t>
            </a:r>
            <a:r>
              <a:rPr lang="ko-KR" altLang="en-US" sz="1500" b="1" dirty="0"/>
              <a:t>올바름</a:t>
            </a:r>
            <a:r>
              <a:rPr lang="ko-KR" altLang="en-US" sz="1500" dirty="0"/>
              <a:t> 보다 </a:t>
            </a:r>
            <a:r>
              <a:rPr lang="ko-KR" altLang="en-US" sz="1500" b="1" dirty="0"/>
              <a:t>유용성</a:t>
            </a:r>
            <a:r>
              <a:rPr lang="ko-KR" altLang="en-US" sz="1500" dirty="0"/>
              <a:t>이 더 중요 합니다</a:t>
            </a:r>
            <a:r>
              <a:rPr lang="en-US" altLang="ko-KR" sz="1500" dirty="0"/>
              <a:t>.</a:t>
            </a:r>
            <a:endParaRPr lang="ko-KR" altLang="en-US" sz="1500" dirty="0"/>
          </a:p>
          <a:p>
            <a:endParaRPr lang="ko-KR" altLang="en-US" sz="1500" dirty="0"/>
          </a:p>
        </p:txBody>
      </p:sp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832420" cy="424661"/>
          </a:xfrm>
        </p:spPr>
        <p:txBody>
          <a:bodyPr/>
          <a:lstStyle/>
          <a:p>
            <a:r>
              <a:rPr lang="ko-KR" altLang="en-US" dirty="0"/>
              <a:t>도메인 모델</a:t>
            </a:r>
          </a:p>
        </p:txBody>
      </p:sp>
    </p:spTree>
    <p:extLst>
      <p:ext uri="{BB962C8B-B14F-4D97-AF65-F5344CB8AC3E}">
        <p14:creationId xmlns:p14="http://schemas.microsoft.com/office/powerpoint/2010/main" val="64383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72BEBA-D0E9-4EBE-A445-A9AB36CC3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9" y="1772816"/>
            <a:ext cx="8550792" cy="34563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A16AC8-C6A9-4B3E-B8C1-85C3D14EDF0F}"/>
              </a:ext>
            </a:extLst>
          </p:cNvPr>
          <p:cNvSpPr txBox="1"/>
          <p:nvPr/>
        </p:nvSpPr>
        <p:spPr>
          <a:xfrm>
            <a:off x="767408" y="1052736"/>
            <a:ext cx="659667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500" dirty="0">
                <a:solidFill>
                  <a:schemeClr val="accent1">
                    <a:lumMod val="75000"/>
                  </a:schemeClr>
                </a:solidFill>
              </a:rPr>
              <a:t>재설계 과제가 아니라면</a:t>
            </a:r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ko-KR" altLang="en-US" sz="1500" dirty="0">
                <a:solidFill>
                  <a:schemeClr val="accent1">
                    <a:lumMod val="75000"/>
                  </a:schemeClr>
                </a:solidFill>
              </a:rPr>
              <a:t>도메인 모델에 설계 개념이 들어간 것 같습니다</a:t>
            </a:r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</a:rPr>
              <a:t>. </a:t>
            </a:r>
          </a:p>
          <a:p>
            <a:r>
              <a:rPr lang="ko-KR" altLang="en-US" sz="1500" dirty="0">
                <a:solidFill>
                  <a:schemeClr val="accent1">
                    <a:lumMod val="75000"/>
                  </a:schemeClr>
                </a:solidFill>
              </a:rPr>
              <a:t>분석 단계에서는 설계에 대한 아이디어를 자제하는 것이 좋습니다</a:t>
            </a:r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ko-KR" altLang="en-US" sz="15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291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EE232B6-3DB5-4FD3-A481-0439F049D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51648"/>
              </p:ext>
            </p:extLst>
          </p:nvPr>
        </p:nvGraphicFramePr>
        <p:xfrm>
          <a:off x="119337" y="188640"/>
          <a:ext cx="6408712" cy="2377440"/>
        </p:xfrm>
        <a:graphic>
          <a:graphicData uri="http://schemas.openxmlformats.org/drawingml/2006/table">
            <a:tbl>
              <a:tblPr/>
              <a:tblGrid>
                <a:gridCol w="1252428">
                  <a:extLst>
                    <a:ext uri="{9D8B030D-6E8A-4147-A177-3AD203B41FA5}">
                      <a16:colId xmlns:a16="http://schemas.microsoft.com/office/drawing/2014/main" val="1418253064"/>
                    </a:ext>
                  </a:extLst>
                </a:gridCol>
                <a:gridCol w="5156284">
                  <a:extLst>
                    <a:ext uri="{9D8B030D-6E8A-4147-A177-3AD203B41FA5}">
                      <a16:colId xmlns:a16="http://schemas.microsoft.com/office/drawing/2014/main" val="2111243683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Success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 err="1">
                          <a:effectLst/>
                          <a:latin typeface="Arial" panose="020B0604020202020204" pitchFamily="34" charset="0"/>
                        </a:rPr>
                        <a:t>Gurantee</a:t>
                      </a:r>
                      <a:endParaRPr lang="en-US" sz="13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회원으로 가입 성공하고 로그인도 성공한 상태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5065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Main Success </a:t>
                      </a:r>
                      <a:br>
                        <a:rPr lang="en-US" sz="1300" b="1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Scenario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1.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사용자는 가입을 위해 플랫폼의 회원 가입 페이지에 접속한다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2.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사용자는 가입에 필요한 정보를 입력하고 가입 요청을 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3.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플랫폼은 가입 정보를 저장 후 가입이 완료되었음을 사용자에게 알려준다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9778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Extension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[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필수 가입 정보가 입력되지 않은 경우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2.a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플랫폼은 가입 화면으로 돌아가서 필수 정보가 채워 지지 않은 위치를 알려주고 해당 정보를 입력할 것을 요청한다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[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이미 기입한 상태이면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4.a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플랫폼은 이미 </a:t>
                      </a:r>
                      <a:r>
                        <a:rPr lang="ko-KR" altLang="en-US" sz="1300" b="0" dirty="0" err="1">
                          <a:effectLst/>
                          <a:latin typeface="Arial" panose="020B0604020202020204" pitchFamily="34" charset="0"/>
                        </a:rPr>
                        <a:t>가입되어있으니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 바로 로그인 화면으로 전환 후 로그인하면 </a:t>
                      </a:r>
                      <a:r>
                        <a:rPr lang="ko-KR" altLang="en-US" sz="1300" b="0" dirty="0" err="1">
                          <a:effectLst/>
                          <a:latin typeface="Arial" panose="020B0604020202020204" pitchFamily="34" charset="0"/>
                        </a:rPr>
                        <a:t>된다라고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 알려준다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12383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C38B929-ADC9-4E40-900D-ECD42FF45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576121"/>
              </p:ext>
            </p:extLst>
          </p:nvPr>
        </p:nvGraphicFramePr>
        <p:xfrm>
          <a:off x="263352" y="2852936"/>
          <a:ext cx="5564237" cy="198120"/>
        </p:xfrm>
        <a:graphic>
          <a:graphicData uri="http://schemas.openxmlformats.org/drawingml/2006/table">
            <a:tbl>
              <a:tblPr/>
              <a:tblGrid>
                <a:gridCol w="307416">
                  <a:extLst>
                    <a:ext uri="{9D8B030D-6E8A-4147-A177-3AD203B41FA5}">
                      <a16:colId xmlns:a16="http://schemas.microsoft.com/office/drawing/2014/main" val="2830412280"/>
                    </a:ext>
                  </a:extLst>
                </a:gridCol>
                <a:gridCol w="1175868">
                  <a:extLst>
                    <a:ext uri="{9D8B030D-6E8A-4147-A177-3AD203B41FA5}">
                      <a16:colId xmlns:a16="http://schemas.microsoft.com/office/drawing/2014/main" val="3274867266"/>
                    </a:ext>
                  </a:extLst>
                </a:gridCol>
                <a:gridCol w="4080953">
                  <a:extLst>
                    <a:ext uri="{9D8B030D-6E8A-4147-A177-3AD203B41FA5}">
                      <a16:colId xmlns:a16="http://schemas.microsoft.com/office/drawing/2014/main" val="36905299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dirty="0">
                          <a:effectLst/>
                        </a:rPr>
                        <a:t>D1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dirty="0">
                          <a:effectLst/>
                        </a:rPr>
                        <a:t>Member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dirty="0">
                          <a:effectLst/>
                        </a:rPr>
                        <a:t>회원의 기본 정보</a:t>
                      </a:r>
                      <a:r>
                        <a:rPr lang="en-US" altLang="ko-KR" sz="1300" dirty="0">
                          <a:effectLst/>
                        </a:rPr>
                        <a:t>, </a:t>
                      </a:r>
                      <a:r>
                        <a:rPr lang="ko-KR" altLang="en-US" sz="1300" dirty="0">
                          <a:effectLst/>
                        </a:rPr>
                        <a:t>역할 및 상태를 관리하는 모듈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703914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CEB716FA-8001-4C22-9DC1-E7EC97679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182" y="106244"/>
            <a:ext cx="5420481" cy="62492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17D63E-224C-4F8A-8B90-FF747FCB57C6}"/>
              </a:ext>
            </a:extLst>
          </p:cNvPr>
          <p:cNvSpPr txBox="1"/>
          <p:nvPr/>
        </p:nvSpPr>
        <p:spPr>
          <a:xfrm>
            <a:off x="407368" y="3861048"/>
            <a:ext cx="61206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chemeClr val="accent1">
                    <a:lumMod val="75000"/>
                  </a:schemeClr>
                </a:solidFill>
              </a:rPr>
              <a:t>회원 유형이라는 프로퍼티는 어디서 온 걸까요</a:t>
            </a:r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r>
              <a:rPr lang="ko-KR" altLang="en-US" sz="1500" dirty="0">
                <a:solidFill>
                  <a:schemeClr val="accent1">
                    <a:lumMod val="75000"/>
                  </a:schemeClr>
                </a:solidFill>
              </a:rPr>
              <a:t>회원 유형에 따라 가입 할 수 있는 요구인데 시나리오상에는 빠지고 도메인 모델에는 존재 하는 상황일까요</a:t>
            </a:r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endParaRPr lang="en-US" altLang="ko-KR" sz="15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ko-KR" altLang="en-US" sz="1500" dirty="0">
                <a:solidFill>
                  <a:schemeClr val="accent1">
                    <a:lumMod val="75000"/>
                  </a:schemeClr>
                </a:solidFill>
              </a:rPr>
              <a:t>데이터 추상화가 은연중 표현 일까요</a:t>
            </a:r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r>
              <a:rPr lang="ko-KR" altLang="en-US" sz="1500" dirty="0">
                <a:solidFill>
                  <a:schemeClr val="accent1">
                    <a:lumMod val="75000"/>
                  </a:schemeClr>
                </a:solidFill>
              </a:rPr>
              <a:t>모듈 이라는 것은 구현의 단위 입니다</a:t>
            </a:r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091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4EED07-DB1E-4332-BEEF-4A92F798F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548680"/>
            <a:ext cx="8735644" cy="43630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88C9AC-9FE6-416C-B3F6-3A935B7235C6}"/>
              </a:ext>
            </a:extLst>
          </p:cNvPr>
          <p:cNvSpPr txBox="1"/>
          <p:nvPr/>
        </p:nvSpPr>
        <p:spPr>
          <a:xfrm>
            <a:off x="767408" y="5636468"/>
            <a:ext cx="92170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Fragment </a:t>
            </a:r>
            <a:r>
              <a:rPr lang="ko-KR" altLang="en-US" sz="1500" dirty="0"/>
              <a:t>영역을 영향 받는 메시지를 모두 포함 되게 그려 주세요</a:t>
            </a:r>
            <a:r>
              <a:rPr lang="en-US" altLang="ko-KR" sz="1500" dirty="0"/>
              <a:t>. </a:t>
            </a:r>
            <a:r>
              <a:rPr lang="ko-KR" altLang="en-US" sz="1500" dirty="0"/>
              <a:t>이해 </a:t>
            </a:r>
            <a:r>
              <a:rPr lang="ko-KR" altLang="en-US" sz="1500" dirty="0" err="1"/>
              <a:t>하는데는</a:t>
            </a:r>
            <a:r>
              <a:rPr lang="ko-KR" altLang="en-US" sz="1500" dirty="0"/>
              <a:t> 문제는 없는데 착각 할 수 있을 것 같아요</a:t>
            </a:r>
          </a:p>
        </p:txBody>
      </p:sp>
    </p:spTree>
    <p:extLst>
      <p:ext uri="{BB962C8B-B14F-4D97-AF65-F5344CB8AC3E}">
        <p14:creationId xmlns:p14="http://schemas.microsoft.com/office/powerpoint/2010/main" val="344410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8AC093-D9EA-4153-9985-C74221EF5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976" y="-30874"/>
            <a:ext cx="5395436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99EB55F-0CE3-4885-AE29-41046C6D3408}"/>
              </a:ext>
            </a:extLst>
          </p:cNvPr>
          <p:cNvSpPr/>
          <p:nvPr/>
        </p:nvSpPr>
        <p:spPr>
          <a:xfrm>
            <a:off x="6312024" y="5157192"/>
            <a:ext cx="4608512" cy="127444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586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28B4CA-C8CA-41BF-9DBD-FCCF54122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28" y="404664"/>
            <a:ext cx="6239746" cy="11050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FAE310-0AE8-4A3C-AD51-F339C0496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28" y="1516788"/>
            <a:ext cx="5976664" cy="29567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4B96CB-7228-4550-A501-523F943F9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54" y="4725144"/>
            <a:ext cx="6411220" cy="1905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86BF5E-6E02-4497-B914-D2A06F69B101}"/>
              </a:ext>
            </a:extLst>
          </p:cNvPr>
          <p:cNvSpPr txBox="1"/>
          <p:nvPr/>
        </p:nvSpPr>
        <p:spPr>
          <a:xfrm>
            <a:off x="7680176" y="1412776"/>
            <a:ext cx="4076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C00000"/>
                </a:solidFill>
              </a:rPr>
              <a:t>한문서에 </a:t>
            </a:r>
            <a:r>
              <a:rPr lang="ko-KR" altLang="en-US">
                <a:solidFill>
                  <a:srgbClr val="C00000"/>
                </a:solidFill>
              </a:rPr>
              <a:t>작성된 </a:t>
            </a:r>
            <a:r>
              <a:rPr lang="en-US" altLang="ko-KR" dirty="0">
                <a:solidFill>
                  <a:srgbClr val="C00000"/>
                </a:solidFill>
              </a:rPr>
              <a:t>SSD</a:t>
            </a:r>
            <a:r>
              <a:rPr lang="ko-KR" altLang="en-US" dirty="0">
                <a:solidFill>
                  <a:srgbClr val="C00000"/>
                </a:solidFill>
              </a:rPr>
              <a:t>의 일부들입니다</a:t>
            </a:r>
          </a:p>
        </p:txBody>
      </p:sp>
    </p:spTree>
    <p:extLst>
      <p:ext uri="{BB962C8B-B14F-4D97-AF65-F5344CB8AC3E}">
        <p14:creationId xmlns:p14="http://schemas.microsoft.com/office/powerpoint/2010/main" val="2151525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1FFED4-0B61-4B8D-B7DA-0FB3DFC1C5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48"/>
          <a:stretch/>
        </p:blipFill>
        <p:spPr>
          <a:xfrm>
            <a:off x="413197" y="289685"/>
            <a:ext cx="5898827" cy="651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24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D6F5D5-618C-4374-AF91-DF4BC73F9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-109306"/>
            <a:ext cx="4680520" cy="6679617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A8820C1-DC9E-48C6-83CE-7C0D73B0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786153"/>
              </p:ext>
            </p:extLst>
          </p:nvPr>
        </p:nvGraphicFramePr>
        <p:xfrm>
          <a:off x="5591944" y="764704"/>
          <a:ext cx="6048672" cy="3024336"/>
        </p:xfrm>
        <a:graphic>
          <a:graphicData uri="http://schemas.openxmlformats.org/drawingml/2006/table">
            <a:tbl>
              <a:tblPr/>
              <a:tblGrid>
                <a:gridCol w="6048672">
                  <a:extLst>
                    <a:ext uri="{9D8B030D-6E8A-4147-A177-3AD203B41FA5}">
                      <a16:colId xmlns:a16="http://schemas.microsoft.com/office/drawing/2014/main" val="1359288185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1.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사용자가 로그인 식별자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아이디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와 비밀번호를 입력하여 로그인을 요청한다</a:t>
                      </a:r>
                      <a:b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2.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시스템은 입력된 로그인 정보가 유효한지 확인한다</a:t>
                      </a:r>
                      <a:b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3.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시스템은 사용자에게 접근 권한을 부여한다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200307"/>
                  </a:ext>
                </a:extLst>
              </a:tr>
              <a:tr h="2160240"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[2a.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시스템에 등록된 계정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아이디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이 없는 경우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1.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시스템은 등록되지 않은 아이디임을 사용자에게 알린다</a:t>
                      </a:r>
                      <a:b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2.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사용자가 계정 등록을 요청한다</a:t>
                      </a:r>
                      <a:b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3.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시스템은 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[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계정 등록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] Use Case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를 호출하여 실행한다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4. Main 1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로 돌아간다</a:t>
                      </a:r>
                      <a:b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[2b.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비밀번호가 일치하지 않는 경우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1.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시스템은 비밀번호 불일치로 인한 인증 실패를 사용자에게 알린다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2. Main 1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로 돌아간다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6167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0A25D0-D055-4C66-80A3-EBEE8B7F9339}"/>
              </a:ext>
            </a:extLst>
          </p:cNvPr>
          <p:cNvSpPr txBox="1"/>
          <p:nvPr/>
        </p:nvSpPr>
        <p:spPr>
          <a:xfrm>
            <a:off x="6096000" y="5157192"/>
            <a:ext cx="371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시나리오에 없는 흐름이 있습니다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ED2E7D4-4407-41C8-B68F-77642F1A3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516953"/>
              </p:ext>
            </p:extLst>
          </p:nvPr>
        </p:nvGraphicFramePr>
        <p:xfrm>
          <a:off x="5591944" y="188640"/>
          <a:ext cx="5904656" cy="198120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3961431312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1677270795"/>
                    </a:ext>
                  </a:extLst>
                </a:gridCol>
              </a:tblGrid>
              <a:tr h="1598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Preconditions</a:t>
                      </a:r>
                    </a:p>
                  </a:txBody>
                  <a:tcPr marL="28217" marR="28217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사용자가 시스템에 로그인하지 않은 상태이다</a:t>
                      </a:r>
                    </a:p>
                  </a:txBody>
                  <a:tcPr marL="28217" marR="2821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316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234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5F7CDC-C244-46D7-85BA-4FE6331B5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620688"/>
            <a:ext cx="6213328" cy="4464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E9FD20-BCD5-4C2C-B560-17950AAA7120}"/>
              </a:ext>
            </a:extLst>
          </p:cNvPr>
          <p:cNvSpPr txBox="1"/>
          <p:nvPr/>
        </p:nvSpPr>
        <p:spPr>
          <a:xfrm>
            <a:off x="7896200" y="1772816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Class diagram</a:t>
            </a:r>
            <a:r>
              <a:rPr lang="ko-KR" altLang="en-US" dirty="0">
                <a:solidFill>
                  <a:srgbClr val="C00000"/>
                </a:solidFill>
              </a:rPr>
              <a:t>에 </a:t>
            </a:r>
            <a:r>
              <a:rPr lang="en-US" altLang="ko-KR" dirty="0" err="1">
                <a:solidFill>
                  <a:srgbClr val="C00000"/>
                </a:solidFill>
              </a:rPr>
              <a:t>UserController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r>
              <a:rPr lang="ko-KR" altLang="en-US" dirty="0">
                <a:solidFill>
                  <a:srgbClr val="C00000"/>
                </a:solidFill>
              </a:rPr>
              <a:t>클래스가 없습니다</a:t>
            </a:r>
            <a:r>
              <a:rPr lang="en-US" altLang="ko-KR" dirty="0">
                <a:solidFill>
                  <a:srgbClr val="C00000"/>
                </a:solidFill>
              </a:rPr>
              <a:t>. 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00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1FCAAE-958F-42D1-A683-91CACC612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696" y="332656"/>
            <a:ext cx="7776061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B63AF04-099C-4447-B434-FCE51E11F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262" y="1772816"/>
            <a:ext cx="6306430" cy="27626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9A536D-E44C-4303-B742-ADA7A5B81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984" y="4542163"/>
            <a:ext cx="5611008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22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2D6E89-9824-42CD-B724-0427D90CD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620688"/>
            <a:ext cx="5096586" cy="18290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203466-4BDF-4502-A45C-3F374C627881}"/>
              </a:ext>
            </a:extLst>
          </p:cNvPr>
          <p:cNvSpPr txBox="1"/>
          <p:nvPr/>
        </p:nvSpPr>
        <p:spPr>
          <a:xfrm>
            <a:off x="6744072" y="1052736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C00000"/>
                </a:solidFill>
              </a:rPr>
              <a:t>멤버 변수에 타입이 없습니다</a:t>
            </a:r>
            <a:r>
              <a:rPr lang="en-US" altLang="ko-KR" dirty="0">
                <a:solidFill>
                  <a:srgbClr val="C00000"/>
                </a:solidFill>
              </a:rPr>
              <a:t>.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05B216-9FAF-47D2-BAFD-732086681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2779682"/>
            <a:ext cx="3391373" cy="1629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9BF67D-D3E7-491A-8BDB-DBD44EF4DF4A}"/>
              </a:ext>
            </a:extLst>
          </p:cNvPr>
          <p:cNvSpPr txBox="1"/>
          <p:nvPr/>
        </p:nvSpPr>
        <p:spPr>
          <a:xfrm>
            <a:off x="5660616" y="3670020"/>
            <a:ext cx="2952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End point </a:t>
            </a:r>
            <a:r>
              <a:rPr lang="ko-KR" altLang="en-US" dirty="0"/>
              <a:t>사용시 </a:t>
            </a:r>
            <a:r>
              <a:rPr lang="en-US" altLang="ko-KR" dirty="0"/>
              <a:t>Note </a:t>
            </a:r>
            <a:r>
              <a:rPr lang="ko-KR" altLang="en-US" dirty="0"/>
              <a:t>를 상하여 상황을 설명하거나 라이프라인 대신 사용한 경우라면 객체 이름을 라벨로 표시 하면 좋겠습니다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77DE87E-D541-48F3-ADC7-E4966CE3E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2" y="4738623"/>
            <a:ext cx="2229161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52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C7F4D8-8D22-4DCF-93A3-4023606F3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2712" y="-171400"/>
            <a:ext cx="806102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E7D549-978C-48D5-8161-D07141921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240" y="260648"/>
            <a:ext cx="3096344" cy="57782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54C537-C168-4B60-B165-DE8317948FED}"/>
              </a:ext>
            </a:extLst>
          </p:cNvPr>
          <p:cNvSpPr txBox="1"/>
          <p:nvPr/>
        </p:nvSpPr>
        <p:spPr>
          <a:xfrm>
            <a:off x="4651968" y="6597352"/>
            <a:ext cx="566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Order</a:t>
            </a:r>
            <a:r>
              <a:rPr lang="ko-KR" altLang="en-US" dirty="0">
                <a:solidFill>
                  <a:srgbClr val="FF0000"/>
                </a:solidFill>
              </a:rPr>
              <a:t>가 제공하지 않는 메시지를 호출 하고 있습니다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A02C62-9FA4-4532-A4A8-D6F98F1B33E9}"/>
              </a:ext>
            </a:extLst>
          </p:cNvPr>
          <p:cNvSpPr/>
          <p:nvPr/>
        </p:nvSpPr>
        <p:spPr>
          <a:xfrm>
            <a:off x="695400" y="692696"/>
            <a:ext cx="1994520" cy="2880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5E5191-1567-4ABC-9071-BA076E464009}"/>
              </a:ext>
            </a:extLst>
          </p:cNvPr>
          <p:cNvSpPr/>
          <p:nvPr/>
        </p:nvSpPr>
        <p:spPr>
          <a:xfrm>
            <a:off x="8472264" y="4653136"/>
            <a:ext cx="1944216" cy="2880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568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143672" y="278092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동영상 강의 시청해 주세요 </a:t>
            </a:r>
            <a:r>
              <a:rPr lang="en-US" altLang="ko-KR" b="1" dirty="0">
                <a:solidFill>
                  <a:schemeClr val="bg1"/>
                </a:solidFill>
              </a:rPr>
              <a:t>(</a:t>
            </a:r>
            <a:r>
              <a:rPr lang="ko-KR" altLang="en-US" b="1" dirty="0">
                <a:solidFill>
                  <a:schemeClr val="bg1"/>
                </a:solidFill>
              </a:rPr>
              <a:t>총 </a:t>
            </a:r>
            <a:r>
              <a:rPr lang="en-US" altLang="ko-KR" b="1" dirty="0">
                <a:solidFill>
                  <a:schemeClr val="bg1"/>
                </a:solidFill>
              </a:rPr>
              <a:t>71</a:t>
            </a:r>
            <a:r>
              <a:rPr lang="ko-KR" altLang="en-US" b="1" dirty="0">
                <a:solidFill>
                  <a:schemeClr val="bg1"/>
                </a:solidFill>
              </a:rPr>
              <a:t>분</a:t>
            </a:r>
            <a:r>
              <a:rPr lang="en-US" altLang="ko-KR" b="1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b="1" dirty="0">
                <a:solidFill>
                  <a:schemeClr val="bg1"/>
                </a:solidFill>
              </a:rPr>
              <a:t>  - 5.1 OOI - Sequence Visibility(32</a:t>
            </a:r>
            <a:r>
              <a:rPr lang="ko-KR" altLang="en-US" b="1" dirty="0">
                <a:solidFill>
                  <a:schemeClr val="bg1"/>
                </a:solidFill>
              </a:rPr>
              <a:t>분</a:t>
            </a:r>
            <a:r>
              <a:rPr lang="en-US" altLang="ko-KR" b="1" dirty="0">
                <a:solidFill>
                  <a:schemeClr val="bg1"/>
                </a:solidFill>
              </a:rPr>
              <a:t>), </a:t>
            </a:r>
          </a:p>
          <a:p>
            <a:r>
              <a:rPr lang="en-US" altLang="ko-KR" b="1" dirty="0">
                <a:solidFill>
                  <a:schemeClr val="bg1"/>
                </a:solidFill>
              </a:rPr>
              <a:t>  - 5.2 OOI - Mapping Designs to Code(18</a:t>
            </a:r>
            <a:r>
              <a:rPr lang="ko-KR" altLang="en-US" b="1" dirty="0">
                <a:solidFill>
                  <a:schemeClr val="bg1"/>
                </a:solidFill>
              </a:rPr>
              <a:t>분</a:t>
            </a:r>
            <a:r>
              <a:rPr lang="en-US" altLang="ko-KR" b="1" dirty="0">
                <a:solidFill>
                  <a:schemeClr val="bg1"/>
                </a:solidFill>
              </a:rPr>
              <a:t>),  </a:t>
            </a:r>
          </a:p>
          <a:p>
            <a:r>
              <a:rPr lang="en-US" altLang="ko-KR" b="1" dirty="0">
                <a:solidFill>
                  <a:schemeClr val="bg1"/>
                </a:solidFill>
              </a:rPr>
              <a:t>  - 6 Summary(21</a:t>
            </a:r>
            <a:r>
              <a:rPr lang="ko-KR" altLang="en-US" b="1" dirty="0">
                <a:solidFill>
                  <a:schemeClr val="bg1"/>
                </a:solidFill>
              </a:rPr>
              <a:t>분</a:t>
            </a:r>
            <a:r>
              <a:rPr lang="en-US" altLang="ko-KR" b="1" dirty="0">
                <a:solidFill>
                  <a:schemeClr val="bg1"/>
                </a:solidFill>
              </a:rPr>
              <a:t>)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732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7448" y="3505196"/>
            <a:ext cx="6653480" cy="584705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3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                 </a:t>
            </a:r>
            <a:r>
              <a:rPr kumimoji="1" lang="ko-KR" altLang="en-US" sz="3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실습안내</a:t>
            </a:r>
            <a:endParaRPr kumimoji="1" lang="en-US" altLang="ko-KR" sz="3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71864" y="4725144"/>
            <a:ext cx="28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10</a:t>
            </a:r>
            <a:r>
              <a:rPr lang="ko-KR" altLang="en-US" b="1" dirty="0">
                <a:solidFill>
                  <a:schemeClr val="bg1"/>
                </a:solidFill>
              </a:rPr>
              <a:t>시 </a:t>
            </a:r>
            <a:r>
              <a:rPr lang="en-US" altLang="ko-KR" b="1" dirty="0">
                <a:solidFill>
                  <a:schemeClr val="bg1"/>
                </a:solidFill>
              </a:rPr>
              <a:t>55</a:t>
            </a:r>
            <a:r>
              <a:rPr lang="ko-KR" altLang="en-US" b="1" dirty="0">
                <a:solidFill>
                  <a:schemeClr val="bg1"/>
                </a:solidFill>
              </a:rPr>
              <a:t>분에 시작 합니다</a:t>
            </a:r>
          </a:p>
        </p:txBody>
      </p:sp>
    </p:spTree>
    <p:extLst>
      <p:ext uri="{BB962C8B-B14F-4D97-AF65-F5344CB8AC3E}">
        <p14:creationId xmlns:p14="http://schemas.microsoft.com/office/powerpoint/2010/main" val="2587037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werdy\OneDrive\바탕 화면\OOAD 시간표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908720"/>
            <a:ext cx="10857654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221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1"/>
          <p:cNvSpPr>
            <a:spLocks noGrp="1"/>
          </p:cNvSpPr>
          <p:nvPr>
            <p:ph idx="1"/>
          </p:nvPr>
        </p:nvSpPr>
        <p:spPr>
          <a:xfrm>
            <a:off x="527381" y="932723"/>
            <a:ext cx="11329259" cy="56646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67" b="1" spc="0" dirty="0">
                <a:solidFill>
                  <a:prstClr val="black"/>
                </a:solidFill>
                <a:latin typeface="맑은 고딕"/>
              </a:rPr>
              <a:t>Functional Requirement (FR)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spc="0" dirty="0">
                <a:solidFill>
                  <a:prstClr val="black"/>
                </a:solidFill>
                <a:latin typeface="맑은 고딕"/>
              </a:rPr>
              <a:t>사용자 </a:t>
            </a:r>
            <a:r>
              <a:rPr lang="en-US" altLang="ko-KR" sz="1600" b="1" spc="0" dirty="0">
                <a:solidFill>
                  <a:prstClr val="black"/>
                </a:solidFill>
                <a:latin typeface="맑은 고딕"/>
              </a:rPr>
              <a:t>(Actor 1)</a:t>
            </a:r>
          </a:p>
          <a:p>
            <a:pPr lvl="2">
              <a:lnSpc>
                <a:spcPct val="150000"/>
              </a:lnSpc>
              <a:buFontTx/>
              <a:buChar char="-"/>
            </a:pPr>
            <a:r>
              <a:rPr lang="ko-KR" altLang="en-US" spc="0" dirty="0">
                <a:latin typeface="맑은 고딕"/>
                <a:ea typeface="맑은 고딕"/>
              </a:rPr>
              <a:t>상품권 선물</a:t>
            </a:r>
            <a:endParaRPr lang="en-US" altLang="ko-KR" spc="0" dirty="0">
              <a:latin typeface="맑은 고딕"/>
              <a:ea typeface="맑은 고딕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b="1" spc="0" dirty="0">
                <a:solidFill>
                  <a:prstClr val="black"/>
                </a:solidFill>
                <a:latin typeface="맑은 고딕"/>
              </a:rPr>
              <a:t>가맹점주 </a:t>
            </a:r>
            <a:r>
              <a:rPr lang="en-US" altLang="ko-KR" sz="1600" b="1" spc="0" dirty="0">
                <a:solidFill>
                  <a:prstClr val="black"/>
                </a:solidFill>
                <a:latin typeface="맑은 고딕"/>
              </a:rPr>
              <a:t>(Actor 2)</a:t>
            </a:r>
          </a:p>
          <a:p>
            <a:pPr lvl="2">
              <a:lnSpc>
                <a:spcPct val="150000"/>
              </a:lnSpc>
              <a:buFontTx/>
              <a:buChar char="-"/>
            </a:pPr>
            <a:r>
              <a:rPr lang="ko-KR" altLang="en-US" spc="0" dirty="0">
                <a:latin typeface="맑은 고딕"/>
                <a:ea typeface="맑은 고딕"/>
              </a:rPr>
              <a:t>매출 분석 기능</a:t>
            </a:r>
            <a:br>
              <a:rPr lang="en-US" altLang="ko-KR" spc="0" dirty="0">
                <a:latin typeface="맑은 고딕"/>
                <a:ea typeface="맑은 고딕"/>
              </a:rPr>
            </a:br>
            <a:r>
              <a:rPr lang="en-US" altLang="ko-KR" spc="0" dirty="0">
                <a:latin typeface="맑은 고딕"/>
                <a:ea typeface="맑은 고딕"/>
              </a:rPr>
              <a:t>.</a:t>
            </a:r>
            <a:r>
              <a:rPr lang="ko-KR" altLang="en-US" spc="0" dirty="0">
                <a:latin typeface="맑은 고딕"/>
                <a:ea typeface="맑은 고딕"/>
              </a:rPr>
              <a:t> </a:t>
            </a:r>
            <a:r>
              <a:rPr lang="ko-KR" altLang="en-US" sz="1467" spc="0" dirty="0">
                <a:latin typeface="맑은 고딕"/>
                <a:ea typeface="맑은 고딕"/>
              </a:rPr>
              <a:t>일</a:t>
            </a:r>
            <a:r>
              <a:rPr lang="en-US" altLang="ko-KR" sz="1467" spc="0" dirty="0">
                <a:latin typeface="맑은 고딕"/>
                <a:ea typeface="맑은 고딕"/>
              </a:rPr>
              <a:t>/</a:t>
            </a:r>
            <a:r>
              <a:rPr lang="ko-KR" altLang="en-US" sz="1467" spc="0" dirty="0">
                <a:latin typeface="맑은 고딕"/>
                <a:ea typeface="맑은 고딕"/>
              </a:rPr>
              <a:t>주</a:t>
            </a:r>
            <a:r>
              <a:rPr lang="en-US" altLang="ko-KR" sz="1467" spc="0" dirty="0">
                <a:latin typeface="맑은 고딕"/>
                <a:ea typeface="맑은 고딕"/>
              </a:rPr>
              <a:t>/</a:t>
            </a:r>
            <a:r>
              <a:rPr lang="ko-KR" altLang="en-US" sz="1467" spc="0" dirty="0">
                <a:latin typeface="맑은 고딕"/>
                <a:ea typeface="맑은 고딕"/>
              </a:rPr>
              <a:t>월별 매출 통계</a:t>
            </a:r>
            <a:br>
              <a:rPr lang="en-US" altLang="ko-KR" sz="1467" spc="0" dirty="0">
                <a:latin typeface="맑은 고딕"/>
                <a:ea typeface="맑은 고딕"/>
              </a:rPr>
            </a:br>
            <a:r>
              <a:rPr lang="en-US" altLang="ko-KR" sz="1467" spc="0" dirty="0">
                <a:latin typeface="맑은 고딕"/>
                <a:ea typeface="맑은 고딕"/>
              </a:rPr>
              <a:t>. </a:t>
            </a:r>
            <a:r>
              <a:rPr lang="ko-KR" altLang="en-US" sz="1467" spc="0" dirty="0">
                <a:latin typeface="맑은 고딕"/>
                <a:ea typeface="맑은 고딕"/>
              </a:rPr>
              <a:t>고객 연령대 분석</a:t>
            </a:r>
            <a:endParaRPr lang="en-US" altLang="ko-KR" sz="1467" spc="0" dirty="0">
              <a:latin typeface="맑은 고딕"/>
              <a:ea typeface="맑은 고딕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b="1" spc="0" dirty="0">
                <a:solidFill>
                  <a:prstClr val="black"/>
                </a:solidFill>
                <a:latin typeface="맑은 고딕"/>
              </a:rPr>
              <a:t>지역 상품권 관리자 </a:t>
            </a:r>
            <a:r>
              <a:rPr lang="en-US" altLang="ko-KR" sz="1600" b="1" spc="0" dirty="0">
                <a:solidFill>
                  <a:prstClr val="black"/>
                </a:solidFill>
                <a:latin typeface="맑은 고딕"/>
              </a:rPr>
              <a:t>(Actor 3)</a:t>
            </a:r>
          </a:p>
          <a:p>
            <a:pPr lvl="2">
              <a:lnSpc>
                <a:spcPct val="150000"/>
              </a:lnSpc>
              <a:buFontTx/>
              <a:buChar char="-"/>
            </a:pPr>
            <a:r>
              <a:rPr lang="ko-KR" altLang="en-US" spc="0" dirty="0">
                <a:latin typeface="맑은 고딕"/>
                <a:ea typeface="맑은 고딕"/>
              </a:rPr>
              <a:t>통계 및 분석</a:t>
            </a:r>
            <a:br>
              <a:rPr lang="en-US" altLang="ko-KR" spc="0" dirty="0">
                <a:latin typeface="맑은 고딕"/>
                <a:ea typeface="맑은 고딕"/>
              </a:rPr>
            </a:br>
            <a:r>
              <a:rPr lang="en-US" altLang="ko-KR" spc="0" dirty="0">
                <a:latin typeface="맑은 고딕"/>
                <a:ea typeface="맑은 고딕"/>
              </a:rPr>
              <a:t>. </a:t>
            </a:r>
            <a:r>
              <a:rPr lang="ko-KR" altLang="en-US" sz="1467" spc="0" dirty="0">
                <a:latin typeface="맑은 고딕"/>
                <a:ea typeface="맑은 고딕"/>
              </a:rPr>
              <a:t>가맹점 현황 및 분포 제공</a:t>
            </a:r>
            <a:br>
              <a:rPr lang="en-US" altLang="ko-KR" sz="1467" spc="0" dirty="0">
                <a:latin typeface="맑은 고딕"/>
                <a:ea typeface="맑은 고딕"/>
              </a:rPr>
            </a:br>
            <a:r>
              <a:rPr lang="en-US" altLang="ko-KR" sz="1467" spc="0" dirty="0">
                <a:latin typeface="맑은 고딕"/>
                <a:ea typeface="맑은 고딕"/>
              </a:rPr>
              <a:t>. </a:t>
            </a:r>
            <a:r>
              <a:rPr lang="ko-KR" altLang="en-US" sz="1467" spc="0" dirty="0">
                <a:latin typeface="맑은 고딕"/>
                <a:ea typeface="맑은 고딕"/>
              </a:rPr>
              <a:t>실시간 사용 현황 대시보드 조회</a:t>
            </a:r>
            <a:endParaRPr lang="ko-KR" altLang="en-US" spc="0" dirty="0">
              <a:latin typeface="맑은 고딕"/>
              <a:ea typeface="맑은 고딕"/>
            </a:endParaRPr>
          </a:p>
          <a:p>
            <a:pPr lvl="2">
              <a:lnSpc>
                <a:spcPct val="150000"/>
              </a:lnSpc>
              <a:buFontTx/>
              <a:buChar char="-"/>
            </a:pPr>
            <a:endParaRPr lang="en-US" altLang="ko-KR" spc="0" dirty="0">
              <a:latin typeface="맑은 고딕"/>
              <a:ea typeface="맑은 고딕"/>
            </a:endParaRPr>
          </a:p>
        </p:txBody>
      </p:sp>
      <p:sp>
        <p:nvSpPr>
          <p:cNvPr id="6" name="제목 3">
            <a:extLst>
              <a:ext uri="{FF2B5EF4-FFF2-40B4-BE49-F238E27FC236}">
                <a16:creationId xmlns:a16="http://schemas.microsoft.com/office/drawing/2014/main" id="{A43F79C2-F77C-474C-A355-DF2D6914C2C6}"/>
              </a:ext>
            </a:extLst>
          </p:cNvPr>
          <p:cNvSpPr txBox="1">
            <a:spLocks/>
          </p:cNvSpPr>
          <p:nvPr/>
        </p:nvSpPr>
        <p:spPr>
          <a:xfrm>
            <a:off x="475200" y="-1638"/>
            <a:ext cx="11240293" cy="708708"/>
          </a:xfrm>
          <a:prstGeom prst="rect">
            <a:avLst/>
          </a:prstGeom>
        </p:spPr>
        <p:txBody>
          <a:bodyPr vert="horz" lIns="101236" tIns="50619" rIns="101236" bIns="50619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2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ko-KR" sz="24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[02 OOAD] </a:t>
            </a:r>
            <a:r>
              <a:rPr lang="en-US" altLang="ko-KR" sz="2400" dirty="0"/>
              <a:t>Iteration3 </a:t>
            </a:r>
            <a:r>
              <a:rPr lang="ko-KR" altLang="en-US" sz="2400" dirty="0"/>
              <a:t>추가 요구사항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798" y="501077"/>
            <a:ext cx="3936437" cy="348717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797" y="4012461"/>
            <a:ext cx="3945696" cy="276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73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산출물 목표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633163" y="1028733"/>
            <a:ext cx="5935557" cy="492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53419">
              <a:lnSpc>
                <a:spcPct val="160000"/>
              </a:lnSpc>
              <a:buNone/>
            </a:pPr>
            <a:r>
              <a:rPr lang="en-US" altLang="ko-KR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일간 </a:t>
            </a:r>
            <a:r>
              <a:rPr lang="en-US" altLang="ko-KR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OOA</a:t>
            </a:r>
            <a:r>
              <a:rPr lang="ko-KR" altLang="en-US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OOD</a:t>
            </a:r>
            <a:r>
              <a:rPr lang="ko-KR" altLang="en-US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를 반복적으로 수행하여 산출물 작성</a:t>
            </a:r>
            <a:endParaRPr lang="en-US" altLang="ko-KR" sz="2000" b="1" spc="-133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71" y="1812360"/>
            <a:ext cx="11329259" cy="3892909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427307" y="3469640"/>
            <a:ext cx="2764704" cy="1109133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0224460" y="1123924"/>
            <a:ext cx="1415345" cy="33855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ko-KR" altLang="en-US" sz="1400" dirty="0"/>
              <a:t>실습</a:t>
            </a:r>
            <a:r>
              <a:rPr lang="en-US" altLang="ko-KR" sz="1400" dirty="0"/>
              <a:t>#2 </a:t>
            </a:r>
            <a:r>
              <a:rPr lang="ko-KR" altLang="en-US" sz="1400" dirty="0"/>
              <a:t>산출물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285601" y="1108876"/>
            <a:ext cx="1275627" cy="353603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212331" y="2084851"/>
            <a:ext cx="2764704" cy="1383096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740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657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lIns="36000" tIns="36000" rIns="36000" bIns="36000" rtlCol="0" anchor="ctr"/>
      <a:lstStyle>
        <a:defPPr algn="ctr">
          <a:defRPr sz="12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7074</TotalTime>
  <Words>639</Words>
  <Application>Microsoft Office PowerPoint</Application>
  <PresentationFormat>와이드스크린</PresentationFormat>
  <Paragraphs>66</Paragraphs>
  <Slides>21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샘물체</vt:lpstr>
      <vt:lpstr>Arial</vt:lpstr>
      <vt:lpstr>Wingdings</vt:lpstr>
      <vt:lpstr>Office 테마</vt:lpstr>
      <vt:lpstr>PowerPoint 프레젠테이션</vt:lpstr>
      <vt:lpstr>Sequence Diagram</vt:lpstr>
      <vt:lpstr>Class relationship</vt:lpstr>
      <vt:lpstr>도메인 모델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 산출물 목표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이혜준/HYE JOON YI</dc:creator>
  <cp:lastModifiedBy>User</cp:lastModifiedBy>
  <cp:revision>1168</cp:revision>
  <dcterms:created xsi:type="dcterms:W3CDTF">2021-06-02T00:51:12Z</dcterms:created>
  <dcterms:modified xsi:type="dcterms:W3CDTF">2026-09-03T22:43:15Z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