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1"/>
  </p:notesMasterIdLst>
  <p:sldIdLst>
    <p:sldId id="256" r:id="rId2"/>
    <p:sldId id="607" r:id="rId3"/>
    <p:sldId id="539" r:id="rId4"/>
    <p:sldId id="608" r:id="rId5"/>
    <p:sldId id="559" r:id="rId6"/>
    <p:sldId id="540" r:id="rId7"/>
    <p:sldId id="544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58" r:id="rId17"/>
    <p:sldId id="575" r:id="rId18"/>
    <p:sldId id="576" r:id="rId19"/>
    <p:sldId id="577" r:id="rId20"/>
    <p:sldId id="578" r:id="rId21"/>
    <p:sldId id="602" r:id="rId22"/>
    <p:sldId id="579" r:id="rId23"/>
    <p:sldId id="601" r:id="rId24"/>
    <p:sldId id="600" r:id="rId25"/>
    <p:sldId id="545" r:id="rId26"/>
    <p:sldId id="565" r:id="rId27"/>
    <p:sldId id="530" r:id="rId28"/>
    <p:sldId id="533" r:id="rId29"/>
    <p:sldId id="546" r:id="rId30"/>
    <p:sldId id="580" r:id="rId31"/>
    <p:sldId id="581" r:id="rId32"/>
    <p:sldId id="582" r:id="rId33"/>
    <p:sldId id="534" r:id="rId34"/>
    <p:sldId id="550" r:id="rId35"/>
    <p:sldId id="481" r:id="rId36"/>
    <p:sldId id="483" r:id="rId37"/>
    <p:sldId id="484" r:id="rId38"/>
    <p:sldId id="603" r:id="rId39"/>
    <p:sldId id="485" r:id="rId40"/>
    <p:sldId id="486" r:id="rId41"/>
    <p:sldId id="487" r:id="rId42"/>
    <p:sldId id="604" r:id="rId43"/>
    <p:sldId id="605" r:id="rId44"/>
    <p:sldId id="535" r:id="rId45"/>
    <p:sldId id="598" r:id="rId46"/>
    <p:sldId id="557" r:id="rId47"/>
    <p:sldId id="583" r:id="rId48"/>
    <p:sldId id="584" r:id="rId49"/>
    <p:sldId id="585" r:id="rId50"/>
    <p:sldId id="586" r:id="rId51"/>
    <p:sldId id="587" r:id="rId52"/>
    <p:sldId id="588" r:id="rId53"/>
    <p:sldId id="589" r:id="rId54"/>
    <p:sldId id="590" r:id="rId55"/>
    <p:sldId id="488" r:id="rId56"/>
    <p:sldId id="489" r:id="rId57"/>
    <p:sldId id="490" r:id="rId58"/>
    <p:sldId id="491" r:id="rId59"/>
    <p:sldId id="492" r:id="rId60"/>
    <p:sldId id="493" r:id="rId61"/>
    <p:sldId id="494" r:id="rId62"/>
    <p:sldId id="495" r:id="rId63"/>
    <p:sldId id="496" r:id="rId64"/>
    <p:sldId id="497" r:id="rId65"/>
    <p:sldId id="498" r:id="rId66"/>
    <p:sldId id="499" r:id="rId67"/>
    <p:sldId id="501" r:id="rId68"/>
    <p:sldId id="554" r:id="rId69"/>
    <p:sldId id="506" r:id="rId70"/>
    <p:sldId id="599" r:id="rId71"/>
    <p:sldId id="503" r:id="rId72"/>
    <p:sldId id="504" r:id="rId73"/>
    <p:sldId id="609" r:id="rId74"/>
    <p:sldId id="610" r:id="rId75"/>
    <p:sldId id="556" r:id="rId76"/>
    <p:sldId id="591" r:id="rId77"/>
    <p:sldId id="592" r:id="rId78"/>
    <p:sldId id="593" r:id="rId79"/>
    <p:sldId id="594" r:id="rId80"/>
    <p:sldId id="595" r:id="rId81"/>
    <p:sldId id="596" r:id="rId82"/>
    <p:sldId id="597" r:id="rId83"/>
    <p:sldId id="553" r:id="rId84"/>
    <p:sldId id="536" r:id="rId85"/>
    <p:sldId id="561" r:id="rId86"/>
    <p:sldId id="562" r:id="rId87"/>
    <p:sldId id="560" r:id="rId88"/>
    <p:sldId id="606" r:id="rId89"/>
    <p:sldId id="508" r:id="rId90"/>
    <p:sldId id="509" r:id="rId91"/>
    <p:sldId id="510" r:id="rId92"/>
    <p:sldId id="511" r:id="rId93"/>
    <p:sldId id="512" r:id="rId94"/>
    <p:sldId id="513" r:id="rId95"/>
    <p:sldId id="514" r:id="rId96"/>
    <p:sldId id="515" r:id="rId97"/>
    <p:sldId id="516" r:id="rId98"/>
    <p:sldId id="517" r:id="rId99"/>
    <p:sldId id="518" r:id="rId100"/>
    <p:sldId id="519" r:id="rId101"/>
    <p:sldId id="520" r:id="rId102"/>
    <p:sldId id="521" r:id="rId103"/>
    <p:sldId id="522" r:id="rId104"/>
    <p:sldId id="523" r:id="rId105"/>
    <p:sldId id="524" r:id="rId106"/>
    <p:sldId id="525" r:id="rId107"/>
    <p:sldId id="526" r:id="rId108"/>
    <p:sldId id="527" r:id="rId109"/>
    <p:sldId id="259" r:id="rId1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4F81BD"/>
    <a:srgbClr val="7099CA"/>
    <a:srgbClr val="4156BD"/>
    <a:srgbClr val="B2CCEC"/>
    <a:srgbClr val="5974BF"/>
    <a:srgbClr val="83A1DD"/>
    <a:srgbClr val="6679CC"/>
    <a:srgbClr val="2A2D72"/>
    <a:srgbClr val="525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1" autoAdjust="0"/>
    <p:restoredTop sz="90427" autoAdjust="0"/>
  </p:normalViewPr>
  <p:slideViewPr>
    <p:cSldViewPr>
      <p:cViewPr varScale="1">
        <p:scale>
          <a:sx n="134" d="100"/>
          <a:sy n="134" d="100"/>
        </p:scale>
        <p:origin x="1080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0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29472"/>
    </p:cViewPr>
  </p:sorter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06T01:10:23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12291 3597 3 0,'61'3'2'0,"-57"0"-1"0,-2-1 3 0,-2-1 3 15,0-2-1-15,0 1 23 0,0 0 10 0,0 0 10 16,0 0 9-16,0 0 17 0,0 0 4 0,0 0 2 16,0 0 7-16,0 0-14 0,0 0-7 0,-2 0-9 15,2 0-4-15,0 0-10 0,-3 0-7 0,2 0-5 0,1 0-3 0,0 0-4 16,-2 0-3-16,1 0-1 0,1 0-2 0,-1 0-2 16,0 0 0-16,1 0 1 0,-3 0 2 0,3 0-1 15,0 0 5-15,-2 0 1 0,1 0 0 0,1 2 1 16,-1-2 2-16,0 0 1 0,0 0-2 0,-1 2-1 0,-1 4-2 15,3-4 6-15,-3 3 0 0,3-3-2 0,-3 1-3 16,2-2 2-16,-1 6 2 0,0-6-5 0,2-1 0 0,-3 2-4 0,1 0-1 16,-1 0 1-16,-5-1 1 0,3 6-3 0,1-3-1 0,-26 21 1 15,24-22 3-15,2 4-4 0,-3-5-1 0,2 6-2 32,-1-4-1-32,0 2 0 0,-2-2-1 0,0 0 2 15,-2 0-1-15,-1 0 1 0,4 5 1 0,-3-5 4 16,-1 1-1-16,-4-2 1 0,5 3 1 0,-1 2-4 15,-2-5 0-15,-4 4-1 0,0-7 0 0,3 9-3 0,-3-3 0 0,1 3-6 16,-2-3-1-16,1-2 2 0,-2 2-3 0,1 4 0 16,-1-3-1-16,0-2-3 0,-1-5 1 0,-2 2 7 15,1 0 0-15,1 5-1 0,-1-6 3 0,-1-1 2 0,-1 0 2 16,-1 3 0-16,-2 2 2 0,7-3-2 0,-6-1 1 16,1 2 1-16,1-2-3 0,-3-1 0 0,1-4 1 15,2 2-3-15,-4-6-2 0,5 6-1 0,-1-6-2 16,-3 0-3-16,3 0 2 0,7 4-2 0,-4-4-3 15,0 1 3-15,1-3-1 0,-2-1 0 0,-2 2 1 16,5-1 0-16,-7-4 0 0,1-1 0 0,4 2 0 16,-3 0-2-16,4-2 2 0,1 3 0 0,0-5-1 15,-1 2 1-15,2 1 0 16,2 3-1-16,1-2 1 0,0-1 1 0,2 1-2 0,-4-4 1 16,5 0 0-16,0 3-1 0,3-10-2 0,2 6 2 15,-2-3 0-15,5-4-2 0,-2 4 0 0,7-2 0 16,1 4 0-16,1-1-1 0,0 0 1 0,-4 0-1 15,1 3 0-15,4-1 0 0,-4-2-2 0,-2 1 1 0,1 1 2 16,-3 0-1-16,6 4 0 0,-2-6 0 16,-1 2-2-16,7 3 1 0,2 1 1 0,-1-4-2 15,-3 3 1-15,3-4-1 0,1-1 0 0,0 2 0 0,2 0 1 0,-3-1 1 0,0-3-3 16,8 2 2-16,-2 2 0 0,2 0-2 0,-4 2 3 16,5 4-1-16,-2-5-1 0,3 6-1 0,3 3 1 15,-1 0 1-15,0-2-1 0,2 1 3 0,2 2-3 16,0 1 1-16,2-1 1 0,-2-1 1 0,-2-3 0 15,3 7 0-15,3-2-1 0,-2-1-1 0,4-1 3 16,4 3-1-16,-1-1-1 0,6 2 0 0,-2 1 2 0,0-5-1 0,1 2 3 16,-1 0-2-16,-3-4-2 0,-4 1 1 0,5 6 0 15,-3-1 0-15,-5-3 0 0,-1 2 1 0,0 2-2 16,1 4 1-16,-6 3 1 0,7 7 0 0,-12-8 0 0,-2 1-1 16,5 4 0-16,1 4 0 0,-3 0 1 0,-4-3-1 15,4 3 0-15,-6-9-1 0,5 7 0 0,3 4 1 16,-5-4 0-16,1-2-1 15,0-1 2-15,0-3 0 0,0 7 0 0,-2-10 2 16,1 10 1-16,-2-4-1 0,2 1 1 0,-3 2 2 16,3 2-2-16,-3-3 2 0,-3 3 0 0,3 3-2 15,0 1-1-15,-2 2 1 0,-2-2-2 0,-1 7 1 16,-4-5 0-16,-1 3-2 0,2 1 1 0,-5-1 0 16,-2-3 0-16,-2 2-1 0,4 1 2 0,-3-4-3 15,-1-2 3-15,-2-2 0 0,0-1-2 0,2 2 4 0,0-1 0 16,-1-5-2-16,-1 5 2 0,0-4 0 0,4 4-1 0,-2 0 0 15,-2 0-1-15,0-3 1 0,0 5 0 0,2 0 0 16,0 0-1-16,-2 3-2 0,1-1 1 0,-3-5-1 16,3 5 2-16,1-2-3 0,-2-2 1 0,2 0-1 15,1 2 2-15,-4-7 0 0,5 4 1 0,0-5 0 16,-1 2-2-16,0 0 5 16,-2-5-2-16,2 1 2 0,0-2-2 0,-4 1 1 15,2 0 0-15,-2 2 1 0,0-5 0 0,4 4-2 16,0 1-1-16,0 1 2 0,-6-6-2 0,5 3 0 15,1-1-1-15,-1 0 0 0,2 2-1 0,0-3 0 0,-3-2 1 16,0-1-1-16,7 4 2 0,-2-2-1 16,1 1 1-16,1-2 0 0,-2 0 1 0,2 0-1 15,0 0 1-15,-3 0-2 0,2 0-2 0,1 0 2 0,0 0 0 0,-2 0 0 0,1 0-1 16,1 0 1-16,-1 0-1 0,0 0 1 0,1 0 1 16,-2 0-3-16,1 0 0 0,1 0 0 0,0 0-1 15,-2 0 0-15,2 0 0 0,0 0 1 0,0 0-1 16,0 0 1-16,0 0 0 0,0 0 0 0,0 0 1 15,0 0 0-15,0 0 0 0,0 0-1 16,0 0 0-16,0 0 0 0,0 0 0 16,0 0-1-16,0 0 1 0,0 0-2 0,0 0-1 0,0 0-2 15,0 0-4-15,0-1 1 0,5 0-47 0,-5 0 22 16,0 0-122-16,0 1 123 0,0-1-64 0,0 0-32 16</inkml:trace>
  <inkml:trace contextRef="#ctx0" brushRef="#br0" timeOffset="1">12394 3124 413 0,'27'18'91'0,"-27"-19"-95"0,5 3-30 0</inkml:trace>
  <inkml:trace contextRef="#ctx0" brushRef="#br0" timeOffset="2">12427 3159 217 0,'0'7'146'0,"-1"-3"-46"0,-3 13-47 16,3-17 34-16,1-3-2 0,-3 1-22 0,4 2-25 16,1 0-3-16,0-1-6 0,2 1 0 0,-1-2-10 15,-1 0 2-15,4 1-14 0,-3-2 12 0,2-1 3 0,-2-1 2 16,0-1-1-16,2 0-2 0,-2 0 4 0,0-1-5 15,13-25-2-15,-11 22 3 0,-8-3-5 0,13 1 0 16,-5 1 0-16,1 0 0 0,5-3-2 0,4 2 6 16,-8-4 1-16,14 2 0 0,-1 2 1 0,-1-7 3 15,4 3 0-15,0-2 2 0,3 4 3 0,-3-4-2 16,5 5 2-16,0-2 1 0,5-1 2 0,-3 4-2 16,1 1 2-16,2 5-4 0,-2-3-2 0,1 0-5 0,0 3-4 15,-3 0-2-15,-3 0-6 16,1 5-2-16,-1-3-2 0,-3-2 0 0,2 4-1 0,-1 3 1 15,-1 2-2-15,3-3-1 0,-4 4 3 16,1-3-1-16,2 4-1 0,-3 1 1 0,-2-3 0 0,2 4 0 16,-2 1-2-16,-4-1 3 0,3 2-2 0,-4 0-1 15,2 1 0-15,-9 0-2 0,4 0-1 0,-2-3 3 16,-6 1 0-16,0 4 0 0,2-1 1 0,-6-3 3 16,0 1 1-16,0 6-1 0,-2-1 2 0,-6 2-3 0,0 0 1 0,-1-3-1 15,-2 1 0-15,-2 2-3 0,-4-3-1 0,0 1 2 16,0-5 1-16,0 7-1 0,1-2 1 0,-3-5-1 15,2 2-2-15,4 1 0 0,-1-2 1 0,0-4 0 16,0 3-2-16,-5-8-1 0,2 2 0 0,4-2 2 16,-5-1 2-16,0-1 0 0,-1-2 1 0,1 0 0 15,1-7 1-15,3 2 1 0,0-4 0 0,6-1-3 0,-3-1 1 0,2-4 0 16,0-1-2-16,1-1-1 0,3 3-1 0,5-3 1 16,-1 2 0-16,-1-3 0 0,2-1-2 0,0 3 2 0,3 5-2 15,6-6 0-15,-2 3 2 0,-1 0-2 0,5 4 0 16,-3-5 0-16,6 5-1 0,2-6-1 0,-1 1 2 15,1 0 0-15,0-6-3 0,6 5 2 0,4 0-1 16,-2 2-1-16,1-5 2 16,5 2 1-16,0 1 0 0,5 4-1 0,0 1 0 15,0-2 1-15,3 5 1 0,3-1 1 0,1 8 0 16,-6-7-1-16,-1 4 1 0,-3-2 1 0,0 3 1 16,-2 2 0-16,-7-1 0 0,2 2-1 0,-9-1 1 15,9 4-2-15,-6 0 0 0,-5 2 0 0,-3-2-1 16,5 3-1-16,-8 0 2 0,2-2 0 0,-3 2 0 15,2 0 4-15,-5 2-3 0,2-2 1 0,0 1 2 0,-1 0 0 0,-4-5-1 16,4 3 0-16,-2-1 2 0,-2-2 0 0,-1-1 0 16,0 0 2-16,-1 1-3 0,1-1 2 0,0 0 0 15,-2 1 0-15,1-1-1 0,0 0-1 0,-1 0-2 16,1 1-1-16,-1-1 1 0,0 1-1 0,2-1-1 16,-3 1 0-16,0 0 0 0,0 1-1 0,-2-1-1 15,2 0 1-15,-2 0-1 16,1-2 0-16,-1 0 0 0,-1 0-3 0,1-1 2 0,-1 1-1 15,1 0 2-15,-1-2-1 0,-1 1-1 0,2-1 1 16,-2 1-1-16,-20-16 2 0,18 8-1 0,0 0-1 16,2 1 1-16,0 0 1 0,0 3 0 15,0-2 0-15,0-2 0 0,0 7-2 0,0-1 2 16,0 2 0-16,4 1-1 0,-6-2-1 0,4 2 0 0,-1 2 0 16,3-2 1-16,-2 2 1 0,3 1 0 0,1 1 0 0,1-1 1 0,-1 1 0 0,0-1 2 15,0 0 1-15,1 1 0 0,1 1-1 0,0 0 0 16,0-1 1-16,3 1 0 0,0 1 2 0,2 1-1 15,1 0-1-15,1 0 1 0,24 15-2 0,-21-8 0 16,-1-4 1-16,0-6-1 0,4 9-2 0,-4-6-1 16,3 4 2-16,1 3-2 0,-2-6 1 0,1-2 0 15,-1 3 0-15,-1 3-1 0,5-1 2 0,-2-3 1 0,1 0 0 0,-2-2 1 16,-3-2 2-16,4 7 1 0,-5-7-2 0,-7 0 1 16,1-1-1-16,6 2-2 0,-6 0 0 0,2 0-1 0,-1 0 1 15,-4 0-2-15,7 1 1 0,-5 0-2 16,-1 3 1-16,-6-4 1 0,-2 3-2 0,-3-2 1 0,3 1-1 15,-3 1 0-15,0-2 0 0,-3 2 0 16,0-2 2-16,2 3-2 16,-4-2 0-16,3 1 0 0,-2-1 0 0,-1 1 2 15,2 0-2-15,0 4 1 0,1 0-2 0,-1-5 1 16,2 6 0-16,1 3 1 0,-3-2 0 0,4 0-1 0,-1-2-1 16,-1 1 0-16,0 1 1 0,1 0 1 0,-1-4 0 15,4-3-1-15,-1 3 1 0,5 1 3 0,-2 0 1 16,5-4 1-16,-3-4 1 0,3 3-1 0,0-3 1 15,0 0 0-15,0-1 1 0,0-2-2 0,0 0 0 0,0-2 1 0,0-1-1 16,0-2-1-16,0-1 1 0,11-19 1 0,-10 16 0 16,1-3 0-16,0 2 0 0,4 2-1 0,-6-3-1 15,6 1 2-15,-6-3 0 0,0 1-1 0,0-4-1 16,0 5-1-16,0-3-1 0,-3-1 2 0,4 7-2 16,-2-9-1-16,1 3-2 0,0 1 1 0,1 2-2 15,1-1-1-15,-1 2 1 16,1 1-3-16,-3-3-16 0,2 5 6 0,-6 1-41 15,1-4-32-15,-3 9 66 0,0-5-45 0,-15 5-21 16</inkml:trace>
  <inkml:trace contextRef="#ctx0" brushRef="#br0" timeOffset="3">18511 8283 270 0,'44'25'175'0,"-41"-23"-11"16,0-1-13-16,-1 0-37 0,-2-1-22 0,0 0-41 0,0 0 30 0,0 0-11 15,0 0-5-15,0 0-18 0,-1 0 2 0,1 0-7 16,-1 0-1-16,1 0-8 0,0 0-10 0,0 0 7 0,0 0 2 15,0 0-2-15,0 0-1 0,0 0-1 0,-2 2 4 16,1 0-1-16,-2 2 0 0,1 1 0 0,-2 0-1 16,-6-1 0-16,-26 22-4 0,23-21 0 0,-2-1-4 31,-2 0 0-31,-2 3-4 0,0-2-1 0,0 0-2 16,0 4-3-16,-5-2-1 0,-1-5-2 0,-3 0-1 15,0 0-1-15,1 3 0 0,1-1-1 0,0-4 2 0,-4 0 1 0,-4-2 7 16,0 3-2-16,9 1 5 0,-7-6 3 0,-3 2 0 15,-4-2 3-15,4 3-4 0,-1 0 1 0,8 1-7 16,-10-3 2-16,6 3-7 0,1 0-2 0,-4-1 0 16,2 1-3-16,-3-4-1 0,2 1-4 0,0 2 3 0,-1-4-3 15,-2 2 2-15,9 3-1 0,-5-3 0 0,-4-7-1 16,6 7 3-16,-5-6-1 0,3 3-1 0,3 0 11 16,-6-5 0-16,0-2 2 0,1-1 0 0,9 6 3 15,2-4-2-15,-7-3 6 0,7 0 1 0,3 3-9 16,4 0 1-16,2-3-1 0,4 3 1 0,1-3-3 15,-1 0 2-15,4 2-6 0,-1-3 3 16,-2-2 0-16,-1 1-3 0,7 2 2 16,-6-3 3-16,1 0 0 0,2 1 1 0,5 0 1 15,0-1-1-15,2 2 1 0,0 1-1 0,-1-5 0 16,8 2-6-16,-2 3 1 0,1-3-2 0,2-1 1 16,0 0-2-16,3-2 0 0,3 1 1 0,0 1-2 15,-5 1 2-15,6 2 0 0,3-4-1 16,0 0-1-16,1 8-1 0,2-4-1 0,1-4 0 0,5-1 0 0,5-2-2 0,-3 0 0 15,0 4-1-15,2-4 1 0,5-1 0 0,-2 5-1 16,0 2 1-16,0 4 0 0,1-5 0 0,1 6 1 16,0 0 2-16,3 1-3 0,-4 0 2 0,9 5-2 15,-11-3 3-15,6 1-2 0,-1 0 1 0,1 3-2 16,3 0 1-16,-2 4 1 0,0-2-2 0,4 2 2 16,2 0-2-16,-6 1 1 0,1 2-1 0,3-2 0 0,0 2-1 0,-3 0 0 15,-5-2 0-15,0 0 0 0,4 1-1 16,-2 5 2-16,3-5 0 0,-6-1-1 0,3 5 1 15,-2 1 2-15,1-2 0 0,-6 1-1 0,1 5 1 16,-1-6-1-16,-5 7-1 0,-1 5 2 0,-3-3-2 16,3 2-1-16,-7 2-2 0,2-3 2 0,-6 4-1 15,2 1 0-15,-2 2-1 16,1-1 1-16,-7-3 1 0,-1 4 1 0,4-4-1 16,1 4 0-16,-1-3 1 0,-1-2 0 0,-1 0 1 15,-5 0 0-15,9 0 0 0,-5 1-1 0,-3 2 2 16,1-2-2-16,-1 1 2 0,-1 1-1 0,0 0-1 0,2 0 0 15,-6-2 0-15,0 1 2 0,0-5-3 0,0 3 2 16,0-2-1-16,-5-3 1 0,-1-1 1 0,-1 0-1 16,5 5 0-16,-5-2-1 0,-2-3 1 0,-3 3 0 15,-1-2 0-15,-2-2 0 0,2 4 0 0,-6-2-1 16,2-2 0-16,1 3 0 0,1 2 1 0,-2-1-1 16,0 1 0-16,3 1 0 0,-4-1-1 0,4-1 3 0,-1-2-2 0,-1 1 1 15,-3-1 0-15,5-3 2 0,-4-2-1 0,0 0-1 16,2 4 3-16,0-3-2 0,-2-1 2 0,4-1-1 15,-8-2-2 1,4 3 0-16,-4-3 1 0,1 2 0 0,2-3-2 16,-6-2 0-16,2 0 0 0,2 3-2 0,5 2 2 15,-4-2-1-15,5 5 0 0,-2-2 0 0,3 1 0 16,0 2 0-16,3 0 0 0,0-1-1 0,4 4-7 16,1-3-2-16,0-6-8 0,3 5-8 0,1-1 4 0,-2-8-32 15,5 1-95-15,-1-2 37 0,0 1 69 0,0 0-73 16,3-6-32-16</inkml:trace>
  <inkml:trace contextRef="#ctx0" brushRef="#br0" timeOffset="4">18270 7388 517 0,'-42'9'131'0,"39"-9"-97"0</inkml:trace>
  <inkml:trace contextRef="#ctx0" brushRef="#br0" timeOffset="5">18198 7433 937 0,'-23'20'404'0,"19"-24"-239"16,-2 1-31-16,3-2-33 0,0-2-1 0,3 3-14 15,0-2-51-15,0 0 21 0,0 0-3 0,0-6 2 16,-3 0-9-16,9 2-8 0,-4-5-9 16,2 2 0-16,0-3 2 0,-4 0-10 0,9 5-1 0,0-6-8 15,1 0 7-15,-2 2-5 0,1-3-1 0,2-1 0 0,3-3 0 16,2-2 1-16,-2 0-1 0,2 3 2 0,3-4 0 15,2 1-1-15,3 3 1 0,-2-3-2 0,5 4 0 16,-1-1-1-16,3 2 0 0,2 0-2 0,3 1-2 16,-2-3 0-16,8 6-3 0,0 6-1 0,5-2 1 15,-7-3-2-15,-1 3-1 0,8 4 0 0,-9 1 0 16,0 0-1-16,-3 7-1 0,-1-4 0 0,-7 0 0 0,-3 4-3 16,6 9 1-1,-8-6-1-15,4 7 1 0,-5-2 0 0,-1 0-1 0,2 3 2 16,-2 3-2-16,3 2 1 0,-7-7 0 0,0 6 0 15,-3-4-2-15,0 0 1 0,0 3 2 0,-8-5-2 16,0 2 2-16,-3 0 0 0,-3 2 1 0,-4-1-1 16,3 0 3-16,-7 3-3 0,-5-4 1 0,-1 3 2 15,1-2 1-15,-9 0-2 0,0-1 2 0,-1-1-1 16,-3-1-1-16,-2-3 3 0,6 3-2 0,0-3 2 0,6-3 0 0,-2-1 0 16,-4-3 4-16,6 0-1 0,1-4 1 0,6 0 1 15,-11-6 2-15,5-4-1 0,0 1 0 0,1-4 0 16,6 1-2-16,-5-4-1 0,5-2 0 0,1 1 0 15,3-1-2-15,2-3-1 0,3 0-1 0,2 3 0 16,2-6-2-16,-1 1 2 0,7-6-2 16,-3 3-1-16,5 1 0 0,-1-2 0 0,5 0-1 0,-3-2 1 0,8 7 0 15,1 0 0-15,-3-2-1 0,4 3 0 0,-5 3 0 0,4 1-1 16,2-1-2-16,5 1 2 0,-12 0-1 16,8 3 0-16,0 2 1 0,2-4-2 0,6 3 0 15,-3 1 2-15,-1 5 1 0,3-6-2 16,3 6 1-16,-1 0 0 0,1 4 2 0,-7 1-2 15,4 1 0-15,-5 4 1 0,-4-1-1 16,-2 3 2-16,-2 0-1 0,-5 1-1 0,2 2-1 16,-4-2 3-16,-2 0 0 0,-1 3 1 0,-1-1 0 15,1 0 2-15,-5 0 1 0,4-4 0 0,-4 3 0 16,1 1 0-16,0-2 0 0,0-1-1 16,-3-1 2-16,0-1-2 0,0 1-1 0,0 0 3 0,0 0-1 15,0 0-2-15,0 0 3 0,0-1-1 0,0 0-1 16,0 1-1-16,0-1 2 0,0-1-3 0,0 1 1 0,-2 1-2 0,1-1 0 15,1 0 1-15,-1 0-1 0,-1 1 0 0,0-2 0 16,-1-2-2-16,-3 1 1 0,2 0 2 16,3 0-1-16,-4 1 0 0,2-4 1 0,1 1-1 15,0 3 0-15,0-2 2 0,1 2-1 0,-3-2-1 0,4-2 0 16,-5 0 1-16,4 5-3 0,-1-3 2 0,-4-3 0 0,0 1-3 31,-22-18 1-31,23 20 1 0,-1 2 1 0,-4-3-3 16,-6 0 1-16,2-1 0 0,5 5 0 0,-5-5 2 15,-3 1 0-15,4 0 0 0,-4-1 0 0,5 1 0 16,3 1 2-16,-5-1-2 0,-3-2 0 0,4 1 0 16,2 1 0-16,-1-3 0 0,3 6 1 0,-3-5 0 15,3 1-2-15,4 1-1 0,-4 3 1 0,4 0 0 0,3 6-3 0,-2-2-1 16,1-2 2-16,3 5-1 0,0-1 3 0,0 0 0 0,3 2-1 16,0 0-2-16,0-1 3 0,-1 0 0 0,6 5-1 15,-3-2 0-15,1 1-1 0,3 3 1 0,-1-3 0 16,-1 3 2-16,1-1-2 0,3 1 2 0,2 1 1 15,-1 0 1-15,1-5-2 0,-3 2 1 0,0-1 0 16,4 0 0-16,-9-2 1 0,8 2 0 0,-7-4-2 31,1 2 0-31,-3-2 1 0,4 1 2 0,0 0-3 0,0-1 2 0,1 2-2 16,-4-2-1-16,-2-3 2 0,2 3-1 0,4 2 0 16,-4 0 0-16,-2 0 0 0,2 0-1 0,-2-6 1 15,0 8-1-15,1-3 0 0,-2-1 3 0,0-3-1 16,-2 2 0-16,0-4-1 0,0 0 2 0,0 0 1 15,0 0 0-15,0 0 2 0,0 0-3 0,0 0 2 16,0 0 3-16,0 0 3 0,0 0-3 0,1 0 1 0,2 0 2 16,1 0-5-16,-1-1 3 0,1-1-2 0,-1 0-2 0,-2 1-2 15,4-11 0-15,20-25 1 0,-21 22-3 0,-1 4 1 16,1 1 1-16,0-8-2 0,0 8 0 0,1-2 2 16,2 2-1-16,-2-1-1 0,2 1 1 0,1 1-1 15,0 1-1-15,-3 0-4 0,3-2 3 0,-5 3-16 16,2-1-10-16,-2 1 4 0,3-1-4 0,-5 0-104 0,0-3-47 0,-3 2 132 15,2-1-87-15,-11 3-30 0</inkml:trace>
  <inkml:trace contextRef="#ctx0" brushRef="#br0" timeOffset="6">15952 13229 1194 0,'0'12'527'0,"-3"-6"-340"0,1 1-131 0,-1-3 60 16,-2-1-54-16,3 1-26 0,-1-3-20 0,-2 0-16 15,0 0-4-15,3-1 1 0,0 3-4 0,2-3-34 16,-1 0 31-16,1 0 1 0,-1 0 5 0,-1 0 3 16,2 0 4-16,-1 0 1 0,0 0 3 0,-2 1 1 15,-2-1 3-15,-6 4 3 0,-25 15-4 0,19-14 5 0,-2 1-6 0,-1 1-2 16,0 1 1-16,-6-1-2 0,1 1-1 0,0 0 0 15,0-1 0-15,-2 1-2 0,-6-2 0 0,-1 1 2 16,3 1-2-16,0-2 2 0,-3 3-3 0,-1-3 1 16,-3 3-3-16,1 0 2 0,-1-1 0 0,0-1-1 15,1-2 0-15,5 1-1 0,-11-6 2 16,2 4 0-16,6-4 1 0,-3 0-2 0,-2-1 1 0,-1 2 1 0,-5-1 4 0,0 0-2 16,13-1 6-16,-10 0 7 0,0-1 0 0,1-3 5 15,3 2-1-15,1-6 1 0,0 3-3 0,-1-1 3 16,0-1-8-16,8-3-6 0,1 4-1 0,0-8-3 15,-3 0 2-15,4-3-3 16,1 3 3-16,3-6-1 0,2 0 5 0,-3-3 4 0,6 2 2 16,3-3 2-16,3 2-1 0,3 0 3 15,0 4-3-15,0-8 3 0,3 2-3 0,0 3-4 16,2-1 1-16,-2 2-2 0,3-3 2 16,-1 0-2-16,0-1 0 0,4 6-3 0,-1-2-1 15,-2-3 0-15,4 1-1 0,2-1-2 0,1 2-1 16,1-1-1-16,0-2 2 0,2-2 1 0,4 4 0 15,-1-2 2-15,3 0-2 0,-2 2 2 0,7 0-1 16,-6-2 2-16,6 1-3 0,5 3 0 0,-2-3 0 0,3 1-1 0,1-1-1 16,-1 1 1-16,-2 2-1 0,1-1-2 0,8-3 3 15,-8-1-1-15,3 5 0 0,0-1 0 0,1 4 1 0,5-5-3 16,3 1 1-16,0 2 0 0,-2 3-1 0,10 0-1 16,-4 0-1-16,3-1-1 0,-3 0 0 0,6 1 0 15,2 1-1-15,-4-1-1 0,-3-1 1 0,3 4-2 31,1-2 2-31,-1 3-2 0,1-1 2 0,-2 3-1 16,-1-2 1-16,2 7 0 0,3 1-2 0,-5 1 3 16,3 2-1-16,-2 2 1 0,-1 0-1 0,-4 4 1 0,-1-1-1 0,7 4-1 15,1 2 2-15,-12-5 0 0,6 6 0 0,-3 1-1 16,5 2 0-16,-7 3-2 0,4 0 2 0,-6-1 0 16,-2 2 0-16,0 2 0 0,-2-1 0 0,-2 0 0 15,-4 0 0-15,3 4 1 0,-6-1 1 0,-3 1-1 0,3 2 2 16,-2-3 1-16,1 7-1 0,-2-3 1 0,1 2 2 15,0-1-1-15,-2-1-2 0,4 3 1 0,-7-4 0 16,1 0-1-16,-1-1 1 0,1 1-2 0,-2-5 1 16,-5-2-1-16,3 6 1 0,-1-6-1 0,1 5-1 15,-3-3 0-15,-3 2 0 0,-3 2 0 0,-6 0 0 16,5 1 0-16,-3-4 0 0,-5 4-1 0,-5-2 2 0,2-2-1 0,-4 2 0 16,0 0 0-16,0 0 1 0,-4 1 0 0,0-2 0 15,0 3 0-15,-2-4-1 0,1 1 0 0,1 1 0 16,-5-2 1-16,0 2-1 0,2-2-1 0,4 2 1 15,-6-5 0-15,3 1 0 0,0-1 0 0,1-3 0 16,4-2 0-16,4-2-1 0,-1-1-2 16,-5 0 0-16,8-1 1 0,0-3 0 15,1-1 0-15,3 4-2 0,1-3-1 0,-2 0 0 16,3-4-2-16,1 2 2 0,2 2-2 0,1-3-21 16,4 2-13-16,-5-3-56 0,5-1-42 0,0 0-78 15,0-1 155-15,0 0-149 0,0 0-66 0</inkml:trace>
  <inkml:trace contextRef="#ctx0" brushRef="#br0" timeOffset="7">15657 12146 1503 0,'-2'0'544'0,"2"4"-421"0,0-3-130 16,-2-1-15-16,1 0-25 0,1-1-9 16,0 1-6-16,0 0 3 0,0 0 0 0,0-2 6 15,0 1 34-15,0 0 17 0,0 1 18 0,0-1 13 16,0 0 14-16,0 0 7 0,0 0 13 15,0 0 2-15,0-8-5 0,1 2-6 0,1-2-6 0,4-25-2 16,1 20-6-16,-1 1-4 0,-1-1-9 0,2-9-4 0,0 6-1 0,2-4-2 16,2 1 1-16,0-2-3 0,5 1 0 0,1 1 0 15,2 1-4-15,6 0-1 0,-3-2 1 0,2 0-2 16,2 0-1-16,6 4-1 0,-6-4 0 0,7 6-3 16,-1-3 0-16,-4 7-1 0,9 3-2 0,-4 0-1 15,4 5-1-15,-9-2 0 0,0 6-2 0,2 2 1 16,1 2-1-16,-6-2 0 15,-2 5 0-15,2 4 1 0,1-4 1 16,-4 2 0-16,2 2-1 0,-3-2 1 0,-1 0 2 16,3 3-1-16,-2-1 1 0,-2-2-2 0,-2 2 0 15,0 0 2-15,-8 2 2 0,2 0-3 0,3 3 1 16,-7-5 2-16,-1 4 0 0,-5 1-2 0,-1 0 0 16,0-1-2-16,-4 0 1 0,-2 0 0 0,-5-6-2 0,2 1-1 0,-7 6-1 15,6-5 2-15,-7-4 0 0,4 1 0 0,-2 1 0 0,0 0 1 16,-2-5 1-16,-3 3 5 0,6-8-2 0,-2 1 1 15,-3 2 0-15,4-5 3 0,4-7 0 16,4 5 1-16,5 2 1 0,0 0-5 0,-12-9 2 0,-5-8-4 16,6-4 2-16,-2-2-4 0,8-1 1 0,-6-1-3 15,13-12-1-15,1 13 1 0,-5-3 0 0,1 6 1 16,-1-2-2-16,11-3 0 16,-10 0 0-16,6 4 0 0,1 1 1 0,-4-1-1 15,10-2 0-15,0 2 0 0,2-1 2 0,-2 7 1 16,5-1-1-16,-4 0 0 0,5 4-2 0,2 1 0 15,-1 2 2-15,3 2-2 0,-1 0 0 0,3 1-1 16,1 5-1-16,0-3 2 0,-1 7 0 16,3-5 1-16,1 6-1 0,-1-1 2 0,-2 4 1 15,2-3-3-15,-5 1 5 0,3 0-3 0,-1 3 2 0,2-1-1 0,-11-3 2 16,2 2-2-16,3-1 3 0,-4 1 1 0,0 0-1 0,-5-3 2 16,-1 1-1-16,1 0 3 0,-4 1-1 0,1-1 0 15,-4-1-1-15,-2 0-1 0,2 0 0 16,-2-1-3-16,-1 1-1 0,0-1-1 15,1 0-1-15,-2 0-1 0,-5-4 0 0,-3 1 0 0,-21-16 0 0,21 11-2 0,-2 1 1 16,3 0-2-16,-1-2 1 0,4 3-2 0,-4-2 0 16,4 0-1-16,-2 2 1 0,0-1 0 0,2-1 0 15,0 4 3-15,3 2 0 0,-4-5 0 16,1 4 1-16,1-3 0 0,0 4 1 0,-1 2 0 0,6 1-1 16,-1 0 0-16,-1-1 0 0,0 1 0 0,1 0 0 15,1 0 0-15,0 0 0 0,0 0-1 0,0 0 2 16,0 0-1-16,0 0-1 15,0 1 3-15,3 3-2 0,-3 0 0 16,2 4 1-16,-2-2 1 0,1 0-2 0,0 1 2 0,-1 0 0 16,4 2-2-16,7 23 2 0,-11-22 0 15,0 0-1-15,0 0-1 0,0-1 2 0,0 1-1 0,6 2 1 16,-4-2-1-16,-4-2 0 0,2-1-1 0,-2 0 2 0,4 1-1 16,-4-1-1-16,0 0 1 0,0 2 0 0,0-3-1 15,2 2 0-15,-1 0 1 0,1-2 0 0,-5 0-1 16,5 2 1-16,-3-5 0 0,3 0 1 0,-3-1 1 15,3-2 1-15,0 0 0 0,0 0 0 0,0 0 4 16,0 0 3-16,0 0 0 0,6 0 0 0,2-1 1 16,3-2 1-16,22-10-1 0,-22 6 0 0,-2 0-3 0,2 2-2 0,-1 0 0 15,4 0-3-15,-6 1 0 0,1 0-2 16,-2 2-2-16,2 0 1 16,-3 1-1-16,2-1 0 0,-5 1 0 0,2 1 0 15,-2-2-2-15,1 2-2 0,-2-1-2 0,-2 1 2 16,0 0-15-16,-1 0-8 0,1 0-12 0,-1-1-62 15,-1 0-40-15,2 0-72 0,-9-3-151 0,-2 0 255 16,-21-13-169-16,16 11-69 0</inkml:trace>
  <inkml:trace contextRef="#ctx0" brushRef="#br0" timeOffset="8">10813 13320 212 0,'69'14'171'0,"-67"-13"-67"0,-5 0-58 0,3-1 53 15,0 0-32-15,0 0-26 0,0 0 0 0,0 0 2 0,0 0 14 16,0 0 1-16,0 0 5 0,0 0-4 0,0 0 10 16,0 0 5-16,-1 0-2 0,-1 0-4 0,2 0-8 31,-2 0-6-31,2 0-4 0,0 0-1 0,-2 1-10 16,1 2-5-16,-1-1-3 0,-1 2 1 0,0-1-5 15,-5 0 1-15,2 2-4 0,-1 0-3 0,-25 22-2 16,22-22-2-16,1 3-2 0,-2 0 1 0,3-1-4 0,-6-2-6 0,0 3 2 15,-2 0-4-15,7 2-4 0,-5-2 2 0,-1 1 1 16,-4 1-3-16,1 2 2 0,-1 1 7 0,-4-4 4 16,-4-1 7-16,-1 3 4 0,-4-2 3 0,-1-1 2 0,-5-2 1 15,-1 1-1-15,0 1-4 0,3-1-4 0,-5 2-7 16,-1-4 0-16,1 3-4 0,-2 0-5 0,2-1-1 16,-4-2-1-16,-1 1-2 0,2 2 2 0,-2-6-1 15,0 0-1-15,2 2 0 0,-5-2 10 0,10 0 2 0,0-2 5 16,-4 0 1-16,1-2 3 0,7 2 6 0,2-6-2 15,2-1 5-15,-10-4-7 0,-1-3-7 0,6 1 0 0,5-2 0 16,-9-3-4-16,2-2-4 0,-1-1-1 0,6-1-3 0,2-1 1 16,-1 1 3-16,2-3-1 0,2 4 0 0,3-5 3 15,-2 5 0-15,4-1 0 0,1 1 2 0,3 1 1 16,0 1-3-16,7 0-2 0,-4-2 1 16,5 5-3-16,5-3-3 0,1-1 0 0,0-1-2 15,2 6-2-15,5-1 0 0,1-5 2 16,0 2 0-16,1 0-2 0,3 3 5 15,4 1-1-15,1-3 3 0,8 0 1 0,-3-1 3 16,0 4-3-16,8-1 2 0,-1-2 1 0,5 2-2 16,3-2 1-16,4-2-4 0,-2 3 0 0,6-3-3 15,6 4 0-15,0-6-3 0,2 4 1 0,0-4 0 16,-1 0 0-16,5 2 0 0,-3-2 0 0,-6-1 1 16,5 4 2-16,-5-1 0 0,3 3 1 0,0 1-1 0,1 1 1 0,-9 2 1 15,7 4-2-15,8 3 2 0,-9-6 0 0,2 5 0 16,-1 3-1-16,-2 0-2 0,4-3 2 15,-5 5-3-15,5-2 1 0,-12 2-3 0,15 9 1 16,-18-7-1-16,10 5 0 0,-9 2 3 0,2 4-4 16,2 2 1-16,-7-1 1 0,0 3 1 0,-11-7-1 15,11 11 2-15,-4-1-1 0,1 3 0 16,-4 3 2-16,-2-5-2 0,-1 8 2 0,1-2 0 16,2 4-1-16,-6 0 0 0,-4-3-2 15,3 2 1-15,-2-4 0 0,-6-1 0 0,0 2-1 16,0 0-1-16,-2-3 1 0,-1 0 1 0,4 1 1 0,-6 1-1 15,-1 2-1-15,1 0 1 0,-6-5-1 0,3 4 1 16,-7 1 0-16,-5-2-2 0,-1 0 3 0,-1 0-1 16,-2-1 1-16,4 3 1 0,-1-3 0 0,-1 0 1 15,-1-1 0-15,2-2-1 0,-3 2 0 0,1-1 1 16,2-2-1-16,-1-1 0 0,1-1-1 0,-1 0-1 16,1-2-1-16,-1-3 0 0,2 0-1 0,1-1-1 0,5 1 0 0,-7-4-2 15,3-1 0-15,1-2 0 0,1 1-2 0,3-2 1 0,-4 0-6 16,-2-4-4-16,0-1-3 0,6 0 2 15,1 1-32-15,-3-1-20 0,3-1-23 0,-3-2-41 0,5-5 90 16,3-1-64-16,-2-5-25 0</inkml:trace>
  <inkml:trace contextRef="#ctx0" brushRef="#br0" timeOffset="9">10548 12575 1160 0,'0'-1'548'0,"0"-2"-339"0,0 2-96 15,-2 1-84-15,2-1 9 0,0-1-1 0,0 1-18 0,0 1-4 0,0-1 3 16,-1 0-29-16,-1 0 30 0,1 1 4 15,-2-8 4-15,-4 5 0 16,3-2 12-16,-22-21 3 0,23 22-6 0,-3-3 8 0,1 0-10 16,5 2-3-16,0-2-5 0,2 0-10 0,-1-4-2 15,-1-1-2-15,2-6-3 0,1 3-1 0,8-1-3 16,-4-3 0-16,5-3-1 0,-3 1 2 16,-2 3-2-16,7-3 0 0,6-1 1 15,-4 2 1-15,-2-2-2 0,2 4 1 0,5 6-1 0,1-6 1 16,4 6-3-16,-1-2 0 0,-3 6 0 0,5-2-2 0,3 2 0 0,-2-1 0 15,3 5 0-15,-7-2 0 0,4 5 0 0,-1 1 0 16,-1 0 0-16,-2 2-3 0,-3 0 1 0,-5 3-1 16,1 1 0-16,1-1 1 0,-5 0 1 0,-1 4-1 15,-2 1 1-15,2 2 2 0,-4 0 1 0,-1 4-1 16,-3-1 1-16,4 3 0 0,-9-2 1 0,-3 6-1 16,4 0-2-16,-5-2 0 0,-1 1 1 0,-3-2-1 0,-2 6 2 15,-2 2-2-15,1-1 1 0,0-6 1 0,-3 2-1 16,-2 1 1-16,-1-2-1 0,-3-3 1 0,5-1-1 15,-5-2 1-15,-1-3-1 0,2-4 1 0,-2-2 0 16,3 4 0-16,2-9 0 0,4 3-1 0,-7-4 2 16,6 1-2-16,0-4-1 0,-1 0 0 0,6-4 1 15,-5-3 2-15,6 2-2 0,0-5 1 16,2 0-1-16,6-3 2 0,0-2-1 16,0-1 2-16,3 2-4 0,2-3 0 0,-2-4-1 0,6-2 0 15,0-4 0-15,0 2 0 0,0 4 0 0,2-5-1 16,1-2 1-16,3 2 1 0,0-1 0 0,4 3 2 15,2 0-2-15,2-3 1 0,-6 1 0 0,8 2-1 0,-1 0 2 0,-5-1-1 16,6 3-1-16,-9 2 0 16,1-3 0-16,-1 7 0 0,1-1 0 0,-6 4 0 15,2 5-2-15,-1 2 0 0,-1 1 1 0,-4 1 1 0,0 5-2 0,3 2 2 16,-3 0 0-16,-1 0 3 0,1 1 1 0,-2 0 1 16,-4 1 1-16,1 1 0 0,3 0 1 0,-5-2 0 15,3 4 1-15,-2-3 0 0,-1-2-1 0,0 0 0 16,0 0 0-16,0 0 1 0,0 0 0 0,0 0-1 15,0 0-1 1,-1 0 1-16,1 0-1 0,-1 0-1 0,-1 0 1 16,2 0-2-16,-1 0 0 0,0 0 0 0,1 0-3 15,-5-2 0-15,1 0 0 0,-4-1 0 0,5 2 0 0,-2-2-1 16,-1-1 0-16,1 1 0 0,1 1 0 0,0-1 0 16,-2-1 2-16,1 1-2 0,2 0 0 0,-2-1 0 15,2 0 0-15,-3 3 0 0,4-2 0 16,-4-2 0-16,5 4 0 0,0-2 0 0,0 1 0 0,-1 2 0 0,2-1-2 0,0-1 1 15,-2 1 0-15,1 1-1 0,1-1 0 0,-2 0 1 16,1 0 0-16,0 1 0 0,1 0 1 16,0 0 0-16,0 0 1 0,0 0-1 0,0 0 2 15,0 0 1-15,1 0-2 0,5 3 2 16,-2 1 0-16,0-2-1 0,1 0 1 0,1 2-1 0,-3-4 1 16,2 2-3-16,0-1 1 0,0 1 0 0,2 0-1 0,-2 0 0 0,0 0 0 15,-5-2 1-15,1 0-1 0,1 2 0 0,1 0 0 16,0 4-2-16,-3 2 2 0,0-1 0 0,0 2 0 15,-8 21-1-15,2-21 1 0,1-2 1 0,-2-1-1 16,2-2 3-16,-1-1-1 0,3 4 0 0,-3-5 0 16,2 4-1-16,2-5 1 0,-1 2 1 0,2-1-1 0,-1-2-1 31,2 0 2-31,-1 0-1 0,1 0-1 0,-1 0 0 16,0 0 0-16,1 0-1 0,0 0 0 0,0 0-1 15,0 0 1-15,0 0-2 0,0 0 0 0,1 5 2 16,0 0-1-16,2 0-1 0,1 3 0 0,-2-3 0 15,4 3 2-15,15 18-1 0,-14-21 1 0,0-1 0 16,0 0 2-16,-1-2 2 0,-2-2 1 0,1 1 0 0,-4-1-1 0,4 3 3 16,-3-4 1-16,-2-1-3 0,-2 2 1 0,2-1-1 0,0 1-1 15,-2-1 2-15,1 0-3 0,1 0 0 0,-4-1-2 16,-4 0-1-16,2-2 2 0,-1 0-2 0,-17-12 2 16,17 12-1-16,3-2 3 0,-2 0-2 0,4 0 2 15,1 1 1-15,-4 1-2 0,2-3 2 0,1-2-2 16,-1 5 0-16,0-4-1 0,2 2-1 0,-3 0 0 31,4-1 1-31,-3 0-1 0,2 3-1 0,1 0 1 0,-2 2-2 0,2 1 0 16,-2 1 2-16,2-1-1 0,-1 0-2 0,1 0 1 15,-3 0 1-15,3 0 0 0,0 0 2 0,-2 0-1 16,1 0-1-16,1 1 1 0,-1-1 0 0,0 0 1 16,1 0-2-16,-2 0 0 0,1 1-1 0,1 0 0 15,-2 0 1-15,1 0 0 0,1 0 0 0,0 1 0 16,0 4 0-16,3 0 2 0,-2-2-1 0,1 0 0 0,0 0 1 15,-2-1-1-15,0-1 0 0,3-1 2 0,0 2-1 0,0 0-2 16,-1 0 2-16,2-1 1 0,0 1 0 0,0 0 0 16,1-2 0-16,-3 0 0 0,5 1-1 0,-4 1 0 15,2-2 0-15,-3 0-1 0,2 0 0 0,-1 0 0 16,-1 0-2-16,0 0-2 0,-2 0 1 16,0 0-2-16,2 0 0 0,-2 0-4 15,0-2 1-15,0 2-3 0,0-1 1 0,1 1 0 16,-1-1-2-16,1 0 0 0,0 0 0 0,2 0 1 15,-2 0-2-15,-1-1 2 0,3-2 0 16,0 0 2-16,2 0 0 0,-3 2-1 16,1-1 2-16,0-2 1 0,0 3 3 0,-2 1-2 0,0-1 3 15,-1 1-1-15,0 0 2 0,0 0 1 0,0 1 0 16,0-1 0-16,0 0 0 0,0 0 1 0,0 0-1 0,0 1 2 0,0-1 0 16,0 1-2-16,0 0 3 0,-1 0 0 0,0 0-2 15,1 0 3-15,-2 0 0 0,1 0-2 16,1 0 1-16,-3 0-1 0,2 0 0 0,-1 0-1 0,0 0 1 15,-1 0-1-15,3 0-1 0,-3-1 0 0,2-1 1 0,0 2 1 16,-2-1-1-16,3 0 1 0,-4 0 0 0,2 0 0 16,1 1 0-16,-3-2 1 0,1 0-2 0,-1 0-1 15,2 1 1-15,-2-1 0 0,3 1-1 0,-4 0 0 16,2 0 0-16,-1-2 0 0,2 3-1 0,0-1 1 16,-3 0 0-16,3 0 0 0,-2 1 0 0,-4 0 1 15,2-1-1-15,5 0 2 0,-3 0-1 0,0 0-1 0,2 0 0 0,1 1 1 16,-4 0 1-16,5 0-2 0,-2 0 2 0,1-1-1 15,1 1 0 1,-1-1 0-16,0 0 0 0,1 1 0 0,-2-1-1 16,1 0 0-16,0 0 0 0,1 0 0 0,-2 1 0 15,2-2 1-15,0 1 0 0,-2 1-1 0,1-1-1 16,1 0 1-16,-1 0 0 0,-1 0 0 0,2 1-2 16,-1-1 2-16,0 0 0 0,1-1 0 0,0 2 0 15,0-1 1-15,0 0-1 0,0 1 0 0,6 0 2 16,2 0-2-16,0-1 1 0,20-3 0 0,-22 1 0 0,3 2 0 0,3 1 0 0,0-4 3 15,0-1-3-15,-3 1 1 0,3 3 1 16,-2-2-1-16,3-1 1 0,-3 0 0 0,-2 3-1 16,-1-1 0-16,0 0 0 0,-3 0 1 0,0-3-1 15,0 4 0-15,-2 0 0 0,3-1 0 0,-5 1 0 16,0 1-1-16,0-2 1 0,0 1-2 0,0 1 1 16,0-1 0-1,0 1-1-15,0-1 0 0,0 1 0 0,0 0 1 0,0-1-1 16,0 0 0-16,0 1 0 0,0 0 1 15,0 0 0-15,0 0-1 0,0 0 1 0,0 0-1 0,0 0 1 16,0 0 0-16,0 0-1 0,0 0 0 0,0 0 0 16,0 0 0-16,0 0-2 0,0 0 3 15,0 8-1-15,-4 1 0 0,3-2 0 0,-10 23 0 16,8-19 0-16,-1-2 0 0,-1 0-1 0,0-2 1 0,-1 1 0 0,4 1 0 0,1 1-1 16,-5-1 1-16,1-3 0 0,-1 3-1 0,4-2 1 15,-1-2 0-15,2 6 0 0,-3-2 0 16,1-3 0-16,3 5 0 0,0-4 1 0,-3 1 0 15,0-1-1-15,2 2 0 0,0-4 3 0,1-2-2 16,-1 0 1-16,1-3 0 0,0 0 1 0,0 0 1 16,0 0-1-16,-2 0 1 0,2 0-2 0,0 0 2 0,0 0 0 0,0 0-1 15,0-1-1-15,0 0 0 0,0 0 0 0,0 1-2 16,0-1 0-16,0-5 0 0,0 1-2 16,0 1 1-16,0 1 0 0,0-1-1 0,0 3 1 0,0-1 1 15,0 0-1-15,-3 1 0 0,3 0 1 0,0-3 0 0,-2 4-3 16,1-2 3-16,1 0-2 0,-1 1 0 0,0 0-7 31,1 0-1-31,-3 0 0 0,3 0-11 0,0-1-32 16,0 0-26-16,0-6 14 0,0 0-108 0,0 2 129 15,3-19-76-15,5 11-30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06T01:10:23.66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16745 10960 383 0,'32'28'192'16,"-24"-30"-141"-16,-7 2-59 0,1 0 20 0,2 0-35 0,-4 0 3 16,0 0 7-16,0 0 8 0,0 0-20 0,0-1 67 15,0 1 13-15,0 0 15 0,0 0 9 0,0 0 3 0,0 0 8 16,0 0-4-16,0 0-23 0,0 0-10 0,0 0-11 0,0 0-11 16,0 0-7-16,0 0-6 0,-2 0-11 0,0 0 3 15,2 0 3-15,-1 0 3 0,0 0 6 16,1 0 9-16,-1 0 3 0,0 0 4 0,0 0 2 0,-1 0 4 15,2 0-1-15,-4 0-5 0,2 1 1 0,0 2-3 16,-2-3-6-16,-1 1-6 0,2 2 2 0,-1-2-2 16,1 2-6-16,-4-2 1 0,5 1-4 0,-2-1-7 0,0 2 1 0,0-1 5 15,-1-1-3-15,2 0-6 0,-1-1 5 16,0 4-2-16,-1-2 3 0,-1-1 0 0,3 1 3 16,-5 2-4-16,3-2 2 15,-4-2 4-15,-22 22 1 0,23-23 0 0,-2 1 0 16,1 4 1-16,-2-3-2 0,9 1 3 0,-4 0-1 15,1 2-3-15,2 1-2 0,0 1 0 0,-4-4-4 16,6 0 0-16,-8 2-1 0,1-3-3 0,3 3-1 16,-6-2-2-16,-2-2-2 0,2 2 3 0,2 0-1 15,1 0-1-15,-1-1 0 0,-1 3 1 0,-1-4-1 16,4 3 1-16,-1-2 2 0,0 2 1 0,-2-1 0 0,1 0 2 0,1-2-1 16,-5 1 2-16,4 0 2 0,-3 1 0 0,2 2-1 15,-2 0-2-15,0-4 2 0,-2 2-3 16,2 0 3-16,1 1-2 0,-2-1-2 0,-1 0-1 15,2-2-2-15,-3 2 2 0,2 0-3 0,5 1 2 16,-8 0-3-16,3-2 0 0,4 1 0 0,-1 0 1 16,-4-2 2-16,5 2-3 0,1 2 1 15,-6-3 2-15,3 1 0 0,0 0 0 16,0 0 0-16,-1 0-1 0,2 0 1 0,-3-1 0 16,1 0 0-16,-1-1 0 0,2 4 1 0,-2-4-1 15,0 3-1-15,1 1 2 0,0-3-2 16,-2 2 1-16,0-2 0 0,3 1-2 0,-3 0-1 15,3 0 2-15,0 2-1 0,-5-4 0 0,5 4 1 16,-2-1 2-16,-2-2-1 0,2 1 2 0,-2-2-1 0,-4-3 1 0,5 3 3 16,1 0 0-16,-1 0-2 0,6 3-2 0,-7-3 0 0,0-1 0 15,4 2-1-15,0 2-1 0,-4-4-2 0,-1 1 1 16,-5-4-1-16,4 3 0 0,3 1 0 0,-5 0 1 16,-1-1-1-16,1 1 1 0,-3 0 0 0,4-2-1 15,0 2 0-15,-1 0 0 0,0 0 2 0,0-1-2 16,4 1 0-16,-4 4 1 0,1-4-1 0,-2 0 0 0,-1 0 0 15,3 0 1-15,-6 0-2 0,4 0 1 0,-1-3 0 0,-2 2 0 16,2 1 0-16,4 0 0 0,-4 0 0 0,5 3 0 0,-6-5 0 16,0 2 0-16,3 0 0 0,-5-1 0 0,2 1 0 15,-1 0 1-15,-4-2-1 0,2 2 2 0,0-1 0 16,-2-2 0-16,4 3 1 0,1-1 2 0,-1 1 0 31,0-1 0-31,1 0 0 0,-3-1 1 0,1 2-1 16,2 0-2-16,-1-1-1 0,-2-1 0 0,1 1-2 15,-3-3 1-15,1 3-1 0,-1-4 0 0,4 1 0 0,-1 3 2 16,-6-1-2-16,5 1 1 0,1 1-1 0,1-2 1 16,1-1-1-16,-6 3 1 0,3-2 1 0,1 1-2 15,7 0 1-15,-8-2 0 0,0-1 1 0,2-1-1 16,-1 2 0-16,1-1 0 0,0 0-1 0,-5-1 1 0,-4-1-1 0,6 0 0 16,-1 3-1-16,1 0 0 0,-8-2 2 0,4 2-2 15,3-2 1-15,3 2 0 0,-3-1 0 0,-1 0 0 16,1-3 1-16,-1 5 1 0,6-4-1 0,-2 1 2 15,-1-3-3-15,-6 0 2 0,4 0 0 0,6 5-2 16,-4-4 2-16,1-3-1 0,-5 3 0 16,-2-1 0-16,1 1 1 0,5-1-1 15,-10 1 3-15,1-2 0 0,-2 0 0 0,1 0 3 0,2 1-2 16,3 0 0-16,0 1 2 0,-6-3 0 0,7 1-2 16,-1 0 2-16,3 4-2 0,-4-7 0 0,2 2 3 15,-2-2-1-15,3 2 0 0,1 2-1 0,0-3-1 16,-3 0 2-16,-1-4 0 0,3 4 0 0,1 2 0 0,4-6-1 15,-3 1 1-15,-3 0 0 0,5 1 1 0,2-1-1 16,3 2 1-16,-3-4 1 0,-1 2-2 0,1 0 3 16,3 0-2-16,-6-2 1 0,5 0-1 15,-4-2 1-15,6 4 0 0,-4-6 0 16,0 0-1-16,5 0 0 0,-6-3 1 16,2 0-1-16,1 0 0 0,-6 0-3 0,1-4 1 15,2 2-2-15,-2 0 1 0,3 6-1 0,-2-2-2 16,3 2 0-16,0 1 1 0,1 3 0 0,0-1 1 15,0 4 0-15,4-1-2 0,-5-3 1 16,2 0 3-16,5 6-3 0,-1-5 1 0,-3-4-1 0,-1 0 3 16,0-1-1-16,2 1 0 0,-2 1 1 0,2-2-3 15,-5-4 2-15,3 5-2 0,3 2 2 0,1-5-1 16,-4-1-2-16,5 2 2 0,2-2-1 0,-3 0 0 16,1-1 3-16,3 5-1 0,-5-8 1 0,5 5-2 15,0-1 1-15,3-2 0 0,-3-2 0 0,5 5 2 0,-3-5-2 16,1 1 0-16,3 0-1 0,-2 4 1 0,2 1 0 0,3-6 0 15,-4 3-1-15,4 1-3 0,2-1 2 0,1 0-3 0,0-3 0 16,2-2 0-16,0 1-1 0,0 2 0 0,5-4 1 16,-7-4 0-16,3 1 0 0,-1 0 0 0,3 2 1 15,-1 0-1-15,-1 1 1 0,-1 0-1 0,2 4 0 16,0 0 2-16,1 0-2 0,2 3 0 0,-3-3 0 16,1 1 0-16,2 1-1 0,0 3 0 0,1-6 0 15,1 4-2-15,1-1 0 0,0-1 1 0,0 6 0 0,6 3-1 0,0-6 0 16,2-3 0-16,0 9 0 0,0 0 0 0,4 2 2 15,1-4 0-15,1-3-2 0,-2 0 2 16,-4 4 2-16,8-1-1 0,-5-2 1 0,0-1-1 16,0 1 1-16,2 2-1 15,2 1 1-15,-2 4 0 0,4-1-3 0,-6 1 2 16,2 0-1-16,7 6-1 0,-3-5 1 0,0 2-1 16,-2-1 0-16,3 5-2 0,-2-3 2 0,9 4-2 15,-6-2 3-15,1-1-1 0,0 1 2 0,-1 4 0 16,2 0 0-16,7-2 1 0,-3 3-1 0,-4-4 1 15,1 5-1-15,2-2 1 0,4 2-1 16,-2-4 0-16,0 2-1 0,-3 1-1 0,0-4 2 0,3 5 0 0,-5-2 0 0,6 2 0 16,-2 1 0-16,-4 0 0 0,2 0 0 0,1 3 1 15,1 0-1-15,2 0 0 0,-4 0 0 0,5 2 0 16,-6-2 0-16,6 1 0 0,-8-4-1 0,6 2 1 16,-2 3 0-16,-4-3 0 0,5 1 0 0,-6-1 2 15,0 2-1-15,1-1-1 0,9 4 1 16,-9-3 0-16,-3-3 0 0,3 1-1 15,-1 2 0-15,5 0 0 0,-2-1 0 16,0 0 2-16,-5 0 0 0,8 5-1 0,4-2 1 16,-4 1-1-16,-2 1 0 0,-1-1-1 0,1 1 1 15,-3-3 0-15,3 5-1 0,-1-4 0 16,-3 2 1-16,4-1 1 0,-4-3-2 0,3 5 0 16,0-2 0-16,3 2 1 0,-9-5-1 0,-2 2 1 0,0 1 0 0,2-2 0 15,1 6-1-15,-1-4 1 0,-4 0 1 0,-4-3-2 0,11 4 2 16,-4 2-1-16,1-1 0 0,-3-4-1 0,2 3 1 15,-2-2 1-15,1 2-1 0,8 5-1 0,-3-2 0 16,-3-6 1-16,7 7 0 0,-8-4 1 0,0-2-2 16,7 6 0-16,-6-5 1 0,-4-1 0 0,1 0-1 15,-2 1 2-15,4 3-2 0,-2-3 1 0,0 4-1 16,-1-3 0-16,-5 0 0 0,5 2 3 0,-3 0-3 0,0 0 0 0,-2-1 1 16,5 2 2-16,-7-3-2 0,3 1 0 0,2 2-1 0,-1-2 0 15,5 0 0-15,-3 1 2 0,-1-1-2 0,7 3 1 16,0-2 1-16,0 2 0 0,-3-6 0 0,3 6-1 15,0 0-1-15,-1-2 1 0,0 5 1 0,-5-7-1 16,0 2 1-16,0 2-2 0,1-1 2 0,-4 0 0 31,0-2 2-31,-1 1-4 0,0-2 1 0,1 3 0 16,0 0 0-16,0 0 1 0,0-1-2 0,-4-1 1 0,1-2-1 0,2 5 0 16,3-2 1-16,-4-1 0 0,1-1-1 0,1 2 1 15,7 0-1-15,-1 2 0 0,-1 0 0 16,-2-1 0-16,-2 2 0 0,4-1 0 0,-3 1 0 15,-3 0 0-15,-1 0 0 0,1 4 0 0,-2-3 2 16,-2 0-2-16,0 3 0 0,0-1 1 0,8 4 0 0,-7-1-1 0,1-1 1 16,-2-1 1-16,5 0-2 0,-1 1 1 0,3-2 1 15,-6-2-2-15,-1-2-1 0,3 2 2 0,-1-2-1 16,-5-3 0-16,4 2-1 0,1 1 1 0,-6-2 0 16,3 1 0-16,0 1 1 0,3 2 0 15,-2 2 0-15,3 1 1 0,-7-3 0 0,3 5-2 16,2-5 0-16,-7 0 0 0,6 5 1 15,-5-3-1-15,2 1 0 0,0 1 0 0,-5-5 0 16,4 2 2-16,1 3-1 0,-3-5 0 0,-2 0-1 16,3-1 0-16,-4-1 2 0,3 3-2 0,2 0 1 15,-9-2-1-15,5 0 0 0,4 5 1 16,-1-3 1-16,-7 1 0 0,2-6-2 0,-3 1 0 16,5 5 1-16,2 0 0 0,-4-7 0 0,-2 1-1 0,-1 1 1 15,6 4 0-15,0 1-1 0,0-2 0 0,-1 0 0 0,-3 0 0 0,4 1 0 16,-2-3 0-16,4 4 0 0,-7-2 0 0,5 0 1 15,-2 1-1-15,-2 0 0 0,2 0 2 16,-2-2-1-16,1 1 0 0,-2-1 1 0,0 0 0 16,-1 0 0-16,1 2-1 0,-2-5 1 0,1 3 1 15,-1 3-1-15,0-3-1 0,0 2 1 16,-1-2-1-16,1 0-1 0,0 1 2 0,0-1 0 0,-2-1-1 0,1 4 0 16,0-3 0-16,0 0 0 0,0 0 2 0,1 0-3 0,-2 5 2 15,2-5-2-15,0 3 1 0,-3-5 0 0,1 3-1 16,0-1 0-16,-2-1 1 0,3 4 2 0,-4-4-2 15,0 1 1-15,0 1 1 0,1-1-2 0,-1 3 2 16,1-3-1-16,0 0-1 0,-4 1 0 0,2 0 1 16,1 1 0-16,-2 0-1 15,-3 1 3-15,4-3-3 0,-4 1 1 0,-1 0 1 16,6 0-1-16,-6-2 0 0,3-1-1 0,-4 0 1 0,6 2-1 16,1 3 1-16,-4-3 0 0,4 2-1 0,-1 2 0 15,-3-2 1-15,7 2 0 0,-4-4 0 0,-1 2 0 16,-2-2 1-16,-1-2 1 0,1 0-1 0,-2-3-1 15,-1 3 2-15,2-1-4 0,1 0 3 0,-7-3-2 16,4 3 1-16,-1-3-1 0,-1 2 0 0,-1-2 1 16,0 1-1-16,-1 1 1 0,2-1 0 0,3 1 0 0,0-1-2 0,0 4 1 15,0 0-1-15,-4-2 0 0,2 1 2 0,3 0-2 16,-2 2 1-16,-1 1 0 0,1 1 2 0,-2-5-1 16,-3 1 0-16,13 4 1 0,-10-2-1 15,6 2 1-15,-5-4 2 0,2 0 1 0,1 2-2 16,1-2 0-16,2-1 0 15,-7-1 1-15,3-2-2 0,-3 1 1 0,2-1-3 16,2-1-1-16,-3 3 1 0,1-1 0 0,0 0-7 16,-1 1-5-16,-2-3-8 0,2 2-12 0,3 1-17 15,-4-4-28-15,-9-4-168 0,0 0 190 0,2-2-114 16,-5-6-65-16</inkml:trace>
  <inkml:trace contextRef="#ctx0" brushRef="#br0" timeOffset="1">10464 7117 485 0,'46'50'171'0,"-47"-50"-124"0,2 3-39 16,-3-2 20-16,2-1-24 0,-2 0-5 0,2 0 3 16,0 0 5-16,-2 0 4 0,0 0 0 0,2 0 22 15,-1 0-1-15,0 0 11 0,1 0 6 0,-1 0 10 16,0 0 3-16,0 0-2 0,1 0 6 0,-2 0-16 31,-1 0-4-31,1 0-6 0,-1-1-7 0,-3 1-10 16,1-1-6-16,1 0-5 0,-3 0-3 0,3 1-7 0,-4-2-1 15,1 0 1-15,1 2 1 0,-22 2-1 0,22-2 3 16,-1 0 4-16,0-3 6 0,2 3 4 0,-3 0 2 16,2 0 2-16,0-7 5 0,-1 4 3 0,1-3-4 15,0 1 0-15,-1 1-3 0,0-1-3 0,3 0 0 16,-1 0 0-16,-2-3-3 0,2 1-2 0,-1 3 2 0,-2-2 0 0,4 6 2 15,-3-9-1-15,-3 6 2 0,4 1-3 0,-3 0 3 16,-2-2 0-16,2-1 3 0,2 2 0 0,-4-6-3 16,2 2-2-16,2-2 0 0,-4-3 2 0,5 5-5 15,2-3 1-15,-1 1-4 0,-2 0 2 16,-2-1 0-16,2 0 1 0,-3 0 1 0,2 2 1 16,-6 0-2-16,1-1-3 0,-2-1 0 15,2-1-3-15,0 0 1 0,1 1-6 0,-1 5-2 16,-2-4-1-16,3-1 0 0,-3 4-2 0,-2-2 1 15,0 1-1-15,4 3 0 0,-6-7 0 0,-1 3 1 16,4 0 1-16,-3-1 3 0,0-2 2 16,1 2-2-16,3 2 3 0,-5-4-1 0,-2 3 0 15,2-2 1-15,1 1-2 0,0 2-2 0,0-1 0 0,-6-2-1 16,3 2-1-16,-2 0-1 0,5 5 0 0,-4-2-1 0,-2-5 0 0,3 6 0 16,-8-4 1-16,5-2-1 0,1 5 0 15,-1-6 1-15,-1 0 0 0,-4-5 1 0,1 5 2 16,1-1-1-16,2-2 0 0,-4 0 4 15,-2-3 1-15,1-1-1 0,4 4 1 0,-8-1-2 16,1-1 0-16,-2-1 1 0,1 1-1 0,5 5 0 0,-2-1-3 0,-6-2-1 16,-3-1 0-16,10 2 0 0,-1 1 0 0,4 2-2 0,-8-6 0 15,-3-2 0-15,-2 2 0 0,7 1 0 0,-7-7 0 16,3 8 0-16,-6-5 0 0,3 0 0 0,2 0 1 16,1 4 1-16,-1-4-1 0,-5-2-1 0,6 2 0 15,-2-1 1-15,5 3-1 0,-4-2 0 0,-2 1-1 16,6 4 1-16,-4-6-1 0,6 3 1 0,2 4-1 0,6-3-1 15,-16-4 1 1,5 2 0-16,4-2 1 0,-2 2-1 0,4-1 0 0,-6 0-2 16,-5-4 1-16,0 0 1 0,10 4 1 0,-2-2 0 15,-2 0-1-15,4 1 0 0,-4 1 2 0,1-1 1 16,4 5 0-16,-5-1-1 0,1 4-1 0,-2-1 0 16,0 0 2-16,6 9-2 0,-6-8-1 15,-2 9 0-15,0-6 1 0,-2 2-3 0,2 2 2 16,0 0 1-16,-4 0-1 0,4-2 0 0,0 6 0 0,6-4 1 0,4 6-2 0,-4-4 2 15,-1 3 0-15,4-3 0 0,0 2 0 16,-1-2-1-16,-4 0 1 0,-4-2 0 0,3 1-1 16,1 0 0-16,-4 1 1 0,2-1 0 0,0 4-2 15,1 3 0-15,-6 1-1 0,3-1 1 0,1 5 0 16,-1-3-1-16,1 3-1 0,-1 4 2 0,8 1 0 16,-8-5 1-16,5-2-1 15,1 4 1-15,2 0-1 0,0 2 1 0,-1-6 0 16,2 2 0-16,-3-2-1 0,2 3 1 0,7 0 1 15,-3-3 0-15,0 3 0 0,3 1 1 0,-2-2-1 16,8 1 0-16,-8-3 0 0,3 1 0 16,-2 3 0-16,2 0 2 0,-4-2-3 0,-2 3 1 15,-1-1 0-15,2 5 0 0,5 3 0 0,-7-3-1 16,2 1-2-16,8 3 1 0,5 5 2 0,-2 1-3 0,1-4 1 0,4 3 0 0,-5-5-1 16,6 3 3-16,-2 3 0 0,7-5 0 15,-8-2 0-15,2 1 0 0,2 0 0 0,2 2 0 16,-6-2 0-16,7 1 0 0,-7-7-1 0,2 9 1 15,2 0 0-15,0-4 1 0,0 2 0 0,-3-2-1 0,5 6 0 16,-2 1 0-16,1-1 1 0,2-4 0 0,-1 3 1 16,1 0-2-16,3 0 0 0,-2 4 0 0,5 0 0 0,2-1 0 15,-1 4 1-15,-1-5-1 0,3 0 0 0,-1 1 0 16,9 0-1-16,-1-3 2 0,2-3 0 16,-3 0 1-16,9 1-2 0,-5-1 1 0,5 0-1 15,-3-6 1-15,1-1 0 0,0-1 0 0,-2-1 1 0,-1-3-3 0,4 3 1 16,2 0 2-16,-1-3-2 0,0 2 0 0,1 0 2 15,3 3-2 1,1 0 0-16,0 1 2 0,-2-3-2 0,5 3 0 16,-3 0 0-16,1-3 2 0,3 2-2 0,-1-1 0 15,-2 2 0-15,-2-6 0 0,3 4 0 0,1-1 1 0,-3-2 1 0,3 1-3 16,-1-2 1-16,3 2 0 0,4 2 2 0,-2 2 0 16,1-6 0-16,-1 4-1 0,0-1-1 0,1-4 3 15,-1 4-2-15,-8-6 1 0,6 0-2 0,1 0 1 16,0 2 1-16,-2 0-2 0,0-1 3 0,-1-3-1 0,6 4 0 15,3 1 2-15,-1 0 1 0,-11-3-2 0,9-3 4 16,-4 0-3-16,-1 3 1 0,7-2 0 16,-5-2 2-16,-3-2 0 0,6 0-1 0,4 2-1 0,-3 1-2 15,3-2 3-15,-6 2-2 0,0-1 1 0,3 0-3 16,-4 2 1-16,1 1-1 0,0-2 0 16,-8 0 1-16,1 2-3 0,10 1 2 15,-1 3-1-15,-6-5 1 0,3 3-1 0,-2-1-1 16,-1 0 2-16,2 0 0 0,2-2 2 15,-5 1-2-15,1-2 1 0,-3 4-2 0,4-1 3 16,-2-3 1-16,5 4-2 0,-4-2 0 0,1 0 0 16,-1 1 2-16,5 1-1 0,-3-2 1 0,-1 2-3 15,0 1 0-15,-1-2 2 0,1 3-2 0,-1-3 1 16,2 3-1-16,-4-3 1 0,3 1-1 0,1 4 1 0,2-1 0 0,-7-2-2 16,3 0 1-16,2 5 1 0,-1-3-2 0,-4 1 0 15,-3-3 1-15,1-1 0 0,4 1 0 16,-3 1 1-16,1 1 1 0,-7-8-1 0,6 7 1 15,2-4 2-15,-4 2-1 0,4 2 1 0,-2-5 0 16,-3 0-2-16,5 2-1 0,4 2-1 0,-2-3 1 16,0 4-1-16,-4-1-2 15,2-3 1-15,-2 4-1 0,5 1 1 0,-8 0-1 16,0 0 1-16,-2-1-1 0,2 2 1 0,-3 5 0 0,4-4-1 16,-6-2 1-16,2 1 0 0,4 1 2 15,0 4-2-15,-5-4 1 0,5-1-1 0,0-1 1 0,1 4 0 16,1-2-2-16,0 1 2 0,-8-2-2 0,3-3 0 15,5 8-1-15,-4-4 1 0,1 3 0 0,-1-2 1 16,-2 2 1-16,6 2-2 0,0 1 0 0,1 1 0 0,-1-1 3 16,-2-5-2-16,3 3 0 0,3 2-1 15,-5-4 2-15,-1-2 1 0,2-3 1 0,-3 4-2 0,0 1 1 16,9 1 0-16,-8-5 0 0,-2 0 1 0,1-2-2 0,4 2 0 16,3 5 0-16,-3-7-1 0,-4 0 1 0,0-1 2 15,6 1 0-15,0 3-1 0,0-2 1 0,-1 2 0 16,1-6 0-16,-2 1-1 0,1 0 0 0,1 0-2 0,1 1 3 15,0-2-1-15,-3-2 1 0,-1 0-1 0,6-1 1 16,-1 3 0-16,1-4 0 0,-6 0 1 0,8-1 0 16,-3-2 0-16,1-1-2 0,-1 1 3 0,-1-1-4 15,1 1 0-15,3-2 1 0,1 3 0 0,-8 0-2 0,1-2-1 16,4-1 0-16,1 1 0 0,-3 2 0 0,-2-1 1 16,-2 3-1-16,2-7 2 15,2 3 0-15,-1 0 2 0,-7 0-1 0,7 2 3 16,0-3 0-16,-3-1 0 0,2 1 1 0,1 1-1 15,-2 0-2-15,2 1 0 0,-1-1 0 0,-1-5 1 16,3 3-1-16,0-4 0 0,-5 1 1 0,-1-4 2 16,2 1 2-16,2 0-1 0,4 2 3 0,-6 0 1 15,3 2-1-15,-8-5 0 0,3 3 1 16,-2 4-5-16,-2-3 0 0,1-2 0 0,-5-4 0 0,-2 4-4 0,3 0 0 0,-4-4-2 16,5 1 2-16,-5-5-1 0,0 0 1 0,-2 4 0 15,4-4-1-15,-6-1 0 0,6 2 2 16,-3 3 1-16,-1-4-1 0,-1 1 0 0,-2-1 2 15,1 3 0-15,-3 0 1 0,2-1 0 0,-3 2-1 16,1 0 2-16,-2 3-2 0,0-1 1 0,-2 3-1 16,1-1 0-16,-3 0 0 15,-1 1-3-15,1-2 0 0,-2-1-2 0,3 3 3 16,-4 1-3-16,0-3 0 0,2 0 0 0,-3 1-1 16,2 1 1-16,3 1 3 0,-5-1 0 15,2 0 0-15,1-1 0 0,-1 1 0 0,-2-1-1 16,3 3 1-16,-5-2 0 0,4 4-2 0,-1-1-1 15,-4-1 1-15,4 1-1 0,-6 2 0 0,8 0 1 16,-3 1-2-16,1 0 0 0,-2-5-1 0,-2 1 1 0,4 2 0 0,0-5 1 0,-1 3-1 16,-3-3 0-16,1-1 4 0,0-1-3 0,-1 3 1 15,6 3-1-15,-2-1-1 0,-3-3 2 16,2 1-1-16,3 2 1 0,-3-1-2 0,2 4 0 0,-2-3-1 16,-1 1 0-16,0-1 0 0,-1 1-1 0,1 5 1 15,-3-3-1-15,0 1 1 0,1-5 0 0,-2 6 1 16,1 0 0-16,1 2 0 0,6 1 0 0,-5-7 0 0,1 4 1 15,3-3-1-15,-2 4 1 0,5 0 0 16,-2-5 0-16,0-2-1 0,-1 1 1 0,3 3 0 0,-1 0-1 16,4 2 0-16,-2-4 0 0,0 3 0 0,0 0 0 0,1 1 0 15,-4-1-3-15,5 2-1 0,-3 0-4 0,0 1-6 0,2 0 2 16,1 1-69-16,-1 0-44 0,0 0-87 16,-4-1 157-1,-9-3-105-15,-30-14-50 0</inkml:trace>
  <inkml:trace contextRef="#ctx0" brushRef="#br0" timeOffset="2">13781 3563 184 0,'22'30'69'0,"-22"-33"-47"15,2 2-12-15,-1 4 8 0,-1-4-9 16,0 1 8-16,0 0 5 0,0-1 17 0,0 0 3 15,0 1 2-15,0-1 3 0,0 0 2 0,0 0 7 16,0 0 2-16,0 0 2 0,0 0-11 0,0 0 4 16,0 1 2-16,-1-1-5 0,1 0-1 0,0 0-4 15,-2 0-5-15,2 1-1 0,0-1-5 0,-4-6-2 0,4 5-3 0,-3-4 1 16,-1-2-4-16,0 3-4 0,-16-24 2 0,14 23-4 16,-3-1 1-16,1 1 0 0,2 0 1 0,-2 0 0 15,-3 1 1-15,3 1 2 0,-2-2-5 0,-2-1 3 16,1 3 0-16,2 0-6 0,1 0-2 0,-3 0-4 0,-2-3 4 15,-2 3-3-15,3-1 1 0,-1 2-1 0,-6-4 1 16,3 2 1-16,0 1 0 0,-6 1 0 0,6 0-3 16,-5 0 3-16,1 1-3 0,2-2 0 0,-1 7-5 15,-6-6 0-15,6 7 0 0,-1-8 0 0,0 4 2 16,-1 1-2-16,0-1 1 0,3 0 4 0,-1-1 3 16,0-2-1-16,-6-3 1 0,3 4 0 0,3-1-2 0,0 2-2 0,-3-3 1 15,-2 5-3-15,0-5-4 0,5 3 0 0,0 0-2 16,-4 1 0-1,1 5-2-15,-2-4 1 0,5 10-1 0,-8-11 0 16,7 10-2-16,-3-1 2 0,3 1 0 0,1 1-1 16,-2-4 1-16,-1 2-1 0,-1-5 0 0,5 9 2 15,-5-7 2-15,2 1-2 0,0-1 2 0,-2 0 3 16,2 0-1-16,1-3 1 0,2 10 1 0,-2-6 2 16,-1 7-2-16,2-2 2 0,0 4-2 0,3-5 0 0,2 2-2 15,-10 8 2-15,4-8-3 0,1 0 0 0,-1 0 1 0,-2-1-4 0,-1 1 5 16,-1 2-3-16,-2-1 2 0,12-1-1 15,-9 1 3-15,1 0-1 0,4 0-2 0,-1-4 4 16,2 4-2-16,0-3 3 0,2-2-2 0,0 0 2 16,-1 0-1-16,-1 0 2 0,-1 1-2 0,-1-2 2 15,6 4-4-15,-9-1 2 0,-1 1-1 0,2 2 0 16,1-2 0 0,-1 6-1-16,-2-1 0 0,3 3-3 0,-1-7 3 0,1 4-1 15,1 2 1-15,-3-1-1 0,5 1-2 0,2 0 1 16,-2-4-1-16,0 5 3 0,1-3-3 0,2 2 1 15,6-2-1-15,-9 0-1 0,0-4 2 0,1 4 1 16,2 7 0-16,-2-10-2 0,0 5 4 0,-2-1-3 16,-2-1 0-16,5 7-1 0,1-1 0 0,-2-2-2 15,-2-7 2-15,3 14-1 0,0-2-2 0,1 0 1 0,-2 1 0 0,-2-8 1 16,3 8 1-16,1-1 0 0,1 4 0 0,2-10 1 16,3 1 0-16,-3 4 2 0,0-1 0 15,5 0 0-15,-2-3-1 0,3 0-2 0,0 4 2 16,1 5-1-16,-1-1-1 0,1-7-2 0,0 4-1 15,-1 1 0-15,-1-4 1 0,2 1 1 0,-8-1-2 16,1-3 1-16,-7 4-1 0,4 1 1 0,3 2 2 0,1 0-1 0,-1 7 1 16,-8-3-1-16,7-1 0 0,1 2 1 0,2-6 1 15,-3 3 0-15,-3-7 1 0,10-2-1 0,-3 8 2 16,0-3 1-16,2-3 0 0,2 2 0 0,-1 1 0 0,1 1-1 16,0 3 0-16,1 0-1 0,-3-4-1 0,4 5 0 15,-2-3-2-15,0 3 1 0,1-1-1 0,0 4 0 31,-1-3 1-31,1-2 0 0,-1 1-1 0,-1 1 0 16,3 4 1-16,-2-4-1 0,0 3 0 0,0-1 1 16,0 1 0-16,-1-6-2 0,1 3 2 0,0-3 1 15,2-1 1-15,-1 6 0 0,0-7-2 0,0-3 2 0,1 5-3 0,2 10 3 16,0-4-3-16,0-1 1 0,0 1-2 0,0-3 1 16,0 8 0-16,0-3 0 0,2 3 0 0,-2-9-1 15,0 2 3-15,0 6-3 0,1-1 2 0,1-4-1 0,-2 2 0 16,1-1 1-16,1 1-1 0,-4-7 0 0,4 5 1 15,-2-7 1-15,0 6 0 0,1-2 1 0,2 1 1 16,-3-5-1-16,3 9 0 0,1-2 1 0,-2 0-2 16,2-1 1-16,-1-3-2 0,4 3 0 0,-4-7 0 15,5-2-2-15,-1 0 3 0,1 2-2 0,-1-4 0 0,1-3 0 16,2 4 0-16,-1-3 2 16,3 2-4-16,-1-1 2 0,0-1-1 0,3 1 2 15,-3-1 0-15,2-2 0 0,-1 0-1 0,2 2 0 16,2-4 3-16,-4 0-3 0,-1-4 1 15,0 1 1-15,2 3-1 0,-4-6-1 0,7 2 1 16,-6-6-2-16,-1 3 1 0,7 2 2 0,-2-2-1 16,2-2 0-16,-1 1 0 0,0-2 1 0,-2 0-1 15,2 0 0-15,2-1 1 0,-2-2 0 0,4 3-1 0,-3 0 0 0,0 0 0 16,4 2-1-16,-1-5 4 0,0 2-2 0,-1 3 3 16,1 1-1-16,2-4 2 0,-2 0 0 0,0 3-1 15,-2 5 2-15,8-7-1 0,-4 0-1 0,-1-3 0 16,0-4-3-16,2 1 0 0,-1 0 0 0,1-8 1 15,4-3-2-15,-2 5 0 0,-1-2 0 0,0 1-1 16,5 0 1-16,-5-3-1 16,1 0 1-16,1 3 0 0,-1-1 0 0,-4 1 1 15,-3-1-2-15,2-3 2 0,-3-1 1 0,4 4 0 16,-7-5-2-16,2 1 0 0,0-3 1 16,5-1 0-16,-3 1 0 0,-3 1 0 0,4-2 1 15,3 3 0-15,-2-3-1 0,2 2 0 0,-2 1 2 16,-2-4 0-16,3 3 1 0,3 1-1 0,-5 2 0 15,-1 0-1-15,-2-7 1 0,2 4 0 0,-2-5 0 0,4 5 0 0,-2-8-1 0,-2 3 1 16,3-4 0-16,3 3 1 0,-2-1 2 16,-1-3-1-16,0 8-1 0,0-7 0 0,2 0 2 15,2 3 1-15,-5-1-5 0,0 4 0 0,2 0 0 0,1-4 0 16,-4 4 0-16,3 1-1 0,-5 0-1 0,-1-2-1 16,4-1 3-16,-5 1-1 0,1 1 0 0,-2-1-1 15,6 2-2-15,-4 2 3 0,1-5 0 0,-2-1-1 16,1 4-1-16,0-4 1 0,1-1 1 0,0-1-1 15,0-1 1-15,2 1-2 0,1-2-2 0,-3-1 3 16,2-1 0-16,3 5-1 0,-7-3 0 0,2 0 0 0,-1 8 1 0,1-5 0 16,2 1 2-16,-5 6-1 0,1-2-3 0,-6 2 1 15,9 1 0-15,-5-4-1 0,1 0 1 0,-2 2 0 16,-2 1 0 0,3 2 0-16,1-2 2 0,0-3-3 0,-3-3 3 15,1 4-1-15,-1-3 0 0,3 3-1 0,-4-5 1 16,2 1-2-16,4-1 1 0,-1 1 2 0,0 2-4 15,3-1 3-15,-3-2-2 0,2-2 1 0,3 5-1 16,-4-1 0-16,-2 1 1 0,0-5-1 0,1 6 2 0,-1 5-2 16,0-9 1-16,-6 9 0 15,-2 7-1-15,-1 0 1 0,13-19-2 0,-2 2 1 0,1-1 0 0,-1 2 1 0,4 0-1 0,-6-10 0 16,5 9 1-16,-1 5-1 0,-5 2 0 0,1-5 0 16,0-3-1-16,1 2 0 0,1 0 0 0,2 6-1 15,-3-4 2-15,-2 0-1 0,-3-2 0 16,4-1 1-16,0 5 1 0,-2-1-2 0,-1-2 0 15,0-2 2-15,0 3-2 0,-2-1-1 0,5 1 2 16,-6 4 1-16,3 1-2 16,1-3 1-16,-4 1 0 0,1 3-1 0,2 1 1 15,-2 1 0-15,2-2-1 0,-3-3 0 0,1 1 0 16,-1 3 0-16,0-3 0 0,2 0 0 0,-3-3 0 16,1 1 0-16,4 0 2 0,-5 2-2 0,4-1 1 15,-1 0-1-15,1 1 1 0,-1-2-1 0,1 2 0 16,-7-1 0-16,-1-1 0 0,7 2 0 0,1 4 0 15,-8-9 0-15,3 7 0 0,4-1 0 0,-2 2 0 0,5-1 0 0,-2 2 0 16,-1-1-1-16,-5-5-1 0,9 5 2 0,-9-2 0 16,2-2 0-16,-2 0 0 0,3 2 0 15,-1 1 0-15,0-3 0 0,-3 6 0 0,4-3 0 16,-1 4-1-16,1 1 0 0,-1-3 0 0,-4 0 1 16,0 2 0-16,2-1-1 0,0 3 1 0,-2-2 1 15,0-1 0-15,0 1-1 0,0 0 1 0,3 0-1 0,-3 0 0 0,4 1 0 16,-3-4 0-16,0 4 0 0,3 1 0 0,-3-6 0 15,2 3 0-15,-1 4 0 0,1-1-1 0,-3-3 1 16,3 3-1-16,-3-3 1 0,1 6 0 0,1 1 0 0,-2-7-1 16,-2-2-1-16,-2 2 3 0,4 5-1 0,0-2 1 15,-2-4-1-15,1 4 0 0,-4-2 0 0,5 3-1 16,0 0 0 0,-1-4 1-16,1 2-1 0,-2-2 0 0,2 1 1 15,0 2-1-15,0-3 1 0,0 1 1 16,0 4 1-16,-3-4-2 0,2 0 0 0,-1 5 2 15,2-1-2-15,-5-5 1 0,3 5-1 0,-2-2 0 0,2 5-1 0,-4-6 1 16,4 7-1-16,-4-6-2 0,5 6 2 0,-3 0 0 16,1-4 1-16,-2-1 0 0,-1 0-1 0,6 7 1 15,-3-8-1-15,-5 0 1 0,7 2 0 0,-3-4 1 0,0 3-1 16,0 2-1-16,-3-6 1 0,1 4 0 0,1-1 2 16,0-1-2-16,2 8 0 0,-3-4 0 0,1 3 0 15,3 1 0-15,-10-8-2 0,12 9 0 0,-5-1-1 16,-2-4 2-16,-3 0 0 0,2-1 0 0,-1 0-1 0,2 4 1 15,3 2 1-15,-10-7 0 0,6 3 1 0,0 1-1 16,3-1 0-16,-2 1 0 16,0 0-1-16,2-2 1 0,2 4 0 0,-2-2 0 15,1 1 0-15,0 2 1 0,-1-2 1 0,-1-1-3 16,2 4 1-16,-1-3 0 0,1 3-1 0,-2-3-1 16,0 1 0-16,-2 0-1 0,1 2 0 0,3 0 3 15,-3-1-1-15,2 0-2 0,-2-1 1 0,2 1-8 16,3-1-5-16,-1 0-9 0,2 2-8 15,-1-1 1-15,2 0-35 0,-1-1-82 0,-2-9-70 0,-1 0-146 0,-7-23 266 0,11 23-180 16,-2-14-152-16</inkml:trace>
  <inkml:trace contextRef="#ctx0" brushRef="#br0" timeOffset="3">16637 9589 420 0,'58'-5'207'0,"-55"5"-114"0,-2-1-62 0,3 1 18 16,-4 0-17-16,0-1-8 15,0 0 0-15,0 0 7 0,0 0 3 0,0 0-20 16,0 0 24-16,0 1 2 0,0-1 4 0,0 0 3 16,0 0 13-16,0 1-1 0,0-1 4 0,0 0-2 15,0-1-5-15,0 2-3 0,0-1 1 0,0 0-5 16,0 0-11-16,0 0-1 0,-1 1-2 0,0-1 0 15,1 0 1-15,-2 0 1 0,1 0-4 16,1 0 4-16,-2 0-2 0,1 0-4 0,1 1 9 0,0-1-9 0,-2 0-10 16,-4-1-3-16,0-1-1 0,-5 2-4 0,-22 4-4 0,19 2-3 15,2 2-9-15,-8 2 2 0,1 1-1 0,-3-1 1 16,-1-1-5-16,-5 5 4 0,2-4 1 16,-5 1 0-16,3 5 1 0,1-7 4 0,-1 3-2 15,-1-1 2-15,9 3 6 0,-3-7-3 16,1 6 4-16,8-1-2 0,-10-8 0 15,5 5 1-15,2-1 1 0,2 1-2 0,-6-7-2 16,7 4 1-16,1-5-4 0,-2 4 2 16,8 1 1-16,-1-1-2 0,4 0 1 0,0-4-1 0,0 1 0 15,4 2 1-15,0 0 0 0,0-3-3 0,0 0 2 16,0 0-1-16,0 0-3 0,0 0 1 0,0 0 0 16,4 2-1-16,6 3 0 0,6 0 2 0,22 9-3 15,-23-10 2-15,1 0-1 0,2 0 1 0,4 3 0 0,-3-3 0 0,0 4 1 16,-4-2 1-16,3 0 0 0,1 0 1 0,3 1 1 15,-2 1-2-15,-3-3 2 0,-1 4 0 0,3 0-1 16,0 1 0-16,-3-2 2 0,-2 1-2 0,4 2-2 0,-2-1 3 16,1-4-1-16,1 2 0 0,-4-2 1 0,-2-1-1 15,3 1-1-15,-3-2 0 0,-4-1 1 0,3 1 2 16,-9-3 0-16,1 1-2 0,-3-2 6 0,0 0 3 16,0 0-1-16,0 0 1 0,-2-2 2 0,1 1 1 15,1 1 2-15,-1-1 2 0,0 0-5 0,-2-1 2 16,-3-3 0-16,2-8 1 0,-27-20-2 0,25 21-1 0,1-5-2 0,2 0 1 15,-2-3-4-15,2 4-2 0,2-1-2 0,-4-5-3 16,5-5 4-16,-5-6-5 0,3 4 1 16,1 1-3-16,0-6 2 15,1 1 0-15,4 0-2 0,-4 4 4 0,-3 4-2 16,6 2 1-16,-3 1 0 0,-4 4 2 0,2 8 0 16,-6-3-1-16,2 6 1 0,-2-3-3 0,6 4 0 15,-6-1-2-15,1 3-1 0,4 4-1 0,-2 0-2 16,0 1 1-16,0 2-3 0,1 1 1 0,2 1-1 15,-1 2 3-15,-2 7-1 0,1-6 1 0,-1-1 2 16,1 6 0-16,0 4 0 0,1 8 2 0,-5 7-1 0,2-4 0 0,0 5 1 16,2 6-2-16,-2 4 0 0,1 1 1 0,2-2-1 15,-1 1 0-15,2-2 0 0,0-3 0 0,6-3 0 16,0-2-1-16,-1-2 1 0,2-9-1 0,2 0 1 16,-2-8 1-16,5 4 2 0,-7-9-1 0,2-2 1 15,-2-2 4-15,1-5 1 0,0-7 1 0,-1 2 0 16,0-1-2-16,0-10-1 15,2-2 2-15,0-1 1 0,-2-1-5 0,4-1 1 16,-3-2-1-16,2-4-1 0,0 0 3 16,-1-1 1-16,1 5-2 0,2-5-1 0,-3 0 2 15,4 3-2-15,3 1-1 0,-2-1 1 0,2 1-2 16,0 1 0-16,-1-1 0 0,-2-1 1 0,2 2-2 16,-6 2 2-16,3 2 1 0,-2 3 0 0,-1-3 1 15,3 14 0-15,-2-6-1 0,-1 8 0 0,1 2-1 0,-8 0-2 0,1-1 0 16,1 2-3-16,-2 0-4 0,1 0-10 15,1 0-4-15,-2 0-8 0,1 0-6 0,-3 7-9 0,0 3-44 16,-11 20-29-16,9-22-45 0,6-5-82 0,-1-2 168 16,0 0-115-16,1-2-44 0</inkml:trace>
  <inkml:trace contextRef="#ctx0" brushRef="#br0" timeOffset="4">13879 3822 184 0,'65'-22'68'0,"-66"21"-47"0,5 1-12 0,0 1 3 15,-4-1 9-15,0 0 2 0,0 0 19 0,0-1 9 0,0 1 7 0,0-1 6 0,1 1 10 16,2-1 0-16,-1 0-4 0,-2 1 3 0,0-2-17 15,0 1-7-15,0 0-7 0,4 1-6 16,-4-1-15-16,0 0-4 0,0 0-5 0,0 0-7 16,0 1 10-16,0-1 5 0,0 0 4 0,0-1-1 15,0 2 14-15,0 0 4 0,0 0 13 16,0-1 1-16,-1 0-4 0,1 0-4 16,0 1 3-16,0 0 2 0,0 0-14 0,0 0-3 15,0 0-12-15,0 0-2 0,-2 0-3 0,1 0-1 16,1 0-8-16,-2 0 3 0,1 0-4 0,1 0 3 15,-4 1-2-15,-4 1 0 0,3 1 0 0,-13 4-2 16,-18 8 0-16,13-10 0 0,4 3 0 16,-8-1-1-16,0-2 4 0,-3 2 1 0,-1 0 1 0,3-1 1 15,0 3 3-15,1-4-1 0,5-1 0 0,-3 2 3 0,-2 3-4 16,7-7-5-16,-2 3-1 0,4 2-1 0,-3-2 0 16,1-3-1-16,-1 4 3 0,5-1-5 0,1-3 5 15,-3 3 2-15,4-2 0 0,-2 0 2 0,3 2-4 16,0 0 3-16,3 0-4 0,-1 1 0 0,5 2-2 15,-2-1 1-15,3 0-3 0,-1-1 0 0,4 3 1 16,-2-2-3-16,3-2 0 16,0 2 1-16,0-5 1 0,2 4 1 0,3-2 0 15,2 2 1-15,-3-4 3 0,3 1 1 0,2-2 3 16,1 2 0-16,0-1-5 0,1 0 1 0,4 3 1 0,-1-5-2 16,2 2-2-16,1-1 1 0,-3 4-4 0,4-4 3 15,0 5 1-15,-2-4 1 0,-2 1-1 0,3 7 0 16,1-4 2-16,1 5 0 0,-6-6-1 0,8 9 0 15,-7-6-1-15,7 3-3 0,-2 0 0 0,-2-4 1 16,-2 1-2-16,-1-4-1 0,5 6 2 0,-7-7-1 16,0-1 1-16,0 2 0 0,-1-1 3 0,0 2 0 0,-3 0 0 0,1-3 1 15,-2 1 2-15,2 0-1 0,-5-3 3 0,0 1 2 16,-3-2 2-16,0 0-1 0,0 0-1 0,-1 0-2 16,1 1-2-16,-1-1 3 0,0-1-5 0,1 2-2 15,-2-1-3-15,1 0 1 0,-2-1 0 0,1 1 1 0,-2-2-2 16,-1-1-1-16,2 1 0 0,-2-10 1 0,-22-16 0 15,21 14-2-15,1 0 2 0,-7-5 0 0,3-1 0 16,-3 2 0-16,-3-2-2 0,5 4 2 0,-2-2-1 0,-6 1 0 16,9 1-1-16,-6 0 1 0,3 0-2 0,2 4 0 15,-1-1 1-15,-7-1 0 0,5 4-1 16,3-1 1-16,-3 4 0 0,-1-2-1 16,3 5 0-16,1 1-1 0,1-2 2 0,2 5-2 15,-1-1 0-15,1 1-1 0,0-2 1 0,6 5 0 16,-7-2 1-16,3 6-1 0,1 3-1 0,2-5 1 15,-3 4 1-15,-1 2-1 0,5 3 1 0,-2 1 0 16,2 1-1-16,1 0 0 0,-1 1 1 16,-1-1 1-16,5 5-1 0,2 1 0 15,-2 1 0-15,-1-3 1 0,0 1 0 0,2 0 1 0,1-1-1 0,-1-2 0 0,0 2-1 16,-1-5 0-16,1 0 2 0,0-2 0 0,-1-3-2 16,0 0 0-16,1 1 0 0,-1-4 0 0,-2 0 1 15,2 2 0-15,-3-7-1 0,2 6 0 0,1-4 2 16,0-1 1-16,-5-2 1 0,2 0 0 0,0 0-2 15,-1 0 0-15,1 0 4 0,0 0-2 0,0 0 0 16,-2-1-2-16,1 1 0 16,1-1 0-16,-1 0 1 0,1 0 1 0,0 0-2 15,0 1 1-15,1-6 1 0,2 1 2 16,0-6 0-16,27-23 2 0,-16 19 1 0,3-1 0 16,-3-3 2-16,5-1-1 0,3 2 2 0,-7-3-1 15,6-1 1-15,-2 4-1 0,-6 2-2 0,0 3 0 16,5 1-2-16,-8 6 0 0,-1-5-1 0,1 7-3 15,-2-3 1-15,-1 7-3 0,-1-4 1 0,-1 2 1 0,0 1-1 0,-2-2 0 16,1 4 0-16,-2-1 0 0,-2 0 1 0,0-1 2 16,0 0 0-16,0 0-2 0,0 0 0 0,0 0-1 0,0 0 1 15,0 1-1-15,0-1 0 0,0 0-2 0,0 0-6 16,0 0-6-16,0 1-7 0,-2-2-8 0,2 1-47 16,-6-1-33-16,-3-2-54 0,2 0-105 0,-24-13 190 15,20 11-128 1,6-10-50-16</inkml:trace>
  <inkml:trace contextRef="#ctx0" brushRef="#br0" timeOffset="5">5977 5241 794 0,'8'-4'347'0,"-1"-1"-264"0,2-1-68 0,-5 3-12 16,-1-1-1-16,-1 0 0 0,1 2-3 0,-1 0 0 0,-2 2-6 15,0 0 4-15,0 0-2 0,0 0 0 0,0 0 3 16,0 0 2-16,0 0 3 0,0 2 7 0,-1-1 10 16,0 0 2-16,-2 3 5 0,-6-1 2 0,2-1 2 0,-27 23-1 15,17-21-1-15,1 2-4 0,3 1-9 0,-1 0-4 16,0 2-4-16,-7 0-2 0,-2 3-4 0,2 0 1 15,1 2-3-15,-3 7 0 0,1-4 0 0,-2 6 0 0,-1-3 0 0,0-1 1 16,1 3 0-16,-2-3-1 0,-1-3 0 0,5-2 2 16,-2-1-2-16,4-2 0 0,2-1 0 0,3 2 0 15,1-2 2-15,7 1-2 0,0-6 1 0,2 1 3 16,0 0 3-16,3-5-1 0,2 4 1 16,0-6 4-16,0 0-1 0,0 0 0 0,0 1 2 15,0 0-3-15,1 0-2 0,10 2-2 16,-3-1 0-16,22 4-5 0,-21-1 0 0,-1-2 1 15,7-1-1-15,1 2 3 0,0-2 0 16,-2-4 1-16,5 5 5 0,3-1 3 0,-2 3 4 16,4-4 1-16,-4-1 4 0,2-2-1 0,0 2-1 15,2 2 3-15,-4-4-5 0,5 2-3 0,-9 0-2 16,4 1-2-16,-4-1-5 0,3 1 1 0,-7-3-3 16,1 3 0-16,-2 2 2 0,0 0-1 0,-7-2 1 0,4 1 0 0,-1 2 3 15,-7 1 1-15,0-2 3 0,-3-2 2 0,3 0-1 16,-2 0 0-16,1 0-1 0,1 0 4 0,-1-1-3 15,-3 0 2-15,-2 1-2 0,-1-2 4 16,-2 0 1-16,-20-10 1 0,21 7 2 0,-3-6-4 16,1 9 0-16,-2-5-1 0,0-5 1 0,-1 5-8 15,0-3-1-15,0 2-1 0,-1-1-1 16,-2-2-2-16,2 0 1 0,-3-1-3 0,1 2-1 16,-1-5 2-16,-3-3 1 0,8 6 0 0,-8-3 1 15,6 5 1-15,9 1 0 0,-9-2-1 16,3 3 0-16,3 5 0 0,-2-2-1 0,2 1 0 0,4 1-1 15,-2 3-3-15,-3-3 0 0,12 6 2 0,-6-3 0 16,7 4-2-16,-1 2-1 0,0-1 1 0,4 6-2 16,-4-4 3-16,-2 5-1 0,6-1-3 0,7 7 2 0,-8-6 1 15,8 6 0-15,-3 1-2 0,3 0 0 16,5 4 2-16,0-1 0 0,-5-1 0 0,-2-3 0 0,-2-6 0 0,3 7-1 16,1-1 1-16,-5-3 1 0,1-2 0 0,0 1-1 0,2-1 2 15,3 2-1-15,-2 3 2 0,-5-7-1 16,-1 1 1-16,3-1 1 0,-6-2 0 0,1-1 3 15,0-2 5-15,-3 2 4 0,1-3-4 0,0-3 10 0,1-5 2 16,-2 3 0-16,-2-1 0 0,0 0-1 0,2-9-4 16,2-6 0-16,6-28 3 0,-8 21-8 0,0-2 0 15,0-2 0-15,1-4-3 0,-1-1 0 0,-2 3 0 0,2 1-6 16,1-5 1-16,-1 2-2 0,0 2-4 0,0 6 1 16,-1 2 1-16,0-2-2 0,2 5-4 0,-2-3-4 15,1 7-8-15,4 1 4 16,-6-5-62-16,5 3-35 0,-1 0-52 0,3 3 115 15,-3-3-83-15,0 1-34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8944F-6416-492C-B6C3-972994AD2AF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2678C-18E7-4230-B1D8-B77B8B4C5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43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1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334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597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5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99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89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46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74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01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103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562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404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418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03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343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800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1364-5D70-97F6-CE8A-F35E125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FB59-6808-7DC1-0398-9D74EFDDB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D2397-47D3-DEFF-5BE6-B002A2FB5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B6890-C506-33AE-C2DA-2161AA07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472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958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252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390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1498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94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67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951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031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97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83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5925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7707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2626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27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224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8093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899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714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6237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1828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0236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None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6351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0904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8A2678C-18E7-4230-B1D8-B77B8B4C5AF8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1114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dirty="0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30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446"/>
          </a:xfrm>
          <a:prstGeom prst="rect">
            <a:avLst/>
          </a:prstGeom>
        </p:spPr>
      </p:pic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4600" b="1" cap="all" spc="-150">
                <a:ln>
                  <a:noFill/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텍스트 개체 틀 2"/>
          <p:cNvSpPr>
            <a:spLocks noGrp="1"/>
          </p:cNvSpPr>
          <p:nvPr>
            <p:ph type="body" idx="1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텍스트 개체 틀 2"/>
          <p:cNvSpPr>
            <a:spLocks noGrp="1"/>
          </p:cNvSpPr>
          <p:nvPr>
            <p:ph type="body" idx="12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lang="ko-KR" altLang="en-US" sz="1800" kern="1200" dirty="0" smtClean="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525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sz="3600" b="0" kern="1200" spc="-100" baseline="0" dirty="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 algn="l" defTabSz="759272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</p:spPr>
        <p:txBody>
          <a:bodyPr/>
          <a:lstStyle>
            <a:lvl1pPr marL="361950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20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6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/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760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6570"/>
          </a:xfrm>
          <a:prstGeom prst="rect">
            <a:avLst/>
          </a:prstGeom>
        </p:spPr>
      </p:pic>
      <p:sp>
        <p:nvSpPr>
          <p:cNvPr id="8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>
              <a:defRPr lang="ko-KR" altLang="en-US" sz="32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981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2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bg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</p:spPr>
        <p:txBody>
          <a:bodyPr>
            <a:normAutofit/>
          </a:bodyPr>
          <a:lstStyle>
            <a:lvl1pPr marL="271463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6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1338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4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04863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74738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05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346200" indent="-180000">
              <a:lnSpc>
                <a:spcPct val="120000"/>
              </a:lnSpc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8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6472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16" y="4639216"/>
            <a:ext cx="980969" cy="211582"/>
          </a:xfrm>
          <a:prstGeom prst="rect">
            <a:avLst/>
          </a:prstGeom>
        </p:spPr>
      </p:pic>
      <p:sp>
        <p:nvSpPr>
          <p:cNvPr id="7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13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3C65-D02E-4E12-BBF0-35296EE360B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48A1-790C-457C-9116-8D1E07851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2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0.emf"/><Relationship Id="rId5" Type="http://schemas.openxmlformats.org/officeDocument/2006/relationships/customXml" Target="../ink/ink2.xml"/><Relationship Id="rId4" Type="http://schemas.openxmlformats.org/officeDocument/2006/relationships/image" Target="../media/image510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486" y="1538237"/>
            <a:ext cx="7772400" cy="714003"/>
          </a:xfrm>
        </p:spPr>
        <p:txBody>
          <a:bodyPr/>
          <a:lstStyle/>
          <a:p>
            <a:r>
              <a:rPr lang="ko-KR" altLang="en-US" dirty="0"/>
              <a:t>요구공학 실습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864AE8-15CF-46E2-BC3A-93E646893054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14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강사 소개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474872" y="836353"/>
            <a:ext cx="7985560" cy="38852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 marL="247529" indent="-247529" defTabSz="715082">
              <a:lnSpc>
                <a:spcPct val="160000"/>
              </a:lnSpc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6312" indent="-206274" defTabSz="660076">
              <a:spcBef>
                <a:spcPct val="20000"/>
              </a:spcBef>
              <a:buFont typeface="Arial" pitchFamily="34" charset="0"/>
              <a:buChar char="–"/>
              <a:defRPr sz="2025"/>
            </a:lvl2pPr>
            <a:lvl3pPr marL="825095" indent="-165020" defTabSz="660076">
              <a:spcBef>
                <a:spcPct val="20000"/>
              </a:spcBef>
              <a:buFont typeface="Arial" pitchFamily="34" charset="0"/>
              <a:buChar char="•"/>
              <a:defRPr sz="1725"/>
            </a:lvl3pPr>
            <a:lvl4pPr marL="1155135" indent="-165020" defTabSz="660076">
              <a:spcBef>
                <a:spcPct val="20000"/>
              </a:spcBef>
              <a:buFont typeface="Arial" pitchFamily="34" charset="0"/>
              <a:buChar char="–"/>
              <a:defRPr sz="1350"/>
            </a:lvl4pPr>
            <a:lvl5pPr marL="1485172" indent="-165020" defTabSz="660076">
              <a:spcBef>
                <a:spcPct val="20000"/>
              </a:spcBef>
              <a:buFont typeface="Arial" pitchFamily="34" charset="0"/>
              <a:buChar char="»"/>
              <a:defRPr sz="1350"/>
            </a:lvl5pPr>
            <a:lvl6pPr marL="1815211" indent="-165020" defTabSz="660076">
              <a:spcBef>
                <a:spcPct val="20000"/>
              </a:spcBef>
              <a:buFont typeface="Arial" pitchFamily="34" charset="0"/>
              <a:buChar char="•"/>
              <a:defRPr sz="1350"/>
            </a:lvl6pPr>
            <a:lvl7pPr marL="2145248" indent="-165020" defTabSz="660076">
              <a:spcBef>
                <a:spcPct val="20000"/>
              </a:spcBef>
              <a:buFont typeface="Arial" pitchFamily="34" charset="0"/>
              <a:buChar char="•"/>
              <a:defRPr sz="1350"/>
            </a:lvl7pPr>
            <a:lvl8pPr marL="2475286" indent="-165020" defTabSz="660076">
              <a:spcBef>
                <a:spcPct val="20000"/>
              </a:spcBef>
              <a:buFont typeface="Arial" pitchFamily="34" charset="0"/>
              <a:buChar char="•"/>
              <a:defRPr sz="1350"/>
            </a:lvl8pPr>
            <a:lvl9pPr marL="2805325" indent="-165020" defTabSz="660076">
              <a:spcBef>
                <a:spcPct val="20000"/>
              </a:spcBef>
              <a:buFont typeface="Arial" pitchFamily="34" charset="0"/>
              <a:buChar char="•"/>
              <a:defRPr sz="1350"/>
            </a:lvl9pPr>
          </a:lstStyle>
          <a:p>
            <a:r>
              <a:rPr lang="ko-KR" altLang="en-US" b="1" dirty="0">
                <a:solidFill>
                  <a:schemeClr val="accent1"/>
                </a:solidFill>
              </a:rPr>
              <a:t>이름 </a:t>
            </a:r>
            <a:r>
              <a:rPr lang="en-US" altLang="ko-KR" dirty="0"/>
              <a:t>: </a:t>
            </a:r>
            <a:r>
              <a:rPr lang="ko-KR" altLang="en-US" b="1" dirty="0"/>
              <a:t>김정호 </a:t>
            </a:r>
            <a:r>
              <a:rPr lang="en-US" altLang="ko-KR" b="1" dirty="0"/>
              <a:t>S/W Architect</a:t>
            </a:r>
            <a:endParaRPr lang="en-US" altLang="ko-KR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소속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b="1" dirty="0"/>
              <a:t>삼성전자 </a:t>
            </a:r>
            <a:r>
              <a:rPr lang="en-US" altLang="ko-KR" b="1" dirty="0"/>
              <a:t>AX/PI </a:t>
            </a:r>
            <a:r>
              <a:rPr lang="ko-KR" altLang="en-US" b="1" dirty="0"/>
              <a:t>센터 물류자동팀</a:t>
            </a:r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업무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b="1" dirty="0"/>
              <a:t>물류 자동화 시스템 </a:t>
            </a:r>
            <a:r>
              <a:rPr lang="en-US" altLang="ko-KR" b="1" dirty="0"/>
              <a:t>SW</a:t>
            </a:r>
            <a:r>
              <a:rPr lang="ko-KR" altLang="en-US" b="1" dirty="0"/>
              <a:t>설계</a:t>
            </a:r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전문 분야 </a:t>
            </a:r>
            <a:r>
              <a:rPr lang="en-US" altLang="ko-KR" dirty="0"/>
              <a:t>: </a:t>
            </a:r>
            <a:r>
              <a:rPr lang="ko-KR" altLang="en-US" b="1" dirty="0"/>
              <a:t>자동화 상위 제어</a:t>
            </a:r>
            <a:r>
              <a:rPr lang="en-US" altLang="ko-KR" b="1" dirty="0"/>
              <a:t>/</a:t>
            </a:r>
            <a:r>
              <a:rPr lang="ko-KR" altLang="en-US" b="1" dirty="0"/>
              <a:t>운영 시스템 개발</a:t>
            </a:r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이력 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marL="91463" indent="0">
              <a:buNone/>
            </a:pPr>
            <a:r>
              <a:rPr lang="en-US" altLang="ko-KR" b="1" dirty="0"/>
              <a:t>    2005~2010 : </a:t>
            </a:r>
            <a:r>
              <a:rPr lang="en-US" altLang="ko-KR" b="1" dirty="0" err="1"/>
              <a:t>TmaxSoft</a:t>
            </a:r>
            <a:r>
              <a:rPr lang="en-US" altLang="ko-KR" b="1" dirty="0"/>
              <a:t> </a:t>
            </a:r>
            <a:r>
              <a:rPr lang="ko-KR" altLang="en-US" b="1" dirty="0"/>
              <a:t>연구소 </a:t>
            </a:r>
            <a:r>
              <a:rPr lang="en-US" altLang="ko-KR" b="1" dirty="0"/>
              <a:t>(Business</a:t>
            </a:r>
            <a:r>
              <a:rPr lang="ko-KR" altLang="en-US" b="1" dirty="0"/>
              <a:t> </a:t>
            </a:r>
            <a:r>
              <a:rPr lang="en-US" altLang="ko-KR" b="1" dirty="0"/>
              <a:t>Process</a:t>
            </a:r>
            <a:r>
              <a:rPr lang="ko-KR" altLang="en-US" b="1" dirty="0"/>
              <a:t> </a:t>
            </a:r>
            <a:r>
              <a:rPr lang="en-US" altLang="ko-KR" b="1" dirty="0"/>
              <a:t>Management System)</a:t>
            </a:r>
          </a:p>
          <a:p>
            <a:pPr marL="91463" indent="0">
              <a:buNone/>
            </a:pPr>
            <a:r>
              <a:rPr lang="en-US" altLang="ko-KR" b="1" dirty="0"/>
              <a:t>    2010~</a:t>
            </a:r>
            <a:r>
              <a:rPr lang="ko-KR" altLang="en-US" b="1" dirty="0"/>
              <a:t>현 </a:t>
            </a:r>
            <a:r>
              <a:rPr lang="en-US" altLang="ko-KR" b="1" dirty="0"/>
              <a:t>: </a:t>
            </a:r>
            <a:r>
              <a:rPr lang="ko-KR" altLang="en-US" b="1" dirty="0"/>
              <a:t>삼성전자 </a:t>
            </a:r>
            <a:r>
              <a:rPr lang="ko-KR" altLang="en-US" b="1" dirty="0" err="1"/>
              <a:t>물류자동화그룹</a:t>
            </a:r>
            <a:r>
              <a:rPr lang="ko-KR" altLang="en-US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제어시스템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테스트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패치시스템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개발</a:t>
            </a:r>
            <a:r>
              <a:rPr lang="en-US" altLang="ko-KR" b="1" dirty="0"/>
              <a:t>)</a:t>
            </a:r>
          </a:p>
          <a:p>
            <a:pPr marL="91463" indent="0">
              <a:buNone/>
            </a:pPr>
            <a:r>
              <a:rPr lang="en-US" altLang="ko-KR" b="1" dirty="0"/>
              <a:t>    2024~25</a:t>
            </a:r>
            <a:r>
              <a:rPr lang="ko-KR" altLang="en-US" b="1" dirty="0"/>
              <a:t> </a:t>
            </a:r>
            <a:r>
              <a:rPr lang="en-US" altLang="ko-KR" b="1" dirty="0"/>
              <a:t>: DTC</a:t>
            </a:r>
            <a:r>
              <a:rPr lang="ko-KR" altLang="en-US" b="1" dirty="0"/>
              <a:t> </a:t>
            </a:r>
            <a:r>
              <a:rPr lang="en-US" altLang="ko-KR" b="1" dirty="0"/>
              <a:t>A-FAB </a:t>
            </a:r>
            <a:r>
              <a:rPr lang="ko-KR" altLang="en-US" b="1" dirty="0"/>
              <a:t>기술팀 파견 </a:t>
            </a:r>
            <a:r>
              <a:rPr lang="en-US" altLang="ko-KR" b="1" dirty="0"/>
              <a:t>(AMR </a:t>
            </a:r>
            <a:r>
              <a:rPr lang="ko-KR" altLang="en-US" b="1" dirty="0"/>
              <a:t>제어시스템 개발</a:t>
            </a:r>
            <a:r>
              <a:rPr lang="en-US" altLang="ko-KR" b="1" dirty="0"/>
              <a:t>)</a:t>
            </a:r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ko-KR" altLang="en-US" b="1" dirty="0">
                <a:solidFill>
                  <a:schemeClr val="accent1"/>
                </a:solidFill>
              </a:rPr>
              <a:t>멘토링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en-US" altLang="ko-KR" b="1" dirty="0"/>
              <a:t> AA </a:t>
            </a:r>
            <a:r>
              <a:rPr lang="ko-KR" altLang="en-US" b="1" dirty="0"/>
              <a:t>양성과정 심사위원 </a:t>
            </a:r>
            <a:r>
              <a:rPr lang="en-US" altLang="ko-KR" b="1" dirty="0"/>
              <a:t>1</a:t>
            </a:r>
            <a:r>
              <a:rPr lang="ko-KR" altLang="en-US" b="1" dirty="0"/>
              <a:t>회</a:t>
            </a:r>
            <a:r>
              <a:rPr lang="en-US" altLang="ko-KR" b="1" dirty="0"/>
              <a:t>, Architect </a:t>
            </a:r>
            <a:r>
              <a:rPr lang="ko-KR" altLang="en-US" b="1" dirty="0"/>
              <a:t>양성 과정 멘토링 </a:t>
            </a:r>
            <a:r>
              <a:rPr lang="en-US" altLang="ko-KR" b="1" dirty="0"/>
              <a:t>3</a:t>
            </a:r>
            <a:r>
              <a:rPr lang="ko-KR" altLang="en-US" b="1" dirty="0"/>
              <a:t>명</a:t>
            </a:r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취미</a:t>
            </a:r>
            <a:r>
              <a:rPr lang="en-US" altLang="ko-KR" b="1" dirty="0">
                <a:solidFill>
                  <a:schemeClr val="accent1"/>
                </a:solidFill>
              </a:rPr>
              <a:t>/</a:t>
            </a:r>
            <a:r>
              <a:rPr lang="ko-KR" altLang="en-US" b="1" dirty="0">
                <a:solidFill>
                  <a:schemeClr val="accent1"/>
                </a:solidFill>
              </a:rPr>
              <a:t>관심분야 </a:t>
            </a:r>
            <a:r>
              <a:rPr lang="en-US" altLang="ko-KR" dirty="0"/>
              <a:t>: </a:t>
            </a:r>
            <a:r>
              <a:rPr lang="ko-KR" altLang="en-US" b="1" dirty="0" err="1"/>
              <a:t>웹소설</a:t>
            </a:r>
            <a:r>
              <a:rPr lang="en-US" altLang="ko-KR" b="1" dirty="0"/>
              <a:t>, </a:t>
            </a:r>
            <a:r>
              <a:rPr lang="ko-KR" altLang="en-US" b="1" dirty="0"/>
              <a:t>주식투자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6729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 txBox="1">
            <a:spLocks/>
          </p:cNvSpPr>
          <p:nvPr/>
        </p:nvSpPr>
        <p:spPr>
          <a:xfrm>
            <a:off x="2935248" y="21491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53"/>
            <a:r>
              <a:rPr lang="en-US" altLang="ko-KR" sz="3200" spc="-15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Day 1</a:t>
            </a:r>
            <a:endParaRPr lang="ko-KR" altLang="en-US" sz="32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409936"/>
              </p:ext>
            </p:extLst>
          </p:nvPr>
        </p:nvGraphicFramePr>
        <p:xfrm>
          <a:off x="3057169" y="937263"/>
          <a:ext cx="5616624" cy="32650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26909">
                  <a:extLst>
                    <a:ext uri="{9D8B030D-6E8A-4147-A177-3AD203B41FA5}">
                      <a16:colId xmlns:a16="http://schemas.microsoft.com/office/drawing/2014/main" val="1963863140"/>
                    </a:ext>
                  </a:extLst>
                </a:gridCol>
                <a:gridCol w="4289715">
                  <a:extLst>
                    <a:ext uri="{9D8B030D-6E8A-4147-A177-3AD203B41FA5}">
                      <a16:colId xmlns:a16="http://schemas.microsoft.com/office/drawing/2014/main" val="587444477"/>
                    </a:ext>
                  </a:extLst>
                </a:gridCol>
              </a:tblGrid>
              <a:tr h="3705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강의 </a:t>
                      </a:r>
                      <a:r>
                        <a:rPr lang="en-US" altLang="ko-KR" sz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07435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09:30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09:50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Intro </a:t>
                      </a:r>
                      <a:r>
                        <a:rPr lang="en-US" altLang="ko-KR" sz="1100" i="1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ko-KR" altLang="en-US" sz="1100" i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9833205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09:50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12:20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1. What is Requirements Engineering?(Intro.) </a:t>
                      </a:r>
                      <a:r>
                        <a:rPr lang="en-US" altLang="ko-KR" sz="1100" i="1" dirty="0"/>
                        <a:t>20 min</a:t>
                      </a:r>
                      <a:endParaRPr lang="ko-KR" altLang="en-US" sz="1100" i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65503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2. Requirements Elicitation </a:t>
                      </a:r>
                      <a:r>
                        <a:rPr lang="en-US" altLang="ko-KR" sz="1100" i="1" dirty="0"/>
                        <a:t>60 min</a:t>
                      </a:r>
                      <a:endParaRPr lang="ko-KR" altLang="en-US" sz="1100" i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316179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3. Requirements Analysis: FR vs. NFR </a:t>
                      </a:r>
                      <a:r>
                        <a:rPr lang="en-US" altLang="ko-KR" sz="1100" i="1" dirty="0"/>
                        <a:t>60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352129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12:20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13:20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중식</a:t>
                      </a:r>
                      <a:endParaRPr lang="ko-KR" altLang="en-US" sz="1100" b="1" i="1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08465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13:20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13:40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1~3 Summary </a:t>
                      </a:r>
                      <a:r>
                        <a:rPr lang="en-US" altLang="ko-KR" sz="1100" i="1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altLang="ko-KR" sz="11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17070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13:40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15:30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4. Requirements Analysis: Use Case Modeling </a:t>
                      </a:r>
                      <a:r>
                        <a:rPr lang="en-US" altLang="ko-KR" sz="1100" i="1" dirty="0"/>
                        <a:t>70 min</a:t>
                      </a:r>
                      <a:endParaRPr lang="ko-KR" altLang="en-US" sz="1100" i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304201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5. Requirements Analysis: Use Case Specification </a:t>
                      </a:r>
                      <a:r>
                        <a:rPr lang="en-US" altLang="ko-KR" sz="1100" i="1" dirty="0"/>
                        <a:t>30 min </a:t>
                      </a:r>
                      <a:endParaRPr lang="ko-KR" altLang="en-US" sz="1100" i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0948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15:30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15:50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4~5 Summary </a:t>
                      </a:r>
                      <a:r>
                        <a:rPr lang="en-US" altLang="ko-KR" sz="1100" i="1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ko-KR" altLang="en-US" sz="1100" b="1" i="1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36557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15:50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17:10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Ex1. Use Case Specification </a:t>
                      </a:r>
                      <a:r>
                        <a:rPr lang="ko-KR" altLang="en-US" sz="1100" dirty="0">
                          <a:solidFill>
                            <a:schemeClr val="accent6"/>
                          </a:solidFill>
                        </a:rPr>
                        <a:t>작성하기</a:t>
                      </a: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: </a:t>
                      </a:r>
                      <a:r>
                        <a:rPr lang="ko-KR" altLang="en-US" sz="1100" dirty="0">
                          <a:solidFill>
                            <a:schemeClr val="accent6"/>
                          </a:solidFill>
                        </a:rPr>
                        <a:t>조별 실습</a:t>
                      </a: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-US" altLang="ko-KR" sz="1100" i="1" dirty="0">
                          <a:solidFill>
                            <a:schemeClr val="tx1"/>
                          </a:solidFill>
                        </a:rPr>
                        <a:t>80 min</a:t>
                      </a:r>
                      <a:endParaRPr lang="ko-KR" altLang="en-US" sz="11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02110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17:10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17:40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Ex1. </a:t>
                      </a:r>
                      <a:r>
                        <a:rPr lang="ko-KR" altLang="en-US" sz="1100" dirty="0">
                          <a:solidFill>
                            <a:schemeClr val="accent6"/>
                          </a:solidFill>
                        </a:rPr>
                        <a:t>모범 답안설명</a:t>
                      </a:r>
                      <a:r>
                        <a:rPr lang="en-US" altLang="ko-KR" sz="1100" dirty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accent6"/>
                          </a:solidFill>
                        </a:rPr>
                        <a:t>및 마무리 </a:t>
                      </a:r>
                      <a:r>
                        <a:rPr lang="en-US" altLang="ko-KR" sz="1100" i="1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ko-KR" altLang="en-US" sz="1100" i="1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57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42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A65B2-B23B-991E-B286-8BF093C6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Projects Really Work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3226AF-98A6-A42D-3A7B-060AD5F171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7544" y="771550"/>
            <a:ext cx="5568280" cy="417621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0516965-1B6F-87F2-0901-F74307F6D771}"/>
              </a:ext>
            </a:extLst>
          </p:cNvPr>
          <p:cNvSpPr/>
          <p:nvPr/>
        </p:nvSpPr>
        <p:spPr>
          <a:xfrm>
            <a:off x="476350" y="771550"/>
            <a:ext cx="1134126" cy="208823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D1C43C-5045-1DFB-D3BD-3759DD61E028}"/>
              </a:ext>
            </a:extLst>
          </p:cNvPr>
          <p:cNvSpPr/>
          <p:nvPr/>
        </p:nvSpPr>
        <p:spPr>
          <a:xfrm>
            <a:off x="4901698" y="2859782"/>
            <a:ext cx="1134126" cy="208823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927383-A97D-551C-26B4-DCA423A1040A}"/>
              </a:ext>
            </a:extLst>
          </p:cNvPr>
          <p:cNvSpPr/>
          <p:nvPr/>
        </p:nvSpPr>
        <p:spPr>
          <a:xfrm>
            <a:off x="2680023" y="771550"/>
            <a:ext cx="1123553" cy="2088232"/>
          </a:xfrm>
          <a:prstGeom prst="rect">
            <a:avLst/>
          </a:prstGeom>
          <a:noFill/>
          <a:ln w="38100">
            <a:solidFill>
              <a:srgbClr val="DF00DF"/>
            </a:solidFill>
            <a:prstDash val="sysDash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2D83C9-E03C-C362-CF20-8B4FB5CB9017}"/>
              </a:ext>
            </a:extLst>
          </p:cNvPr>
          <p:cNvSpPr/>
          <p:nvPr/>
        </p:nvSpPr>
        <p:spPr>
          <a:xfrm>
            <a:off x="3803576" y="771550"/>
            <a:ext cx="1128462" cy="2088232"/>
          </a:xfrm>
          <a:prstGeom prst="rect">
            <a:avLst/>
          </a:prstGeom>
          <a:noFill/>
          <a:ln w="38100">
            <a:solidFill>
              <a:srgbClr val="DF00DF"/>
            </a:solidFill>
            <a:prstDash val="sysDash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highlight>
                <a:srgbClr val="FFFF00"/>
              </a:highlight>
            </a:endParaRPr>
          </a:p>
        </p:txBody>
      </p:sp>
      <p:sp>
        <p:nvSpPr>
          <p:cNvPr id="9" name="가로 글상자 1037">
            <a:extLst>
              <a:ext uri="{FF2B5EF4-FFF2-40B4-BE49-F238E27FC236}">
                <a16:creationId xmlns:a16="http://schemas.microsoft.com/office/drawing/2014/main" id="{D04E6054-82B1-05A5-AD15-7485D338EE52}"/>
              </a:ext>
            </a:extLst>
          </p:cNvPr>
          <p:cNvSpPr txBox="1"/>
          <p:nvPr/>
        </p:nvSpPr>
        <p:spPr>
          <a:xfrm>
            <a:off x="6301207" y="2211710"/>
            <a:ext cx="2591272" cy="1614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defTabSz="715082">
              <a:lnSpc>
                <a:spcPct val="160000"/>
              </a:lnSpc>
              <a:buFont typeface="Wingdings"/>
              <a:buNone/>
              <a:defRPr/>
            </a:pPr>
            <a:r>
              <a:rPr lang="ko-KR" altLang="en-US" sz="1600" dirty="0">
                <a:solidFill>
                  <a:srgbClr val="1E1E2A"/>
                </a:solidFill>
                <a:latin typeface="맑은 고딕"/>
                <a:ea typeface="맑은 고딕"/>
                <a:cs typeface="+mn-cs"/>
              </a:rPr>
              <a:t>고객도 모르지만</a:t>
            </a:r>
            <a:r>
              <a:rPr lang="en-US" altLang="ko-KR" sz="1600" dirty="0">
                <a:solidFill>
                  <a:srgbClr val="1E1E2A"/>
                </a:solidFill>
                <a:latin typeface="맑은 고딕"/>
                <a:ea typeface="맑은 고딕"/>
                <a:cs typeface="+mn-cs"/>
              </a:rPr>
              <a:t>,</a:t>
            </a:r>
          </a:p>
          <a:p>
            <a:pPr marL="0" lvl="0" indent="0" defTabSz="715082">
              <a:lnSpc>
                <a:spcPct val="160000"/>
              </a:lnSpc>
              <a:buFont typeface="Wingdings"/>
              <a:buNone/>
              <a:defRPr/>
            </a:pPr>
            <a:r>
              <a:rPr lang="ko-KR" altLang="en-US" sz="1600" dirty="0">
                <a:solidFill>
                  <a:srgbClr val="1E1E2A"/>
                </a:solidFill>
                <a:latin typeface="맑은 고딕"/>
                <a:ea typeface="맑은 고딕"/>
                <a:cs typeface="+mn-cs"/>
              </a:rPr>
              <a:t>개발자도 모른다</a:t>
            </a:r>
            <a:r>
              <a:rPr lang="en-US" altLang="ko-KR" sz="1600" dirty="0">
                <a:solidFill>
                  <a:srgbClr val="1E1E2A"/>
                </a:solidFill>
                <a:latin typeface="맑은 고딕"/>
                <a:ea typeface="맑은 고딕"/>
                <a:cs typeface="+mn-cs"/>
              </a:rPr>
              <a:t>.</a:t>
            </a:r>
          </a:p>
          <a:p>
            <a:pPr marL="0" lvl="0" indent="0" defTabSz="715082">
              <a:lnSpc>
                <a:spcPct val="160000"/>
              </a:lnSpc>
              <a:buFont typeface="Wingdings"/>
              <a:buNone/>
              <a:defRPr/>
            </a:pPr>
            <a:endParaRPr lang="en-US" altLang="ko-KR" sz="1600" dirty="0">
              <a:solidFill>
                <a:srgbClr val="1E1E2A"/>
              </a:solidFill>
              <a:latin typeface="맑은 고딕"/>
              <a:ea typeface="맑은 고딕"/>
            </a:endParaRPr>
          </a:p>
          <a:p>
            <a:pPr marL="0" lvl="0" indent="0" defTabSz="715082">
              <a:lnSpc>
                <a:spcPct val="160000"/>
              </a:lnSpc>
              <a:buFont typeface="Wingdings"/>
              <a:buNone/>
              <a:defRPr/>
            </a:pPr>
            <a:r>
              <a:rPr lang="en-US" altLang="ko-KR" sz="1600" dirty="0">
                <a:solidFill>
                  <a:srgbClr val="1E1E2A"/>
                </a:solidFill>
                <a:latin typeface="맑은 고딕"/>
                <a:ea typeface="맑은 고딕"/>
              </a:rPr>
              <a:t>AI</a:t>
            </a:r>
            <a:r>
              <a:rPr lang="ko-KR" altLang="en-US" sz="1600" dirty="0">
                <a:solidFill>
                  <a:srgbClr val="1E1E2A"/>
                </a:solidFill>
                <a:latin typeface="맑은 고딕"/>
                <a:ea typeface="맑은 고딕"/>
              </a:rPr>
              <a:t>도 모른다</a:t>
            </a:r>
            <a:r>
              <a:rPr lang="en-US" altLang="ko-KR" sz="1600" dirty="0">
                <a:solidFill>
                  <a:srgbClr val="1E1E2A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17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98A1-2F17-7AB7-43A1-3C3B8851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162103-0DC2-A890-1090-3C5F062A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요구공학이란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A1E5B0-DE79-D7F6-4C22-C6F96913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1719634"/>
            <a:ext cx="2143125" cy="21431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6C3F89-DB02-4EE7-9478-5D9ABCD46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050" y="1131590"/>
            <a:ext cx="5515238" cy="15121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A4137B-63B2-4BBD-B1C9-383C906C0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357" y="2859782"/>
            <a:ext cx="5500623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0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51520" y="779179"/>
            <a:ext cx="8712968" cy="4271041"/>
          </a:xfrm>
        </p:spPr>
        <p:txBody>
          <a:bodyPr>
            <a:normAutofit/>
          </a:bodyPr>
          <a:lstStyle/>
          <a:p>
            <a:r>
              <a:rPr lang="en-US" altLang="ko-KR" sz="1400" b="1" dirty="0"/>
              <a:t>SR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vs SRS?</a:t>
            </a:r>
          </a:p>
          <a:p>
            <a:pPr lvl="1"/>
            <a:r>
              <a:rPr lang="en-US" altLang="ko-KR" dirty="0"/>
              <a:t>software requirements specification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sz="1400" b="1" dirty="0"/>
              <a:t>문서 작성에 대한 잘못된 통념</a:t>
            </a:r>
            <a:endParaRPr lang="en-US" altLang="ko-KR" sz="1400" b="1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경영자</a:t>
            </a:r>
            <a:r>
              <a:rPr lang="en-US" altLang="ko-KR" sz="1300" dirty="0"/>
              <a:t>) </a:t>
            </a:r>
            <a:r>
              <a:rPr lang="ko-KR" altLang="en-US" sz="1300" dirty="0"/>
              <a:t>문서를 작성하느라 일정을 못 맞추는 것 아닌가</a:t>
            </a:r>
            <a:r>
              <a:rPr lang="en-US" altLang="ko-KR" sz="1300" dirty="0"/>
              <a:t>?</a:t>
            </a:r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개발자</a:t>
            </a:r>
            <a:r>
              <a:rPr lang="en-US" altLang="ko-KR" sz="1300" dirty="0"/>
              <a:t>) </a:t>
            </a:r>
            <a:r>
              <a:rPr lang="ko-KR" altLang="en-US" sz="1300" dirty="0"/>
              <a:t>일정이 부족하니 당장 코딩부터 시작하자</a:t>
            </a:r>
            <a:endParaRPr lang="en-US" altLang="ko-KR" sz="1300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고객</a:t>
            </a:r>
            <a:r>
              <a:rPr lang="en-US" altLang="ko-KR" sz="1300" dirty="0"/>
              <a:t>) </a:t>
            </a:r>
            <a:r>
              <a:rPr lang="ko-KR" altLang="en-US" sz="1300" dirty="0"/>
              <a:t>지금은 잘 모르겠으니 일단 개발해주면 보고 나서 요구사항을 알려주겠다</a:t>
            </a:r>
            <a:endParaRPr lang="en-US" altLang="ko-KR" sz="1300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개발자</a:t>
            </a:r>
            <a:r>
              <a:rPr lang="en-US" altLang="ko-KR" sz="1300" dirty="0"/>
              <a:t>) </a:t>
            </a:r>
            <a:r>
              <a:rPr lang="ko-KR" altLang="en-US" sz="1300" dirty="0"/>
              <a:t>일정이 정해져 있어서 어쩔 수 없다</a:t>
            </a:r>
            <a:endParaRPr lang="en-US" altLang="ko-KR" sz="1300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경영자</a:t>
            </a:r>
            <a:r>
              <a:rPr lang="en-US" altLang="ko-KR" sz="1300" dirty="0"/>
              <a:t>) </a:t>
            </a:r>
            <a:r>
              <a:rPr lang="ko-KR" altLang="en-US" sz="1300" dirty="0"/>
              <a:t>우리 회사는 달라서 일반적인 원칙이 적용되지 않는다</a:t>
            </a:r>
            <a:endParaRPr lang="en-US" altLang="ko-KR" sz="1300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개발자</a:t>
            </a:r>
            <a:r>
              <a:rPr lang="en-US" altLang="ko-KR" sz="1300" dirty="0"/>
              <a:t>) </a:t>
            </a:r>
            <a:r>
              <a:rPr lang="ko-KR" altLang="en-US" sz="1300" dirty="0" err="1"/>
              <a:t>스펙은</a:t>
            </a:r>
            <a:r>
              <a:rPr lang="ko-KR" altLang="en-US" sz="1300" dirty="0"/>
              <a:t> 문서만 보고 개발할 수 있을 정도로 자세히 적는 것이 좋다</a:t>
            </a:r>
            <a:endParaRPr lang="en-US" altLang="ko-KR" sz="1300" dirty="0"/>
          </a:p>
          <a:p>
            <a:pPr lvl="1"/>
            <a:r>
              <a:rPr lang="en-US" altLang="ko-KR" sz="1300" dirty="0"/>
              <a:t>(</a:t>
            </a:r>
            <a:r>
              <a:rPr lang="ko-KR" altLang="en-US" sz="1300" dirty="0"/>
              <a:t>개발자</a:t>
            </a:r>
            <a:r>
              <a:rPr lang="en-US" altLang="ko-KR" sz="1300" dirty="0"/>
              <a:t>) </a:t>
            </a:r>
            <a:r>
              <a:rPr lang="ko-KR" altLang="en-US" sz="1300" dirty="0"/>
              <a:t>요구사항이 계속 바뀌니 적을 필요 없다</a:t>
            </a:r>
            <a:endParaRPr lang="en-US" altLang="ko-KR" sz="1300" dirty="0"/>
          </a:p>
        </p:txBody>
      </p:sp>
      <p:sp>
        <p:nvSpPr>
          <p:cNvPr id="2" name="TextBox 1"/>
          <p:cNvSpPr txBox="1"/>
          <p:nvPr/>
        </p:nvSpPr>
        <p:spPr>
          <a:xfrm>
            <a:off x="7308305" y="4803999"/>
            <a:ext cx="17572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dirty="0"/>
              <a:t>※ </a:t>
            </a:r>
            <a:r>
              <a:rPr lang="ko-KR" altLang="en-US" sz="1000" i="1" dirty="0"/>
              <a:t>출처</a:t>
            </a:r>
            <a:r>
              <a:rPr lang="en-US" altLang="ko-KR" sz="1000" i="1" dirty="0"/>
              <a:t>: SW </a:t>
            </a:r>
            <a:r>
              <a:rPr lang="ko-KR" altLang="en-US" sz="1000" i="1" dirty="0"/>
              <a:t>스펙의 모든 것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FB1198-5988-48F4-B530-2BE791A36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341" y="2355726"/>
            <a:ext cx="1515351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59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C7922C-D040-F7BD-D852-9661024090EF}"/>
              </a:ext>
            </a:extLst>
          </p:cNvPr>
          <p:cNvSpPr txBox="1">
            <a:spLocks/>
          </p:cNvSpPr>
          <p:nvPr/>
        </p:nvSpPr>
        <p:spPr>
          <a:xfrm>
            <a:off x="2944386" y="94199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9272"/>
            <a:r>
              <a:rPr lang="ko-KR" altLang="en-US" sz="3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온라인 영상 학습</a:t>
            </a:r>
            <a:endParaRPr lang="ko-KR" altLang="en-US" sz="16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제목 5"/>
          <p:cNvSpPr txBox="1">
            <a:spLocks/>
          </p:cNvSpPr>
          <p:nvPr/>
        </p:nvSpPr>
        <p:spPr>
          <a:xfrm>
            <a:off x="2959958" y="1770163"/>
            <a:ext cx="5860514" cy="2272227"/>
          </a:xfrm>
          <a:prstGeom prst="rect">
            <a:avLst/>
          </a:prstGeom>
        </p:spPr>
        <p:txBody>
          <a:bodyPr vert="horz" lIns="75927" tIns="37964" rIns="75927" bIns="37964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100" b="0" dirty="0"/>
              <a:t>1. What is Requirements Engineering?(Intro.)</a:t>
            </a:r>
            <a:br>
              <a:rPr lang="en-US" altLang="ko-KR" sz="2100" b="0" dirty="0"/>
            </a:br>
            <a:r>
              <a:rPr lang="en-US" altLang="ko-KR" sz="2100" b="0" dirty="0"/>
              <a:t>2. Requirements Elicitation</a:t>
            </a:r>
          </a:p>
          <a:p>
            <a:pPr>
              <a:lnSpc>
                <a:spcPct val="150000"/>
              </a:lnSpc>
            </a:pPr>
            <a:r>
              <a:rPr lang="en-US" altLang="ko-KR" sz="2100" b="0" dirty="0"/>
              <a:t>3. Requirements Analysis : FR vs. NFR</a:t>
            </a:r>
          </a:p>
          <a:p>
            <a:pPr>
              <a:lnSpc>
                <a:spcPct val="150000"/>
              </a:lnSpc>
            </a:pPr>
            <a:br>
              <a:rPr lang="en-US" altLang="ko-KR" sz="2100" b="0" dirty="0"/>
            </a:br>
            <a:endParaRPr lang="en-US" sz="2100" spc="-50" dirty="0"/>
          </a:p>
        </p:txBody>
      </p:sp>
    </p:spTree>
    <p:extLst>
      <p:ext uri="{BB962C8B-B14F-4D97-AF65-F5344CB8AC3E}">
        <p14:creationId xmlns:p14="http://schemas.microsoft.com/office/powerpoint/2010/main" val="2034802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</a:t>
            </a:r>
            <a:r>
              <a:rPr lang="ko-KR" altLang="en-US" dirty="0"/>
              <a:t>핵심 주제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76256" y="2732881"/>
            <a:ext cx="2143125" cy="2143125"/>
          </a:xfrm>
          <a:prstGeom prst="rect">
            <a:avLst/>
          </a:prstGeom>
        </p:spPr>
      </p:pic>
      <p:sp>
        <p:nvSpPr>
          <p:cNvPr id="9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/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1. What is Requirements Engineering?(Intro.)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1-1. 요구공학이란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무엇인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지?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1-2. 왜 중요한지 ? 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1-3.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요구사항을 수집하는 데는 얼마의 시간을 들이는 것이 좋을지?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</a:b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2. Requirements Elicitation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2-1. 요구사항 추출이 어려운 이유</a:t>
            </a:r>
          </a:p>
          <a:p>
            <a:pPr marL="91463" lvl="0" indent="0" algn="l">
              <a:buNone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04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435" y="2250105"/>
            <a:ext cx="5365861" cy="2553893"/>
          </a:xfrm>
          <a:prstGeom prst="rect">
            <a:avLst/>
          </a:prstGeom>
        </p:spPr>
      </p:pic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722597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1. What is Requirements Engineering?(Intro.)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1-1. 요구공학이란 무엇인지?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>
              <a:buNone/>
              <a:defRPr/>
            </a:pPr>
            <a:endParaRPr lang="en-US" altLang="ko-KR" sz="1200" dirty="0"/>
          </a:p>
          <a:p>
            <a:pPr marL="91463" lvl="0" indent="0">
              <a:buNone/>
              <a:defRPr/>
            </a:pPr>
            <a:r>
              <a:rPr lang="ko-KR" altLang="en-US" sz="1200" dirty="0"/>
              <a:t>고객의 요구를 </a:t>
            </a:r>
            <a:r>
              <a:rPr lang="ko-KR" altLang="en-US" sz="1200" dirty="0">
                <a:solidFill>
                  <a:srgbClr val="FF0000"/>
                </a:solidFill>
              </a:rPr>
              <a:t>체계적으로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수집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분석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 err="1">
                <a:solidFill>
                  <a:srgbClr val="FF0000"/>
                </a:solidFill>
              </a:rPr>
              <a:t>명세화</a:t>
            </a:r>
            <a:r>
              <a:rPr lang="ko-KR" altLang="en-US" sz="1200" dirty="0" err="1"/>
              <a:t>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이를 검증 및 관리하기 위해 </a:t>
            </a:r>
            <a:r>
              <a:rPr lang="ko-KR" altLang="en-US" sz="1200" dirty="0" err="1">
                <a:solidFill>
                  <a:srgbClr val="FF0000"/>
                </a:solidFill>
              </a:rPr>
              <a:t>추적성과</a:t>
            </a:r>
            <a:r>
              <a:rPr lang="ko-KR" altLang="en-US" sz="1200" dirty="0">
                <a:solidFill>
                  <a:srgbClr val="FF0000"/>
                </a:solidFill>
              </a:rPr>
              <a:t> 변경 관리를 포함</a:t>
            </a:r>
            <a:r>
              <a:rPr lang="ko-KR" altLang="en-US" sz="1200" dirty="0"/>
              <a:t>하는 기법</a:t>
            </a:r>
            <a:endParaRPr lang="en-US" sz="105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57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1026" name="Picture 2" descr="https://1.bp.blogspot.com/-Adn0Q3kt6Cw/VYtiikb5PnI/AAAAAAACEnM/PsDwCVnl8yI/s1600/Capture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956" y="1351584"/>
            <a:ext cx="5841613" cy="308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080120"/>
          </a:xfrm>
        </p:spPr>
        <p:txBody>
          <a:bodyPr/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1. What is Requirements Engineering?(Intro.)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1-2. 왜 중요한지 ? 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endParaRPr lang="en-US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92892" y="4496221"/>
            <a:ext cx="8430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요구사항 오류는 개발 단계가 지나가면 갈수록 그 수정 비용이 기하급수로 증가</a:t>
            </a:r>
          </a:p>
        </p:txBody>
      </p:sp>
    </p:spTree>
    <p:extLst>
      <p:ext uri="{BB962C8B-B14F-4D97-AF65-F5344CB8AC3E}">
        <p14:creationId xmlns:p14="http://schemas.microsoft.com/office/powerpoint/2010/main" val="286599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30" y="1442565"/>
            <a:ext cx="5957344" cy="335843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78494" y="3186380"/>
            <a:ext cx="1024250" cy="362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63" lvl="0">
              <a:defRPr/>
            </a:pPr>
            <a:r>
              <a:rPr lang="en-US" altLang="ko-KR" b="1" dirty="0">
                <a:solidFill>
                  <a:srgbClr val="FF0000"/>
                </a:solidFill>
                <a:ea typeface="맑은 고딕"/>
              </a:rPr>
              <a:t>5~10%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4525462" y="3459307"/>
            <a:ext cx="70589" cy="211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512168"/>
          </a:xfrm>
        </p:spPr>
        <p:txBody>
          <a:bodyPr/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1. What is Requirements Engineering?(Intro.)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1-3. 요구사항을 수집하는 데는 얼마의 시간을 들이는 것이 좋을지? 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-&gt; 5 ~ 10%</a:t>
            </a:r>
          </a:p>
          <a:p>
            <a:pPr marL="91463" lvl="0" indent="0" algn="l">
              <a:buNone/>
              <a:defRPr/>
            </a:pPr>
            <a:endParaRPr 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lvl="0" indent="0" algn="l">
              <a:buNone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endParaRPr 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31798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05" y="2147051"/>
            <a:ext cx="5884997" cy="1469786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/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2. Requirements Elicitation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2-1. 요구사항 추출이 어려운 이유</a:t>
            </a:r>
          </a:p>
        </p:txBody>
      </p:sp>
    </p:spTree>
    <p:extLst>
      <p:ext uri="{BB962C8B-B14F-4D97-AF65-F5344CB8AC3E}">
        <p14:creationId xmlns:p14="http://schemas.microsoft.com/office/powerpoint/2010/main" val="958002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39" y="1194432"/>
            <a:ext cx="7053480" cy="3577312"/>
          </a:xfrm>
          <a:prstGeom prst="rect">
            <a:avLst/>
          </a:prstGeom>
        </p:spPr>
      </p:pic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16845" y="792629"/>
            <a:ext cx="8712968" cy="4111302"/>
          </a:xfrm>
        </p:spPr>
        <p:txBody>
          <a:bodyPr/>
          <a:lstStyle/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–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요구사항 추출이 다양한 이유로 어렵기 때문에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상황에 맞는 방법을 이용해서 요구사항을 수집해야 한다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</a:t>
            </a:r>
            <a:endParaRPr lang="ko-KR" alt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73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224136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3. Requirements Analysis: FR vs. NFR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3-1. 기능 요구사항과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비기능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요구사항 이란? </a:t>
            </a:r>
            <a:b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</a:br>
            <a:endParaRPr lang="ko-KR" alt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66" y="1471622"/>
            <a:ext cx="6234074" cy="2872866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616244" y="4436338"/>
            <a:ext cx="58326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SW Architecture</a:t>
            </a:r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에 큰 영향을 주는 것은 </a:t>
            </a:r>
            <a:r>
              <a:rPr lang="ko-KR" altLang="en-US" sz="1400" b="1" spc="-70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비기능</a:t>
            </a:r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 요구사항이다</a:t>
            </a:r>
            <a:r>
              <a:rPr lang="en-US" altLang="ko-KR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1400" b="1" spc="-7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4568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(1~3) - Summary</a:t>
            </a:r>
          </a:p>
        </p:txBody>
      </p:sp>
      <p:sp>
        <p:nvSpPr>
          <p:cNvPr id="9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440160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3. Requirements Analysis: FR vs. NFR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3-2.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비기능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요구사항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vs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품질 요구사항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vs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제약사항 </a:t>
            </a:r>
            <a:b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</a:b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    –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일반적으로 기능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/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비기능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요구사항으로 나누고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 </a:t>
            </a:r>
            <a:r>
              <a:rPr lang="ko-KR" altLang="en-US" sz="1200" b="0" i="0" u="none" strike="noStrike" dirty="0" err="1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비기능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요구사항에 품질 요구사항과 제약사항이 포함된다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endParaRPr lang="ko-KR" alt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96164" y="4260488"/>
            <a:ext cx="74202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</a:rPr>
              <a:t>중요한 건 분류 기준이 아니라 품질 요구사항과 </a:t>
            </a:r>
            <a:r>
              <a:rPr lang="en-US" altLang="ko-KR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</a:rPr>
              <a:t>/ </a:t>
            </a:r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</a:rPr>
              <a:t>제약사항에 대한 고려를 놓치지 않는 것</a:t>
            </a:r>
            <a:r>
              <a:rPr lang="en-US" altLang="ko-KR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2137210" y="1992621"/>
            <a:ext cx="1432540" cy="808009"/>
          </a:xfrm>
          <a:prstGeom prst="round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기능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137210" y="3127842"/>
            <a:ext cx="1432540" cy="808009"/>
          </a:xfrm>
          <a:prstGeom prst="round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기능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717193" y="1992621"/>
            <a:ext cx="3380603" cy="808009"/>
          </a:xfrm>
          <a:prstGeom prst="roundRect">
            <a:avLst/>
          </a:prstGeom>
          <a:gradFill>
            <a:gsLst>
              <a:gs pos="0">
                <a:srgbClr val="7099CA"/>
              </a:gs>
              <a:gs pos="100000">
                <a:srgbClr val="4F81B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비기능</a:t>
            </a:r>
            <a:endParaRPr lang="ko-KR" altLang="en-US" sz="1400" b="1" dirty="0"/>
          </a:p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품질 </a:t>
            </a:r>
            <a:r>
              <a:rPr lang="en-US" altLang="ko-KR" sz="1400" b="1" dirty="0"/>
              <a:t>+ </a:t>
            </a:r>
            <a:r>
              <a:rPr lang="ko-KR" altLang="en-US" sz="1400" b="1" dirty="0"/>
              <a:t>제약사항</a:t>
            </a:r>
            <a:r>
              <a:rPr lang="en-US" altLang="ko-KR" sz="1400" b="1" dirty="0"/>
              <a:t>)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475866" y="3127842"/>
            <a:ext cx="1621930" cy="808009"/>
          </a:xfrm>
          <a:prstGeom prst="roundRect">
            <a:avLst/>
          </a:prstGeom>
          <a:gradFill>
            <a:gsLst>
              <a:gs pos="0">
                <a:srgbClr val="7099CA"/>
              </a:gs>
              <a:gs pos="100000">
                <a:srgbClr val="4F81B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제약사항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717192" y="3125540"/>
            <a:ext cx="1690301" cy="808009"/>
          </a:xfrm>
          <a:prstGeom prst="roundRect">
            <a:avLst/>
          </a:prstGeom>
          <a:gradFill>
            <a:gsLst>
              <a:gs pos="0">
                <a:srgbClr val="7099CA"/>
              </a:gs>
              <a:gs pos="100000">
                <a:srgbClr val="4F81B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품질</a:t>
            </a:r>
          </a:p>
          <a:p>
            <a:pPr algn="ctr"/>
            <a:r>
              <a:rPr lang="en-US" altLang="ko-KR" sz="1400" b="1" dirty="0"/>
              <a:t>or </a:t>
            </a:r>
            <a:r>
              <a:rPr lang="ko-KR" altLang="en-US" sz="1400" b="1" dirty="0" err="1"/>
              <a:t>비기능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080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C7922C-D040-F7BD-D852-9661024090EF}"/>
              </a:ext>
            </a:extLst>
          </p:cNvPr>
          <p:cNvSpPr txBox="1">
            <a:spLocks/>
          </p:cNvSpPr>
          <p:nvPr/>
        </p:nvSpPr>
        <p:spPr>
          <a:xfrm>
            <a:off x="2944386" y="94199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9272"/>
            <a:r>
              <a:rPr lang="ko-KR" altLang="en-US" sz="3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온라인 영상 학습</a:t>
            </a:r>
            <a:endParaRPr lang="ko-KR" altLang="en-US" sz="16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제목 5"/>
          <p:cNvSpPr txBox="1">
            <a:spLocks/>
          </p:cNvSpPr>
          <p:nvPr/>
        </p:nvSpPr>
        <p:spPr>
          <a:xfrm>
            <a:off x="2959958" y="1770163"/>
            <a:ext cx="5860514" cy="2272227"/>
          </a:xfrm>
          <a:prstGeom prst="rect">
            <a:avLst/>
          </a:prstGeom>
        </p:spPr>
        <p:txBody>
          <a:bodyPr vert="horz" lIns="75927" tIns="37964" rIns="75927" bIns="37964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100" b="0" dirty="0"/>
              <a:t>4. Requirements Analysis : Use Case Modeling</a:t>
            </a:r>
            <a:br>
              <a:rPr lang="en-US" altLang="ko-KR" sz="2100" b="0" dirty="0"/>
            </a:br>
            <a:r>
              <a:rPr lang="en-US" altLang="ko-KR" sz="2100" b="0" dirty="0"/>
              <a:t>5. Requirements Analysis : Use Case Specification</a:t>
            </a:r>
            <a:endParaRPr lang="en-US" sz="2100" spc="-50" dirty="0"/>
          </a:p>
        </p:txBody>
      </p:sp>
    </p:spTree>
    <p:extLst>
      <p:ext uri="{BB962C8B-B14F-4D97-AF65-F5344CB8AC3E}">
        <p14:creationId xmlns:p14="http://schemas.microsoft.com/office/powerpoint/2010/main" val="25851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</a:t>
            </a:r>
            <a:r>
              <a:rPr lang="ko-KR" altLang="en-US" dirty="0"/>
              <a:t>핵심 주제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76256" y="2732881"/>
            <a:ext cx="2143125" cy="2143125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Modeling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-1.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의 정의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-2.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Actor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는 뭘 이야기 하는 거지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-3.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작성 시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피해야 할 요소들은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br>
              <a:rPr lang="en-US" sz="14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</a:b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5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Specification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5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-1.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Alternative Flows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에 포함되어야 하는 내용은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854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16" y="1692414"/>
            <a:ext cx="4000500" cy="25622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040" y="1868626"/>
            <a:ext cx="4848225" cy="22098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Summary</a:t>
            </a:r>
          </a:p>
        </p:txBody>
      </p:sp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Modeling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-1.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의 정의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788507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91" y="4131340"/>
            <a:ext cx="2971800" cy="6286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36" y="4168487"/>
            <a:ext cx="2162175" cy="52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4514" y="419241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26" y="1453064"/>
            <a:ext cx="3790950" cy="4095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0" y="1872348"/>
            <a:ext cx="5324475" cy="2362200"/>
          </a:xfrm>
          <a:prstGeom prst="rect">
            <a:avLst/>
          </a:prstGeom>
        </p:spPr>
      </p:pic>
      <p:sp>
        <p:nvSpPr>
          <p:cNvPr id="9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Modeling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-2.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Actor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는 뭘 이야기 하는 거지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3247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Summary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9BB21F-9414-4904-A8D6-EA20D8ABD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9180"/>
            <a:ext cx="8712968" cy="4168834"/>
          </a:xfrm>
        </p:spPr>
        <p:txBody>
          <a:bodyPr>
            <a:normAutofit/>
          </a:bodyPr>
          <a:lstStyle/>
          <a:p>
            <a:pPr marL="91463" indent="0">
              <a:buFont typeface="Arial" panose="020B0604020202020204" pitchFamily="34" charset="0"/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4. Requirement Analysis: Use Case Modeling</a:t>
            </a:r>
          </a:p>
          <a:p>
            <a:pPr marL="91463" lvl="0" indent="0" algn="l">
              <a:buNone/>
              <a:defRPr/>
            </a:pPr>
            <a:endParaRPr lang="en-US" altLang="ko-KR" sz="1200" b="1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 Specification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에는 무슨 내용을 적어야 하는가</a:t>
            </a: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  <a:endParaRPr lang="ko-KR" altLang="en-US" sz="1200" b="1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548663" lvl="1" indent="-277051">
              <a:buNone/>
              <a:defRPr/>
            </a:pP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 Specification Template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참고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endParaRPr lang="en-US" altLang="ko-KR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91463" lvl="0" indent="0" algn="l">
              <a:buNone/>
              <a:defRPr/>
            </a:pP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Alternative Flows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를 따로 작성 하는 이유는</a:t>
            </a: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</a:t>
            </a:r>
          </a:p>
          <a:p>
            <a:pPr marL="548663" lvl="1" indent="-277051" algn="l">
              <a:buNone/>
              <a:defRPr/>
            </a:pP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1)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명확한 예외 상황 처리</a:t>
            </a: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(Happy path or not)</a:t>
            </a:r>
          </a:p>
          <a:p>
            <a:pPr marL="548663" lvl="1" indent="-277051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 단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비정상적인 오류 상황은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alternative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가 아닌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별도의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exception flow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로 따로 관리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548663" lvl="1" indent="-277051" algn="l">
              <a:buNone/>
              <a:defRPr/>
            </a:pPr>
            <a:endParaRPr lang="en-US" altLang="ko-KR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548663" lvl="1" indent="-277051" algn="l">
              <a:buNone/>
              <a:defRPr/>
            </a:pP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2)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</a:t>
            </a: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Basic Flow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가</a:t>
            </a:r>
            <a:r>
              <a:rPr lang="en-US" altLang="ko-KR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</a:t>
            </a:r>
            <a:r>
              <a:rPr lang="ko-KR" altLang="en-US" sz="12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복잡해지는 것을 방지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  <a:cs typeface="+mn-cs"/>
            </a:endParaRPr>
          </a:p>
          <a:p>
            <a:pPr marL="548663" lvl="1" indent="-277051" algn="l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 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각 시나리오 가독성↑</a:t>
            </a:r>
          </a:p>
          <a:p>
            <a:pPr marL="548663" lvl="1" indent="-277051">
              <a:buNone/>
              <a:defRPr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 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재활용 용이성 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32A350-0E9C-44A8-9FB4-AA82412DF0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54138" y="709259"/>
            <a:ext cx="2438740" cy="1924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5A332A-4713-47FA-800B-28B7EE345079}"/>
              </a:ext>
            </a:extLst>
          </p:cNvPr>
          <p:cNvSpPr txBox="1"/>
          <p:nvPr/>
        </p:nvSpPr>
        <p:spPr>
          <a:xfrm>
            <a:off x="6347880" y="2758016"/>
            <a:ext cx="27606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63" lvl="0" indent="0" algn="l">
              <a:buNone/>
              <a:defRPr/>
            </a:pPr>
            <a:r>
              <a:rPr lang="en-US" altLang="ko-K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[Use Case Specification Template ]</a:t>
            </a:r>
          </a:p>
        </p:txBody>
      </p:sp>
    </p:spTree>
    <p:extLst>
      <p:ext uri="{BB962C8B-B14F-4D97-AF65-F5344CB8AC3E}">
        <p14:creationId xmlns:p14="http://schemas.microsoft.com/office/powerpoint/2010/main" val="2622355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48" y="2111516"/>
            <a:ext cx="3689233" cy="257358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Summary</a:t>
            </a:r>
          </a:p>
        </p:txBody>
      </p:sp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507606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Modeling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4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-3.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Use case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작성 시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,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  피해야 할 요소들은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</a:p>
          <a:p>
            <a:pPr marL="91463" lvl="0" indent="0" algn="l">
              <a:buNone/>
              <a:defRPr/>
            </a:pPr>
            <a:endParaRPr lang="en-US" sz="5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361338" lvl="1" indent="0">
              <a:buNone/>
              <a:defRPr/>
            </a:pPr>
            <a:r>
              <a:rPr lang="en-US" altLang="ko-KR" sz="1200" dirty="0">
                <a:latin typeface="+mn-ea"/>
              </a:rPr>
              <a:t>       -&gt; Use case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b="1" dirty="0">
                <a:latin typeface="+mn-ea"/>
              </a:rPr>
              <a:t>정의를 거스르는 부분은 없는지</a:t>
            </a:r>
            <a:r>
              <a:rPr lang="en-US" altLang="ko-KR" sz="1200" dirty="0">
                <a:latin typeface="+mn-ea"/>
              </a:rPr>
              <a:t>,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   </a:t>
            </a:r>
            <a:r>
              <a:rPr lang="en-US" altLang="ko-KR" sz="1200" b="1" dirty="0">
                <a:latin typeface="+mn-ea"/>
              </a:rPr>
              <a:t>Function decomposition </a:t>
            </a:r>
            <a:r>
              <a:rPr lang="ko-KR" altLang="en-US" sz="1200" b="1" dirty="0">
                <a:latin typeface="+mn-ea"/>
              </a:rPr>
              <a:t>을 하고 있지는 않는지 </a:t>
            </a:r>
            <a:r>
              <a:rPr lang="ko-KR" altLang="en-US" sz="1200" dirty="0">
                <a:latin typeface="+mn-ea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3345122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(4~5)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0" y="2060074"/>
            <a:ext cx="7787212" cy="2520280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 algn="l">
              <a:buNone/>
              <a:defRPr/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5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. 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Requirement Analysis: Use Case Specification</a:t>
            </a:r>
          </a:p>
          <a:p>
            <a:pPr marL="91463" lvl="0" indent="0" algn="l">
              <a:buNone/>
              <a:defRPr/>
            </a:pP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5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-1.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Alternative Flows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에 포함되어야 하는 내용은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  <a:cs typeface="+mn-cs"/>
              </a:rPr>
              <a:t>?</a:t>
            </a:r>
          </a:p>
          <a:p>
            <a:pPr marL="91463" lvl="0" indent="0" algn="l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     -&gt; </a:t>
            </a:r>
            <a:r>
              <a:rPr lang="en-US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action </a:t>
            </a:r>
            <a:r>
              <a:rPr lang="ko-KR" altLang="en-US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종료 시</a:t>
            </a:r>
            <a:r>
              <a:rPr lang="en-US" altLang="ko-KR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, use case</a:t>
            </a:r>
            <a:r>
              <a:rPr lang="ko-KR" altLang="en-US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를 종료하는 경우도 있지만</a:t>
            </a:r>
            <a:r>
              <a:rPr lang="en-US" altLang="ko-KR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어딘가로 돌아가야 한다면 </a:t>
            </a:r>
            <a:r>
              <a:rPr lang="en-US" altLang="ko-KR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resume point</a:t>
            </a:r>
            <a:r>
              <a:rPr lang="ko-KR" altLang="en-US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가 어디인지 정확히 표현해줘야 한다</a:t>
            </a:r>
            <a:r>
              <a:rPr lang="en-US" altLang="ko-KR" sz="1200" spc="-9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         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제목 자체를 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condition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으로 만들어도 된다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.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38227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097" y="2670810"/>
            <a:ext cx="2400267" cy="2088232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757792" y="2146790"/>
            <a:ext cx="4752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pc="-12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 ex) </a:t>
            </a:r>
            <a:r>
              <a:rPr lang="ko-KR" altLang="en-US" sz="1200" spc="-12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음료수 중 하나 선택</a:t>
            </a:r>
            <a:r>
              <a:rPr lang="en-US" altLang="ko-KR" sz="1200" spc="-12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(Basic), </a:t>
            </a:r>
            <a:r>
              <a:rPr lang="ko-KR" altLang="en-US" sz="1200" spc="-12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반환 버튼 선택</a:t>
            </a:r>
            <a:r>
              <a:rPr lang="en-US" altLang="ko-KR" sz="1200" spc="-12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(Alternative)</a:t>
            </a:r>
            <a:endParaRPr lang="ko-KR" altLang="en-US" sz="1200" spc="-12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64704"/>
            <a:ext cx="8568952" cy="4111302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Basic Flow</a:t>
            </a:r>
            <a:r>
              <a:rPr lang="ko-KR" altLang="en-US" sz="1400" dirty="0"/>
              <a:t>와</a:t>
            </a:r>
            <a:r>
              <a:rPr lang="en-US" altLang="ko-KR" sz="1400" dirty="0"/>
              <a:t> Alternative Flows</a:t>
            </a:r>
            <a:r>
              <a:rPr lang="ko-KR" altLang="en-US" sz="1400" dirty="0"/>
              <a:t>를 구분하는 기준은</a:t>
            </a:r>
            <a:r>
              <a:rPr lang="en-US" altLang="ko-KR" sz="1400" dirty="0"/>
              <a:t>?</a:t>
            </a:r>
          </a:p>
          <a:p>
            <a:pPr marL="361338" lvl="1" indent="0">
              <a:buNone/>
            </a:pPr>
            <a:r>
              <a:rPr lang="en-US" altLang="ko-KR" sz="1400" dirty="0">
                <a:solidFill>
                  <a:srgbClr val="002060"/>
                </a:solidFill>
              </a:rPr>
              <a:t>(1) </a:t>
            </a:r>
            <a:r>
              <a:rPr lang="en-US" altLang="ko-KR" sz="1400" b="1" u="sng" dirty="0">
                <a:solidFill>
                  <a:srgbClr val="002060"/>
                </a:solidFill>
              </a:rPr>
              <a:t>Basic Flow</a:t>
            </a:r>
            <a:r>
              <a:rPr lang="ko-KR" altLang="en-US" sz="1400" u="sng" dirty="0">
                <a:solidFill>
                  <a:srgbClr val="002060"/>
                </a:solidFill>
              </a:rPr>
              <a:t>는 일반적인 처리 흐름</a:t>
            </a:r>
            <a:endParaRPr lang="en-US" altLang="ko-KR" sz="1400" u="sng" dirty="0">
              <a:solidFill>
                <a:srgbClr val="002060"/>
              </a:solidFill>
            </a:endParaRPr>
          </a:p>
          <a:p>
            <a:pPr marL="624863" lvl="2" indent="0">
              <a:buNone/>
            </a:pPr>
            <a:r>
              <a:rPr lang="en-US" altLang="ko-KR" sz="1300" dirty="0"/>
              <a:t>a. Use Case</a:t>
            </a:r>
            <a:r>
              <a:rPr lang="ko-KR" altLang="en-US" sz="1300" dirty="0"/>
              <a:t>가 실행되면 발생하는 기본적인 </a:t>
            </a:r>
            <a:r>
              <a:rPr lang="en-US" altLang="ko-KR" sz="1300" dirty="0"/>
              <a:t>Flow</a:t>
            </a:r>
          </a:p>
          <a:p>
            <a:pPr marL="624863" lvl="2" indent="0">
              <a:buNone/>
            </a:pPr>
            <a:r>
              <a:rPr lang="en-US" altLang="ko-KR" sz="1300" dirty="0"/>
              <a:t>b. </a:t>
            </a:r>
            <a:r>
              <a:rPr lang="ko-KR" altLang="en-US" sz="1300" dirty="0"/>
              <a:t>분기가</a:t>
            </a:r>
            <a:r>
              <a:rPr lang="en-US" altLang="ko-KR" sz="1300" dirty="0"/>
              <a:t> </a:t>
            </a:r>
            <a:r>
              <a:rPr lang="ko-KR" altLang="en-US" sz="1300" dirty="0"/>
              <a:t>있더라도 흐름상 </a:t>
            </a:r>
            <a:r>
              <a:rPr lang="ko-KR" altLang="en-US" sz="1300" b="1" u="sng" dirty="0"/>
              <a:t>반드시 하나를 선택해야 할 경우</a:t>
            </a:r>
            <a:r>
              <a:rPr lang="en-US" altLang="ko-KR" sz="1300" dirty="0"/>
              <a:t>, </a:t>
            </a:r>
            <a:r>
              <a:rPr lang="ko-KR" altLang="en-US" sz="1300" dirty="0"/>
              <a:t>대표적인 선택과 그에 따른 처리 흐름을 기술</a:t>
            </a:r>
            <a:endParaRPr lang="en-US" altLang="ko-KR" sz="1300" dirty="0"/>
          </a:p>
          <a:p>
            <a:pPr marL="624863" lvl="2" indent="0">
              <a:buNone/>
            </a:pPr>
            <a:endParaRPr lang="en-US" altLang="ko-KR" sz="1200" b="1" u="sng" dirty="0">
              <a:solidFill>
                <a:srgbClr val="002060"/>
              </a:solidFill>
            </a:endParaRPr>
          </a:p>
          <a:p>
            <a:pPr marL="361338" lvl="1" indent="0">
              <a:buNone/>
            </a:pPr>
            <a:r>
              <a:rPr lang="en-US" altLang="ko-KR" sz="1400" dirty="0">
                <a:solidFill>
                  <a:srgbClr val="002060"/>
                </a:solidFill>
              </a:rPr>
              <a:t>(2) </a:t>
            </a:r>
            <a:r>
              <a:rPr lang="en-US" altLang="ko-KR" sz="1400" b="1" u="sng" dirty="0">
                <a:solidFill>
                  <a:srgbClr val="002060"/>
                </a:solidFill>
              </a:rPr>
              <a:t>Alternative Flows</a:t>
            </a:r>
            <a:r>
              <a:rPr lang="ko-KR" altLang="en-US" sz="1400" spc="-100" dirty="0"/>
              <a:t>는 </a:t>
            </a:r>
            <a:r>
              <a:rPr lang="en-US" altLang="ko-KR" sz="1400" spc="-100" dirty="0"/>
              <a:t>Actor</a:t>
            </a:r>
            <a:r>
              <a:rPr lang="ko-KR" altLang="en-US" sz="1400" spc="-100" dirty="0"/>
              <a:t>의 선택에 따라 다른 처리 흐름으로 진행해야 할 경우</a:t>
            </a:r>
            <a:endParaRPr lang="en-US" altLang="ko-KR" sz="1400" spc="-100" dirty="0"/>
          </a:p>
          <a:p>
            <a:pPr marL="361338" lvl="1" indent="0">
              <a:buNone/>
            </a:pPr>
            <a:r>
              <a:rPr lang="en-US" altLang="ko-KR" sz="1600" dirty="0"/>
              <a:t>    </a:t>
            </a:r>
            <a:r>
              <a:rPr lang="en-US" altLang="ko-KR" sz="1300" dirty="0"/>
              <a:t>a. </a:t>
            </a:r>
            <a:r>
              <a:rPr lang="ko-KR" altLang="en-US" sz="1300" dirty="0"/>
              <a:t>특정 조건 또는 </a:t>
            </a:r>
            <a:r>
              <a:rPr lang="en-US" altLang="ko-KR" sz="1300" dirty="0"/>
              <a:t>error/exception case </a:t>
            </a:r>
            <a:r>
              <a:rPr lang="ko-KR" altLang="en-US" sz="1300" dirty="0"/>
              <a:t>에 의해 분기되는 </a:t>
            </a:r>
            <a:r>
              <a:rPr lang="en-US" altLang="ko-KR" sz="1300" dirty="0"/>
              <a:t>Flow</a:t>
            </a:r>
          </a:p>
          <a:p>
            <a:pPr marL="361338" lvl="1" indent="0">
              <a:buNone/>
            </a:pPr>
            <a:r>
              <a:rPr lang="en-US" altLang="ko-KR" sz="1300" dirty="0"/>
              <a:t>     b. Basic Flow </a:t>
            </a:r>
            <a:r>
              <a:rPr lang="ko-KR" altLang="en-US" sz="1300" dirty="0"/>
              <a:t>외 추가적으로 실행되는 </a:t>
            </a:r>
            <a:r>
              <a:rPr lang="en-US" altLang="ko-KR" sz="1300" dirty="0"/>
              <a:t>Flow</a:t>
            </a:r>
          </a:p>
          <a:p>
            <a:pPr marL="361338" lvl="1" indent="0">
              <a:buNone/>
            </a:pPr>
            <a:r>
              <a:rPr lang="en-US" altLang="ko-KR" sz="1300" dirty="0"/>
              <a:t>     c. Basic Flows</a:t>
            </a:r>
            <a:r>
              <a:rPr lang="ko-KR" altLang="en-US" sz="1300" dirty="0"/>
              <a:t>이더라도</a:t>
            </a:r>
            <a:r>
              <a:rPr lang="en-US" altLang="ko-KR" sz="1300" dirty="0"/>
              <a:t> Readability, Reusability </a:t>
            </a:r>
            <a:r>
              <a:rPr lang="ko-KR" altLang="en-US" sz="1300" dirty="0"/>
              <a:t>등을 고려하여 </a:t>
            </a:r>
            <a:br>
              <a:rPr lang="en-US" altLang="ko-KR" sz="1300" dirty="0"/>
            </a:br>
            <a:r>
              <a:rPr lang="en-US" altLang="ko-KR" sz="1300" dirty="0"/>
              <a:t>        Sub Flow or</a:t>
            </a:r>
            <a:r>
              <a:rPr lang="ko-KR" altLang="en-US" sz="1300" dirty="0"/>
              <a:t> </a:t>
            </a:r>
            <a:r>
              <a:rPr lang="en-US" altLang="ko-KR" sz="1300" dirty="0"/>
              <a:t>Alternative</a:t>
            </a:r>
            <a:r>
              <a:rPr lang="ko-KR" altLang="en-US" sz="1300" dirty="0"/>
              <a:t> </a:t>
            </a:r>
            <a:r>
              <a:rPr lang="en-US" altLang="ko-KR" sz="1300" dirty="0"/>
              <a:t>Flow</a:t>
            </a:r>
            <a:r>
              <a:rPr lang="ko-KR" altLang="en-US" sz="1300" dirty="0"/>
              <a:t>로 작성하기도 함</a:t>
            </a:r>
            <a:endParaRPr lang="en-US" altLang="ko-KR" sz="1300" dirty="0"/>
          </a:p>
          <a:p>
            <a:pPr marL="361338" lvl="1" indent="0">
              <a:buNone/>
            </a:pPr>
            <a:endParaRPr lang="en-US" altLang="ko-KR" sz="1300" dirty="0"/>
          </a:p>
          <a:p>
            <a:endParaRPr lang="en-US" altLang="ko-KR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 Specification Basic vs Alternative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589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2" descr="파주 Y해장국 음료수자판기 설치 : 하이벤딩 -하프스페이스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708910"/>
            <a:ext cx="1874588" cy="2499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40059" y="4496413"/>
            <a:ext cx="342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시간 내내 고객에게 음료수를 제공할 수 있는 </a:t>
            </a:r>
            <a:endParaRPr lang="en-US" altLang="ko-KR" sz="12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간단한 음료수 자판기 컨트롤러</a:t>
            </a:r>
            <a:endParaRPr lang="ko-KR" altLang="en-US" sz="12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57808" y="247657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u="sng" dirty="0">
                <a:solidFill>
                  <a:srgbClr val="4156BD"/>
                </a:solidFill>
              </a:rPr>
              <a:t>* </a:t>
            </a:r>
            <a:r>
              <a:rPr lang="en-US" altLang="ko-KR" sz="1400" u="sng" dirty="0" err="1">
                <a:solidFill>
                  <a:srgbClr val="4156BD"/>
                </a:solidFill>
              </a:rPr>
              <a:t>ex0</a:t>
            </a:r>
            <a:r>
              <a:rPr lang="en-US" altLang="ko-KR" sz="1400" u="sng" dirty="0">
                <a:solidFill>
                  <a:srgbClr val="4156BD"/>
                </a:solidFill>
              </a:rPr>
              <a:t>_</a:t>
            </a:r>
            <a:r>
              <a:rPr lang="ko-KR" altLang="en-US" sz="1400" u="sng" dirty="0">
                <a:solidFill>
                  <a:srgbClr val="4156BD"/>
                </a:solidFill>
              </a:rPr>
              <a:t>음료수 자판기 </a:t>
            </a:r>
            <a:r>
              <a:rPr lang="ko-KR" altLang="en-US" sz="1400" u="sng">
                <a:solidFill>
                  <a:srgbClr val="4156BD"/>
                </a:solidFill>
              </a:rPr>
              <a:t>초기요구사항 명세서</a:t>
            </a:r>
            <a:r>
              <a:rPr lang="en-US" altLang="ko-KR" sz="1400" u="sng" dirty="0">
                <a:solidFill>
                  <a:srgbClr val="4156BD"/>
                </a:solidFill>
              </a:rPr>
              <a:t>.doc  </a:t>
            </a:r>
            <a:endParaRPr lang="ko-KR" altLang="en-US" sz="1400" u="sng" dirty="0"/>
          </a:p>
        </p:txBody>
      </p:sp>
      <p:sp>
        <p:nvSpPr>
          <p:cNvPr id="7" name="내용 개체 틀 1"/>
          <p:cNvSpPr>
            <a:spLocks noGrp="1"/>
          </p:cNvSpPr>
          <p:nvPr>
            <p:ph idx="1"/>
          </p:nvPr>
        </p:nvSpPr>
        <p:spPr>
          <a:xfrm>
            <a:off x="251520" y="779170"/>
            <a:ext cx="8568952" cy="3751262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초기 요구사항 명세서에서 </a:t>
            </a:r>
            <a:r>
              <a:rPr lang="en-US" altLang="ko-KR" sz="1400" b="1" dirty="0"/>
              <a:t>Basic Flow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Alternative Flow </a:t>
            </a:r>
            <a:r>
              <a:rPr lang="ko-KR" altLang="en-US" sz="1400" b="1" dirty="0"/>
              <a:t>구분</a:t>
            </a:r>
          </a:p>
          <a:p>
            <a:pPr lvl="1"/>
            <a:r>
              <a:rPr lang="ko-KR" altLang="en-US" sz="1400" dirty="0"/>
              <a:t> </a:t>
            </a:r>
            <a:r>
              <a:rPr lang="en-US" altLang="ko-KR" sz="1400" dirty="0"/>
              <a:t>Basic Flow (</a:t>
            </a:r>
            <a:r>
              <a:rPr lang="ko-KR" altLang="en-US" sz="1400" dirty="0"/>
              <a:t>기능</a:t>
            </a:r>
            <a:r>
              <a:rPr lang="en-US" altLang="ko-KR" sz="1400" dirty="0"/>
              <a:t>)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0070C0"/>
                </a:solidFill>
              </a:rPr>
              <a:t>파란색</a:t>
            </a:r>
          </a:p>
          <a:p>
            <a:pPr lvl="1"/>
            <a:r>
              <a:rPr lang="ko-KR" altLang="en-US" sz="1400" dirty="0"/>
              <a:t> </a:t>
            </a:r>
            <a:r>
              <a:rPr lang="en-US" altLang="ko-KR" sz="1400" dirty="0"/>
              <a:t>Alternative Flow (</a:t>
            </a:r>
            <a:r>
              <a:rPr lang="ko-KR" altLang="en-US" sz="1400" dirty="0"/>
              <a:t>분기</a:t>
            </a:r>
            <a:r>
              <a:rPr lang="en-US" altLang="ko-KR" sz="1400" dirty="0"/>
              <a:t>,</a:t>
            </a:r>
            <a:r>
              <a:rPr lang="ko-KR" altLang="en-US" sz="1400" dirty="0"/>
              <a:t>조건</a:t>
            </a:r>
            <a:r>
              <a:rPr lang="en-US" altLang="ko-KR" sz="1400" dirty="0"/>
              <a:t>) </a:t>
            </a: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en-US" altLang="ko-KR" sz="1400" dirty="0"/>
              <a:t> </a:t>
            </a:r>
            <a:r>
              <a:rPr lang="ko-KR" altLang="en-US" sz="1400" dirty="0">
                <a:solidFill>
                  <a:srgbClr val="00B050"/>
                </a:solidFill>
              </a:rPr>
              <a:t>초록색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Case Specification Basic vs Alternative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0998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2" descr="파주 Y해장국 음료수자판기 설치 : 하이벤딩 -하프스페이스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183" y="2954360"/>
            <a:ext cx="1463297" cy="195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 descr="C:\Users\s_hun.kim\AppData\Local\Microsoft\Windows\INetCache\Content.Word\use case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78" y="1261538"/>
            <a:ext cx="1983290" cy="18100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내용 개체 틀 1"/>
          <p:cNvSpPr>
            <a:spLocks noGrp="1"/>
          </p:cNvSpPr>
          <p:nvPr>
            <p:ph idx="1"/>
          </p:nvPr>
        </p:nvSpPr>
        <p:spPr>
          <a:xfrm>
            <a:off x="251520" y="760502"/>
            <a:ext cx="8568952" cy="3914720"/>
          </a:xfrm>
        </p:spPr>
        <p:txBody>
          <a:bodyPr>
            <a:normAutofit/>
          </a:bodyPr>
          <a:lstStyle/>
          <a:p>
            <a:r>
              <a:rPr lang="en-US" altLang="ko-KR" b="1" dirty="0"/>
              <a:t>Use Case Diagram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pPr lvl="1"/>
            <a:r>
              <a:rPr lang="en-US" altLang="ko-KR" sz="1200" dirty="0"/>
              <a:t>Basic Flow</a:t>
            </a:r>
          </a:p>
          <a:p>
            <a:pPr lvl="1"/>
            <a:r>
              <a:rPr lang="en-US" altLang="ko-KR" sz="1200" dirty="0"/>
              <a:t>Alternative Flow</a:t>
            </a:r>
          </a:p>
          <a:p>
            <a:pPr lvl="1"/>
            <a:r>
              <a:rPr lang="en-US" altLang="ko-KR" sz="1200" dirty="0"/>
              <a:t>Pre-Condition</a:t>
            </a:r>
          </a:p>
          <a:p>
            <a:pPr lvl="1"/>
            <a:r>
              <a:rPr lang="en-US" altLang="ko-KR" sz="1200" dirty="0"/>
              <a:t>Post-Condition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작성하기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580" y="1147466"/>
            <a:ext cx="5040560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lvl="1" indent="-180000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ko-KR" altLang="ko-KR" sz="16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자판기의 </a:t>
            </a:r>
            <a:r>
              <a:rPr lang="en-US" altLang="ko-KR" sz="16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</a:p>
          <a:p>
            <a:pPr marL="541338" lvl="1" indent="-180000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지폐가 아닌 동전만 투입하는 것으로 가정</a:t>
            </a:r>
            <a:endParaRPr lang="en-US" altLang="ko-KR" sz="12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1338" lvl="1" indent="-180000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동전 반환을 위한 레버</a:t>
            </a:r>
            <a:endParaRPr lang="en-US" altLang="ko-KR" sz="12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1338" lvl="1" indent="-180000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투입된 금액과 </a:t>
            </a:r>
            <a:r>
              <a:rPr lang="en-US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거스름돈 없음</a:t>
            </a:r>
            <a:r>
              <a:rPr lang="en-US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을 표시할 수 있는 간단한 액정화면</a:t>
            </a:r>
            <a:endParaRPr lang="en-US" altLang="ko-KR" sz="12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41338" lvl="1" indent="-180000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ko-KR" altLang="ko-KR" sz="12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각 음료수 하단에 가격과 매진 표시</a:t>
            </a:r>
          </a:p>
        </p:txBody>
      </p:sp>
    </p:spTree>
    <p:extLst>
      <p:ext uri="{BB962C8B-B14F-4D97-AF65-F5344CB8AC3E}">
        <p14:creationId xmlns:p14="http://schemas.microsoft.com/office/powerpoint/2010/main" val="3966364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5631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b="1" dirty="0"/>
              <a:t>Use Case Specification</a:t>
            </a:r>
            <a:r>
              <a:rPr lang="ko-KR" altLang="en-US" b="1" dirty="0"/>
              <a:t>에서</a:t>
            </a:r>
            <a:br>
              <a:rPr lang="en-US" altLang="ko-KR" sz="1600" dirty="0"/>
            </a:br>
            <a:r>
              <a:rPr lang="en-US" altLang="ko-KR" sz="1600" dirty="0"/>
              <a:t>(1)</a:t>
            </a:r>
            <a:r>
              <a:rPr lang="ko-KR" altLang="en-US" sz="1600" dirty="0"/>
              <a:t> </a:t>
            </a:r>
            <a:r>
              <a:rPr lang="en-US" altLang="ko-KR" sz="1600" u="sng" dirty="0">
                <a:solidFill>
                  <a:srgbClr val="002060"/>
                </a:solidFill>
              </a:rPr>
              <a:t>Pre-Condition</a:t>
            </a:r>
            <a:r>
              <a:rPr lang="ko-KR" altLang="en-US" sz="1600" dirty="0"/>
              <a:t>에 기재하는 경우와 </a:t>
            </a:r>
            <a:r>
              <a:rPr lang="en-US" altLang="ko-KR" sz="1600" dirty="0"/>
              <a:t>(2) </a:t>
            </a:r>
            <a:r>
              <a:rPr lang="en-US" altLang="ko-KR" sz="1600" u="sng" dirty="0">
                <a:solidFill>
                  <a:srgbClr val="002060"/>
                </a:solidFill>
              </a:rPr>
              <a:t>Basic Flow</a:t>
            </a:r>
            <a:r>
              <a:rPr lang="ko-KR" altLang="en-US" sz="1600" dirty="0"/>
              <a:t>에 기재하는 경우의 차이점은</a:t>
            </a:r>
            <a:r>
              <a:rPr lang="en-US" altLang="ko-KR" sz="1600" dirty="0"/>
              <a:t>?</a:t>
            </a:r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예를 들어 </a:t>
            </a:r>
            <a:r>
              <a:rPr lang="en-US" altLang="ko-KR" sz="1400" dirty="0">
                <a:solidFill>
                  <a:srgbClr val="002060"/>
                </a:solidFill>
              </a:rPr>
              <a:t>‘Login</a:t>
            </a:r>
            <a:r>
              <a:rPr lang="ko-KR" altLang="en-US" sz="1400" dirty="0">
                <a:solidFill>
                  <a:srgbClr val="002060"/>
                </a:solidFill>
              </a:rPr>
              <a:t>한 사용자</a:t>
            </a:r>
            <a:r>
              <a:rPr lang="en-US" altLang="ko-KR" sz="1400" dirty="0">
                <a:solidFill>
                  <a:srgbClr val="002060"/>
                </a:solidFill>
              </a:rPr>
              <a:t>’</a:t>
            </a:r>
            <a:r>
              <a:rPr lang="ko-KR" altLang="en-US" sz="1400" dirty="0"/>
              <a:t>의 경우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br>
              <a:rPr lang="en-US" altLang="ko-KR" sz="1400" dirty="0"/>
            </a:br>
            <a:r>
              <a:rPr lang="en-US" altLang="ko-KR" sz="1400" dirty="0"/>
              <a:t>(1) Pre-Condition</a:t>
            </a:r>
            <a:r>
              <a:rPr lang="ko-KR" altLang="en-US" sz="1400" dirty="0"/>
              <a:t>에 기재하면 이미 </a:t>
            </a:r>
            <a:r>
              <a:rPr lang="en-US" altLang="ko-KR" sz="1400" dirty="0"/>
              <a:t>Login </a:t>
            </a:r>
            <a:r>
              <a:rPr lang="ko-KR" altLang="en-US" sz="1400" dirty="0"/>
              <a:t>여부에 대한 검증이 어디에서인가 이루어졌다는 의미</a:t>
            </a:r>
            <a:r>
              <a:rPr lang="en-US" altLang="ko-KR" sz="1400" dirty="0"/>
              <a:t>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(2) Basic Flow</a:t>
            </a:r>
            <a:r>
              <a:rPr lang="ko-KR" altLang="en-US" sz="1400" dirty="0"/>
              <a:t>에 기재하면</a:t>
            </a:r>
            <a:r>
              <a:rPr lang="en-US" altLang="ko-KR" sz="1400" dirty="0"/>
              <a:t>, </a:t>
            </a:r>
            <a:r>
              <a:rPr lang="ko-KR" altLang="en-US" sz="1400" dirty="0"/>
              <a:t>해당 </a:t>
            </a:r>
            <a:r>
              <a:rPr lang="en-US" altLang="ko-KR" sz="1400" dirty="0"/>
              <a:t>Use Case</a:t>
            </a:r>
            <a:r>
              <a:rPr lang="ko-KR" altLang="en-US" sz="1400" dirty="0"/>
              <a:t>가 수행될 때마다 </a:t>
            </a:r>
            <a:r>
              <a:rPr lang="en-US" altLang="ko-KR" sz="1400" dirty="0"/>
              <a:t>Login </a:t>
            </a:r>
            <a:r>
              <a:rPr lang="ko-KR" altLang="en-US" sz="1400" dirty="0"/>
              <a:t>여부 검증을 하고 </a:t>
            </a:r>
            <a:br>
              <a:rPr lang="en-US" altLang="ko-KR" sz="1400" dirty="0"/>
            </a:br>
            <a:r>
              <a:rPr lang="ko-KR" altLang="en-US" sz="1400" dirty="0"/>
              <a:t>이로 인한 </a:t>
            </a:r>
            <a:r>
              <a:rPr lang="en-US" altLang="ko-KR" sz="1400" dirty="0"/>
              <a:t>Flow</a:t>
            </a:r>
            <a:r>
              <a:rPr lang="ko-KR" altLang="en-US" sz="1400" dirty="0"/>
              <a:t>의 분기가 일어날 수도 있다는 의미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작성하기</a:t>
            </a:r>
          </a:p>
        </p:txBody>
      </p:sp>
    </p:spTree>
    <p:extLst>
      <p:ext uri="{BB962C8B-B14F-4D97-AF65-F5344CB8AC3E}">
        <p14:creationId xmlns:p14="http://schemas.microsoft.com/office/powerpoint/2010/main" val="1662060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59738"/>
            <a:ext cx="8568952" cy="3751262"/>
          </a:xfrm>
        </p:spPr>
        <p:txBody>
          <a:bodyPr>
            <a:normAutofit/>
          </a:bodyPr>
          <a:lstStyle/>
          <a:p>
            <a:r>
              <a:rPr lang="ko-KR" altLang="en-US" sz="1550" b="1" dirty="0"/>
              <a:t>첨부된 초기 요구사항 명세서와 </a:t>
            </a:r>
            <a:r>
              <a:rPr lang="en-US" altLang="ko-KR" sz="1550" b="1" dirty="0"/>
              <a:t>Use Case Diagram, UI(User Interface) </a:t>
            </a:r>
            <a:r>
              <a:rPr lang="ko-KR" altLang="en-US" sz="1550" b="1" dirty="0"/>
              <a:t>등에 부합하는 </a:t>
            </a:r>
            <a:br>
              <a:rPr lang="en-US" altLang="ko-KR" sz="1550" b="1" dirty="0"/>
            </a:br>
            <a:r>
              <a:rPr lang="en-US" altLang="ko-KR" sz="1550" b="1" dirty="0"/>
              <a:t>Use Case Specification</a:t>
            </a:r>
            <a:r>
              <a:rPr lang="ko-KR" altLang="en-US" sz="1550" b="1" dirty="0"/>
              <a:t>을 </a:t>
            </a:r>
            <a:r>
              <a:rPr lang="ko-KR" altLang="en-US" sz="1550" b="1" dirty="0" err="1"/>
              <a:t>팀별로</a:t>
            </a:r>
            <a:r>
              <a:rPr lang="ko-KR" altLang="en-US" sz="1550" b="1" dirty="0"/>
              <a:t> 주어진 </a:t>
            </a:r>
            <a:r>
              <a:rPr lang="en-US" altLang="ko-KR" sz="1550" b="1" dirty="0"/>
              <a:t>Template Word </a:t>
            </a:r>
            <a:r>
              <a:rPr lang="ko-KR" altLang="en-US" sz="1550" b="1" dirty="0"/>
              <a:t>파일에 작성하여 제출하세요</a:t>
            </a:r>
            <a:r>
              <a:rPr lang="en-US" altLang="ko-KR" sz="1550" b="1" dirty="0"/>
              <a:t>.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/>
              <a:t> 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>
                <a:solidFill>
                  <a:srgbClr val="4156BD"/>
                </a:solidFill>
              </a:rPr>
              <a:t>   - </a:t>
            </a:r>
            <a:r>
              <a:rPr lang="ko-KR" altLang="en-US" dirty="0">
                <a:solidFill>
                  <a:srgbClr val="4156BD"/>
                </a:solidFill>
              </a:rPr>
              <a:t>초기 요구사항 명세서</a:t>
            </a:r>
            <a:endParaRPr lang="en-US" altLang="ko-KR" dirty="0">
              <a:solidFill>
                <a:srgbClr val="4156BD"/>
              </a:solidFill>
            </a:endParaRP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>
                <a:solidFill>
                  <a:srgbClr val="4156BD"/>
                </a:solidFill>
              </a:rPr>
              <a:t> 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>
                <a:solidFill>
                  <a:srgbClr val="4156BD"/>
                </a:solidFill>
              </a:rPr>
              <a:t>   - </a:t>
            </a:r>
            <a:r>
              <a:rPr lang="en-US" altLang="ko-KR" dirty="0" err="1">
                <a:solidFill>
                  <a:srgbClr val="4156BD"/>
                </a:solidFill>
              </a:rPr>
              <a:t>ex1_Use</a:t>
            </a:r>
            <a:r>
              <a:rPr lang="en-US" altLang="ko-KR" dirty="0">
                <a:solidFill>
                  <a:srgbClr val="4156BD"/>
                </a:solidFill>
              </a:rPr>
              <a:t> Case Specification (Problem).</a:t>
            </a:r>
            <a:r>
              <a:rPr lang="en-US" altLang="ko-KR" dirty="0" err="1">
                <a:solidFill>
                  <a:srgbClr val="4156BD"/>
                </a:solidFill>
              </a:rPr>
              <a:t>docx</a:t>
            </a:r>
            <a:endParaRPr lang="en-US" altLang="ko-KR" dirty="0">
              <a:solidFill>
                <a:srgbClr val="4156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244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52118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b="1" dirty="0"/>
              <a:t>Solution</a:t>
            </a:r>
            <a:r>
              <a:rPr lang="ko-KR" altLang="en-US" b="1" dirty="0"/>
              <a:t> 설명</a:t>
            </a:r>
            <a:endParaRPr lang="en-US" altLang="ko-KR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77159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2935248" y="21491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53"/>
            <a:r>
              <a:rPr lang="en-US" altLang="ko-KR" sz="3200" spc="-15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Day 2</a:t>
            </a:r>
            <a:endParaRPr lang="ko-KR" altLang="en-US" sz="32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27192"/>
              </p:ext>
            </p:extLst>
          </p:nvPr>
        </p:nvGraphicFramePr>
        <p:xfrm>
          <a:off x="3057169" y="1196971"/>
          <a:ext cx="5616624" cy="3691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70815">
                  <a:extLst>
                    <a:ext uri="{9D8B030D-6E8A-4147-A177-3AD203B41FA5}">
                      <a16:colId xmlns:a16="http://schemas.microsoft.com/office/drawing/2014/main" val="1963863140"/>
                    </a:ext>
                  </a:extLst>
                </a:gridCol>
                <a:gridCol w="4245809">
                  <a:extLst>
                    <a:ext uri="{9D8B030D-6E8A-4147-A177-3AD203B41FA5}">
                      <a16:colId xmlns:a16="http://schemas.microsoft.com/office/drawing/2014/main" val="587444477"/>
                    </a:ext>
                  </a:extLst>
                </a:gridCol>
              </a:tblGrid>
              <a:tr h="3705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시간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2"/>
                          </a:solidFill>
                        </a:rPr>
                        <a:t>강의 </a:t>
                      </a:r>
                      <a:r>
                        <a:rPr lang="en-US" altLang="ko-KR" sz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07435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08:40</a:t>
                      </a:r>
                      <a:r>
                        <a:rPr lang="en-US" altLang="ko-KR" sz="1100" baseline="0" dirty="0"/>
                        <a:t> ~ 09:20</a:t>
                      </a:r>
                      <a:endParaRPr lang="ko-KR" altLang="en-US" sz="1100" dirty="0"/>
                    </a:p>
                  </a:txBody>
                  <a:tcP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Ex.1 </a:t>
                      </a:r>
                      <a:r>
                        <a:rPr lang="ko-KR" altLang="en-US" sz="1100" b="0" dirty="0">
                          <a:solidFill>
                            <a:schemeClr val="accent6"/>
                          </a:solidFill>
                        </a:rPr>
                        <a:t>조별 실습 </a:t>
                      </a: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Review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 min</a:t>
                      </a:r>
                      <a:endParaRPr lang="ko-KR" altLang="en-US" sz="1100" dirty="0"/>
                    </a:p>
                  </a:txBody>
                  <a:tcP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9833205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09:20</a:t>
                      </a:r>
                      <a:r>
                        <a:rPr lang="en-US" altLang="ko-KR" sz="1100" baseline="0" dirty="0"/>
                        <a:t> ~ 10:10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Ex 2. Use Case Restructuring </a:t>
                      </a:r>
                      <a:r>
                        <a:rPr lang="ko-KR" altLang="en-US" sz="1100" b="0" dirty="0">
                          <a:solidFill>
                            <a:schemeClr val="accent6"/>
                          </a:solidFill>
                        </a:rPr>
                        <a:t>실습 및 답안 설명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65503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10:10 ~ 12:00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/>
                        <a:t>6. Requirements Analysis : QAS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316179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aseline="0" dirty="0"/>
                        <a:t>12:00 ~ 13:00</a:t>
                      </a:r>
                      <a:endParaRPr lang="ko-KR" altLang="en-US" sz="1100" b="1" dirty="0">
                        <a:solidFill>
                          <a:srgbClr val="4156B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중식</a:t>
                      </a:r>
                      <a:endParaRPr lang="ko-KR" altLang="en-US" sz="1100" b="1" kern="1200" dirty="0">
                        <a:solidFill>
                          <a:srgbClr val="4156B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352129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13:00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~ 13:40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6 Summary / QAW Agenda/QA </a:t>
                      </a:r>
                      <a:r>
                        <a:rPr lang="ko-KR" altLang="en-US" sz="1100" b="0" dirty="0">
                          <a:solidFill>
                            <a:schemeClr val="accent6"/>
                          </a:solidFill>
                        </a:rPr>
                        <a:t>의미 설명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912090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13:40 ~ 14:40</a:t>
                      </a:r>
                      <a:endParaRPr lang="ko-KR" altLang="en-US" sz="1100" dirty="0">
                        <a:solidFill>
                          <a:srgbClr val="4156B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Ex 3. QAW</a:t>
                      </a:r>
                      <a:r>
                        <a:rPr lang="ko-KR" altLang="en-US" sz="1100" b="0" dirty="0">
                          <a:solidFill>
                            <a:schemeClr val="accent6"/>
                          </a:solidFill>
                        </a:rPr>
                        <a:t>조별 실습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5086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14:50</a:t>
                      </a:r>
                      <a:r>
                        <a:rPr lang="en-US" altLang="ko-KR" sz="1100" baseline="0" dirty="0"/>
                        <a:t> ~ 17:00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7. Requirements Specification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 min</a:t>
                      </a:r>
                      <a:r>
                        <a:rPr lang="en-US" altLang="ko-KR" sz="1100" b="0" dirty="0"/>
                        <a:t> 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08465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8. Requirements Validation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17070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9. Requirements Management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304201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10. Class Wrap-up</a:t>
                      </a: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09482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17:00 ~ 17:20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7~10 Summary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 min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36557"/>
                  </a:ext>
                </a:extLst>
              </a:tr>
              <a:tr h="263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/>
                        <a:t>17:20 ~ 17:40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Ex 3. QAW</a:t>
                      </a:r>
                      <a:r>
                        <a:rPr lang="ko-KR" altLang="en-US" sz="1100" b="0" dirty="0">
                          <a:solidFill>
                            <a:schemeClr val="accent6"/>
                          </a:solidFill>
                        </a:rPr>
                        <a:t>조별 실습 </a:t>
                      </a:r>
                      <a:r>
                        <a:rPr lang="en-US" altLang="ko-KR" sz="1100" b="0" dirty="0">
                          <a:solidFill>
                            <a:schemeClr val="accent6"/>
                          </a:solidFill>
                        </a:rPr>
                        <a:t>Review </a:t>
                      </a:r>
                      <a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 min</a:t>
                      </a:r>
                      <a:endParaRPr lang="ko-KR" altLang="en-US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0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700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조별 결과 리뷰</a:t>
            </a:r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4111302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공통 사항</a:t>
            </a:r>
            <a:endParaRPr lang="en-US" altLang="ko-KR" sz="1400" b="1" dirty="0"/>
          </a:p>
          <a:p>
            <a:pPr marL="91463" indent="0">
              <a:buNone/>
            </a:pPr>
            <a:r>
              <a:rPr lang="en-US" altLang="ko-KR" sz="1400" b="1" dirty="0"/>
              <a:t>   1. Use Case</a:t>
            </a:r>
            <a:r>
              <a:rPr lang="ko-KR" altLang="en-US" sz="1400" b="1" dirty="0"/>
              <a:t>를 만드는 목적은</a:t>
            </a:r>
            <a:r>
              <a:rPr lang="en-US" altLang="ko-KR" sz="1400" b="1" dirty="0"/>
              <a:t>?</a:t>
            </a:r>
          </a:p>
          <a:p>
            <a:pPr marL="704238" lvl="1" indent="-342900">
              <a:buAutoNum type="arabicParenR"/>
            </a:pPr>
            <a:r>
              <a:rPr lang="ko-KR" altLang="en-US" sz="1200" dirty="0"/>
              <a:t>요구사항 </a:t>
            </a:r>
            <a:r>
              <a:rPr lang="ko-KR" altLang="en-US" sz="1200" dirty="0" err="1"/>
              <a:t>명세화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시스템 행위에 대한 모델링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테스트 케이스 도출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 err="1"/>
              <a:t>추적성</a:t>
            </a:r>
            <a:r>
              <a:rPr lang="ko-KR" altLang="en-US" sz="1200" dirty="0"/>
              <a:t> 변경 및 관리</a:t>
            </a:r>
            <a:endParaRPr lang="en-US" altLang="ko-KR" sz="1200" dirty="0"/>
          </a:p>
          <a:p>
            <a:pPr marL="91463" indent="0">
              <a:buNone/>
            </a:pPr>
            <a:endParaRPr lang="en-US" altLang="ko-KR" sz="1200" dirty="0"/>
          </a:p>
          <a:p>
            <a:pPr marL="91463" indent="0">
              <a:buNone/>
            </a:pPr>
            <a:r>
              <a:rPr lang="en-US" altLang="ko-KR" sz="1400" b="1" dirty="0"/>
              <a:t>   2. Use Case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specification</a:t>
            </a:r>
            <a:r>
              <a:rPr lang="ko-KR" altLang="en-US" sz="1400" b="1" dirty="0"/>
              <a:t>의 </a:t>
            </a:r>
            <a:r>
              <a:rPr lang="en-US" altLang="ko-KR" sz="1400" b="1" dirty="0"/>
              <a:t>flow</a:t>
            </a:r>
            <a:r>
              <a:rPr lang="ko-KR" altLang="en-US" sz="1400" b="1" dirty="0"/>
              <a:t>는 얼마나 자세히 작성해야 하나</a:t>
            </a:r>
            <a:r>
              <a:rPr lang="en-US" altLang="ko-KR" sz="1400" b="1" dirty="0"/>
              <a:t>?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 sz="1100" dirty="0"/>
              <a:t>  프로젝트의 특성과 요구사항에 따라 다르다</a:t>
            </a:r>
            <a:r>
              <a:rPr lang="en-US" altLang="ko-KR" sz="1100" dirty="0"/>
              <a:t>. </a:t>
            </a:r>
            <a:r>
              <a:rPr lang="ko-KR" altLang="en-US" sz="1100" dirty="0"/>
              <a:t>하지만 일반적으로 개발자가 이해하고 구현할 수 있는 수준을 이야기한다</a:t>
            </a:r>
            <a:r>
              <a:rPr lang="en-US" altLang="ko-KR" sz="1100" dirty="0"/>
              <a:t>.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 sz="1100" dirty="0"/>
              <a:t>  BF</a:t>
            </a:r>
            <a:r>
              <a:rPr lang="ko-KR" altLang="en-US" sz="1100" dirty="0"/>
              <a:t> </a:t>
            </a: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/>
              <a:t> </a:t>
            </a:r>
            <a:r>
              <a:rPr lang="ko-KR" altLang="en-US" sz="1100" dirty="0"/>
              <a:t>넘버링 그리고 각 단계의 타이틀을 명시하면 좋다</a:t>
            </a:r>
            <a:r>
              <a:rPr lang="en-US" altLang="ko-KR" sz="1100" dirty="0"/>
              <a:t>. 1~3 </a:t>
            </a:r>
            <a:r>
              <a:rPr lang="ko-KR" altLang="en-US" sz="1100" dirty="0"/>
              <a:t>문장 정도가 적당하다</a:t>
            </a:r>
            <a:r>
              <a:rPr lang="en-US" altLang="ko-KR" sz="1100" dirty="0"/>
              <a:t>.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 sz="1100" dirty="0"/>
              <a:t>  AF:  </a:t>
            </a:r>
            <a:r>
              <a:rPr lang="ko-KR" altLang="en-US" sz="1100" dirty="0"/>
              <a:t>분기점과 </a:t>
            </a:r>
            <a:r>
              <a:rPr lang="ko-KR" altLang="en-US" sz="1100" dirty="0" err="1"/>
              <a:t>회기점이</a:t>
            </a:r>
            <a:r>
              <a:rPr lang="ko-KR" altLang="en-US" sz="1100" dirty="0"/>
              <a:t> 명시되어야 한다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조건절이</a:t>
            </a:r>
            <a:r>
              <a:rPr lang="ko-KR" altLang="en-US" sz="1100" dirty="0"/>
              <a:t> 작성되어야 한다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조건절</a:t>
            </a:r>
            <a:r>
              <a:rPr lang="ko-KR" altLang="en-US" sz="1100" dirty="0"/>
              <a:t> 이후의 액션이 명시되어야 한다</a:t>
            </a:r>
            <a:r>
              <a:rPr lang="en-US" altLang="ko-KR" sz="1100" dirty="0"/>
              <a:t>.</a:t>
            </a:r>
            <a:endParaRPr lang="en-US" altLang="ko-KR" sz="1600" dirty="0"/>
          </a:p>
          <a:p>
            <a:pPr marL="91463" indent="0">
              <a:buNone/>
            </a:pP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433457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조별 결과 리뷰</a:t>
            </a:r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751262"/>
          </a:xfrm>
        </p:spPr>
        <p:txBody>
          <a:bodyPr>
            <a:normAutofit/>
          </a:bodyPr>
          <a:lstStyle/>
          <a:p>
            <a:r>
              <a:rPr lang="ko-KR" altLang="en-US" sz="1400" dirty="0"/>
              <a:t>초기 요구사항 명세서에 적힌 내용은 모두 포함되어야 합니다</a:t>
            </a:r>
            <a:endParaRPr lang="en-US" altLang="ko-KR" sz="1400" dirty="0"/>
          </a:p>
          <a:p>
            <a:pPr marL="361338" lvl="1" indent="0">
              <a:buNone/>
            </a:pPr>
            <a:br>
              <a:rPr lang="en-US" altLang="ko-KR" sz="1200" dirty="0"/>
            </a:br>
            <a:r>
              <a:rPr lang="ko-KR" altLang="en-US" b="1" dirty="0"/>
              <a:t>음료수 구입</a:t>
            </a:r>
            <a:endParaRPr lang="en-US" altLang="ko-KR" b="1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동전의 무게와 크기에 따라 어떤 동전인지 판단하여 금액을 계산하고 </a:t>
            </a:r>
            <a:r>
              <a:rPr lang="ko-KR" altLang="en-US" sz="1200" dirty="0" err="1"/>
              <a:t>투입금액을</a:t>
            </a:r>
            <a:r>
              <a:rPr lang="ko-KR" altLang="en-US" sz="1200" dirty="0"/>
              <a:t> 액정에 표시하는 기능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투입된 금액과 비교하여 구입 가능한 음료수의 음료 구입 버튼 표시등을 켜는 기능</a:t>
            </a:r>
            <a:r>
              <a:rPr lang="en-US" altLang="ko-KR" sz="1200" dirty="0"/>
              <a:t>. 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음료수를 </a:t>
            </a:r>
            <a:r>
              <a:rPr lang="ko-KR" altLang="en-US" sz="1200" dirty="0" err="1"/>
              <a:t>사출구로</a:t>
            </a:r>
            <a:r>
              <a:rPr lang="ko-KR" altLang="en-US" sz="1200" dirty="0"/>
              <a:t> 이동 시키는 기능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판매량</a:t>
            </a:r>
            <a:r>
              <a:rPr lang="en-US" altLang="ko-KR" sz="1200" dirty="0"/>
              <a:t>, </a:t>
            </a:r>
            <a:r>
              <a:rPr lang="ko-KR" altLang="en-US" sz="1200" dirty="0"/>
              <a:t>재고량을 감소시키는 기능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매진 표시등을 켜는 기능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거스름돈 회수 요청 타이밍에 따른 처리 </a:t>
            </a:r>
            <a:endParaRPr lang="en-US" altLang="ko-KR" sz="1200" dirty="0"/>
          </a:p>
          <a:p>
            <a:pPr marL="704238" lvl="1" indent="-342900">
              <a:buAutoNum type="arabicParenR"/>
            </a:pPr>
            <a:r>
              <a:rPr lang="ko-KR" altLang="en-US" sz="1200" dirty="0"/>
              <a:t>잔액을 배출 하는 기능</a:t>
            </a:r>
            <a:endParaRPr lang="en-US" altLang="ko-KR" sz="1200" dirty="0"/>
          </a:p>
          <a:p>
            <a:pPr marL="434363" indent="-342900">
              <a:buAutoNum type="arabicParenR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428805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조별 결과 리뷰</a:t>
            </a:r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751262"/>
          </a:xfrm>
        </p:spPr>
        <p:txBody>
          <a:bodyPr>
            <a:normAutofit/>
          </a:bodyPr>
          <a:lstStyle/>
          <a:p>
            <a:r>
              <a:rPr lang="ko-KR" altLang="en-US" sz="1400" dirty="0"/>
              <a:t>초기 요구사항 명세서에 적힌 내용은 모두 포함되어야 합니다</a:t>
            </a:r>
            <a:endParaRPr lang="en-US" altLang="ko-KR" sz="1400" dirty="0"/>
          </a:p>
          <a:p>
            <a:pPr marL="361338" lvl="1" indent="0">
              <a:buNone/>
            </a:pPr>
            <a:br>
              <a:rPr lang="en-US" altLang="ko-KR" sz="1200" dirty="0"/>
            </a:br>
            <a:r>
              <a:rPr lang="ko-KR" altLang="en-US" b="1" dirty="0"/>
              <a:t>자판기 관리</a:t>
            </a:r>
            <a:endParaRPr lang="en-US" altLang="ko-KR" b="1" dirty="0"/>
          </a:p>
          <a:p>
            <a:pPr marL="704238" lvl="1" indent="-342900">
              <a:buAutoNum type="arabicParenR"/>
            </a:pPr>
            <a:r>
              <a:rPr lang="ko-KR" altLang="en-US" sz="1200" dirty="0" err="1"/>
              <a:t>관리모드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운영모드</a:t>
            </a:r>
            <a:r>
              <a:rPr lang="ko-KR" altLang="en-US" sz="1200" dirty="0"/>
              <a:t> 기능</a:t>
            </a:r>
            <a:r>
              <a:rPr lang="en-US" altLang="ko-KR" sz="1200" dirty="0"/>
              <a:t>(</a:t>
            </a:r>
            <a:r>
              <a:rPr lang="ko-KR" altLang="en-US" sz="1200" dirty="0"/>
              <a:t>차이에 대한 언급 필요</a:t>
            </a:r>
            <a:r>
              <a:rPr lang="en-US" altLang="ko-KR" sz="1200" dirty="0"/>
              <a:t>)</a:t>
            </a:r>
          </a:p>
          <a:p>
            <a:pPr marL="704238" lvl="1" indent="-342900">
              <a:buFont typeface="Arial" panose="020B0604020202020204" pitchFamily="34" charset="0"/>
              <a:buAutoNum type="arabicParenR"/>
            </a:pPr>
            <a:r>
              <a:rPr lang="ko-KR" altLang="en-US" sz="1200" dirty="0"/>
              <a:t>음료수 가격을 바꾸는 것 </a:t>
            </a:r>
            <a:r>
              <a:rPr lang="en-US" altLang="ko-KR" sz="1200" dirty="0"/>
              <a:t>, </a:t>
            </a:r>
            <a:r>
              <a:rPr lang="ko-KR" altLang="en-US" sz="1200" dirty="0"/>
              <a:t>거래 보고서를 프린트 하는 것이 항상 동시에 일어나지는 않는다 </a:t>
            </a:r>
            <a:r>
              <a:rPr lang="en-US" altLang="ko-KR" sz="1200" dirty="0"/>
              <a:t>. (Optional)</a:t>
            </a:r>
            <a:endParaRPr lang="en-US" altLang="ko-KR" sz="2000" dirty="0"/>
          </a:p>
          <a:p>
            <a:pPr marL="704238" lvl="1" indent="-342900">
              <a:buFont typeface="Arial" panose="020B0604020202020204" pitchFamily="34" charset="0"/>
              <a:buAutoNum type="arabicParenR"/>
            </a:pPr>
            <a:r>
              <a:rPr lang="ko-KR" altLang="en-US" sz="1200" dirty="0"/>
              <a:t>관리 모드 </a:t>
            </a:r>
            <a:r>
              <a:rPr lang="en-US" altLang="ko-KR" sz="1200" dirty="0"/>
              <a:t>/ </a:t>
            </a:r>
            <a:r>
              <a:rPr lang="ko-KR" altLang="en-US" sz="1200" dirty="0"/>
              <a:t>운영 모드 간 변경 기능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82424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1: Use Case Specification </a:t>
            </a:r>
            <a:r>
              <a:rPr lang="ko-KR" altLang="en-US" dirty="0"/>
              <a:t>조별 결과 리뷰</a:t>
            </a:r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751262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각 조 제출 결과 리뷰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793024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547664" y="2231142"/>
            <a:ext cx="6014991" cy="2594307"/>
            <a:chOff x="884380" y="2711265"/>
            <a:chExt cx="7446667" cy="3211799"/>
          </a:xfrm>
        </p:grpSpPr>
        <p:grpSp>
          <p:nvGrpSpPr>
            <p:cNvPr id="5" name="그룹 4"/>
            <p:cNvGrpSpPr/>
            <p:nvPr/>
          </p:nvGrpSpPr>
          <p:grpSpPr>
            <a:xfrm>
              <a:off x="1086002" y="2720088"/>
              <a:ext cx="1506015" cy="893560"/>
              <a:chOff x="1086002" y="2720088"/>
              <a:chExt cx="1506015" cy="893560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50E0514-EC38-64CF-129F-009A1B11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72412" y="2720088"/>
                <a:ext cx="460851" cy="576064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191527-E195-2E9C-CB3E-0F618416DFFC}"/>
                  </a:ext>
                </a:extLst>
              </p:cNvPr>
              <p:cNvSpPr txBox="1"/>
              <p:nvPr/>
            </p:nvSpPr>
            <p:spPr>
              <a:xfrm flipH="1">
                <a:off x="1086002" y="3296152"/>
                <a:ext cx="662474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고객</a:t>
                </a:r>
                <a:endParaRPr lang="en-US" sz="1100" spc="-150"/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D0B2A012-DB8A-C7AC-7884-9BB8875A8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52195" y="2720088"/>
                <a:ext cx="460851" cy="576064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C140FF-B894-66FB-18A2-CFD230370001}"/>
                  </a:ext>
                </a:extLst>
              </p:cNvPr>
              <p:cNvSpPr txBox="1"/>
              <p:nvPr/>
            </p:nvSpPr>
            <p:spPr>
              <a:xfrm flipH="1">
                <a:off x="1773223" y="3296152"/>
                <a:ext cx="818794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관리자</a:t>
                </a:r>
                <a:endParaRPr lang="en-US" sz="1100" spc="-150"/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3001009" y="2711265"/>
              <a:ext cx="1440160" cy="918711"/>
              <a:chOff x="3001009" y="2711265"/>
              <a:chExt cx="1440160" cy="918711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A01FEDFA-FA34-CD06-69D4-F7A638861F72}"/>
                  </a:ext>
                </a:extLst>
              </p:cNvPr>
              <p:cNvSpPr/>
              <p:nvPr/>
            </p:nvSpPr>
            <p:spPr>
              <a:xfrm>
                <a:off x="3001009" y="2711265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C3D26D9-5E6D-85F0-ED6A-C4BAA0781846}"/>
                  </a:ext>
                </a:extLst>
              </p:cNvPr>
              <p:cNvSpPr txBox="1"/>
              <p:nvPr/>
            </p:nvSpPr>
            <p:spPr>
              <a:xfrm flipH="1">
                <a:off x="3001009" y="3312480"/>
                <a:ext cx="1440160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음료수 구입</a:t>
                </a:r>
                <a:endParaRPr lang="en-US" sz="1100" spc="-150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4659474" y="2711265"/>
              <a:ext cx="1772868" cy="918711"/>
              <a:chOff x="4659474" y="2711265"/>
              <a:chExt cx="1772868" cy="918711"/>
            </a:xfrm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6B2F4FDF-C804-2799-1B90-2E30F448FBE8}"/>
                  </a:ext>
                </a:extLst>
              </p:cNvPr>
              <p:cNvSpPr/>
              <p:nvPr/>
            </p:nvSpPr>
            <p:spPr>
              <a:xfrm>
                <a:off x="4825828" y="2711265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D4C1F8-B509-379D-2DA3-14C4A79B8E6D}"/>
                  </a:ext>
                </a:extLst>
              </p:cNvPr>
              <p:cNvSpPr txBox="1"/>
              <p:nvPr/>
            </p:nvSpPr>
            <p:spPr>
              <a:xfrm flipH="1">
                <a:off x="4659474" y="3312480"/>
                <a:ext cx="1772868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음료수 가격수정</a:t>
                </a:r>
                <a:endParaRPr lang="en-US" sz="1100" spc="-150"/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6512768" y="2711265"/>
              <a:ext cx="1772868" cy="918711"/>
              <a:chOff x="6512768" y="2711265"/>
              <a:chExt cx="1772868" cy="918711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A4931E97-EEE1-A415-B2E1-0284AD16683E}"/>
                  </a:ext>
                </a:extLst>
              </p:cNvPr>
              <p:cNvSpPr/>
              <p:nvPr/>
            </p:nvSpPr>
            <p:spPr>
              <a:xfrm>
                <a:off x="6679122" y="2711265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87E5B-34A5-E62C-7913-A0E4D0051589}"/>
                  </a:ext>
                </a:extLst>
              </p:cNvPr>
              <p:cNvSpPr txBox="1"/>
              <p:nvPr/>
            </p:nvSpPr>
            <p:spPr>
              <a:xfrm flipH="1">
                <a:off x="6512768" y="3312480"/>
                <a:ext cx="1772868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spc="-150"/>
                  <a:t>1</a:t>
                </a:r>
                <a:r>
                  <a:rPr lang="ko-KR" altLang="en-US" sz="1100" spc="-150"/>
                  <a:t>일 거래량 출력</a:t>
                </a:r>
                <a:endParaRPr lang="en-US" sz="1100" spc="-150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884380" y="3779710"/>
              <a:ext cx="1671616" cy="1124150"/>
              <a:chOff x="884380" y="3779710"/>
              <a:chExt cx="1671616" cy="1124150"/>
            </a:xfrm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7875D182-671B-F828-653B-D938F4BA4970}"/>
                  </a:ext>
                </a:extLst>
              </p:cNvPr>
              <p:cNvSpPr/>
              <p:nvPr/>
            </p:nvSpPr>
            <p:spPr>
              <a:xfrm>
                <a:off x="1000108" y="3779710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5754AD-BFFD-A23F-1AA0-9EB29E349984}"/>
                  </a:ext>
                </a:extLst>
              </p:cNvPr>
              <p:cNvSpPr txBox="1"/>
              <p:nvPr/>
            </p:nvSpPr>
            <p:spPr>
              <a:xfrm flipH="1">
                <a:off x="884380" y="4380925"/>
                <a:ext cx="1671616" cy="52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거스름돈 없을 경우 처리</a:t>
                </a:r>
                <a:endParaRPr lang="en-US" sz="1100" spc="-150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2789245" y="3796039"/>
              <a:ext cx="1863689" cy="1124150"/>
              <a:chOff x="2789245" y="3796039"/>
              <a:chExt cx="1863689" cy="1124150"/>
            </a:xfrm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53517E65-209D-F6BB-87C2-B708B9E2B045}"/>
                  </a:ext>
                </a:extLst>
              </p:cNvPr>
              <p:cNvSpPr/>
              <p:nvPr/>
            </p:nvSpPr>
            <p:spPr>
              <a:xfrm>
                <a:off x="3001009" y="3796039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C49FCB-440D-4CEA-3F7D-291D711BB7AA}"/>
                  </a:ext>
                </a:extLst>
              </p:cNvPr>
              <p:cNvSpPr txBox="1"/>
              <p:nvPr/>
            </p:nvSpPr>
            <p:spPr>
              <a:xfrm flipH="1">
                <a:off x="2789245" y="4397254"/>
                <a:ext cx="1863689" cy="52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 dirty="0"/>
                  <a:t>음료수 </a:t>
                </a:r>
                <a:r>
                  <a:rPr lang="ko-KR" altLang="en-US" sz="1100" spc="-150" dirty="0" err="1"/>
                  <a:t>재고부족시</a:t>
                </a:r>
                <a:endParaRPr lang="en-US" altLang="ko-KR" sz="1100" spc="-150" dirty="0"/>
              </a:p>
              <a:p>
                <a:pPr algn="ctr"/>
                <a:r>
                  <a:rPr lang="ko-KR" altLang="en-US" sz="1100" spc="-150" dirty="0"/>
                  <a:t> 처리</a:t>
                </a:r>
                <a:endParaRPr lang="en-US" sz="1100" spc="-150" dirty="0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4614064" y="3779710"/>
              <a:ext cx="1863689" cy="1134661"/>
              <a:chOff x="4614064" y="3779710"/>
              <a:chExt cx="1863689" cy="1134661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C322DAA-68EF-EABF-73A8-706BF753224B}"/>
                  </a:ext>
                </a:extLst>
              </p:cNvPr>
              <p:cNvSpPr/>
              <p:nvPr/>
            </p:nvSpPr>
            <p:spPr>
              <a:xfrm>
                <a:off x="4825828" y="3779710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C0444A-50E3-E8D6-E8B1-9CD8F0A198D2}"/>
                  </a:ext>
                </a:extLst>
              </p:cNvPr>
              <p:cNvSpPr txBox="1"/>
              <p:nvPr/>
            </p:nvSpPr>
            <p:spPr>
              <a:xfrm flipH="1">
                <a:off x="4614064" y="4380925"/>
                <a:ext cx="1863689" cy="533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 dirty="0"/>
                  <a:t>음료수 구매 </a:t>
                </a:r>
                <a:r>
                  <a:rPr lang="ko-KR" altLang="en-US" sz="1100" spc="-150" dirty="0" err="1"/>
                  <a:t>취소시</a:t>
                </a:r>
                <a:endParaRPr lang="en-US" altLang="ko-KR" sz="1100" spc="-150" dirty="0"/>
              </a:p>
              <a:p>
                <a:pPr algn="ctr"/>
                <a:r>
                  <a:rPr lang="ko-KR" altLang="en-US" sz="1100" spc="-150" dirty="0"/>
                  <a:t>처리</a:t>
                </a:r>
                <a:endParaRPr lang="en-US" sz="1100" spc="-150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6467358" y="3779710"/>
              <a:ext cx="1863689" cy="918711"/>
              <a:chOff x="6467358" y="3779710"/>
              <a:chExt cx="1863689" cy="918711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A41F55C4-381D-04F7-BB8F-E130D85F51D9}"/>
                  </a:ext>
                </a:extLst>
              </p:cNvPr>
              <p:cNvSpPr/>
              <p:nvPr/>
            </p:nvSpPr>
            <p:spPr>
              <a:xfrm>
                <a:off x="6679122" y="3779710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49283C-7EC2-1C73-AA7E-872B93116F8F}"/>
                  </a:ext>
                </a:extLst>
              </p:cNvPr>
              <p:cNvSpPr txBox="1"/>
              <p:nvPr/>
            </p:nvSpPr>
            <p:spPr>
              <a:xfrm flipH="1">
                <a:off x="6467358" y="4380925"/>
                <a:ext cx="1863689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투입금액 부족시 처리</a:t>
                </a:r>
                <a:endParaRPr lang="en-US" sz="1100" spc="-150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2789245" y="5004353"/>
              <a:ext cx="1863689" cy="918711"/>
              <a:chOff x="2789245" y="5004353"/>
              <a:chExt cx="1863689" cy="918711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F3B9572-C813-C7FD-AD6D-27EBD63FF8AA}"/>
                  </a:ext>
                </a:extLst>
              </p:cNvPr>
              <p:cNvSpPr/>
              <p:nvPr/>
            </p:nvSpPr>
            <p:spPr>
              <a:xfrm>
                <a:off x="3001009" y="5004353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101972-843D-59C3-3D3C-D1AA23D04CF6}"/>
                  </a:ext>
                </a:extLst>
              </p:cNvPr>
              <p:cNvSpPr txBox="1"/>
              <p:nvPr/>
            </p:nvSpPr>
            <p:spPr>
              <a:xfrm flipH="1">
                <a:off x="2789245" y="5605568"/>
                <a:ext cx="1863689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관리모드로 전환</a:t>
                </a:r>
                <a:endParaRPr lang="en-US" sz="1100" spc="-150"/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4614064" y="4988024"/>
              <a:ext cx="1863689" cy="918711"/>
              <a:chOff x="4614064" y="4988024"/>
              <a:chExt cx="1863689" cy="918711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07C5770A-F529-FF5E-C61C-68C761F87FCA}"/>
                  </a:ext>
                </a:extLst>
              </p:cNvPr>
              <p:cNvSpPr/>
              <p:nvPr/>
            </p:nvSpPr>
            <p:spPr>
              <a:xfrm>
                <a:off x="4825828" y="4988024"/>
                <a:ext cx="1440160" cy="57606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spc="-15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AC0AE0-7BFE-238B-BA9B-88B72FCCAC38}"/>
                  </a:ext>
                </a:extLst>
              </p:cNvPr>
              <p:cNvSpPr txBox="1"/>
              <p:nvPr/>
            </p:nvSpPr>
            <p:spPr>
              <a:xfrm flipH="1">
                <a:off x="4614064" y="5589239"/>
                <a:ext cx="1863689" cy="317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spc="-150"/>
                  <a:t>운영모드로 전환</a:t>
                </a:r>
                <a:endParaRPr lang="en-US" sz="1100" spc="-150"/>
              </a:p>
            </p:txBody>
          </p:sp>
        </p:grpSp>
      </p:grpSp>
      <p:sp>
        <p:nvSpPr>
          <p:cNvPr id="37" name="내용 개체 틀 2"/>
          <p:cNvSpPr>
            <a:spLocks noGrp="1"/>
          </p:cNvSpPr>
          <p:nvPr>
            <p:ph idx="1"/>
          </p:nvPr>
        </p:nvSpPr>
        <p:spPr>
          <a:xfrm>
            <a:off x="250672" y="772324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400" dirty="0" err="1"/>
              <a:t>Ex1</a:t>
            </a:r>
            <a:r>
              <a:rPr lang="ko-KR" altLang="en-US" sz="1400" dirty="0"/>
              <a:t>의 음료수 자판기 컨트롤러 예제에서 아래와 같이 </a:t>
            </a:r>
            <a:r>
              <a:rPr lang="en-US" altLang="ko-KR" sz="1400" dirty="0"/>
              <a:t>Actor</a:t>
            </a:r>
            <a:r>
              <a:rPr lang="ko-KR" altLang="en-US" sz="1400" dirty="0"/>
              <a:t>과 </a:t>
            </a:r>
            <a:r>
              <a:rPr lang="en-US" altLang="ko-KR" sz="1400" dirty="0"/>
              <a:t>Use Case</a:t>
            </a:r>
            <a:r>
              <a:rPr lang="ko-KR" altLang="en-US" sz="1400" dirty="0"/>
              <a:t>를 식별했다고 가정합니다</a:t>
            </a:r>
            <a:r>
              <a:rPr lang="en-US" altLang="ko-KR" sz="1400" dirty="0"/>
              <a:t>. </a:t>
            </a:r>
          </a:p>
          <a:p>
            <a:r>
              <a:rPr lang="ko-KR" altLang="en-US" sz="1400" u="sng" dirty="0"/>
              <a:t>식별된 </a:t>
            </a:r>
            <a:r>
              <a:rPr lang="en-US" altLang="ko-KR" sz="1400" u="sng" dirty="0"/>
              <a:t>Actor</a:t>
            </a:r>
            <a:r>
              <a:rPr lang="ko-KR" altLang="en-US" sz="1400" u="sng" dirty="0"/>
              <a:t>와 </a:t>
            </a:r>
            <a:r>
              <a:rPr lang="en-US" altLang="ko-KR" sz="1400" u="sng" dirty="0"/>
              <a:t>Use Case</a:t>
            </a:r>
            <a:r>
              <a:rPr lang="ko-KR" altLang="en-US" sz="1400" u="sng" dirty="0"/>
              <a:t>간의 관계</a:t>
            </a:r>
            <a:r>
              <a:rPr lang="en-US" altLang="ko-KR" sz="1400" u="sng" dirty="0"/>
              <a:t>(Include/Extend Relationship)</a:t>
            </a:r>
            <a:r>
              <a:rPr lang="ko-KR" altLang="en-US" sz="1400" u="sng" dirty="0"/>
              <a:t>를 적절히 설계</a:t>
            </a:r>
            <a:r>
              <a:rPr lang="ko-KR" altLang="en-US" sz="1400" dirty="0"/>
              <a:t>하여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en-US" altLang="ko-KR" sz="1400" dirty="0"/>
              <a:t>Exercise 1</a:t>
            </a:r>
            <a:r>
              <a:rPr lang="ko-KR" altLang="en-US" sz="1400" dirty="0"/>
              <a:t>의 초기 요구사항을 수용할 수 있는</a:t>
            </a:r>
            <a:r>
              <a:rPr lang="en-US" altLang="ko-KR" sz="1400" dirty="0"/>
              <a:t>Use Case Diagram</a:t>
            </a:r>
            <a:r>
              <a:rPr lang="ko-KR" altLang="en-US" sz="1400" dirty="0"/>
              <a:t>을 완성하세요</a:t>
            </a:r>
          </a:p>
          <a:p>
            <a:r>
              <a:rPr lang="ko-KR" altLang="en-US" sz="1400" dirty="0"/>
              <a:t>아래 제시된 </a:t>
            </a:r>
            <a:r>
              <a:rPr lang="en-US" altLang="ko-KR" sz="1400" dirty="0"/>
              <a:t>Use Case </a:t>
            </a:r>
            <a:r>
              <a:rPr lang="ko-KR" altLang="en-US" sz="1400" dirty="0"/>
              <a:t>외에 다른 </a:t>
            </a:r>
            <a:r>
              <a:rPr lang="en-US" altLang="ko-KR" sz="1400" dirty="0"/>
              <a:t>Use Case</a:t>
            </a:r>
            <a:r>
              <a:rPr lang="ko-KR" altLang="en-US" sz="1400" dirty="0"/>
              <a:t>는 없습니다</a:t>
            </a:r>
            <a:r>
              <a:rPr lang="en-US" altLang="ko-KR" sz="1400" dirty="0"/>
              <a:t>.</a:t>
            </a:r>
          </a:p>
        </p:txBody>
      </p:sp>
      <p:sp>
        <p:nvSpPr>
          <p:cNvPr id="38" name="제목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Ex2. Use Case Diagram </a:t>
            </a:r>
            <a:r>
              <a:rPr lang="ko-KR" altLang="en-US" dirty="0"/>
              <a:t>완성하기</a:t>
            </a:r>
          </a:p>
        </p:txBody>
      </p:sp>
    </p:spTree>
    <p:extLst>
      <p:ext uri="{BB962C8B-B14F-4D97-AF65-F5344CB8AC3E}">
        <p14:creationId xmlns:p14="http://schemas.microsoft.com/office/powerpoint/2010/main" val="556635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2. Use Case Restructuring</a:t>
            </a:r>
            <a:endParaRPr lang="ko-KR" altLang="en-US" dirty="0"/>
          </a:p>
        </p:txBody>
      </p:sp>
      <p:pic>
        <p:nvPicPr>
          <p:cNvPr id="5" name="그림 4" descr="C:\Users\s_hun.kim\AppData\Local\Microsoft\Windows\INetCache\Content.Word\use case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779662"/>
            <a:ext cx="2659827" cy="273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ko-KR" altLang="en-US" sz="1400" dirty="0"/>
              <a:t>음료수 자판기 시스템에 대해 적절한 </a:t>
            </a:r>
            <a:r>
              <a:rPr lang="en-US" altLang="ko-KR" sz="1400" dirty="0"/>
              <a:t>Use Case Diagram</a:t>
            </a:r>
            <a:r>
              <a:rPr lang="ko-KR" altLang="en-US" sz="1400" dirty="0"/>
              <a:t>은 아래의 </a:t>
            </a:r>
            <a:r>
              <a:rPr lang="en-US" altLang="ko-KR" sz="1400" dirty="0"/>
              <a:t>Diagram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 </a:t>
            </a:r>
            <a:br>
              <a:rPr lang="en-US" altLang="ko-KR" sz="1400" dirty="0"/>
            </a:br>
            <a:r>
              <a:rPr lang="ko-KR" altLang="en-US" sz="1400" dirty="0"/>
              <a:t>앞 슬라이드의 답안은 </a:t>
            </a:r>
            <a:r>
              <a:rPr lang="en-US" altLang="ko-KR" sz="1400" dirty="0"/>
              <a:t>Use Case Restructuring</a:t>
            </a:r>
            <a:r>
              <a:rPr lang="ko-KR" altLang="en-US" sz="1400" dirty="0"/>
              <a:t>을 위한 연습일 뿐입니다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3968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5" descr="include.jpg">
            <a:extLst>
              <a:ext uri="{FF2B5EF4-FFF2-40B4-BE49-F238E27FC236}">
                <a16:creationId xmlns:a16="http://schemas.microsoft.com/office/drawing/2014/main" id="{784DDB0C-1975-53E3-C0E8-68FB9045F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48" y="1692414"/>
            <a:ext cx="5508625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Include-Relationship</a:t>
            </a:r>
            <a:endParaRPr lang="ko-KR" altLang="en-US" dirty="0"/>
          </a:p>
        </p:txBody>
      </p:sp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550" dirty="0"/>
              <a:t>Factor out behavior from the base use case that is not necessary for the understanding of the primary purpose of the use case, only the result of it is important. </a:t>
            </a:r>
          </a:p>
          <a:p>
            <a:pPr>
              <a:lnSpc>
                <a:spcPct val="100000"/>
              </a:lnSpc>
            </a:pPr>
            <a:r>
              <a:rPr lang="en-US" altLang="ko-KR" sz="1550" dirty="0">
                <a:solidFill>
                  <a:srgbClr val="FF0000"/>
                </a:solidFill>
              </a:rPr>
              <a:t>Factor out behavior that is in common for two or more use cases.</a:t>
            </a:r>
          </a:p>
          <a:p>
            <a:endParaRPr lang="ko-KR" altLang="en-US" sz="1550" dirty="0"/>
          </a:p>
        </p:txBody>
      </p:sp>
    </p:spTree>
    <p:extLst>
      <p:ext uri="{BB962C8B-B14F-4D97-AF65-F5344CB8AC3E}">
        <p14:creationId xmlns:p14="http://schemas.microsoft.com/office/powerpoint/2010/main" val="3038374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Include-Relationship</a:t>
            </a:r>
            <a:endParaRPr lang="ko-KR" altLang="en-US" dirty="0"/>
          </a:p>
        </p:txBody>
      </p:sp>
      <p:pic>
        <p:nvPicPr>
          <p:cNvPr id="5" name="그림 6" descr="include2.jpg">
            <a:extLst>
              <a:ext uri="{FF2B5EF4-FFF2-40B4-BE49-F238E27FC236}">
                <a16:creationId xmlns:a16="http://schemas.microsoft.com/office/drawing/2014/main" id="{40146A31-4264-1CC4-6697-75EA758C0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860" y="1267986"/>
            <a:ext cx="4936676" cy="3340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550" dirty="0"/>
              <a:t>The include-relationship is </a:t>
            </a:r>
            <a:r>
              <a:rPr lang="en-US" altLang="ko-KR" sz="1550" dirty="0">
                <a:solidFill>
                  <a:srgbClr val="FF0000"/>
                </a:solidFill>
              </a:rPr>
              <a:t>not conditional.</a:t>
            </a:r>
          </a:p>
          <a:p>
            <a:endParaRPr lang="ko-KR" altLang="en-US" sz="1550" dirty="0"/>
          </a:p>
        </p:txBody>
      </p:sp>
    </p:spTree>
    <p:extLst>
      <p:ext uri="{BB962C8B-B14F-4D97-AF65-F5344CB8AC3E}">
        <p14:creationId xmlns:p14="http://schemas.microsoft.com/office/powerpoint/2010/main" val="496003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Include-Relationship 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EF5B02-902D-4B1D-92A7-54A4130C244B}"/>
              </a:ext>
            </a:extLst>
          </p:cNvPr>
          <p:cNvGrpSpPr/>
          <p:nvPr/>
        </p:nvGrpSpPr>
        <p:grpSpPr>
          <a:xfrm>
            <a:off x="214298" y="771678"/>
            <a:ext cx="3925654" cy="2382684"/>
            <a:chOff x="2499604" y="1864076"/>
            <a:chExt cx="3925654" cy="2382684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968FE3-44C4-4A74-86A3-B060EF48C2E8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499604" y="1864076"/>
              <a:ext cx="2504443" cy="23826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2"/>
              </a:solidFill>
              <a:miter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square" lIns="92075" tIns="182562" rIns="92075" bIns="182562" anchorCtr="1">
              <a:spAutoFit/>
            </a:bodyPr>
            <a:lstStyle>
              <a:lvl1pPr marL="53975" indent="-53975" latinLnBrk="1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Font typeface="Wingdings"/>
                <a:buChar char="l"/>
                <a:defRPr sz="2800">
                  <a:solidFill>
                    <a:schemeClr val="tx1"/>
                  </a:solidFill>
                  <a:latin typeface="맑은 고딕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D1DD5B"/>
                </a:buClr>
                <a:buFont typeface="Wingdings"/>
                <a:buChar char="§"/>
                <a:defRPr sz="2000">
                  <a:solidFill>
                    <a:schemeClr val="tx1"/>
                  </a:solidFill>
                  <a:latin typeface="맑은 고딕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lr>
                  <a:srgbClr val="4E005F"/>
                </a:buClr>
                <a:buFont typeface="Wingdings"/>
                <a:buChar char="ü"/>
                <a:defRPr sz="1600">
                  <a:solidFill>
                    <a:schemeClr val="tx1"/>
                  </a:solidFill>
                  <a:latin typeface="맑은 고딕"/>
                </a:defRPr>
              </a:lvl3pPr>
              <a:lvl4pPr marL="1600200" indent="-228600" latinLnBrk="1">
                <a:spcBef>
                  <a:spcPct val="20000"/>
                </a:spcBef>
                <a:buFont typeface="Arial"/>
                <a:buChar char="–"/>
                <a:defRPr sz="2000">
                  <a:solidFill>
                    <a:schemeClr val="tx1"/>
                  </a:solidFill>
                  <a:latin typeface="맑은 고딕"/>
                </a:defRPr>
              </a:lvl4pPr>
              <a:lvl5pPr marL="2057400" indent="-228600" latinLnBrk="1">
                <a:spcBef>
                  <a:spcPct val="20000"/>
                </a:spcBef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9pPr>
            </a:lstStyle>
            <a:p>
              <a:pPr lvl="0" latinLnBrk="0">
                <a:lnSpc>
                  <a:spcPct val="75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en-US" altLang="ko-KR" sz="1300" i="1" u="sng">
                  <a:latin typeface="Arial"/>
                  <a:ea typeface="굴림"/>
                </a:rPr>
                <a:t> </a:t>
              </a:r>
              <a:r>
                <a:rPr lang="en-US" altLang="ko-KR" sz="1500" u="sng">
                  <a:latin typeface="Arial"/>
                  <a:ea typeface="굴림"/>
                </a:rPr>
                <a:t> </a:t>
              </a:r>
              <a:r>
                <a:rPr lang="en-US" altLang="ko-KR" sz="1100" b="1" u="sng">
                  <a:latin typeface="Arial"/>
                  <a:ea typeface="굴림"/>
                </a:rPr>
                <a:t>&lt;Use-Case Name&gt;*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1. Brief Description*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2. Flow of Events*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     Basic Flow of Events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    Alternative Flows of Events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3. Special Requirements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4. Preconditions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5. Postconditions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chemeClr val="dk1"/>
                  </a:solidFill>
                  <a:latin typeface="Arial"/>
                  <a:ea typeface="굴림"/>
                </a:rPr>
                <a:t>6. Extension Points</a:t>
              </a:r>
              <a:endParaRPr lang="en-US" altLang="ko-KR" sz="1100" b="1">
                <a:solidFill>
                  <a:srgbClr val="FF0000"/>
                </a:solidFill>
                <a:latin typeface="Arial"/>
                <a:ea typeface="굴림"/>
              </a:endParaRP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7. Relationships*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8. Use-Case Diagrams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9. Other Diagrams/Enclosures</a:t>
              </a:r>
              <a:endParaRPr lang="en-US" altLang="ko-KR" sz="1100">
                <a:latin typeface="Arial"/>
                <a:ea typeface="굴림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971CF54-6A83-48ED-94ED-F2D42F713DFB}"/>
                </a:ext>
              </a:extLst>
            </p:cNvPr>
            <p:cNvSpPr/>
            <p:nvPr/>
          </p:nvSpPr>
          <p:spPr>
            <a:xfrm>
              <a:off x="5129114" y="2295996"/>
              <a:ext cx="1008112" cy="49587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sz="15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091670-0743-431C-9127-8E3B80AE980A}"/>
                </a:ext>
              </a:extLst>
            </p:cNvPr>
            <p:cNvSpPr txBox="1"/>
            <p:nvPr/>
          </p:nvSpPr>
          <p:spPr>
            <a:xfrm>
              <a:off x="4877594" y="2800052"/>
              <a:ext cx="1547663" cy="2614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100"/>
                <a:t>Including</a:t>
              </a:r>
              <a:r>
                <a:rPr lang="en-US" sz="1100"/>
                <a:t> UC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9CC87CE-CBC0-48FF-A4A9-077DE33E6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52" y="908719"/>
            <a:ext cx="4680520" cy="4234780"/>
          </a:xfrm>
          <a:ln>
            <a:solidFill>
              <a:schemeClr val="accent1"/>
            </a:solidFill>
            <a:prstDash val="dash"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rgbClr val="0000FF"/>
                </a:solidFill>
              </a:rPr>
              <a:t>&lt;</a:t>
            </a:r>
            <a:r>
              <a:rPr lang="en-US" altLang="ko-KR" sz="900" b="1" kern="800" spc="0">
                <a:solidFill>
                  <a:srgbClr val="0000FF"/>
                </a:solidFill>
              </a:rPr>
              <a:t>Transfer Funds</a:t>
            </a:r>
            <a:r>
              <a:rPr lang="ko-KR" altLang="en-US" sz="900" b="1" kern="800" spc="0">
                <a:solidFill>
                  <a:srgbClr val="0000FF"/>
                </a:solidFill>
              </a:rPr>
              <a:t>&gt;</a:t>
            </a:r>
            <a:endParaRPr lang="ko-KR" altLang="en-US" sz="900" b="1" kern="800" spc="0">
              <a:solidFill>
                <a:schemeClr val="tx1"/>
              </a:solidFill>
            </a:endParaRP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1. Brief Description : 기본적인 계좌 이체 기능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2. Flow of Events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Basic Flows : 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1. ...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rgbClr val="FF0000"/>
                </a:solidFill>
              </a:rPr>
              <a:t>   2. 시스템은 </a:t>
            </a:r>
            <a:r>
              <a:rPr lang="en-US" altLang="ko-KR" sz="900" b="1" kern="800" spc="0">
                <a:solidFill>
                  <a:srgbClr val="FF0000"/>
                </a:solidFill>
              </a:rPr>
              <a:t>‘Identify Customer’ Usecase</a:t>
            </a:r>
            <a:r>
              <a:rPr lang="ko-KR" altLang="en-US" sz="900" b="1" kern="800" spc="0">
                <a:solidFill>
                  <a:srgbClr val="FF0000"/>
                </a:solidFill>
              </a:rPr>
              <a:t>를 수행한다</a:t>
            </a:r>
            <a:r>
              <a:rPr lang="en-US" altLang="ko-KR" sz="900" b="1" kern="800" spc="0">
                <a:solidFill>
                  <a:srgbClr val="FF0000"/>
                </a:solidFill>
              </a:rPr>
              <a:t>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3. </a:t>
            </a:r>
            <a:r>
              <a:rPr lang="en-US" altLang="ko-KR" sz="900" b="1" kern="800" spc="0">
                <a:solidFill>
                  <a:schemeClr val="tx1"/>
                </a:solidFill>
              </a:rPr>
              <a:t>...</a:t>
            </a:r>
            <a:r>
              <a:rPr lang="ko-KR" altLang="en-US" sz="900" b="1" kern="800" spc="0">
                <a:solidFill>
                  <a:schemeClr val="tx1"/>
                </a:solidFill>
              </a:rPr>
              <a:t>     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4. ...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</a:t>
            </a:r>
            <a:r>
              <a:rPr lang="en-US" altLang="ko-KR" sz="900" b="1" kern="800" spc="0">
                <a:solidFill>
                  <a:schemeClr val="tx1"/>
                </a:solidFill>
              </a:rPr>
              <a:t>5</a:t>
            </a:r>
            <a:r>
              <a:rPr lang="ko-KR" altLang="en-US" sz="900" b="1" kern="800" spc="0">
                <a:solidFill>
                  <a:schemeClr val="tx1"/>
                </a:solidFill>
              </a:rPr>
              <a:t>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Alternative Flows :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A1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A2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endParaRPr lang="ko-KR" altLang="en-US" sz="900" b="1" kern="800" spc="0">
              <a:solidFill>
                <a:schemeClr val="tx1"/>
              </a:solidFill>
            </a:endParaRPr>
          </a:p>
        </p:txBody>
      </p:sp>
      <p:sp>
        <p:nvSpPr>
          <p:cNvPr id="12" name="자유형: 도형 6">
            <a:extLst>
              <a:ext uri="{FF2B5EF4-FFF2-40B4-BE49-F238E27FC236}">
                <a16:creationId xmlns:a16="http://schemas.microsoft.com/office/drawing/2014/main" id="{E877FF9E-619A-45D6-853F-01EC7610F78E}"/>
              </a:ext>
            </a:extLst>
          </p:cNvPr>
          <p:cNvSpPr/>
          <p:nvPr/>
        </p:nvSpPr>
        <p:spPr>
          <a:xfrm>
            <a:off x="2051720" y="1419622"/>
            <a:ext cx="792088" cy="144016"/>
          </a:xfrm>
          <a:custGeom>
            <a:avLst/>
            <a:gdLst>
              <a:gd name="connsiteX0" fmla="*/ 0 w 2192694"/>
              <a:gd name="connsiteY0" fmla="*/ 141809 h 141809"/>
              <a:gd name="connsiteX1" fmla="*/ 438539 w 2192694"/>
              <a:gd name="connsiteY1" fmla="*/ 1850 h 141809"/>
              <a:gd name="connsiteX2" fmla="*/ 1446245 w 2192694"/>
              <a:gd name="connsiteY2" fmla="*/ 57833 h 141809"/>
              <a:gd name="connsiteX3" fmla="*/ 2192694 w 2192694"/>
              <a:gd name="connsiteY3" fmla="*/ 1850 h 14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694" h="141809">
                <a:moveTo>
                  <a:pt x="0" y="141809"/>
                </a:moveTo>
                <a:cubicBezTo>
                  <a:pt x="98749" y="78827"/>
                  <a:pt x="197498" y="15846"/>
                  <a:pt x="438539" y="1850"/>
                </a:cubicBezTo>
                <a:cubicBezTo>
                  <a:pt x="679580" y="-12146"/>
                  <a:pt x="1153886" y="57833"/>
                  <a:pt x="1446245" y="57833"/>
                </a:cubicBezTo>
                <a:cubicBezTo>
                  <a:pt x="1738604" y="57833"/>
                  <a:pt x="1965649" y="29841"/>
                  <a:pt x="2192694" y="1850"/>
                </a:cubicBezTo>
              </a:path>
            </a:pathLst>
          </a:custGeom>
          <a:noFill/>
          <a:ln>
            <a:solidFill>
              <a:schemeClr val="dk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500"/>
          </a:p>
        </p:txBody>
      </p:sp>
      <p:pic>
        <p:nvPicPr>
          <p:cNvPr id="13" name="그림 5" descr="include.jpg">
            <a:extLst>
              <a:ext uri="{FF2B5EF4-FFF2-40B4-BE49-F238E27FC236}">
                <a16:creationId xmlns:a16="http://schemas.microsoft.com/office/drawing/2014/main" id="{13D57DD5-5E32-4A22-A565-C28FD5B05E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39552" y="3579862"/>
            <a:ext cx="2560120" cy="144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자유형: 도형 6">
            <a:extLst>
              <a:ext uri="{FF2B5EF4-FFF2-40B4-BE49-F238E27FC236}">
                <a16:creationId xmlns:a16="http://schemas.microsoft.com/office/drawing/2014/main" id="{9ABB5716-D8C0-4993-A602-8E191AF86846}"/>
              </a:ext>
            </a:extLst>
          </p:cNvPr>
          <p:cNvSpPr/>
          <p:nvPr/>
        </p:nvSpPr>
        <p:spPr>
          <a:xfrm rot="8870391">
            <a:off x="1910665" y="1711475"/>
            <a:ext cx="3074085" cy="1955285"/>
          </a:xfrm>
          <a:custGeom>
            <a:avLst/>
            <a:gdLst>
              <a:gd name="connsiteX0" fmla="*/ -4286 w 3002530"/>
              <a:gd name="connsiteY0" fmla="*/ 243976 h 244022"/>
              <a:gd name="connsiteX1" fmla="*/ 1698697 w 3002530"/>
              <a:gd name="connsiteY1" fmla="*/ 55010 h 244022"/>
              <a:gd name="connsiteX2" fmla="*/ 3003554 w 3002530"/>
              <a:gd name="connsiteY2" fmla="*/ -234 h 244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2530" h="244022">
                <a:moveTo>
                  <a:pt x="-4286" y="243976"/>
                </a:moveTo>
                <a:cubicBezTo>
                  <a:pt x="724540" y="238238"/>
                  <a:pt x="643470" y="37158"/>
                  <a:pt x="1698697" y="55010"/>
                </a:cubicBezTo>
                <a:cubicBezTo>
                  <a:pt x="2753924" y="72862"/>
                  <a:pt x="2776509" y="27756"/>
                  <a:pt x="3003554" y="-234"/>
                </a:cubicBezTo>
              </a:path>
            </a:pathLst>
          </a:custGeom>
          <a:noFill/>
          <a:ln w="12700">
            <a:solidFill>
              <a:schemeClr val="accent1"/>
            </a:solidFill>
            <a:prstDash val="sysDot"/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500"/>
          </a:p>
        </p:txBody>
      </p:sp>
      <p:sp>
        <p:nvSpPr>
          <p:cNvPr id="15" name="자유형: 도형 6">
            <a:extLst>
              <a:ext uri="{FF2B5EF4-FFF2-40B4-BE49-F238E27FC236}">
                <a16:creationId xmlns:a16="http://schemas.microsoft.com/office/drawing/2014/main" id="{F6AB092D-F206-46B3-93C3-4E71AFAD6B8A}"/>
              </a:ext>
            </a:extLst>
          </p:cNvPr>
          <p:cNvSpPr/>
          <p:nvPr/>
        </p:nvSpPr>
        <p:spPr>
          <a:xfrm rot="20510138" flipV="1">
            <a:off x="1834276" y="2539062"/>
            <a:ext cx="2600835" cy="762040"/>
          </a:xfrm>
          <a:custGeom>
            <a:avLst/>
            <a:gdLst>
              <a:gd name="connsiteX0" fmla="*/ -6088 w 3022390"/>
              <a:gd name="connsiteY0" fmla="*/ -75 h 266315"/>
              <a:gd name="connsiteX1" fmla="*/ 2041571 w 3022390"/>
              <a:gd name="connsiteY1" fmla="*/ 75817 h 266315"/>
              <a:gd name="connsiteX2" fmla="*/ 3026183 w 3022390"/>
              <a:gd name="connsiteY2" fmla="*/ 263169 h 26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22390" h="266315">
                <a:moveTo>
                  <a:pt x="-6088" y="-75"/>
                </a:moveTo>
                <a:cubicBezTo>
                  <a:pt x="958457" y="-1044"/>
                  <a:pt x="1646368" y="24964"/>
                  <a:pt x="2041571" y="75817"/>
                </a:cubicBezTo>
                <a:cubicBezTo>
                  <a:pt x="2436775" y="126669"/>
                  <a:pt x="2799138" y="291160"/>
                  <a:pt x="3026183" y="263169"/>
                </a:cubicBezTo>
              </a:path>
            </a:pathLst>
          </a:custGeom>
          <a:noFill/>
          <a:ln w="12700">
            <a:solidFill>
              <a:srgbClr val="FF0000"/>
            </a:solidFill>
            <a:prstDash val="sysDot"/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438399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Extend-Relationship</a:t>
            </a:r>
            <a:endParaRPr lang="ko-KR" altLang="en-US" dirty="0"/>
          </a:p>
        </p:txBody>
      </p:sp>
      <p:pic>
        <p:nvPicPr>
          <p:cNvPr id="4" name="그림 4" descr="extend.jpg">
            <a:extLst>
              <a:ext uri="{FF2B5EF4-FFF2-40B4-BE49-F238E27FC236}">
                <a16:creationId xmlns:a16="http://schemas.microsoft.com/office/drawing/2014/main" id="{ECA5536B-81B6-111A-1C51-D96650C39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139702"/>
            <a:ext cx="48037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550" dirty="0"/>
              <a:t>To show </a:t>
            </a:r>
            <a:r>
              <a:rPr lang="en-US" altLang="ko-KR" sz="1550" dirty="0">
                <a:solidFill>
                  <a:srgbClr val="FF0000"/>
                </a:solidFill>
              </a:rPr>
              <a:t>that a part of a base use case is optional</a:t>
            </a:r>
            <a:r>
              <a:rPr lang="en-US" altLang="ko-KR" sz="1550" dirty="0"/>
              <a:t>, or potentially optional, system behavior. In this way, you separate optional behavior from mandatory behavior in your model. </a:t>
            </a:r>
          </a:p>
          <a:p>
            <a:pPr>
              <a:lnSpc>
                <a:spcPct val="100000"/>
              </a:lnSpc>
            </a:pPr>
            <a:r>
              <a:rPr lang="en-US" altLang="ko-KR" sz="1550" dirty="0"/>
              <a:t>To show that a </a:t>
            </a:r>
            <a:r>
              <a:rPr lang="en-US" altLang="ko-KR" sz="1550" dirty="0" err="1"/>
              <a:t>subflow</a:t>
            </a:r>
            <a:r>
              <a:rPr lang="en-US" altLang="ko-KR" sz="1550" dirty="0"/>
              <a:t> is </a:t>
            </a:r>
            <a:r>
              <a:rPr lang="en-US" altLang="ko-KR" sz="1550" dirty="0">
                <a:solidFill>
                  <a:srgbClr val="FF0000"/>
                </a:solidFill>
              </a:rPr>
              <a:t>executed only under certain </a:t>
            </a:r>
            <a:r>
              <a:rPr lang="en-US" altLang="ko-KR" sz="1550" dirty="0"/>
              <a:t>(sometimes exceptional) conditions, such as triggering an alarm.</a:t>
            </a:r>
          </a:p>
          <a:p>
            <a:endParaRPr lang="ko-KR" altLang="en-US" sz="1550" dirty="0"/>
          </a:p>
        </p:txBody>
      </p:sp>
    </p:spTree>
    <p:extLst>
      <p:ext uri="{BB962C8B-B14F-4D97-AF65-F5344CB8AC3E}">
        <p14:creationId xmlns:p14="http://schemas.microsoft.com/office/powerpoint/2010/main" val="3179626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Extend-Relationship</a:t>
            </a:r>
            <a:endParaRPr lang="ko-KR" altLang="en-US" dirty="0"/>
          </a:p>
        </p:txBody>
      </p:sp>
      <p:pic>
        <p:nvPicPr>
          <p:cNvPr id="5" name="그림 6" descr="extend2.jpg">
            <a:extLst>
              <a:ext uri="{FF2B5EF4-FFF2-40B4-BE49-F238E27FC236}">
                <a16:creationId xmlns:a16="http://schemas.microsoft.com/office/drawing/2014/main" id="{E3216CB6-D381-BD7F-71F9-BABC684C0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851670"/>
            <a:ext cx="3835484" cy="274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550" dirty="0"/>
              <a:t>If the condition of the extend-relationship is false, the extension is not executed. </a:t>
            </a:r>
          </a:p>
          <a:p>
            <a:pPr>
              <a:lnSpc>
                <a:spcPct val="100000"/>
              </a:lnSpc>
            </a:pPr>
            <a:r>
              <a:rPr lang="en-US" altLang="ko-KR" sz="1550" dirty="0"/>
              <a:t>Once the use-case instance has performed the extension, </a:t>
            </a:r>
            <a:r>
              <a:rPr lang="en-US" altLang="ko-KR" sz="1550" dirty="0">
                <a:solidFill>
                  <a:srgbClr val="FF0000"/>
                </a:solidFill>
              </a:rPr>
              <a:t>the use-case instance resumes executing the base use case at the point where it left off.  </a:t>
            </a:r>
          </a:p>
          <a:p>
            <a:endParaRPr lang="ko-KR" altLang="en-US" sz="1550" dirty="0"/>
          </a:p>
        </p:txBody>
      </p:sp>
    </p:spTree>
    <p:extLst>
      <p:ext uri="{BB962C8B-B14F-4D97-AF65-F5344CB8AC3E}">
        <p14:creationId xmlns:p14="http://schemas.microsoft.com/office/powerpoint/2010/main" val="3941466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Extension Point Specification</a:t>
            </a:r>
            <a:endParaRPr lang="ko-KR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BE1976-85A2-F210-25BE-A48A521A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024" y="1601738"/>
            <a:ext cx="3944603" cy="2946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182562" rIns="92075" bIns="182562" anchorCtr="1">
            <a:spAutoFit/>
          </a:bodyPr>
          <a:lstStyle>
            <a:lvl1pPr marL="53975" indent="-53975" latinLnBrk="1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Clr>
                <a:srgbClr val="D1DD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Clr>
                <a:srgbClr val="4E005F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latinLnBrk="0">
              <a:lnSpc>
                <a:spcPct val="7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ko-KR" sz="1600" i="1" u="sng" dirty="0"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800" u="sng" dirty="0"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400" b="1" u="sng" dirty="0">
                <a:latin typeface="Arial" panose="020B0604020202020204" pitchFamily="34" charset="0"/>
                <a:ea typeface="굴림" panose="020B0600000101010101" pitchFamily="50" charset="-127"/>
              </a:rPr>
              <a:t>&lt;Use-Case Name&gt;*</a:t>
            </a:r>
            <a:endParaRPr lang="en-US" altLang="ko-KR" sz="1400" u="sng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1. Brief Description*</a:t>
            </a: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solidFill>
                  <a:srgbClr val="1D02BE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2. Flow of Events*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solidFill>
                  <a:srgbClr val="1D02BE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    Basic Flow of Events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solidFill>
                  <a:srgbClr val="1D02BE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   Alternative Flows of Events</a:t>
            </a:r>
            <a:endParaRPr lang="en-US" altLang="ko-KR" sz="1400" i="1" dirty="0">
              <a:solidFill>
                <a:srgbClr val="1D02BE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3. Special Requirements</a:t>
            </a: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4. Preconditions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5. Postconditions</a:t>
            </a: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6. Extension Points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7. Relationships*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8. Use-Case Diagrams</a:t>
            </a:r>
          </a:p>
          <a:p>
            <a:pPr latinLnBrk="0">
              <a:lnSpc>
                <a:spcPct val="75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ko-KR" sz="1400" b="1" dirty="0">
                <a:latin typeface="Arial" panose="020B0604020202020204" pitchFamily="34" charset="0"/>
                <a:ea typeface="굴림" panose="020B0600000101010101" pitchFamily="50" charset="-127"/>
              </a:rPr>
              <a:t>9. Other Diagrams/Enclosures</a:t>
            </a:r>
            <a:endParaRPr lang="en-US" altLang="ko-KR" sz="1400" dirty="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6" name="자유형: 도형 2">
            <a:extLst>
              <a:ext uri="{FF2B5EF4-FFF2-40B4-BE49-F238E27FC236}">
                <a16:creationId xmlns:a16="http://schemas.microsoft.com/office/drawing/2014/main" id="{22EA9B98-3A69-688B-7343-62EECFB337C2}"/>
              </a:ext>
            </a:extLst>
          </p:cNvPr>
          <p:cNvSpPr/>
          <p:nvPr/>
        </p:nvSpPr>
        <p:spPr>
          <a:xfrm>
            <a:off x="2659901" y="2336593"/>
            <a:ext cx="321519" cy="1268963"/>
          </a:xfrm>
          <a:custGeom>
            <a:avLst/>
            <a:gdLst>
              <a:gd name="connsiteX0" fmla="*/ 643037 w 643037"/>
              <a:gd name="connsiteY0" fmla="*/ 0 h 1268963"/>
              <a:gd name="connsiteX1" fmla="*/ 139184 w 643037"/>
              <a:gd name="connsiteY1" fmla="*/ 251927 h 1268963"/>
              <a:gd name="connsiteX2" fmla="*/ 8556 w 643037"/>
              <a:gd name="connsiteY2" fmla="*/ 867747 h 1268963"/>
              <a:gd name="connsiteX3" fmla="*/ 325796 w 643037"/>
              <a:gd name="connsiteY3" fmla="*/ 1268963 h 126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3037" h="1268963">
                <a:moveTo>
                  <a:pt x="643037" y="0"/>
                </a:moveTo>
                <a:cubicBezTo>
                  <a:pt x="443984" y="53651"/>
                  <a:pt x="244931" y="107303"/>
                  <a:pt x="139184" y="251927"/>
                </a:cubicBezTo>
                <a:cubicBezTo>
                  <a:pt x="33437" y="396551"/>
                  <a:pt x="-22546" y="698241"/>
                  <a:pt x="8556" y="867747"/>
                </a:cubicBezTo>
                <a:cubicBezTo>
                  <a:pt x="39658" y="1037253"/>
                  <a:pt x="182727" y="1153108"/>
                  <a:pt x="325796" y="1268963"/>
                </a:cubicBezTo>
              </a:path>
            </a:pathLst>
          </a:custGeom>
          <a:noFill/>
          <a:ln>
            <a:solidFill>
              <a:srgbClr val="1D02BE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E2CBA5-0A85-085D-1BF2-389FF8A323E1}"/>
              </a:ext>
            </a:extLst>
          </p:cNvPr>
          <p:cNvSpPr/>
          <p:nvPr/>
        </p:nvSpPr>
        <p:spPr>
          <a:xfrm>
            <a:off x="6937247" y="3108346"/>
            <a:ext cx="1305792" cy="56787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E6FD8-C674-BBC1-B327-4609D0D5BC88}"/>
              </a:ext>
            </a:extLst>
          </p:cNvPr>
          <p:cNvSpPr txBox="1"/>
          <p:nvPr/>
        </p:nvSpPr>
        <p:spPr>
          <a:xfrm>
            <a:off x="6839391" y="3684410"/>
            <a:ext cx="1547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Extending UC</a:t>
            </a:r>
          </a:p>
        </p:txBody>
      </p:sp>
      <p:sp>
        <p:nvSpPr>
          <p:cNvPr id="9" name="자유형: 도형 6">
            <a:extLst>
              <a:ext uri="{FF2B5EF4-FFF2-40B4-BE49-F238E27FC236}">
                <a16:creationId xmlns:a16="http://schemas.microsoft.com/office/drawing/2014/main" id="{B35EAD97-A8D5-D424-EDD0-5F2F1489899B}"/>
              </a:ext>
            </a:extLst>
          </p:cNvPr>
          <p:cNvSpPr/>
          <p:nvPr/>
        </p:nvSpPr>
        <p:spPr>
          <a:xfrm>
            <a:off x="4675273" y="3445238"/>
            <a:ext cx="2192694" cy="141809"/>
          </a:xfrm>
          <a:custGeom>
            <a:avLst/>
            <a:gdLst>
              <a:gd name="connsiteX0" fmla="*/ 0 w 2192694"/>
              <a:gd name="connsiteY0" fmla="*/ 141809 h 141809"/>
              <a:gd name="connsiteX1" fmla="*/ 438539 w 2192694"/>
              <a:gd name="connsiteY1" fmla="*/ 1850 h 141809"/>
              <a:gd name="connsiteX2" fmla="*/ 1446245 w 2192694"/>
              <a:gd name="connsiteY2" fmla="*/ 57833 h 141809"/>
              <a:gd name="connsiteX3" fmla="*/ 2192694 w 2192694"/>
              <a:gd name="connsiteY3" fmla="*/ 1850 h 14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694" h="141809">
                <a:moveTo>
                  <a:pt x="0" y="141809"/>
                </a:moveTo>
                <a:cubicBezTo>
                  <a:pt x="98749" y="78827"/>
                  <a:pt x="197498" y="15846"/>
                  <a:pt x="438539" y="1850"/>
                </a:cubicBezTo>
                <a:cubicBezTo>
                  <a:pt x="679580" y="-12146"/>
                  <a:pt x="1153886" y="57833"/>
                  <a:pt x="1446245" y="57833"/>
                </a:cubicBezTo>
                <a:cubicBezTo>
                  <a:pt x="1738604" y="57833"/>
                  <a:pt x="1965649" y="29841"/>
                  <a:pt x="2192694" y="1850"/>
                </a:cubicBezTo>
              </a:path>
            </a:pathLst>
          </a:custGeom>
          <a:noFill/>
          <a:ln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내용 개체 틀 1"/>
          <p:cNvSpPr>
            <a:spLocks noGrp="1"/>
          </p:cNvSpPr>
          <p:nvPr>
            <p:ph idx="1"/>
          </p:nvPr>
        </p:nvSpPr>
        <p:spPr>
          <a:xfrm>
            <a:off x="251520" y="74107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EP1. </a:t>
            </a:r>
            <a:r>
              <a:rPr lang="ko-KR" altLang="en-US" sz="1600" b="1" dirty="0"/>
              <a:t>환율 조회</a:t>
            </a:r>
          </a:p>
          <a:p>
            <a:pPr marL="91463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기본흐름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 “환율조회”를 선택한 경우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환율조회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유스케이스로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확장함</a:t>
            </a:r>
          </a:p>
        </p:txBody>
      </p:sp>
    </p:spTree>
    <p:extLst>
      <p:ext uri="{BB962C8B-B14F-4D97-AF65-F5344CB8AC3E}">
        <p14:creationId xmlns:p14="http://schemas.microsoft.com/office/powerpoint/2010/main" val="3393175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Extend-Relationship 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D637738-D3CB-4518-B273-9B7BD76235AB}"/>
              </a:ext>
            </a:extLst>
          </p:cNvPr>
          <p:cNvGrpSpPr/>
          <p:nvPr/>
        </p:nvGrpSpPr>
        <p:grpSpPr>
          <a:xfrm>
            <a:off x="107504" y="771678"/>
            <a:ext cx="3941861" cy="2376136"/>
            <a:chOff x="2392810" y="1864076"/>
            <a:chExt cx="3941861" cy="2376136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7FB2FC3-74F1-4302-A07F-2C4AFA3DD83D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2499604" y="1864076"/>
              <a:ext cx="2504443" cy="23762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2"/>
              </a:solidFill>
              <a:miter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square" lIns="92075" tIns="182562" rIns="92075" bIns="182562" anchorCtr="1">
              <a:spAutoFit/>
            </a:bodyPr>
            <a:lstStyle>
              <a:lvl1pPr marL="53975" indent="-53975" latinLnBrk="1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Font typeface="Wingdings"/>
                <a:buChar char="l"/>
                <a:defRPr sz="2800">
                  <a:solidFill>
                    <a:schemeClr val="tx1"/>
                  </a:solidFill>
                  <a:latin typeface="맑은 고딕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Clr>
                  <a:srgbClr val="D1DD5B"/>
                </a:buClr>
                <a:buFont typeface="Wingdings"/>
                <a:buChar char="§"/>
                <a:defRPr sz="2000">
                  <a:solidFill>
                    <a:schemeClr val="tx1"/>
                  </a:solidFill>
                  <a:latin typeface="맑은 고딕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Clr>
                  <a:srgbClr val="4E005F"/>
                </a:buClr>
                <a:buFont typeface="Wingdings"/>
                <a:buChar char="ü"/>
                <a:defRPr sz="1600">
                  <a:solidFill>
                    <a:schemeClr val="tx1"/>
                  </a:solidFill>
                  <a:latin typeface="맑은 고딕"/>
                </a:defRPr>
              </a:lvl3pPr>
              <a:lvl4pPr marL="1600200" indent="-228600" latinLnBrk="1">
                <a:spcBef>
                  <a:spcPct val="20000"/>
                </a:spcBef>
                <a:buFont typeface="Arial"/>
                <a:buChar char="–"/>
                <a:defRPr sz="2000">
                  <a:solidFill>
                    <a:schemeClr val="tx1"/>
                  </a:solidFill>
                  <a:latin typeface="맑은 고딕"/>
                </a:defRPr>
              </a:lvl4pPr>
              <a:lvl5pPr marL="2057400" indent="-228600" latinLnBrk="1">
                <a:spcBef>
                  <a:spcPct val="20000"/>
                </a:spcBef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/>
                <a:buChar char="»"/>
                <a:defRPr sz="2000">
                  <a:solidFill>
                    <a:schemeClr val="tx1"/>
                  </a:solidFill>
                  <a:latin typeface="맑은 고딕"/>
                </a:defRPr>
              </a:lvl9pPr>
            </a:lstStyle>
            <a:p>
              <a:pPr lvl="0" latinLnBrk="0">
                <a:lnSpc>
                  <a:spcPct val="75000"/>
                </a:lnSpc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en-US" altLang="ko-KR" sz="1300" i="1" u="sng">
                  <a:latin typeface="Arial"/>
                  <a:ea typeface="굴림"/>
                </a:rPr>
                <a:t> </a:t>
              </a:r>
              <a:r>
                <a:rPr lang="en-US" altLang="ko-KR" sz="1500" u="sng">
                  <a:latin typeface="Arial"/>
                  <a:ea typeface="굴림"/>
                </a:rPr>
                <a:t> </a:t>
              </a:r>
              <a:r>
                <a:rPr lang="en-US" altLang="ko-KR" sz="1100" b="1" u="sng">
                  <a:latin typeface="Arial"/>
                  <a:ea typeface="굴림"/>
                </a:rPr>
                <a:t>&lt;Use-Case Name&gt;*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1. Brief Description*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2. Flow of Events*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     Basic Flow of Events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1D02BE"/>
                  </a:solidFill>
                  <a:latin typeface="Arial"/>
                  <a:ea typeface="굴림"/>
                </a:rPr>
                <a:t>    Alternative Flows of Events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3. Special Requirements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4. Preconditions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5. Postconditions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solidFill>
                    <a:srgbClr val="FF0000"/>
                  </a:solidFill>
                  <a:latin typeface="Arial"/>
                  <a:ea typeface="굴림"/>
                </a:rPr>
                <a:t>6. Extension Points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7. Relationships*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8. Use-Case Diagrams</a:t>
              </a:r>
            </a:p>
            <a:p>
              <a:pPr lvl="0" latinLnBrk="0">
                <a:lnSpc>
                  <a:spcPct val="75000"/>
                </a:lnSpc>
                <a:spcBef>
                  <a:spcPct val="25000"/>
                </a:spcBef>
                <a:buClrTx/>
                <a:buFontTx/>
                <a:buNone/>
                <a:defRPr/>
              </a:pPr>
              <a:r>
                <a:rPr lang="en-US" altLang="ko-KR" sz="1100" b="1">
                  <a:latin typeface="Arial"/>
                  <a:ea typeface="굴림"/>
                </a:rPr>
                <a:t>9. Other Diagrams/Enclosures</a:t>
              </a:r>
              <a:endParaRPr lang="en-US" altLang="ko-KR" sz="1100">
                <a:latin typeface="Arial"/>
                <a:ea typeface="굴림"/>
              </a:endParaRPr>
            </a:p>
          </p:txBody>
        </p:sp>
        <p:sp>
          <p:nvSpPr>
            <p:cNvPr id="9" name="자유형: 도형 2">
              <a:extLst>
                <a:ext uri="{FF2B5EF4-FFF2-40B4-BE49-F238E27FC236}">
                  <a16:creationId xmlns:a16="http://schemas.microsoft.com/office/drawing/2014/main" id="{71366F55-B439-4996-8CFF-6AC79F7EC599}"/>
                </a:ext>
              </a:extLst>
            </p:cNvPr>
            <p:cNvSpPr/>
            <p:nvPr/>
          </p:nvSpPr>
          <p:spPr>
            <a:xfrm rot="21182616">
              <a:off x="2392810" y="2511768"/>
              <a:ext cx="321519" cy="912504"/>
            </a:xfrm>
            <a:custGeom>
              <a:avLst/>
              <a:gdLst>
                <a:gd name="connsiteX0" fmla="*/ 643037 w 643037"/>
                <a:gd name="connsiteY0" fmla="*/ 0 h 1268963"/>
                <a:gd name="connsiteX1" fmla="*/ 139184 w 643037"/>
                <a:gd name="connsiteY1" fmla="*/ 251927 h 1268963"/>
                <a:gd name="connsiteX2" fmla="*/ 8556 w 643037"/>
                <a:gd name="connsiteY2" fmla="*/ 867747 h 1268963"/>
                <a:gd name="connsiteX3" fmla="*/ 325796 w 643037"/>
                <a:gd name="connsiteY3" fmla="*/ 1268963 h 12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37" h="1268963">
                  <a:moveTo>
                    <a:pt x="643037" y="0"/>
                  </a:moveTo>
                  <a:cubicBezTo>
                    <a:pt x="443984" y="53651"/>
                    <a:pt x="244931" y="107303"/>
                    <a:pt x="139184" y="251927"/>
                  </a:cubicBezTo>
                  <a:cubicBezTo>
                    <a:pt x="33437" y="396551"/>
                    <a:pt x="-22546" y="698241"/>
                    <a:pt x="8556" y="867747"/>
                  </a:cubicBezTo>
                  <a:cubicBezTo>
                    <a:pt x="39658" y="1037253"/>
                    <a:pt x="182727" y="1153108"/>
                    <a:pt x="325796" y="1268963"/>
                  </a:cubicBezTo>
                </a:path>
              </a:pathLst>
            </a:custGeom>
            <a:noFill/>
            <a:ln>
              <a:solidFill>
                <a:srgbClr val="1D02BE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sz="15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E76B297-F497-484C-8BBA-D28E3658C561}"/>
                </a:ext>
              </a:extLst>
            </p:cNvPr>
            <p:cNvSpPr/>
            <p:nvPr/>
          </p:nvSpPr>
          <p:spPr>
            <a:xfrm>
              <a:off x="5003031" y="3304108"/>
              <a:ext cx="1008112" cy="49587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sz="15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3C272A-BFAA-4407-9BA8-739DDE2C4CF4}"/>
                </a:ext>
              </a:extLst>
            </p:cNvPr>
            <p:cNvSpPr txBox="1"/>
            <p:nvPr/>
          </p:nvSpPr>
          <p:spPr>
            <a:xfrm>
              <a:off x="4787007" y="3762791"/>
              <a:ext cx="1547664" cy="26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sz="1100"/>
                <a:t>Extending UC</a:t>
              </a:r>
            </a:p>
          </p:txBody>
        </p:sp>
        <p:sp>
          <p:nvSpPr>
            <p:cNvPr id="12" name="자유형: 도형 6">
              <a:extLst>
                <a:ext uri="{FF2B5EF4-FFF2-40B4-BE49-F238E27FC236}">
                  <a16:creationId xmlns:a16="http://schemas.microsoft.com/office/drawing/2014/main" id="{B6AFC70D-2697-4883-81B9-197A83418FFD}"/>
                </a:ext>
              </a:extLst>
            </p:cNvPr>
            <p:cNvSpPr/>
            <p:nvPr/>
          </p:nvSpPr>
          <p:spPr>
            <a:xfrm flipV="1">
              <a:off x="4031432" y="3448124"/>
              <a:ext cx="899591" cy="72007"/>
            </a:xfrm>
            <a:custGeom>
              <a:avLst/>
              <a:gdLst>
                <a:gd name="connsiteX0" fmla="*/ 0 w 2192694"/>
                <a:gd name="connsiteY0" fmla="*/ 141809 h 141809"/>
                <a:gd name="connsiteX1" fmla="*/ 438539 w 2192694"/>
                <a:gd name="connsiteY1" fmla="*/ 1850 h 141809"/>
                <a:gd name="connsiteX2" fmla="*/ 1446245 w 2192694"/>
                <a:gd name="connsiteY2" fmla="*/ 57833 h 141809"/>
                <a:gd name="connsiteX3" fmla="*/ 2192694 w 2192694"/>
                <a:gd name="connsiteY3" fmla="*/ 1850 h 14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694" h="141809">
                  <a:moveTo>
                    <a:pt x="0" y="141809"/>
                  </a:moveTo>
                  <a:cubicBezTo>
                    <a:pt x="98749" y="78827"/>
                    <a:pt x="197498" y="15846"/>
                    <a:pt x="438539" y="1850"/>
                  </a:cubicBezTo>
                  <a:cubicBezTo>
                    <a:pt x="679580" y="-12146"/>
                    <a:pt x="1153886" y="57833"/>
                    <a:pt x="1446245" y="57833"/>
                  </a:cubicBezTo>
                  <a:cubicBezTo>
                    <a:pt x="1738604" y="57833"/>
                    <a:pt x="1965649" y="29841"/>
                    <a:pt x="2192694" y="185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sz="1500"/>
            </a:p>
          </p:txBody>
        </p:sp>
      </p:grp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14B5220-0F02-4791-AA94-5CE71FAEC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52" y="908719"/>
            <a:ext cx="4680520" cy="4234780"/>
          </a:xfrm>
          <a:ln>
            <a:solidFill>
              <a:schemeClr val="accent1"/>
            </a:solidFill>
            <a:prstDash val="dash"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rgbClr val="0000FF"/>
                </a:solidFill>
              </a:rPr>
              <a:t>&lt;Place Call&gt;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1. Brief Description : Caller가 Callee에게 전화를 거는 기본적인 통화 연결 기능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2. Flow of Events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Basic Flows : 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1. ...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2. ...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3. System은 통화 연결을 시도 한다.</a:t>
            </a:r>
            <a:r>
              <a:rPr lang="ko-KR" altLang="en-US" sz="900" b="1" kern="800" spc="0">
                <a:solidFill>
                  <a:srgbClr val="FF0000"/>
                </a:solidFill>
              </a:rPr>
              <a:t>(EP1)</a:t>
            </a:r>
            <a:r>
              <a:rPr lang="ko-KR" altLang="en-US" sz="900" b="1" kern="800" spc="0">
                <a:solidFill>
                  <a:schemeClr val="tx1"/>
                </a:solidFill>
              </a:rPr>
              <a:t>      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4. ...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</a:t>
            </a:r>
            <a:r>
              <a:rPr lang="en-US" altLang="ko-KR" sz="900" b="1" kern="800" spc="0">
                <a:solidFill>
                  <a:schemeClr val="tx1"/>
                </a:solidFill>
              </a:rPr>
              <a:t>5</a:t>
            </a:r>
            <a:r>
              <a:rPr lang="ko-KR" altLang="en-US" sz="900" b="1" kern="800" spc="0">
                <a:solidFill>
                  <a:schemeClr val="tx1"/>
                </a:solidFill>
              </a:rPr>
              <a:t>.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Alternative Flows :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A1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A2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...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6. Extension Points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</a:t>
            </a:r>
            <a:r>
              <a:rPr lang="ko-KR" altLang="en-US" sz="900" b="1" kern="800" spc="0">
                <a:solidFill>
                  <a:srgbClr val="FF0000"/>
                </a:solidFill>
              </a:rPr>
              <a:t>EP1. Show Caller Identity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분기점 : Basic Flow의 Step3 이후</a:t>
            </a:r>
          </a:p>
          <a:p>
            <a:pPr marL="91463" lvl="0" indent="0">
              <a:lnSpc>
                <a:spcPct val="100000"/>
              </a:lnSpc>
              <a:spcBef>
                <a:spcPts val="216"/>
              </a:spcBef>
              <a:buNone/>
              <a:defRPr/>
            </a:pPr>
            <a:r>
              <a:rPr lang="ko-KR" altLang="en-US" sz="900" b="1" kern="800" spc="0">
                <a:solidFill>
                  <a:schemeClr val="tx1"/>
                </a:solidFill>
              </a:rPr>
              <a:t>    조건 : Caller가 발신자 표시 제한을 설정하지 않았을 경우</a:t>
            </a:r>
          </a:p>
        </p:txBody>
      </p:sp>
      <p:pic>
        <p:nvPicPr>
          <p:cNvPr id="14" name="그림 4" descr="extend.jpg">
            <a:extLst>
              <a:ext uri="{FF2B5EF4-FFF2-40B4-BE49-F238E27FC236}">
                <a16:creationId xmlns:a16="http://schemas.microsoft.com/office/drawing/2014/main" id="{3B7C44BB-CFC5-486D-B941-0839F50EBA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3568" y="3812679"/>
            <a:ext cx="2316690" cy="120734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자유형: 도형 6">
            <a:extLst>
              <a:ext uri="{FF2B5EF4-FFF2-40B4-BE49-F238E27FC236}">
                <a16:creationId xmlns:a16="http://schemas.microsoft.com/office/drawing/2014/main" id="{D494B3DE-D1D4-4359-8545-4A0171BA2E2D}"/>
              </a:ext>
            </a:extLst>
          </p:cNvPr>
          <p:cNvSpPr/>
          <p:nvPr/>
        </p:nvSpPr>
        <p:spPr>
          <a:xfrm rot="20510138" flipV="1">
            <a:off x="2534055" y="4099629"/>
            <a:ext cx="1886863" cy="405775"/>
          </a:xfrm>
          <a:custGeom>
            <a:avLst/>
            <a:gdLst>
              <a:gd name="connsiteX0" fmla="*/ 0 w 2192694"/>
              <a:gd name="connsiteY0" fmla="*/ 141809 h 141809"/>
              <a:gd name="connsiteX1" fmla="*/ 438539 w 2192694"/>
              <a:gd name="connsiteY1" fmla="*/ 1850 h 141809"/>
              <a:gd name="connsiteX2" fmla="*/ 1446245 w 2192694"/>
              <a:gd name="connsiteY2" fmla="*/ 57833 h 141809"/>
              <a:gd name="connsiteX3" fmla="*/ 2192694 w 2192694"/>
              <a:gd name="connsiteY3" fmla="*/ 1850 h 14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694" h="141809">
                <a:moveTo>
                  <a:pt x="0" y="141809"/>
                </a:moveTo>
                <a:cubicBezTo>
                  <a:pt x="98749" y="78827"/>
                  <a:pt x="197498" y="15846"/>
                  <a:pt x="438539" y="1850"/>
                </a:cubicBezTo>
                <a:cubicBezTo>
                  <a:pt x="679580" y="-12146"/>
                  <a:pt x="1153886" y="57833"/>
                  <a:pt x="1446245" y="57833"/>
                </a:cubicBezTo>
                <a:cubicBezTo>
                  <a:pt x="1738604" y="57833"/>
                  <a:pt x="1965649" y="29841"/>
                  <a:pt x="2192694" y="1850"/>
                </a:cubicBezTo>
              </a:path>
            </a:pathLst>
          </a:custGeom>
          <a:noFill/>
          <a:ln w="12700">
            <a:solidFill>
              <a:srgbClr val="FF0000"/>
            </a:solidFill>
            <a:prstDash val="sysDot"/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500"/>
          </a:p>
        </p:txBody>
      </p:sp>
      <p:sp>
        <p:nvSpPr>
          <p:cNvPr id="16" name="자유형: 도형 6">
            <a:extLst>
              <a:ext uri="{FF2B5EF4-FFF2-40B4-BE49-F238E27FC236}">
                <a16:creationId xmlns:a16="http://schemas.microsoft.com/office/drawing/2014/main" id="{84A6113A-09F1-4EA0-B2E7-830E09A4A1DF}"/>
              </a:ext>
            </a:extLst>
          </p:cNvPr>
          <p:cNvSpPr/>
          <p:nvPr/>
        </p:nvSpPr>
        <p:spPr>
          <a:xfrm rot="8870391">
            <a:off x="1505952" y="1828455"/>
            <a:ext cx="3409601" cy="1598373"/>
          </a:xfrm>
          <a:custGeom>
            <a:avLst/>
            <a:gdLst>
              <a:gd name="connsiteX0" fmla="*/ -4399 w 3487003"/>
              <a:gd name="connsiteY0" fmla="*/ 169612 h 169621"/>
              <a:gd name="connsiteX1" fmla="*/ 1182652 w 3487003"/>
              <a:gd name="connsiteY1" fmla="*/ 15482 h 169621"/>
              <a:gd name="connsiteX2" fmla="*/ 2137681 w 3487003"/>
              <a:gd name="connsiteY2" fmla="*/ 10249 h 169621"/>
              <a:gd name="connsiteX3" fmla="*/ 3488419 w 3487003"/>
              <a:gd name="connsiteY3" fmla="*/ 52141 h 16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03" h="169621">
                <a:moveTo>
                  <a:pt x="-4399" y="169612"/>
                </a:moveTo>
                <a:cubicBezTo>
                  <a:pt x="724427" y="163873"/>
                  <a:pt x="892434" y="43677"/>
                  <a:pt x="1182652" y="15482"/>
                </a:cubicBezTo>
                <a:cubicBezTo>
                  <a:pt x="1504157" y="-11969"/>
                  <a:pt x="1753386" y="4139"/>
                  <a:pt x="2137681" y="10249"/>
                </a:cubicBezTo>
                <a:cubicBezTo>
                  <a:pt x="2521975" y="16359"/>
                  <a:pt x="3261374" y="80132"/>
                  <a:pt x="3488419" y="52141"/>
                </a:cubicBezTo>
              </a:path>
            </a:pathLst>
          </a:custGeom>
          <a:noFill/>
          <a:ln w="12700">
            <a:solidFill>
              <a:schemeClr val="accent1"/>
            </a:solidFill>
            <a:prstDash val="sysDot"/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85314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Extension Points vs Alternative Flows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E190BC6-F8DC-444F-9553-07FF24718D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28117" y="2571750"/>
            <a:ext cx="2400267" cy="2088232"/>
          </a:xfrm>
          <a:prstGeom prst="rect">
            <a:avLst/>
          </a:prstGeom>
        </p:spPr>
      </p:pic>
      <p:pic>
        <p:nvPicPr>
          <p:cNvPr id="18" name="그림 6" descr="extend2.jpg">
            <a:extLst>
              <a:ext uri="{FF2B5EF4-FFF2-40B4-BE49-F238E27FC236}">
                <a16:creationId xmlns:a16="http://schemas.microsoft.com/office/drawing/2014/main" id="{4B8027EB-6329-45C6-A066-A897766B21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9592" y="2571750"/>
            <a:ext cx="2899380" cy="207417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E234885D-4CEA-4A22-A7C1-0A0F3143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2736"/>
            <a:ext cx="4680520" cy="1519014"/>
          </a:xfrm>
        </p:spPr>
        <p:txBody>
          <a:bodyPr>
            <a:noAutofit/>
          </a:bodyPr>
          <a:lstStyle/>
          <a:p>
            <a:pPr marL="91463" lvl="0" indent="0">
              <a:lnSpc>
                <a:spcPct val="100000"/>
              </a:lnSpc>
              <a:buNone/>
              <a:defRPr/>
            </a:pPr>
            <a:r>
              <a:rPr lang="en-US" altLang="ko-KR" sz="1200" b="1" dirty="0"/>
              <a:t>Extension Points</a:t>
            </a:r>
          </a:p>
          <a:p>
            <a:pPr lvl="0">
              <a:lnSpc>
                <a:spcPct val="100000"/>
              </a:lnSpc>
              <a:defRPr/>
            </a:pPr>
            <a:r>
              <a:rPr lang="ko-KR" altLang="en-US" sz="1200" dirty="0"/>
              <a:t>완전히 독립된 별도의 </a:t>
            </a:r>
            <a:r>
              <a:rPr lang="en-US" altLang="ko-KR" sz="1200" dirty="0" err="1"/>
              <a:t>usecase</a:t>
            </a:r>
            <a:r>
              <a:rPr lang="ko-KR" altLang="en-US" sz="1200" dirty="0"/>
              <a:t>로 분리 될 만큼 </a:t>
            </a:r>
            <a:r>
              <a:rPr lang="ko-KR" altLang="en-US" sz="1200" dirty="0" err="1"/>
              <a:t>의미있는</a:t>
            </a:r>
            <a:r>
              <a:rPr lang="ko-KR" altLang="en-US" sz="1200" dirty="0"/>
              <a:t> 기능</a:t>
            </a:r>
          </a:p>
          <a:p>
            <a:pPr lvl="0">
              <a:lnSpc>
                <a:spcPct val="100000"/>
              </a:lnSpc>
              <a:defRPr/>
            </a:pPr>
            <a:r>
              <a:rPr lang="ko-KR" altLang="en-US" sz="1200" dirty="0"/>
              <a:t>여러 </a:t>
            </a:r>
            <a:r>
              <a:rPr lang="en-US" altLang="ko-KR" sz="1200" dirty="0" err="1"/>
              <a:t>usecase</a:t>
            </a:r>
            <a:r>
              <a:rPr lang="ko-KR" altLang="en-US" sz="1200" dirty="0"/>
              <a:t>에서 재사용 가능한 독립적인 기능으로</a:t>
            </a:r>
            <a:br>
              <a:rPr lang="en-US" altLang="ko-KR" sz="1200" dirty="0"/>
            </a:br>
            <a:r>
              <a:rPr lang="ko-KR" altLang="en-US" sz="1200" dirty="0"/>
              <a:t>모듈화가 필요한 경우</a:t>
            </a:r>
          </a:p>
        </p:txBody>
      </p:sp>
      <p:sp>
        <p:nvSpPr>
          <p:cNvPr id="20" name="내용 개체 틀 1">
            <a:extLst>
              <a:ext uri="{FF2B5EF4-FFF2-40B4-BE49-F238E27FC236}">
                <a16:creationId xmlns:a16="http://schemas.microsoft.com/office/drawing/2014/main" id="{5E7523E6-0C80-4692-87FC-654D82236028}"/>
              </a:ext>
            </a:extLst>
          </p:cNvPr>
          <p:cNvSpPr>
            <a:spLocks noGrp="1"/>
          </p:cNvSpPr>
          <p:nvPr/>
        </p:nvSpPr>
        <p:spPr>
          <a:xfrm>
            <a:off x="4932040" y="1052736"/>
            <a:ext cx="3456384" cy="1519014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marL="91463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/>
              <a:buNone/>
              <a:defRPr/>
            </a:pPr>
            <a:r>
              <a:rPr kumimoji="0" lang="en-US" altLang="ko-KR" sz="1200" b="1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Alternative Flows</a:t>
            </a:r>
            <a:endParaRPr kumimoji="0" lang="en-US" altLang="ko-KR" sz="1200" b="0" i="0" u="none" strike="noStrike" kern="1200" cap="none" spc="-120" normalizeH="0" baseline="0" dirty="0">
              <a:solidFill>
                <a:schemeClr val="tx1"/>
              </a:solidFill>
              <a:latin typeface="맑은 고딕"/>
              <a:ea typeface="맑은 고딕"/>
              <a:cs typeface="+mn-cs"/>
            </a:endParaRPr>
          </a:p>
          <a:p>
            <a:pPr marL="271463" lvl="0" indent="-1800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/>
              <a:buChar char="•"/>
              <a:defRPr/>
            </a:pP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기본 흐름에서 발생 가능한 예외나 대체 시나리오</a:t>
            </a:r>
          </a:p>
          <a:p>
            <a:pPr marL="271463" lvl="0" indent="-1800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/>
              <a:buChar char="•"/>
              <a:defRPr/>
            </a:pP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동일한 </a:t>
            </a:r>
            <a:r>
              <a:rPr kumimoji="0" lang="en-US" altLang="ko-KR" sz="1200" b="0" i="0" u="none" strike="noStrike" kern="1200" cap="none" spc="-120" normalizeH="0" baseline="0" dirty="0" err="1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usecase</a:t>
            </a:r>
            <a:r>
              <a:rPr kumimoji="0" lang="en-US" altLang="ko-KR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내에서 처리되는 대체 경로</a:t>
            </a:r>
          </a:p>
          <a:p>
            <a:pPr marL="271463" lvl="0" indent="-1800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/>
              <a:buChar char="•"/>
              <a:defRPr/>
            </a:pP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필요 시</a:t>
            </a:r>
            <a:r>
              <a:rPr kumimoji="0" lang="en-US" altLang="ko-KR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,</a:t>
            </a: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 동일한 </a:t>
            </a:r>
            <a:r>
              <a:rPr kumimoji="0" lang="en-US" altLang="ko-KR" sz="1200" b="0" i="0" u="none" strike="noStrike" kern="1200" cap="none" spc="-120" normalizeH="0" baseline="0" dirty="0" err="1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usecase</a:t>
            </a:r>
            <a:r>
              <a:rPr kumimoji="0" lang="ko-KR" altLang="en-US" sz="1200" b="0" i="0" u="none" strike="noStrike" kern="1200" cap="none" spc="-120" normalizeH="0" baseline="0" dirty="0">
                <a:solidFill>
                  <a:schemeClr val="tx1"/>
                </a:solidFill>
                <a:latin typeface="맑은 고딕"/>
                <a:ea typeface="맑은 고딕"/>
                <a:cs typeface="+mn-cs"/>
              </a:rPr>
              <a:t> 내에서의 재사용</a:t>
            </a:r>
          </a:p>
        </p:txBody>
      </p:sp>
    </p:spTree>
    <p:extLst>
      <p:ext uri="{BB962C8B-B14F-4D97-AF65-F5344CB8AC3E}">
        <p14:creationId xmlns:p14="http://schemas.microsoft.com/office/powerpoint/2010/main" val="996689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 2: Use Case Restructuring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4107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b="1" dirty="0"/>
              <a:t>Solution </a:t>
            </a:r>
            <a:r>
              <a:rPr lang="ko-KR" altLang="en-US" b="1" dirty="0"/>
              <a:t>설명</a:t>
            </a:r>
            <a:endParaRPr lang="en-US" altLang="ko-KR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/>
              <a:t>  </a:t>
            </a:r>
          </a:p>
        </p:txBody>
      </p:sp>
      <p:pic>
        <p:nvPicPr>
          <p:cNvPr id="5" name="그림 6" descr="include2.jpg">
            <a:extLst>
              <a:ext uri="{FF2B5EF4-FFF2-40B4-BE49-F238E27FC236}">
                <a16:creationId xmlns:a16="http://schemas.microsoft.com/office/drawing/2014/main" id="{097A53D2-93D6-45A3-BAA0-0CB6106DD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504" y="1535262"/>
            <a:ext cx="4936676" cy="334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6" descr="extend2.jpg">
            <a:extLst>
              <a:ext uri="{FF2B5EF4-FFF2-40B4-BE49-F238E27FC236}">
                <a16:creationId xmlns:a16="http://schemas.microsoft.com/office/drawing/2014/main" id="{A3E747CB-004B-4A5E-80DF-69B29DEC71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60032" y="1545436"/>
            <a:ext cx="3835484" cy="27438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3526FA85-E44D-4529-A310-1E1E52054D38}"/>
              </a:ext>
            </a:extLst>
          </p:cNvPr>
          <p:cNvGrpSpPr/>
          <p:nvPr/>
        </p:nvGrpSpPr>
        <p:grpSpPr>
          <a:xfrm rot="3053507">
            <a:off x="2760661" y="2642425"/>
            <a:ext cx="1428998" cy="280035"/>
            <a:chOff x="2771800" y="2435731"/>
            <a:chExt cx="1428998" cy="280035"/>
          </a:xfrm>
        </p:grpSpPr>
        <p:sp>
          <p:nvSpPr>
            <p:cNvPr id="8" name="가로 글상자 13">
              <a:extLst>
                <a:ext uri="{FF2B5EF4-FFF2-40B4-BE49-F238E27FC236}">
                  <a16:creationId xmlns:a16="http://schemas.microsoft.com/office/drawing/2014/main" id="{749C2748-5C9B-436A-B6A3-0EB058A593C7}"/>
                </a:ext>
              </a:extLst>
            </p:cNvPr>
            <p:cNvSpPr txBox="1"/>
            <p:nvPr/>
          </p:nvSpPr>
          <p:spPr>
            <a:xfrm>
              <a:off x="2884939" y="2435731"/>
              <a:ext cx="1183005" cy="2720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1200" b="1"/>
                <a:t>&lt;&lt;include&gt;&gt;</a:t>
              </a:r>
            </a:p>
          </p:txBody>
        </p:sp>
        <p:cxnSp>
          <p:nvCxnSpPr>
            <p:cNvPr id="9" name="화살표 14">
              <a:extLst>
                <a:ext uri="{FF2B5EF4-FFF2-40B4-BE49-F238E27FC236}">
                  <a16:creationId xmlns:a16="http://schemas.microsoft.com/office/drawing/2014/main" id="{E39DADEC-27D8-4314-9980-7A2E7C1DCCE5}"/>
                </a:ext>
              </a:extLst>
            </p:cNvPr>
            <p:cNvCxnSpPr/>
            <p:nvPr/>
          </p:nvCxnSpPr>
          <p:spPr>
            <a:xfrm>
              <a:off x="2771800" y="2715766"/>
              <a:ext cx="1428998" cy="0"/>
            </a:xfrm>
            <a:prstGeom prst="straightConnector1">
              <a:avLst/>
            </a:prstGeom>
            <a:ln w="25400"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349F76-443F-4DE7-ABE7-F283B23DF07E}"/>
              </a:ext>
            </a:extLst>
          </p:cNvPr>
          <p:cNvGrpSpPr/>
          <p:nvPr/>
        </p:nvGrpSpPr>
        <p:grpSpPr>
          <a:xfrm rot="3053507">
            <a:off x="6917617" y="2642425"/>
            <a:ext cx="1428998" cy="280035"/>
            <a:chOff x="2771800" y="2435731"/>
            <a:chExt cx="1428998" cy="280035"/>
          </a:xfrm>
        </p:grpSpPr>
        <p:sp>
          <p:nvSpPr>
            <p:cNvPr id="11" name="가로 글상자 13">
              <a:extLst>
                <a:ext uri="{FF2B5EF4-FFF2-40B4-BE49-F238E27FC236}">
                  <a16:creationId xmlns:a16="http://schemas.microsoft.com/office/drawing/2014/main" id="{75315897-6393-4B2F-B353-A8AED0E3038C}"/>
                </a:ext>
              </a:extLst>
            </p:cNvPr>
            <p:cNvSpPr txBox="1"/>
            <p:nvPr/>
          </p:nvSpPr>
          <p:spPr>
            <a:xfrm>
              <a:off x="2884939" y="2435731"/>
              <a:ext cx="1183005" cy="2720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 b="1"/>
                <a:t>&lt;&lt;extend&gt;&gt;</a:t>
              </a:r>
            </a:p>
          </p:txBody>
        </p:sp>
        <p:cxnSp>
          <p:nvCxnSpPr>
            <p:cNvPr id="12" name="화살표 14">
              <a:extLst>
                <a:ext uri="{FF2B5EF4-FFF2-40B4-BE49-F238E27FC236}">
                  <a16:creationId xmlns:a16="http://schemas.microsoft.com/office/drawing/2014/main" id="{FBE114D5-1EC4-42F7-892E-96E0B2B85876}"/>
                </a:ext>
              </a:extLst>
            </p:cNvPr>
            <p:cNvCxnSpPr/>
            <p:nvPr/>
          </p:nvCxnSpPr>
          <p:spPr>
            <a:xfrm>
              <a:off x="2771800" y="2715766"/>
              <a:ext cx="1428998" cy="0"/>
            </a:xfrm>
            <a:prstGeom prst="straightConnector1">
              <a:avLst/>
            </a:prstGeom>
            <a:ln w="25400">
              <a:solidFill>
                <a:schemeClr val="accent1">
                  <a:shade val="95000"/>
                  <a:satMod val="105000"/>
                </a:schemeClr>
              </a:solidFill>
              <a:prstDash val="sysDash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8017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QAS - Pre Activity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797838"/>
            <a:ext cx="4552596" cy="3989821"/>
          </a:xfrm>
          <a:prstGeom prst="rect">
            <a:avLst/>
          </a:prstGeom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 err="1"/>
              <a:t>Naver</a:t>
            </a:r>
            <a:r>
              <a:rPr lang="en-US" altLang="ko-KR" sz="1600" dirty="0"/>
              <a:t> Café</a:t>
            </a:r>
            <a:r>
              <a:rPr lang="ko-KR" altLang="en-US" sz="1600" dirty="0"/>
              <a:t>에 댓글로 남겨주세요</a:t>
            </a:r>
            <a:endParaRPr lang="en-US" altLang="ko-KR" sz="1600" dirty="0"/>
          </a:p>
          <a:p>
            <a:pPr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600" b="1" u="sng" dirty="0"/>
              <a:t>QAS Pre Activity</a:t>
            </a:r>
          </a:p>
          <a:p>
            <a:pPr lvl="1">
              <a:lnSpc>
                <a:spcPct val="100000"/>
              </a:lnSpc>
            </a:pPr>
            <a:r>
              <a:rPr lang="en-US" altLang="ko-KR" sz="1300" dirty="0"/>
              <a:t>1. </a:t>
            </a:r>
            <a:r>
              <a:rPr lang="ko-KR" altLang="en-US" sz="1300" dirty="0"/>
              <a:t>담당 업무</a:t>
            </a:r>
          </a:p>
          <a:p>
            <a:pPr lvl="1">
              <a:lnSpc>
                <a:spcPct val="100000"/>
              </a:lnSpc>
            </a:pPr>
            <a:r>
              <a:rPr lang="en-US" altLang="ko-KR" sz="1300" dirty="0"/>
              <a:t>2. </a:t>
            </a:r>
            <a:r>
              <a:rPr lang="ko-KR" altLang="en-US" sz="1300" dirty="0"/>
              <a:t>내가 생각 하는 가장 중요한 </a:t>
            </a:r>
            <a:r>
              <a:rPr lang="en-US" altLang="ko-KR" sz="1300" dirty="0"/>
              <a:t>QA</a:t>
            </a:r>
          </a:p>
          <a:p>
            <a:pPr lvl="1">
              <a:lnSpc>
                <a:spcPct val="100000"/>
              </a:lnSpc>
            </a:pPr>
            <a:r>
              <a:rPr lang="en-US" altLang="ko-KR" sz="1300" dirty="0"/>
              <a:t>3. </a:t>
            </a:r>
            <a:r>
              <a:rPr lang="ko-KR" altLang="en-US" sz="1300" dirty="0"/>
              <a:t>해당 </a:t>
            </a:r>
            <a:r>
              <a:rPr lang="en-US" altLang="ko-KR" sz="1300" dirty="0"/>
              <a:t>QA </a:t>
            </a:r>
            <a:r>
              <a:rPr lang="ko-KR" altLang="en-US" sz="1300" dirty="0"/>
              <a:t>정의 </a:t>
            </a:r>
            <a:r>
              <a:rPr lang="en-US" altLang="ko-KR" sz="1300" dirty="0"/>
              <a:t>(</a:t>
            </a:r>
            <a:r>
              <a:rPr lang="ko-KR" altLang="en-US" sz="1300" dirty="0"/>
              <a:t>나의 언어로</a:t>
            </a:r>
            <a:r>
              <a:rPr lang="en-US" altLang="ko-KR" sz="13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sz="1300" dirty="0"/>
              <a:t>4. </a:t>
            </a:r>
            <a:r>
              <a:rPr lang="ko-KR" altLang="en-US" sz="1300" dirty="0"/>
              <a:t>가장 중요하다고 선정한 이유</a:t>
            </a:r>
            <a:endParaRPr lang="en-US" altLang="ko-KR" sz="1300" dirty="0"/>
          </a:p>
        </p:txBody>
      </p:sp>
    </p:spTree>
    <p:extLst>
      <p:ext uri="{BB962C8B-B14F-4D97-AF65-F5344CB8AC3E}">
        <p14:creationId xmlns:p14="http://schemas.microsoft.com/office/powerpoint/2010/main" val="16084879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C7922C-D040-F7BD-D852-9661024090EF}"/>
              </a:ext>
            </a:extLst>
          </p:cNvPr>
          <p:cNvSpPr txBox="1">
            <a:spLocks/>
          </p:cNvSpPr>
          <p:nvPr/>
        </p:nvSpPr>
        <p:spPr>
          <a:xfrm>
            <a:off x="2944386" y="94199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9272"/>
            <a:r>
              <a:rPr lang="ko-KR" altLang="en-US" sz="3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온라인 영상 학습</a:t>
            </a:r>
            <a:endParaRPr lang="ko-KR" altLang="en-US" sz="16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제목 5"/>
          <p:cNvSpPr txBox="1">
            <a:spLocks/>
          </p:cNvSpPr>
          <p:nvPr/>
        </p:nvSpPr>
        <p:spPr>
          <a:xfrm>
            <a:off x="2959958" y="1770163"/>
            <a:ext cx="5860514" cy="2817811"/>
          </a:xfrm>
          <a:prstGeom prst="rect">
            <a:avLst/>
          </a:prstGeom>
        </p:spPr>
        <p:txBody>
          <a:bodyPr vert="horz" lIns="75927" tIns="37964" rIns="75927" bIns="37964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400" b="0" dirty="0"/>
              <a:t>6.  Requirements Analysis   : QAS</a:t>
            </a:r>
            <a:r>
              <a:rPr lang="en-US" altLang="ko-KR" sz="2400" dirty="0"/>
              <a:t> </a:t>
            </a:r>
            <a:br>
              <a:rPr lang="en-US" altLang="ko-KR" sz="2400" dirty="0"/>
            </a:br>
            <a:br>
              <a:rPr lang="en-US" altLang="ko-KR" sz="2400" dirty="0"/>
            </a:br>
            <a:br>
              <a:rPr lang="en-US" altLang="ko-KR" sz="2400" dirty="0"/>
            </a:br>
            <a:r>
              <a:rPr lang="en-US" altLang="ko-KR" sz="1600" dirty="0">
                <a:solidFill>
                  <a:schemeClr val="accent5"/>
                </a:solidFill>
              </a:rPr>
              <a:t>※  </a:t>
            </a:r>
            <a:r>
              <a:rPr lang="en-US" altLang="ko-KR" sz="1600" spc="-50" dirty="0">
                <a:solidFill>
                  <a:schemeClr val="accent5"/>
                </a:solidFill>
              </a:rPr>
              <a:t>QAS Pre Activity</a:t>
            </a:r>
            <a:br>
              <a:rPr lang="en-US" altLang="ko-KR" sz="1600" b="0" spc="-50" dirty="0">
                <a:solidFill>
                  <a:schemeClr val="accent5"/>
                </a:solidFill>
              </a:rPr>
            </a:br>
            <a:r>
              <a:rPr lang="en-US" altLang="ko-KR" sz="1600" b="0" spc="-50" dirty="0">
                <a:solidFill>
                  <a:schemeClr val="accent5"/>
                </a:solidFill>
              </a:rPr>
              <a:t>  </a:t>
            </a:r>
            <a:r>
              <a:rPr lang="en-US" altLang="ko-KR" sz="1600" b="0" spc="-50" dirty="0" err="1">
                <a:solidFill>
                  <a:schemeClr val="accent5"/>
                </a:solidFill>
              </a:rPr>
              <a:t>Naver</a:t>
            </a:r>
            <a:r>
              <a:rPr lang="en-US" altLang="ko-KR" sz="1600" b="0" spc="-50" dirty="0">
                <a:solidFill>
                  <a:schemeClr val="accent5"/>
                </a:solidFill>
              </a:rPr>
              <a:t> Café</a:t>
            </a:r>
            <a:r>
              <a:rPr lang="ko-KR" altLang="en-US" sz="1600" b="0" spc="-50" dirty="0">
                <a:solidFill>
                  <a:schemeClr val="accent5"/>
                </a:solidFill>
              </a:rPr>
              <a:t>에 댓글로 남겨주세요 </a:t>
            </a:r>
            <a:r>
              <a:rPr lang="en-US" altLang="ko-KR" sz="1600" b="0" spc="-50" dirty="0">
                <a:solidFill>
                  <a:schemeClr val="accent5"/>
                </a:solidFill>
              </a:rPr>
              <a:t>(</a:t>
            </a:r>
            <a:r>
              <a:rPr lang="ko-KR" altLang="en-US" sz="1600" b="0" spc="-50" dirty="0">
                <a:solidFill>
                  <a:schemeClr val="accent5"/>
                </a:solidFill>
              </a:rPr>
              <a:t>이전 </a:t>
            </a:r>
            <a:r>
              <a:rPr lang="en-US" altLang="ko-KR" sz="1600" b="0" spc="-50" dirty="0">
                <a:solidFill>
                  <a:schemeClr val="accent5"/>
                </a:solidFill>
              </a:rPr>
              <a:t>Page </a:t>
            </a:r>
            <a:r>
              <a:rPr lang="ko-KR" altLang="en-US" sz="1600" b="0" spc="-50" dirty="0">
                <a:solidFill>
                  <a:schemeClr val="accent5"/>
                </a:solidFill>
              </a:rPr>
              <a:t>참고</a:t>
            </a:r>
            <a:r>
              <a:rPr lang="en-US" altLang="ko-KR" sz="1600" b="0" spc="-50" dirty="0">
                <a:solidFill>
                  <a:schemeClr val="accent5"/>
                </a:solidFill>
              </a:rPr>
              <a:t>)</a:t>
            </a:r>
            <a:endParaRPr lang="en-US" sz="1600" spc="-5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2624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</a:t>
            </a:r>
            <a:r>
              <a:rPr lang="ko-KR" altLang="en-US" dirty="0"/>
              <a:t>핵심 주제</a:t>
            </a:r>
            <a:r>
              <a:rPr lang="en-US" altLang="ko-KR" dirty="0"/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16216" y="2571750"/>
            <a:ext cx="2143125" cy="2143125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6-1. Quality Attribute Scenario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altLang="ko-KR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6-2.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Scenario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들 간의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우선순위 결정시 고려 요소는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6-3.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QAS Template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에 포함되는 내용들은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altLang="ko-KR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6-4.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Tree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altLang="ko-KR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6-5.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Workshop (QAW)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82883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46" y="2283718"/>
            <a:ext cx="4892275" cy="2626098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6-1. Quality Attribute Scenario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361338" lvl="1" indent="0">
              <a:buNone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어떤 자극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(stimulus)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에 대해 시스템이 어떤 측정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(Measure)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하에 응답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(Response)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해야 하는지에 대한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Description.</a:t>
            </a:r>
            <a:b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-&gt; &lt;Source&gt;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는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&lt;Environment&gt;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환경에서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, &lt;stimulus&gt;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를 발생시킨다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b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    &lt;Artifact&gt;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는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&lt;Response&gt;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를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&lt;Response Measure&gt;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하에 처리한다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9927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00" y="1923678"/>
            <a:ext cx="7120787" cy="1715140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6-2.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Scenario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의 우선순위 결정시 고려 요소는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74820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52" y="1453530"/>
            <a:ext cx="6789588" cy="331199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35031" y="2062320"/>
            <a:ext cx="6650957" cy="17526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꺾인 연결선 5"/>
          <p:cNvCxnSpPr>
            <a:stCxn id="4" idx="3"/>
          </p:cNvCxnSpPr>
          <p:nvPr/>
        </p:nvCxnSpPr>
        <p:spPr>
          <a:xfrm flipH="1">
            <a:off x="7379638" y="2938620"/>
            <a:ext cx="6350" cy="1401580"/>
          </a:xfrm>
          <a:prstGeom prst="bentConnector4">
            <a:avLst>
              <a:gd name="adj1" fmla="val -12763638"/>
              <a:gd name="adj2" fmla="val 100042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6-3.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QAS Template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에 포함되는 내용들은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14020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180" y="2476583"/>
            <a:ext cx="3936037" cy="17059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64" y="2196470"/>
            <a:ext cx="4710092" cy="2266176"/>
          </a:xfrm>
          <a:prstGeom prst="rect">
            <a:avLst/>
          </a:prstGeom>
        </p:spPr>
      </p:pic>
      <p:sp>
        <p:nvSpPr>
          <p:cNvPr id="6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6-4.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Tree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361338" lvl="1" indent="0">
              <a:buNone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품질 속성을 체계적으로 분류하고 조직화 하는 도구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marL="361338" lvl="1" indent="0">
              <a:buNone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품질 속성을  여러 하위 속성으로 세분화 해서 각 속성이 어떤 요소를 포함하는지 시각적으로 표현</a:t>
            </a:r>
            <a:endParaRPr lang="en-US" altLang="ko-KR" sz="12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282031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sp>
        <p:nvSpPr>
          <p:cNvPr id="4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lvl="0" indent="0"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맑은 고딕"/>
                <a:ea typeface="맑은 고딕"/>
              </a:rPr>
              <a:t>6. Requirement Analysis : QAS</a:t>
            </a:r>
          </a:p>
          <a:p>
            <a:pPr marL="91463" lvl="0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6-5. </a:t>
            </a:r>
            <a:r>
              <a:rPr 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Quality Attribute Workshop (QAW)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  <a:p>
            <a:pPr marL="361338" lvl="1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1)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시스템의 주요 이해관계자들이 모여 시스템의 중요 품질 속성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성능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보안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가용성 등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을 식별하고</a:t>
            </a:r>
          </a:p>
          <a:p>
            <a:pPr marL="361338" lvl="1" indent="0">
              <a:buNone/>
              <a:defRPr/>
            </a:pP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우선순위를 정하는 워크샵 형태의 프로세스 이다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361338" lvl="1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2) QAS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를 도출하는 대표적인 방법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73947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60" y="1772042"/>
            <a:ext cx="3240360" cy="222876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82000" y="794410"/>
            <a:ext cx="79208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63" lvl="0" indent="0">
              <a:buNone/>
              <a:defRPr/>
            </a:pPr>
            <a:r>
              <a:rPr lang="ko-KR" altLang="en-US" sz="1400" b="1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/>
                <a:ea typeface="맑은 고딕"/>
              </a:rPr>
              <a:t>좋은 요구사항 명세의 특성 </a:t>
            </a:r>
            <a:endParaRPr lang="en-US" altLang="ko-KR" sz="1400" b="1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/>
              <a:ea typeface="맑은 고딕"/>
            </a:endParaRPr>
          </a:p>
          <a:p>
            <a:pPr marL="91463" lvl="0" indent="0">
              <a:buNone/>
              <a:defRPr/>
            </a:pPr>
            <a:br>
              <a:rPr lang="en-US" altLang="ko-KR" sz="14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/>
                <a:ea typeface="맑은 고딕"/>
              </a:rPr>
            </a:br>
            <a:r>
              <a:rPr lang="en-US" altLang="ko-KR" sz="14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/>
                <a:ea typeface="맑은 고딕"/>
              </a:rPr>
              <a:t>  - </a:t>
            </a:r>
            <a:r>
              <a:rPr lang="ko-KR" altLang="en-US" sz="1400" spc="-70" dirty="0">
                <a:ln>
                  <a:solidFill>
                    <a:schemeClr val="tx1">
                      <a:alpha val="1000"/>
                    </a:schemeClr>
                  </a:solidFill>
                </a:ln>
                <a:latin typeface="맑은 고딕"/>
                <a:ea typeface="맑은 고딕"/>
              </a:rPr>
              <a:t>작성 되는 문장들은 아래와 같은 특성을 가져야 한다</a:t>
            </a:r>
            <a:endParaRPr lang="en-US" altLang="ko-KR" sz="1400" spc="-70" dirty="0">
              <a:ln>
                <a:solidFill>
                  <a:schemeClr val="tx1">
                    <a:alpha val="1000"/>
                  </a:schemeClr>
                </a:solidFill>
              </a:ln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81696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(6)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33" y="745391"/>
            <a:ext cx="8300456" cy="41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425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Mini-QAW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 lnSpcReduction="10000"/>
          </a:bodyPr>
          <a:lstStyle/>
          <a:p>
            <a:pPr marL="434363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/>
              <a:t>Mini-QAW Introduction</a:t>
            </a:r>
          </a:p>
          <a:p>
            <a:pPr marL="434363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/>
              <a:t>Introduction to Quality Attributes, Quality Attributes Taxonomy</a:t>
            </a:r>
          </a:p>
          <a:p>
            <a:pPr marL="434363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/>
              <a:t>Scenario Brainstorming</a:t>
            </a:r>
          </a:p>
          <a:p>
            <a:pPr marL="91463" indent="0">
              <a:lnSpc>
                <a:spcPct val="150000"/>
              </a:lnSpc>
              <a:buNone/>
            </a:pPr>
            <a:r>
              <a:rPr lang="en-US" altLang="ko-KR" sz="1400" dirty="0"/>
              <a:t>     - “Walk the System Properties Web” activity</a:t>
            </a:r>
          </a:p>
          <a:p>
            <a:pPr marL="434363" indent="-342900">
              <a:lnSpc>
                <a:spcPct val="150000"/>
              </a:lnSpc>
              <a:buAutoNum type="arabicPeriod" startAt="4"/>
            </a:pPr>
            <a:r>
              <a:rPr lang="en-US" altLang="ko-KR" sz="1400" dirty="0"/>
              <a:t>Raw Scenario Prioritization</a:t>
            </a:r>
          </a:p>
          <a:p>
            <a:pPr marL="91463" indent="0">
              <a:lnSpc>
                <a:spcPct val="150000"/>
              </a:lnSpc>
              <a:buNone/>
            </a:pPr>
            <a:r>
              <a:rPr lang="en-US" altLang="ko-KR" sz="1400" dirty="0"/>
              <a:t>     - Dot voting</a:t>
            </a:r>
          </a:p>
          <a:p>
            <a:pPr marL="434363" indent="-342900">
              <a:lnSpc>
                <a:spcPct val="150000"/>
              </a:lnSpc>
              <a:buAutoNum type="arabicPeriod" startAt="5"/>
            </a:pPr>
            <a:r>
              <a:rPr lang="en-US" altLang="ko-KR" sz="1400" dirty="0"/>
              <a:t>Scenario Refinement</a:t>
            </a:r>
          </a:p>
          <a:p>
            <a:pPr marL="91463" indent="0">
              <a:lnSpc>
                <a:spcPct val="150000"/>
              </a:lnSpc>
              <a:buNone/>
            </a:pPr>
            <a:r>
              <a:rPr lang="en-US" altLang="ko-KR" sz="1400" dirty="0"/>
              <a:t>     - While time remains, remainder is homework</a:t>
            </a:r>
          </a:p>
          <a:p>
            <a:pPr marL="434363" indent="-342900">
              <a:lnSpc>
                <a:spcPct val="150000"/>
              </a:lnSpc>
              <a:buAutoNum type="arabicPeriod" startAt="6"/>
            </a:pPr>
            <a:r>
              <a:rPr lang="en-US" altLang="ko-KR" sz="1400" dirty="0"/>
              <a:t>Review Results with Stakeholders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25179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Mini-QAW Introduction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65CEE9-7E19-46B1-BD8E-FDD99B04D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64373"/>
              </p:ext>
            </p:extLst>
          </p:nvPr>
        </p:nvGraphicFramePr>
        <p:xfrm>
          <a:off x="611559" y="1882140"/>
          <a:ext cx="8064897" cy="28769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16225">
                  <a:extLst>
                    <a:ext uri="{9D8B030D-6E8A-4147-A177-3AD203B41FA5}">
                      <a16:colId xmlns:a16="http://schemas.microsoft.com/office/drawing/2014/main" val="4005005913"/>
                    </a:ext>
                  </a:extLst>
                </a:gridCol>
                <a:gridCol w="2043276">
                  <a:extLst>
                    <a:ext uri="{9D8B030D-6E8A-4147-A177-3AD203B41FA5}">
                      <a16:colId xmlns:a16="http://schemas.microsoft.com/office/drawing/2014/main" val="2983885127"/>
                    </a:ext>
                  </a:extLst>
                </a:gridCol>
                <a:gridCol w="4005396">
                  <a:extLst>
                    <a:ext uri="{9D8B030D-6E8A-4147-A177-3AD203B41FA5}">
                      <a16:colId xmlns:a16="http://schemas.microsoft.com/office/drawing/2014/main" val="1519703048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  Stakeholders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주요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희망사항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- Goal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8804"/>
                  </a:ext>
                </a:extLst>
              </a:tr>
              <a:tr h="651298">
                <a:tc>
                  <a:txBody>
                    <a:bodyPr/>
                    <a:lstStyle/>
                    <a:p>
                      <a:pPr marL="176213" lvl="1" indent="0" algn="ctr"/>
                      <a:r>
                        <a:rPr lang="ko-KR" altLang="en-US" sz="1200" dirty="0"/>
                        <a:t>안드로이드 </a:t>
                      </a:r>
                      <a:r>
                        <a:rPr lang="en-US" altLang="ko-KR" sz="1200" dirty="0"/>
                        <a:t>OS </a:t>
                      </a:r>
                      <a:r>
                        <a:rPr lang="ko-KR" altLang="en-US" sz="1200" dirty="0"/>
                        <a:t>관리자</a:t>
                      </a:r>
                      <a:endParaRPr lang="en-US" altLang="ko-KR" sz="1200" b="1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안드로이드 </a:t>
                      </a:r>
                      <a:r>
                        <a:rPr lang="en-US" altLang="ko-KR" sz="1100" dirty="0"/>
                        <a:t>OS</a:t>
                      </a:r>
                      <a:r>
                        <a:rPr lang="ko-KR" altLang="en-US" sz="1100" dirty="0"/>
                        <a:t>가 안정되게 동작하도록 관리한다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b="1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8900" indent="-8890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안드로이드 </a:t>
                      </a:r>
                      <a:r>
                        <a:rPr lang="en-US" altLang="ko-KR" sz="1100" dirty="0"/>
                        <a:t>Interface</a:t>
                      </a:r>
                      <a:r>
                        <a:rPr lang="ko-KR" altLang="en-US" sz="1100" dirty="0"/>
                        <a:t>를 확장하지 않았으면 좋겠다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marL="88900" indent="-8890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Interface</a:t>
                      </a:r>
                      <a:r>
                        <a:rPr lang="ko-KR" altLang="en-US" sz="1100" dirty="0"/>
                        <a:t>에 </a:t>
                      </a:r>
                      <a:r>
                        <a:rPr lang="en-US" altLang="ko-KR" sz="1100" dirty="0"/>
                        <a:t>adapter</a:t>
                      </a:r>
                      <a:r>
                        <a:rPr lang="ko-KR" altLang="en-US" sz="1100" dirty="0"/>
                        <a:t>나 </a:t>
                      </a:r>
                      <a:r>
                        <a:rPr lang="en-US" altLang="ko-KR" sz="1100" dirty="0"/>
                        <a:t>wrapper</a:t>
                      </a:r>
                      <a:r>
                        <a:rPr lang="ko-KR" altLang="en-US" sz="1100" dirty="0"/>
                        <a:t>를 붙이지 않았으면 좋겠다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marL="88900" indent="-8890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가능하면 자세하게</a:t>
                      </a:r>
                      <a:r>
                        <a:rPr lang="en-US" altLang="ko-KR" sz="1100" dirty="0"/>
                        <a:t>)</a:t>
                      </a:r>
                      <a:endParaRPr lang="en-US" altLang="ko-KR" sz="1100" b="1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559761"/>
                  </a:ext>
                </a:extLst>
              </a:tr>
              <a:tr h="367399">
                <a:tc>
                  <a:txBody>
                    <a:bodyPr/>
                    <a:lstStyle/>
                    <a:p>
                      <a:pPr marL="176213" lvl="1" indent="0" algn="ctr" defTabSz="914400" rtl="0" eaLnBrk="1" latinLnBrk="1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588731"/>
                  </a:ext>
                </a:extLst>
              </a:tr>
              <a:tr h="367399">
                <a:tc>
                  <a:txBody>
                    <a:bodyPr/>
                    <a:lstStyle/>
                    <a:p>
                      <a:pPr marL="176213" lvl="1" indent="0" algn="ctr" defTabSz="914400" rtl="0" eaLnBrk="1" latinLnBrk="1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818752"/>
                  </a:ext>
                </a:extLst>
              </a:tr>
              <a:tr h="367399">
                <a:tc>
                  <a:txBody>
                    <a:bodyPr/>
                    <a:lstStyle/>
                    <a:p>
                      <a:pPr marL="176213" lvl="1" indent="0" algn="ctr" defTabSz="914400" rtl="0" eaLnBrk="1" latinLnBrk="1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99362"/>
                  </a:ext>
                </a:extLst>
              </a:tr>
              <a:tr h="367399">
                <a:tc>
                  <a:txBody>
                    <a:bodyPr/>
                    <a:lstStyle/>
                    <a:p>
                      <a:pPr marL="176213" lvl="1" indent="0" algn="ctr" defTabSz="914400" rtl="0" eaLnBrk="1" latinLnBrk="1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077364"/>
                  </a:ext>
                </a:extLst>
              </a:tr>
              <a:tr h="367399">
                <a:tc>
                  <a:txBody>
                    <a:bodyPr/>
                    <a:lstStyle/>
                    <a:p>
                      <a:pPr marL="176213" lvl="1" indent="0" algn="ctr" defTabSz="914400" rtl="0" eaLnBrk="1" latinLnBrk="1" hangingPunct="1"/>
                      <a:endParaRPr lang="en-US" altLang="ko-KR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877071"/>
                  </a:ext>
                </a:extLst>
              </a:tr>
            </a:tbl>
          </a:graphicData>
        </a:graphic>
      </p:graphicFrame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First, sketch </a:t>
            </a:r>
            <a:r>
              <a:rPr lang="en-US" altLang="ko-KR" sz="1600" b="1" dirty="0">
                <a:solidFill>
                  <a:srgbClr val="FF0000"/>
                </a:solidFill>
              </a:rPr>
              <a:t>a rough architecture </a:t>
            </a:r>
            <a:r>
              <a:rPr lang="en-US" altLang="ko-KR" sz="1600" dirty="0"/>
              <a:t>and </a:t>
            </a:r>
            <a:r>
              <a:rPr lang="en-US" altLang="ko-KR" sz="1600" b="1" dirty="0">
                <a:solidFill>
                  <a:srgbClr val="FF0000"/>
                </a:solidFill>
              </a:rPr>
              <a:t>major objectives/functions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Take into account specific roles of all stakeholders.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- For example, “Accessary Service Framework” may have 6~8 different stakeholders and goals.</a:t>
            </a:r>
          </a:p>
        </p:txBody>
      </p:sp>
    </p:spTree>
    <p:extLst>
      <p:ext uri="{BB962C8B-B14F-4D97-AF65-F5344CB8AC3E}">
        <p14:creationId xmlns:p14="http://schemas.microsoft.com/office/powerpoint/2010/main" val="6280771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Introduction to Quality Attributes, Quality Attributes Taxonomy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BB78923-2799-45F6-81A9-9B6E2F3B1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09" b="10620"/>
          <a:stretch/>
        </p:blipFill>
        <p:spPr>
          <a:xfrm>
            <a:off x="2008765" y="1536586"/>
            <a:ext cx="4811804" cy="3116240"/>
          </a:xfrm>
          <a:prstGeom prst="rect">
            <a:avLst/>
          </a:prstGeom>
          <a:ln>
            <a:noFill/>
          </a:ln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Define your own </a:t>
            </a:r>
            <a:r>
              <a:rPr lang="en-US" altLang="ko-KR" sz="1600" b="1" dirty="0"/>
              <a:t>system properties web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Select </a:t>
            </a:r>
            <a:r>
              <a:rPr lang="en-US" altLang="ko-KR" sz="1400" b="1" dirty="0">
                <a:solidFill>
                  <a:srgbClr val="FF0000"/>
                </a:solidFill>
              </a:rPr>
              <a:t>appropriate quality factors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your system under consideration.</a:t>
            </a:r>
          </a:p>
          <a:p>
            <a:pPr marL="91463" indent="0">
              <a:lnSpc>
                <a:spcPct val="70000"/>
              </a:lnSpc>
              <a:buNone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44571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Properties Web</a:t>
            </a:r>
            <a:endParaRPr lang="ko-KR" altLang="en-US" dirty="0"/>
          </a:p>
        </p:txBody>
      </p:sp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92AAB63C-F339-41C4-9CEC-40E2B91FE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15" t="22242" r="10615" b="5124"/>
          <a:stretch/>
        </p:blipFill>
        <p:spPr>
          <a:xfrm>
            <a:off x="2167555" y="1649767"/>
            <a:ext cx="4407322" cy="312983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31640" y="1207026"/>
            <a:ext cx="72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4156BD"/>
                </a:solidFill>
              </a:rPr>
              <a:t>System </a:t>
            </a:r>
            <a:r>
              <a:rPr lang="ko-KR" altLang="en-US" sz="1400" dirty="0">
                <a:solidFill>
                  <a:srgbClr val="4156BD"/>
                </a:solidFill>
              </a:rPr>
              <a:t>목적에 따라 </a:t>
            </a:r>
            <a:r>
              <a:rPr lang="en-US" altLang="ko-KR" sz="1400" dirty="0">
                <a:solidFill>
                  <a:srgbClr val="4156BD"/>
                </a:solidFill>
              </a:rPr>
              <a:t>Property web</a:t>
            </a:r>
            <a:r>
              <a:rPr lang="ko-KR" altLang="en-US" sz="1400" dirty="0">
                <a:solidFill>
                  <a:srgbClr val="4156BD"/>
                </a:solidFill>
              </a:rPr>
              <a:t>이 다르게 나올 수 있음</a:t>
            </a:r>
          </a:p>
        </p:txBody>
      </p:sp>
      <p:sp>
        <p:nvSpPr>
          <p:cNvPr id="7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Different for different systems</a:t>
            </a:r>
          </a:p>
          <a:p>
            <a:pPr marL="91463" indent="0">
              <a:lnSpc>
                <a:spcPct val="70000"/>
              </a:lnSpc>
              <a:buNone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211686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Scenario Brainstorming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Identify raw quality attribute scenarios	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Timing: 30 minutes to 2-3 hours	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600" dirty="0"/>
              <a:t>Steps: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1. Start with a Scenario on the web, ask “Is this Quality attribute relevant to your system?”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2. If Yes, spend 5 minutes brainstorming scenarios / concerns on that scenario.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3. Write raw scenarios on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stickies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put on web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4. After 5 minutes, move to next scenario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7587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Raw Quality Attribute Scenario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3F49CA-363F-44D1-874D-0EB7E9D4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35646"/>
            <a:ext cx="6022164" cy="2376264"/>
          </a:xfrm>
          <a:prstGeom prst="rect">
            <a:avLst/>
          </a:prstGeom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4869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Informally describes a stakeholder’s concern and concrete instances of  quality attributes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803252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“Walk the System Properties Web” Activity</a:t>
            </a:r>
            <a:endParaRPr lang="ko-KR" altLang="en-US" dirty="0"/>
          </a:p>
        </p:txBody>
      </p:sp>
      <p:pic>
        <p:nvPicPr>
          <p:cNvPr id="8" name="내용 개체 틀 7" descr="사람, 벽, 실내, 아이이(가) 표시된 사진&#10;&#10;자동 생성된 설명">
            <a:extLst>
              <a:ext uri="{FF2B5EF4-FFF2-40B4-BE49-F238E27FC236}">
                <a16:creationId xmlns:a16="http://schemas.microsoft.com/office/drawing/2014/main" id="{7352F3C1-8670-42F5-A557-FE0453C05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9" y="1275953"/>
            <a:ext cx="3920354" cy="2940858"/>
          </a:xfrm>
          <a:prstGeom prst="rect">
            <a:avLst/>
          </a:prstGeom>
        </p:spPr>
      </p:pic>
      <p:pic>
        <p:nvPicPr>
          <p:cNvPr id="9" name="내용 개체 틀 10" descr="사람, 벽, 실내이(가) 표시된 사진&#10;&#10;자동 생성된 설명">
            <a:extLst>
              <a:ext uri="{FF2B5EF4-FFF2-40B4-BE49-F238E27FC236}">
                <a16:creationId xmlns:a16="http://schemas.microsoft.com/office/drawing/2014/main" id="{E3125363-841F-4AB3-9624-D43522EF1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33759" y="1384519"/>
            <a:ext cx="3751608" cy="28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282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“Walk the System Properties Web” Activity</a:t>
            </a:r>
            <a:endParaRPr lang="ko-KR" altLang="en-US" dirty="0"/>
          </a:p>
        </p:txBody>
      </p:sp>
      <p:pic>
        <p:nvPicPr>
          <p:cNvPr id="12" name="내용 개체 틀 5">
            <a:extLst>
              <a:ext uri="{FF2B5EF4-FFF2-40B4-BE49-F238E27FC236}">
                <a16:creationId xmlns:a16="http://schemas.microsoft.com/office/drawing/2014/main" id="{E5FCFEDF-D1B1-4CEC-8FF4-3456BED78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591" y="659895"/>
            <a:ext cx="5070819" cy="42617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EE8B203-07F8-41B6-9119-2156842D4846}"/>
                  </a:ext>
                </a:extLst>
              </p14:cNvPr>
              <p14:cNvContentPartPr/>
              <p14:nvPr/>
            </p14:nvContentPartPr>
            <p14:xfrm>
              <a:off x="3606180" y="563146"/>
              <a:ext cx="3800816" cy="4087086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1EE8B203-07F8-41B6-9119-2156842D48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4660" y="553786"/>
                <a:ext cx="3823496" cy="4106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E9420FCA-D91C-4E55-B1C6-0E6F606E1C29}"/>
                  </a:ext>
                </a:extLst>
              </p14:cNvPr>
              <p14:cNvContentPartPr/>
              <p14:nvPr/>
            </p14:nvContentPartPr>
            <p14:xfrm>
              <a:off x="2441985" y="900326"/>
              <a:ext cx="4285230" cy="2855872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E9420FCA-D91C-4E55-B1C6-0E6F606E1C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1546" y="891326"/>
                <a:ext cx="4308989" cy="28778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21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Raw Scenario Prioritization</a:t>
            </a:r>
            <a:endParaRPr lang="ko-KR" altLang="en-US" dirty="0"/>
          </a:p>
        </p:txBody>
      </p:sp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Identify Highest Priority Scenarios using dot voting	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- Timing : 5 minutes		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600" dirty="0"/>
              <a:t>Steps: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Dot Voting:</a:t>
            </a:r>
          </a:p>
          <a:p>
            <a:pPr marL="361338" lvl="1" indent="0">
              <a:lnSpc>
                <a:spcPct val="70000"/>
              </a:lnSpc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ㆍ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Each stakeholder gets (# scenarios / 3 + 1) dots for scenarios.</a:t>
            </a:r>
          </a:p>
          <a:p>
            <a:pPr marL="361338" lvl="1" indent="0">
              <a:lnSpc>
                <a:spcPct val="70000"/>
              </a:lnSpc>
              <a:buNone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ㆍ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 votes to choose “top quality attribute”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025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Raw Scenario Prioritization</a:t>
            </a:r>
            <a:endParaRPr lang="ko-KR" altLang="en-US" dirty="0"/>
          </a:p>
        </p:txBody>
      </p:sp>
      <p:pic>
        <p:nvPicPr>
          <p:cNvPr id="4" name="내용 개체 틀 4">
            <a:extLst>
              <a:ext uri="{FF2B5EF4-FFF2-40B4-BE49-F238E27FC236}">
                <a16:creationId xmlns:a16="http://schemas.microsoft.com/office/drawing/2014/main" id="{37660209-D80F-489A-8445-9AD4F33E0B1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422450" y="721348"/>
            <a:ext cx="4263858" cy="413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81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Scenario Refinement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912C0B-9DB5-4BEA-B7F6-64441D3AE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590" y="2595568"/>
            <a:ext cx="5227781" cy="2223047"/>
          </a:xfrm>
          <a:prstGeom prst="rect">
            <a:avLst/>
          </a:prstGeom>
        </p:spPr>
      </p:pic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Generate Quality Attribute Scenarios based on raw notes		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Timing : 30 - 60 minutes	</a:t>
            </a: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600" dirty="0"/>
              <a:t>Steps: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1. Start with high priority scenario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Fill out the worksheet, identifying the components of a quality attribute scenario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3. Complete and present to stakeholders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5563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Utility Tree: Example</a:t>
            </a:r>
            <a:endParaRPr lang="ko-KR" altLang="en-US" dirty="0"/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4391036" y="2213295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Rectangle 74"/>
          <p:cNvSpPr>
            <a:spLocks noChangeArrowheads="1"/>
          </p:cNvSpPr>
          <p:nvPr/>
        </p:nvSpPr>
        <p:spPr bwMode="auto">
          <a:xfrm>
            <a:off x="2597517" y="3525939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auto">
          <a:xfrm>
            <a:off x="384224" y="2656659"/>
            <a:ext cx="665938" cy="260938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 latinLnBrk="0"/>
            <a:r>
              <a:rPr kumimoji="0" lang="en-US" altLang="ko-KR" sz="1200" b="1" dirty="0">
                <a:solidFill>
                  <a:schemeClr val="tx1"/>
                </a:solidFill>
              </a:rPr>
              <a:t>Software</a:t>
            </a:r>
          </a:p>
          <a:p>
            <a:pPr algn="ctr" latinLnBrk="0"/>
            <a:r>
              <a:rPr lang="en-US" altLang="ko-KR" sz="1200" b="1" dirty="0">
                <a:solidFill>
                  <a:schemeClr val="tx1"/>
                </a:solidFill>
              </a:rPr>
              <a:t>Quality</a:t>
            </a:r>
            <a:endParaRPr kumimoji="0"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81" name="Rectangle 8"/>
          <p:cNvSpPr>
            <a:spLocks noChangeArrowheads="1"/>
          </p:cNvSpPr>
          <p:nvPr/>
        </p:nvSpPr>
        <p:spPr bwMode="auto">
          <a:xfrm>
            <a:off x="1095610" y="2855916"/>
            <a:ext cx="132157" cy="11216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Rectangle 76"/>
          <p:cNvSpPr>
            <a:spLocks noChangeArrowheads="1"/>
          </p:cNvSpPr>
          <p:nvPr/>
        </p:nvSpPr>
        <p:spPr bwMode="auto">
          <a:xfrm>
            <a:off x="4391036" y="1806299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1" name="Rectangle 77"/>
          <p:cNvSpPr>
            <a:spLocks noChangeArrowheads="1"/>
          </p:cNvSpPr>
          <p:nvPr/>
        </p:nvSpPr>
        <p:spPr bwMode="auto">
          <a:xfrm>
            <a:off x="3091643" y="1383855"/>
            <a:ext cx="799899" cy="270843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Execution </a:t>
            </a:r>
          </a:p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Time</a:t>
            </a:r>
            <a:r>
              <a:rPr kumimoji="0" lang="en-US" altLang="ko-KR" sz="1100" b="1" dirty="0">
                <a:solidFill>
                  <a:schemeClr val="tx1"/>
                </a:solidFill>
              </a:rPr>
              <a:t>/Speed</a:t>
            </a:r>
          </a:p>
        </p:txBody>
      </p:sp>
      <p:sp>
        <p:nvSpPr>
          <p:cNvPr id="92" name="Rectangle 77"/>
          <p:cNvSpPr>
            <a:spLocks noChangeArrowheads="1"/>
          </p:cNvSpPr>
          <p:nvPr/>
        </p:nvSpPr>
        <p:spPr bwMode="auto">
          <a:xfrm>
            <a:off x="3167195" y="2976413"/>
            <a:ext cx="719749" cy="270843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1100" b="1" dirty="0">
                <a:solidFill>
                  <a:sysClr val="windowText" lastClr="000000"/>
                </a:solidFill>
              </a:rPr>
              <a:t>Memory</a:t>
            </a:r>
          </a:p>
          <a:p>
            <a:pPr algn="ctr">
              <a:lnSpc>
                <a:spcPct val="80000"/>
              </a:lnSpc>
            </a:pPr>
            <a:r>
              <a:rPr lang="en-US" altLang="ko-KR" sz="1100" b="1" dirty="0">
                <a:solidFill>
                  <a:sysClr val="windowText" lastClr="000000"/>
                </a:solidFill>
              </a:rPr>
              <a:t>Bandwidth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3" name="Rectangle 69"/>
          <p:cNvSpPr>
            <a:spLocks noChangeArrowheads="1"/>
          </p:cNvSpPr>
          <p:nvPr/>
        </p:nvSpPr>
        <p:spPr bwMode="auto">
          <a:xfrm>
            <a:off x="4056233" y="1519986"/>
            <a:ext cx="314342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4" name="Rectangle 74"/>
          <p:cNvSpPr>
            <a:spLocks noChangeArrowheads="1"/>
          </p:cNvSpPr>
          <p:nvPr/>
        </p:nvSpPr>
        <p:spPr bwMode="auto">
          <a:xfrm>
            <a:off x="4370575" y="1297554"/>
            <a:ext cx="315971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Rectangle 77"/>
          <p:cNvSpPr>
            <a:spLocks noChangeArrowheads="1"/>
          </p:cNvSpPr>
          <p:nvPr/>
        </p:nvSpPr>
        <p:spPr bwMode="auto">
          <a:xfrm>
            <a:off x="4908632" y="1247909"/>
            <a:ext cx="3821164" cy="4154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[QAS1] 1 Core System</a:t>
            </a:r>
            <a:r>
              <a:rPr lang="ko-KR" altLang="en-US" sz="900" spc="-120" dirty="0"/>
              <a:t>에서 </a:t>
            </a:r>
            <a:r>
              <a:rPr lang="en-US" altLang="ko-KR" sz="900" spc="-120" dirty="0"/>
              <a:t>4 Core System</a:t>
            </a:r>
            <a:r>
              <a:rPr lang="ko-KR" altLang="en-US" sz="900" spc="-120" dirty="0"/>
              <a:t>을 지원하는  </a:t>
            </a:r>
            <a:r>
              <a:rPr lang="en-US" altLang="ko-KR" sz="900" spc="-120" dirty="0"/>
              <a:t>system</a:t>
            </a:r>
            <a:r>
              <a:rPr lang="ko-KR" altLang="en-US" sz="900" spc="-120" dirty="0"/>
              <a:t>으로 변경될 경우</a:t>
            </a:r>
            <a:r>
              <a:rPr lang="en-US" altLang="ko-KR" sz="900" spc="-120" dirty="0"/>
              <a:t>, 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을 수행하는 데 있어서 소모되는 전력이 </a:t>
            </a:r>
            <a:r>
              <a:rPr lang="en-US" altLang="ko-KR" sz="900" spc="-120" dirty="0"/>
              <a:t>1 Core System</a:t>
            </a:r>
            <a:r>
              <a:rPr lang="ko-KR" altLang="en-US" sz="900" spc="-120" dirty="0"/>
              <a:t>의 경우와 비교하여 </a:t>
            </a:r>
            <a:r>
              <a:rPr lang="en-US" altLang="ko-KR" sz="900" spc="-120" dirty="0"/>
              <a:t>35%</a:t>
            </a:r>
            <a:r>
              <a:rPr lang="ko-KR" altLang="en-US" sz="900" spc="-120" dirty="0"/>
              <a:t>의 </a:t>
            </a:r>
            <a:r>
              <a:rPr lang="en-US" altLang="ko-KR" sz="900" spc="-120" dirty="0"/>
              <a:t>Hz</a:t>
            </a:r>
            <a:r>
              <a:rPr lang="ko-KR" altLang="en-US" sz="900" spc="-120" dirty="0"/>
              <a:t>수를 출력하여야 한다</a:t>
            </a:r>
            <a:r>
              <a:rPr lang="en-US" altLang="ko-KR" sz="900" spc="-120" dirty="0"/>
              <a:t>.</a:t>
            </a:r>
          </a:p>
        </p:txBody>
      </p:sp>
      <p:sp>
        <p:nvSpPr>
          <p:cNvPr id="95" name="Rectangle 77"/>
          <p:cNvSpPr>
            <a:spLocks noChangeArrowheads="1"/>
          </p:cNvSpPr>
          <p:nvPr/>
        </p:nvSpPr>
        <p:spPr bwMode="auto">
          <a:xfrm>
            <a:off x="4908632" y="1756654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[QAS2]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하에서 </a:t>
            </a:r>
            <a:r>
              <a:rPr lang="en-US" altLang="ko-KR" sz="900" spc="-120" dirty="0"/>
              <a:t>Video Data Decoding </a:t>
            </a:r>
            <a:r>
              <a:rPr lang="ko-KR" altLang="en-US" sz="900" spc="-120" dirty="0"/>
              <a:t>성능은 기존 </a:t>
            </a:r>
            <a:r>
              <a:rPr lang="en-US" altLang="ko-KR" sz="900" spc="-120" dirty="0"/>
              <a:t>1 Core System</a:t>
            </a:r>
            <a:r>
              <a:rPr lang="ko-KR" altLang="en-US" sz="900" spc="-120" dirty="0"/>
              <a:t>의 </a:t>
            </a:r>
            <a:r>
              <a:rPr lang="en-US" altLang="ko-KR" sz="900" spc="-120" dirty="0"/>
              <a:t>3</a:t>
            </a:r>
            <a:r>
              <a:rPr lang="ko-KR" altLang="en-US" sz="900" spc="-120" dirty="0"/>
              <a:t>배 정도인</a:t>
            </a:r>
            <a:r>
              <a:rPr lang="en-US" altLang="ko-KR" sz="900" spc="-120" dirty="0"/>
              <a:t>2.5 Data Frames/Second</a:t>
            </a:r>
            <a:r>
              <a:rPr lang="ko-KR" altLang="en-US" sz="900" spc="-120" dirty="0"/>
              <a:t>를 만족시켜야 한다</a:t>
            </a:r>
            <a:r>
              <a:rPr lang="en-US" altLang="ko-KR" sz="900" spc="-120" dirty="0"/>
              <a:t>. </a:t>
            </a:r>
          </a:p>
        </p:txBody>
      </p:sp>
      <p:sp>
        <p:nvSpPr>
          <p:cNvPr id="96" name="Rectangle 77"/>
          <p:cNvSpPr>
            <a:spLocks noChangeArrowheads="1"/>
          </p:cNvSpPr>
          <p:nvPr/>
        </p:nvSpPr>
        <p:spPr bwMode="auto">
          <a:xfrm>
            <a:off x="4908632" y="2162420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[QAS3]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하에서 </a:t>
            </a:r>
            <a:r>
              <a:rPr lang="en-US" altLang="ko-KR" sz="900" spc="-120" dirty="0"/>
              <a:t>Video Decoder</a:t>
            </a:r>
            <a:r>
              <a:rPr lang="ko-KR" altLang="en-US" sz="900" spc="-120" dirty="0"/>
              <a:t>가 지원 가능한 출력 화면의 크기는 기존 </a:t>
            </a:r>
            <a:r>
              <a:rPr lang="en-US" altLang="ko-KR" sz="900" spc="-120" dirty="0"/>
              <a:t>1 Core System</a:t>
            </a:r>
            <a:r>
              <a:rPr lang="ko-KR" altLang="en-US" sz="900" spc="-120" dirty="0"/>
              <a:t>의 경우와 마찬가지로 </a:t>
            </a:r>
            <a:r>
              <a:rPr lang="en-US" altLang="ko-KR" sz="900" spc="-120" dirty="0"/>
              <a:t>1280X720 </a:t>
            </a:r>
            <a:r>
              <a:rPr lang="ko-KR" altLang="en-US" sz="900" spc="-120" dirty="0"/>
              <a:t>픽셀까지이다</a:t>
            </a:r>
            <a:r>
              <a:rPr lang="en-US" altLang="ko-KR" sz="900" spc="-120" dirty="0"/>
              <a:t>.</a:t>
            </a:r>
          </a:p>
        </p:txBody>
      </p:sp>
      <p:sp>
        <p:nvSpPr>
          <p:cNvPr id="97" name="Rectangle 77"/>
          <p:cNvSpPr>
            <a:spLocks noChangeArrowheads="1"/>
          </p:cNvSpPr>
          <p:nvPr/>
        </p:nvSpPr>
        <p:spPr bwMode="auto">
          <a:xfrm>
            <a:off x="4908632" y="3003798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[QAS5] 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하에서 </a:t>
            </a:r>
            <a:r>
              <a:rPr lang="en-US" altLang="ko-KR" sz="900" spc="-120" dirty="0"/>
              <a:t>Video Decoder</a:t>
            </a:r>
            <a:r>
              <a:rPr lang="ko-KR" altLang="en-US" sz="900" spc="-120" dirty="0"/>
              <a:t>가 출력하는 화면의 화질을 측정하는 </a:t>
            </a:r>
            <a:r>
              <a:rPr lang="en-US" altLang="ko-KR" sz="900" spc="-120" dirty="0"/>
              <a:t>Bit rate</a:t>
            </a:r>
            <a:r>
              <a:rPr lang="ko-KR" altLang="en-US" sz="900" spc="-120" dirty="0"/>
              <a:t>는 기존 </a:t>
            </a:r>
            <a:r>
              <a:rPr lang="en-US" altLang="ko-KR" sz="900" spc="-120" dirty="0"/>
              <a:t>1 Core System</a:t>
            </a:r>
            <a:r>
              <a:rPr lang="ko-KR" altLang="en-US" sz="900" spc="-120" dirty="0"/>
              <a:t>의 경우와 마찬가지로 </a:t>
            </a:r>
            <a:r>
              <a:rPr lang="en-US" altLang="ko-KR" sz="900" spc="-120" dirty="0"/>
              <a:t>20Mbps</a:t>
            </a:r>
            <a:r>
              <a:rPr lang="ko-KR" altLang="en-US" sz="900" spc="-120" dirty="0"/>
              <a:t>를 지원해야 한다</a:t>
            </a:r>
            <a:r>
              <a:rPr lang="en-US" altLang="ko-KR" sz="900" spc="-120" dirty="0"/>
              <a:t>. </a:t>
            </a:r>
          </a:p>
        </p:txBody>
      </p:sp>
      <p:sp>
        <p:nvSpPr>
          <p:cNvPr id="98" name="Rectangle 76"/>
          <p:cNvSpPr>
            <a:spLocks noChangeArrowheads="1"/>
          </p:cNvSpPr>
          <p:nvPr/>
        </p:nvSpPr>
        <p:spPr bwMode="auto">
          <a:xfrm>
            <a:off x="4391036" y="2620291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4908632" y="2554338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[QAS4]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을 수행하는 데 있어서 </a:t>
            </a:r>
            <a:r>
              <a:rPr lang="en-US" altLang="ko-KR" sz="900" spc="-120" dirty="0"/>
              <a:t>Core </a:t>
            </a:r>
            <a:r>
              <a:rPr lang="ko-KR" altLang="en-US" sz="900" spc="-120" dirty="0"/>
              <a:t>간 </a:t>
            </a:r>
            <a:r>
              <a:rPr lang="en-US" altLang="ko-KR" sz="900" spc="-120" dirty="0"/>
              <a:t>Communication </a:t>
            </a:r>
            <a:r>
              <a:rPr lang="ko-KR" altLang="en-US" sz="900" spc="-120" dirty="0"/>
              <a:t>으로 인해 발생되는 </a:t>
            </a:r>
            <a:r>
              <a:rPr lang="en-US" altLang="ko-KR" sz="900" spc="-120" dirty="0"/>
              <a:t>Overhead </a:t>
            </a:r>
            <a:r>
              <a:rPr lang="ko-KR" altLang="en-US" sz="900" spc="-120" dirty="0"/>
              <a:t>증가분은 </a:t>
            </a:r>
            <a:r>
              <a:rPr lang="en-US" altLang="ko-KR" sz="900" spc="-120" dirty="0"/>
              <a:t>10% </a:t>
            </a:r>
            <a:r>
              <a:rPr lang="ko-KR" altLang="en-US" sz="900" spc="-120" dirty="0"/>
              <a:t>이내이어야 한다</a:t>
            </a:r>
            <a:r>
              <a:rPr lang="en-US" altLang="ko-KR" sz="900" spc="-120" dirty="0"/>
              <a:t>.</a:t>
            </a:r>
          </a:p>
        </p:txBody>
      </p:sp>
      <p:grpSp>
        <p:nvGrpSpPr>
          <p:cNvPr id="100" name="그룹 259"/>
          <p:cNvGrpSpPr/>
          <p:nvPr/>
        </p:nvGrpSpPr>
        <p:grpSpPr>
          <a:xfrm>
            <a:off x="4095526" y="3118942"/>
            <a:ext cx="611480" cy="10094"/>
            <a:chOff x="4211960" y="3918769"/>
            <a:chExt cx="596007" cy="14287"/>
          </a:xfrm>
        </p:grpSpPr>
        <p:sp>
          <p:nvSpPr>
            <p:cNvPr id="141" name="Rectangle 74"/>
            <p:cNvSpPr>
              <a:spLocks noChangeArrowheads="1"/>
            </p:cNvSpPr>
            <p:nvPr/>
          </p:nvSpPr>
          <p:spPr bwMode="auto">
            <a:xfrm>
              <a:off x="4499992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2" name="Rectangle 74"/>
            <p:cNvSpPr>
              <a:spLocks noChangeArrowheads="1"/>
            </p:cNvSpPr>
            <p:nvPr/>
          </p:nvSpPr>
          <p:spPr bwMode="auto">
            <a:xfrm>
              <a:off x="4211960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1" name="Rectangle 77"/>
          <p:cNvSpPr>
            <a:spLocks noChangeArrowheads="1"/>
          </p:cNvSpPr>
          <p:nvPr/>
        </p:nvSpPr>
        <p:spPr bwMode="auto">
          <a:xfrm>
            <a:off x="3089200" y="3354689"/>
            <a:ext cx="858572" cy="270843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Memory</a:t>
            </a:r>
          </a:p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Demand</a:t>
            </a:r>
            <a:endParaRPr kumimoji="0" lang="en-US" altLang="ko-KR" sz="1100" b="1" u="sng" dirty="0">
              <a:solidFill>
                <a:schemeClr val="tx1"/>
              </a:solidFill>
            </a:endParaRPr>
          </a:p>
        </p:txBody>
      </p:sp>
      <p:grpSp>
        <p:nvGrpSpPr>
          <p:cNvPr id="102" name="그룹 262"/>
          <p:cNvGrpSpPr/>
          <p:nvPr/>
        </p:nvGrpSpPr>
        <p:grpSpPr>
          <a:xfrm>
            <a:off x="4095526" y="3525939"/>
            <a:ext cx="611480" cy="10094"/>
            <a:chOff x="4211960" y="3918769"/>
            <a:chExt cx="596007" cy="14287"/>
          </a:xfrm>
        </p:grpSpPr>
        <p:sp>
          <p:nvSpPr>
            <p:cNvPr id="139" name="Rectangle 74"/>
            <p:cNvSpPr>
              <a:spLocks noChangeArrowheads="1"/>
            </p:cNvSpPr>
            <p:nvPr/>
          </p:nvSpPr>
          <p:spPr bwMode="auto">
            <a:xfrm>
              <a:off x="4499992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74"/>
            <p:cNvSpPr>
              <a:spLocks noChangeArrowheads="1"/>
            </p:cNvSpPr>
            <p:nvPr/>
          </p:nvSpPr>
          <p:spPr bwMode="auto">
            <a:xfrm>
              <a:off x="4211960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tangle 77"/>
          <p:cNvSpPr>
            <a:spLocks noChangeArrowheads="1"/>
          </p:cNvSpPr>
          <p:nvPr/>
        </p:nvSpPr>
        <p:spPr bwMode="auto">
          <a:xfrm>
            <a:off x="4908632" y="3470079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[QAS6] 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을 수행하는 데 있어서 </a:t>
            </a:r>
            <a:r>
              <a:rPr lang="en-US" altLang="ko-KR" sz="900" spc="-120" dirty="0"/>
              <a:t>memory </a:t>
            </a:r>
            <a:r>
              <a:rPr lang="ko-KR" altLang="en-US" sz="900" spc="-120" dirty="0"/>
              <a:t>사용량 증가 정도는 </a:t>
            </a:r>
            <a:r>
              <a:rPr lang="en-US" altLang="ko-KR" sz="900" spc="-120" dirty="0"/>
              <a:t>70 % </a:t>
            </a:r>
            <a:r>
              <a:rPr lang="ko-KR" altLang="en-US" sz="900" spc="-120" dirty="0"/>
              <a:t>이내이어야 한다</a:t>
            </a:r>
            <a:r>
              <a:rPr lang="en-US" altLang="ko-KR" sz="900" spc="-120" dirty="0"/>
              <a:t>.</a:t>
            </a:r>
          </a:p>
        </p:txBody>
      </p:sp>
      <p:sp>
        <p:nvSpPr>
          <p:cNvPr id="104" name="Rectangle 74"/>
          <p:cNvSpPr>
            <a:spLocks noChangeArrowheads="1"/>
          </p:cNvSpPr>
          <p:nvPr/>
        </p:nvSpPr>
        <p:spPr bwMode="auto">
          <a:xfrm>
            <a:off x="2578465" y="3882060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5" name="Rectangle 77"/>
          <p:cNvSpPr>
            <a:spLocks noChangeArrowheads="1"/>
          </p:cNvSpPr>
          <p:nvPr/>
        </p:nvSpPr>
        <p:spPr bwMode="auto">
          <a:xfrm>
            <a:off x="3104110" y="3710811"/>
            <a:ext cx="858572" cy="406265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Load Balancing</a:t>
            </a:r>
          </a:p>
          <a:p>
            <a:pPr algn="ctr" latinLnBrk="0">
              <a:lnSpc>
                <a:spcPct val="80000"/>
              </a:lnSpc>
            </a:pPr>
            <a:r>
              <a:rPr kumimoji="0" lang="en-US" altLang="ko-KR" sz="1100" b="1" dirty="0">
                <a:solidFill>
                  <a:schemeClr val="tx1"/>
                </a:solidFill>
              </a:rPr>
              <a:t>Needs</a:t>
            </a:r>
          </a:p>
        </p:txBody>
      </p:sp>
      <p:grpSp>
        <p:nvGrpSpPr>
          <p:cNvPr id="106" name="그룹 268"/>
          <p:cNvGrpSpPr/>
          <p:nvPr/>
        </p:nvGrpSpPr>
        <p:grpSpPr>
          <a:xfrm>
            <a:off x="4095526" y="3894472"/>
            <a:ext cx="611480" cy="10094"/>
            <a:chOff x="4211960" y="3918769"/>
            <a:chExt cx="596007" cy="14287"/>
          </a:xfrm>
        </p:grpSpPr>
        <p:sp>
          <p:nvSpPr>
            <p:cNvPr id="137" name="Rectangle 74"/>
            <p:cNvSpPr>
              <a:spLocks noChangeArrowheads="1"/>
            </p:cNvSpPr>
            <p:nvPr/>
          </p:nvSpPr>
          <p:spPr bwMode="auto">
            <a:xfrm>
              <a:off x="4499992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8" name="Rectangle 74"/>
            <p:cNvSpPr>
              <a:spLocks noChangeArrowheads="1"/>
            </p:cNvSpPr>
            <p:nvPr/>
          </p:nvSpPr>
          <p:spPr bwMode="auto">
            <a:xfrm>
              <a:off x="4211960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7" name="Rectangle 77"/>
          <p:cNvSpPr>
            <a:spLocks noChangeArrowheads="1"/>
          </p:cNvSpPr>
          <p:nvPr/>
        </p:nvSpPr>
        <p:spPr bwMode="auto">
          <a:xfrm>
            <a:off x="4908632" y="3838612"/>
            <a:ext cx="3821164" cy="276999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 latinLnBrk="0">
              <a:buClr>
                <a:srgbClr val="00B0F0"/>
              </a:buClr>
            </a:pPr>
            <a:r>
              <a:rPr lang="en-US" altLang="ko-KR" sz="900" spc="-120" dirty="0"/>
              <a:t>[QAS7] </a:t>
            </a:r>
            <a:r>
              <a:rPr lang="ko-KR" altLang="en-US" sz="900" spc="-120" dirty="0"/>
              <a:t>정상적인 </a:t>
            </a:r>
            <a:r>
              <a:rPr lang="en-US" altLang="ko-KR" sz="900" spc="-120" dirty="0"/>
              <a:t>Operation</a:t>
            </a:r>
            <a:r>
              <a:rPr lang="ko-KR" altLang="en-US" sz="900" spc="-120" dirty="0"/>
              <a:t>을 수행하는 데 있어서 전체 </a:t>
            </a:r>
            <a:r>
              <a:rPr lang="en-US" altLang="ko-KR" sz="900" spc="-120" dirty="0"/>
              <a:t>system</a:t>
            </a:r>
            <a:r>
              <a:rPr lang="ko-KR" altLang="en-US" sz="900" spc="-120" dirty="0"/>
              <a:t>의 운영 시간 중 각 </a:t>
            </a:r>
            <a:r>
              <a:rPr lang="en-US" altLang="ko-KR" sz="900" spc="-120" dirty="0"/>
              <a:t>Core</a:t>
            </a:r>
            <a:r>
              <a:rPr lang="ko-KR" altLang="en-US" sz="900" spc="-120" dirty="0"/>
              <a:t>들이 </a:t>
            </a:r>
            <a:r>
              <a:rPr lang="en-US" altLang="ko-KR" sz="900" spc="-120" dirty="0"/>
              <a:t>Idle </a:t>
            </a:r>
            <a:r>
              <a:rPr lang="ko-KR" altLang="en-US" sz="900" spc="-120" dirty="0"/>
              <a:t>상태에 머무르는 시간은 </a:t>
            </a:r>
            <a:r>
              <a:rPr lang="en-US" altLang="ko-KR" sz="900" spc="-120" dirty="0"/>
              <a:t>15% </a:t>
            </a:r>
            <a:r>
              <a:rPr lang="ko-KR" altLang="en-US" sz="900" spc="-120" dirty="0"/>
              <a:t>이내 이어야 한다</a:t>
            </a:r>
            <a:r>
              <a:rPr lang="en-US" altLang="ko-KR" sz="900" spc="-120" dirty="0"/>
              <a:t>.</a:t>
            </a:r>
          </a:p>
        </p:txBody>
      </p:sp>
      <p:sp>
        <p:nvSpPr>
          <p:cNvPr id="108" name="Rectangle 18"/>
          <p:cNvSpPr>
            <a:spLocks noChangeArrowheads="1"/>
          </p:cNvSpPr>
          <p:nvPr/>
        </p:nvSpPr>
        <p:spPr bwMode="auto">
          <a:xfrm>
            <a:off x="1466108" y="4197811"/>
            <a:ext cx="859851" cy="200055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latinLnBrk="0"/>
            <a:r>
              <a:rPr kumimoji="0" lang="en-US" altLang="ko-KR" sz="1300" b="1" spc="-90" dirty="0">
                <a:solidFill>
                  <a:schemeClr val="tx1"/>
                </a:solidFill>
              </a:rPr>
              <a:t>Modifiability</a:t>
            </a:r>
            <a:endParaRPr kumimoji="0" lang="en-US" altLang="ko-KR" sz="1300" b="1" u="sng" spc="-90" dirty="0">
              <a:solidFill>
                <a:schemeClr val="tx1"/>
              </a:solidFill>
            </a:endParaRPr>
          </a:p>
        </p:txBody>
      </p:sp>
      <p:sp>
        <p:nvSpPr>
          <p:cNvPr id="109" name="Rectangle 77"/>
          <p:cNvSpPr>
            <a:spLocks noChangeArrowheads="1"/>
          </p:cNvSpPr>
          <p:nvPr/>
        </p:nvSpPr>
        <p:spPr bwMode="auto">
          <a:xfrm>
            <a:off x="1341600" y="968741"/>
            <a:ext cx="1093672" cy="11959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latinLnBrk="0"/>
            <a:r>
              <a:rPr lang="en-US" altLang="ko-KR" sz="1100" i="1" u="sng" dirty="0">
                <a:solidFill>
                  <a:schemeClr val="tx1"/>
                </a:solidFill>
              </a:rPr>
              <a:t>Quality Attribute</a:t>
            </a:r>
            <a:endParaRPr kumimoji="0" lang="en-US" altLang="ko-KR" sz="1100" i="1" u="sng" dirty="0">
              <a:solidFill>
                <a:schemeClr val="tx1"/>
              </a:solidFill>
            </a:endParaRPr>
          </a:p>
        </p:txBody>
      </p:sp>
      <p:sp>
        <p:nvSpPr>
          <p:cNvPr id="110" name="Rectangle 77"/>
          <p:cNvSpPr>
            <a:spLocks noChangeArrowheads="1"/>
          </p:cNvSpPr>
          <p:nvPr/>
        </p:nvSpPr>
        <p:spPr bwMode="auto">
          <a:xfrm>
            <a:off x="2939689" y="995409"/>
            <a:ext cx="1420951" cy="239193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latinLnBrk="0"/>
            <a:r>
              <a:rPr lang="en-US" altLang="ko-KR" sz="1100" b="1" i="1" u="sng" dirty="0">
                <a:solidFill>
                  <a:srgbClr val="C00000"/>
                </a:solidFill>
              </a:rPr>
              <a:t>Architectural Drivers</a:t>
            </a:r>
          </a:p>
          <a:p>
            <a:pPr latinLnBrk="0"/>
            <a:r>
              <a:rPr lang="en-US" altLang="ko-KR" sz="1100" b="1" i="1" u="sng" dirty="0">
                <a:solidFill>
                  <a:srgbClr val="C00000"/>
                </a:solidFill>
              </a:rPr>
              <a:t>(Quality Concern)</a:t>
            </a:r>
            <a:endParaRPr kumimoji="0" lang="en-US" altLang="ko-KR" sz="1100" b="1" i="1" u="sng" dirty="0">
              <a:solidFill>
                <a:srgbClr val="C00000"/>
              </a:solidFill>
            </a:endParaRPr>
          </a:p>
        </p:txBody>
      </p:sp>
      <p:sp>
        <p:nvSpPr>
          <p:cNvPr id="111" name="Rectangle 77"/>
          <p:cNvSpPr>
            <a:spLocks noChangeArrowheads="1"/>
          </p:cNvSpPr>
          <p:nvPr/>
        </p:nvSpPr>
        <p:spPr bwMode="auto">
          <a:xfrm>
            <a:off x="5918949" y="957309"/>
            <a:ext cx="1754809" cy="119596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latinLnBrk="0"/>
            <a:r>
              <a:rPr lang="en-US" altLang="ko-KR" sz="1100" i="1" u="sng" dirty="0">
                <a:solidFill>
                  <a:schemeClr val="tx1"/>
                </a:solidFill>
              </a:rPr>
              <a:t>Quality  Attribute Scenario</a:t>
            </a:r>
            <a:endParaRPr kumimoji="0" lang="en-US" altLang="ko-KR" sz="1100" i="1" u="sng" dirty="0">
              <a:solidFill>
                <a:schemeClr val="tx1"/>
              </a:solidFill>
            </a:endParaRPr>
          </a:p>
        </p:txBody>
      </p:sp>
      <p:sp>
        <p:nvSpPr>
          <p:cNvPr id="113" name="Rectangle 77"/>
          <p:cNvSpPr>
            <a:spLocks noChangeArrowheads="1"/>
          </p:cNvSpPr>
          <p:nvPr/>
        </p:nvSpPr>
        <p:spPr bwMode="auto">
          <a:xfrm>
            <a:off x="3108980" y="4236528"/>
            <a:ext cx="858572" cy="135422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 latinLnBrk="0">
              <a:lnSpc>
                <a:spcPct val="80000"/>
              </a:lnSpc>
            </a:pPr>
            <a:r>
              <a:rPr lang="en-US" altLang="ko-KR" sz="1100" b="1" dirty="0"/>
              <a:t>Change Cost</a:t>
            </a:r>
            <a:endParaRPr kumimoji="0" lang="en-US" altLang="ko-KR" sz="1100" b="1" u="sng" dirty="0">
              <a:solidFill>
                <a:schemeClr val="tx1"/>
              </a:solidFill>
            </a:endParaRPr>
          </a:p>
        </p:txBody>
      </p:sp>
      <p:grpSp>
        <p:nvGrpSpPr>
          <p:cNvPr id="114" name="그룹 283"/>
          <p:cNvGrpSpPr/>
          <p:nvPr/>
        </p:nvGrpSpPr>
        <p:grpSpPr>
          <a:xfrm>
            <a:off x="4095526" y="4289057"/>
            <a:ext cx="611480" cy="10094"/>
            <a:chOff x="4211960" y="3918769"/>
            <a:chExt cx="596007" cy="14287"/>
          </a:xfrm>
        </p:grpSpPr>
        <p:sp>
          <p:nvSpPr>
            <p:cNvPr id="133" name="Rectangle 74"/>
            <p:cNvSpPr>
              <a:spLocks noChangeArrowheads="1"/>
            </p:cNvSpPr>
            <p:nvPr/>
          </p:nvSpPr>
          <p:spPr bwMode="auto">
            <a:xfrm>
              <a:off x="4499992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Rectangle 74"/>
            <p:cNvSpPr>
              <a:spLocks noChangeArrowheads="1"/>
            </p:cNvSpPr>
            <p:nvPr/>
          </p:nvSpPr>
          <p:spPr bwMode="auto">
            <a:xfrm>
              <a:off x="4211960" y="3918769"/>
              <a:ext cx="307975" cy="14287"/>
            </a:xfrm>
            <a:prstGeom prst="rect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5" name="Rectangle 77"/>
          <p:cNvSpPr>
            <a:spLocks noChangeArrowheads="1"/>
          </p:cNvSpPr>
          <p:nvPr/>
        </p:nvSpPr>
        <p:spPr bwMode="auto">
          <a:xfrm>
            <a:off x="4908632" y="4233198"/>
            <a:ext cx="3821164" cy="4154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just">
              <a:buClr>
                <a:srgbClr val="00B0F0"/>
              </a:buClr>
            </a:pPr>
            <a:r>
              <a:rPr lang="en-US" altLang="ko-KR" sz="900" spc="-120" dirty="0"/>
              <a:t>[QAS8] 4 Core System</a:t>
            </a:r>
            <a:r>
              <a:rPr lang="ko-KR" altLang="en-US" sz="900" spc="-120" dirty="0"/>
              <a:t>에서 향후 그 이상의 개수로 </a:t>
            </a:r>
            <a:r>
              <a:rPr lang="en-US" altLang="ko-KR" sz="900" spc="-120" dirty="0"/>
              <a:t>Core </a:t>
            </a:r>
            <a:r>
              <a:rPr lang="ko-KR" altLang="en-US" sz="900" spc="-120" dirty="0"/>
              <a:t>숫자가 늘어날 경우</a:t>
            </a:r>
            <a:r>
              <a:rPr lang="en-US" altLang="ko-KR" sz="900" spc="-120" dirty="0"/>
              <a:t>, 4 Core System </a:t>
            </a:r>
            <a:r>
              <a:rPr lang="ko-KR" altLang="en-US" sz="900" spc="-120" dirty="0"/>
              <a:t>기반의 </a:t>
            </a:r>
            <a:r>
              <a:rPr lang="en-US" altLang="ko-KR" sz="900" spc="-120" dirty="0"/>
              <a:t>Architecture </a:t>
            </a:r>
            <a:r>
              <a:rPr lang="ko-KR" altLang="en-US" sz="900" spc="-120" dirty="0"/>
              <a:t>상에서 변경되는 </a:t>
            </a:r>
            <a:r>
              <a:rPr lang="en-US" altLang="ko-KR" sz="900" spc="-120" dirty="0"/>
              <a:t>Component</a:t>
            </a:r>
            <a:r>
              <a:rPr lang="ko-KR" altLang="en-US" sz="900" spc="-120" dirty="0"/>
              <a:t>와 </a:t>
            </a:r>
            <a:r>
              <a:rPr lang="en-US" altLang="ko-KR" sz="900" spc="-120" dirty="0"/>
              <a:t>Connector</a:t>
            </a:r>
            <a:r>
              <a:rPr lang="ko-KR" altLang="en-US" sz="900" spc="-120" dirty="0"/>
              <a:t>의 비율은 </a:t>
            </a:r>
            <a:r>
              <a:rPr lang="en-US" altLang="ko-KR" sz="900" spc="-120" dirty="0"/>
              <a:t>Parallel Node</a:t>
            </a:r>
            <a:r>
              <a:rPr lang="ko-KR" altLang="en-US" sz="900" spc="-120" dirty="0"/>
              <a:t>의 숫자에 해당되는 </a:t>
            </a:r>
            <a:r>
              <a:rPr lang="en-US" altLang="ko-KR" sz="900" spc="-120" dirty="0"/>
              <a:t>Instance </a:t>
            </a:r>
            <a:r>
              <a:rPr lang="ko-KR" altLang="en-US" sz="900" spc="-120" dirty="0"/>
              <a:t>개수 증가를 제외하고 </a:t>
            </a:r>
            <a:r>
              <a:rPr lang="en-US" altLang="ko-KR" sz="900" spc="-120" dirty="0"/>
              <a:t>50% </a:t>
            </a:r>
            <a:r>
              <a:rPr lang="ko-KR" altLang="en-US" sz="900" spc="-120" dirty="0"/>
              <a:t>미만이어야 한다</a:t>
            </a:r>
            <a:r>
              <a:rPr lang="en-US" altLang="ko-KR" sz="900" spc="-120" dirty="0"/>
              <a:t>. </a:t>
            </a:r>
            <a:endParaRPr lang="ko-KR" altLang="ko-KR" sz="900" spc="-120" dirty="0">
              <a:solidFill>
                <a:srgbClr val="FF0000"/>
              </a:solidFill>
            </a:endParaRPr>
          </a:p>
        </p:txBody>
      </p:sp>
      <p:sp>
        <p:nvSpPr>
          <p:cNvPr id="116" name="Rectangle 74"/>
          <p:cNvSpPr>
            <a:spLocks noChangeArrowheads="1"/>
          </p:cNvSpPr>
          <p:nvPr/>
        </p:nvSpPr>
        <p:spPr bwMode="auto">
          <a:xfrm>
            <a:off x="2584637" y="3141097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411821" y="1059582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(H,L)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429911" y="1568327"/>
            <a:ext cx="5100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(H,H)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385507" y="1975323"/>
            <a:ext cx="558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(M,M)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398664" y="2382320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(H,M)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398664" y="2891065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(M,L)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16754" y="3298061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(M,H)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429911" y="3654183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(L,L)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30" name="Rectangle 69"/>
          <p:cNvSpPr>
            <a:spLocks noChangeArrowheads="1"/>
          </p:cNvSpPr>
          <p:nvPr/>
        </p:nvSpPr>
        <p:spPr bwMode="auto">
          <a:xfrm>
            <a:off x="2403389" y="1621734"/>
            <a:ext cx="156807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2" name="Rectangle 74"/>
          <p:cNvSpPr>
            <a:spLocks noChangeArrowheads="1"/>
          </p:cNvSpPr>
          <p:nvPr/>
        </p:nvSpPr>
        <p:spPr bwMode="auto">
          <a:xfrm>
            <a:off x="2572287" y="1491630"/>
            <a:ext cx="315970" cy="1009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5" name="Rectangle 18"/>
          <p:cNvSpPr>
            <a:spLocks noChangeArrowheads="1"/>
          </p:cNvSpPr>
          <p:nvPr/>
        </p:nvSpPr>
        <p:spPr bwMode="auto">
          <a:xfrm>
            <a:off x="1453480" y="1499638"/>
            <a:ext cx="880626" cy="200055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latinLnBrk="0"/>
            <a:r>
              <a:rPr kumimoji="0" lang="en-US" altLang="ko-KR" sz="1300" b="1" spc="-90" dirty="0">
                <a:solidFill>
                  <a:schemeClr val="tx1"/>
                </a:solidFill>
              </a:rPr>
              <a:t>Performance</a:t>
            </a:r>
            <a:endParaRPr kumimoji="0" lang="en-US" altLang="ko-KR" sz="1300" b="1" u="sng" spc="-90" dirty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837910" y="821211"/>
            <a:ext cx="1508444" cy="1630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rgbClr val="00B0F0"/>
                </a:solidFill>
              </a:rPr>
              <a:t>(Importance, Difficulty)</a:t>
            </a:r>
            <a:endParaRPr lang="ko-KR" altLang="en-US" sz="900" b="1" dirty="0">
              <a:solidFill>
                <a:srgbClr val="00B0F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416432" y="407092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B0F0"/>
                </a:solidFill>
              </a:rPr>
              <a:t>(L,M)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C29877C-04FC-6533-5873-B0E818AF01E1}"/>
              </a:ext>
            </a:extLst>
          </p:cNvPr>
          <p:cNvSpPr/>
          <p:nvPr/>
        </p:nvSpPr>
        <p:spPr>
          <a:xfrm>
            <a:off x="2715036" y="831756"/>
            <a:ext cx="1748840" cy="37764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1245045" y="1617737"/>
            <a:ext cx="0" cy="2670073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235519" y="1612990"/>
            <a:ext cx="145269" cy="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46" name="직선 연결선 145"/>
          <p:cNvCxnSpPr/>
          <p:nvPr/>
        </p:nvCxnSpPr>
        <p:spPr>
          <a:xfrm>
            <a:off x="1235519" y="4294104"/>
            <a:ext cx="145269" cy="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2577050" y="1495830"/>
            <a:ext cx="0" cy="2392398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47" name="직선 연결선 146"/>
          <p:cNvCxnSpPr/>
          <p:nvPr/>
        </p:nvCxnSpPr>
        <p:spPr>
          <a:xfrm>
            <a:off x="2491828" y="4294104"/>
            <a:ext cx="522690" cy="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48" name="직선 연결선 147"/>
          <p:cNvCxnSpPr/>
          <p:nvPr/>
        </p:nvCxnSpPr>
        <p:spPr>
          <a:xfrm>
            <a:off x="4373716" y="1297974"/>
            <a:ext cx="0" cy="1336650"/>
          </a:xfrm>
          <a:prstGeom prst="line">
            <a:avLst/>
          </a:prstGeom>
          <a:ln w="28575">
            <a:solidFill>
              <a:srgbClr val="00B0F0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3658963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사례</a:t>
            </a:r>
            <a:r>
              <a:rPr lang="en-US" altLang="ko-KR" dirty="0"/>
              <a:t>) Mini-QAW</a:t>
            </a:r>
            <a:endParaRPr lang="ko-KR" altLang="en-US" dirty="0"/>
          </a:p>
        </p:txBody>
      </p:sp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6393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Target System: </a:t>
            </a:r>
            <a:r>
              <a:rPr lang="en-US" altLang="ko-KR" sz="1400" b="1" spc="-120" dirty="0">
                <a:solidFill>
                  <a:srgbClr val="4156BD"/>
                </a:solidFill>
              </a:rPr>
              <a:t>Smart Watch System</a:t>
            </a:r>
          </a:p>
          <a:p>
            <a:endParaRPr lang="en-US" altLang="ko-KR" sz="1400" dirty="0"/>
          </a:p>
          <a:p>
            <a:r>
              <a:rPr lang="en-US" altLang="ko-KR" sz="1400" dirty="0"/>
              <a:t>Smart Watch system</a:t>
            </a:r>
            <a:r>
              <a:rPr lang="ko-KR" altLang="en-US" sz="1400" dirty="0"/>
              <a:t>에 대한 </a:t>
            </a:r>
            <a:r>
              <a:rPr lang="en-US" altLang="ko-KR" sz="1400" dirty="0"/>
              <a:t>4~5</a:t>
            </a:r>
            <a:r>
              <a:rPr lang="ko-KR" altLang="en-US" sz="1400" dirty="0"/>
              <a:t>개</a:t>
            </a:r>
            <a:r>
              <a:rPr lang="en-US" altLang="ko-KR" sz="1400" dirty="0"/>
              <a:t>(1</a:t>
            </a:r>
            <a:r>
              <a:rPr lang="ko-KR" altLang="en-US" sz="1400" dirty="0"/>
              <a:t>인당 한 개</a:t>
            </a:r>
            <a:r>
              <a:rPr lang="en-US" altLang="ko-KR" sz="1400" dirty="0"/>
              <a:t>)</a:t>
            </a:r>
            <a:r>
              <a:rPr lang="ko-KR" altLang="en-US" sz="1400" dirty="0"/>
              <a:t>의 </a:t>
            </a:r>
            <a:r>
              <a:rPr lang="en-US" altLang="ko-KR" sz="1400" dirty="0"/>
              <a:t>Quality Attribute</a:t>
            </a:r>
            <a:r>
              <a:rPr lang="ko-KR" altLang="en-US" sz="1400" dirty="0"/>
              <a:t>를 선정하세요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ko-KR" altLang="en-US" sz="1400" dirty="0"/>
              <a:t>팀원 간 토의를 통해 </a:t>
            </a:r>
            <a:r>
              <a:rPr lang="en-US" altLang="ko-KR" sz="1400" dirty="0"/>
              <a:t>Quality Attribute</a:t>
            </a:r>
            <a:r>
              <a:rPr lang="ko-KR" altLang="en-US" sz="1400" dirty="0"/>
              <a:t>로 적절한 것을 선별하세요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/>
              <a:t>각각의 </a:t>
            </a:r>
            <a:r>
              <a:rPr lang="en-US" altLang="ko-KR" sz="1400" dirty="0"/>
              <a:t>Quality Attribute</a:t>
            </a:r>
            <a:r>
              <a:rPr lang="ko-KR" altLang="en-US" sz="1400" dirty="0"/>
              <a:t>에 대한 </a:t>
            </a:r>
            <a:r>
              <a:rPr lang="en-US" altLang="ko-KR" sz="1400" dirty="0"/>
              <a:t>Scenario</a:t>
            </a:r>
            <a:r>
              <a:rPr lang="ko-KR" altLang="en-US" sz="1400" dirty="0"/>
              <a:t>를 완성하세요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(I, D) : (Importance, Difficulty)</a:t>
            </a:r>
            <a:r>
              <a:rPr lang="ko-KR" altLang="en-US" sz="1400" dirty="0"/>
              <a:t>에 대해 </a:t>
            </a:r>
            <a:r>
              <a:rPr lang="en-US" altLang="ko-KR" sz="1400" dirty="0"/>
              <a:t>High, Medium, Low </a:t>
            </a:r>
            <a:r>
              <a:rPr lang="ko-KR" altLang="en-US" sz="1400" dirty="0"/>
              <a:t>중 하나를 각각 부여하고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/>
              <a:t>이를 바탕으로 각 </a:t>
            </a:r>
            <a:r>
              <a:rPr lang="en-US" altLang="ko-KR" sz="1400" dirty="0"/>
              <a:t>QAS</a:t>
            </a:r>
            <a:r>
              <a:rPr lang="ko-KR" altLang="en-US" sz="1400" dirty="0"/>
              <a:t>의 우선순위를 결정하여 명세하세요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4475470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사례</a:t>
            </a:r>
            <a:r>
              <a:rPr lang="en-US" altLang="ko-KR" dirty="0"/>
              <a:t>) Utility Tree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78BD004-A49A-456F-97CE-EA3B649A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547600"/>
              </p:ext>
            </p:extLst>
          </p:nvPr>
        </p:nvGraphicFramePr>
        <p:xfrm>
          <a:off x="449579" y="885086"/>
          <a:ext cx="8226879" cy="3821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813">
                  <a:extLst>
                    <a:ext uri="{9D8B030D-6E8A-4147-A177-3AD203B41FA5}">
                      <a16:colId xmlns:a16="http://schemas.microsoft.com/office/drawing/2014/main" val="2881050235"/>
                    </a:ext>
                  </a:extLst>
                </a:gridCol>
                <a:gridCol w="5106109">
                  <a:extLst>
                    <a:ext uri="{9D8B030D-6E8A-4147-A177-3AD203B41FA5}">
                      <a16:colId xmlns:a16="http://schemas.microsoft.com/office/drawing/2014/main" val="2029967220"/>
                    </a:ext>
                  </a:extLst>
                </a:gridCol>
                <a:gridCol w="770804">
                  <a:extLst>
                    <a:ext uri="{9D8B030D-6E8A-4147-A177-3AD203B41FA5}">
                      <a16:colId xmlns:a16="http://schemas.microsoft.com/office/drawing/2014/main" val="3144799700"/>
                    </a:ext>
                  </a:extLst>
                </a:gridCol>
                <a:gridCol w="1002153">
                  <a:extLst>
                    <a:ext uri="{9D8B030D-6E8A-4147-A177-3AD203B41FA5}">
                      <a16:colId xmlns:a16="http://schemas.microsoft.com/office/drawing/2014/main" val="3844112469"/>
                    </a:ext>
                  </a:extLst>
                </a:gridCol>
              </a:tblGrid>
              <a:tr h="4373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Quality Attribute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Quality Attribute Scenario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( I,D 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72023"/>
                  </a:ext>
                </a:extLst>
              </a:tr>
              <a:tr h="754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spc="-80" baseline="0" dirty="0"/>
                        <a:t>Smart Watch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en-US" altLang="ko-KR" sz="1200" spc="-80" baseline="0" dirty="0">
                          <a:solidFill>
                            <a:srgbClr val="00B050"/>
                          </a:solidFill>
                        </a:rPr>
                        <a:t>normal operation</a:t>
                      </a:r>
                      <a:r>
                        <a:rPr lang="ko-KR" altLang="en-US" sz="1200" spc="-80" baseline="0" dirty="0">
                          <a:solidFill>
                            <a:srgbClr val="00B050"/>
                          </a:solidFill>
                        </a:rPr>
                        <a:t>을 제공하는 상황</a:t>
                      </a:r>
                      <a:r>
                        <a:rPr lang="ko-KR" altLang="en-US" sz="1200" spc="-80" baseline="0" dirty="0"/>
                        <a:t>에서 </a:t>
                      </a:r>
                      <a:r>
                        <a:rPr lang="ko-KR" altLang="en-US" sz="1200" spc="-80" baseline="0" dirty="0">
                          <a:solidFill>
                            <a:srgbClr val="FFC000"/>
                          </a:solidFill>
                        </a:rPr>
                        <a:t>사용자</a:t>
                      </a:r>
                      <a:r>
                        <a:rPr lang="ko-KR" altLang="en-US" sz="1200" spc="-80" baseline="0" dirty="0"/>
                        <a:t>가 걸음 수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심박수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수면 상태 등의 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건강데이터를 확인하고자 할 때</a:t>
                      </a:r>
                      <a:r>
                        <a:rPr lang="ko-KR" altLang="en-US" sz="1200" spc="-80" baseline="0" dirty="0"/>
                        <a:t> </a:t>
                      </a:r>
                      <a:r>
                        <a:rPr lang="en-US" altLang="ko-KR" sz="1200" spc="-80" baseline="0" dirty="0"/>
                        <a:t>Smart Watch</a:t>
                      </a:r>
                      <a:r>
                        <a:rPr lang="ko-KR" altLang="en-US" sz="1200" spc="-80" baseline="0" dirty="0"/>
                        <a:t>는 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99%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확률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,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응답 속도 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200ms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이내로 </a:t>
                      </a:r>
                      <a:r>
                        <a:rPr lang="ko-KR" altLang="en-US" sz="1200" spc="-80" baseline="0" dirty="0">
                          <a:solidFill>
                            <a:srgbClr val="0070C0"/>
                          </a:solidFill>
                        </a:rPr>
                        <a:t>요청된 데이터를 화면에 출력</a:t>
                      </a:r>
                      <a:r>
                        <a:rPr lang="ko-KR" altLang="en-US" sz="1200" spc="-80" baseline="0" dirty="0"/>
                        <a:t>한다</a:t>
                      </a:r>
                      <a:r>
                        <a:rPr lang="en-US" altLang="ko-KR" sz="1200" spc="-80" baseline="0" dirty="0"/>
                        <a:t>.</a:t>
                      </a:r>
                      <a:endParaRPr lang="ko-KR" altLang="en-US" sz="1200" spc="-8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M, H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620539"/>
                  </a:ext>
                </a:extLst>
              </a:tr>
              <a:tr h="754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Availability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spc="-80" baseline="0" dirty="0"/>
                        <a:t>Smart Watch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en-US" altLang="ko-KR" sz="1200" spc="-80" baseline="0" dirty="0">
                          <a:solidFill>
                            <a:srgbClr val="00B050"/>
                          </a:solidFill>
                        </a:rPr>
                        <a:t>normal operation</a:t>
                      </a:r>
                      <a:r>
                        <a:rPr lang="ko-KR" altLang="en-US" sz="1200" spc="-80" baseline="0" dirty="0">
                          <a:solidFill>
                            <a:srgbClr val="00B050"/>
                          </a:solidFill>
                        </a:rPr>
                        <a:t>을 제공하는 상황</a:t>
                      </a:r>
                      <a:r>
                        <a:rPr lang="ko-KR" altLang="en-US" sz="1200" spc="-80" baseline="0" dirty="0"/>
                        <a:t>에서 </a:t>
                      </a:r>
                      <a:r>
                        <a:rPr lang="ko-KR" altLang="en-US" sz="1200" spc="-80" baseline="0" dirty="0">
                          <a:solidFill>
                            <a:srgbClr val="FFC000"/>
                          </a:solidFill>
                        </a:rPr>
                        <a:t>사용자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en-US" altLang="ko-KR" sz="1200" spc="-80" baseline="0" dirty="0">
                          <a:solidFill>
                            <a:srgbClr val="FF0000"/>
                          </a:solidFill>
                        </a:rPr>
                        <a:t>Smart Watch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를 착용 중일 때 </a:t>
                      </a:r>
                      <a:r>
                        <a:rPr lang="ko-KR" altLang="en-US" sz="1200" spc="-80" baseline="0" dirty="0"/>
                        <a:t>각 센서를 통해  </a:t>
                      </a:r>
                      <a:r>
                        <a:rPr lang="ko-KR" altLang="en-US" sz="1200" spc="-80" baseline="0" dirty="0">
                          <a:solidFill>
                            <a:srgbClr val="0070C0"/>
                          </a:solidFill>
                        </a:rPr>
                        <a:t>사용자의 신체 활동을 모니터링하고 기록해야 </a:t>
                      </a:r>
                      <a:r>
                        <a:rPr lang="ko-KR" altLang="en-US" sz="1200" spc="-80" baseline="0" dirty="0"/>
                        <a:t>하며 측정 실패는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전체 착용 시간의 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0.1%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미만</a:t>
                      </a:r>
                      <a:r>
                        <a:rPr lang="ko-KR" altLang="en-US" sz="1200" spc="-80" baseline="0" dirty="0"/>
                        <a:t>이다</a:t>
                      </a:r>
                      <a:r>
                        <a:rPr lang="en-US" altLang="ko-KR" sz="1200" spc="-80" baseline="0" dirty="0"/>
                        <a:t>. </a:t>
                      </a:r>
                      <a:endParaRPr lang="ko-KR" altLang="en-US" sz="1200" spc="-8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H, H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077566"/>
                  </a:ext>
                </a:extLst>
              </a:tr>
              <a:tr h="754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Security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spc="-80" baseline="0" dirty="0"/>
                        <a:t>Smart watch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en-US" altLang="ko-KR" sz="1200" spc="-80" baseline="0" dirty="0">
                          <a:solidFill>
                            <a:srgbClr val="00B050"/>
                          </a:solidFill>
                        </a:rPr>
                        <a:t>normal operation</a:t>
                      </a:r>
                      <a:r>
                        <a:rPr lang="ko-KR" altLang="en-US" sz="1200" spc="-80" baseline="0" dirty="0">
                          <a:solidFill>
                            <a:srgbClr val="00B050"/>
                          </a:solidFill>
                        </a:rPr>
                        <a:t>일 때</a:t>
                      </a:r>
                      <a:r>
                        <a:rPr lang="ko-KR" altLang="en-US" sz="1200" spc="-80" baseline="0" dirty="0"/>
                        <a:t>  </a:t>
                      </a:r>
                      <a:r>
                        <a:rPr lang="ko-KR" altLang="en-US" sz="1200" spc="-80" baseline="0" dirty="0">
                          <a:solidFill>
                            <a:srgbClr val="FFC000"/>
                          </a:solidFill>
                        </a:rPr>
                        <a:t>외부 </a:t>
                      </a:r>
                      <a:r>
                        <a:rPr lang="en-US" altLang="ko-KR" sz="1200" spc="-80" baseline="0" dirty="0">
                          <a:solidFill>
                            <a:srgbClr val="FFC000"/>
                          </a:solidFill>
                        </a:rPr>
                        <a:t>attacker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사용자의 신체활동 정보 등의 민감정보를 탈취하려고 하면 </a:t>
                      </a:r>
                      <a:r>
                        <a:rPr lang="en-US" altLang="ko-KR" sz="1200" spc="-80" baseline="0" dirty="0"/>
                        <a:t>Smart watch</a:t>
                      </a:r>
                      <a:r>
                        <a:rPr lang="ko-KR" altLang="en-US" sz="1200" spc="-80" baseline="0" dirty="0"/>
                        <a:t>는 침입 탐지 구현에 따라 </a:t>
                      </a:r>
                      <a:r>
                        <a:rPr lang="ko-KR" altLang="en-US" sz="1200" spc="-80" baseline="0" dirty="0">
                          <a:solidFill>
                            <a:srgbClr val="0070C0"/>
                          </a:solidFill>
                        </a:rPr>
                        <a:t>즉시 공격을 식별하고 추가적인 침입으로 부터 보호를 위해 격리 프로토콜을 적용</a:t>
                      </a:r>
                      <a:r>
                        <a:rPr lang="ko-KR" altLang="en-US" sz="1200" spc="-80" baseline="0" dirty="0"/>
                        <a:t>하는 침입방지 매커니즘의 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성공률은 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99.99%</a:t>
                      </a:r>
                      <a:r>
                        <a:rPr lang="ko-KR" altLang="en-US" sz="1200" spc="-80" baseline="0" dirty="0"/>
                        <a:t>이다</a:t>
                      </a:r>
                      <a:r>
                        <a:rPr lang="en-US" altLang="ko-KR" sz="1200" spc="-80" baseline="0" dirty="0"/>
                        <a:t>.</a:t>
                      </a:r>
                      <a:endParaRPr lang="ko-KR" altLang="en-US" sz="1200" spc="-8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H, 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094740"/>
                  </a:ext>
                </a:extLst>
              </a:tr>
              <a:tr h="970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Availability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spc="-80" baseline="0" dirty="0"/>
                        <a:t>Smart Watch 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en-US" altLang="ko-KR" sz="1200" spc="-80" baseline="0" dirty="0">
                          <a:solidFill>
                            <a:srgbClr val="00B050"/>
                          </a:solidFill>
                        </a:rPr>
                        <a:t>normal operation </a:t>
                      </a:r>
                      <a:r>
                        <a:rPr lang="ko-KR" altLang="en-US" sz="1200" spc="-80" baseline="0" dirty="0">
                          <a:solidFill>
                            <a:srgbClr val="00B050"/>
                          </a:solidFill>
                        </a:rPr>
                        <a:t>상황 하에서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>
                          <a:solidFill>
                            <a:srgbClr val="FFC000"/>
                          </a:solidFill>
                        </a:rPr>
                        <a:t>사용자</a:t>
                      </a:r>
                      <a:r>
                        <a:rPr lang="ko-KR" altLang="en-US" sz="1200" spc="-80" baseline="0" dirty="0"/>
                        <a:t>가 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특정 병원 </a:t>
                      </a:r>
                      <a:r>
                        <a:rPr lang="en-US" altLang="ko-KR" sz="1200" spc="-80" baseline="0" dirty="0">
                          <a:solidFill>
                            <a:srgbClr val="FF0000"/>
                          </a:solidFill>
                        </a:rPr>
                        <a:t>System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과 연동하여 </a:t>
                      </a:r>
                      <a:r>
                        <a:rPr lang="en-US" altLang="ko-KR" sz="1200" spc="-80" baseline="0" dirty="0">
                          <a:solidFill>
                            <a:srgbClr val="FF0000"/>
                          </a:solidFill>
                        </a:rPr>
                        <a:t>Health Condition Monitoring Service</a:t>
                      </a:r>
                      <a:r>
                        <a:rPr lang="ko-KR" altLang="en-US" sz="1200" spc="-80" baseline="0" dirty="0">
                          <a:solidFill>
                            <a:srgbClr val="FF0000"/>
                          </a:solidFill>
                        </a:rPr>
                        <a:t>를 받고 있는 경우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연동 중인 </a:t>
                      </a:r>
                      <a:r>
                        <a:rPr lang="ko-KR" altLang="en-US" sz="1200" spc="-80" baseline="0" dirty="0">
                          <a:solidFill>
                            <a:srgbClr val="0070C0"/>
                          </a:solidFill>
                        </a:rPr>
                        <a:t>병원 </a:t>
                      </a:r>
                      <a:r>
                        <a:rPr lang="en-US" altLang="ko-KR" sz="1200" spc="-80" baseline="0" dirty="0">
                          <a:solidFill>
                            <a:srgbClr val="0070C0"/>
                          </a:solidFill>
                        </a:rPr>
                        <a:t>System</a:t>
                      </a:r>
                      <a:r>
                        <a:rPr lang="ko-KR" altLang="en-US" sz="1200" spc="-80" baseline="0" dirty="0">
                          <a:solidFill>
                            <a:srgbClr val="0070C0"/>
                          </a:solidFill>
                        </a:rPr>
                        <a:t>으로부터의 요청에 응답</a:t>
                      </a:r>
                      <a:r>
                        <a:rPr lang="ko-KR" altLang="en-US" sz="1200" spc="-80" baseline="0" dirty="0">
                          <a:solidFill>
                            <a:schemeClr val="tx1"/>
                          </a:solidFill>
                        </a:rPr>
                        <a:t>할</a:t>
                      </a:r>
                      <a:r>
                        <a:rPr lang="ko-KR" altLang="en-US" sz="1200" spc="-80" baseline="0" dirty="0">
                          <a:solidFill>
                            <a:srgbClr val="7030A0"/>
                          </a:solidFill>
                        </a:rPr>
                        <a:t> 확률은 </a:t>
                      </a:r>
                      <a:r>
                        <a:rPr lang="en-US" altLang="ko-KR" sz="1200" spc="-80" baseline="0" dirty="0">
                          <a:solidFill>
                            <a:srgbClr val="7030A0"/>
                          </a:solidFill>
                        </a:rPr>
                        <a:t>99.99%</a:t>
                      </a:r>
                      <a:r>
                        <a:rPr lang="ko-KR" altLang="en-US" sz="1200" spc="-80" baseline="0" dirty="0"/>
                        <a:t>이다</a:t>
                      </a:r>
                      <a:r>
                        <a:rPr lang="en-US" altLang="ko-KR" sz="1200" spc="-80" baseline="0" dirty="0"/>
                        <a:t>.</a:t>
                      </a:r>
                      <a:endParaRPr lang="ko-KR" altLang="en-US" sz="1200" spc="-8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M, 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029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3769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3: Mini-QAW</a:t>
            </a:r>
            <a:endParaRPr lang="ko-KR" altLang="en-US" dirty="0"/>
          </a:p>
        </p:txBody>
      </p:sp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30224" y="737208"/>
            <a:ext cx="8712968" cy="4282814"/>
          </a:xfrm>
        </p:spPr>
        <p:txBody>
          <a:bodyPr>
            <a:noAutofit/>
          </a:bodyPr>
          <a:lstStyle/>
          <a:p>
            <a:pPr marL="91463" indent="0">
              <a:buNone/>
            </a:pPr>
            <a:r>
              <a:rPr lang="en-US" altLang="ko-KR" sz="1400" b="1" dirty="0"/>
              <a:t>Quality Attribute: </a:t>
            </a:r>
            <a:r>
              <a:rPr lang="en-US" altLang="ko-KR" sz="1400" dirty="0"/>
              <a:t>Availability, Modifiability, Performance, Usability, Interoperability, Security, Testability</a:t>
            </a:r>
          </a:p>
          <a:p>
            <a:pPr marL="91463" indent="0">
              <a:buNone/>
            </a:pPr>
            <a:endParaRPr lang="en-US" altLang="ko-KR" sz="1200" b="1" spc="-120" dirty="0">
              <a:solidFill>
                <a:srgbClr val="4156B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63" indent="0">
              <a:buNone/>
            </a:pP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[Ex3.1] Raw QAS</a:t>
            </a:r>
            <a:r>
              <a:rPr lang="en-US" altLang="ko-KR" sz="1200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spc="-120" dirty="0">
                <a:solidFill>
                  <a:srgbClr val="4156BD"/>
                </a:solidFill>
              </a:rPr>
              <a:t>(Raw</a:t>
            </a:r>
            <a:r>
              <a:rPr lang="ko-KR" altLang="en-US" sz="1200" spc="-120" dirty="0">
                <a:solidFill>
                  <a:srgbClr val="4156BD"/>
                </a:solidFill>
              </a:rPr>
              <a:t> </a:t>
            </a:r>
            <a:r>
              <a:rPr lang="en-US" altLang="ko-KR" sz="1200" spc="-120" dirty="0">
                <a:solidFill>
                  <a:srgbClr val="4156BD"/>
                </a:solidFill>
              </a:rPr>
              <a:t>Quality </a:t>
            </a:r>
            <a:r>
              <a:rPr lang="en-US" altLang="ko-KR" sz="1200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Attribute Scenario) </a:t>
            </a:r>
            <a:r>
              <a:rPr lang="ko-KR" altLang="en-US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발굴</a:t>
            </a:r>
          </a:p>
          <a:p>
            <a:pPr lvl="1">
              <a:buFontTx/>
              <a:buChar char="-"/>
            </a:pPr>
            <a:r>
              <a:rPr lang="en-US" altLang="ko-KR" sz="1200" b="1" dirty="0"/>
              <a:t>Scenario Brainstorming: </a:t>
            </a:r>
            <a:r>
              <a:rPr lang="ko-KR" altLang="en-US" sz="1200" dirty="0"/>
              <a:t>팀당 </a:t>
            </a:r>
            <a:r>
              <a:rPr lang="en-US" altLang="ko-KR" sz="1200" dirty="0"/>
              <a:t>10</a:t>
            </a:r>
            <a:r>
              <a:rPr lang="ko-KR" altLang="en-US" sz="1200" dirty="0"/>
              <a:t>개 내외</a:t>
            </a:r>
            <a:r>
              <a:rPr lang="en-US" altLang="ko-KR" sz="1200" dirty="0"/>
              <a:t>(1</a:t>
            </a:r>
            <a:r>
              <a:rPr lang="ko-KR" altLang="en-US" sz="1200" dirty="0"/>
              <a:t>인당 </a:t>
            </a:r>
            <a:r>
              <a:rPr lang="en-US" altLang="ko-KR" sz="1200" dirty="0"/>
              <a:t>2</a:t>
            </a:r>
            <a:r>
              <a:rPr lang="ko-KR" altLang="en-US" sz="1200" dirty="0"/>
              <a:t>건↑ 필수</a:t>
            </a:r>
            <a:r>
              <a:rPr lang="en-US" altLang="ko-KR" sz="1200" dirty="0"/>
              <a:t>)</a:t>
            </a:r>
            <a:r>
              <a:rPr lang="ko-KR" altLang="en-US" sz="1200" dirty="0"/>
              <a:t>의 </a:t>
            </a:r>
            <a:r>
              <a:rPr lang="en-US" altLang="ko-KR" sz="1200" dirty="0"/>
              <a:t>Quality Attribute</a:t>
            </a:r>
            <a:r>
              <a:rPr lang="ko-KR" altLang="en-US" sz="1200" dirty="0"/>
              <a:t> </a:t>
            </a:r>
            <a:r>
              <a:rPr lang="en-US" altLang="ko-KR" sz="1200" dirty="0"/>
              <a:t>Raw </a:t>
            </a:r>
            <a:r>
              <a:rPr lang="ko-KR" altLang="en-US" sz="1200" dirty="0"/>
              <a:t>시나리오를 작성하세요</a:t>
            </a:r>
            <a:r>
              <a:rPr lang="en-US" altLang="ko-KR" sz="1200" dirty="0"/>
              <a:t>. </a:t>
            </a:r>
          </a:p>
          <a:p>
            <a:pPr lvl="1">
              <a:buFontTx/>
              <a:buChar char="-"/>
            </a:pPr>
            <a:r>
              <a:rPr lang="en-US" altLang="ko-KR" sz="1200" b="1" dirty="0"/>
              <a:t>Voting</a:t>
            </a:r>
            <a:r>
              <a:rPr lang="en-US" altLang="ko-KR" sz="1200" dirty="0"/>
              <a:t>: </a:t>
            </a:r>
            <a:r>
              <a:rPr lang="ko-KR" altLang="en-US" sz="1200" dirty="0"/>
              <a:t>팀당 </a:t>
            </a:r>
            <a:r>
              <a:rPr lang="en-US" altLang="ko-KR" sz="1200" dirty="0"/>
              <a:t>4</a:t>
            </a:r>
            <a:r>
              <a:rPr lang="ko-KR" altLang="en-US" sz="1200" dirty="0"/>
              <a:t>개 이상의 </a:t>
            </a:r>
            <a:r>
              <a:rPr lang="en-US" altLang="ko-KR" sz="1200" dirty="0"/>
              <a:t>Scenario</a:t>
            </a:r>
            <a:r>
              <a:rPr lang="ko-KR" altLang="en-US" sz="1200" dirty="0"/>
              <a:t>를 선정</a:t>
            </a:r>
            <a:r>
              <a:rPr lang="en-US" altLang="ko-KR" sz="1200" dirty="0"/>
              <a:t>. </a:t>
            </a:r>
            <a:r>
              <a:rPr lang="ko-KR" altLang="en-US" sz="1200" dirty="0"/>
              <a:t>단</a:t>
            </a:r>
            <a:r>
              <a:rPr lang="en-US" altLang="ko-KR" sz="1200" dirty="0"/>
              <a:t>,</a:t>
            </a:r>
            <a:r>
              <a:rPr lang="ko-KR" altLang="en-US" sz="1200" dirty="0"/>
              <a:t> 다양한 품질 속성</a:t>
            </a:r>
            <a:r>
              <a:rPr lang="en-US" altLang="ko-KR" sz="1200" dirty="0"/>
              <a:t>(3</a:t>
            </a:r>
            <a:r>
              <a:rPr lang="ko-KR" altLang="en-US" sz="1200" dirty="0"/>
              <a:t>개 이상</a:t>
            </a:r>
            <a:r>
              <a:rPr lang="en-US" altLang="ko-KR" sz="1200" dirty="0"/>
              <a:t>)</a:t>
            </a:r>
            <a:r>
              <a:rPr lang="ko-KR" altLang="en-US" sz="1200" dirty="0"/>
              <a:t>이 나오도록 할 것</a:t>
            </a:r>
            <a:endParaRPr lang="en-US" altLang="ko-KR" sz="1200" dirty="0"/>
          </a:p>
          <a:p>
            <a:pPr marL="91463" indent="0">
              <a:buNone/>
            </a:pPr>
            <a:endParaRPr lang="en-US" altLang="ko-KR" sz="1200" b="1" spc="-120" dirty="0">
              <a:solidFill>
                <a:srgbClr val="4156BD"/>
              </a:solidFill>
              <a:latin typeface="맑은 고딕" panose="020B0503020000020004" pitchFamily="50" charset="-127"/>
            </a:endParaRPr>
          </a:p>
          <a:p>
            <a:pPr marL="91463" indent="0">
              <a:buNone/>
            </a:pP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</a:rPr>
              <a:t>[Ex3.2</a:t>
            </a: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QAS </a:t>
            </a:r>
            <a:r>
              <a:rPr lang="en-US" altLang="ko-KR" sz="1200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(Quality Attribute Scenario)</a:t>
            </a: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ko-KR" sz="1200" b="1" dirty="0"/>
              <a:t>Scenario Refinement: </a:t>
            </a:r>
            <a:r>
              <a:rPr lang="ko-KR" altLang="en-US" sz="1200" dirty="0"/>
              <a:t>선택된 시나리오에 대해서 품질 속성 시나리오</a:t>
            </a:r>
            <a:r>
              <a:rPr lang="en-US" altLang="ko-KR" sz="1200" dirty="0"/>
              <a:t>(QAS)</a:t>
            </a:r>
            <a:r>
              <a:rPr lang="ko-KR" altLang="en-US" sz="1200" dirty="0"/>
              <a:t>를 작성하세요 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참고</a:t>
            </a:r>
            <a:r>
              <a:rPr lang="en-US" altLang="ko-KR" sz="1200" dirty="0"/>
              <a:t>) </a:t>
            </a:r>
            <a:r>
              <a:rPr lang="en-US" altLang="ko-KR" sz="1200" b="1" u="sng" spc="-15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Appendix1</a:t>
            </a:r>
            <a:r>
              <a:rPr lang="ko-KR" altLang="en-US" sz="1200" dirty="0"/>
              <a:t> </a:t>
            </a:r>
            <a:r>
              <a:rPr lang="en-US" altLang="ko-KR" sz="1200" b="1" spc="-120" dirty="0">
                <a:solidFill>
                  <a:srgbClr val="4156BD"/>
                </a:solidFill>
              </a:rPr>
              <a:t>Guideline for Specifying Scenario for Quality Attributes</a:t>
            </a:r>
          </a:p>
          <a:p>
            <a:pPr marL="91463" indent="0">
              <a:buNone/>
            </a:pPr>
            <a:endParaRPr lang="en-US" altLang="ko-KR" sz="1200" b="1" spc="-120" dirty="0">
              <a:solidFill>
                <a:srgbClr val="4156BD"/>
              </a:solidFill>
              <a:latin typeface="맑은 고딕" panose="020B0503020000020004" pitchFamily="50" charset="-127"/>
            </a:endParaRPr>
          </a:p>
          <a:p>
            <a:pPr marL="91463" indent="0">
              <a:buNone/>
            </a:pP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</a:rPr>
              <a:t>[Ex3.3</a:t>
            </a: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Utility </a:t>
            </a:r>
            <a:r>
              <a:rPr lang="en-US" altLang="ko-KR" sz="1200" b="1" spc="-120" dirty="0">
                <a:solidFill>
                  <a:srgbClr val="4156BD"/>
                </a:solidFill>
                <a:latin typeface="맑은 고딕" panose="020B0503020000020004" pitchFamily="50" charset="-127"/>
              </a:rPr>
              <a:t>Tree </a:t>
            </a:r>
            <a:r>
              <a:rPr lang="ko-KR" altLang="en-US" sz="1200" b="1" spc="-120" dirty="0"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  <a:p>
            <a:pPr lvl="1">
              <a:buFontTx/>
              <a:buChar char="-"/>
            </a:pPr>
            <a:r>
              <a:rPr lang="en-US" altLang="ko-KR" sz="1200" b="1" dirty="0"/>
              <a:t>Prioritizing: </a:t>
            </a:r>
            <a:r>
              <a:rPr lang="ko-KR" altLang="en-US" sz="1200" dirty="0"/>
              <a:t>작성된 시나리오에 대해서 </a:t>
            </a:r>
            <a:r>
              <a:rPr lang="en-US" altLang="ko-KR" sz="1200" dirty="0"/>
              <a:t>Importance/Difficulty</a:t>
            </a:r>
            <a:r>
              <a:rPr lang="ko-KR" altLang="en-US" sz="1200" dirty="0"/>
              <a:t>를 부여하고 우선순위를 도출하세요</a:t>
            </a:r>
            <a:r>
              <a:rPr lang="en-US" altLang="ko-KR" sz="1200" dirty="0"/>
              <a:t>. (Voting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82002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[Ex3.1] Raw </a:t>
            </a:r>
            <a:r>
              <a:rPr lang="it-IT" altLang="ko-KR" dirty="0"/>
              <a:t>Quality Attribute Scenario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3084" y="749464"/>
            <a:ext cx="8712968" cy="3751262"/>
          </a:xfrm>
        </p:spPr>
        <p:txBody>
          <a:bodyPr>
            <a:noAutofit/>
          </a:bodyPr>
          <a:lstStyle/>
          <a:p>
            <a:pPr marL="91463" indent="0">
              <a:buNone/>
            </a:pPr>
            <a:r>
              <a:rPr lang="it-IT" altLang="ko-KR" sz="1400" b="1" dirty="0"/>
              <a:t>Raw Quality Attribute Scenario vs Quality Attribute Scenario</a:t>
            </a:r>
          </a:p>
          <a:p>
            <a:endParaRPr lang="it-IT" altLang="ko-KR" sz="1600" dirty="0"/>
          </a:p>
          <a:p>
            <a:r>
              <a:rPr lang="en-US" altLang="ko-KR" sz="1400" b="1" u="sng" dirty="0">
                <a:solidFill>
                  <a:srgbClr val="4156BD"/>
                </a:solidFill>
                <a:highlight>
                  <a:srgbClr val="FFFF00"/>
                </a:highlight>
              </a:rPr>
              <a:t>Raw </a:t>
            </a:r>
            <a:r>
              <a:rPr lang="en-US" altLang="ko-KR" sz="1400" b="1" dirty="0">
                <a:solidFill>
                  <a:srgbClr val="4156BD"/>
                </a:solidFill>
              </a:rPr>
              <a:t>Quality Attribute Scenario</a:t>
            </a:r>
            <a:br>
              <a:rPr lang="en-US" altLang="ko-KR" sz="1400" b="1" dirty="0">
                <a:solidFill>
                  <a:srgbClr val="4156BD"/>
                </a:solidFill>
              </a:rPr>
            </a:br>
            <a:r>
              <a:rPr lang="en-US" altLang="ko-KR" sz="1400" b="1" dirty="0"/>
              <a:t>- </a:t>
            </a:r>
            <a:r>
              <a:rPr lang="ko-KR" altLang="en-US" sz="1400" b="1" dirty="0"/>
              <a:t>초기 단계 아이디어 발굴 용도 →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우선 시나리오 중심으로 서술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수치나 측정 기준은 명확하지 않아도 됨</a:t>
            </a:r>
            <a:endParaRPr lang="ko-KR" altLang="en-US" sz="1600" dirty="0"/>
          </a:p>
          <a:p>
            <a:pPr marL="361338" lvl="1" indent="0">
              <a:buNone/>
            </a:pPr>
            <a:r>
              <a:rPr lang="en-US" altLang="ko-KR" sz="1300" dirty="0"/>
              <a:t>(</a:t>
            </a:r>
            <a:r>
              <a:rPr lang="ko-KR" altLang="en-US" sz="1300" dirty="0"/>
              <a:t>예</a:t>
            </a:r>
            <a:r>
              <a:rPr lang="en-US" altLang="ko-KR" sz="1300" dirty="0"/>
              <a:t>) </a:t>
            </a:r>
            <a:r>
              <a:rPr lang="ko-KR" altLang="en-US" sz="1300" dirty="0"/>
              <a:t>많은 사용자가 피크 시간대에 동시에 </a:t>
            </a:r>
            <a:r>
              <a:rPr lang="ko-KR" altLang="en-US" sz="1300" dirty="0" err="1"/>
              <a:t>로그인을</a:t>
            </a:r>
            <a:r>
              <a:rPr lang="ko-KR" altLang="en-US" sz="1300" dirty="0"/>
              <a:t> 시도하는 경우에도</a:t>
            </a:r>
            <a:r>
              <a:rPr lang="en-US" altLang="ko-KR" sz="1300" dirty="0"/>
              <a:t>,</a:t>
            </a:r>
            <a:br>
              <a:rPr lang="en-US" altLang="ko-KR" sz="1300" dirty="0"/>
            </a:br>
            <a:r>
              <a:rPr lang="en-US" altLang="ko-KR" sz="1300" dirty="0"/>
              <a:t>      </a:t>
            </a:r>
            <a:r>
              <a:rPr lang="ko-KR" altLang="en-US" sz="1300" dirty="0"/>
              <a:t>시스템이 원활하게 로그인 요청을 처리해야 한다</a:t>
            </a:r>
            <a:r>
              <a:rPr lang="en-US" altLang="ko-KR" sz="1300" dirty="0"/>
              <a:t>.</a:t>
            </a:r>
          </a:p>
          <a:p>
            <a:pPr marL="361338" lvl="1" indent="0">
              <a:buNone/>
            </a:pPr>
            <a:endParaRPr lang="en-US" altLang="ko-KR" sz="1400" dirty="0"/>
          </a:p>
          <a:p>
            <a:r>
              <a:rPr lang="en-US" altLang="ko-KR" sz="1400" b="1" dirty="0">
                <a:solidFill>
                  <a:srgbClr val="4156BD"/>
                </a:solidFill>
              </a:rPr>
              <a:t>Quality Attribute Scenario</a:t>
            </a:r>
            <a:br>
              <a:rPr lang="en-US" altLang="ko-KR" sz="1400" b="1" dirty="0">
                <a:solidFill>
                  <a:srgbClr val="4156BD"/>
                </a:solidFill>
              </a:rPr>
            </a:br>
            <a:r>
              <a:rPr lang="en-US" altLang="ko-KR" sz="1400" b="1" dirty="0"/>
              <a:t>- </a:t>
            </a:r>
            <a:r>
              <a:rPr lang="ko-KR" altLang="en-US" sz="1400" b="1" dirty="0"/>
              <a:t>실제 테스트 및 평가 용도 → 구체적인 자극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반응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환경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반응 측정 기준을 명확히 정의</a:t>
            </a:r>
            <a:endParaRPr lang="en-US" altLang="ko-KR" sz="1600" b="1" dirty="0"/>
          </a:p>
          <a:p>
            <a:pPr marL="361338" lvl="1" indent="0">
              <a:buNone/>
            </a:pPr>
            <a:r>
              <a:rPr lang="en-US" altLang="ko-KR" sz="1300" dirty="0"/>
              <a:t>(</a:t>
            </a:r>
            <a:r>
              <a:rPr lang="ko-KR" altLang="en-US" sz="1300" dirty="0"/>
              <a:t>예</a:t>
            </a:r>
            <a:r>
              <a:rPr lang="en-US" altLang="ko-KR" sz="1300" dirty="0"/>
              <a:t>) 1000</a:t>
            </a:r>
            <a:r>
              <a:rPr lang="ko-KR" altLang="en-US" sz="1300" dirty="0"/>
              <a:t>명의사용자가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피크시간대</a:t>
            </a:r>
            <a:r>
              <a:rPr lang="en-US" altLang="ko-KR" sz="1300" dirty="0"/>
              <a:t>(09~10</a:t>
            </a:r>
            <a:r>
              <a:rPr lang="ko-KR" altLang="en-US" sz="1300" dirty="0"/>
              <a:t>시</a:t>
            </a:r>
            <a:r>
              <a:rPr lang="en-US" altLang="ko-KR" sz="1300" dirty="0"/>
              <a:t>) </a:t>
            </a:r>
            <a:r>
              <a:rPr lang="ko-KR" altLang="en-US" sz="1300" dirty="0"/>
              <a:t>동시에 </a:t>
            </a:r>
            <a:r>
              <a:rPr lang="ko-KR" altLang="en-US" sz="1300" dirty="0" err="1"/>
              <a:t>로그인을</a:t>
            </a:r>
            <a:r>
              <a:rPr lang="ko-KR" altLang="en-US" sz="1300" dirty="0"/>
              <a:t> 시도할 경우에도</a:t>
            </a:r>
            <a:r>
              <a:rPr lang="en-US" altLang="ko-KR" sz="1300" dirty="0"/>
              <a:t>, </a:t>
            </a:r>
            <a:br>
              <a:rPr lang="en-US" altLang="ko-KR" sz="1300" dirty="0"/>
            </a:br>
            <a:r>
              <a:rPr lang="en-US" altLang="ko-KR" sz="1300" dirty="0"/>
              <a:t>       95%</a:t>
            </a:r>
            <a:r>
              <a:rPr lang="ko-KR" altLang="en-US" sz="1300" dirty="0"/>
              <a:t>의 사용자는 </a:t>
            </a:r>
            <a:r>
              <a:rPr lang="en-US" altLang="ko-KR" sz="1300" dirty="0"/>
              <a:t>2</a:t>
            </a:r>
            <a:r>
              <a:rPr lang="ko-KR" altLang="en-US" sz="1300" dirty="0"/>
              <a:t>초 이내에 </a:t>
            </a:r>
            <a:r>
              <a:rPr lang="ko-KR" altLang="en-US" sz="1300" dirty="0" err="1"/>
              <a:t>로그인을</a:t>
            </a:r>
            <a:r>
              <a:rPr lang="ko-KR" altLang="en-US" sz="1300" dirty="0"/>
              <a:t> 성공해야 한다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5463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[Ex3.2] QAS </a:t>
            </a:r>
            <a:r>
              <a:rPr lang="en-US" altLang="ko-KR" b="0" dirty="0"/>
              <a:t>(Quality Attribute Scenario)</a:t>
            </a:r>
            <a:endParaRPr lang="ko-KR" altLang="en-US" dirty="0"/>
          </a:p>
        </p:txBody>
      </p:sp>
      <p:graphicFrame>
        <p:nvGraphicFramePr>
          <p:cNvPr id="5" name="내용 개체 틀 5">
            <a:extLst>
              <a:ext uri="{FF2B5EF4-FFF2-40B4-BE49-F238E27FC236}">
                <a16:creationId xmlns:a16="http://schemas.microsoft.com/office/drawing/2014/main" id="{3D9ECED5-EDB6-4569-8962-5094227B25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242015"/>
              </p:ext>
            </p:extLst>
          </p:nvPr>
        </p:nvGraphicFramePr>
        <p:xfrm>
          <a:off x="467544" y="883920"/>
          <a:ext cx="8280920" cy="3791303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4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Requirement-ID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latin typeface="+mn-ea"/>
                          <a:ea typeface="+mn-ea"/>
                          <a:cs typeface="굴림"/>
                        </a:rPr>
                        <a:t>QA_### (</a:t>
                      </a:r>
                      <a:r>
                        <a:rPr lang="ko-KR" altLang="en-US" sz="1200" kern="100" dirty="0">
                          <a:latin typeface="+mn-ea"/>
                          <a:ea typeface="+mn-ea"/>
                          <a:cs typeface="굴림"/>
                        </a:rPr>
                        <a:t>작성자</a:t>
                      </a:r>
                      <a:r>
                        <a:rPr lang="en-US" altLang="ko-KR" sz="1200" kern="100" dirty="0">
                          <a:latin typeface="+mn-ea"/>
                          <a:ea typeface="+mn-ea"/>
                          <a:cs typeface="굴림"/>
                        </a:rPr>
                        <a:t>: </a:t>
                      </a:r>
                      <a:r>
                        <a:rPr lang="ko-KR" altLang="en-US" sz="1200" kern="100" dirty="0" err="1">
                          <a:latin typeface="+mn-ea"/>
                          <a:ea typeface="+mn-ea"/>
                          <a:cs typeface="굴림"/>
                        </a:rPr>
                        <a:t>김ㅇㅇ</a:t>
                      </a:r>
                      <a:r>
                        <a:rPr lang="en-US" altLang="ko-KR" sz="1200" kern="100" dirty="0">
                          <a:latin typeface="+mn-ea"/>
                          <a:ea typeface="+mn-ea"/>
                          <a:cs typeface="굴림"/>
                        </a:rPr>
                        <a:t>)</a:t>
                      </a:r>
                    </a:p>
                  </a:txBody>
                  <a:tcPr marL="144000" marR="62865" marT="0" marB="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40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200" b="1" kern="100" dirty="0">
                          <a:solidFill>
                            <a:schemeClr val="bg1"/>
                          </a:solidFill>
                        </a:rPr>
                        <a:t>Quality Attribute</a:t>
                      </a:r>
                      <a:endParaRPr lang="ko-KR" altLang="en-US" sz="1200" b="1" kern="100" dirty="0">
                        <a:solidFill>
                          <a:schemeClr val="bg1"/>
                        </a:solidFill>
                        <a:latin typeface="맑은 고딕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/>
                        <a:t>관련된 </a:t>
                      </a:r>
                      <a:r>
                        <a:rPr lang="en-US" altLang="ko-KR" sz="1200" kern="100" dirty="0"/>
                        <a:t>Quality Attribute</a:t>
                      </a:r>
                      <a:r>
                        <a:rPr lang="ko-KR" altLang="en-US" sz="1200" kern="100" dirty="0"/>
                        <a:t>가 무엇인지</a:t>
                      </a:r>
                      <a:r>
                        <a:rPr lang="en-US" altLang="ko-KR" sz="1200" kern="100" dirty="0"/>
                        <a:t>( ex.</a:t>
                      </a:r>
                      <a:r>
                        <a:rPr lang="en-US" altLang="ko-KR" sz="1200" kern="100" baseline="0" dirty="0"/>
                        <a:t> Performance, Reliability, Security </a:t>
                      </a:r>
                      <a:r>
                        <a:rPr lang="ko-KR" altLang="en-US" sz="1200" kern="100" baseline="0" dirty="0"/>
                        <a:t>등등</a:t>
                      </a:r>
                      <a:r>
                        <a:rPr lang="en-US" altLang="ko-KR" sz="1200" kern="100" baseline="0" dirty="0"/>
                        <a:t>)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7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/>
                        <a:t>Stimulus</a:t>
                      </a:r>
                      <a:r>
                        <a:rPr lang="ko-KR" altLang="en-US" sz="1200" kern="100" dirty="0"/>
                        <a:t>를 발생시키는 주체가 무엇인지 기술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7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Stimulus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/>
                        <a:t>시스템에 입력되는 </a:t>
                      </a:r>
                      <a:r>
                        <a:rPr lang="ko-KR" altLang="en-US" sz="1200" kern="100" dirty="0" err="1"/>
                        <a:t>내외부</a:t>
                      </a:r>
                      <a:r>
                        <a:rPr lang="ko-KR" altLang="en-US" sz="1200" kern="100" dirty="0"/>
                        <a:t> 자극이 무엇인지 기술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Environment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/>
                        <a:t>해당 </a:t>
                      </a:r>
                      <a:r>
                        <a:rPr lang="en-US" altLang="ko-KR" sz="1200" kern="100" dirty="0"/>
                        <a:t>Stimulus </a:t>
                      </a:r>
                      <a:r>
                        <a:rPr lang="ko-KR" altLang="en-US" sz="1200" kern="100" dirty="0"/>
                        <a:t>발생시 시스템의 환경</a:t>
                      </a:r>
                      <a:r>
                        <a:rPr lang="en-US" altLang="ko-KR" sz="1200" kern="100" dirty="0"/>
                        <a:t>(</a:t>
                      </a:r>
                      <a:r>
                        <a:rPr lang="ko-KR" altLang="en-US" sz="1200" kern="100" dirty="0"/>
                        <a:t>운영모드일 수도 있고</a:t>
                      </a:r>
                      <a:r>
                        <a:rPr lang="en-US" altLang="ko-KR" sz="1200" kern="100" dirty="0"/>
                        <a:t>, </a:t>
                      </a:r>
                      <a:r>
                        <a:rPr lang="ko-KR" altLang="en-US" sz="1200" kern="100" dirty="0"/>
                        <a:t>그 외 다양한 상황 가능</a:t>
                      </a:r>
                      <a:r>
                        <a:rPr lang="en-US" altLang="ko-KR" sz="1200" kern="100" dirty="0"/>
                        <a:t>)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Artifacts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/>
                        <a:t>Stimulus</a:t>
                      </a:r>
                      <a:r>
                        <a:rPr lang="ko-KR" altLang="en-US" sz="1200" kern="100" dirty="0"/>
                        <a:t>의 영향을 받는 시스템의 내부 모듈</a:t>
                      </a:r>
                      <a:r>
                        <a:rPr lang="en-US" altLang="ko-KR" sz="1200" kern="100" dirty="0"/>
                        <a:t>, </a:t>
                      </a:r>
                      <a:r>
                        <a:rPr lang="ko-KR" altLang="en-US" sz="1200" kern="100" dirty="0"/>
                        <a:t>컴포넌트</a:t>
                      </a:r>
                      <a:r>
                        <a:rPr lang="en-US" altLang="ko-KR" sz="1200" kern="100" dirty="0"/>
                        <a:t>, </a:t>
                      </a:r>
                      <a:r>
                        <a:rPr lang="ko-KR" altLang="en-US" sz="1200" kern="100" dirty="0"/>
                        <a:t>혹은 시스템 전체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7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Response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/>
                        <a:t>기술된 </a:t>
                      </a:r>
                      <a:r>
                        <a:rPr lang="en-US" altLang="ko-KR" sz="1200" kern="100" dirty="0"/>
                        <a:t>Environment</a:t>
                      </a:r>
                      <a:r>
                        <a:rPr lang="ko-KR" altLang="en-US" sz="1200" kern="100" dirty="0"/>
                        <a:t>에서 </a:t>
                      </a:r>
                      <a:r>
                        <a:rPr lang="en-US" altLang="ko-KR" sz="1200" kern="100" dirty="0"/>
                        <a:t>Artifact</a:t>
                      </a:r>
                      <a:r>
                        <a:rPr lang="ko-KR" altLang="en-US" sz="1200" kern="100" dirty="0"/>
                        <a:t>이 </a:t>
                      </a:r>
                      <a:r>
                        <a:rPr lang="en-US" altLang="ko-KR" sz="1200" kern="100" dirty="0"/>
                        <a:t>Stimulus</a:t>
                      </a:r>
                      <a:r>
                        <a:rPr lang="ko-KR" altLang="en-US" sz="1200" kern="100" dirty="0"/>
                        <a:t>를 받아들인 후 취하는 </a:t>
                      </a:r>
                      <a:r>
                        <a:rPr lang="en-US" altLang="ko-KR" sz="1200" kern="100" dirty="0"/>
                        <a:t>Action</a:t>
                      </a:r>
                      <a:r>
                        <a:rPr lang="ko-KR" altLang="en-US" sz="1200" kern="100" dirty="0"/>
                        <a:t>이 무엇인지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Response Measure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/>
                        <a:t>위의 </a:t>
                      </a:r>
                      <a:r>
                        <a:rPr lang="en-US" altLang="ko-KR" sz="1200" kern="100" dirty="0"/>
                        <a:t>Response</a:t>
                      </a:r>
                      <a:r>
                        <a:rPr lang="ko-KR" altLang="en-US" sz="1200" kern="100" dirty="0"/>
                        <a:t>의 정도를 측정하는 단위가 무엇인지</a:t>
                      </a:r>
                      <a:endParaRPr lang="en-US" altLang="ko-KR" sz="1200" kern="100" dirty="0"/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1200" kern="100" dirty="0"/>
                        <a:t>(ex.</a:t>
                      </a:r>
                      <a:r>
                        <a:rPr lang="en-US" altLang="ko-KR" sz="1200" kern="100" baseline="0" dirty="0"/>
                        <a:t> </a:t>
                      </a:r>
                      <a:r>
                        <a:rPr lang="ko-KR" altLang="en-US" sz="1200" kern="100" baseline="0" dirty="0"/>
                        <a:t>초당 데이터 처리량</a:t>
                      </a:r>
                      <a:r>
                        <a:rPr lang="en-US" altLang="ko-KR" sz="1200" kern="100" baseline="0" dirty="0"/>
                        <a:t>, </a:t>
                      </a:r>
                      <a:r>
                        <a:rPr lang="ko-KR" altLang="en-US" sz="1200" kern="100" baseline="0" dirty="0"/>
                        <a:t>반응시간</a:t>
                      </a:r>
                      <a:r>
                        <a:rPr lang="en-US" altLang="ko-KR" sz="1200" kern="100" baseline="0" dirty="0"/>
                        <a:t>(</a:t>
                      </a:r>
                      <a:r>
                        <a:rPr lang="ko-KR" altLang="en-US" sz="1200" kern="100" baseline="0" dirty="0"/>
                        <a:t>시간일 경우 </a:t>
                      </a:r>
                      <a:r>
                        <a:rPr lang="en-US" altLang="ko-KR" sz="1200" kern="100" baseline="0" dirty="0"/>
                        <a:t>Hr</a:t>
                      </a:r>
                      <a:r>
                        <a:rPr lang="ko-KR" altLang="en-US" sz="1200" kern="100" baseline="0" dirty="0"/>
                        <a:t>인지</a:t>
                      </a:r>
                      <a:r>
                        <a:rPr lang="en-US" altLang="ko-KR" sz="1200" kern="100" baseline="0" dirty="0"/>
                        <a:t>, Min</a:t>
                      </a:r>
                      <a:r>
                        <a:rPr lang="ko-KR" altLang="en-US" sz="1200" kern="100" baseline="0" dirty="0"/>
                        <a:t>인지</a:t>
                      </a:r>
                      <a:r>
                        <a:rPr lang="en-US" altLang="ko-KR" sz="1200" kern="100" baseline="0" dirty="0"/>
                        <a:t>, Sec</a:t>
                      </a:r>
                      <a:r>
                        <a:rPr lang="ko-KR" altLang="en-US" sz="1200" kern="100" baseline="0" dirty="0"/>
                        <a:t>인지</a:t>
                      </a:r>
                      <a:r>
                        <a:rPr lang="en-US" altLang="ko-KR" sz="1200" kern="100" baseline="0" dirty="0"/>
                        <a:t>  </a:t>
                      </a:r>
                      <a:r>
                        <a:rPr lang="ko-KR" altLang="en-US" sz="1200" kern="100" baseline="0" dirty="0"/>
                        <a:t>등등</a:t>
                      </a:r>
                      <a:r>
                        <a:rPr lang="en-US" altLang="ko-KR" sz="1200" kern="100" baseline="0" dirty="0"/>
                        <a:t>))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1200" b="1" kern="100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/>
                        <a:t>Quality Attribute Tree</a:t>
                      </a:r>
                      <a:r>
                        <a:rPr lang="en-US" sz="1200" kern="100" baseline="0" dirty="0"/>
                        <a:t> </a:t>
                      </a:r>
                      <a:r>
                        <a:rPr lang="ko-KR" altLang="en-US" sz="1200" kern="100" baseline="0" dirty="0"/>
                        <a:t>상에서의 우선순위</a:t>
                      </a:r>
                      <a:endParaRPr lang="en-US" sz="1200" kern="100" dirty="0"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06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sz="1200" b="1" kern="100" dirty="0">
                        <a:solidFill>
                          <a:schemeClr val="bg1"/>
                        </a:solidFill>
                        <a:latin typeface="Trebuchet MS"/>
                        <a:ea typeface="바탕"/>
                        <a:cs typeface="Times New Roman"/>
                      </a:endParaRPr>
                    </a:p>
                  </a:txBody>
                  <a:tcPr marL="62865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latin typeface="+mn-ea"/>
                          <a:ea typeface="+mn-ea"/>
                          <a:cs typeface="굴림"/>
                        </a:rPr>
                        <a:t>위 </a:t>
                      </a:r>
                      <a:r>
                        <a:rPr lang="en-US" altLang="ko-KR" sz="1200" kern="100" dirty="0">
                          <a:latin typeface="+mn-ea"/>
                          <a:ea typeface="+mn-ea"/>
                          <a:cs typeface="굴림"/>
                        </a:rPr>
                        <a:t>Source</a:t>
                      </a:r>
                      <a:r>
                        <a:rPr lang="ko-KR" altLang="en-US" sz="1200" kern="100" dirty="0">
                          <a:latin typeface="+mn-ea"/>
                          <a:ea typeface="+mn-ea"/>
                          <a:cs typeface="굴림"/>
                        </a:rPr>
                        <a:t>부터 </a:t>
                      </a:r>
                      <a:r>
                        <a:rPr lang="en-US" altLang="ko-KR" sz="1200" kern="100" dirty="0">
                          <a:latin typeface="+mn-ea"/>
                          <a:ea typeface="+mn-ea"/>
                          <a:cs typeface="굴림"/>
                        </a:rPr>
                        <a:t>Response Measure</a:t>
                      </a:r>
                      <a:r>
                        <a:rPr lang="ko-KR" altLang="en-US" sz="1200" kern="100" dirty="0">
                          <a:latin typeface="+mn-ea"/>
                          <a:ea typeface="+mn-ea"/>
                          <a:cs typeface="굴림"/>
                        </a:rPr>
                        <a:t>의 내용을 한 문장으로 요약해서 기술</a:t>
                      </a:r>
                      <a:endParaRPr lang="en-US" altLang="ko-KR" sz="1200" kern="100" dirty="0">
                        <a:latin typeface="+mn-ea"/>
                        <a:ea typeface="+mn-ea"/>
                        <a:cs typeface="굴림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본 항목이 실제 </a:t>
                      </a:r>
                      <a:r>
                        <a:rPr lang="en-US" altLang="ko-KR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Quality Attribute Scenario</a:t>
                      </a:r>
                      <a:r>
                        <a:rPr lang="ko-KR" altLang="en-US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에 해당되며</a:t>
                      </a:r>
                      <a:r>
                        <a:rPr lang="en-US" altLang="ko-KR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,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Quality Attribute Tree</a:t>
                      </a:r>
                      <a:r>
                        <a:rPr lang="ko-KR" altLang="en-US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의 </a:t>
                      </a:r>
                      <a:r>
                        <a:rPr lang="en-US" altLang="ko-KR" sz="1200" kern="10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Leaf </a:t>
                      </a:r>
                      <a:r>
                        <a:rPr lang="en-US" altLang="ko-KR" sz="1200" kern="100" baseline="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 Node</a:t>
                      </a:r>
                      <a:r>
                        <a:rPr lang="ko-KR" altLang="en-US" sz="1200" kern="100" baseline="0" dirty="0">
                          <a:solidFill>
                            <a:srgbClr val="1D02BE"/>
                          </a:solidFill>
                          <a:latin typeface="+mn-ea"/>
                          <a:ea typeface="+mn-ea"/>
                          <a:cs typeface="굴림"/>
                        </a:rPr>
                        <a:t>에 나열됨</a:t>
                      </a:r>
                      <a:endParaRPr lang="en-US" altLang="ko-KR" sz="1200" kern="100" dirty="0">
                        <a:solidFill>
                          <a:srgbClr val="1D02BE"/>
                        </a:solidFill>
                        <a:latin typeface="+mn-ea"/>
                        <a:ea typeface="+mn-ea"/>
                        <a:cs typeface="굴림"/>
                      </a:endParaRPr>
                    </a:p>
                  </a:txBody>
                  <a:tcPr marL="144000" marR="62865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6704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[Ex3.3] Utility Tree</a:t>
            </a:r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F78BD004-A49A-456F-97CE-EA3B649A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13106"/>
              </p:ext>
            </p:extLst>
          </p:nvPr>
        </p:nvGraphicFramePr>
        <p:xfrm>
          <a:off x="467544" y="885086"/>
          <a:ext cx="8208912" cy="36862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39776">
                  <a:extLst>
                    <a:ext uri="{9D8B030D-6E8A-4147-A177-3AD203B41FA5}">
                      <a16:colId xmlns:a16="http://schemas.microsoft.com/office/drawing/2014/main" val="2881050235"/>
                    </a:ext>
                  </a:extLst>
                </a:gridCol>
                <a:gridCol w="4683109">
                  <a:extLst>
                    <a:ext uri="{9D8B030D-6E8A-4147-A177-3AD203B41FA5}">
                      <a16:colId xmlns:a16="http://schemas.microsoft.com/office/drawing/2014/main" val="2029967220"/>
                    </a:ext>
                  </a:extLst>
                </a:gridCol>
                <a:gridCol w="986063">
                  <a:extLst>
                    <a:ext uri="{9D8B030D-6E8A-4147-A177-3AD203B41FA5}">
                      <a16:colId xmlns:a16="http://schemas.microsoft.com/office/drawing/2014/main" val="3144799700"/>
                    </a:ext>
                  </a:extLst>
                </a:gridCol>
                <a:gridCol w="999964">
                  <a:extLst>
                    <a:ext uri="{9D8B030D-6E8A-4147-A177-3AD203B41FA5}">
                      <a16:colId xmlns:a16="http://schemas.microsoft.com/office/drawing/2014/main" val="3844112469"/>
                    </a:ext>
                  </a:extLst>
                </a:gridCol>
              </a:tblGrid>
              <a:tr h="613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Quality Attribute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Quality Attribute Scenario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( I,D )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우선순위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72023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앞 슬라이드에서 </a:t>
                      </a:r>
                      <a:r>
                        <a:rPr lang="en-US" altLang="ko-KR" sz="1200" dirty="0"/>
                        <a:t>Description </a:t>
                      </a:r>
                      <a:r>
                        <a:rPr lang="ko-KR" altLang="en-US" sz="1200" dirty="0"/>
                        <a:t>항목의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620539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077566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094740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447941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17173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029837"/>
                  </a:ext>
                </a:extLst>
              </a:tr>
              <a:tr h="43898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98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2773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B7B69-E372-13ED-B8F4-0D56828E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: Quality Attribute </a:t>
            </a:r>
            <a:r>
              <a:rPr lang="ko-KR" altLang="en-US" dirty="0"/>
              <a:t>의 정확한 분류가 중요한 이유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48D4B-77D0-3A9A-5D78-E24B4DD7B030}"/>
              </a:ext>
            </a:extLst>
          </p:cNvPr>
          <p:cNvSpPr txBox="1"/>
          <p:nvPr/>
        </p:nvSpPr>
        <p:spPr>
          <a:xfrm>
            <a:off x="1423575" y="2345564"/>
            <a:ext cx="62936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Availability </a:t>
            </a:r>
            <a:r>
              <a:rPr lang="en-US" altLang="ko-KR" sz="2400" dirty="0"/>
              <a:t>VS</a:t>
            </a:r>
            <a:r>
              <a:rPr lang="en-US" altLang="ko-KR" sz="4000" dirty="0"/>
              <a:t> Performance</a:t>
            </a:r>
            <a:endParaRPr lang="ko-KR" alt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C2C83-76D0-726C-E2FC-D66E610DB2F0}"/>
              </a:ext>
            </a:extLst>
          </p:cNvPr>
          <p:cNvSpPr txBox="1"/>
          <p:nvPr/>
        </p:nvSpPr>
        <p:spPr>
          <a:xfrm>
            <a:off x="704305" y="1156882"/>
            <a:ext cx="7558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chemeClr val="dk1"/>
              </a:buClr>
              <a:buSzPts val="1000"/>
            </a:pPr>
            <a:r>
              <a:rPr lang="ko-KR" altLang="en-US" sz="1600" dirty="0" err="1">
                <a:solidFill>
                  <a:schemeClr val="dk1"/>
                </a:solidFill>
                <a:latin typeface="+mj-ea"/>
              </a:rPr>
              <a:t>스마트워치의</a:t>
            </a:r>
            <a:r>
              <a:rPr lang="ko-KR" altLang="en-US" sz="1600" dirty="0">
                <a:solidFill>
                  <a:schemeClr val="dk1"/>
                </a:solidFill>
                <a:latin typeface="+mj-ea"/>
              </a:rPr>
              <a:t> 배터리 잔량이 </a:t>
            </a:r>
            <a:r>
              <a:rPr lang="en-US" altLang="ko-KR" sz="1600" dirty="0">
                <a:solidFill>
                  <a:schemeClr val="dk1"/>
                </a:solidFill>
                <a:latin typeface="+mj-ea"/>
              </a:rPr>
              <a:t>20% </a:t>
            </a:r>
            <a:r>
              <a:rPr lang="ko-KR" altLang="en-US" sz="1600" dirty="0">
                <a:solidFill>
                  <a:schemeClr val="dk1"/>
                </a:solidFill>
                <a:latin typeface="+mj-ea"/>
              </a:rPr>
              <a:t>가 </a:t>
            </a:r>
            <a:r>
              <a:rPr lang="ko-KR" altLang="en-US" sz="1600" dirty="0" err="1">
                <a:solidFill>
                  <a:schemeClr val="dk1"/>
                </a:solidFill>
                <a:latin typeface="+mj-ea"/>
              </a:rPr>
              <a:t>되었을때</a:t>
            </a:r>
            <a:r>
              <a:rPr lang="en-US" altLang="ko-KR" sz="1600" dirty="0">
                <a:solidFill>
                  <a:schemeClr val="dk1"/>
                </a:solidFill>
                <a:latin typeface="+mj-ea"/>
              </a:rPr>
              <a:t>, </a:t>
            </a:r>
          </a:p>
          <a:p>
            <a:pPr lvl="0">
              <a:buClr>
                <a:schemeClr val="dk1"/>
              </a:buClr>
              <a:buSzPts val="1000"/>
            </a:pPr>
            <a:r>
              <a:rPr lang="ko-KR" altLang="en-US" sz="1600" dirty="0">
                <a:solidFill>
                  <a:schemeClr val="dk1"/>
                </a:solidFill>
                <a:latin typeface="+mj-ea"/>
              </a:rPr>
              <a:t>절전 모드로 전환되어 기본 기능만 수행하여 최소 </a:t>
            </a:r>
            <a:r>
              <a:rPr lang="en-US" altLang="ko-KR" sz="1600" dirty="0">
                <a:solidFill>
                  <a:schemeClr val="dk1"/>
                </a:solidFill>
                <a:latin typeface="+mj-ea"/>
              </a:rPr>
              <a:t>6</a:t>
            </a:r>
            <a:r>
              <a:rPr lang="ko-KR" altLang="en-US" sz="1600" dirty="0">
                <a:solidFill>
                  <a:schemeClr val="dk1"/>
                </a:solidFill>
                <a:latin typeface="+mj-ea"/>
              </a:rPr>
              <a:t>시간 이상의 동작을 보장한다</a:t>
            </a:r>
            <a:r>
              <a:rPr lang="en-US" altLang="ko-KR" sz="1600" dirty="0">
                <a:solidFill>
                  <a:schemeClr val="dk1"/>
                </a:solidFill>
                <a:latin typeface="+mj-ea"/>
              </a:rPr>
              <a:t>.</a:t>
            </a:r>
            <a:endParaRPr lang="ko-KR" altLang="en-US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8E888D-7DA5-DEDF-2F4E-82EEC9881964}"/>
              </a:ext>
            </a:extLst>
          </p:cNvPr>
          <p:cNvSpPr/>
          <p:nvPr/>
        </p:nvSpPr>
        <p:spPr>
          <a:xfrm>
            <a:off x="539552" y="3149555"/>
            <a:ext cx="3723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Nanum Gothic"/>
              </a:rPr>
              <a:t>시스템</a:t>
            </a:r>
            <a:r>
              <a:rPr lang="en-US" altLang="ko-KR" sz="1200" dirty="0">
                <a:solidFill>
                  <a:srgbClr val="000000"/>
                </a:solidFill>
                <a:latin typeface="Nanum Gothic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Nanum Gothic"/>
              </a:rPr>
              <a:t>제품 또는 구성 요소가 작동 가능하고 사용을 위해 필요할 때 액세스할 수 있는 정도</a:t>
            </a:r>
            <a:endParaRPr lang="en-US" altLang="ko-KR" sz="1200" dirty="0">
              <a:solidFill>
                <a:srgbClr val="000000"/>
              </a:solidFill>
              <a:latin typeface="Nanum Gothic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Nanum Gothic"/>
              </a:rPr>
              <a:t>-&gt; </a:t>
            </a:r>
            <a:r>
              <a:rPr lang="ko-KR" altLang="en-US" sz="1200" dirty="0">
                <a:solidFill>
                  <a:srgbClr val="000000"/>
                </a:solidFill>
                <a:latin typeface="Nanum Gothic"/>
              </a:rPr>
              <a:t>장애 발생시에도 지속적인 서비스 제공에 초점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154742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8B4B-F22C-80BB-7DB8-9EE45AFA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87DA0-897B-63BF-387E-3F4D5DED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: Quality Attribute </a:t>
            </a:r>
            <a:r>
              <a:rPr lang="ko-KR" altLang="en-US" dirty="0"/>
              <a:t>의 정확한 분류가 중요한 이유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A466E-ED8F-C292-3172-1890D1548EFC}"/>
              </a:ext>
            </a:extLst>
          </p:cNvPr>
          <p:cNvSpPr txBox="1"/>
          <p:nvPr/>
        </p:nvSpPr>
        <p:spPr>
          <a:xfrm>
            <a:off x="1691680" y="2006120"/>
            <a:ext cx="64555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solidFill>
                  <a:srgbClr val="FF0000"/>
                </a:solidFill>
              </a:rPr>
              <a:t>Availability</a:t>
            </a:r>
            <a:r>
              <a:rPr lang="en-US" altLang="ko-KR" sz="4000" dirty="0"/>
              <a:t> </a:t>
            </a:r>
            <a:r>
              <a:rPr lang="en-US" altLang="ko-KR" sz="2400" dirty="0"/>
              <a:t>VS</a:t>
            </a:r>
            <a:r>
              <a:rPr lang="en-US" altLang="ko-KR" sz="4000" dirty="0"/>
              <a:t> </a:t>
            </a:r>
            <a:r>
              <a:rPr lang="en-US" altLang="ko-KR" sz="4000" dirty="0">
                <a:solidFill>
                  <a:srgbClr val="0070C0"/>
                </a:solidFill>
              </a:rPr>
              <a:t>Performance</a:t>
            </a:r>
            <a:endParaRPr lang="ko-KR" altLang="en-US" sz="40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6B611-8539-FB9E-4D25-16CC943B64EC}"/>
              </a:ext>
            </a:extLst>
          </p:cNvPr>
          <p:cNvSpPr txBox="1"/>
          <p:nvPr/>
        </p:nvSpPr>
        <p:spPr>
          <a:xfrm>
            <a:off x="319811" y="762250"/>
            <a:ext cx="79607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chemeClr val="dk1"/>
              </a:buClr>
              <a:buSzPts val="1000"/>
            </a:pPr>
            <a:r>
              <a:rPr lang="ko-KR" altLang="en-US" sz="1200" dirty="0">
                <a:latin typeface="+mj-ea"/>
              </a:rPr>
              <a:t>기능 요구사항 </a:t>
            </a:r>
            <a:r>
              <a:rPr lang="en-US" altLang="ko-KR" sz="1200" dirty="0">
                <a:latin typeface="+mj-ea"/>
              </a:rPr>
              <a:t>: </a:t>
            </a:r>
            <a:r>
              <a:rPr lang="ko-KR" altLang="en-US" sz="1200" dirty="0" err="1">
                <a:latin typeface="+mj-ea"/>
              </a:rPr>
              <a:t>스마트워치의</a:t>
            </a:r>
            <a:r>
              <a:rPr lang="ko-KR" altLang="en-US" sz="1200" dirty="0">
                <a:latin typeface="+mj-ea"/>
              </a:rPr>
              <a:t> 배터리 잔량이 </a:t>
            </a:r>
            <a:r>
              <a:rPr lang="en-US" altLang="ko-KR" sz="1200" dirty="0">
                <a:latin typeface="+mj-ea"/>
              </a:rPr>
              <a:t>20% </a:t>
            </a:r>
            <a:r>
              <a:rPr lang="ko-KR" altLang="en-US" sz="1200" dirty="0">
                <a:latin typeface="+mj-ea"/>
              </a:rPr>
              <a:t>가 </a:t>
            </a:r>
            <a:r>
              <a:rPr lang="ko-KR" altLang="en-US" sz="1200" dirty="0" err="1">
                <a:latin typeface="+mj-ea"/>
              </a:rPr>
              <a:t>되었을때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dirty="0">
                <a:latin typeface="+mj-ea"/>
              </a:rPr>
              <a:t>절전 모드로 전환되어야 한다 </a:t>
            </a:r>
            <a:r>
              <a:rPr lang="en-US" altLang="ko-KR" sz="1200" dirty="0">
                <a:latin typeface="+mj-ea"/>
              </a:rPr>
              <a:t>– </a:t>
            </a:r>
            <a:r>
              <a:rPr lang="ko-KR" altLang="en-US" sz="1200" dirty="0">
                <a:latin typeface="+mj-ea"/>
              </a:rPr>
              <a:t>명확</a:t>
            </a:r>
            <a:endParaRPr lang="en-US" altLang="ko-KR" sz="1200" dirty="0">
              <a:latin typeface="+mj-ea"/>
            </a:endParaRPr>
          </a:p>
          <a:p>
            <a:pPr lvl="0">
              <a:buClr>
                <a:schemeClr val="dk1"/>
              </a:buClr>
              <a:buSzPts val="1000"/>
            </a:pPr>
            <a:endParaRPr lang="en-US" altLang="ko-KR" sz="1200" dirty="0">
              <a:solidFill>
                <a:srgbClr val="FF0000"/>
              </a:solidFill>
              <a:latin typeface="+mj-ea"/>
            </a:endParaRPr>
          </a:p>
          <a:p>
            <a:pPr lvl="0">
              <a:buClr>
                <a:schemeClr val="dk1"/>
              </a:buClr>
              <a:buSzPts val="10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</a:rPr>
              <a:t>Availability :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</a:rPr>
              <a:t>배터리 잔량이 </a:t>
            </a:r>
            <a:r>
              <a:rPr lang="en-US" altLang="ko-KR" sz="1200" dirty="0">
                <a:solidFill>
                  <a:srgbClr val="FF0000"/>
                </a:solidFill>
                <a:latin typeface="+mj-ea"/>
              </a:rPr>
              <a:t>20%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</a:rPr>
              <a:t>이하가 되어도</a:t>
            </a:r>
            <a:r>
              <a:rPr lang="en-US" altLang="ko-KR" sz="1200" dirty="0">
                <a:solidFill>
                  <a:srgbClr val="FF0000"/>
                </a:solidFill>
                <a:latin typeface="+mj-ea"/>
              </a:rPr>
              <a:t> 6</a:t>
            </a:r>
            <a:r>
              <a:rPr lang="ko-KR" altLang="en-US" sz="1200" dirty="0">
                <a:solidFill>
                  <a:srgbClr val="FF0000"/>
                </a:solidFill>
                <a:latin typeface="+mj-ea"/>
              </a:rPr>
              <a:t>시간 동안은 기본 기능 수행이 가능한 상태를 유지해야한다</a:t>
            </a:r>
            <a:r>
              <a:rPr lang="en-US" altLang="ko-KR" sz="1200" dirty="0">
                <a:solidFill>
                  <a:srgbClr val="FF0000"/>
                </a:solidFill>
                <a:latin typeface="+mj-ea"/>
              </a:rPr>
              <a:t> - ??</a:t>
            </a:r>
          </a:p>
          <a:p>
            <a:pPr lvl="0">
              <a:buClr>
                <a:schemeClr val="dk1"/>
              </a:buClr>
              <a:buSzPts val="1000"/>
            </a:pPr>
            <a:endParaRPr lang="en-US" altLang="ko-KR" sz="1200" dirty="0">
              <a:solidFill>
                <a:srgbClr val="00B050"/>
              </a:solidFill>
              <a:latin typeface="+mj-ea"/>
            </a:endParaRPr>
          </a:p>
          <a:p>
            <a:pPr lvl="0">
              <a:buClr>
                <a:schemeClr val="dk1"/>
              </a:buClr>
              <a:buSzPts val="1000"/>
            </a:pPr>
            <a:r>
              <a:rPr lang="en-US" altLang="ko-KR" sz="1200" dirty="0">
                <a:solidFill>
                  <a:srgbClr val="0070C0"/>
                </a:solidFill>
                <a:latin typeface="+mj-ea"/>
              </a:rPr>
              <a:t>Performance : </a:t>
            </a:r>
            <a:r>
              <a:rPr lang="ko-KR" altLang="en-US" sz="1200" dirty="0">
                <a:solidFill>
                  <a:srgbClr val="0070C0"/>
                </a:solidFill>
                <a:latin typeface="+mj-ea"/>
              </a:rPr>
              <a:t>절전 모드에서 기본 기능 수행 기준 최소 </a:t>
            </a:r>
            <a:r>
              <a:rPr lang="en-US" altLang="ko-KR" sz="1200" dirty="0">
                <a:solidFill>
                  <a:srgbClr val="0070C0"/>
                </a:solidFill>
                <a:latin typeface="+mj-ea"/>
              </a:rPr>
              <a:t>6</a:t>
            </a:r>
            <a:r>
              <a:rPr lang="ko-KR" altLang="en-US" sz="1200" dirty="0">
                <a:solidFill>
                  <a:srgbClr val="0070C0"/>
                </a:solidFill>
                <a:latin typeface="+mj-ea"/>
              </a:rPr>
              <a:t>시간 이상의 동작을 보장해야 한다 </a:t>
            </a:r>
            <a:r>
              <a:rPr lang="en-US" altLang="ko-KR" sz="1200" dirty="0">
                <a:solidFill>
                  <a:srgbClr val="0070C0"/>
                </a:solidFill>
                <a:latin typeface="+mj-ea"/>
              </a:rPr>
              <a:t>- </a:t>
            </a:r>
            <a:r>
              <a:rPr lang="ko-KR" altLang="en-US" sz="1200" dirty="0">
                <a:solidFill>
                  <a:srgbClr val="0070C0"/>
                </a:solidFill>
                <a:latin typeface="+mj-ea"/>
              </a:rPr>
              <a:t>자연스러움</a:t>
            </a:r>
            <a:endParaRPr lang="ko-KR" altLang="en-US" sz="1200" dirty="0">
              <a:solidFill>
                <a:srgbClr val="0070C0"/>
              </a:solidFill>
            </a:endParaRPr>
          </a:p>
        </p:txBody>
      </p:sp>
      <p:pic>
        <p:nvPicPr>
          <p:cNvPr id="5" name="Picture 2" descr="graphics/05fig03.gif">
            <a:extLst>
              <a:ext uri="{FF2B5EF4-FFF2-40B4-BE49-F238E27FC236}">
                <a16:creationId xmlns:a16="http://schemas.microsoft.com/office/drawing/2014/main" id="{DEFB7700-166C-964C-534B-A55CCBC9B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09" y="2855513"/>
            <a:ext cx="3935950" cy="214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raphics/05fig07.gif">
            <a:extLst>
              <a:ext uri="{FF2B5EF4-FFF2-40B4-BE49-F238E27FC236}">
                <a16:creationId xmlns:a16="http://schemas.microsoft.com/office/drawing/2014/main" id="{066A0DED-B8ED-94FD-9039-436CD55A1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750" y="2742219"/>
            <a:ext cx="3722867" cy="236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2125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C7922C-D040-F7BD-D852-9661024090EF}"/>
              </a:ext>
            </a:extLst>
          </p:cNvPr>
          <p:cNvSpPr txBox="1">
            <a:spLocks/>
          </p:cNvSpPr>
          <p:nvPr/>
        </p:nvSpPr>
        <p:spPr>
          <a:xfrm>
            <a:off x="2944386" y="941999"/>
            <a:ext cx="4752528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59272"/>
            <a:r>
              <a:rPr lang="ko-KR" altLang="en-US" sz="32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온라인 영상 학습</a:t>
            </a:r>
            <a:endParaRPr lang="ko-KR" altLang="en-US" sz="16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제목 5"/>
          <p:cNvSpPr txBox="1">
            <a:spLocks/>
          </p:cNvSpPr>
          <p:nvPr/>
        </p:nvSpPr>
        <p:spPr>
          <a:xfrm>
            <a:off x="2959958" y="1770163"/>
            <a:ext cx="5860514" cy="2272227"/>
          </a:xfrm>
          <a:prstGeom prst="rect">
            <a:avLst/>
          </a:prstGeom>
        </p:spPr>
        <p:txBody>
          <a:bodyPr vert="horz" lIns="75927" tIns="37964" rIns="75927" bIns="37964" rtlCol="0" anchor="t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002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400" b="0" dirty="0"/>
              <a:t>7. Requirements Specification</a:t>
            </a:r>
            <a:br>
              <a:rPr lang="en-US" altLang="ko-KR" sz="2400" b="0" dirty="0"/>
            </a:br>
            <a:r>
              <a:rPr lang="en-US" altLang="ko-KR" sz="2400" b="0" dirty="0"/>
              <a:t>8. Requirements Validation</a:t>
            </a:r>
            <a:br>
              <a:rPr lang="en-US" altLang="ko-KR" sz="2400" b="0" dirty="0"/>
            </a:br>
            <a:r>
              <a:rPr lang="en-US" altLang="ko-KR" sz="2400" b="0" dirty="0"/>
              <a:t>9. Requirements Management</a:t>
            </a:r>
            <a:br>
              <a:rPr lang="en-US" altLang="ko-KR" sz="2400" b="0" dirty="0"/>
            </a:br>
            <a:r>
              <a:rPr lang="en-US" altLang="ko-KR" sz="2400" b="0" dirty="0"/>
              <a:t>10. Wrap-up</a:t>
            </a:r>
            <a:endParaRPr lang="en-US" sz="2100" spc="-50" dirty="0"/>
          </a:p>
        </p:txBody>
      </p:sp>
    </p:spTree>
    <p:extLst>
      <p:ext uri="{BB962C8B-B14F-4D97-AF65-F5344CB8AC3E}">
        <p14:creationId xmlns:p14="http://schemas.microsoft.com/office/powerpoint/2010/main" val="698027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</a:t>
            </a:r>
            <a:r>
              <a:rPr lang="ko-KR" altLang="en-US" dirty="0"/>
              <a:t>핵심 주제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76256" y="2732881"/>
            <a:ext cx="2143125" cy="2143125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2324"/>
            <a:ext cx="8712968" cy="4111302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7. Requirements Specification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7-1. SRS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7-2. SRS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의 목적은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br>
              <a:rPr lang="en-US" altLang="ko-KR" sz="140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8. Requirements Validation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8-1 requirements validation techniques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에는 뭐가 있을까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8-2 verification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validation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의 차이는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b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9. Requirements Management</a:t>
            </a:r>
            <a:endParaRPr lang="en-US" altLang="ko-KR" sz="12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9-1. Requirements Change Management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가 중요한 이유는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9-1. Requirements Change Management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가 어려운 이유는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indent="0">
              <a:buNone/>
              <a:defRPr/>
            </a:pPr>
            <a:b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10. Class Wrap-up</a:t>
            </a:r>
            <a:endParaRPr lang="ko-KR" altLang="en-US" sz="1400" b="1" dirty="0"/>
          </a:p>
          <a:p>
            <a:pPr marL="91463" lvl="0" indent="0">
              <a:buNone/>
              <a:defRPr/>
            </a:pP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777305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3" y="1484804"/>
            <a:ext cx="7539362" cy="2451222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7. Requirements Specification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7-1. SRS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825640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295" y="2594639"/>
            <a:ext cx="2488015" cy="204693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43" y="1480926"/>
            <a:ext cx="3920041" cy="160320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rcRect r="2610"/>
          <a:stretch/>
        </p:blipFill>
        <p:spPr>
          <a:xfrm>
            <a:off x="4409844" y="862359"/>
            <a:ext cx="2228342" cy="301093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sp>
        <p:nvSpPr>
          <p:cNvPr id="9" name="내용 개체 틀 1"/>
          <p:cNvSpPr txBox="1">
            <a:spLocks/>
          </p:cNvSpPr>
          <p:nvPr/>
        </p:nvSpPr>
        <p:spPr>
          <a:xfrm>
            <a:off x="490707" y="3117334"/>
            <a:ext cx="4077865" cy="172819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71463" indent="-180000" algn="l" defTabSz="914400" rtl="0" eaLnBrk="1" latinLnBrk="1" hangingPunct="1">
              <a:lnSpc>
                <a:spcPct val="13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kern="1200" spc="-12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1338" indent="-180000" algn="l" defTabSz="914400" rtl="0" eaLnBrk="1" latinLnBrk="1" hangingPunct="1">
              <a:lnSpc>
                <a:spcPct val="13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800" kern="1200" spc="-12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4863" indent="-180000" algn="l" defTabSz="914400" rtl="0" eaLnBrk="1" latinLnBrk="1" hangingPunct="1">
              <a:lnSpc>
                <a:spcPct val="13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500" kern="1200" spc="-12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4738" indent="-180000" algn="l" defTabSz="914400" rtl="0" eaLnBrk="1" latinLnBrk="1" hangingPunct="1">
              <a:lnSpc>
                <a:spcPct val="13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200" kern="1200" spc="-12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6200" indent="-180000" algn="l" defTabSz="914400" rtl="0" eaLnBrk="1" latinLnBrk="1" hangingPunct="1">
              <a:lnSpc>
                <a:spcPct val="130000"/>
              </a:lnSpc>
              <a:spcBef>
                <a:spcPct val="20000"/>
              </a:spcBef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000" kern="1200" spc="-12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63" indent="0">
              <a:buFont typeface="Arial" panose="020B0604020202020204" pitchFamily="34" charset="0"/>
              <a:buNone/>
            </a:pPr>
            <a:r>
              <a:rPr lang="ko-KR" altLang="en-US" sz="1100" b="1" dirty="0">
                <a:solidFill>
                  <a:srgbClr val="4156BD"/>
                </a:solidFill>
                <a:sym typeface="Wingdings" panose="05000000000000000000" pitchFamily="2" charset="2"/>
              </a:rPr>
              <a:t>└</a:t>
            </a:r>
            <a:r>
              <a:rPr lang="en-US" altLang="ko-KR" sz="1100" b="1" dirty="0">
                <a:solidFill>
                  <a:srgbClr val="4156BD"/>
                </a:solidFill>
                <a:sym typeface="Wingdings" panose="05000000000000000000" pitchFamily="2" charset="2"/>
              </a:rPr>
              <a:t>&gt; </a:t>
            </a:r>
            <a:r>
              <a:rPr lang="ko-KR" altLang="en-US" sz="1100" b="1" dirty="0">
                <a:solidFill>
                  <a:srgbClr val="4156BD"/>
                </a:solidFill>
                <a:sym typeface="Wingdings" panose="05000000000000000000" pitchFamily="2" charset="2"/>
              </a:rPr>
              <a:t>최소 비용으로 최단 기간에 개발 하기 위함</a:t>
            </a:r>
            <a:endParaRPr lang="en-US" altLang="ko-KR" sz="1100" b="1" dirty="0">
              <a:solidFill>
                <a:srgbClr val="4156BD"/>
              </a:solidFill>
            </a:endParaRPr>
          </a:p>
          <a:p>
            <a:pPr lvl="1"/>
            <a:r>
              <a:rPr lang="ko-KR" altLang="en-US" sz="1050" dirty="0">
                <a:solidFill>
                  <a:srgbClr val="4156BD"/>
                </a:solidFill>
              </a:rPr>
              <a:t>개발팀은 스펙을 통해 개발해야 할 제품을 명확히 이해</a:t>
            </a:r>
            <a:endParaRPr lang="en-US" altLang="ko-KR" sz="1050" dirty="0">
              <a:solidFill>
                <a:srgbClr val="4156BD"/>
              </a:solidFill>
            </a:endParaRPr>
          </a:p>
          <a:p>
            <a:pPr lvl="1"/>
            <a:r>
              <a:rPr lang="ko-KR" altLang="en-US" sz="1050" dirty="0" err="1">
                <a:solidFill>
                  <a:srgbClr val="4156BD"/>
                </a:solidFill>
              </a:rPr>
              <a:t>테스트팀은</a:t>
            </a:r>
            <a:r>
              <a:rPr lang="ko-KR" altLang="en-US" sz="1050" dirty="0">
                <a:solidFill>
                  <a:srgbClr val="4156BD"/>
                </a:solidFill>
              </a:rPr>
              <a:t> 스펙을 통해 테스트 계획과 케이스 작성</a:t>
            </a:r>
            <a:endParaRPr lang="en-US" altLang="ko-KR" sz="1050" dirty="0">
              <a:solidFill>
                <a:srgbClr val="4156BD"/>
              </a:solidFill>
            </a:endParaRPr>
          </a:p>
          <a:p>
            <a:pPr lvl="1"/>
            <a:r>
              <a:rPr lang="ko-KR" altLang="en-US" sz="1050" dirty="0">
                <a:solidFill>
                  <a:srgbClr val="4156BD"/>
                </a:solidFill>
              </a:rPr>
              <a:t>기술문서팀은 스펙을 보고 매뉴얼과 도움말을 작성</a:t>
            </a:r>
            <a:endParaRPr lang="en-US" altLang="ko-KR" sz="1050" dirty="0">
              <a:solidFill>
                <a:srgbClr val="4156BD"/>
              </a:solidFill>
            </a:endParaRPr>
          </a:p>
          <a:p>
            <a:pPr lvl="1"/>
            <a:r>
              <a:rPr lang="ko-KR" altLang="en-US" sz="1050" dirty="0">
                <a:solidFill>
                  <a:srgbClr val="4156BD"/>
                </a:solidFill>
              </a:rPr>
              <a:t>외주 업체도 스펙을 통해 업무를 정확히 파악하여 계약</a:t>
            </a:r>
            <a:endParaRPr lang="en-US" altLang="ko-KR" sz="1200" b="1" dirty="0">
              <a:solidFill>
                <a:srgbClr val="4156BD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190084" y="1878166"/>
            <a:ext cx="23471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b="1" dirty="0">
                <a:solidFill>
                  <a:srgbClr val="212529"/>
                </a:solidFill>
                <a:latin typeface="-apple-system"/>
              </a:rPr>
              <a:t>프로젝트의 전체적인 그림을 제공 </a:t>
            </a:r>
            <a:r>
              <a:rPr lang="en-US" altLang="ko-KR" sz="1050" dirty="0">
                <a:solidFill>
                  <a:srgbClr val="212529"/>
                </a:solidFill>
                <a:latin typeface="-apple-system"/>
              </a:rPr>
              <a:t>.</a:t>
            </a:r>
            <a:endParaRPr lang="ko-KR" altLang="en-US" sz="1050" dirty="0"/>
          </a:p>
        </p:txBody>
      </p:sp>
      <p:sp>
        <p:nvSpPr>
          <p:cNvPr id="11" name="직사각형 10"/>
          <p:cNvSpPr/>
          <p:nvPr/>
        </p:nvSpPr>
        <p:spPr>
          <a:xfrm>
            <a:off x="4882892" y="4125446"/>
            <a:ext cx="197025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b="1" dirty="0">
                <a:solidFill>
                  <a:srgbClr val="212529"/>
                </a:solidFill>
                <a:latin typeface="-apple-system"/>
              </a:rPr>
              <a:t>개발에 관련된 </a:t>
            </a:r>
            <a:endParaRPr lang="en-US" altLang="ko-KR" sz="1050" b="1" dirty="0">
              <a:solidFill>
                <a:srgbClr val="212529"/>
              </a:solidFill>
              <a:latin typeface="-apple-system"/>
            </a:endParaRPr>
          </a:p>
          <a:p>
            <a:r>
              <a:rPr lang="ko-KR" altLang="en-US" sz="1050" b="1" dirty="0">
                <a:solidFill>
                  <a:srgbClr val="212529"/>
                </a:solidFill>
                <a:latin typeface="-apple-system"/>
              </a:rPr>
              <a:t>모든 팀이 따라야 하는 </a:t>
            </a:r>
            <a:endParaRPr lang="en-US" altLang="ko-KR" sz="1050" b="1" dirty="0">
              <a:solidFill>
                <a:srgbClr val="212529"/>
              </a:solidFill>
              <a:latin typeface="-apple-system"/>
            </a:endParaRPr>
          </a:p>
          <a:p>
            <a:r>
              <a:rPr lang="ko-KR" altLang="en-US" sz="1050" b="1" dirty="0">
                <a:solidFill>
                  <a:srgbClr val="212529"/>
                </a:solidFill>
                <a:latin typeface="-apple-system"/>
              </a:rPr>
              <a:t>항목들을 제공</a:t>
            </a:r>
            <a:endParaRPr lang="ko-KR" altLang="en-US" sz="1050" b="1" dirty="0"/>
          </a:p>
        </p:txBody>
      </p:sp>
      <p:sp>
        <p:nvSpPr>
          <p:cNvPr id="12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7. Requirements Specification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7-2. SRS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의 목적은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704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04" y="1593354"/>
            <a:ext cx="5204563" cy="2101342"/>
          </a:xfrm>
          <a:prstGeom prst="rect">
            <a:avLst/>
          </a:prstGeom>
        </p:spPr>
      </p:pic>
      <p:sp>
        <p:nvSpPr>
          <p:cNvPr id="5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8. Requirements Validation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8-1 requirements validation techniques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에는 뭐가 있을까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  <a:p>
            <a:pPr marL="91463" lvl="0" indent="0">
              <a:buNone/>
              <a:defRPr/>
            </a:pPr>
            <a:endParaRPr lang="en-US" sz="1200" i="0" u="none" strike="noStrike" dirty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65940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58" y="1457722"/>
            <a:ext cx="6167406" cy="223796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49334"/>
            <a:ext cx="3957205" cy="1411432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sp>
        <p:nvSpPr>
          <p:cNvPr id="7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4111302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8. Requirements Validation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8-2 verification 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와 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validation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의 차이는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5147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412588"/>
            <a:ext cx="7235362" cy="133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5248" y="3075806"/>
            <a:ext cx="6657592" cy="54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-&gt; </a:t>
            </a: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변경 사항이 제대로 관리되지 않을 경우</a:t>
            </a: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업데이트 되지 못한 잘못된 정보들로 인해</a:t>
            </a: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   프로젝트 지연</a:t>
            </a: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및 개발 비용 증가</a:t>
            </a: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, </a:t>
            </a: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품질 저하</a:t>
            </a:r>
            <a:r>
              <a:rPr lang="en-US" altLang="ko-KR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</a:t>
            </a:r>
            <a:r>
              <a:rPr lang="ko-KR" altLang="en-US" sz="13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등 유지 보수가 어려워 짐</a:t>
            </a:r>
          </a:p>
        </p:txBody>
      </p:sp>
      <p:sp>
        <p:nvSpPr>
          <p:cNvPr id="7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2376264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9. Requirements Management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9-1. Requirements Change Management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가 중요한 이유는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39372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온라인 영상 </a:t>
            </a:r>
            <a:r>
              <a:rPr lang="en-US" altLang="ko-KR" dirty="0"/>
              <a:t>(7,8,9,10) - Summary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08" y="1457032"/>
            <a:ext cx="5490357" cy="2802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1345" y="2152105"/>
            <a:ext cx="2454518" cy="179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적절한 자동화 도구의 부재 </a:t>
            </a:r>
            <a:endParaRPr lang="en-US" altLang="ko-KR" sz="1200" dirty="0">
              <a:ln>
                <a:solidFill>
                  <a:schemeClr val="tx1">
                    <a:alpha val="1000"/>
                  </a:schemeClr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-&gt; </a:t>
            </a:r>
            <a:r>
              <a:rPr lang="ko-KR" altLang="en-US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수작업이 상당히 필요</a:t>
            </a:r>
            <a:endParaRPr lang="en-US" altLang="ko-KR" sz="1100" dirty="0">
              <a:ln>
                <a:solidFill>
                  <a:schemeClr val="tx1">
                    <a:alpha val="1000"/>
                  </a:schemeClr>
                </a:solidFill>
              </a:ln>
            </a:endParaRPr>
          </a:p>
          <a:p>
            <a:pPr>
              <a:lnSpc>
                <a:spcPct val="120000"/>
              </a:lnSpc>
            </a:pPr>
            <a:endParaRPr lang="en-US" altLang="ko-KR" sz="1200" dirty="0">
              <a:ln>
                <a:solidFill>
                  <a:schemeClr val="tx1">
                    <a:alpha val="1000"/>
                  </a:schemeClr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변경 사항의 빈번한 발생 </a:t>
            </a:r>
            <a:endParaRPr lang="en-US" altLang="ko-KR" sz="1200" dirty="0">
              <a:ln>
                <a:solidFill>
                  <a:schemeClr val="tx1">
                    <a:alpha val="1000"/>
                  </a:schemeClr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-&gt; </a:t>
            </a:r>
            <a:r>
              <a:rPr lang="ko-KR" altLang="en-US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프로젝트의 복잡성</a:t>
            </a: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</a:t>
            </a:r>
            <a:r>
              <a:rPr lang="ko-KR" altLang="en-US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증가에 따라</a:t>
            </a: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,</a:t>
            </a:r>
            <a:r>
              <a:rPr lang="ko-KR" altLang="en-US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</a:t>
            </a:r>
            <a:endParaRPr lang="en-US" altLang="ko-KR" sz="1100" dirty="0">
              <a:ln>
                <a:solidFill>
                  <a:schemeClr val="tx1">
                    <a:alpha val="1000"/>
                  </a:schemeClr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    </a:t>
            </a:r>
            <a:r>
              <a:rPr lang="ko-KR" altLang="en-US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더욱 어려워진다</a:t>
            </a:r>
            <a:r>
              <a:rPr lang="en-US" altLang="ko-KR" sz="1100" dirty="0">
                <a:ln>
                  <a:solidFill>
                    <a:schemeClr val="tx1">
                      <a:alpha val="1000"/>
                    </a:schemeClr>
                  </a:solidFill>
                </a:ln>
              </a:rPr>
              <a:t>. 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2" name="오른쪽 화살표 1"/>
          <p:cNvSpPr/>
          <p:nvPr/>
        </p:nvSpPr>
        <p:spPr>
          <a:xfrm>
            <a:off x="5424308" y="2810734"/>
            <a:ext cx="406798" cy="270721"/>
          </a:xfrm>
          <a:prstGeom prst="rightArrow">
            <a:avLst>
              <a:gd name="adj1" fmla="val 40938"/>
              <a:gd name="adj2" fmla="val 50000"/>
            </a:avLst>
          </a:prstGeom>
          <a:gradFill>
            <a:gsLst>
              <a:gs pos="0">
                <a:srgbClr val="7099CA"/>
              </a:gs>
              <a:gs pos="100000">
                <a:srgbClr val="4F81B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/>
          </a:p>
        </p:txBody>
      </p:sp>
      <p:sp>
        <p:nvSpPr>
          <p:cNvPr id="7" name="직사각형 7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1565195"/>
          </a:xfrm>
        </p:spPr>
        <p:txBody>
          <a:bodyPr>
            <a:normAutofit/>
          </a:bodyPr>
          <a:lstStyle/>
          <a:p>
            <a:pPr marL="91463" indent="0">
              <a:buNone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맑은 고딕"/>
                <a:ea typeface="맑은 고딕"/>
              </a:rPr>
              <a:t>9. Requirements Management</a:t>
            </a:r>
          </a:p>
          <a:p>
            <a:pPr marL="91463" indent="0">
              <a:buNone/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9-2. Requirements Change Management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</a:rPr>
              <a:t>가 어려운 이유는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50018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b="1" dirty="0"/>
              <a:t>Solution</a:t>
            </a:r>
            <a:r>
              <a:rPr lang="ko-KR" altLang="en-US" b="1" dirty="0"/>
              <a:t> 설명</a:t>
            </a:r>
            <a:endParaRPr lang="en-US" altLang="ko-KR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dirty="0"/>
              <a:t> 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3: Utility Tree: </a:t>
            </a:r>
            <a:r>
              <a:rPr lang="ko-KR" altLang="en-US" dirty="0"/>
              <a:t>제출 예시</a:t>
            </a:r>
          </a:p>
        </p:txBody>
      </p:sp>
    </p:spTree>
    <p:extLst>
      <p:ext uri="{BB962C8B-B14F-4D97-AF65-F5344CB8AC3E}">
        <p14:creationId xmlns:p14="http://schemas.microsoft.com/office/powerpoint/2010/main" val="32016625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Exercise 3: Mini-</a:t>
            </a:r>
            <a:r>
              <a:rPr lang="en-US" altLang="ko-KR" dirty="0" err="1"/>
              <a:t>QAW</a:t>
            </a:r>
            <a:r>
              <a:rPr lang="en-US" altLang="ko-KR" dirty="0"/>
              <a:t> – </a:t>
            </a:r>
            <a:r>
              <a:rPr lang="ko-KR" altLang="en-US" dirty="0"/>
              <a:t>조별 결과 리뷰</a:t>
            </a:r>
          </a:p>
        </p:txBody>
      </p:sp>
    </p:spTree>
    <p:extLst>
      <p:ext uri="{BB962C8B-B14F-4D97-AF65-F5344CB8AC3E}">
        <p14:creationId xmlns:p14="http://schemas.microsoft.com/office/powerpoint/2010/main" val="17130985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5387988" cy="533895"/>
          </a:xfrm>
        </p:spPr>
        <p:txBody>
          <a:bodyPr>
            <a:noAutofit/>
          </a:bodyPr>
          <a:lstStyle/>
          <a:p>
            <a:r>
              <a:rPr lang="ko-KR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과정정리</a:t>
            </a:r>
          </a:p>
        </p:txBody>
      </p:sp>
    </p:spTree>
    <p:extLst>
      <p:ext uri="{BB962C8B-B14F-4D97-AF65-F5344CB8AC3E}">
        <p14:creationId xmlns:p14="http://schemas.microsoft.com/office/powerpoint/2010/main" val="7757355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808" y="1995686"/>
            <a:ext cx="3376520" cy="630667"/>
          </a:xfrm>
          <a:prstGeom prst="rect">
            <a:avLst/>
          </a:prstGeom>
          <a:noFill/>
        </p:spPr>
        <p:txBody>
          <a:bodyPr wrap="square" lIns="0" tIns="37964" rIns="75927" bIns="37964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83A1DD"/>
                </a:solidFill>
                <a:latin typeface="+mj-lt"/>
                <a:ea typeface="맑은 고딕" panose="020B0503020000020004" pitchFamily="50" charset="-127"/>
              </a:rPr>
              <a:t>수고하셨습니다</a:t>
            </a:r>
            <a:r>
              <a:rPr lang="en-US" altLang="ko-KR" sz="3600" b="1" dirty="0">
                <a:solidFill>
                  <a:srgbClr val="83A1DD"/>
                </a:solidFill>
                <a:latin typeface="+mj-lt"/>
                <a:ea typeface="맑은 고딕" panose="020B0503020000020004" pitchFamily="50" charset="-127"/>
              </a:rPr>
              <a:t>.</a:t>
            </a:r>
            <a:endParaRPr lang="ko-KR" altLang="en-US" sz="3600" b="1" dirty="0">
              <a:solidFill>
                <a:srgbClr val="83A1DD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3707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181906"/>
            <a:ext cx="1584176" cy="533895"/>
          </a:xfrm>
        </p:spPr>
        <p:txBody>
          <a:bodyPr>
            <a:normAutofit fontScale="90000"/>
          </a:bodyPr>
          <a:lstStyle/>
          <a:p>
            <a:r>
              <a:rPr lang="en-US" altLang="ko-KR" u="sng" dirty="0">
                <a:solidFill>
                  <a:schemeClr val="bg1"/>
                </a:solidFill>
              </a:rPr>
              <a:t>revision</a:t>
            </a:r>
            <a:endParaRPr lang="ko-KR" altLang="en-US" u="sng" dirty="0">
              <a:solidFill>
                <a:schemeClr val="bg1"/>
              </a:solidFill>
            </a:endParaRP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2915816" y="344868"/>
            <a:ext cx="6048672" cy="4562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2023.12 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첨단기술아카데미 초안 개발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15082">
              <a:lnSpc>
                <a:spcPct val="130000"/>
              </a:lnSpc>
              <a:buClr>
                <a:schemeClr val="accent5"/>
              </a:buClr>
            </a:pPr>
            <a:endParaRPr lang="en-US" altLang="ko-KR" sz="6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2024.03 24-1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강의 수정사항</a:t>
            </a: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반영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황도하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Day1&amp;2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상세 </a:t>
            </a: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타임테이블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, Intro SRS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설명 추가</a:t>
            </a: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조인성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ex3)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모범답안 반영</a:t>
            </a: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김춘호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ex3)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실습 가이드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Mini </a:t>
            </a:r>
            <a:r>
              <a:rPr lang="en-US" altLang="ko-KR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QAW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step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가이드 반영</a:t>
            </a: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장효선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요구공학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소개 추가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(chat GPT)</a:t>
            </a: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altLang="ko-KR" sz="6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2024.04 24-2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차 강의 수정사항</a:t>
            </a: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결과 반영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윤영수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Pre QAS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추가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김홍렬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온라인 </a:t>
            </a: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학습영상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Summary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추가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altLang="ko-KR" sz="6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2024.04 24-3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차 강의 수정사항</a:t>
            </a: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결과 반영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김홍렬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실습가이드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수정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, Quality attribute raw scenario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설명 추가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en-US" altLang="ko-KR" sz="6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2024.04 24-4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차 강의 수정사항</a:t>
            </a: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결과 반영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김상훈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UC Diagram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시스템 범위 변경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최지웅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Ex1)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리뷰 가이드 추가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, BF, AF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등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김홍렬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Ex3)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양식 업데이트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315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181906"/>
            <a:ext cx="1584176" cy="533895"/>
          </a:xfrm>
        </p:spPr>
        <p:txBody>
          <a:bodyPr>
            <a:normAutofit fontScale="90000"/>
          </a:bodyPr>
          <a:lstStyle/>
          <a:p>
            <a:r>
              <a:rPr lang="en-US" altLang="ko-KR" u="sng" dirty="0">
                <a:solidFill>
                  <a:schemeClr val="bg1"/>
                </a:solidFill>
              </a:rPr>
              <a:t>revision</a:t>
            </a:r>
            <a:endParaRPr lang="ko-KR" altLang="en-US" u="sng" dirty="0">
              <a:solidFill>
                <a:schemeClr val="bg1"/>
              </a:solidFill>
            </a:endParaRP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2915816" y="344868"/>
            <a:ext cx="6048672" cy="7307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15082">
              <a:lnSpc>
                <a:spcPct val="130000"/>
              </a:lnSpc>
              <a:buClr>
                <a:schemeClr val="accent5"/>
              </a:buClr>
            </a:pP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2025.03 25-1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강의 수정사항</a:t>
            </a:r>
            <a:r>
              <a:rPr lang="en-US" altLang="ko-KR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반영</a:t>
            </a:r>
            <a:endParaRPr lang="en-US" altLang="ko-KR" sz="14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김홍렬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UC </a:t>
            </a:r>
            <a:r>
              <a:rPr lang="en-US" altLang="ko-KR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Templete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 사례 및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Include/Extend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사례 추가</a:t>
            </a:r>
          </a:p>
          <a:p>
            <a:pPr lvl="1" defTabSz="715082">
              <a:lnSpc>
                <a:spcPct val="13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김상훈 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1025" dirty="0" err="1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ChatGPT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답변</a:t>
            </a:r>
            <a:r>
              <a:rPr lang="en-US" altLang="ko-KR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25" dirty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rgbClr val="1E1E2A"/>
                </a:solidFill>
                <a:latin typeface="맑은 고딕" panose="020B0503020000020004" pitchFamily="50" charset="-127"/>
              </a:rPr>
              <a:t>책 표지 이미지 추가</a:t>
            </a:r>
            <a:endParaRPr lang="en-US" altLang="ko-KR" sz="1025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rgbClr val="1E1E2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38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928428" y="1491630"/>
            <a:ext cx="5604012" cy="2190079"/>
          </a:xfrm>
        </p:spPr>
        <p:txBody>
          <a:bodyPr>
            <a:noAutofit/>
          </a:bodyPr>
          <a:lstStyle/>
          <a:p>
            <a:r>
              <a:rPr lang="en-US" altLang="ko-KR" sz="2600" dirty="0"/>
              <a:t>Guideline for Specifying Scenario </a:t>
            </a:r>
            <a:br>
              <a:rPr lang="en-US" altLang="ko-KR" sz="2600" dirty="0"/>
            </a:br>
            <a:r>
              <a:rPr lang="en-US" altLang="ko-KR" sz="2600" dirty="0"/>
              <a:t>for Quality Attributes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2946296" y="1203598"/>
            <a:ext cx="2376264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1" kern="1200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defTabSz="759272"/>
            <a:r>
              <a:rPr lang="en-US" altLang="ko-KR" sz="3200" spc="-15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Appendix 1.</a:t>
            </a:r>
            <a:endParaRPr lang="ko-KR" altLang="en-US" sz="3200" spc="-15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97961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Availability</a:t>
            </a:r>
            <a:endParaRPr lang="ko-KR" altLang="en-US" dirty="0"/>
          </a:p>
        </p:txBody>
      </p:sp>
      <p:sp>
        <p:nvSpPr>
          <p:cNvPr id="6" name="내용 개체 틀 1"/>
          <p:cNvSpPr txBox="1">
            <a:spLocks/>
          </p:cNvSpPr>
          <p:nvPr/>
        </p:nvSpPr>
        <p:spPr>
          <a:xfrm>
            <a:off x="251520" y="792652"/>
            <a:ext cx="8496944" cy="3751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1800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600" kern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1338" indent="-1800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400" kern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4863" indent="-1800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200" kern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4738" indent="-1800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050" kern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6200" indent="-1800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800" kern="1200" spc="-70" baseline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rgbClr val="4156BD"/>
                </a:solidFill>
              </a:rPr>
              <a:t>Ability of a system to mask or repair faults such that the cumulative service outage period does not exceed a required value over a specified time interval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The availability of a system can be calculated as </a:t>
            </a:r>
            <a:r>
              <a:rPr lang="en-US" altLang="ko-KR" dirty="0">
                <a:solidFill>
                  <a:srgbClr val="FF0000"/>
                </a:solidFill>
              </a:rPr>
              <a:t>the probability </a:t>
            </a:r>
            <a:r>
              <a:rPr lang="en-US" altLang="ko-KR" dirty="0"/>
              <a:t>that it will provide the specified services </a:t>
            </a:r>
            <a:r>
              <a:rPr lang="en-US" altLang="ko-KR" dirty="0">
                <a:solidFill>
                  <a:srgbClr val="4156BD"/>
                </a:solidFill>
              </a:rPr>
              <a:t>within required bounds over a specified time interval. 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When referring to hardware, there is a well-known expression used to derive steady-state availability: </a:t>
            </a:r>
          </a:p>
          <a:p>
            <a:pPr marL="361338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- MTBF : the mean time between failures </a:t>
            </a:r>
          </a:p>
          <a:p>
            <a:pPr marL="361338" lvl="1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- MTTR : the mean time to repair </a:t>
            </a:r>
          </a:p>
          <a:p>
            <a:pPr marL="91463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55153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3113753-EDC6-4779-9C61-A081E90B5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51" y="1807682"/>
            <a:ext cx="6435474" cy="286515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QAS Example for Availability</a:t>
            </a:r>
            <a:endParaRPr lang="ko-KR" altLang="en-US" dirty="0"/>
          </a:p>
        </p:txBody>
      </p:sp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“An </a:t>
            </a:r>
            <a:r>
              <a:rPr lang="en-US" altLang="ko-KR" sz="1600" dirty="0">
                <a:solidFill>
                  <a:srgbClr val="FF0000"/>
                </a:solidFill>
              </a:rPr>
              <a:t>unanticipated</a:t>
            </a:r>
            <a:r>
              <a:rPr lang="en-US" altLang="ko-KR" sz="1600" dirty="0"/>
              <a:t> </a:t>
            </a:r>
            <a:r>
              <a:rPr lang="en-US" altLang="ko-KR" sz="1600" dirty="0">
                <a:solidFill>
                  <a:srgbClr val="FFC000"/>
                </a:solidFill>
              </a:rPr>
              <a:t>external</a:t>
            </a:r>
            <a:r>
              <a:rPr lang="en-US" altLang="ko-KR" sz="1600" dirty="0"/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message</a:t>
            </a:r>
            <a:r>
              <a:rPr lang="en-US" altLang="ko-KR" sz="1600" dirty="0"/>
              <a:t> is received by a process during </a:t>
            </a:r>
            <a:r>
              <a:rPr lang="en-US" altLang="ko-KR" sz="1600" dirty="0">
                <a:solidFill>
                  <a:srgbClr val="00B050"/>
                </a:solidFill>
              </a:rPr>
              <a:t>normal operation</a:t>
            </a:r>
            <a:r>
              <a:rPr lang="en-US" altLang="ko-KR" sz="1600" dirty="0"/>
              <a:t>. The process </a:t>
            </a:r>
            <a:r>
              <a:rPr lang="en-US" altLang="ko-KR" sz="1600" dirty="0">
                <a:solidFill>
                  <a:srgbClr val="4156BD"/>
                </a:solidFill>
              </a:rPr>
              <a:t>informs the operator of the receipt of the message and continues to operated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en-US" altLang="ko-KR" sz="1600" dirty="0">
                <a:solidFill>
                  <a:srgbClr val="7030A0"/>
                </a:solidFill>
              </a:rPr>
              <a:t>with no downtime.”</a:t>
            </a:r>
          </a:p>
        </p:txBody>
      </p:sp>
    </p:spTree>
    <p:extLst>
      <p:ext uri="{BB962C8B-B14F-4D97-AF65-F5344CB8AC3E}">
        <p14:creationId xmlns:p14="http://schemas.microsoft.com/office/powerpoint/2010/main" val="25347653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Availability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68318" y="847406"/>
            <a:ext cx="8397853" cy="3882404"/>
            <a:chOff x="70154" y="1628800"/>
            <a:chExt cx="8980112" cy="4110483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893FEAD1-15CA-4F59-8148-49E7FDCF5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54" y="1628800"/>
              <a:ext cx="4645862" cy="2376264"/>
            </a:xfrm>
            <a:prstGeom prst="rect">
              <a:avLst/>
            </a:prstGeom>
          </p:spPr>
        </p:pic>
        <p:pic>
          <p:nvPicPr>
            <p:cNvPr id="5" name="图片 1" descr="屏幕快照 2018-02-25 下午2.23.33.png">
              <a:extLst>
                <a:ext uri="{FF2B5EF4-FFF2-40B4-BE49-F238E27FC236}">
                  <a16:creationId xmlns:a16="http://schemas.microsoft.com/office/drawing/2014/main" id="{E16C8BCD-B51B-4618-9401-DE294B335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2484" y="2125155"/>
              <a:ext cx="4377782" cy="3614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5605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Modifiability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/>
              <a:t>The ability to quickly make changes  to a system at a higher performance-to-price ratio</a:t>
            </a:r>
          </a:p>
          <a:p>
            <a:pPr marL="91463" indent="0">
              <a:lnSpc>
                <a:spcPct val="100000"/>
              </a:lnSpc>
              <a:buNone/>
            </a:pPr>
            <a:r>
              <a:rPr lang="en-US" altLang="ko-KR" sz="1400" dirty="0"/>
              <a:t>   - Often based on some specific changes and is measured by examining the costs of these changes.</a:t>
            </a:r>
          </a:p>
          <a:p>
            <a:pPr marL="361338" lvl="1" indent="0">
              <a:buNone/>
            </a:pPr>
            <a:r>
              <a:rPr lang="en-US" altLang="ko-KR" sz="1200" dirty="0"/>
              <a:t>   </a:t>
            </a:r>
            <a:r>
              <a:rPr lang="ko-KR" altLang="en-US" sz="1200" dirty="0" err="1"/>
              <a:t>ㆍ</a:t>
            </a:r>
            <a:r>
              <a:rPr lang="en-US" altLang="ko-KR" sz="1200" dirty="0"/>
              <a:t>What can change? </a:t>
            </a:r>
          </a:p>
          <a:p>
            <a:pPr marL="361338" lvl="1" indent="0">
              <a:lnSpc>
                <a:spcPct val="70000"/>
              </a:lnSpc>
              <a:buNone/>
            </a:pPr>
            <a:r>
              <a:rPr lang="en-US" altLang="ko-KR" sz="1200" dirty="0"/>
              <a:t>   </a:t>
            </a:r>
            <a:r>
              <a:rPr lang="ko-KR" altLang="en-US" sz="1200" dirty="0" err="1"/>
              <a:t>ㆍ</a:t>
            </a:r>
            <a:r>
              <a:rPr lang="en-US" altLang="ko-KR" sz="1200" dirty="0"/>
              <a:t>What is the likelihood of the change? </a:t>
            </a:r>
          </a:p>
          <a:p>
            <a:pPr marL="361338" lvl="1" indent="0">
              <a:lnSpc>
                <a:spcPct val="70000"/>
              </a:lnSpc>
              <a:buNone/>
            </a:pPr>
            <a:r>
              <a:rPr lang="en-US" altLang="ko-KR" sz="1200" dirty="0"/>
              <a:t>   </a:t>
            </a:r>
            <a:r>
              <a:rPr lang="ko-KR" altLang="en-US" sz="1200" dirty="0" err="1"/>
              <a:t>ㆍ</a:t>
            </a:r>
            <a:r>
              <a:rPr lang="en-US" altLang="ko-KR" sz="1200" dirty="0"/>
              <a:t>When is the change made and who makes it? </a:t>
            </a:r>
          </a:p>
          <a:p>
            <a:pPr marL="361338" lvl="1" indent="0">
              <a:lnSpc>
                <a:spcPct val="70000"/>
              </a:lnSpc>
              <a:buNone/>
            </a:pPr>
            <a:r>
              <a:rPr lang="en-US" altLang="ko-KR" sz="1200" dirty="0"/>
              <a:t>   </a:t>
            </a:r>
            <a:r>
              <a:rPr lang="ko-KR" altLang="en-US" sz="1200" dirty="0" err="1"/>
              <a:t>ㆍ</a:t>
            </a:r>
            <a:r>
              <a:rPr lang="en-US" altLang="ko-KR" sz="1200" dirty="0"/>
              <a:t>What is the cost of the change? </a:t>
            </a:r>
          </a:p>
          <a:p>
            <a:pPr marL="91463" indent="0">
              <a:buNone/>
            </a:pPr>
            <a:endParaRPr lang="en-US" altLang="ko-KR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39339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1CFDC74-0CB0-4D1D-8ED8-42000674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21" y="1859512"/>
            <a:ext cx="6600674" cy="224516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QAS Example for Modifiability (Adaptability)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18882" y="4196987"/>
            <a:ext cx="7632848" cy="36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Example: 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 Core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System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에서 향후 그 이상의 개수로 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Core 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숫자가 늘어날 경우</a:t>
            </a:r>
            <a:r>
              <a:rPr lang="en-US" altLang="ko-KR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4 Core System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기반의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Architecture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상에서 변경되는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Component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Connector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의 비율은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Parallel Node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의 숫자에 해당되는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Instance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개수 증가를 제외하고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50%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미만이어야 한다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/>
              <a:t>“A </a:t>
            </a:r>
            <a:r>
              <a:rPr lang="en-US" altLang="ko-KR" dirty="0">
                <a:solidFill>
                  <a:srgbClr val="FFC000"/>
                </a:solidFill>
              </a:rPr>
              <a:t>developer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wishes to change </a:t>
            </a:r>
            <a:r>
              <a:rPr lang="en-US" altLang="ko-KR" dirty="0"/>
              <a:t>the user interface to make a screen’s background color blue. This change will be made to the code </a:t>
            </a:r>
            <a:r>
              <a:rPr lang="en-US" altLang="ko-KR" dirty="0">
                <a:solidFill>
                  <a:srgbClr val="00B050"/>
                </a:solidFill>
              </a:rPr>
              <a:t>at design time</a:t>
            </a:r>
            <a:r>
              <a:rPr lang="en-US" altLang="ko-KR" dirty="0"/>
              <a:t>. </a:t>
            </a:r>
            <a:r>
              <a:rPr lang="en-US" altLang="ko-KR" dirty="0">
                <a:solidFill>
                  <a:srgbClr val="7030A0"/>
                </a:solidFill>
              </a:rPr>
              <a:t>It will take less than three hours to make and test the change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4156BD"/>
                </a:solidFill>
              </a:rPr>
              <a:t>and no side effect changes </a:t>
            </a:r>
            <a:r>
              <a:rPr lang="en-US" altLang="ko-KR" dirty="0"/>
              <a:t>will occur in the behavior.”</a:t>
            </a:r>
          </a:p>
        </p:txBody>
      </p:sp>
    </p:spTree>
    <p:extLst>
      <p:ext uri="{BB962C8B-B14F-4D97-AF65-F5344CB8AC3E}">
        <p14:creationId xmlns:p14="http://schemas.microsoft.com/office/powerpoint/2010/main" val="12540891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Modifiability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72320" y="829490"/>
            <a:ext cx="8363717" cy="3731732"/>
            <a:chOff x="-124891" y="674276"/>
            <a:chExt cx="9452669" cy="4057715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F05B913A-846F-47B1-A70C-CD35CEB82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24891" y="674276"/>
              <a:ext cx="4896544" cy="2460957"/>
            </a:xfrm>
            <a:prstGeom prst="rect">
              <a:avLst/>
            </a:prstGeom>
          </p:spPr>
        </p:pic>
        <p:pic>
          <p:nvPicPr>
            <p:cNvPr id="5" name="图片 1" descr="屏幕快照 2018-02-25 下午2.59.31.png">
              <a:extLst>
                <a:ext uri="{FF2B5EF4-FFF2-40B4-BE49-F238E27FC236}">
                  <a16:creationId xmlns:a16="http://schemas.microsoft.com/office/drawing/2014/main" id="{D03C7C2B-02F6-4F5A-83C3-DF1C747D7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1654" y="1789001"/>
              <a:ext cx="4556124" cy="2942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57214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Performance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156BD"/>
                </a:solidFill>
              </a:rPr>
              <a:t>About time and the software system’s ability to meet timing requirements </a:t>
            </a:r>
          </a:p>
          <a:p>
            <a:pPr marL="91463" indent="0">
              <a:lnSpc>
                <a:spcPct val="100000"/>
              </a:lnSpc>
              <a:buNone/>
            </a:pPr>
            <a:r>
              <a:rPr lang="en-US" altLang="ko-KR" sz="1400" dirty="0"/>
              <a:t>   - When events occur, the system or some element of the system must respond to them in time. 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 </a:t>
            </a:r>
            <a:r>
              <a:rPr lang="ko-KR" altLang="en-US" sz="1200" dirty="0" err="1"/>
              <a:t>ㆍ</a:t>
            </a:r>
            <a:r>
              <a:rPr lang="en-US" altLang="ko-KR" sz="1200" dirty="0"/>
              <a:t>interrupts, messages, requests from users or other systems, or clock events marking the passage of time</a:t>
            </a:r>
          </a:p>
          <a:p>
            <a:pPr marL="91463" indent="0">
              <a:lnSpc>
                <a:spcPct val="100000"/>
              </a:lnSpc>
              <a:buNone/>
            </a:pPr>
            <a:r>
              <a:rPr lang="en-US" altLang="ko-KR" sz="1400" dirty="0"/>
              <a:t>    - Characterizing the events that can occur (and when they can occur) and the system or element’s time-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   based response to those events is the essence is discussing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5430011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QAS Example for Performance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B8994E-4569-4D46-B454-49BD26DA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78" y="1664699"/>
            <a:ext cx="6957613" cy="2846170"/>
          </a:xfrm>
          <a:prstGeom prst="rect">
            <a:avLst/>
          </a:prstGeom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/>
              <a:t>“</a:t>
            </a:r>
            <a:r>
              <a:rPr lang="en-US" altLang="ko-KR" dirty="0">
                <a:solidFill>
                  <a:srgbClr val="FFC000"/>
                </a:solidFill>
              </a:rPr>
              <a:t>Users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initiate 1,000 transactions per minute stochastically </a:t>
            </a:r>
            <a:r>
              <a:rPr lang="en-US" altLang="ko-KR" dirty="0">
                <a:solidFill>
                  <a:srgbClr val="00B050"/>
                </a:solidFill>
              </a:rPr>
              <a:t>under normal operations</a:t>
            </a:r>
            <a:r>
              <a:rPr lang="en-US" altLang="ko-KR" dirty="0"/>
              <a:t>, and </a:t>
            </a:r>
            <a:r>
              <a:rPr lang="en-US" altLang="ko-KR" dirty="0">
                <a:solidFill>
                  <a:srgbClr val="4156BD"/>
                </a:solidFill>
              </a:rPr>
              <a:t>these transactions are processed </a:t>
            </a:r>
            <a:r>
              <a:rPr lang="en-US" altLang="ko-KR" dirty="0">
                <a:solidFill>
                  <a:srgbClr val="7030A0"/>
                </a:solidFill>
              </a:rPr>
              <a:t>with an average latency of two seconds</a:t>
            </a:r>
            <a:r>
              <a:rPr lang="en-US" altLang="ko-KR" dirty="0"/>
              <a:t>.”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547341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Performance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65760" y="875102"/>
            <a:ext cx="8461717" cy="3770812"/>
            <a:chOff x="1979712" y="1279786"/>
            <a:chExt cx="11194062" cy="4872505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96999C6F-ED87-4716-8775-D874F24DB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1279786"/>
              <a:ext cx="5433392" cy="2952328"/>
            </a:xfrm>
            <a:prstGeom prst="rect">
              <a:avLst/>
            </a:prstGeom>
          </p:spPr>
        </p:pic>
        <p:pic>
          <p:nvPicPr>
            <p:cNvPr id="5" name="图片 1" descr="屏幕快照 2018-02-25 下午3.18.30.png">
              <a:extLst>
                <a:ext uri="{FF2B5EF4-FFF2-40B4-BE49-F238E27FC236}">
                  <a16:creationId xmlns:a16="http://schemas.microsoft.com/office/drawing/2014/main" id="{7381E948-998D-43CC-BAB4-245741380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7069" y="4046022"/>
              <a:ext cx="7146705" cy="21062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39270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Usability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92652"/>
            <a:ext cx="8712968" cy="3751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rgbClr val="4156BD"/>
                </a:solidFill>
              </a:rPr>
              <a:t>Concerned with 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easy it is for the user to accomplish a desired task </a:t>
            </a:r>
            <a:r>
              <a:rPr lang="en-US" altLang="ko-KR" dirty="0">
                <a:solidFill>
                  <a:srgbClr val="4156BD"/>
                </a:solidFill>
              </a:rPr>
              <a:t>and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the kind of user support the system provides </a:t>
            </a:r>
          </a:p>
          <a:p>
            <a:r>
              <a:rPr lang="en-US" altLang="ko-KR" dirty="0"/>
              <a:t>Usability comprises the following areas: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Learning system features.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Using a system efficiently. 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Minimizing the impact of errors. 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Adapting the system to user needs.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Increasing confidence and satisfaction.</a:t>
            </a:r>
          </a:p>
          <a:p>
            <a:pPr marL="91463" indent="0">
              <a:lnSpc>
                <a:spcPct val="70000"/>
              </a:lnSpc>
              <a:buNone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793224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QAS Example for Usability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B4AE16-DAC6-47D5-B798-093F837D6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59" y="1678399"/>
            <a:ext cx="6895155" cy="2828957"/>
          </a:xfrm>
          <a:prstGeom prst="rect">
            <a:avLst/>
          </a:prstGeom>
        </p:spPr>
      </p:pic>
      <p:sp>
        <p:nvSpPr>
          <p:cNvPr id="5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/>
              <a:t>“</a:t>
            </a:r>
            <a:r>
              <a:rPr lang="en-US" altLang="ko-KR" dirty="0">
                <a:solidFill>
                  <a:srgbClr val="FFC000"/>
                </a:solidFill>
              </a:rPr>
              <a:t>A user </a:t>
            </a:r>
            <a:r>
              <a:rPr lang="en-US" altLang="ko-KR" dirty="0">
                <a:solidFill>
                  <a:srgbClr val="FF0000"/>
                </a:solidFill>
              </a:rPr>
              <a:t>wanting to minimize the impact of an error,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4156BD"/>
                </a:solidFill>
              </a:rPr>
              <a:t>wishes to cancel a system operation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00B050"/>
                </a:solidFill>
              </a:rPr>
              <a:t>at runtime;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cancellation takes place in less than one second.</a:t>
            </a:r>
            <a:r>
              <a:rPr lang="en-US" altLang="ko-KR" dirty="0"/>
              <a:t>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90084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Usability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07962" y="866328"/>
            <a:ext cx="8412481" cy="3744416"/>
            <a:chOff x="-4850" y="782545"/>
            <a:chExt cx="9283698" cy="4012569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565BDC92-AE32-44B3-83FA-F9BA046C9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4850" y="782545"/>
              <a:ext cx="4730975" cy="2536193"/>
            </a:xfrm>
            <a:prstGeom prst="rect">
              <a:avLst/>
            </a:prstGeom>
          </p:spPr>
        </p:pic>
        <p:pic>
          <p:nvPicPr>
            <p:cNvPr id="5" name="图片 1" descr="屏幕快照 2018-02-25 下午3.53.13.png">
              <a:extLst>
                <a:ext uri="{FF2B5EF4-FFF2-40B4-BE49-F238E27FC236}">
                  <a16:creationId xmlns:a16="http://schemas.microsoft.com/office/drawing/2014/main" id="{25F9D627-9686-45DC-AAC2-94CC39DBD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2627" y="2520328"/>
              <a:ext cx="4686221" cy="2274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46932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Interoperability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degree to which </a:t>
            </a:r>
            <a:r>
              <a:rPr lang="en-US" altLang="ko-KR" dirty="0">
                <a:solidFill>
                  <a:srgbClr val="4156BD"/>
                </a:solidFill>
              </a:rPr>
              <a:t>two or more systems can usefully exchange meaningful information via interfaces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 a particular context</a:t>
            </a:r>
          </a:p>
          <a:p>
            <a:r>
              <a:rPr lang="en-US" altLang="ko-KR" dirty="0"/>
              <a:t>The definition includes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Syntactic interoperability: The ability to exchange data 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Semantic interoperability: The ability to correctly interpret the data being exchanged</a:t>
            </a:r>
          </a:p>
          <a:p>
            <a:pPr marL="91463" indent="0">
              <a:lnSpc>
                <a:spcPct val="100000"/>
              </a:lnSpc>
              <a:buNone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930413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Interoperability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93894" y="836524"/>
            <a:ext cx="8342143" cy="3766497"/>
            <a:chOff x="-297287" y="600321"/>
            <a:chExt cx="9729503" cy="4240981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A0EC49F2-4338-4688-89ED-CF8563E45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97287" y="600321"/>
              <a:ext cx="5064145" cy="2850203"/>
            </a:xfrm>
            <a:prstGeom prst="rect">
              <a:avLst/>
            </a:prstGeom>
          </p:spPr>
        </p:pic>
        <p:pic>
          <p:nvPicPr>
            <p:cNvPr id="5" name="图片 1" descr="屏幕快照 2018-02-25 下午2.46.21.png">
              <a:extLst>
                <a:ext uri="{FF2B5EF4-FFF2-40B4-BE49-F238E27FC236}">
                  <a16:creationId xmlns:a16="http://schemas.microsoft.com/office/drawing/2014/main" id="{EEC6AE6C-E9FE-4E54-A4CF-2F9D08E462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633"/>
            <a:stretch/>
          </p:blipFill>
          <p:spPr>
            <a:xfrm>
              <a:off x="4681328" y="2059747"/>
              <a:ext cx="4750888" cy="2781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77207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Security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measure of the system’s ability </a:t>
            </a:r>
            <a:r>
              <a:rPr lang="en-US" altLang="ko-KR" dirty="0">
                <a:solidFill>
                  <a:srgbClr val="4156BD"/>
                </a:solidFill>
              </a:rPr>
              <a:t>to protect data and information from unauthorized access 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while still </a:t>
            </a:r>
            <a:r>
              <a:rPr lang="en-US" altLang="ko-KR" dirty="0">
                <a:solidFill>
                  <a:srgbClr val="4156BD"/>
                </a:solidFill>
              </a:rPr>
              <a:t>providing access to people and systems that are authorized</a:t>
            </a:r>
            <a:br>
              <a:rPr lang="en-US" altLang="ko-KR" dirty="0">
                <a:solidFill>
                  <a:srgbClr val="4156BD"/>
                </a:solidFill>
              </a:rPr>
            </a:br>
            <a:endParaRPr lang="en-US" altLang="ko-KR" sz="1000" dirty="0">
              <a:solidFill>
                <a:srgbClr val="4156BD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dirty="0"/>
              <a:t>The simplest approach to characterizing security has 3 characteristics (CIA):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Confidentiality: </a:t>
            </a:r>
            <a:r>
              <a:rPr lang="ko-KR" altLang="en-US" sz="1200" dirty="0"/>
              <a:t>기밀보장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Integrity: </a:t>
            </a:r>
            <a:r>
              <a:rPr lang="ko-KR" altLang="en-US" sz="1200" dirty="0" err="1"/>
              <a:t>데이터무결성</a:t>
            </a:r>
            <a:r>
              <a:rPr lang="ko-KR" altLang="en-US" sz="1200" dirty="0"/>
              <a:t> 보장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Availability: </a:t>
            </a:r>
            <a:r>
              <a:rPr lang="ko-KR" altLang="en-US" sz="1200" dirty="0"/>
              <a:t>승인된 사용자에게는 언제나 가용한 상태여야 함</a:t>
            </a:r>
            <a:br>
              <a:rPr lang="en-US" altLang="ko-KR" sz="1200" dirty="0"/>
            </a:br>
            <a:endParaRPr lang="ko-KR" altLang="en-US" sz="2000" dirty="0"/>
          </a:p>
          <a:p>
            <a:pPr>
              <a:lnSpc>
                <a:spcPct val="100000"/>
              </a:lnSpc>
            </a:pPr>
            <a:r>
              <a:rPr lang="en-US" altLang="ko-KR" dirty="0"/>
              <a:t>Other characteristics that are used to support CIA are these: 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Authentication(</a:t>
            </a:r>
            <a:r>
              <a:rPr lang="ko-KR" altLang="en-US" sz="1200" dirty="0"/>
              <a:t>인증</a:t>
            </a:r>
            <a:r>
              <a:rPr lang="en-US" altLang="ko-KR" sz="1200" dirty="0"/>
              <a:t>)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Non-repudiation(</a:t>
            </a:r>
            <a:r>
              <a:rPr lang="ko-KR" altLang="en-US" sz="1200" dirty="0"/>
              <a:t>부인방지</a:t>
            </a:r>
            <a:r>
              <a:rPr lang="en-US" altLang="ko-KR" sz="1200" dirty="0"/>
              <a:t>): </a:t>
            </a:r>
            <a:r>
              <a:rPr lang="ko-KR" altLang="en-US" sz="1200" dirty="0"/>
              <a:t>거래 또는 통신에 관련된 당사자가 자신의 행동이나 교환된 정보의 유효성을 부인할 수 </a:t>
            </a:r>
            <a:endParaRPr lang="en-US" altLang="ko-KR" sz="1200" dirty="0"/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  </a:t>
            </a:r>
            <a:r>
              <a:rPr lang="ko-KR" altLang="en-US" sz="1200" dirty="0"/>
              <a:t>없도록 함</a:t>
            </a:r>
            <a:r>
              <a:rPr lang="en-US" altLang="ko-KR" sz="1200" dirty="0"/>
              <a:t>. 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사용자가 특정 작업을 수행하거나 메시지를 보낸 후에는 나중에 해당 작업을 수행하지 않았다고</a:t>
            </a:r>
            <a:endParaRPr lang="en-US" altLang="ko-KR" sz="1200" dirty="0"/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  </a:t>
            </a:r>
            <a:r>
              <a:rPr lang="ko-KR" altLang="en-US" sz="1200" dirty="0"/>
              <a:t>주장할 수 없음</a:t>
            </a:r>
            <a:r>
              <a:rPr lang="en-US" altLang="ko-KR" sz="1100" dirty="0"/>
              <a:t>(Digital Signature/Transaction Logging/Timestamping/Secure Communication Protocols/</a:t>
            </a:r>
            <a:r>
              <a:rPr lang="en-US" altLang="ko-KR" sz="1100" dirty="0" err="1"/>
              <a:t>Blockchain</a:t>
            </a:r>
            <a:r>
              <a:rPr lang="en-US" altLang="ko-KR" sz="1100" dirty="0"/>
              <a:t> </a:t>
            </a:r>
            <a:r>
              <a:rPr lang="en-US" altLang="ko-KR" sz="1100" dirty="0" err="1"/>
              <a:t>Technolog</a:t>
            </a:r>
            <a:r>
              <a:rPr lang="en-US" altLang="ko-KR" sz="1100" dirty="0"/>
              <a:t> etc.)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200" dirty="0"/>
              <a:t>   - Authorization(</a:t>
            </a:r>
            <a:r>
              <a:rPr lang="ko-KR" altLang="en-US" sz="1200" dirty="0"/>
              <a:t>허가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1637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Security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16523" y="822456"/>
            <a:ext cx="8431941" cy="3960440"/>
            <a:chOff x="107504" y="843558"/>
            <a:chExt cx="9562789" cy="4615376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2CC289E9-6A15-4C9D-AC90-0886CAD4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843558"/>
              <a:ext cx="5081556" cy="3188805"/>
            </a:xfrm>
            <a:prstGeom prst="rect">
              <a:avLst/>
            </a:prstGeom>
          </p:spPr>
        </p:pic>
        <p:pic>
          <p:nvPicPr>
            <p:cNvPr id="5" name="图片 1" descr="屏幕快照 2018-02-25 下午3.32.58.png">
              <a:extLst>
                <a:ext uri="{FF2B5EF4-FFF2-40B4-BE49-F238E27FC236}">
                  <a16:creationId xmlns:a16="http://schemas.microsoft.com/office/drawing/2014/main" id="{B5C0FD2C-2108-4C7A-9A27-E0517A26D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3322" y="927204"/>
              <a:ext cx="4286971" cy="45317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74017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- Testability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156BD"/>
                </a:solidFill>
              </a:rPr>
              <a:t>The ease with which software can be made to demonstrate its faults through (typically execution-based) testing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Specifically, testability refers to the probability, assuming that the software has at least one fault,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  that it will fail on its next test execution.</a:t>
            </a:r>
          </a:p>
          <a:p>
            <a:pPr marL="91463" indent="0">
              <a:lnSpc>
                <a:spcPct val="70000"/>
              </a:lnSpc>
              <a:buNone/>
            </a:pPr>
            <a:r>
              <a:rPr lang="en-US" altLang="ko-KR" sz="1400" dirty="0"/>
              <a:t>   - Intuitively, a system is testable if it “gives up” its faults easily. </a:t>
            </a:r>
          </a:p>
          <a:p>
            <a:pPr marL="91463" indent="0">
              <a:lnSpc>
                <a:spcPct val="70000"/>
              </a:lnSpc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2071597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Quality Attribute Scenario - Testability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93894" y="852260"/>
            <a:ext cx="8440617" cy="3744416"/>
            <a:chOff x="-106633" y="765699"/>
            <a:chExt cx="9420967" cy="4048681"/>
          </a:xfrm>
        </p:grpSpPr>
        <p:pic>
          <p:nvPicPr>
            <p:cNvPr id="4" name="내용 개체 틀 4">
              <a:extLst>
                <a:ext uri="{FF2B5EF4-FFF2-40B4-BE49-F238E27FC236}">
                  <a16:creationId xmlns:a16="http://schemas.microsoft.com/office/drawing/2014/main" id="{ECC8DA25-3567-4A6F-A164-28565D2A0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6633" y="765699"/>
              <a:ext cx="4606626" cy="2545456"/>
            </a:xfrm>
            <a:prstGeom prst="rect">
              <a:avLst/>
            </a:prstGeom>
          </p:spPr>
        </p:pic>
        <p:pic>
          <p:nvPicPr>
            <p:cNvPr id="5" name="图片 1" descr="屏幕快照 2018-02-25 下午3.44.19.png">
              <a:extLst>
                <a:ext uri="{FF2B5EF4-FFF2-40B4-BE49-F238E27FC236}">
                  <a16:creationId xmlns:a16="http://schemas.microsoft.com/office/drawing/2014/main" id="{B4965ABC-77EA-4C03-AC98-3F3DF30CB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2616" y="1589319"/>
              <a:ext cx="4731718" cy="32250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1444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Other Quality Attributes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12968" cy="3751262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Other important quality attributes</a:t>
            </a:r>
            <a:endParaRPr lang="en-US" altLang="ko-KR" sz="1800" dirty="0"/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Variability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Portability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Development </a:t>
            </a:r>
            <a:r>
              <a:rPr lang="en-US" altLang="ko-KR" sz="1400" dirty="0" err="1"/>
              <a:t>Distributability</a:t>
            </a:r>
            <a:r>
              <a:rPr lang="en-US" altLang="ko-KR" sz="1400" dirty="0"/>
              <a:t>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Scalability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</a:t>
            </a:r>
            <a:r>
              <a:rPr lang="en-US" altLang="ko-KR" sz="1400" dirty="0" err="1"/>
              <a:t>Deployability</a:t>
            </a:r>
            <a:r>
              <a:rPr lang="en-US" altLang="ko-KR" sz="1400" dirty="0"/>
              <a:t>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Mobility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</a:t>
            </a:r>
            <a:r>
              <a:rPr lang="en-US" altLang="ko-KR" sz="1400" dirty="0" err="1"/>
              <a:t>Monitorability</a:t>
            </a:r>
            <a:r>
              <a:rPr lang="en-US" altLang="ko-KR" sz="1400" dirty="0"/>
              <a:t> </a:t>
            </a:r>
          </a:p>
          <a:p>
            <a:pPr marL="91463" indent="0">
              <a:lnSpc>
                <a:spcPct val="90000"/>
              </a:lnSpc>
              <a:buNone/>
            </a:pPr>
            <a:r>
              <a:rPr lang="en-US" altLang="ko-KR" sz="1400" dirty="0"/>
              <a:t>   - Safety 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173463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808" y="1995686"/>
            <a:ext cx="3376520" cy="753778"/>
          </a:xfrm>
          <a:prstGeom prst="rect">
            <a:avLst/>
          </a:prstGeom>
          <a:noFill/>
        </p:spPr>
        <p:txBody>
          <a:bodyPr wrap="square" lIns="0" tIns="37964" rIns="75927" bIns="37964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83A1DD"/>
                </a:solidFill>
                <a:latin typeface="+mj-lt"/>
                <a:ea typeface="맑은 고딕" panose="020B0503020000020004" pitchFamily="50" charset="-127"/>
              </a:rPr>
              <a:t>Thank You</a:t>
            </a:r>
            <a:endParaRPr lang="ko-KR" altLang="en-US" sz="4400" b="1" dirty="0">
              <a:solidFill>
                <a:srgbClr val="83A1DD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99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7987</TotalTime>
  <Words>5689</Words>
  <Application>Microsoft Office PowerPoint</Application>
  <PresentationFormat>화면 슬라이드 쇼(16:9)</PresentationFormat>
  <Paragraphs>787</Paragraphs>
  <Slides>109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109</vt:i4>
      </vt:variant>
    </vt:vector>
  </HeadingPairs>
  <TitlesOfParts>
    <vt:vector size="117" baseType="lpstr">
      <vt:lpstr>-apple-system</vt:lpstr>
      <vt:lpstr>Nanum Gothic</vt:lpstr>
      <vt:lpstr>맑은 고딕</vt:lpstr>
      <vt:lpstr>샘물체</vt:lpstr>
      <vt:lpstr>Arial</vt:lpstr>
      <vt:lpstr>Trebuchet MS</vt:lpstr>
      <vt:lpstr>Wingdings</vt:lpstr>
      <vt:lpstr>Office 테마</vt:lpstr>
      <vt:lpstr>요구공학 실습</vt:lpstr>
      <vt:lpstr>강사 소개</vt:lpstr>
      <vt:lpstr>PowerPoint 프레젠테이션</vt:lpstr>
      <vt:lpstr>How Projects Really Work</vt:lpstr>
      <vt:lpstr>요구공학이란</vt:lpstr>
      <vt:lpstr>Overview</vt:lpstr>
      <vt:lpstr>PowerPoint 프레젠테이션</vt:lpstr>
      <vt:lpstr>온라인 영상 (1~3) - 핵심 주제</vt:lpstr>
      <vt:lpstr>온라인 영상 (1~3) - Summary</vt:lpstr>
      <vt:lpstr>온라인 영상 (1~3) - Summary</vt:lpstr>
      <vt:lpstr>온라인 영상 (1~3) - Summary</vt:lpstr>
      <vt:lpstr>온라인 영상 (1~3) - Summary</vt:lpstr>
      <vt:lpstr>온라인 영상 (1~3) - Summary</vt:lpstr>
      <vt:lpstr>온라인 영상 (1~3) - Summary</vt:lpstr>
      <vt:lpstr>온라인 영상 (1~3) - Summary</vt:lpstr>
      <vt:lpstr>PowerPoint 프레젠테이션</vt:lpstr>
      <vt:lpstr>온라인 영상 (4~5) - 핵심 주제</vt:lpstr>
      <vt:lpstr>온라인 영상 (4~5) - Summary</vt:lpstr>
      <vt:lpstr>온라인 영상 (4~5) - Summary</vt:lpstr>
      <vt:lpstr>온라인 영상 (4~5) - Summary</vt:lpstr>
      <vt:lpstr>온라인 영상 (4~5) - Summary</vt:lpstr>
      <vt:lpstr>온라인 영상 (4~5) - Summary</vt:lpstr>
      <vt:lpstr>Use Case Specification Basic vs Alternative Flow</vt:lpstr>
      <vt:lpstr>Use Case Specification Basic vs Alternative Flow</vt:lpstr>
      <vt:lpstr>Exercise 1: Use Case Specification 작성하기</vt:lpstr>
      <vt:lpstr>Exercise 1: Use Case Specification 작성하기</vt:lpstr>
      <vt:lpstr>Exercise 1: Use Case Specification</vt:lpstr>
      <vt:lpstr>Exercise 1: Use Case Specification</vt:lpstr>
      <vt:lpstr>PowerPoint 프레젠테이션</vt:lpstr>
      <vt:lpstr>Exercise 1: Use Case Specification 조별 결과 리뷰</vt:lpstr>
      <vt:lpstr>Exercise 1: Use Case Specification 조별 결과 리뷰</vt:lpstr>
      <vt:lpstr>Exercise 1: Use Case Specification 조별 결과 리뷰</vt:lpstr>
      <vt:lpstr>Exercise 1: Use Case Specification 조별 결과 리뷰</vt:lpstr>
      <vt:lpstr>Ex2. Use Case Diagram 완성하기</vt:lpstr>
      <vt:lpstr>Exercise 2. Use Case Restructuring</vt:lpstr>
      <vt:lpstr>Include-Relationship</vt:lpstr>
      <vt:lpstr>Include-Relationship</vt:lpstr>
      <vt:lpstr>Include-Relationship (예시)</vt:lpstr>
      <vt:lpstr>Extend-Relationship</vt:lpstr>
      <vt:lpstr>Extend-Relationship</vt:lpstr>
      <vt:lpstr>Extension Point Specification</vt:lpstr>
      <vt:lpstr>Extend-Relationship (예시)</vt:lpstr>
      <vt:lpstr>Extension Points vs Alternative Flows</vt:lpstr>
      <vt:lpstr>Exercise 2: Use Case Restructuring</vt:lpstr>
      <vt:lpstr>QAS - Pre Activity</vt:lpstr>
      <vt:lpstr>PowerPoint 프레젠테이션</vt:lpstr>
      <vt:lpstr>온라인 영상 (6) - 핵심 주제 </vt:lpstr>
      <vt:lpstr>온라인 영상 (6) - Summary</vt:lpstr>
      <vt:lpstr>온라인 영상 (6) - Summary</vt:lpstr>
      <vt:lpstr>온라인 영상 (6) - Summary</vt:lpstr>
      <vt:lpstr>온라인 영상 (6) - Summary</vt:lpstr>
      <vt:lpstr>온라인 영상 (6) - Summary</vt:lpstr>
      <vt:lpstr>온라인 영상 (6) - Summary</vt:lpstr>
      <vt:lpstr>온라인 영상 (6) - Summary</vt:lpstr>
      <vt:lpstr>Mini-QAW</vt:lpstr>
      <vt:lpstr>1. Mini-QAW Introduction</vt:lpstr>
      <vt:lpstr>2. Introduction to Quality Attributes, Quality Attributes Taxonomy</vt:lpstr>
      <vt:lpstr>System Properties Web</vt:lpstr>
      <vt:lpstr>3. Scenario Brainstorming</vt:lpstr>
      <vt:lpstr>Raw Quality Attribute Scenario</vt:lpstr>
      <vt:lpstr>“Walk the System Properties Web” Activity</vt:lpstr>
      <vt:lpstr>“Walk the System Properties Web” Activity</vt:lpstr>
      <vt:lpstr>4. Raw Scenario Prioritization</vt:lpstr>
      <vt:lpstr>4. Raw Scenario Prioritization</vt:lpstr>
      <vt:lpstr>5. Scenario Refinement</vt:lpstr>
      <vt:lpstr>Utility Tree: Example</vt:lpstr>
      <vt:lpstr>(사례) Mini-QAW</vt:lpstr>
      <vt:lpstr>(사례) Utility Tree</vt:lpstr>
      <vt:lpstr>Exercise 3: Mini-QAW</vt:lpstr>
      <vt:lpstr>[Ex3.1] Raw Quality Attribute Scenario</vt:lpstr>
      <vt:lpstr>[Ex3.2] QAS (Quality Attribute Scenario)</vt:lpstr>
      <vt:lpstr>[Ex3.3] Utility Tree</vt:lpstr>
      <vt:lpstr>: Quality Attribute 의 정확한 분류가 중요한 이유 </vt:lpstr>
      <vt:lpstr>: Quality Attribute 의 정확한 분류가 중요한 이유 </vt:lpstr>
      <vt:lpstr>PowerPoint 프레젠테이션</vt:lpstr>
      <vt:lpstr>온라인 영상 (7,8,9,10) - 핵심 주제</vt:lpstr>
      <vt:lpstr>온라인 영상 (7,8,9,10) - Summary</vt:lpstr>
      <vt:lpstr>온라인 영상 (7,8,9,10) - Summary</vt:lpstr>
      <vt:lpstr>온라인 영상 (7,8,9,10) - Summary</vt:lpstr>
      <vt:lpstr>온라인 영상 (7,8,9,10) - Summary</vt:lpstr>
      <vt:lpstr>온라인 영상 (7,8,9,10) - Summary</vt:lpstr>
      <vt:lpstr>온라인 영상 (7,8,9,10) - Summary</vt:lpstr>
      <vt:lpstr>Exercise 3: Utility Tree: 제출 예시</vt:lpstr>
      <vt:lpstr>Exercise 3: Mini-QAW – 조별 결과 리뷰</vt:lpstr>
      <vt:lpstr>과정정리</vt:lpstr>
      <vt:lpstr>PowerPoint 프레젠테이션</vt:lpstr>
      <vt:lpstr>revision</vt:lpstr>
      <vt:lpstr>revision</vt:lpstr>
      <vt:lpstr>Guideline for Specifying Scenario  for Quality Attributes</vt:lpstr>
      <vt:lpstr>Quality Attribute - Availability</vt:lpstr>
      <vt:lpstr>QAS Example for Availability</vt:lpstr>
      <vt:lpstr>Quality Attribute Scenario - Availability</vt:lpstr>
      <vt:lpstr>Quality Attribute - Modifiability</vt:lpstr>
      <vt:lpstr>QAS Example for Modifiability (Adaptability)</vt:lpstr>
      <vt:lpstr>Quality Attribute Scenario - Modifiability</vt:lpstr>
      <vt:lpstr>Quality Attribute - Performance</vt:lpstr>
      <vt:lpstr>QAS Example for Performance</vt:lpstr>
      <vt:lpstr>Quality Attribute Scenario - Performance</vt:lpstr>
      <vt:lpstr>Quality Attribute - Usability</vt:lpstr>
      <vt:lpstr>QAS Example for Usability </vt:lpstr>
      <vt:lpstr>Quality Attribute Scenario - Usability</vt:lpstr>
      <vt:lpstr>Quality Attribute - Interoperability</vt:lpstr>
      <vt:lpstr>Quality Attribute Scenario - Interoperability</vt:lpstr>
      <vt:lpstr>Quality Attribute - Security</vt:lpstr>
      <vt:lpstr>Quality Attribute Scenario - Security</vt:lpstr>
      <vt:lpstr>Quality Attribute - Testability</vt:lpstr>
      <vt:lpstr>Quality Attribute Scenario - Testability</vt:lpstr>
      <vt:lpstr>Other Quality Attributes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강의 제목 입력</dc:title>
  <dc:creator>강혜진</dc:creator>
  <cp:lastModifiedBy>User</cp:lastModifiedBy>
  <cp:revision>637</cp:revision>
  <dcterms:created xsi:type="dcterms:W3CDTF">2021-01-19T01:45:28Z</dcterms:created>
  <dcterms:modified xsi:type="dcterms:W3CDTF">2026-08-31T00:15:37Z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E1AE2D398CAC0C3C2F94AEB65746F46A619CD56D293C3557FA82FA8429584F1D4156720A9E6973378DA18241AAC819C23FED38C42CE9794F7AA024A4C6B1C94E</vt:lpwstr>
  </property>
</Properties>
</file>