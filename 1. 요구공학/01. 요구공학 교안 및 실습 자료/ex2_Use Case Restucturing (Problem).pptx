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607" r:id="rId2"/>
    <p:sldId id="608" r:id="rId3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CC"/>
    <a:srgbClr val="4F81BD"/>
    <a:srgbClr val="7099CA"/>
    <a:srgbClr val="4156BD"/>
    <a:srgbClr val="B2CCEC"/>
    <a:srgbClr val="5974BF"/>
    <a:srgbClr val="83A1DD"/>
    <a:srgbClr val="6679CC"/>
    <a:srgbClr val="2A2D72"/>
    <a:srgbClr val="5257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1" autoAdjust="0"/>
    <p:restoredTop sz="90427" autoAdjust="0"/>
  </p:normalViewPr>
  <p:slideViewPr>
    <p:cSldViewPr>
      <p:cViewPr varScale="1">
        <p:scale>
          <a:sx n="191" d="100"/>
          <a:sy n="191" d="100"/>
        </p:scale>
        <p:origin x="1012" y="10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207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29472"/>
    </p:cViewPr>
  </p:sorterViewPr>
  <p:notesViewPr>
    <p:cSldViewPr>
      <p:cViewPr varScale="1">
        <p:scale>
          <a:sx n="88" d="100"/>
          <a:sy n="88" d="100"/>
        </p:scale>
        <p:origin x="382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B8944F-6416-492C-B6C3-972994AD2AFD}" type="datetimeFigureOut">
              <a:rPr lang="ko-KR" altLang="en-US" smtClean="0"/>
              <a:t>2025-06-11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A2678C-18E7-4230-B1D8-B77B8B4C5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66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446"/>
          </a:xfrm>
          <a:prstGeom prst="rect">
            <a:avLst/>
          </a:prstGeom>
        </p:spPr>
      </p:pic>
      <p:sp>
        <p:nvSpPr>
          <p:cNvPr id="14" name="제목 1"/>
          <p:cNvSpPr>
            <a:spLocks noGrp="1"/>
          </p:cNvSpPr>
          <p:nvPr>
            <p:ph type="title"/>
          </p:nvPr>
        </p:nvSpPr>
        <p:spPr>
          <a:xfrm>
            <a:off x="676386" y="2005191"/>
            <a:ext cx="7772400" cy="714003"/>
          </a:xfrm>
          <a:prstGeom prst="rect">
            <a:avLst/>
          </a:prstGeom>
        </p:spPr>
        <p:txBody>
          <a:bodyPr anchor="t">
            <a:noAutofit/>
          </a:bodyPr>
          <a:lstStyle>
            <a:lvl1pPr algn="ctr">
              <a:defRPr sz="4600" b="1" cap="all" spc="-150">
                <a:ln>
                  <a:noFill/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텍스트 개체 틀 2"/>
          <p:cNvSpPr>
            <a:spLocks noGrp="1"/>
          </p:cNvSpPr>
          <p:nvPr>
            <p:ph type="body" idx="1"/>
          </p:nvPr>
        </p:nvSpPr>
        <p:spPr>
          <a:xfrm>
            <a:off x="676386" y="1493150"/>
            <a:ext cx="7772400" cy="49207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2400">
                <a:ln>
                  <a:solidFill>
                    <a:srgbClr val="4156BD">
                      <a:alpha val="500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6" name="텍스트 개체 틀 2"/>
          <p:cNvSpPr>
            <a:spLocks noGrp="1"/>
          </p:cNvSpPr>
          <p:nvPr>
            <p:ph type="body" idx="12"/>
          </p:nvPr>
        </p:nvSpPr>
        <p:spPr>
          <a:xfrm>
            <a:off x="2575244" y="2787774"/>
            <a:ext cx="3888432" cy="4320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lang="ko-KR" altLang="en-US" sz="1800" kern="1200" dirty="0" smtClean="0">
                <a:ln>
                  <a:solidFill>
                    <a:srgbClr val="4156BD">
                      <a:alpha val="5000"/>
                    </a:srgbClr>
                  </a:solidFill>
                </a:ln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516" y="4639216"/>
            <a:ext cx="980969" cy="21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667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Pr>
        <a:solidFill>
          <a:srgbClr val="5257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1977070" y="420458"/>
            <a:ext cx="5231360" cy="72008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lang="ko-KR" altLang="en-US" sz="3600" b="0" kern="1200" spc="-100" baseline="0" dirty="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lvl="0" algn="l" defTabSz="759272" rtl="0" eaLnBrk="1" latin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611560" y="1635646"/>
            <a:ext cx="7560840" cy="3097654"/>
          </a:xfrm>
          <a:prstGeom prst="rect">
            <a:avLst/>
          </a:prstGeom>
        </p:spPr>
        <p:txBody>
          <a:bodyPr/>
          <a:lstStyle>
            <a:lvl1pPr marL="361950" indent="-252000">
              <a:lnSpc>
                <a:spcPct val="130000"/>
              </a:lnSpc>
              <a:buClr>
                <a:schemeClr val="accent1"/>
              </a:buClr>
              <a:buSzPct val="100000"/>
              <a:buFont typeface="+mj-lt"/>
              <a:buAutoNum type="arabicPeriod"/>
              <a:defRPr sz="2000" b="1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14375" indent="-252000">
              <a:lnSpc>
                <a:spcPct val="130000"/>
              </a:lnSpc>
              <a:buClr>
                <a:schemeClr val="accent1"/>
              </a:buClr>
              <a:buSzPct val="100000"/>
              <a:buFont typeface="+mj-lt"/>
              <a:buAutoNum type="arabicPeriod"/>
              <a:defRPr sz="16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6325" indent="-252000">
              <a:lnSpc>
                <a:spcPct val="130000"/>
              </a:lnSpc>
              <a:buClr>
                <a:schemeClr val="accent1"/>
              </a:buClr>
              <a:buSzPct val="100000"/>
              <a:buFont typeface="+mj-lt"/>
              <a:buAutoNum type="arabicPeriod"/>
              <a:defRPr sz="14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43025" indent="-266700">
              <a:lnSpc>
                <a:spcPct val="130000"/>
              </a:lnSpc>
              <a:buFont typeface="+mj-lt"/>
              <a:buAutoNum type="arabicPeriod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619250" indent="-276225">
              <a:lnSpc>
                <a:spcPct val="130000"/>
              </a:lnSpc>
              <a:buFont typeface="+mj-lt"/>
              <a:buAutoNum type="arabicPeriod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12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772452" y="4921727"/>
            <a:ext cx="1440000" cy="208404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1300" kern="1200" smtClean="0">
                <a:solidFill>
                  <a:schemeClr val="bg1"/>
                </a:solidFill>
                <a:latin typeface="샘물체" pitchFamily="18" charset="-127"/>
                <a:ea typeface="샘물체" pitchFamily="18" charset="-127"/>
                <a:cs typeface="+mn-cs"/>
              </a:defRPr>
            </a:lvl1pPr>
          </a:lstStyle>
          <a:p>
            <a:fld id="{AF33F0E2-3294-4740-8E22-F3EF5A8BEBAB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97602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6570"/>
          </a:xfrm>
          <a:prstGeom prst="rect">
            <a:avLst/>
          </a:prstGeom>
        </p:spPr>
      </p:pic>
      <p:sp>
        <p:nvSpPr>
          <p:cNvPr id="8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772452" y="4921727"/>
            <a:ext cx="1440000" cy="208404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1300" kern="1200" smtClean="0">
                <a:solidFill>
                  <a:schemeClr val="bg1">
                    <a:lumMod val="50000"/>
                  </a:schemeClr>
                </a:solidFill>
                <a:latin typeface="샘물체" pitchFamily="18" charset="-127"/>
                <a:ea typeface="샘물체" pitchFamily="18" charset="-127"/>
                <a:cs typeface="+mn-cs"/>
              </a:defRPr>
            </a:lvl1pPr>
          </a:lstStyle>
          <a:p>
            <a:fld id="{AF33F0E2-3294-4740-8E22-F3EF5A8BEBAB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2928428" y="1821831"/>
            <a:ext cx="4492362" cy="533895"/>
          </a:xfrm>
          <a:prstGeom prst="rect">
            <a:avLst/>
          </a:prstGeom>
        </p:spPr>
        <p:txBody>
          <a:bodyPr vert="horz" lIns="75927" tIns="37964" rIns="75927" bIns="37964" rtlCol="0" anchor="ctr">
            <a:noAutofit/>
          </a:bodyPr>
          <a:lstStyle>
            <a:lvl1pPr algn="l">
              <a:defRPr lang="ko-KR" altLang="en-US" sz="3200" b="1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002060"/>
                </a:solidFill>
                <a:latin typeface="+mj-ea"/>
                <a:cs typeface="Arial" panose="020B0604020202020204" pitchFamily="34" charset="0"/>
              </a:defRPr>
            </a:lvl1pPr>
          </a:lstStyle>
          <a:p>
            <a:pPr lvl="0" algn="l" defTabSz="759272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49813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56400" y="-1229"/>
            <a:ext cx="8430220" cy="531531"/>
          </a:xfrm>
          <a:prstGeom prst="rect">
            <a:avLst/>
          </a:prstGeom>
        </p:spPr>
        <p:txBody>
          <a:bodyPr vert="horz" lIns="75927" tIns="37964" rIns="75927" bIns="37964" rtlCol="0" anchor="ctr">
            <a:normAutofit/>
          </a:bodyPr>
          <a:lstStyle>
            <a:lvl1pPr algn="l">
              <a:defRPr lang="ko-KR" altLang="en-US" sz="2200" b="1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chemeClr val="bg1"/>
                </a:solidFill>
                <a:latin typeface="+mj-ea"/>
                <a:cs typeface="Arial" panose="020B0604020202020204" pitchFamily="34" charset="0"/>
              </a:defRPr>
            </a:lvl1pPr>
          </a:lstStyle>
          <a:p>
            <a:pPr lvl="0" algn="l" defTabSz="759272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10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772452" y="4921727"/>
            <a:ext cx="1440000" cy="208404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1300" kern="1200" smtClean="0">
                <a:solidFill>
                  <a:schemeClr val="bg1">
                    <a:lumMod val="50000"/>
                  </a:schemeClr>
                </a:solidFill>
                <a:latin typeface="샘물체" pitchFamily="18" charset="-127"/>
                <a:ea typeface="샘물체" pitchFamily="18" charset="-127"/>
                <a:cs typeface="+mn-cs"/>
              </a:defRPr>
            </a:lvl1pPr>
          </a:lstStyle>
          <a:p>
            <a:fld id="{AF33F0E2-3294-4740-8E22-F3EF5A8BEBAB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251520" y="779180"/>
            <a:ext cx="8712968" cy="3751262"/>
          </a:xfrm>
          <a:prstGeom prst="rect">
            <a:avLst/>
          </a:prstGeom>
        </p:spPr>
        <p:txBody>
          <a:bodyPr>
            <a:normAutofit/>
          </a:bodyPr>
          <a:lstStyle>
            <a:lvl1pPr marL="271463" indent="-180000">
              <a:lnSpc>
                <a:spcPct val="120000"/>
              </a:lnSpc>
              <a:spcAft>
                <a:spcPts val="5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sz="1600" spc="-70" baseline="0">
                <a:ln>
                  <a:solidFill>
                    <a:schemeClr val="tx1">
                      <a:alpha val="1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41338" indent="-180000">
              <a:lnSpc>
                <a:spcPct val="120000"/>
              </a:lnSpc>
              <a:spcAft>
                <a:spcPts val="5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sz="1400" spc="-70" baseline="0">
                <a:ln>
                  <a:solidFill>
                    <a:schemeClr val="tx1">
                      <a:alpha val="1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804863" indent="-180000">
              <a:lnSpc>
                <a:spcPct val="120000"/>
              </a:lnSpc>
              <a:spcAft>
                <a:spcPts val="5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sz="1200" spc="-70" baseline="0">
                <a:ln>
                  <a:solidFill>
                    <a:schemeClr val="tx1">
                      <a:alpha val="1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074738" indent="-180000">
              <a:lnSpc>
                <a:spcPct val="120000"/>
              </a:lnSpc>
              <a:spcAft>
                <a:spcPts val="5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sz="1050" spc="-70" baseline="0">
                <a:ln>
                  <a:solidFill>
                    <a:schemeClr val="tx1">
                      <a:alpha val="1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346200" indent="-180000">
              <a:lnSpc>
                <a:spcPct val="120000"/>
              </a:lnSpc>
              <a:spcAft>
                <a:spcPts val="5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sz="800" spc="-70" baseline="0">
                <a:ln>
                  <a:solidFill>
                    <a:schemeClr val="tx1">
                      <a:alpha val="1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64728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516" y="4639216"/>
            <a:ext cx="980969" cy="211582"/>
          </a:xfrm>
          <a:prstGeom prst="rect">
            <a:avLst/>
          </a:prstGeom>
        </p:spPr>
      </p:pic>
      <p:sp>
        <p:nvSpPr>
          <p:cNvPr id="7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772452" y="4921727"/>
            <a:ext cx="1440000" cy="208404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1300" kern="1200" smtClean="0">
                <a:solidFill>
                  <a:schemeClr val="bg1">
                    <a:lumMod val="50000"/>
                  </a:schemeClr>
                </a:solidFill>
                <a:latin typeface="샘물체" pitchFamily="18" charset="-127"/>
                <a:ea typeface="샘물체" pitchFamily="18" charset="-127"/>
                <a:cs typeface="+mn-cs"/>
              </a:defRPr>
            </a:lvl1pPr>
          </a:lstStyle>
          <a:p>
            <a:fld id="{AF33F0E2-3294-4740-8E22-F3EF5A8BEBAB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1130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A3C65-D02E-4E12-BBF0-35296EE360BB}" type="datetimeFigureOut">
              <a:rPr lang="ko-KR" altLang="en-US" smtClean="0"/>
              <a:t>2025-06-11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DD48A1-790C-457C-9116-8D1E07851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176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2" r:id="rId5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600" dirty="0"/>
              <a:t>Ex1.</a:t>
            </a:r>
            <a:r>
              <a:rPr lang="ko-KR" altLang="en-US" sz="1600" dirty="0"/>
              <a:t> 음료수 자판기 컨트롤러 예제에서 아래와 같이 </a:t>
            </a:r>
            <a:r>
              <a:rPr lang="en-US" altLang="ko-KR" sz="1600" dirty="0"/>
              <a:t>Actor</a:t>
            </a:r>
            <a:r>
              <a:rPr lang="ko-KR" altLang="en-US" sz="1600" dirty="0"/>
              <a:t>과 </a:t>
            </a:r>
            <a:r>
              <a:rPr lang="en-US" altLang="ko-KR" sz="1600" dirty="0"/>
              <a:t>Use Case</a:t>
            </a:r>
            <a:r>
              <a:rPr lang="ko-KR" altLang="en-US" sz="1600" dirty="0"/>
              <a:t>를 식별했다고 가정합니다</a:t>
            </a:r>
            <a:r>
              <a:rPr lang="en-US" altLang="ko-KR" sz="1600" dirty="0"/>
              <a:t>. </a:t>
            </a:r>
          </a:p>
          <a:p>
            <a:r>
              <a:rPr lang="ko-KR" altLang="en-US" sz="1600" dirty="0"/>
              <a:t>식별된 </a:t>
            </a:r>
            <a:r>
              <a:rPr lang="en-US" altLang="ko-KR" sz="1600" dirty="0"/>
              <a:t>Actor</a:t>
            </a:r>
            <a:r>
              <a:rPr lang="ko-KR" altLang="en-US" sz="1600" dirty="0"/>
              <a:t>와 </a:t>
            </a:r>
            <a:r>
              <a:rPr lang="en-US" altLang="ko-KR" sz="1600" dirty="0"/>
              <a:t>Use Case</a:t>
            </a:r>
            <a:r>
              <a:rPr lang="ko-KR" altLang="en-US" sz="1600" dirty="0"/>
              <a:t>간의 관계</a:t>
            </a:r>
            <a:r>
              <a:rPr lang="en-US" altLang="ko-KR" sz="1600" dirty="0"/>
              <a:t>(Include/Extend Relationship)</a:t>
            </a:r>
            <a:r>
              <a:rPr lang="ko-KR" altLang="en-US" sz="1600" dirty="0"/>
              <a:t>를 적절히 설계하여</a:t>
            </a:r>
            <a:r>
              <a:rPr lang="en-US" altLang="ko-KR" sz="1600" dirty="0"/>
              <a:t>, </a:t>
            </a:r>
            <a:br>
              <a:rPr lang="en-US" altLang="ko-KR" sz="1600" dirty="0"/>
            </a:br>
            <a:r>
              <a:rPr lang="en-US" altLang="ko-KR" sz="1600" dirty="0"/>
              <a:t>Ex1. </a:t>
            </a:r>
            <a:r>
              <a:rPr lang="ko-KR" altLang="en-US" sz="1600" dirty="0"/>
              <a:t>의 초기 요구사항을 수용할 수 있는</a:t>
            </a:r>
            <a:r>
              <a:rPr lang="en-US" altLang="ko-KR" sz="1600" dirty="0"/>
              <a:t>Use Case Diagram</a:t>
            </a:r>
            <a:r>
              <a:rPr lang="ko-KR" altLang="en-US" sz="1600" dirty="0"/>
              <a:t>을 완성하세요</a:t>
            </a:r>
          </a:p>
          <a:p>
            <a:r>
              <a:rPr lang="ko-KR" altLang="en-US" sz="1600" dirty="0"/>
              <a:t>아래 제시된 </a:t>
            </a:r>
            <a:r>
              <a:rPr lang="en-US" altLang="ko-KR" sz="1600" dirty="0"/>
              <a:t>Use Case </a:t>
            </a:r>
            <a:r>
              <a:rPr lang="ko-KR" altLang="en-US" sz="1600" dirty="0"/>
              <a:t>외에 다른 </a:t>
            </a:r>
            <a:r>
              <a:rPr lang="en-US" altLang="ko-KR" sz="1600" dirty="0"/>
              <a:t>Use Case</a:t>
            </a:r>
            <a:r>
              <a:rPr lang="ko-KR" altLang="en-US" sz="1600" dirty="0"/>
              <a:t>는 없습니다</a:t>
            </a:r>
            <a:r>
              <a:rPr lang="en-US" altLang="ko-KR" sz="1600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Ex2</a:t>
            </a:r>
            <a:r>
              <a:rPr lang="en-US" altLang="ko-KR" dirty="0"/>
              <a:t>. Use Case Diagram </a:t>
            </a:r>
            <a:r>
              <a:rPr lang="ko-KR" altLang="en-US" dirty="0"/>
              <a:t>완성하기</a:t>
            </a:r>
          </a:p>
        </p:txBody>
      </p:sp>
    </p:spTree>
    <p:extLst>
      <p:ext uri="{BB962C8B-B14F-4D97-AF65-F5344CB8AC3E}">
        <p14:creationId xmlns:p14="http://schemas.microsoft.com/office/powerpoint/2010/main" val="2852604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Ex2</a:t>
            </a:r>
            <a:r>
              <a:rPr lang="en-US" altLang="ko-KR" dirty="0"/>
              <a:t>. Use Case Diagram </a:t>
            </a:r>
            <a:r>
              <a:rPr lang="ko-KR" altLang="en-US" dirty="0"/>
              <a:t>완성하기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FEFA8D28-4732-48EB-9930-9E419CC62B29}"/>
              </a:ext>
            </a:extLst>
          </p:cNvPr>
          <p:cNvGrpSpPr/>
          <p:nvPr/>
        </p:nvGrpSpPr>
        <p:grpSpPr>
          <a:xfrm>
            <a:off x="832009" y="1224901"/>
            <a:ext cx="534004" cy="741350"/>
            <a:chOff x="1531640" y="1275606"/>
            <a:chExt cx="534004" cy="74135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50E0514-EC38-64CF-129F-009A1B115E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01293" y="1275606"/>
              <a:ext cx="371481" cy="464351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D191527-E195-2E9C-CB3E-0F618416DFFC}"/>
                </a:ext>
              </a:extLst>
            </p:cNvPr>
            <p:cNvSpPr txBox="1"/>
            <p:nvPr/>
          </p:nvSpPr>
          <p:spPr>
            <a:xfrm flipH="1">
              <a:off x="1531640" y="1739957"/>
              <a:ext cx="5340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/>
                <a:t>고객</a:t>
              </a:r>
              <a:endParaRPr lang="en-US" sz="1200"/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37DE9681-7D8E-4E1D-8073-8D81079783D6}"/>
              </a:ext>
            </a:extLst>
          </p:cNvPr>
          <p:cNvGrpSpPr/>
          <p:nvPr/>
        </p:nvGrpSpPr>
        <p:grpSpPr>
          <a:xfrm>
            <a:off x="757396" y="2359876"/>
            <a:ext cx="660011" cy="741350"/>
            <a:chOff x="2107112" y="1275606"/>
            <a:chExt cx="660011" cy="741350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0B2A012-DB8A-C7AC-7884-9BB8875A8E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51378" y="1275606"/>
              <a:ext cx="371481" cy="46435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C140FF-B894-66FB-18A2-CFD230370001}"/>
                </a:ext>
              </a:extLst>
            </p:cNvPr>
            <p:cNvSpPr txBox="1"/>
            <p:nvPr/>
          </p:nvSpPr>
          <p:spPr>
            <a:xfrm flipH="1">
              <a:off x="2107112" y="1739957"/>
              <a:ext cx="6600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관리자</a:t>
              </a:r>
              <a:endParaRPr lang="en-US" sz="1200" dirty="0"/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449EFFC6-A712-4E07-9C1F-1529876ABB80}"/>
              </a:ext>
            </a:extLst>
          </p:cNvPr>
          <p:cNvGrpSpPr/>
          <p:nvPr/>
        </p:nvGrpSpPr>
        <p:grpSpPr>
          <a:xfrm>
            <a:off x="3671751" y="2283718"/>
            <a:ext cx="1347450" cy="884735"/>
            <a:chOff x="1475656" y="2129742"/>
            <a:chExt cx="1347450" cy="884735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7875D182-671B-F828-653B-D938F4BA4970}"/>
                </a:ext>
              </a:extLst>
            </p:cNvPr>
            <p:cNvSpPr/>
            <p:nvPr/>
          </p:nvSpPr>
          <p:spPr>
            <a:xfrm>
              <a:off x="1568942" y="2129742"/>
              <a:ext cx="1160879" cy="46435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5754AD-BFFD-A23F-1AA0-9EB29E349984}"/>
                </a:ext>
              </a:extLst>
            </p:cNvPr>
            <p:cNvSpPr txBox="1"/>
            <p:nvPr/>
          </p:nvSpPr>
          <p:spPr>
            <a:xfrm flipH="1">
              <a:off x="1475656" y="2614367"/>
              <a:ext cx="13474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거스름돈 없을 경우 처리</a:t>
              </a:r>
              <a:endParaRPr lang="en-US" sz="1000" dirty="0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2E528FEB-60BF-42A4-BD17-ECE020D8B37A}"/>
              </a:ext>
            </a:extLst>
          </p:cNvPr>
          <p:cNvGrpSpPr/>
          <p:nvPr/>
        </p:nvGrpSpPr>
        <p:grpSpPr>
          <a:xfrm>
            <a:off x="6962362" y="1268494"/>
            <a:ext cx="1609687" cy="730846"/>
            <a:chOff x="6379693" y="1268494"/>
            <a:chExt cx="1609687" cy="730846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A4931E97-EEE1-A415-B2E1-0284AD16683E}"/>
                </a:ext>
              </a:extLst>
            </p:cNvPr>
            <p:cNvSpPr/>
            <p:nvPr/>
          </p:nvSpPr>
          <p:spPr>
            <a:xfrm>
              <a:off x="6604097" y="1268494"/>
              <a:ext cx="1160879" cy="46435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C287E5B-34A5-E62C-7913-A0E4D0051589}"/>
                </a:ext>
              </a:extLst>
            </p:cNvPr>
            <p:cNvSpPr txBox="1"/>
            <p:nvPr/>
          </p:nvSpPr>
          <p:spPr>
            <a:xfrm flipH="1">
              <a:off x="6379693" y="1753119"/>
              <a:ext cx="16096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1</a:t>
              </a:r>
              <a:r>
                <a:rPr lang="ko-KR" altLang="en-US" sz="1000" dirty="0"/>
                <a:t>일 거래량 출력</a:t>
              </a:r>
              <a:endParaRPr lang="en-US" sz="1000" dirty="0"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B9134EC-5F29-4651-8221-71ECB986B191}"/>
              </a:ext>
            </a:extLst>
          </p:cNvPr>
          <p:cNvGrpSpPr/>
          <p:nvPr/>
        </p:nvGrpSpPr>
        <p:grpSpPr>
          <a:xfrm>
            <a:off x="7016068" y="3435846"/>
            <a:ext cx="1502275" cy="884735"/>
            <a:chOff x="6433399" y="2129742"/>
            <a:chExt cx="1502275" cy="884735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A41F55C4-381D-04F7-BB8F-E130D85F51D9}"/>
                </a:ext>
              </a:extLst>
            </p:cNvPr>
            <p:cNvSpPr/>
            <p:nvPr/>
          </p:nvSpPr>
          <p:spPr>
            <a:xfrm>
              <a:off x="6604097" y="2129742"/>
              <a:ext cx="1160879" cy="46435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749283C-7EC2-1C73-AA7E-872B93116F8F}"/>
                </a:ext>
              </a:extLst>
            </p:cNvPr>
            <p:cNvSpPr txBox="1"/>
            <p:nvPr/>
          </p:nvSpPr>
          <p:spPr>
            <a:xfrm flipH="1">
              <a:off x="6433399" y="2614367"/>
              <a:ext cx="15022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투입금액 </a:t>
              </a:r>
              <a:r>
                <a:rPr lang="ko-KR" altLang="en-US" sz="1000" dirty="0" err="1"/>
                <a:t>부족시</a:t>
              </a:r>
              <a:r>
                <a:rPr lang="ko-KR" altLang="en-US" sz="1000" dirty="0"/>
                <a:t> </a:t>
              </a:r>
              <a:endParaRPr lang="en-US" altLang="ko-KR" sz="1000" dirty="0"/>
            </a:p>
            <a:p>
              <a:pPr algn="ctr"/>
              <a:r>
                <a:rPr lang="ko-KR" altLang="en-US" sz="1000" dirty="0"/>
                <a:t>처리</a:t>
              </a:r>
              <a:endParaRPr lang="en-US" sz="1000" dirty="0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355ECD11-6F4B-4E05-BEE5-9C6F70C820C8}"/>
              </a:ext>
            </a:extLst>
          </p:cNvPr>
          <p:cNvGrpSpPr/>
          <p:nvPr/>
        </p:nvGrpSpPr>
        <p:grpSpPr>
          <a:xfrm>
            <a:off x="3765037" y="1268494"/>
            <a:ext cx="1160879" cy="732717"/>
            <a:chOff x="3120413" y="1268494"/>
            <a:chExt cx="1160879" cy="732717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A01FEDFA-FA34-CD06-69D4-F7A638861F72}"/>
                </a:ext>
              </a:extLst>
            </p:cNvPr>
            <p:cNvSpPr/>
            <p:nvPr/>
          </p:nvSpPr>
          <p:spPr>
            <a:xfrm>
              <a:off x="3120413" y="1268494"/>
              <a:ext cx="1160879" cy="46435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C3D26D9-5E6D-85F0-ED6A-C4BAA0781846}"/>
                </a:ext>
              </a:extLst>
            </p:cNvPr>
            <p:cNvSpPr txBox="1"/>
            <p:nvPr/>
          </p:nvSpPr>
          <p:spPr>
            <a:xfrm flipH="1">
              <a:off x="3120413" y="1753119"/>
              <a:ext cx="1160879" cy="2480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음료수 구입</a:t>
              </a:r>
              <a:endParaRPr lang="en-US" sz="1000" dirty="0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95983533-603F-4A28-A940-90CBF12F8795}"/>
              </a:ext>
            </a:extLst>
          </p:cNvPr>
          <p:cNvGrpSpPr/>
          <p:nvPr/>
        </p:nvGrpSpPr>
        <p:grpSpPr>
          <a:xfrm>
            <a:off x="5380883" y="2283718"/>
            <a:ext cx="1502275" cy="884735"/>
            <a:chOff x="2949715" y="2142904"/>
            <a:chExt cx="1502275" cy="884735"/>
          </a:xfrm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3517E65-209D-F6BB-87C2-B708B9E2B045}"/>
                </a:ext>
              </a:extLst>
            </p:cNvPr>
            <p:cNvSpPr/>
            <p:nvPr/>
          </p:nvSpPr>
          <p:spPr>
            <a:xfrm>
              <a:off x="3120413" y="2142904"/>
              <a:ext cx="1160879" cy="46435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5C49FCB-440D-4CEA-3F7D-291D711BB7AA}"/>
                </a:ext>
              </a:extLst>
            </p:cNvPr>
            <p:cNvSpPr txBox="1"/>
            <p:nvPr/>
          </p:nvSpPr>
          <p:spPr>
            <a:xfrm flipH="1">
              <a:off x="2949715" y="2627529"/>
              <a:ext cx="15022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음료수 재고 </a:t>
              </a:r>
              <a:r>
                <a:rPr lang="ko-KR" altLang="en-US" sz="1000" dirty="0" err="1"/>
                <a:t>부족시</a:t>
              </a:r>
              <a:r>
                <a:rPr lang="ko-KR" altLang="en-US" sz="1000" dirty="0"/>
                <a:t> </a:t>
              </a:r>
              <a:endParaRPr lang="en-US" altLang="ko-KR" sz="1000" dirty="0"/>
            </a:p>
            <a:p>
              <a:pPr algn="ctr"/>
              <a:r>
                <a:rPr lang="ko-KR" altLang="en-US" sz="1000" dirty="0"/>
                <a:t>처리</a:t>
              </a:r>
              <a:endParaRPr lang="en-US" sz="1000" dirty="0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C5ED3B37-D6C6-43F0-95B4-064E9CDD3DEF}"/>
              </a:ext>
            </a:extLst>
          </p:cNvPr>
          <p:cNvGrpSpPr/>
          <p:nvPr/>
        </p:nvGrpSpPr>
        <p:grpSpPr>
          <a:xfrm>
            <a:off x="3594339" y="3435846"/>
            <a:ext cx="1502275" cy="732717"/>
            <a:chOff x="2949715" y="3116897"/>
            <a:chExt cx="1502275" cy="732717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F3B9572-C813-C7FD-AD6D-27EBD63FF8AA}"/>
                </a:ext>
              </a:extLst>
            </p:cNvPr>
            <p:cNvSpPr/>
            <p:nvPr/>
          </p:nvSpPr>
          <p:spPr>
            <a:xfrm>
              <a:off x="3120413" y="3116897"/>
              <a:ext cx="1160879" cy="46435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6101972-843D-59C3-3D3C-D1AA23D04CF6}"/>
                </a:ext>
              </a:extLst>
            </p:cNvPr>
            <p:cNvSpPr txBox="1"/>
            <p:nvPr/>
          </p:nvSpPr>
          <p:spPr>
            <a:xfrm flipH="1">
              <a:off x="2949715" y="3601522"/>
              <a:ext cx="1502275" cy="2480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/>
                <a:t>관리모드로 전환</a:t>
              </a:r>
              <a:endParaRPr lang="en-US" sz="1000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E3E106D-BEDF-44C0-9DDB-5342ADD1DFF8}"/>
              </a:ext>
            </a:extLst>
          </p:cNvPr>
          <p:cNvGrpSpPr/>
          <p:nvPr/>
        </p:nvGrpSpPr>
        <p:grpSpPr>
          <a:xfrm>
            <a:off x="5313079" y="1268494"/>
            <a:ext cx="1637882" cy="730846"/>
            <a:chOff x="4596901" y="1268494"/>
            <a:chExt cx="1637882" cy="730846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6B2F4FDF-C804-2799-1B90-2E30F448FBE8}"/>
                </a:ext>
              </a:extLst>
            </p:cNvPr>
            <p:cNvSpPr/>
            <p:nvPr/>
          </p:nvSpPr>
          <p:spPr>
            <a:xfrm>
              <a:off x="4835403" y="1268494"/>
              <a:ext cx="1160879" cy="46435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6D4C1F8-B509-379D-2DA3-14C4A79B8E6D}"/>
                </a:ext>
              </a:extLst>
            </p:cNvPr>
            <p:cNvSpPr txBox="1"/>
            <p:nvPr/>
          </p:nvSpPr>
          <p:spPr>
            <a:xfrm flipH="1">
              <a:off x="4596901" y="1753119"/>
              <a:ext cx="163788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음료수 가격 수정</a:t>
              </a:r>
              <a:endParaRPr lang="en-US" sz="1000" dirty="0"/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F36AF18A-24D0-4AEE-8EB2-5A3E94758BBE}"/>
              </a:ext>
            </a:extLst>
          </p:cNvPr>
          <p:cNvGrpSpPr/>
          <p:nvPr/>
        </p:nvGrpSpPr>
        <p:grpSpPr>
          <a:xfrm>
            <a:off x="6929962" y="2283718"/>
            <a:ext cx="1674486" cy="884735"/>
            <a:chOff x="4578599" y="2129742"/>
            <a:chExt cx="1674486" cy="884735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BC322DAA-68EF-EABF-73A8-706BF753224B}"/>
                </a:ext>
              </a:extLst>
            </p:cNvPr>
            <p:cNvSpPr/>
            <p:nvPr/>
          </p:nvSpPr>
          <p:spPr>
            <a:xfrm>
              <a:off x="4835403" y="2129742"/>
              <a:ext cx="1160879" cy="46435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7C0444A-50E3-E8D6-E8B1-9CD8F0A198D2}"/>
                </a:ext>
              </a:extLst>
            </p:cNvPr>
            <p:cNvSpPr txBox="1"/>
            <p:nvPr/>
          </p:nvSpPr>
          <p:spPr>
            <a:xfrm flipH="1">
              <a:off x="4578599" y="2614367"/>
              <a:ext cx="16744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음료수 구매 </a:t>
              </a:r>
              <a:r>
                <a:rPr lang="ko-KR" altLang="en-US" sz="1000" dirty="0" err="1"/>
                <a:t>취소시</a:t>
              </a:r>
              <a:r>
                <a:rPr lang="ko-KR" altLang="en-US" sz="1000" dirty="0"/>
                <a:t> </a:t>
              </a:r>
              <a:endParaRPr lang="en-US" altLang="ko-KR" sz="1000" dirty="0"/>
            </a:p>
            <a:p>
              <a:pPr algn="ctr"/>
              <a:r>
                <a:rPr lang="ko-KR" altLang="en-US" sz="1000" dirty="0"/>
                <a:t>처리</a:t>
              </a:r>
              <a:endParaRPr lang="en-US" sz="1000" dirty="0"/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0D90B439-F103-4DB5-BA4F-2C785233F7F3}"/>
              </a:ext>
            </a:extLst>
          </p:cNvPr>
          <p:cNvGrpSpPr/>
          <p:nvPr/>
        </p:nvGrpSpPr>
        <p:grpSpPr>
          <a:xfrm>
            <a:off x="5380883" y="3435846"/>
            <a:ext cx="1502275" cy="732717"/>
            <a:chOff x="4664705" y="3103735"/>
            <a:chExt cx="1502275" cy="732717"/>
          </a:xfrm>
        </p:grpSpPr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07C5770A-F529-FF5E-C61C-68C761F87FCA}"/>
                </a:ext>
              </a:extLst>
            </p:cNvPr>
            <p:cNvSpPr/>
            <p:nvPr/>
          </p:nvSpPr>
          <p:spPr>
            <a:xfrm>
              <a:off x="4835403" y="3103735"/>
              <a:ext cx="1160879" cy="46435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CAC0AE0-7BFE-238B-BA9B-88B72FCCAC38}"/>
                </a:ext>
              </a:extLst>
            </p:cNvPr>
            <p:cNvSpPr txBox="1"/>
            <p:nvPr/>
          </p:nvSpPr>
          <p:spPr>
            <a:xfrm flipH="1">
              <a:off x="4664705" y="3588360"/>
              <a:ext cx="1502275" cy="2480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/>
                <a:t>운영모드로 전환</a:t>
              </a:r>
              <a:endParaRPr lang="en-US" sz="1000"/>
            </a:p>
          </p:txBody>
        </p:sp>
      </p:grp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A65BAD70-3A3D-413F-B651-9B6564E727F4}"/>
              </a:ext>
            </a:extLst>
          </p:cNvPr>
          <p:cNvCxnSpPr/>
          <p:nvPr/>
        </p:nvCxnSpPr>
        <p:spPr>
          <a:xfrm>
            <a:off x="827584" y="3579862"/>
            <a:ext cx="1512168" cy="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9CA86AF0-321D-46A1-BDF1-C73B007ECB69}"/>
              </a:ext>
            </a:extLst>
          </p:cNvPr>
          <p:cNvCxnSpPr/>
          <p:nvPr/>
        </p:nvCxnSpPr>
        <p:spPr>
          <a:xfrm>
            <a:off x="827584" y="4155926"/>
            <a:ext cx="1512168" cy="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441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7890</TotalTime>
  <Words>100</Words>
  <Application>Microsoft Office PowerPoint</Application>
  <PresentationFormat>화면 슬라이드 쇼(16:9)</PresentationFormat>
  <Paragraphs>19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샘물체</vt:lpstr>
      <vt:lpstr>Arial</vt:lpstr>
      <vt:lpstr>Office 테마</vt:lpstr>
      <vt:lpstr>Ex2. Use Case Diagram 완성하기</vt:lpstr>
      <vt:lpstr>Ex2. Use Case Diagram 완성하기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강의 제목 입력</dc:title>
  <dc:creator>강혜진</dc:creator>
  <cp:lastModifiedBy>고경호</cp:lastModifiedBy>
  <cp:revision>605</cp:revision>
  <dcterms:created xsi:type="dcterms:W3CDTF">2021-01-19T01:45:28Z</dcterms:created>
  <dcterms:modified xsi:type="dcterms:W3CDTF">2025-06-11T08:40:17Z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6" name="FLCMData">
    <vt:lpwstr>E1AE2D398CAC0C3C2F94AEB65746F46A619CD56D293C3557FA82FA8429584F1D4156720A9E6973378DA18241AAC819C23FED38C42CE9794F7AA024A4C6B1C94E</vt:lpwstr>
  </property>
</Properties>
</file>