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2.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3"/>
  </p:notesMasterIdLst>
  <p:sldIdLst>
    <p:sldId id="256" r:id="rId2"/>
    <p:sldId id="608" r:id="rId3"/>
    <p:sldId id="609" r:id="rId4"/>
    <p:sldId id="610" r:id="rId5"/>
    <p:sldId id="611" r:id="rId6"/>
    <p:sldId id="612" r:id="rId7"/>
    <p:sldId id="613" r:id="rId8"/>
    <p:sldId id="725" r:id="rId9"/>
    <p:sldId id="726" r:id="rId10"/>
    <p:sldId id="727" r:id="rId11"/>
    <p:sldId id="728" r:id="rId12"/>
    <p:sldId id="729" r:id="rId13"/>
    <p:sldId id="731" r:id="rId14"/>
    <p:sldId id="730" r:id="rId15"/>
    <p:sldId id="717" r:id="rId16"/>
    <p:sldId id="732" r:id="rId17"/>
    <p:sldId id="733" r:id="rId18"/>
    <p:sldId id="734" r:id="rId19"/>
    <p:sldId id="735" r:id="rId20"/>
    <p:sldId id="626" r:id="rId21"/>
    <p:sldId id="627" r:id="rId22"/>
    <p:sldId id="628" r:id="rId23"/>
    <p:sldId id="629" r:id="rId24"/>
    <p:sldId id="630" r:id="rId25"/>
    <p:sldId id="631" r:id="rId26"/>
    <p:sldId id="736" r:id="rId27"/>
    <p:sldId id="737" r:id="rId28"/>
    <p:sldId id="634" r:id="rId29"/>
    <p:sldId id="761" r:id="rId30"/>
    <p:sldId id="636" r:id="rId31"/>
    <p:sldId id="637" r:id="rId32"/>
    <p:sldId id="638" r:id="rId33"/>
    <p:sldId id="738" r:id="rId34"/>
    <p:sldId id="640" r:id="rId35"/>
    <p:sldId id="739" r:id="rId36"/>
    <p:sldId id="642" r:id="rId37"/>
    <p:sldId id="740" r:id="rId38"/>
    <p:sldId id="644" r:id="rId39"/>
    <p:sldId id="741" r:id="rId40"/>
    <p:sldId id="646" r:id="rId41"/>
    <p:sldId id="647" r:id="rId42"/>
    <p:sldId id="648" r:id="rId43"/>
    <p:sldId id="718" r:id="rId44"/>
    <p:sldId id="719" r:id="rId45"/>
    <p:sldId id="650" r:id="rId46"/>
    <p:sldId id="743" r:id="rId47"/>
    <p:sldId id="767" r:id="rId48"/>
    <p:sldId id="652" r:id="rId49"/>
    <p:sldId id="653" r:id="rId50"/>
    <p:sldId id="762" r:id="rId51"/>
    <p:sldId id="763" r:id="rId52"/>
    <p:sldId id="764" r:id="rId53"/>
    <p:sldId id="744" r:id="rId54"/>
    <p:sldId id="655" r:id="rId55"/>
    <p:sldId id="720" r:id="rId56"/>
    <p:sldId id="772" r:id="rId57"/>
    <p:sldId id="780" r:id="rId58"/>
    <p:sldId id="775" r:id="rId59"/>
    <p:sldId id="656" r:id="rId60"/>
    <p:sldId id="765" r:id="rId61"/>
    <p:sldId id="766" r:id="rId62"/>
    <p:sldId id="657" r:id="rId63"/>
    <p:sldId id="768" r:id="rId64"/>
    <p:sldId id="659" r:id="rId65"/>
    <p:sldId id="746" r:id="rId66"/>
    <p:sldId id="769" r:id="rId67"/>
    <p:sldId id="661" r:id="rId68"/>
    <p:sldId id="748" r:id="rId69"/>
    <p:sldId id="662" r:id="rId70"/>
    <p:sldId id="663" r:id="rId71"/>
    <p:sldId id="664" r:id="rId72"/>
    <p:sldId id="672" r:id="rId73"/>
    <p:sldId id="673" r:id="rId74"/>
    <p:sldId id="749" r:id="rId75"/>
    <p:sldId id="674" r:id="rId76"/>
    <p:sldId id="750" r:id="rId77"/>
    <p:sldId id="751" r:id="rId78"/>
    <p:sldId id="677" r:id="rId79"/>
    <p:sldId id="752" r:id="rId80"/>
    <p:sldId id="679" r:id="rId81"/>
    <p:sldId id="680" r:id="rId82"/>
    <p:sldId id="681" r:id="rId83"/>
    <p:sldId id="753" r:id="rId84"/>
    <p:sldId id="683" r:id="rId85"/>
    <p:sldId id="684" r:id="rId86"/>
    <p:sldId id="754" r:id="rId87"/>
    <p:sldId id="686" r:id="rId88"/>
    <p:sldId id="687" r:id="rId89"/>
    <p:sldId id="688" r:id="rId90"/>
    <p:sldId id="755" r:id="rId91"/>
    <p:sldId id="690" r:id="rId92"/>
    <p:sldId id="770" r:id="rId93"/>
    <p:sldId id="721" r:id="rId94"/>
    <p:sldId id="757" r:id="rId95"/>
    <p:sldId id="771" r:id="rId96"/>
    <p:sldId id="694" r:id="rId97"/>
    <p:sldId id="695" r:id="rId98"/>
    <p:sldId id="696" r:id="rId99"/>
    <p:sldId id="697" r:id="rId100"/>
    <p:sldId id="698" r:id="rId101"/>
    <p:sldId id="699" r:id="rId102"/>
    <p:sldId id="722" r:id="rId103"/>
    <p:sldId id="783" r:id="rId104"/>
    <p:sldId id="776" r:id="rId105"/>
    <p:sldId id="781" r:id="rId106"/>
    <p:sldId id="779" r:id="rId107"/>
    <p:sldId id="700" r:id="rId108"/>
    <p:sldId id="701" r:id="rId109"/>
    <p:sldId id="702" r:id="rId110"/>
    <p:sldId id="703" r:id="rId111"/>
    <p:sldId id="704" r:id="rId112"/>
    <p:sldId id="705" r:id="rId113"/>
    <p:sldId id="706" r:id="rId114"/>
    <p:sldId id="707" r:id="rId115"/>
    <p:sldId id="708" r:id="rId116"/>
    <p:sldId id="709" r:id="rId117"/>
    <p:sldId id="665" r:id="rId118"/>
    <p:sldId id="666" r:id="rId119"/>
    <p:sldId id="667" r:id="rId120"/>
    <p:sldId id="668" r:id="rId121"/>
    <p:sldId id="784" r:id="rId122"/>
    <p:sldId id="670" r:id="rId123"/>
    <p:sldId id="710" r:id="rId124"/>
    <p:sldId id="785" r:id="rId125"/>
    <p:sldId id="759" r:id="rId126"/>
    <p:sldId id="712" r:id="rId127"/>
    <p:sldId id="713" r:id="rId128"/>
    <p:sldId id="714" r:id="rId129"/>
    <p:sldId id="715" r:id="rId130"/>
    <p:sldId id="716" r:id="rId131"/>
    <p:sldId id="724" r:id="rId132"/>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F2CC"/>
    <a:srgbClr val="FFCC99"/>
    <a:srgbClr val="CCFFCC"/>
    <a:srgbClr val="4F81BD"/>
    <a:srgbClr val="7099CA"/>
    <a:srgbClr val="4156BD"/>
    <a:srgbClr val="B2CCEC"/>
    <a:srgbClr val="5974BF"/>
    <a:srgbClr val="83A1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밝은 스타일 1 - 강조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E25E649-3F16-4E02-A733-19D2CDBF48F0}" styleName="보통 스타일 3 - 강조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98" autoAdjust="0"/>
    <p:restoredTop sz="90570" autoAdjust="0"/>
  </p:normalViewPr>
  <p:slideViewPr>
    <p:cSldViewPr>
      <p:cViewPr varScale="1">
        <p:scale>
          <a:sx n="113" d="100"/>
          <a:sy n="113" d="100"/>
        </p:scale>
        <p:origin x="893" y="86"/>
      </p:cViewPr>
      <p:guideLst>
        <p:guide orient="horz" pos="1620"/>
        <p:guide pos="2880"/>
      </p:guideLst>
    </p:cSldViewPr>
  </p:slideViewPr>
  <p:outlineViewPr>
    <p:cViewPr>
      <p:scale>
        <a:sx n="33" d="100"/>
        <a:sy n="33" d="100"/>
      </p:scale>
      <p:origin x="0" y="20712"/>
    </p:cViewPr>
  </p:outlineViewPr>
  <p:notesTextViewPr>
    <p:cViewPr>
      <p:scale>
        <a:sx n="1" d="1"/>
        <a:sy n="1" d="1"/>
      </p:scale>
      <p:origin x="0" y="0"/>
    </p:cViewPr>
  </p:notesTextViewPr>
  <p:sorterViewPr>
    <p:cViewPr>
      <p:scale>
        <a:sx n="200" d="100"/>
        <a:sy n="200" d="100"/>
      </p:scale>
      <p:origin x="0" y="29472"/>
    </p:cViewPr>
  </p:sorterViewPr>
  <p:notesViewPr>
    <p:cSldViewPr>
      <p:cViewPr varScale="1">
        <p:scale>
          <a:sx n="88" d="100"/>
          <a:sy n="88" d="100"/>
        </p:scale>
        <p:origin x="3822"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B8944F-6416-492C-B6C3-972994AD2AFD}" type="datetimeFigureOut">
              <a:rPr lang="ko-KR" altLang="en-US" smtClean="0"/>
              <a:t>2026-06-27</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A2678C-18E7-4230-B1D8-B77B8B4C5AF8}" type="slidenum">
              <a:rPr lang="ko-KR" altLang="en-US" smtClean="0"/>
              <a:t>‹#›</a:t>
            </a:fld>
            <a:endParaRPr lang="ko-KR" altLang="en-US"/>
          </a:p>
        </p:txBody>
      </p:sp>
    </p:spTree>
    <p:extLst>
      <p:ext uri="{BB962C8B-B14F-4D97-AF65-F5344CB8AC3E}">
        <p14:creationId xmlns:p14="http://schemas.microsoft.com/office/powerpoint/2010/main" val="12456623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vl="0">
              <a:defRPr/>
            </a:pPr>
            <a:r>
              <a:rPr lang="ko-KR" altLang="en-US" sz="1200" dirty="0"/>
              <a:t>객체 지향 소프트웨어를 설계하는 것은 어렵다</a:t>
            </a:r>
            <a:r>
              <a:rPr lang="en-US" altLang="ko-KR" sz="1200" dirty="0"/>
              <a:t>,</a:t>
            </a:r>
            <a:r>
              <a:rPr lang="ko-KR" altLang="en-US" sz="1200" dirty="0"/>
              <a:t> </a:t>
            </a:r>
            <a:r>
              <a:rPr lang="ko-KR" altLang="en-US" sz="1200" b="1" dirty="0">
                <a:solidFill>
                  <a:srgbClr val="0070C0"/>
                </a:solidFill>
              </a:rPr>
              <a:t>재사용 가능한 객체 지향 소프트웨어를 설계하는 것은 더욱 어렵다</a:t>
            </a:r>
            <a:r>
              <a:rPr lang="en-US" altLang="ko-KR" sz="1200" dirty="0"/>
              <a:t> – Erich Gamma</a:t>
            </a:r>
          </a:p>
          <a:p>
            <a:pPr lvl="0">
              <a:defRPr/>
            </a:pPr>
            <a:r>
              <a:rPr lang="ko-KR" altLang="en-US" sz="1200" dirty="0"/>
              <a:t>경험 있는 설계자는 과거에 잘 작동했던 해결책을 재사용한다</a:t>
            </a:r>
            <a:endParaRPr lang="en-US" altLang="ko-KR" sz="1200" dirty="0"/>
          </a:p>
          <a:p>
            <a:pPr lvl="0">
              <a:defRPr/>
            </a:pPr>
            <a:r>
              <a:rPr lang="ko-KR" altLang="en-US" sz="1200" dirty="0"/>
              <a:t>잘 구조화된 객체 지향 소프트웨어에는 클래스 또는 객체들의 반복된 패턴이 나타난다</a:t>
            </a:r>
            <a:endParaRPr lang="en-US" altLang="ko-KR" sz="1200" dirty="0"/>
          </a:p>
          <a:p>
            <a:pPr lvl="0">
              <a:defRPr/>
            </a:pPr>
            <a:r>
              <a:rPr lang="ko-KR" altLang="en-US" sz="1200" dirty="0"/>
              <a:t>패턴을 아는 설계자는 더욱 생산적이며 설계 결과는 더 </a:t>
            </a:r>
            <a:r>
              <a:rPr lang="ko-KR" altLang="en-US" sz="1200" b="1" dirty="0">
                <a:solidFill>
                  <a:srgbClr val="0070C0"/>
                </a:solidFill>
              </a:rPr>
              <a:t>유연</a:t>
            </a:r>
            <a:r>
              <a:rPr lang="ko-KR" altLang="en-US" sz="1200" dirty="0"/>
              <a:t>하고 </a:t>
            </a:r>
            <a:r>
              <a:rPr lang="ko-KR" altLang="en-US" sz="1200" b="1" dirty="0">
                <a:solidFill>
                  <a:srgbClr val="0070C0"/>
                </a:solidFill>
              </a:rPr>
              <a:t>재사용 </a:t>
            </a:r>
            <a:r>
              <a:rPr lang="ko-KR" altLang="en-US" sz="1200" dirty="0"/>
              <a:t>가능하다</a:t>
            </a:r>
            <a:endParaRPr lang="en-US" altLang="ko-KR" sz="1200" dirty="0"/>
          </a:p>
          <a:p>
            <a:pPr lvl="0">
              <a:defRPr/>
            </a:pPr>
            <a:r>
              <a:rPr lang="ko-KR" altLang="en-US" sz="1200" dirty="0"/>
              <a:t>공통 언어를 제공하여 개발자 간 커뮤니케이션 촉진</a:t>
            </a:r>
            <a:endParaRPr lang="en-US" altLang="ko-KR" sz="1200" dirty="0"/>
          </a:p>
          <a:p>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6</a:t>
            </a:fld>
            <a:endParaRPr lang="ko-KR" altLang="en-US"/>
          </a:p>
        </p:txBody>
      </p:sp>
    </p:spTree>
    <p:extLst>
      <p:ext uri="{BB962C8B-B14F-4D97-AF65-F5344CB8AC3E}">
        <p14:creationId xmlns:p14="http://schemas.microsoft.com/office/powerpoint/2010/main" val="15485334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ADT: modifiability, separate compilation</a:t>
            </a:r>
          </a:p>
          <a:p>
            <a:r>
              <a:rPr lang="en-US" altLang="ko-KR" dirty="0"/>
              <a:t>Reuse: </a:t>
            </a:r>
            <a:r>
              <a:rPr lang="ko-KR" altLang="en-US" dirty="0"/>
              <a:t>클라이언트 코드의 </a:t>
            </a:r>
            <a:r>
              <a:rPr lang="ko-KR" altLang="en-US" dirty="0" err="1"/>
              <a:t>재사용성</a:t>
            </a:r>
            <a:r>
              <a:rPr lang="ko-KR" altLang="en-US" dirty="0"/>
              <a:t> ↑</a:t>
            </a:r>
            <a:r>
              <a:rPr lang="en-US" altLang="ko-KR" dirty="0"/>
              <a:t>	</a:t>
            </a:r>
          </a:p>
          <a:p>
            <a:r>
              <a:rPr lang="en-US" altLang="ko-KR" dirty="0"/>
              <a:t>----</a:t>
            </a:r>
          </a:p>
          <a:p>
            <a:endParaRPr lang="en-US" altLang="ko-KR" dirty="0"/>
          </a:p>
          <a:p>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8</a:t>
            </a:fld>
            <a:endParaRPr lang="ko-KR" altLang="en-US"/>
          </a:p>
        </p:txBody>
      </p:sp>
    </p:spTree>
    <p:extLst>
      <p:ext uri="{BB962C8B-B14F-4D97-AF65-F5344CB8AC3E}">
        <p14:creationId xmlns:p14="http://schemas.microsoft.com/office/powerpoint/2010/main" val="3892933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271463" lvl="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200" b="0" i="0" u="none" strike="noStrike" kern="1200" cap="none" spc="-120" normalizeH="0" baseline="0" dirty="0">
                <a:solidFill>
                  <a:schemeClr val="dk1"/>
                </a:solidFill>
                <a:latin typeface="+mn-lt"/>
                <a:ea typeface="맑은 고딕"/>
                <a:cs typeface="맑은 고딕"/>
              </a:rPr>
              <a:t>The Single-Responsibility Principle (SRP) : Cohesion</a:t>
            </a:r>
          </a:p>
          <a:p>
            <a:pPr marL="271463" lvl="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200" b="0" i="0" u="none" strike="noStrike" kern="1200" cap="none" spc="-120" normalizeH="0" baseline="0" dirty="0">
                <a:solidFill>
                  <a:schemeClr val="dk1"/>
                </a:solidFill>
                <a:latin typeface="+mn-lt"/>
                <a:ea typeface="맑은 고딕"/>
                <a:cs typeface="맑은 고딕"/>
              </a:rPr>
              <a:t>The Open-Closed Principle (OCP) : Abstraction</a:t>
            </a:r>
          </a:p>
          <a:p>
            <a:pPr marL="271463" lvl="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200" b="0" i="0" u="none" strike="noStrike" kern="1200" cap="none" spc="-120" normalizeH="0" baseline="0" dirty="0">
                <a:solidFill>
                  <a:schemeClr val="dk1"/>
                </a:solidFill>
                <a:latin typeface="+mn-lt"/>
                <a:ea typeface="맑은 고딕"/>
                <a:cs typeface="맑은 고딕"/>
              </a:rPr>
              <a:t>The </a:t>
            </a:r>
            <a:r>
              <a:rPr kumimoji="0" lang="en-US" altLang="ko-KR" sz="1200" b="0" i="0" u="none" strike="noStrike" kern="1200" cap="none" spc="-120" normalizeH="0" baseline="0" dirty="0" err="1">
                <a:solidFill>
                  <a:schemeClr val="dk1"/>
                </a:solidFill>
                <a:latin typeface="+mn-lt"/>
                <a:ea typeface="맑은 고딕"/>
                <a:cs typeface="맑은 고딕"/>
              </a:rPr>
              <a:t>Liskov</a:t>
            </a:r>
            <a:r>
              <a:rPr kumimoji="0" lang="en-US" altLang="ko-KR" sz="1200" b="0" i="0" u="none" strike="noStrike" kern="1200" cap="none" spc="-120" normalizeH="0" baseline="0" dirty="0">
                <a:solidFill>
                  <a:schemeClr val="dk1"/>
                </a:solidFill>
                <a:latin typeface="+mn-lt"/>
                <a:ea typeface="맑은 고딕"/>
                <a:cs typeface="맑은 고딕"/>
              </a:rPr>
              <a:t> Substitution Principle (LSP) : </a:t>
            </a:r>
            <a:r>
              <a:rPr kumimoji="0" lang="en-US" altLang="ko-KR" sz="1200" b="0" i="0" u="none" strike="noStrike" kern="1200" cap="none" spc="-120" normalizeH="0" baseline="0" dirty="0">
                <a:solidFill>
                  <a:srgbClr val="0070C0"/>
                </a:solidFill>
                <a:latin typeface="+mn-lt"/>
                <a:ea typeface="맑은 고딕"/>
                <a:cs typeface="맑은 고딕"/>
              </a:rPr>
              <a:t>Inheritance(</a:t>
            </a:r>
            <a:r>
              <a:rPr lang="en-US" altLang="ko-KR" sz="1200" dirty="0">
                <a:solidFill>
                  <a:srgbClr val="0070C0"/>
                </a:solidFill>
                <a:latin typeface="+mn-lt"/>
                <a:ea typeface="맑은 고딕"/>
                <a:cs typeface="맑은 고딕"/>
              </a:rPr>
              <a:t>vs</a:t>
            </a:r>
            <a:r>
              <a:rPr lang="ko-KR" altLang="en-US" sz="1200" dirty="0">
                <a:solidFill>
                  <a:srgbClr val="0070C0"/>
                </a:solidFill>
                <a:latin typeface="+mn-lt"/>
                <a:ea typeface="맑은 고딕"/>
                <a:cs typeface="맑은 고딕"/>
              </a:rPr>
              <a:t> </a:t>
            </a:r>
            <a:r>
              <a:rPr lang="en-US" altLang="ko-KR" sz="1200" dirty="0">
                <a:solidFill>
                  <a:srgbClr val="0070C0"/>
                </a:solidFill>
                <a:latin typeface="+mn-lt"/>
                <a:ea typeface="맑은 고딕"/>
                <a:cs typeface="맑은 고딕"/>
              </a:rPr>
              <a:t>Object</a:t>
            </a:r>
            <a:r>
              <a:rPr lang="ko-KR" altLang="en-US" sz="1200" dirty="0">
                <a:solidFill>
                  <a:srgbClr val="0070C0"/>
                </a:solidFill>
                <a:latin typeface="+mn-lt"/>
                <a:ea typeface="맑은 고딕"/>
                <a:cs typeface="맑은 고딕"/>
              </a:rPr>
              <a:t> </a:t>
            </a:r>
            <a:r>
              <a:rPr lang="en-US" altLang="ko-KR" sz="1200" dirty="0">
                <a:solidFill>
                  <a:srgbClr val="0070C0"/>
                </a:solidFill>
                <a:latin typeface="+mn-lt"/>
                <a:ea typeface="맑은 고딕"/>
                <a:cs typeface="맑은 고딕"/>
              </a:rPr>
              <a:t>Composition)</a:t>
            </a:r>
            <a:endParaRPr kumimoji="0" lang="en-US" altLang="ko-KR" sz="1200" b="0" i="0" u="none" strike="noStrike" kern="1200" cap="none" spc="-120" normalizeH="0" baseline="0" dirty="0">
              <a:solidFill>
                <a:srgbClr val="0070C0"/>
              </a:solidFill>
              <a:latin typeface="+mn-lt"/>
              <a:ea typeface="맑은 고딕"/>
              <a:cs typeface="맑은 고딕"/>
            </a:endParaRPr>
          </a:p>
          <a:p>
            <a:pPr marL="271463" lvl="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200" b="0" i="0" u="none" strike="noStrike" kern="1200" cap="none" spc="-120" normalizeH="0" baseline="0" dirty="0">
                <a:solidFill>
                  <a:schemeClr val="dk1"/>
                </a:solidFill>
                <a:latin typeface="+mn-lt"/>
                <a:ea typeface="맑은 고딕"/>
                <a:cs typeface="맑은 고딕"/>
              </a:rPr>
              <a:t>The Interface Segregation Principle (ISP) : </a:t>
            </a:r>
            <a:r>
              <a:rPr lang="en-US" altLang="ko-KR" sz="1200" dirty="0"/>
              <a:t>Fat interface -&gt; cohesive interface</a:t>
            </a:r>
            <a:endParaRPr kumimoji="0" lang="en-US" altLang="ko-KR" sz="1200" b="0" i="0" u="none" strike="noStrike" kern="1200" cap="none" spc="-120" normalizeH="0" baseline="0" dirty="0">
              <a:solidFill>
                <a:schemeClr val="dk1"/>
              </a:solidFill>
              <a:latin typeface="+mn-lt"/>
              <a:ea typeface="맑은 고딕"/>
              <a:cs typeface="맑은 고딕"/>
            </a:endParaRPr>
          </a:p>
          <a:p>
            <a:pPr marL="271463" lvl="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200" b="0" i="0" u="none" strike="noStrike" kern="1200" cap="none" spc="-120" normalizeH="0" baseline="0" dirty="0">
                <a:solidFill>
                  <a:schemeClr val="dk1"/>
                </a:solidFill>
                <a:latin typeface="+mn-lt"/>
                <a:ea typeface="맑은 고딕"/>
                <a:cs typeface="맑은 고딕"/>
              </a:rPr>
              <a:t>The Dependency Inversion Principle (DIP) : </a:t>
            </a:r>
            <a:r>
              <a:rPr kumimoji="0" lang="en-US" altLang="ko-KR" sz="1200" b="0" i="0" u="none" strike="noStrike" kern="1200" cap="none" spc="-120" normalizeH="0" baseline="0" dirty="0">
                <a:solidFill>
                  <a:srgbClr val="0070C0"/>
                </a:solidFill>
                <a:latin typeface="+mn-lt"/>
                <a:ea typeface="맑은 고딕"/>
                <a:cs typeface="맑은 고딕"/>
              </a:rPr>
              <a:t>Details -&gt; Abstractions, Inversion of Ownership  </a:t>
            </a:r>
          </a:p>
          <a:p>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9</a:t>
            </a:fld>
            <a:endParaRPr lang="ko-KR" altLang="en-US"/>
          </a:p>
        </p:txBody>
      </p:sp>
    </p:spTree>
    <p:extLst>
      <p:ext uri="{BB962C8B-B14F-4D97-AF65-F5344CB8AC3E}">
        <p14:creationId xmlns:p14="http://schemas.microsoft.com/office/powerpoint/2010/main" val="2191013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LSP</a:t>
            </a:r>
            <a:r>
              <a:rPr lang="ko-KR" altLang="en-US" dirty="0"/>
              <a:t>는 </a:t>
            </a:r>
            <a:r>
              <a:rPr lang="en-US" altLang="ko-KR" dirty="0"/>
              <a:t>must</a:t>
            </a:r>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12</a:t>
            </a:fld>
            <a:endParaRPr lang="ko-KR" altLang="en-US"/>
          </a:p>
        </p:txBody>
      </p:sp>
    </p:spTree>
    <p:extLst>
      <p:ext uri="{BB962C8B-B14F-4D97-AF65-F5344CB8AC3E}">
        <p14:creationId xmlns:p14="http://schemas.microsoft.com/office/powerpoint/2010/main" val="1613387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E8B14-3184-DD93-9A94-091CFDBC773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6CF0B7A-D852-383A-2109-6F16DFE1CA7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B0C1313-47B3-E2E7-8F83-26456A59D4F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91475386-6F8D-FE70-1BD3-A75FB0EB6439}"/>
              </a:ext>
            </a:extLst>
          </p:cNvPr>
          <p:cNvSpPr>
            <a:spLocks noGrp="1"/>
          </p:cNvSpPr>
          <p:nvPr>
            <p:ph type="sldNum" sz="quarter" idx="5"/>
          </p:nvPr>
        </p:nvSpPr>
        <p:spPr/>
        <p:txBody>
          <a:bodyPr/>
          <a:lstStyle/>
          <a:p>
            <a:fld id="{58A2678C-18E7-4230-B1D8-B77B8B4C5AF8}" type="slidenum">
              <a:rPr lang="ko-KR" altLang="en-US" smtClean="0"/>
              <a:t>15</a:t>
            </a:fld>
            <a:endParaRPr lang="ko-KR" altLang="en-US"/>
          </a:p>
        </p:txBody>
      </p:sp>
    </p:spTree>
    <p:extLst>
      <p:ext uri="{BB962C8B-B14F-4D97-AF65-F5344CB8AC3E}">
        <p14:creationId xmlns:p14="http://schemas.microsoft.com/office/powerpoint/2010/main" val="2298411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buFont typeface="Arial"/>
              <a:buChar char="•"/>
              <a:defRPr/>
            </a:pPr>
            <a:r>
              <a:rPr lang="en-US" altLang="ko-KR" sz="1400" dirty="0"/>
              <a:t>Goal of design</a:t>
            </a:r>
          </a:p>
          <a:p>
            <a:pPr lvl="1">
              <a:buFont typeface="Arial"/>
              <a:buChar char="•"/>
              <a:defRPr/>
            </a:pPr>
            <a:r>
              <a:rPr lang="ko-KR" altLang="en-US" sz="1400" dirty="0"/>
              <a:t>시스템을 모듈로 분할하고 구성 요소 간에 책임을 할당</a:t>
            </a:r>
            <a:endParaRPr lang="en-US" altLang="ko-KR" sz="1400" dirty="0"/>
          </a:p>
          <a:p>
            <a:pPr>
              <a:buFont typeface="Arial"/>
              <a:buChar char="•"/>
              <a:defRPr/>
            </a:pPr>
            <a:r>
              <a:rPr lang="ko-KR" altLang="en-US" sz="1400" dirty="0"/>
              <a:t>모듈화는 프로그래머가 한 번에 처리해야 하는 전체 복잡성을 </a:t>
            </a:r>
            <a:r>
              <a:rPr lang="ko-KR" altLang="en-US" sz="1400" dirty="0" err="1"/>
              <a:t>줄여줌</a:t>
            </a:r>
            <a:endParaRPr lang="en-US" altLang="ko-KR" sz="1400" dirty="0"/>
          </a:p>
          <a:p>
            <a:pPr lvl="1">
              <a:buFont typeface="Arial"/>
              <a:buChar char="•"/>
              <a:defRPr/>
            </a:pPr>
            <a:r>
              <a:rPr lang="ko-KR" altLang="en-US" sz="1400" dirty="0"/>
              <a:t>기능은 유사한 기능을 함께 그룹화하는 방식으로 모듈에 할당</a:t>
            </a:r>
            <a:r>
              <a:rPr lang="en-US" altLang="ko-KR" sz="1400" dirty="0"/>
              <a:t>(Separation of Concerns)</a:t>
            </a:r>
          </a:p>
          <a:p>
            <a:pPr lvl="1">
              <a:buFont typeface="Arial"/>
              <a:buChar char="•"/>
              <a:defRPr/>
            </a:pPr>
            <a:r>
              <a:rPr lang="ko-KR" altLang="en-US" sz="1400" dirty="0"/>
              <a:t>모듈 사이에는 작고 간단하며 잘 정의 된 인터페이스가 있음</a:t>
            </a:r>
            <a:r>
              <a:rPr lang="en-US" altLang="ko-KR" sz="1400" dirty="0"/>
              <a:t>(Information Hiding)</a:t>
            </a:r>
          </a:p>
          <a:p>
            <a:pPr>
              <a:buFont typeface="Arial"/>
              <a:buChar char="•"/>
              <a:defRPr/>
            </a:pPr>
            <a:r>
              <a:rPr lang="en-US" altLang="ko-KR" sz="1400" dirty="0"/>
              <a:t>Measuring Modularity</a:t>
            </a:r>
          </a:p>
          <a:p>
            <a:pPr lvl="1">
              <a:buFont typeface="Arial"/>
              <a:buChar char="•"/>
              <a:defRPr/>
            </a:pPr>
            <a:r>
              <a:rPr lang="en-US" altLang="ko-KR" sz="1400" dirty="0"/>
              <a:t>Coupling: </a:t>
            </a:r>
            <a:r>
              <a:rPr lang="ko-KR" altLang="en-US" sz="1400" dirty="0"/>
              <a:t>모듈 간의 상호 종속성 측정</a:t>
            </a:r>
            <a:endParaRPr lang="en-US" altLang="ko-KR" sz="1400" dirty="0"/>
          </a:p>
          <a:p>
            <a:pPr lvl="1">
              <a:buFont typeface="Arial"/>
              <a:buChar char="•"/>
              <a:defRPr/>
            </a:pPr>
            <a:r>
              <a:rPr lang="en-US" altLang="ko-KR" sz="1400" dirty="0"/>
              <a:t>Cohesion: </a:t>
            </a:r>
            <a:r>
              <a:rPr lang="ko-KR" altLang="en-US" sz="1400" dirty="0"/>
              <a:t>모듈의 요소가 얼마나 강하게 관련되어 있는지 측정</a:t>
            </a:r>
            <a:endParaRPr lang="en-US" altLang="ko-KR" sz="1400" dirty="0"/>
          </a:p>
          <a:p>
            <a:pPr lvl="1">
              <a:buFont typeface="Arial"/>
              <a:buNone/>
              <a:defRPr/>
            </a:pPr>
            <a:endParaRPr lang="en-US" altLang="ko-KR" sz="1400" dirty="0">
              <a:solidFill>
                <a:schemeClr val="dk1"/>
              </a:solidFill>
              <a:latin typeface="+mn-lt"/>
              <a:ea typeface="맑은 고딕"/>
              <a:cs typeface="맑은 고딕"/>
            </a:endParaRPr>
          </a:p>
          <a:p>
            <a:pPr lvl="0">
              <a:buFont typeface="Arial"/>
              <a:buNone/>
              <a:defRPr/>
            </a:pPr>
            <a:r>
              <a:rPr lang="en-US" altLang="ko-KR" sz="1400" dirty="0">
                <a:solidFill>
                  <a:schemeClr val="dk1"/>
                </a:solidFill>
                <a:latin typeface="+mn-lt"/>
                <a:ea typeface="맑은 고딕"/>
                <a:cs typeface="맑은 고딕"/>
              </a:rPr>
              <a:t>===================================================</a:t>
            </a:r>
            <a:endParaRPr lang="en-US" altLang="ko-KR" dirty="0"/>
          </a:p>
          <a:p>
            <a:r>
              <a:rPr lang="en-US" altLang="ko-KR" dirty="0"/>
              <a:t>Responsibility -&gt; method (operation)</a:t>
            </a:r>
          </a:p>
          <a:p>
            <a:r>
              <a:rPr lang="en-US" altLang="ko-KR" dirty="0"/>
              <a:t>Creator: </a:t>
            </a:r>
            <a:r>
              <a:rPr lang="ko-KR" altLang="en-US" dirty="0"/>
              <a:t>누가 생성하는 게 좋은가</a:t>
            </a:r>
            <a:r>
              <a:rPr lang="en-US" altLang="ko-KR" dirty="0"/>
              <a:t>?</a:t>
            </a:r>
          </a:p>
          <a:p>
            <a:r>
              <a:rPr lang="en-US" altLang="ko-KR" dirty="0"/>
              <a:t>Information Expert: </a:t>
            </a:r>
            <a:r>
              <a:rPr lang="ko-KR" altLang="en-US" dirty="0"/>
              <a:t>해당 정보를 가지고 있는 클래스에서 </a:t>
            </a:r>
            <a:r>
              <a:rPr lang="ko-KR" altLang="en-US" dirty="0" err="1"/>
              <a:t>하는게</a:t>
            </a:r>
            <a:r>
              <a:rPr lang="en-US" altLang="ko-KR" dirty="0"/>
              <a:t>...</a:t>
            </a:r>
          </a:p>
          <a:p>
            <a:r>
              <a:rPr lang="en-US" altLang="ko-KR" dirty="0"/>
              <a:t>Controller: UI</a:t>
            </a:r>
            <a:r>
              <a:rPr lang="ko-KR" altLang="en-US" dirty="0"/>
              <a:t>에서 오는 명령을 처리하기 위해 누가 </a:t>
            </a:r>
            <a:r>
              <a:rPr lang="ko-KR" altLang="en-US" dirty="0" err="1"/>
              <a:t>그일을</a:t>
            </a:r>
            <a:r>
              <a:rPr lang="ko-KR" altLang="en-US" dirty="0"/>
              <a:t> 하는가</a:t>
            </a:r>
            <a:r>
              <a:rPr lang="en-US" altLang="ko-KR" dirty="0"/>
              <a:t>?</a:t>
            </a:r>
          </a:p>
          <a:p>
            <a:r>
              <a:rPr lang="en-US" altLang="ko-KR" dirty="0"/>
              <a:t>Low coupling: change </a:t>
            </a:r>
            <a:r>
              <a:rPr lang="en-US" altLang="ko-KR" dirty="0" err="1"/>
              <a:t>impac</a:t>
            </a:r>
            <a:r>
              <a:rPr lang="ko-KR" altLang="en-US" dirty="0"/>
              <a:t>이 가장 적은 방향으로</a:t>
            </a:r>
            <a:endParaRPr lang="en-US" altLang="ko-KR" dirty="0"/>
          </a:p>
          <a:p>
            <a:r>
              <a:rPr lang="en-US" altLang="ko-KR" dirty="0"/>
              <a:t>High cohesion: </a:t>
            </a:r>
            <a:r>
              <a:rPr lang="ko-KR" altLang="en-US" dirty="0"/>
              <a:t>응집도가 높은 방향으로 </a:t>
            </a:r>
            <a:r>
              <a:rPr lang="en-US" altLang="ko-KR" dirty="0"/>
              <a:t>(</a:t>
            </a:r>
            <a:r>
              <a:rPr lang="ko-KR" altLang="en-US" dirty="0"/>
              <a:t>끼리끼리</a:t>
            </a:r>
            <a:r>
              <a:rPr lang="en-US" altLang="ko-KR" dirty="0"/>
              <a:t>)</a:t>
            </a:r>
          </a:p>
          <a:p>
            <a:r>
              <a:rPr lang="en-US" altLang="ko-KR" dirty="0"/>
              <a:t>Pure Fabrication: </a:t>
            </a:r>
            <a:r>
              <a:rPr lang="ko-KR" altLang="en-US" dirty="0"/>
              <a:t>도메인 모델에는 없던 클래스를 만드는 것도 방법임</a:t>
            </a:r>
            <a:r>
              <a:rPr lang="en-US" altLang="ko-KR" dirty="0"/>
              <a:t>.</a:t>
            </a:r>
          </a:p>
          <a:p>
            <a:r>
              <a:rPr lang="en-US" altLang="ko-KR" dirty="0"/>
              <a:t>Polymorphism: </a:t>
            </a:r>
            <a:r>
              <a:rPr lang="ko-KR" altLang="en-US" dirty="0"/>
              <a:t>하위 객체별로 다른 </a:t>
            </a:r>
            <a:r>
              <a:rPr lang="en-US" altLang="ko-KR" dirty="0"/>
              <a:t>operation</a:t>
            </a:r>
            <a:r>
              <a:rPr lang="ko-KR" altLang="en-US" dirty="0"/>
              <a:t>으로 동작</a:t>
            </a:r>
            <a:endParaRPr lang="en-US" altLang="ko-KR" dirty="0"/>
          </a:p>
          <a:p>
            <a:r>
              <a:rPr lang="en-US" altLang="ko-KR" dirty="0"/>
              <a:t>Indirection:</a:t>
            </a:r>
            <a:r>
              <a:rPr lang="ko-KR" altLang="en-US" dirty="0"/>
              <a:t> 중재자를 통해 직접적인 </a:t>
            </a:r>
            <a:r>
              <a:rPr lang="en-US" altLang="ko-KR" dirty="0"/>
              <a:t>coupling</a:t>
            </a:r>
            <a:r>
              <a:rPr lang="ko-KR" altLang="en-US" dirty="0"/>
              <a:t>을 </a:t>
            </a:r>
            <a:r>
              <a:rPr lang="ko-KR" altLang="en-US" dirty="0" err="1"/>
              <a:t>줄일수</a:t>
            </a:r>
            <a:r>
              <a:rPr lang="ko-KR" altLang="en-US" dirty="0"/>
              <a:t> 있다면</a:t>
            </a:r>
            <a:endParaRPr lang="en-US" altLang="ko-KR" dirty="0"/>
          </a:p>
          <a:p>
            <a:r>
              <a:rPr lang="en-US" altLang="ko-KR" dirty="0"/>
              <a:t>Protected variations: </a:t>
            </a:r>
            <a:r>
              <a:rPr lang="ko-KR" altLang="en-US" dirty="0"/>
              <a:t>변하지 않은 </a:t>
            </a:r>
            <a:r>
              <a:rPr lang="en-US" altLang="ko-KR" dirty="0"/>
              <a:t>interface</a:t>
            </a:r>
            <a:r>
              <a:rPr lang="ko-KR" altLang="en-US" dirty="0"/>
              <a:t>를 만들어 놓는다</a:t>
            </a:r>
            <a:r>
              <a:rPr lang="en-US" altLang="ko-KR" dirty="0"/>
              <a:t>. </a:t>
            </a:r>
            <a:endParaRPr lang="ko-KR" altLang="en-US" dirty="0"/>
          </a:p>
        </p:txBody>
      </p:sp>
      <p:sp>
        <p:nvSpPr>
          <p:cNvPr id="4" name="슬라이드 번호 개체 틀 3"/>
          <p:cNvSpPr>
            <a:spLocks noGrp="1"/>
          </p:cNvSpPr>
          <p:nvPr>
            <p:ph type="sldNum" sz="quarter" idx="5"/>
          </p:nvPr>
        </p:nvSpPr>
        <p:spPr/>
        <p:txBody>
          <a:bodyPr/>
          <a:lstStyle/>
          <a:p>
            <a:fld id="{58A2678C-18E7-4230-B1D8-B77B8B4C5AF8}" type="slidenum">
              <a:rPr lang="ko-KR" altLang="en-US" smtClean="0"/>
              <a:t>16</a:t>
            </a:fld>
            <a:endParaRPr lang="ko-KR" altLang="en-US"/>
          </a:p>
        </p:txBody>
      </p:sp>
    </p:spTree>
    <p:extLst>
      <p:ext uri="{BB962C8B-B14F-4D97-AF65-F5344CB8AC3E}">
        <p14:creationId xmlns:p14="http://schemas.microsoft.com/office/powerpoint/2010/main" val="3537684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23</a:t>
            </a:fld>
            <a:endParaRPr lang="ko-KR" altLang="en-US"/>
          </a:p>
        </p:txBody>
      </p:sp>
    </p:spTree>
    <p:extLst>
      <p:ext uri="{BB962C8B-B14F-4D97-AF65-F5344CB8AC3E}">
        <p14:creationId xmlns:p14="http://schemas.microsoft.com/office/powerpoint/2010/main" val="178199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 </a:t>
            </a:r>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34</a:t>
            </a:fld>
            <a:endParaRPr lang="ko-KR" altLang="en-US"/>
          </a:p>
        </p:txBody>
      </p:sp>
    </p:spTree>
    <p:extLst>
      <p:ext uri="{BB962C8B-B14F-4D97-AF65-F5344CB8AC3E}">
        <p14:creationId xmlns:p14="http://schemas.microsoft.com/office/powerpoint/2010/main" val="34611467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41</a:t>
            </a:fld>
            <a:endParaRPr lang="ko-KR" altLang="en-US"/>
          </a:p>
        </p:txBody>
      </p:sp>
    </p:spTree>
    <p:extLst>
      <p:ext uri="{BB962C8B-B14F-4D97-AF65-F5344CB8AC3E}">
        <p14:creationId xmlns:p14="http://schemas.microsoft.com/office/powerpoint/2010/main" val="2451204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a:p>
            <a:r>
              <a:rPr lang="en-US" altLang="ko-KR" dirty="0"/>
              <a:t>-tight coupling </a:t>
            </a:r>
            <a:r>
              <a:rPr lang="ko-KR" altLang="en-US" dirty="0"/>
              <a:t>에 대한 설명이 보완이 되면 좋을 것 같습니다</a:t>
            </a:r>
            <a:r>
              <a:rPr lang="en-US" altLang="ko-KR" dirty="0"/>
              <a:t>.</a:t>
            </a:r>
          </a:p>
          <a:p>
            <a:r>
              <a:rPr lang="en-US" altLang="ko-KR" dirty="0"/>
              <a:t>(</a:t>
            </a:r>
            <a:r>
              <a:rPr lang="ko-KR" altLang="en-US" dirty="0"/>
              <a:t>현재 </a:t>
            </a:r>
            <a:r>
              <a:rPr lang="en-US" altLang="ko-KR" dirty="0"/>
              <a:t>WeatherDataSubject </a:t>
            </a:r>
            <a:r>
              <a:rPr lang="ko-KR" altLang="en-US" dirty="0"/>
              <a:t>의 </a:t>
            </a:r>
            <a:r>
              <a:rPr lang="en-US" altLang="ko-KR" dirty="0" err="1"/>
              <a:t>notifyDataSetChanged</a:t>
            </a:r>
            <a:r>
              <a:rPr lang="en-US" altLang="ko-KR" dirty="0"/>
              <a:t>()</a:t>
            </a:r>
            <a:r>
              <a:rPr lang="ko-KR" altLang="en-US" dirty="0"/>
              <a:t>에서 </a:t>
            </a:r>
            <a:r>
              <a:rPr lang="en-US" altLang="ko-KR" dirty="0" err="1"/>
              <a:t>ClothingStore</a:t>
            </a:r>
            <a:r>
              <a:rPr lang="ko-KR" altLang="en-US" dirty="0"/>
              <a:t>와 </a:t>
            </a:r>
            <a:r>
              <a:rPr lang="en-US" altLang="ko-KR" dirty="0" err="1"/>
              <a:t>UmbrellaStore</a:t>
            </a:r>
            <a:r>
              <a:rPr lang="en-US" altLang="ko-KR" dirty="0"/>
              <a:t> </a:t>
            </a:r>
            <a:r>
              <a:rPr lang="ko-KR" altLang="en-US" dirty="0"/>
              <a:t>클래스를 직접 참조하여 업데이트 하고 있음</a:t>
            </a:r>
            <a:r>
              <a:rPr lang="en-US" altLang="ko-KR" dirty="0"/>
              <a:t>)</a:t>
            </a:r>
          </a:p>
          <a:p>
            <a:endParaRPr lang="en-US" altLang="ko-KR" dirty="0"/>
          </a:p>
          <a:p>
            <a:r>
              <a:rPr lang="en-US" altLang="ko-KR" dirty="0"/>
              <a:t>- </a:t>
            </a:r>
            <a:r>
              <a:rPr lang="ko-KR" altLang="en-US" dirty="0"/>
              <a:t>이들의 관계를 </a:t>
            </a:r>
            <a:r>
              <a:rPr lang="en-US" altLang="ko-KR" dirty="0"/>
              <a:t>Observer pattern</a:t>
            </a:r>
            <a:r>
              <a:rPr lang="ko-KR" altLang="en-US" dirty="0"/>
              <a:t>을 이용하여 재구성 하시오</a:t>
            </a:r>
          </a:p>
          <a:p>
            <a:r>
              <a:rPr lang="en-US" altLang="ko-KR" dirty="0"/>
              <a:t>( WeatherDataSubject</a:t>
            </a:r>
            <a:r>
              <a:rPr lang="ko-KR" altLang="en-US" dirty="0"/>
              <a:t>에서는 </a:t>
            </a:r>
            <a:r>
              <a:rPr lang="en-US" altLang="ko-KR" dirty="0" err="1"/>
              <a:t>ClothingStore</a:t>
            </a:r>
            <a:r>
              <a:rPr lang="ko-KR" altLang="en-US" dirty="0"/>
              <a:t>와 </a:t>
            </a:r>
            <a:r>
              <a:rPr lang="en-US" altLang="ko-KR" dirty="0" err="1"/>
              <a:t>UmbrellaStore</a:t>
            </a:r>
            <a:r>
              <a:rPr lang="en-US" altLang="ko-KR" dirty="0"/>
              <a:t> </a:t>
            </a:r>
            <a:r>
              <a:rPr lang="ko-KR" altLang="en-US" dirty="0"/>
              <a:t>클래스를 직접 참조하지 않도록 </a:t>
            </a:r>
            <a:r>
              <a:rPr lang="en-US" altLang="ko-KR" dirty="0" err="1"/>
              <a:t>obserber</a:t>
            </a:r>
            <a:r>
              <a:rPr lang="en-US" altLang="ko-KR" dirty="0"/>
              <a:t> pattern</a:t>
            </a:r>
            <a:r>
              <a:rPr lang="ko-KR" altLang="en-US" dirty="0"/>
              <a:t>을 적용</a:t>
            </a:r>
            <a:r>
              <a:rPr lang="en-US" altLang="ko-KR" dirty="0"/>
              <a:t>)</a:t>
            </a:r>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46</a:t>
            </a:fld>
            <a:endParaRPr lang="ko-KR" altLang="en-US"/>
          </a:p>
        </p:txBody>
      </p:sp>
    </p:spTree>
    <p:extLst>
      <p:ext uri="{BB962C8B-B14F-4D97-AF65-F5344CB8AC3E}">
        <p14:creationId xmlns:p14="http://schemas.microsoft.com/office/powerpoint/2010/main" val="2671367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a:p>
            <a:r>
              <a:rPr lang="en-US" altLang="ko-KR" dirty="0"/>
              <a:t>-tight coupling </a:t>
            </a:r>
            <a:r>
              <a:rPr lang="ko-KR" altLang="en-US" dirty="0"/>
              <a:t>에 대한 설명이 보완이 되면 좋을 것 같습니다</a:t>
            </a:r>
            <a:r>
              <a:rPr lang="en-US" altLang="ko-KR" dirty="0"/>
              <a:t>.</a:t>
            </a:r>
          </a:p>
          <a:p>
            <a:r>
              <a:rPr lang="en-US" altLang="ko-KR" dirty="0"/>
              <a:t>(</a:t>
            </a:r>
            <a:r>
              <a:rPr lang="ko-KR" altLang="en-US" dirty="0"/>
              <a:t>현재 </a:t>
            </a:r>
            <a:r>
              <a:rPr lang="en-US" altLang="ko-KR" dirty="0"/>
              <a:t>WeatherDataSubject </a:t>
            </a:r>
            <a:r>
              <a:rPr lang="ko-KR" altLang="en-US" dirty="0"/>
              <a:t>의 </a:t>
            </a:r>
            <a:r>
              <a:rPr lang="en-US" altLang="ko-KR" dirty="0" err="1"/>
              <a:t>notifyDataSetChanged</a:t>
            </a:r>
            <a:r>
              <a:rPr lang="en-US" altLang="ko-KR" dirty="0"/>
              <a:t>()</a:t>
            </a:r>
            <a:r>
              <a:rPr lang="ko-KR" altLang="en-US" dirty="0"/>
              <a:t>에서 </a:t>
            </a:r>
            <a:r>
              <a:rPr lang="en-US" altLang="ko-KR" dirty="0" err="1"/>
              <a:t>ClothingStore</a:t>
            </a:r>
            <a:r>
              <a:rPr lang="ko-KR" altLang="en-US" dirty="0"/>
              <a:t>와 </a:t>
            </a:r>
            <a:r>
              <a:rPr lang="en-US" altLang="ko-KR" dirty="0" err="1"/>
              <a:t>UmbrellaStore</a:t>
            </a:r>
            <a:r>
              <a:rPr lang="en-US" altLang="ko-KR" dirty="0"/>
              <a:t> </a:t>
            </a:r>
            <a:r>
              <a:rPr lang="ko-KR" altLang="en-US" dirty="0"/>
              <a:t>클래스를 직접 참조하여 업데이트 하고 있음</a:t>
            </a:r>
            <a:r>
              <a:rPr lang="en-US" altLang="ko-KR" dirty="0"/>
              <a:t>)</a:t>
            </a:r>
          </a:p>
          <a:p>
            <a:endParaRPr lang="en-US" altLang="ko-KR" dirty="0"/>
          </a:p>
          <a:p>
            <a:r>
              <a:rPr lang="en-US" altLang="ko-KR" dirty="0"/>
              <a:t>- </a:t>
            </a:r>
            <a:r>
              <a:rPr lang="ko-KR" altLang="en-US" dirty="0"/>
              <a:t>이들의 관계를 </a:t>
            </a:r>
            <a:r>
              <a:rPr lang="en-US" altLang="ko-KR" dirty="0"/>
              <a:t>Observer pattern</a:t>
            </a:r>
            <a:r>
              <a:rPr lang="ko-KR" altLang="en-US" dirty="0"/>
              <a:t>을 이용하여 재구성 하시오</a:t>
            </a:r>
          </a:p>
          <a:p>
            <a:r>
              <a:rPr lang="en-US" altLang="ko-KR" dirty="0"/>
              <a:t>( WeatherDataSubject</a:t>
            </a:r>
            <a:r>
              <a:rPr lang="ko-KR" altLang="en-US" dirty="0"/>
              <a:t>에서는 </a:t>
            </a:r>
            <a:r>
              <a:rPr lang="en-US" altLang="ko-KR" dirty="0" err="1"/>
              <a:t>ClothingStore</a:t>
            </a:r>
            <a:r>
              <a:rPr lang="ko-KR" altLang="en-US" dirty="0"/>
              <a:t>와 </a:t>
            </a:r>
            <a:r>
              <a:rPr lang="en-US" altLang="ko-KR" dirty="0" err="1"/>
              <a:t>UmbrellaStore</a:t>
            </a:r>
            <a:r>
              <a:rPr lang="en-US" altLang="ko-KR" dirty="0"/>
              <a:t> </a:t>
            </a:r>
            <a:r>
              <a:rPr lang="ko-KR" altLang="en-US" dirty="0"/>
              <a:t>클래스를 직접 참조하지 않도록 </a:t>
            </a:r>
            <a:r>
              <a:rPr lang="en-US" altLang="ko-KR" dirty="0"/>
              <a:t>observer pattern</a:t>
            </a:r>
            <a:r>
              <a:rPr lang="ko-KR" altLang="en-US" dirty="0"/>
              <a:t>을 적용</a:t>
            </a:r>
            <a:r>
              <a:rPr lang="en-US" altLang="ko-KR" dirty="0"/>
              <a:t>)</a:t>
            </a:r>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47</a:t>
            </a:fld>
            <a:endParaRPr lang="ko-KR" altLang="en-US"/>
          </a:p>
        </p:txBody>
      </p:sp>
    </p:spTree>
    <p:extLst>
      <p:ext uri="{BB962C8B-B14F-4D97-AF65-F5344CB8AC3E}">
        <p14:creationId xmlns:p14="http://schemas.microsoft.com/office/powerpoint/2010/main" val="15830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Observer Pattern Summary</a:t>
            </a:r>
          </a:p>
          <a:p>
            <a:pPr marL="171450" indent="-171450">
              <a:buFont typeface="Arial" panose="020B0604020202020204" pitchFamily="34" charset="0"/>
              <a:buChar char="•"/>
            </a:pPr>
            <a:r>
              <a:rPr lang="en-US" altLang="ko-KR" dirty="0"/>
              <a:t>Principle of loose coupling</a:t>
            </a:r>
          </a:p>
          <a:p>
            <a:pPr marL="628650" lvl="1" indent="-171450">
              <a:buFont typeface="Arial" panose="020B0604020202020204" pitchFamily="34" charset="0"/>
              <a:buChar char="•"/>
            </a:pPr>
            <a:r>
              <a:rPr lang="en-US" altLang="ko-KR" dirty="0"/>
              <a:t>Strive for loosely coupled designs between objects that interact</a:t>
            </a:r>
          </a:p>
          <a:p>
            <a:pPr marL="171450" indent="-171450">
              <a:buFont typeface="Arial" panose="020B0604020202020204" pitchFamily="34" charset="0"/>
              <a:buChar char="•"/>
            </a:pPr>
            <a:r>
              <a:rPr lang="en-US" altLang="ko-KR" dirty="0"/>
              <a:t>Observer Pattern</a:t>
            </a:r>
          </a:p>
          <a:p>
            <a:pPr marL="628650" lvl="1" indent="-171450">
              <a:buFont typeface="Arial" panose="020B0604020202020204" pitchFamily="34" charset="0"/>
              <a:buChar char="•"/>
            </a:pPr>
            <a:r>
              <a:rPr lang="en-US" altLang="ko-KR" dirty="0"/>
              <a:t>Observer defines a one-to-many dependency between objects so that when one object </a:t>
            </a:r>
            <a:r>
              <a:rPr lang="en-US" altLang="ko-KR" dirty="0" err="1"/>
              <a:t>chages</a:t>
            </a:r>
            <a:r>
              <a:rPr lang="en-US" altLang="ko-KR" dirty="0"/>
              <a:t> state, all its dependents are notified and updated automatically</a:t>
            </a:r>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48</a:t>
            </a:fld>
            <a:endParaRPr lang="ko-KR" altLang="en-US"/>
          </a:p>
        </p:txBody>
      </p:sp>
    </p:spTree>
    <p:extLst>
      <p:ext uri="{BB962C8B-B14F-4D97-AF65-F5344CB8AC3E}">
        <p14:creationId xmlns:p14="http://schemas.microsoft.com/office/powerpoint/2010/main" val="6789064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8A2678C-18E7-4230-B1D8-B77B8B4C5AF8}" type="slidenum">
              <a:rPr lang="ko-KR" altLang="en-US" smtClean="0"/>
              <a:t>50</a:t>
            </a:fld>
            <a:endParaRPr lang="ko-KR" altLang="en-US"/>
          </a:p>
        </p:txBody>
      </p:sp>
    </p:spTree>
    <p:extLst>
      <p:ext uri="{BB962C8B-B14F-4D97-AF65-F5344CB8AC3E}">
        <p14:creationId xmlns:p14="http://schemas.microsoft.com/office/powerpoint/2010/main" val="4154554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컬렉션 내의 요소들에 접근하는 방법을 </a:t>
            </a:r>
            <a:r>
              <a:rPr lang="ko-KR" altLang="en-US" dirty="0" err="1"/>
              <a:t>표준화하여</a:t>
            </a:r>
            <a:r>
              <a:rPr lang="ko-KR" altLang="en-US" dirty="0"/>
              <a:t> 컬렉션의 내부 구조에 독립적으로 접근할 수 있는 패턴</a:t>
            </a:r>
            <a:endParaRPr kumimoji="1" lang="ko-Kore-KR" altLang="en-US" dirty="0"/>
          </a:p>
        </p:txBody>
      </p:sp>
      <p:sp>
        <p:nvSpPr>
          <p:cNvPr id="4" name="슬라이드 번호 개체 틀 3"/>
          <p:cNvSpPr>
            <a:spLocks noGrp="1"/>
          </p:cNvSpPr>
          <p:nvPr>
            <p:ph type="sldNum" sz="quarter" idx="5"/>
          </p:nvPr>
        </p:nvSpPr>
        <p:spPr/>
        <p:txBody>
          <a:bodyPr/>
          <a:lstStyle/>
          <a:p>
            <a:fld id="{58A2678C-18E7-4230-B1D8-B77B8B4C5AF8}" type="slidenum">
              <a:rPr lang="ko-KR" altLang="en-US" smtClean="0"/>
              <a:t>60</a:t>
            </a:fld>
            <a:endParaRPr lang="ko-KR" altLang="en-US"/>
          </a:p>
        </p:txBody>
      </p:sp>
    </p:spTree>
    <p:extLst>
      <p:ext uri="{BB962C8B-B14F-4D97-AF65-F5344CB8AC3E}">
        <p14:creationId xmlns:p14="http://schemas.microsoft.com/office/powerpoint/2010/main" val="3247008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컬렉션 내의 요소들에 접근하는 방법을 </a:t>
            </a:r>
            <a:r>
              <a:rPr lang="ko-KR" altLang="en-US" dirty="0" err="1"/>
              <a:t>표준화하여</a:t>
            </a:r>
            <a:r>
              <a:rPr lang="ko-KR" altLang="en-US" dirty="0"/>
              <a:t> 컬렉션의 내부 구조에 독립적으로 접근할 수 있는 패턴</a:t>
            </a:r>
            <a:endParaRPr kumimoji="1" lang="ko-Kore-KR" altLang="en-US" dirty="0"/>
          </a:p>
        </p:txBody>
      </p:sp>
      <p:sp>
        <p:nvSpPr>
          <p:cNvPr id="4" name="슬라이드 번호 개체 틀 3"/>
          <p:cNvSpPr>
            <a:spLocks noGrp="1"/>
          </p:cNvSpPr>
          <p:nvPr>
            <p:ph type="sldNum" sz="quarter" idx="5"/>
          </p:nvPr>
        </p:nvSpPr>
        <p:spPr/>
        <p:txBody>
          <a:bodyPr/>
          <a:lstStyle/>
          <a:p>
            <a:fld id="{58A2678C-18E7-4230-B1D8-B77B8B4C5AF8}" type="slidenum">
              <a:rPr lang="ko-KR" altLang="en-US" smtClean="0"/>
              <a:t>61</a:t>
            </a:fld>
            <a:endParaRPr lang="ko-KR" altLang="en-US"/>
          </a:p>
        </p:txBody>
      </p:sp>
    </p:spTree>
    <p:extLst>
      <p:ext uri="{BB962C8B-B14F-4D97-AF65-F5344CB8AC3E}">
        <p14:creationId xmlns:p14="http://schemas.microsoft.com/office/powerpoint/2010/main" val="24050572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컬렉션 내의 요소들에 접근하는 방법을 </a:t>
            </a:r>
            <a:r>
              <a:rPr lang="ko-KR" altLang="en-US" dirty="0" err="1"/>
              <a:t>표준화하여</a:t>
            </a:r>
            <a:r>
              <a:rPr lang="ko-KR" altLang="en-US" dirty="0"/>
              <a:t> 컬렉션의 내부 구조에 독립적으로 접근할 수 있는 패턴</a:t>
            </a:r>
            <a:endParaRPr kumimoji="1" lang="ko-Kore-KR" altLang="en-US" dirty="0"/>
          </a:p>
        </p:txBody>
      </p:sp>
      <p:sp>
        <p:nvSpPr>
          <p:cNvPr id="4" name="슬라이드 번호 개체 틀 3"/>
          <p:cNvSpPr>
            <a:spLocks noGrp="1"/>
          </p:cNvSpPr>
          <p:nvPr>
            <p:ph type="sldNum" sz="quarter" idx="5"/>
          </p:nvPr>
        </p:nvSpPr>
        <p:spPr/>
        <p:txBody>
          <a:bodyPr/>
          <a:lstStyle/>
          <a:p>
            <a:fld id="{58A2678C-18E7-4230-B1D8-B77B8B4C5AF8}" type="slidenum">
              <a:rPr lang="ko-KR" altLang="en-US" smtClean="0"/>
              <a:t>62</a:t>
            </a:fld>
            <a:endParaRPr lang="ko-KR" altLang="en-US"/>
          </a:p>
        </p:txBody>
      </p:sp>
    </p:spTree>
    <p:extLst>
      <p:ext uri="{BB962C8B-B14F-4D97-AF65-F5344CB8AC3E}">
        <p14:creationId xmlns:p14="http://schemas.microsoft.com/office/powerpoint/2010/main" val="68182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mediator</a:t>
            </a:r>
            <a:r>
              <a:rPr lang="ko-KR" altLang="en-US" dirty="0"/>
              <a:t>와 </a:t>
            </a:r>
            <a:r>
              <a:rPr lang="en-US" altLang="ko-KR" dirty="0"/>
              <a:t>colleagues </a:t>
            </a:r>
            <a:r>
              <a:rPr lang="ko-KR" altLang="en-US" dirty="0"/>
              <a:t>의 </a:t>
            </a:r>
            <a:r>
              <a:rPr lang="en-US" altLang="ko-KR" dirty="0"/>
              <a:t>interaction</a:t>
            </a:r>
            <a:r>
              <a:rPr lang="ko-KR" altLang="en-US" dirty="0"/>
              <a:t>을 자세히 기술하기 위해 </a:t>
            </a:r>
            <a:r>
              <a:rPr lang="en-US" altLang="ko-KR" dirty="0"/>
              <a:t>Sequence Diagram</a:t>
            </a:r>
            <a:r>
              <a:rPr lang="ko-KR" altLang="en-US" dirty="0"/>
              <a:t>이 반드시 필요하다는 것을 강조</a:t>
            </a:r>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71</a:t>
            </a:fld>
            <a:endParaRPr lang="ko-KR" altLang="en-US"/>
          </a:p>
        </p:txBody>
      </p:sp>
    </p:spTree>
    <p:extLst>
      <p:ext uri="{BB962C8B-B14F-4D97-AF65-F5344CB8AC3E}">
        <p14:creationId xmlns:p14="http://schemas.microsoft.com/office/powerpoint/2010/main" val="40323353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72</a:t>
            </a:fld>
            <a:endParaRPr lang="ko-KR" altLang="en-US"/>
          </a:p>
        </p:txBody>
      </p:sp>
    </p:spTree>
    <p:extLst>
      <p:ext uri="{BB962C8B-B14F-4D97-AF65-F5344CB8AC3E}">
        <p14:creationId xmlns:p14="http://schemas.microsoft.com/office/powerpoint/2010/main" val="20613739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86</a:t>
            </a:fld>
            <a:endParaRPr lang="ko-KR" altLang="en-US"/>
          </a:p>
        </p:txBody>
      </p:sp>
    </p:spTree>
    <p:extLst>
      <p:ext uri="{BB962C8B-B14F-4D97-AF65-F5344CB8AC3E}">
        <p14:creationId xmlns:p14="http://schemas.microsoft.com/office/powerpoint/2010/main" val="16797578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Prototype Summary</a:t>
            </a:r>
          </a:p>
          <a:p>
            <a:pPr marL="171450" indent="-171450">
              <a:buFont typeface="Arial" panose="020B0604020202020204" pitchFamily="34" charset="0"/>
              <a:buChar char="•"/>
            </a:pPr>
            <a:r>
              <a:rPr lang="en-US" altLang="ko-KR" dirty="0"/>
              <a:t>Be aware of the shallow cloning VS deep cloning</a:t>
            </a:r>
          </a:p>
          <a:p>
            <a:pPr marL="171450" indent="-171450">
              <a:buFont typeface="Arial" panose="020B0604020202020204" pitchFamily="34" charset="0"/>
              <a:buChar char="•"/>
            </a:pPr>
            <a:r>
              <a:rPr lang="en-US" altLang="ko-KR" dirty="0"/>
              <a:t>Prototypes are useful when object initialization is expensive, and you anticipate few variations on the initialization parameters. In this context, Prototype can avoid expensive "creation from scratch", and support cheap cloning of a pre initialized prototype.</a:t>
            </a:r>
          </a:p>
          <a:p>
            <a:pPr marL="171450" indent="-171450">
              <a:buFont typeface="Arial" panose="020B0604020202020204" pitchFamily="34" charset="0"/>
              <a:buChar char="•"/>
            </a:pPr>
            <a:r>
              <a:rPr lang="en-US" altLang="ko-KR" dirty="0"/>
              <a:t>Abstract Factory and Prototype can be used together</a:t>
            </a:r>
          </a:p>
          <a:p>
            <a:pPr marL="628650" lvl="1" indent="-171450">
              <a:buFont typeface="Arial" panose="020B0604020202020204" pitchFamily="34" charset="0"/>
              <a:buChar char="•"/>
            </a:pPr>
            <a:r>
              <a:rPr lang="en-US" altLang="ko-KR" dirty="0"/>
              <a:t>Abstract Factory can store set of prototypes which are cloned to return product objects</a:t>
            </a:r>
          </a:p>
          <a:p>
            <a:pPr marL="171450" lvl="0" indent="-171450">
              <a:buFont typeface="Arial" panose="020B0604020202020204" pitchFamily="34" charset="0"/>
              <a:buChar char="•"/>
            </a:pPr>
            <a:r>
              <a:rPr lang="en-US" altLang="ko-KR" dirty="0"/>
              <a:t>Very useful with Composite and Decorator patterns</a:t>
            </a:r>
            <a:endParaRPr lang="ko-KR" altLang="en-US" dirty="0"/>
          </a:p>
          <a:p>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87</a:t>
            </a:fld>
            <a:endParaRPr lang="ko-KR" altLang="en-US"/>
          </a:p>
        </p:txBody>
      </p:sp>
    </p:spTree>
    <p:extLst>
      <p:ext uri="{BB962C8B-B14F-4D97-AF65-F5344CB8AC3E}">
        <p14:creationId xmlns:p14="http://schemas.microsoft.com/office/powerpoint/2010/main" val="173267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88</a:t>
            </a:fld>
            <a:endParaRPr lang="ko-KR" altLang="en-US"/>
          </a:p>
        </p:txBody>
      </p:sp>
    </p:spTree>
    <p:extLst>
      <p:ext uri="{BB962C8B-B14F-4D97-AF65-F5344CB8AC3E}">
        <p14:creationId xmlns:p14="http://schemas.microsoft.com/office/powerpoint/2010/main" val="34144473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450" indent="-171450">
              <a:buFont typeface="Arial" panose="020B0604020202020204" pitchFamily="34" charset="0"/>
              <a:buChar char="•"/>
            </a:pPr>
            <a:r>
              <a:rPr lang="en-US" altLang="ko-KR" sz="1200" b="1" i="0" u="none" strike="noStrike" kern="1200" baseline="0" dirty="0">
                <a:solidFill>
                  <a:schemeClr val="tx1"/>
                </a:solidFill>
                <a:latin typeface="+mn-lt"/>
                <a:ea typeface="+mn-ea"/>
                <a:cs typeface="+mn-cs"/>
              </a:rPr>
              <a:t>Decorator Summary</a:t>
            </a:r>
          </a:p>
          <a:p>
            <a:pPr marL="628650" lvl="1"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Design Principle: Open-Closed Principle (OCP)</a:t>
            </a:r>
          </a:p>
          <a:p>
            <a:pPr marL="628650" lvl="1"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Advantages</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attaches additional responsibilities to an object dynamically</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flexible alternative to </a:t>
            </a:r>
            <a:r>
              <a:rPr lang="en-US" altLang="ko-KR" sz="1200" b="0" i="0" u="none" strike="noStrike" kern="1200" baseline="0" dirty="0" err="1">
                <a:solidFill>
                  <a:schemeClr val="tx1"/>
                </a:solidFill>
                <a:latin typeface="+mn-lt"/>
                <a:ea typeface="+mn-ea"/>
                <a:cs typeface="+mn-cs"/>
              </a:rPr>
              <a:t>subclassing</a:t>
            </a:r>
            <a:r>
              <a:rPr lang="en-US" altLang="ko-KR" sz="1200" b="0" i="0" u="none" strike="noStrike" kern="1200" baseline="0" dirty="0">
                <a:solidFill>
                  <a:schemeClr val="tx1"/>
                </a:solidFill>
                <a:latin typeface="+mn-lt"/>
                <a:ea typeface="+mn-ea"/>
                <a:cs typeface="+mn-cs"/>
              </a:rPr>
              <a:t> for extending functionality</a:t>
            </a:r>
          </a:p>
          <a:p>
            <a:pPr marL="628650" lvl="1"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Key mechanisms</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Uses object composition and delegation</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Decorator class mirrors the type of components they are decorating</a:t>
            </a:r>
          </a:p>
          <a:p>
            <a:pPr marL="1543050" lvl="3"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We can wrap a component with any number of decorators</a:t>
            </a:r>
          </a:p>
          <a:p>
            <a:pPr marL="628650" lvl="1"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Disadvantage</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can generate a lot of small classes (e.g. Java I/O)</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hard to understand if not familiar with the pattern</a:t>
            </a:r>
          </a:p>
          <a:p>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90</a:t>
            </a:fld>
            <a:endParaRPr lang="ko-KR" altLang="en-US"/>
          </a:p>
        </p:txBody>
      </p:sp>
    </p:spTree>
    <p:extLst>
      <p:ext uri="{BB962C8B-B14F-4D97-AF65-F5344CB8AC3E}">
        <p14:creationId xmlns:p14="http://schemas.microsoft.com/office/powerpoint/2010/main" val="15723395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1200" dirty="0"/>
              <a:t>Decorator </a:t>
            </a:r>
            <a:r>
              <a:rPr lang="ko-KR" altLang="en-US" sz="1200" dirty="0"/>
              <a:t>패턴에서 </a:t>
            </a:r>
            <a:r>
              <a:rPr lang="en-US" altLang="ko-KR" sz="1200" dirty="0"/>
              <a:t>Decorator</a:t>
            </a:r>
            <a:r>
              <a:rPr lang="ko-KR" altLang="en-US" sz="1200" dirty="0"/>
              <a:t>가 </a:t>
            </a:r>
            <a:r>
              <a:rPr lang="en-US" altLang="ko-KR" sz="1200" dirty="0"/>
              <a:t>Component </a:t>
            </a:r>
            <a:r>
              <a:rPr lang="ko-KR" altLang="en-US" sz="1200" dirty="0"/>
              <a:t>클래스에 대한 상속 관계를 가지는데</a:t>
            </a:r>
            <a:r>
              <a:rPr lang="en-US" altLang="ko-KR" sz="1200" dirty="0"/>
              <a:t>, </a:t>
            </a:r>
            <a:r>
              <a:rPr lang="ko-KR" altLang="en-US" sz="1200" dirty="0"/>
              <a:t>이것이 왜 필요한지 잘 이해하지 못하는 수강생들이 간혹 있으니</a:t>
            </a:r>
            <a:r>
              <a:rPr lang="en-US" altLang="ko-KR" sz="1200" dirty="0"/>
              <a:t>, </a:t>
            </a:r>
            <a:r>
              <a:rPr lang="ko-KR" altLang="en-US" sz="1200" dirty="0"/>
              <a:t>강조를 해주시기 바랍니다</a:t>
            </a:r>
            <a:r>
              <a:rPr lang="en-US" altLang="ko-KR" sz="1200" dirty="0"/>
              <a:t>. </a:t>
            </a:r>
          </a:p>
          <a:p>
            <a:pPr marL="628650" marR="0" lvl="1"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1200" dirty="0"/>
              <a:t>답</a:t>
            </a:r>
            <a:r>
              <a:rPr lang="en-US" altLang="ko-KR" sz="1200" dirty="0"/>
              <a:t>) </a:t>
            </a:r>
            <a:r>
              <a:rPr lang="ko-KR" altLang="en-US" sz="1200" dirty="0"/>
              <a:t>계속 </a:t>
            </a:r>
            <a:r>
              <a:rPr lang="en-US" altLang="ko-KR" sz="1200" dirty="0"/>
              <a:t>object</a:t>
            </a:r>
            <a:r>
              <a:rPr lang="ko-KR" altLang="en-US" sz="1200" dirty="0"/>
              <a:t>를 </a:t>
            </a:r>
            <a:r>
              <a:rPr lang="en-US" altLang="ko-KR" sz="1200" dirty="0"/>
              <a:t>wrapping </a:t>
            </a:r>
            <a:r>
              <a:rPr lang="ko-KR" altLang="en-US" sz="1200" dirty="0"/>
              <a:t>하기 위해서는 공통 </a:t>
            </a:r>
            <a:r>
              <a:rPr lang="en-US" altLang="ko-KR" sz="1200" dirty="0"/>
              <a:t>type (</a:t>
            </a:r>
            <a:r>
              <a:rPr lang="ko-KR" altLang="en-US" sz="1200" dirty="0"/>
              <a:t>부모 </a:t>
            </a:r>
            <a:r>
              <a:rPr lang="en-US" altLang="ko-KR" sz="1200" dirty="0"/>
              <a:t>class)</a:t>
            </a:r>
            <a:r>
              <a:rPr lang="ko-KR" altLang="en-US" sz="1200" dirty="0"/>
              <a:t>의 </a:t>
            </a:r>
            <a:r>
              <a:rPr lang="en-US" altLang="ko-KR" sz="1200" dirty="0"/>
              <a:t>reference</a:t>
            </a:r>
            <a:r>
              <a:rPr lang="ko-KR" altLang="en-US" sz="1200" dirty="0"/>
              <a:t>를 가지고 있어야 하기 때문에</a:t>
            </a:r>
            <a:endParaRPr lang="en-US" altLang="ko-KR" sz="1200" dirty="0"/>
          </a:p>
          <a:p>
            <a:pPr marL="171450" indent="-171450">
              <a:buFont typeface="Arial" panose="020B0604020202020204" pitchFamily="34" charset="0"/>
              <a:buChar char="•"/>
            </a:pPr>
            <a:r>
              <a:rPr lang="en-US" altLang="ko-KR" sz="1200" b="1" i="0" u="none" strike="noStrike" kern="1200" baseline="0" dirty="0">
                <a:solidFill>
                  <a:schemeClr val="tx1"/>
                </a:solidFill>
                <a:latin typeface="+mn-lt"/>
                <a:ea typeface="+mn-ea"/>
                <a:cs typeface="+mn-cs"/>
              </a:rPr>
              <a:t>Decorator Summary</a:t>
            </a:r>
          </a:p>
          <a:p>
            <a:pPr marL="628650" lvl="1"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Design Principle: Open-Closed Principle (OCP)</a:t>
            </a:r>
          </a:p>
          <a:p>
            <a:pPr marL="628650" lvl="1"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Advantages</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attaches additional responsibilities to an object dynamically</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flexible alternative to </a:t>
            </a:r>
            <a:r>
              <a:rPr lang="en-US" altLang="ko-KR" sz="1200" b="0" i="0" u="none" strike="noStrike" kern="1200" baseline="0" dirty="0" err="1">
                <a:solidFill>
                  <a:schemeClr val="tx1"/>
                </a:solidFill>
                <a:latin typeface="+mn-lt"/>
                <a:ea typeface="+mn-ea"/>
                <a:cs typeface="+mn-cs"/>
              </a:rPr>
              <a:t>subclassing</a:t>
            </a:r>
            <a:r>
              <a:rPr lang="en-US" altLang="ko-KR" sz="1200" b="0" i="0" u="none" strike="noStrike" kern="1200" baseline="0" dirty="0">
                <a:solidFill>
                  <a:schemeClr val="tx1"/>
                </a:solidFill>
                <a:latin typeface="+mn-lt"/>
                <a:ea typeface="+mn-ea"/>
                <a:cs typeface="+mn-cs"/>
              </a:rPr>
              <a:t> for extending functionality</a:t>
            </a:r>
          </a:p>
          <a:p>
            <a:pPr marL="628650" lvl="1"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Key mechanisms</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Uses object composition and delegation</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Decorator class mirrors the type of components they are decorating</a:t>
            </a:r>
          </a:p>
          <a:p>
            <a:pPr marL="1543050" lvl="3"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We can wrap a component with any number of decorators</a:t>
            </a:r>
          </a:p>
          <a:p>
            <a:pPr marL="628650" lvl="1"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Disadvantage</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can generate a lot of small classes (e.g. Java I/O)</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hard to understand if not familiar with the pattern</a:t>
            </a:r>
          </a:p>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en-US" altLang="ko-KR" sz="1200" dirty="0"/>
          </a:p>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en-US" altLang="ko-KR" sz="1200" dirty="0"/>
          </a:p>
          <a:p>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92</a:t>
            </a:fld>
            <a:endParaRPr lang="ko-KR" altLang="en-US"/>
          </a:p>
        </p:txBody>
      </p:sp>
    </p:spTree>
    <p:extLst>
      <p:ext uri="{BB962C8B-B14F-4D97-AF65-F5344CB8AC3E}">
        <p14:creationId xmlns:p14="http://schemas.microsoft.com/office/powerpoint/2010/main" val="14423004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8AB72-594F-5E18-15B8-491D6BAE8FD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199E90C-8E18-790A-DCA8-C35DF45D6C0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F235FB3-2A31-7AC9-DAE7-65A565A36692}"/>
              </a:ext>
            </a:extLst>
          </p:cNvPr>
          <p:cNvSpPr>
            <a:spLocks noGrp="1"/>
          </p:cNvSpPr>
          <p:nvPr>
            <p:ph type="body" idx="1"/>
          </p:nvPr>
        </p:nvSpPr>
        <p:spPr/>
        <p:txBody>
          <a:bodyPr/>
          <a:lstStyle/>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1200" dirty="0"/>
              <a:t>Decorator </a:t>
            </a:r>
            <a:r>
              <a:rPr lang="ko-KR" altLang="en-US" sz="1200" dirty="0"/>
              <a:t>패턴에서 </a:t>
            </a:r>
            <a:r>
              <a:rPr lang="en-US" altLang="ko-KR" sz="1200" dirty="0"/>
              <a:t>Decorator</a:t>
            </a:r>
            <a:r>
              <a:rPr lang="ko-KR" altLang="en-US" sz="1200" dirty="0"/>
              <a:t>가 </a:t>
            </a:r>
            <a:r>
              <a:rPr lang="en-US" altLang="ko-KR" sz="1200" dirty="0"/>
              <a:t>Component </a:t>
            </a:r>
            <a:r>
              <a:rPr lang="ko-KR" altLang="en-US" sz="1200" dirty="0"/>
              <a:t>클래스에 대한 상속 관계를 가지는데</a:t>
            </a:r>
            <a:r>
              <a:rPr lang="en-US" altLang="ko-KR" sz="1200" dirty="0"/>
              <a:t>, </a:t>
            </a:r>
            <a:r>
              <a:rPr lang="ko-KR" altLang="en-US" sz="1200" dirty="0"/>
              <a:t>이것이 왜 필요한지 잘 이해하지 못하는 수강생들이 간혹 있으니</a:t>
            </a:r>
            <a:r>
              <a:rPr lang="en-US" altLang="ko-KR" sz="1200" dirty="0"/>
              <a:t>, </a:t>
            </a:r>
            <a:r>
              <a:rPr lang="ko-KR" altLang="en-US" sz="1200" dirty="0"/>
              <a:t>강조를 해주시기 바랍니다</a:t>
            </a:r>
            <a:r>
              <a:rPr lang="en-US" altLang="ko-KR" sz="1200" dirty="0"/>
              <a:t>. </a:t>
            </a:r>
          </a:p>
          <a:p>
            <a:pPr marL="628650" marR="0" lvl="1"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1200" dirty="0"/>
              <a:t>답</a:t>
            </a:r>
            <a:r>
              <a:rPr lang="en-US" altLang="ko-KR" sz="1200" dirty="0"/>
              <a:t>) </a:t>
            </a:r>
            <a:r>
              <a:rPr lang="ko-KR" altLang="en-US" sz="1200" dirty="0"/>
              <a:t>계속 </a:t>
            </a:r>
            <a:r>
              <a:rPr lang="en-US" altLang="ko-KR" sz="1200" dirty="0"/>
              <a:t>object</a:t>
            </a:r>
            <a:r>
              <a:rPr lang="ko-KR" altLang="en-US" sz="1200" dirty="0"/>
              <a:t>를 </a:t>
            </a:r>
            <a:r>
              <a:rPr lang="en-US" altLang="ko-KR" sz="1200" dirty="0"/>
              <a:t>wrapping </a:t>
            </a:r>
            <a:r>
              <a:rPr lang="ko-KR" altLang="en-US" sz="1200" dirty="0"/>
              <a:t>하기 위해서는 공통 </a:t>
            </a:r>
            <a:r>
              <a:rPr lang="en-US" altLang="ko-KR" sz="1200" dirty="0"/>
              <a:t>type (</a:t>
            </a:r>
            <a:r>
              <a:rPr lang="ko-KR" altLang="en-US" sz="1200" dirty="0"/>
              <a:t>부모 </a:t>
            </a:r>
            <a:r>
              <a:rPr lang="en-US" altLang="ko-KR" sz="1200" dirty="0"/>
              <a:t>class)</a:t>
            </a:r>
            <a:r>
              <a:rPr lang="ko-KR" altLang="en-US" sz="1200" dirty="0"/>
              <a:t>의 </a:t>
            </a:r>
            <a:r>
              <a:rPr lang="en-US" altLang="ko-KR" sz="1200" dirty="0"/>
              <a:t>reference</a:t>
            </a:r>
            <a:r>
              <a:rPr lang="ko-KR" altLang="en-US" sz="1200" dirty="0"/>
              <a:t>를 가지고 있어야 하기 때문에</a:t>
            </a:r>
            <a:endParaRPr lang="en-US" altLang="ko-KR" sz="1200" dirty="0"/>
          </a:p>
          <a:p>
            <a:pPr marL="171450" indent="-171450">
              <a:buFont typeface="Arial" panose="020B0604020202020204" pitchFamily="34" charset="0"/>
              <a:buChar char="•"/>
            </a:pPr>
            <a:r>
              <a:rPr lang="en-US" altLang="ko-KR" sz="1200" b="1" i="0" u="none" strike="noStrike" kern="1200" baseline="0" dirty="0">
                <a:solidFill>
                  <a:schemeClr val="tx1"/>
                </a:solidFill>
                <a:latin typeface="+mn-lt"/>
                <a:ea typeface="+mn-ea"/>
                <a:cs typeface="+mn-cs"/>
              </a:rPr>
              <a:t>Decorator Summary</a:t>
            </a:r>
          </a:p>
          <a:p>
            <a:pPr marL="628650" lvl="1"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Design Principle: Open-Closed Principle (OCP)</a:t>
            </a:r>
          </a:p>
          <a:p>
            <a:pPr marL="628650" lvl="1"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Advantages</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attaches additional responsibilities to an object dynamically</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flexible alternative to </a:t>
            </a:r>
            <a:r>
              <a:rPr lang="en-US" altLang="ko-KR" sz="1200" b="0" i="0" u="none" strike="noStrike" kern="1200" baseline="0" dirty="0" err="1">
                <a:solidFill>
                  <a:schemeClr val="tx1"/>
                </a:solidFill>
                <a:latin typeface="+mn-lt"/>
                <a:ea typeface="+mn-ea"/>
                <a:cs typeface="+mn-cs"/>
              </a:rPr>
              <a:t>subclassing</a:t>
            </a:r>
            <a:r>
              <a:rPr lang="en-US" altLang="ko-KR" sz="1200" b="0" i="0" u="none" strike="noStrike" kern="1200" baseline="0" dirty="0">
                <a:solidFill>
                  <a:schemeClr val="tx1"/>
                </a:solidFill>
                <a:latin typeface="+mn-lt"/>
                <a:ea typeface="+mn-ea"/>
                <a:cs typeface="+mn-cs"/>
              </a:rPr>
              <a:t> for extending functionality</a:t>
            </a:r>
          </a:p>
          <a:p>
            <a:pPr marL="628650" lvl="1"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Key mechanisms</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Uses object composition and delegation</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Decorator class mirrors the type of components they are decorating</a:t>
            </a:r>
          </a:p>
          <a:p>
            <a:pPr marL="1543050" lvl="3"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We can wrap a component with any number of decorators</a:t>
            </a:r>
          </a:p>
          <a:p>
            <a:pPr marL="628650" lvl="1"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Disadvantage</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can generate a lot of small classes (e.g. Java I/O)</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hard to understand if not familiar with the pattern</a:t>
            </a:r>
          </a:p>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en-US" altLang="ko-KR" sz="1200" dirty="0"/>
          </a:p>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en-US" altLang="ko-KR" sz="1200" dirty="0"/>
          </a:p>
          <a:p>
            <a:endParaRPr lang="ko-KR" altLang="en-US" dirty="0"/>
          </a:p>
        </p:txBody>
      </p:sp>
      <p:sp>
        <p:nvSpPr>
          <p:cNvPr id="4" name="슬라이드 번호 개체 틀 3">
            <a:extLst>
              <a:ext uri="{FF2B5EF4-FFF2-40B4-BE49-F238E27FC236}">
                <a16:creationId xmlns:a16="http://schemas.microsoft.com/office/drawing/2014/main" id="{F612876A-DA6A-C4E4-3578-761AF464EB93}"/>
              </a:ext>
            </a:extLst>
          </p:cNvPr>
          <p:cNvSpPr>
            <a:spLocks noGrp="1"/>
          </p:cNvSpPr>
          <p:nvPr>
            <p:ph type="sldNum" sz="quarter" idx="10"/>
          </p:nvPr>
        </p:nvSpPr>
        <p:spPr/>
        <p:txBody>
          <a:bodyPr/>
          <a:lstStyle/>
          <a:p>
            <a:fld id="{58A2678C-18E7-4230-B1D8-B77B8B4C5AF8}" type="slidenum">
              <a:rPr lang="ko-KR" altLang="en-US" smtClean="0"/>
              <a:t>93</a:t>
            </a:fld>
            <a:endParaRPr lang="ko-KR" altLang="en-US"/>
          </a:p>
        </p:txBody>
      </p:sp>
    </p:spTree>
    <p:extLst>
      <p:ext uri="{BB962C8B-B14F-4D97-AF65-F5344CB8AC3E}">
        <p14:creationId xmlns:p14="http://schemas.microsoft.com/office/powerpoint/2010/main" val="1116807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dirty="0"/>
              <a:t>구현 코드는 </a:t>
            </a:r>
            <a:r>
              <a:rPr lang="en-US" altLang="ko-KR" sz="1200" dirty="0" err="1"/>
              <a:t>headfirst.decorator.io.extended</a:t>
            </a:r>
            <a:r>
              <a:rPr lang="en-US" altLang="ko-KR" sz="1200" dirty="0"/>
              <a:t> </a:t>
            </a:r>
            <a:r>
              <a:rPr lang="ko-KR" altLang="en-US" dirty="0"/>
              <a:t>를 직접 참고할 것</a:t>
            </a:r>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98</a:t>
            </a:fld>
            <a:endParaRPr lang="ko-KR" altLang="en-US"/>
          </a:p>
        </p:txBody>
      </p:sp>
    </p:spTree>
    <p:extLst>
      <p:ext uri="{BB962C8B-B14F-4D97-AF65-F5344CB8AC3E}">
        <p14:creationId xmlns:p14="http://schemas.microsoft.com/office/powerpoint/2010/main" val="14502670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dirty="0"/>
              <a:t> Summary</a:t>
            </a:r>
          </a:p>
          <a:p>
            <a:pPr marL="628650" lvl="1" indent="-171450">
              <a:buFont typeface="Arial" panose="020B0604020202020204" pitchFamily="34" charset="0"/>
              <a:buChar char="•"/>
            </a:pPr>
            <a:r>
              <a:rPr lang="en-US" altLang="ko-KR" dirty="0"/>
              <a:t>Composite Pattern</a:t>
            </a:r>
          </a:p>
          <a:p>
            <a:pPr marL="1085850" lvl="2" indent="-171450">
              <a:buFont typeface="Arial" panose="020B0604020202020204" pitchFamily="34" charset="0"/>
              <a:buChar char="•"/>
            </a:pPr>
            <a:r>
              <a:rPr lang="en-US" altLang="ko-KR" dirty="0"/>
              <a:t>composes objects into tree structures to represent whole part hierarchies</a:t>
            </a:r>
          </a:p>
          <a:p>
            <a:pPr marL="1085850" lvl="2" indent="-171450">
              <a:buFont typeface="Arial" panose="020B0604020202020204" pitchFamily="34" charset="0"/>
              <a:buChar char="•"/>
            </a:pPr>
            <a:r>
              <a:rPr lang="en-US" altLang="ko-KR" dirty="0"/>
              <a:t>lets clients treat individual objects and compositions of objects uniformly</a:t>
            </a:r>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100</a:t>
            </a:fld>
            <a:endParaRPr lang="ko-KR" altLang="en-US"/>
          </a:p>
        </p:txBody>
      </p:sp>
    </p:spTree>
    <p:extLst>
      <p:ext uri="{BB962C8B-B14F-4D97-AF65-F5344CB8AC3E}">
        <p14:creationId xmlns:p14="http://schemas.microsoft.com/office/powerpoint/2010/main" val="5565856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dirty="0"/>
              <a:t> Summary</a:t>
            </a:r>
          </a:p>
          <a:p>
            <a:pPr marL="628650" lvl="1" indent="-171450">
              <a:buFont typeface="Arial" panose="020B0604020202020204" pitchFamily="34" charset="0"/>
              <a:buChar char="•"/>
            </a:pPr>
            <a:r>
              <a:rPr lang="en-US" altLang="ko-KR" dirty="0"/>
              <a:t>Composite Pattern</a:t>
            </a:r>
          </a:p>
          <a:p>
            <a:pPr marL="1085850" lvl="2" indent="-171450">
              <a:buFont typeface="Arial" panose="020B0604020202020204" pitchFamily="34" charset="0"/>
              <a:buChar char="•"/>
            </a:pPr>
            <a:r>
              <a:rPr lang="en-US" altLang="ko-KR" dirty="0"/>
              <a:t>composes objects into tree structures to represent whole part hierarchies</a:t>
            </a:r>
          </a:p>
          <a:p>
            <a:pPr marL="1085850" lvl="2" indent="-171450">
              <a:buFont typeface="Arial" panose="020B0604020202020204" pitchFamily="34" charset="0"/>
              <a:buChar char="•"/>
            </a:pPr>
            <a:r>
              <a:rPr lang="en-US" altLang="ko-KR" dirty="0"/>
              <a:t>lets clients treat individual objects and compositions of objects uniformly</a:t>
            </a:r>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101</a:t>
            </a:fld>
            <a:endParaRPr lang="ko-KR" altLang="en-US"/>
          </a:p>
        </p:txBody>
      </p:sp>
    </p:spTree>
    <p:extLst>
      <p:ext uri="{BB962C8B-B14F-4D97-AF65-F5344CB8AC3E}">
        <p14:creationId xmlns:p14="http://schemas.microsoft.com/office/powerpoint/2010/main" val="7629618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DE77B-59F4-F9ED-E970-F14B329A04C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A11C4A0-1BA6-C5DC-90A8-BFA015F0254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698BD2C-0C2C-8386-145C-E0D54441C504}"/>
              </a:ext>
            </a:extLst>
          </p:cNvPr>
          <p:cNvSpPr>
            <a:spLocks noGrp="1"/>
          </p:cNvSpPr>
          <p:nvPr>
            <p:ph type="body" idx="1"/>
          </p:nvPr>
        </p:nvSpPr>
        <p:spPr/>
        <p:txBody>
          <a:bodyPr/>
          <a:lstStyle/>
          <a:p>
            <a:pPr marL="171450" marR="0" lvl="0" indent="-17145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dirty="0"/>
              <a:t> Summary</a:t>
            </a:r>
          </a:p>
          <a:p>
            <a:pPr marL="628650" lvl="1" indent="-171450">
              <a:buFont typeface="Arial" panose="020B0604020202020204" pitchFamily="34" charset="0"/>
              <a:buChar char="•"/>
            </a:pPr>
            <a:r>
              <a:rPr lang="en-US" altLang="ko-KR" dirty="0"/>
              <a:t>Composite Pattern</a:t>
            </a:r>
          </a:p>
          <a:p>
            <a:pPr marL="1085850" lvl="2" indent="-171450">
              <a:buFont typeface="Arial" panose="020B0604020202020204" pitchFamily="34" charset="0"/>
              <a:buChar char="•"/>
            </a:pPr>
            <a:r>
              <a:rPr lang="en-US" altLang="ko-KR" dirty="0"/>
              <a:t>composes objects into tree structures to represent whole part hierarchies</a:t>
            </a:r>
          </a:p>
          <a:p>
            <a:pPr marL="1085850" lvl="2" indent="-171450">
              <a:buFont typeface="Arial" panose="020B0604020202020204" pitchFamily="34" charset="0"/>
              <a:buChar char="•"/>
            </a:pPr>
            <a:r>
              <a:rPr lang="en-US" altLang="ko-KR" dirty="0"/>
              <a:t>lets clients treat individual objects and compositions of objects uniformly</a:t>
            </a:r>
            <a:endParaRPr lang="ko-KR" altLang="en-US" dirty="0"/>
          </a:p>
        </p:txBody>
      </p:sp>
      <p:sp>
        <p:nvSpPr>
          <p:cNvPr id="4" name="슬라이드 번호 개체 틀 3">
            <a:extLst>
              <a:ext uri="{FF2B5EF4-FFF2-40B4-BE49-F238E27FC236}">
                <a16:creationId xmlns:a16="http://schemas.microsoft.com/office/drawing/2014/main" id="{8987975C-D773-70F4-AB04-540CDBFD1758}"/>
              </a:ext>
            </a:extLst>
          </p:cNvPr>
          <p:cNvSpPr>
            <a:spLocks noGrp="1"/>
          </p:cNvSpPr>
          <p:nvPr>
            <p:ph type="sldNum" sz="quarter" idx="10"/>
          </p:nvPr>
        </p:nvSpPr>
        <p:spPr/>
        <p:txBody>
          <a:bodyPr/>
          <a:lstStyle/>
          <a:p>
            <a:fld id="{58A2678C-18E7-4230-B1D8-B77B8B4C5AF8}" type="slidenum">
              <a:rPr lang="ko-KR" altLang="en-US" smtClean="0"/>
              <a:t>102</a:t>
            </a:fld>
            <a:endParaRPr lang="ko-KR" altLang="en-US"/>
          </a:p>
        </p:txBody>
      </p:sp>
    </p:spTree>
    <p:extLst>
      <p:ext uri="{BB962C8B-B14F-4D97-AF65-F5344CB8AC3E}">
        <p14:creationId xmlns:p14="http://schemas.microsoft.com/office/powerpoint/2010/main" val="22195116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107</a:t>
            </a:fld>
            <a:endParaRPr lang="ko-KR" altLang="en-US"/>
          </a:p>
        </p:txBody>
      </p:sp>
    </p:spTree>
    <p:extLst>
      <p:ext uri="{BB962C8B-B14F-4D97-AF65-F5344CB8AC3E}">
        <p14:creationId xmlns:p14="http://schemas.microsoft.com/office/powerpoint/2010/main" val="26657502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450"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Visitor Pattern Summary</a:t>
            </a:r>
          </a:p>
          <a:p>
            <a:pPr marL="628650" lvl="1"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The Visitor Design Pattern</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 makes adding new operations easy</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 gathers related operations and separates unrelated ones</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 adding new </a:t>
            </a:r>
            <a:r>
              <a:rPr lang="en-US" altLang="ko-KR" sz="1200" b="0" i="0" u="none" strike="noStrike" kern="1200" baseline="0" dirty="0" err="1">
                <a:solidFill>
                  <a:schemeClr val="tx1"/>
                </a:solidFill>
                <a:latin typeface="+mn-lt"/>
                <a:ea typeface="+mn-ea"/>
                <a:cs typeface="+mn-cs"/>
              </a:rPr>
              <a:t>ConcreteElementclasses</a:t>
            </a:r>
            <a:r>
              <a:rPr lang="en-US" altLang="ko-KR" sz="1200" b="0" i="0" u="none" strike="noStrike" kern="1200" baseline="0" dirty="0">
                <a:solidFill>
                  <a:schemeClr val="tx1"/>
                </a:solidFill>
                <a:latin typeface="+mn-lt"/>
                <a:ea typeface="+mn-ea"/>
                <a:cs typeface="+mn-cs"/>
              </a:rPr>
              <a:t> is hard</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 Breaks encapsulation</a:t>
            </a:r>
          </a:p>
          <a:p>
            <a:pPr marL="628650" lvl="1"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Implementation Issues</a:t>
            </a:r>
          </a:p>
          <a:p>
            <a:pPr marL="1085850" lvl="2" indent="-171450">
              <a:buFont typeface="Arial" panose="020B0604020202020204" pitchFamily="34" charset="0"/>
              <a:buChar char="•"/>
            </a:pPr>
            <a:r>
              <a:rPr lang="en-US" altLang="ko-KR" sz="1200" b="0" i="0" u="none" strike="noStrike" kern="1200" baseline="0" dirty="0">
                <a:solidFill>
                  <a:schemeClr val="tx1"/>
                </a:solidFill>
                <a:latin typeface="+mn-lt"/>
                <a:ea typeface="+mn-ea"/>
                <a:cs typeface="+mn-cs"/>
              </a:rPr>
              <a:t>Who is responsible for traversing the object structure?</a:t>
            </a:r>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110</a:t>
            </a:fld>
            <a:endParaRPr lang="ko-KR" altLang="en-US"/>
          </a:p>
        </p:txBody>
      </p:sp>
    </p:spTree>
    <p:extLst>
      <p:ext uri="{BB962C8B-B14F-4D97-AF65-F5344CB8AC3E}">
        <p14:creationId xmlns:p14="http://schemas.microsoft.com/office/powerpoint/2010/main" val="34901993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450" indent="-171450">
              <a:buFont typeface="Arial" panose="020B0604020202020204" pitchFamily="34" charset="0"/>
              <a:buChar char="•"/>
            </a:pPr>
            <a:r>
              <a:rPr lang="en-US" altLang="ko-KR" sz="1200" dirty="0"/>
              <a:t>Practice 3</a:t>
            </a:r>
            <a:r>
              <a:rPr lang="ko-KR" altLang="en-US" sz="1200" dirty="0"/>
              <a:t>의 경우 </a:t>
            </a:r>
            <a:r>
              <a:rPr lang="en-US" altLang="ko-KR" sz="1200" dirty="0"/>
              <a:t>Visitor </a:t>
            </a:r>
            <a:r>
              <a:rPr lang="ko-KR" altLang="en-US" sz="1200" dirty="0"/>
              <a:t>패턴의 대상인 </a:t>
            </a:r>
            <a:r>
              <a:rPr lang="en-US" altLang="ko-KR" sz="1200" dirty="0"/>
              <a:t>File System</a:t>
            </a:r>
            <a:r>
              <a:rPr lang="ko-KR" altLang="en-US" sz="1200" dirty="0"/>
              <a:t>의 구조가 </a:t>
            </a:r>
            <a:r>
              <a:rPr lang="en-US" altLang="ko-KR" sz="1200" dirty="0"/>
              <a:t>Composite Pattern</a:t>
            </a:r>
            <a:r>
              <a:rPr lang="ko-KR" altLang="en-US" sz="1200" dirty="0"/>
              <a:t>으로 표현되어 있는 것을 </a:t>
            </a:r>
            <a:r>
              <a:rPr lang="ko-KR" altLang="en-US" sz="1200" dirty="0" err="1"/>
              <a:t>리마인드</a:t>
            </a:r>
            <a:r>
              <a:rPr lang="ko-KR" altLang="en-US" sz="1200" dirty="0"/>
              <a:t> 해주시면 좋겠습니다</a:t>
            </a:r>
            <a:r>
              <a:rPr lang="en-US" altLang="ko-KR" sz="1200" dirty="0"/>
              <a:t>. </a:t>
            </a:r>
          </a:p>
          <a:p>
            <a:pPr marL="171450" indent="-171450">
              <a:buFont typeface="Arial" panose="020B0604020202020204" pitchFamily="34" charset="0"/>
              <a:buChar char="•"/>
            </a:pPr>
            <a:r>
              <a:rPr lang="ko-KR" altLang="en-US" dirty="0"/>
              <a:t>또한 애초의 소스 코드가 </a:t>
            </a:r>
            <a:r>
              <a:rPr lang="en-US" altLang="ko-KR" dirty="0"/>
              <a:t>Composite Pattern</a:t>
            </a:r>
            <a:r>
              <a:rPr lang="ko-KR" altLang="en-US" dirty="0"/>
              <a:t>의 특성을 잘 활용해서</a:t>
            </a:r>
            <a:r>
              <a:rPr lang="en-US" altLang="ko-KR" dirty="0"/>
              <a:t>, </a:t>
            </a:r>
            <a:r>
              <a:rPr lang="ko-KR" altLang="en-US" dirty="0"/>
              <a:t>지금 다루고 있는 대상이 </a:t>
            </a:r>
            <a:r>
              <a:rPr lang="en-US" altLang="ko-KR" dirty="0"/>
              <a:t>directory </a:t>
            </a:r>
            <a:r>
              <a:rPr lang="ko-KR" altLang="en-US" dirty="0"/>
              <a:t>인지 </a:t>
            </a:r>
            <a:r>
              <a:rPr lang="en-US" altLang="ko-KR" dirty="0"/>
              <a:t>file </a:t>
            </a:r>
            <a:r>
              <a:rPr lang="ko-KR" altLang="en-US" dirty="0"/>
              <a:t>인지 구분하지 않고 추상화된 </a:t>
            </a:r>
            <a:r>
              <a:rPr lang="en-US" altLang="ko-KR" dirty="0"/>
              <a:t>component (</a:t>
            </a:r>
            <a:r>
              <a:rPr lang="ko-KR" altLang="en-US" dirty="0"/>
              <a:t>혹은 </a:t>
            </a:r>
            <a:r>
              <a:rPr lang="en-US" altLang="ko-KR" dirty="0"/>
              <a:t>element </a:t>
            </a:r>
            <a:r>
              <a:rPr lang="ko-KR" altLang="en-US" dirty="0"/>
              <a:t>클래스</a:t>
            </a:r>
            <a:r>
              <a:rPr lang="en-US" altLang="ko-KR" dirty="0"/>
              <a:t>) </a:t>
            </a:r>
            <a:r>
              <a:rPr lang="ko-KR" altLang="en-US" dirty="0"/>
              <a:t>수준에서 다뤄지는 모습도 강조해주시면 좋을 것으로 보입니다</a:t>
            </a:r>
            <a:r>
              <a:rPr lang="en-US" altLang="ko-KR" dirty="0"/>
              <a:t>.</a:t>
            </a:r>
          </a:p>
          <a:p>
            <a:pPr marL="171450" indent="-171450">
              <a:buFont typeface="Arial" panose="020B0604020202020204" pitchFamily="34" charset="0"/>
              <a:buChar char="•"/>
            </a:pPr>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115</a:t>
            </a:fld>
            <a:endParaRPr lang="ko-KR" altLang="en-US"/>
          </a:p>
        </p:txBody>
      </p:sp>
    </p:spTree>
    <p:extLst>
      <p:ext uri="{BB962C8B-B14F-4D97-AF65-F5344CB8AC3E}">
        <p14:creationId xmlns:p14="http://schemas.microsoft.com/office/powerpoint/2010/main" val="17713099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450" indent="-171450">
              <a:buFont typeface="Arial" panose="020B0604020202020204" pitchFamily="34" charset="0"/>
              <a:buChar char="•"/>
            </a:pPr>
            <a:r>
              <a:rPr lang="en-US" altLang="ko-KR" sz="1200" dirty="0"/>
              <a:t>Practice 3</a:t>
            </a:r>
            <a:r>
              <a:rPr lang="ko-KR" altLang="en-US" sz="1200" dirty="0"/>
              <a:t>의 경우 </a:t>
            </a:r>
            <a:r>
              <a:rPr lang="en-US" altLang="ko-KR" sz="1200" dirty="0"/>
              <a:t>Visitor </a:t>
            </a:r>
            <a:r>
              <a:rPr lang="ko-KR" altLang="en-US" sz="1200" dirty="0"/>
              <a:t>패턴의 대상인 </a:t>
            </a:r>
            <a:r>
              <a:rPr lang="en-US" altLang="ko-KR" sz="1200" dirty="0"/>
              <a:t>File System</a:t>
            </a:r>
            <a:r>
              <a:rPr lang="ko-KR" altLang="en-US" sz="1200" dirty="0"/>
              <a:t>의 구조가 </a:t>
            </a:r>
            <a:r>
              <a:rPr lang="en-US" altLang="ko-KR" sz="1200" dirty="0"/>
              <a:t>Composite Pattern</a:t>
            </a:r>
            <a:r>
              <a:rPr lang="ko-KR" altLang="en-US" sz="1200" dirty="0"/>
              <a:t>으로 표현되어 있는 것을 </a:t>
            </a:r>
            <a:r>
              <a:rPr lang="ko-KR" altLang="en-US" sz="1200" dirty="0" err="1"/>
              <a:t>리마인드</a:t>
            </a:r>
            <a:r>
              <a:rPr lang="ko-KR" altLang="en-US" sz="1200" dirty="0"/>
              <a:t> 해주시면 좋겠습니다</a:t>
            </a:r>
            <a:r>
              <a:rPr lang="en-US" altLang="ko-KR" sz="1200" dirty="0"/>
              <a:t>. </a:t>
            </a:r>
          </a:p>
          <a:p>
            <a:pPr marL="171450" indent="-171450">
              <a:buFont typeface="Arial" panose="020B0604020202020204" pitchFamily="34" charset="0"/>
              <a:buChar char="•"/>
            </a:pPr>
            <a:r>
              <a:rPr lang="ko-KR" altLang="en-US" dirty="0"/>
              <a:t>또한 애초의 소스 코드가 </a:t>
            </a:r>
            <a:r>
              <a:rPr lang="en-US" altLang="ko-KR" dirty="0"/>
              <a:t>Composite Pattern</a:t>
            </a:r>
            <a:r>
              <a:rPr lang="ko-KR" altLang="en-US" dirty="0"/>
              <a:t>의 특성을 잘 활용해서</a:t>
            </a:r>
            <a:r>
              <a:rPr lang="en-US" altLang="ko-KR" dirty="0"/>
              <a:t>, </a:t>
            </a:r>
            <a:r>
              <a:rPr lang="ko-KR" altLang="en-US" dirty="0"/>
              <a:t>지금 다루고 있는 대상이 </a:t>
            </a:r>
            <a:r>
              <a:rPr lang="en-US" altLang="ko-KR" dirty="0"/>
              <a:t>directory </a:t>
            </a:r>
            <a:r>
              <a:rPr lang="ko-KR" altLang="en-US" dirty="0"/>
              <a:t>인지 </a:t>
            </a:r>
            <a:r>
              <a:rPr lang="en-US" altLang="ko-KR" dirty="0"/>
              <a:t>file </a:t>
            </a:r>
            <a:r>
              <a:rPr lang="ko-KR" altLang="en-US" dirty="0"/>
              <a:t>인지 구분하지 않고 추상화된 </a:t>
            </a:r>
            <a:r>
              <a:rPr lang="en-US" altLang="ko-KR" dirty="0"/>
              <a:t>component (</a:t>
            </a:r>
            <a:r>
              <a:rPr lang="ko-KR" altLang="en-US" dirty="0"/>
              <a:t>혹은 </a:t>
            </a:r>
            <a:r>
              <a:rPr lang="en-US" altLang="ko-KR" dirty="0"/>
              <a:t>element </a:t>
            </a:r>
            <a:r>
              <a:rPr lang="ko-KR" altLang="en-US" dirty="0"/>
              <a:t>클래스</a:t>
            </a:r>
            <a:r>
              <a:rPr lang="en-US" altLang="ko-KR" dirty="0"/>
              <a:t>) </a:t>
            </a:r>
            <a:r>
              <a:rPr lang="ko-KR" altLang="en-US" dirty="0"/>
              <a:t>수준에서 다뤄지는 모습도 강조해주시면 좋을 것으로 보입니다</a:t>
            </a:r>
            <a:r>
              <a:rPr lang="en-US" altLang="ko-KR" dirty="0"/>
              <a:t>.</a:t>
            </a:r>
          </a:p>
          <a:p>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116</a:t>
            </a:fld>
            <a:endParaRPr lang="ko-KR" altLang="en-US"/>
          </a:p>
        </p:txBody>
      </p:sp>
    </p:spTree>
    <p:extLst>
      <p:ext uri="{BB962C8B-B14F-4D97-AF65-F5344CB8AC3E}">
        <p14:creationId xmlns:p14="http://schemas.microsoft.com/office/powerpoint/2010/main" val="1440101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58A2678C-18E7-4230-B1D8-B77B8B4C5AF8}" type="slidenum">
              <a:rPr lang="ko-KR" altLang="en-US" smtClean="0"/>
              <a:t>121</a:t>
            </a:fld>
            <a:endParaRPr lang="ko-KR" altLang="en-US"/>
          </a:p>
        </p:txBody>
      </p:sp>
    </p:spTree>
    <p:extLst>
      <p:ext uri="{BB962C8B-B14F-4D97-AF65-F5344CB8AC3E}">
        <p14:creationId xmlns:p14="http://schemas.microsoft.com/office/powerpoint/2010/main" val="22732202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8446"/>
          </a:xfrm>
          <a:prstGeom prst="rect">
            <a:avLst/>
          </a:prstGeom>
        </p:spPr>
      </p:pic>
      <p:sp>
        <p:nvSpPr>
          <p:cNvPr id="14" name="제목 1"/>
          <p:cNvSpPr>
            <a:spLocks noGrp="1"/>
          </p:cNvSpPr>
          <p:nvPr>
            <p:ph type="title"/>
          </p:nvPr>
        </p:nvSpPr>
        <p:spPr>
          <a:xfrm>
            <a:off x="676386" y="2005191"/>
            <a:ext cx="7772400" cy="714003"/>
          </a:xfrm>
          <a:prstGeom prst="rect">
            <a:avLst/>
          </a:prstGeom>
        </p:spPr>
        <p:txBody>
          <a:bodyPr anchor="t">
            <a:noAutofit/>
          </a:bodyPr>
          <a:lstStyle>
            <a:lvl1pPr algn="ctr">
              <a:defRPr sz="4600" b="1" cap="all" spc="-150">
                <a:ln>
                  <a:noFill/>
                </a:ln>
                <a:solidFill>
                  <a:schemeClr val="bg1"/>
                </a:solidFill>
                <a:latin typeface="맑은 고딕" panose="020B0503020000020004" pitchFamily="50" charset="-127"/>
                <a:ea typeface="맑은 고딕" panose="020B0503020000020004" pitchFamily="50" charset="-127"/>
              </a:defRPr>
            </a:lvl1pPr>
          </a:lstStyle>
          <a:p>
            <a:r>
              <a:rPr lang="ko-KR" altLang="en-US" dirty="0"/>
              <a:t>마스터 제목 스타일 편집</a:t>
            </a:r>
          </a:p>
        </p:txBody>
      </p:sp>
      <p:sp>
        <p:nvSpPr>
          <p:cNvPr id="15" name="텍스트 개체 틀 2"/>
          <p:cNvSpPr>
            <a:spLocks noGrp="1"/>
          </p:cNvSpPr>
          <p:nvPr>
            <p:ph type="body" idx="1"/>
          </p:nvPr>
        </p:nvSpPr>
        <p:spPr>
          <a:xfrm>
            <a:off x="676386" y="1493150"/>
            <a:ext cx="7772400" cy="492075"/>
          </a:xfrm>
          <a:prstGeom prst="rect">
            <a:avLst/>
          </a:prstGeom>
        </p:spPr>
        <p:txBody>
          <a:bodyPr anchor="b">
            <a:noAutofit/>
          </a:bodyPr>
          <a:lstStyle>
            <a:lvl1pPr marL="0" indent="0" algn="ctr">
              <a:buNone/>
              <a:defRPr sz="2400">
                <a:ln>
                  <a:solidFill>
                    <a:srgbClr val="4156BD">
                      <a:alpha val="5000"/>
                    </a:srgbClr>
                  </a:solidFill>
                </a:ln>
                <a:solidFill>
                  <a:schemeClr val="bg1"/>
                </a:solidFill>
                <a:latin typeface="맑은 고딕" panose="020B0503020000020004" pitchFamily="50" charset="-127"/>
                <a:ea typeface="맑은 고딕" panose="020B0503020000020004" pitchFamily="50" charset="-127"/>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dirty="0"/>
              <a:t>마스터 텍스트 스타일을 편집합니다</a:t>
            </a:r>
          </a:p>
        </p:txBody>
      </p:sp>
      <p:sp>
        <p:nvSpPr>
          <p:cNvPr id="16" name="텍스트 개체 틀 2"/>
          <p:cNvSpPr>
            <a:spLocks noGrp="1"/>
          </p:cNvSpPr>
          <p:nvPr>
            <p:ph type="body" idx="12"/>
          </p:nvPr>
        </p:nvSpPr>
        <p:spPr>
          <a:xfrm>
            <a:off x="2575244" y="2787774"/>
            <a:ext cx="3888432" cy="432048"/>
          </a:xfrm>
          <a:prstGeom prst="rect">
            <a:avLst/>
          </a:prstGeom>
        </p:spPr>
        <p:txBody>
          <a:bodyPr anchor="b">
            <a:noAutofit/>
          </a:bodyPr>
          <a:lstStyle>
            <a:lvl1pPr marL="0" indent="0" algn="ctr">
              <a:buNone/>
              <a:defRPr lang="ko-KR" altLang="en-US" sz="1800" kern="1200" dirty="0" smtClean="0">
                <a:ln>
                  <a:solidFill>
                    <a:srgbClr val="4156BD">
                      <a:alpha val="5000"/>
                    </a:srgbClr>
                  </a:solidFill>
                </a:ln>
                <a:solidFill>
                  <a:srgbClr val="00FFFF"/>
                </a:solidFill>
                <a:latin typeface="맑은 고딕" panose="020B0503020000020004" pitchFamily="50" charset="-127"/>
                <a:ea typeface="맑은 고딕" panose="020B0503020000020004" pitchFamily="50" charset="-127"/>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ctr" defTabSz="914400" rtl="0" eaLnBrk="1" latinLnBrk="1" hangingPunct="1">
              <a:spcBef>
                <a:spcPct val="20000"/>
              </a:spcBef>
              <a:buFont typeface="Arial" panose="020B0604020202020204" pitchFamily="34" charset="0"/>
              <a:buNone/>
            </a:pPr>
            <a:r>
              <a:rPr lang="ko-KR" altLang="en-US" dirty="0"/>
              <a:t>마스터 텍스트 스타일을 편집합니다</a:t>
            </a:r>
          </a:p>
        </p:txBody>
      </p:sp>
      <p:pic>
        <p:nvPicPr>
          <p:cNvPr id="17" name="그림 1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081516" y="4639216"/>
            <a:ext cx="980969" cy="211582"/>
          </a:xfrm>
          <a:prstGeom prst="rect">
            <a:avLst/>
          </a:prstGeom>
        </p:spPr>
      </p:pic>
    </p:spTree>
    <p:extLst>
      <p:ext uri="{BB962C8B-B14F-4D97-AF65-F5344CB8AC3E}">
        <p14:creationId xmlns:p14="http://schemas.microsoft.com/office/powerpoint/2010/main" val="2351667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 및 내용">
    <p:bg>
      <p:bgPr>
        <a:solidFill>
          <a:srgbClr val="525780"/>
        </a:solidFill>
        <a:effectLst/>
      </p:bgPr>
    </p:bg>
    <p:spTree>
      <p:nvGrpSpPr>
        <p:cNvPr id="1" name=""/>
        <p:cNvGrpSpPr/>
        <p:nvPr/>
      </p:nvGrpSpPr>
      <p:grpSpPr>
        <a:xfrm>
          <a:off x="0" y="0"/>
          <a:ext cx="0" cy="0"/>
          <a:chOff x="0" y="0"/>
          <a:chExt cx="0" cy="0"/>
        </a:xfrm>
      </p:grpSpPr>
      <p:pic>
        <p:nvPicPr>
          <p:cNvPr id="6" name="그림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제목 1"/>
          <p:cNvSpPr>
            <a:spLocks noGrp="1"/>
          </p:cNvSpPr>
          <p:nvPr>
            <p:ph type="title"/>
          </p:nvPr>
        </p:nvSpPr>
        <p:spPr>
          <a:xfrm>
            <a:off x="1977070" y="420458"/>
            <a:ext cx="5231360" cy="720080"/>
          </a:xfrm>
          <a:prstGeom prst="rect">
            <a:avLst/>
          </a:prstGeom>
        </p:spPr>
        <p:txBody>
          <a:bodyPr>
            <a:noAutofit/>
          </a:bodyPr>
          <a:lstStyle>
            <a:lvl1pPr algn="l">
              <a:defRPr lang="ko-KR" altLang="en-US" sz="3600" b="0" kern="1200" spc="-100" baseline="0" dirty="0">
                <a:ln>
                  <a:noFill/>
                </a:ln>
                <a:solidFill>
                  <a:schemeClr val="bg1"/>
                </a:solidFill>
                <a:latin typeface="+mj-ea"/>
                <a:ea typeface="+mj-ea"/>
                <a:cs typeface="Arial" panose="020B0604020202020204" pitchFamily="34" charset="0"/>
              </a:defRPr>
            </a:lvl1pPr>
          </a:lstStyle>
          <a:p>
            <a:pPr lvl="0" algn="l" defTabSz="759272" rtl="0" eaLnBrk="1" latinLnBrk="1" hangingPunct="1">
              <a:lnSpc>
                <a:spcPct val="100000"/>
              </a:lnSpc>
              <a:spcBef>
                <a:spcPct val="0"/>
              </a:spcBef>
              <a:buNone/>
            </a:pPr>
            <a:r>
              <a:rPr lang="ko-KR" altLang="en-US" dirty="0"/>
              <a:t>마스터 제목 스타일 편집</a:t>
            </a:r>
          </a:p>
        </p:txBody>
      </p:sp>
      <p:sp>
        <p:nvSpPr>
          <p:cNvPr id="10" name="내용 개체 틀 2"/>
          <p:cNvSpPr>
            <a:spLocks noGrp="1"/>
          </p:cNvSpPr>
          <p:nvPr>
            <p:ph idx="1"/>
          </p:nvPr>
        </p:nvSpPr>
        <p:spPr>
          <a:xfrm>
            <a:off x="611560" y="1635646"/>
            <a:ext cx="7560840" cy="3097654"/>
          </a:xfrm>
          <a:prstGeom prst="rect">
            <a:avLst/>
          </a:prstGeom>
        </p:spPr>
        <p:txBody>
          <a:bodyPr/>
          <a:lstStyle>
            <a:lvl1pPr marL="361950" indent="-252000">
              <a:lnSpc>
                <a:spcPct val="130000"/>
              </a:lnSpc>
              <a:buClr>
                <a:schemeClr val="accent1"/>
              </a:buClr>
              <a:buSzPct val="100000"/>
              <a:buFont typeface="+mj-lt"/>
              <a:buAutoNum type="arabicPeriod"/>
              <a:defRPr sz="2000" b="1" spc="-120" baseline="0">
                <a:latin typeface="맑은 고딕" panose="020B0503020000020004" pitchFamily="50" charset="-127"/>
                <a:ea typeface="맑은 고딕" panose="020B0503020000020004" pitchFamily="50" charset="-127"/>
              </a:defRPr>
            </a:lvl1pPr>
            <a:lvl2pPr marL="714375" indent="-252000">
              <a:lnSpc>
                <a:spcPct val="130000"/>
              </a:lnSpc>
              <a:buClr>
                <a:schemeClr val="accent1"/>
              </a:buClr>
              <a:buSzPct val="100000"/>
              <a:buFont typeface="+mj-lt"/>
              <a:buAutoNum type="arabicPeriod"/>
              <a:defRPr sz="1600" spc="-120" baseline="0">
                <a:solidFill>
                  <a:srgbClr val="1E1E2A"/>
                </a:solidFill>
                <a:latin typeface="맑은 고딕" panose="020B0503020000020004" pitchFamily="50" charset="-127"/>
                <a:ea typeface="맑은 고딕" panose="020B0503020000020004" pitchFamily="50" charset="-127"/>
              </a:defRPr>
            </a:lvl2pPr>
            <a:lvl3pPr marL="1076325" indent="-252000">
              <a:lnSpc>
                <a:spcPct val="130000"/>
              </a:lnSpc>
              <a:buClr>
                <a:schemeClr val="accent1"/>
              </a:buClr>
              <a:buSzPct val="100000"/>
              <a:buFont typeface="+mj-lt"/>
              <a:buAutoNum type="arabicPeriod"/>
              <a:defRPr sz="1400" spc="-120" baseline="0">
                <a:solidFill>
                  <a:srgbClr val="1E1E2A"/>
                </a:solidFill>
                <a:latin typeface="맑은 고딕" panose="020B0503020000020004" pitchFamily="50" charset="-127"/>
                <a:ea typeface="맑은 고딕" panose="020B0503020000020004" pitchFamily="50" charset="-127"/>
              </a:defRPr>
            </a:lvl3pPr>
            <a:lvl4pPr marL="1343025" indent="-266700">
              <a:lnSpc>
                <a:spcPct val="130000"/>
              </a:lnSpc>
              <a:buFont typeface="+mj-lt"/>
              <a:buAutoNum type="arabicPeriod"/>
              <a:defRPr sz="1200">
                <a:latin typeface="맑은 고딕" panose="020B0503020000020004" pitchFamily="50" charset="-127"/>
                <a:ea typeface="맑은 고딕" panose="020B0503020000020004" pitchFamily="50" charset="-127"/>
              </a:defRPr>
            </a:lvl4pPr>
            <a:lvl5pPr marL="1619250" indent="-276225">
              <a:lnSpc>
                <a:spcPct val="130000"/>
              </a:lnSpc>
              <a:buFont typeface="+mj-lt"/>
              <a:buAutoNum type="arabicPeriod"/>
              <a:defRPr sz="1000">
                <a:latin typeface="맑은 고딕" panose="020B0503020000020004" pitchFamily="50" charset="-127"/>
                <a:ea typeface="맑은 고딕" panose="020B0503020000020004"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p:txBody>
      </p:sp>
      <p:sp>
        <p:nvSpPr>
          <p:cNvPr id="12" name="슬라이드 번호 개체 틀 2"/>
          <p:cNvSpPr>
            <a:spLocks noGrp="1"/>
          </p:cNvSpPr>
          <p:nvPr>
            <p:ph type="sldNum" sz="quarter" idx="4"/>
          </p:nvPr>
        </p:nvSpPr>
        <p:spPr>
          <a:xfrm>
            <a:off x="3772452" y="4921727"/>
            <a:ext cx="1440000" cy="208404"/>
          </a:xfrm>
          <a:prstGeom prst="rect">
            <a:avLst/>
          </a:prstGeom>
        </p:spPr>
        <p:txBody>
          <a:bodyPr/>
          <a:lstStyle>
            <a:lvl1pPr marL="0" algn="ctr" defTabSz="914400" rtl="0" eaLnBrk="1" latinLnBrk="1" hangingPunct="1">
              <a:defRPr lang="ko-KR" altLang="en-US" sz="1300" kern="1200" smtClean="0">
                <a:solidFill>
                  <a:schemeClr val="bg1"/>
                </a:solidFill>
                <a:latin typeface="샘물체" pitchFamily="18" charset="-127"/>
                <a:ea typeface="샘물체" pitchFamily="18" charset="-127"/>
                <a:cs typeface="+mn-cs"/>
              </a:defRPr>
            </a:lvl1pPr>
          </a:lstStyle>
          <a:p>
            <a:fld id="{AF33F0E2-3294-4740-8E22-F3EF5A8BEBAB}" type="slidenum">
              <a:rPr lang="en-US" altLang="ko-KR" smtClean="0"/>
              <a:pPr/>
              <a:t>‹#›</a:t>
            </a:fld>
            <a:endParaRPr lang="en-US" altLang="ko-KR" dirty="0"/>
          </a:p>
        </p:txBody>
      </p:sp>
    </p:spTree>
    <p:extLst>
      <p:ext uri="{BB962C8B-B14F-4D97-AF65-F5344CB8AC3E}">
        <p14:creationId xmlns:p14="http://schemas.microsoft.com/office/powerpoint/2010/main" val="597602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6570"/>
          </a:xfrm>
          <a:prstGeom prst="rect">
            <a:avLst/>
          </a:prstGeom>
        </p:spPr>
      </p:pic>
      <p:sp>
        <p:nvSpPr>
          <p:cNvPr id="8" name="슬라이드 번호 개체 틀 2"/>
          <p:cNvSpPr>
            <a:spLocks noGrp="1"/>
          </p:cNvSpPr>
          <p:nvPr>
            <p:ph type="sldNum" sz="quarter" idx="4"/>
          </p:nvPr>
        </p:nvSpPr>
        <p:spPr>
          <a:xfrm>
            <a:off x="3772452" y="4921727"/>
            <a:ext cx="1440000" cy="208404"/>
          </a:xfrm>
          <a:prstGeom prst="rect">
            <a:avLst/>
          </a:prstGeom>
        </p:spPr>
        <p:txBody>
          <a:bodyPr/>
          <a:lstStyle>
            <a:lvl1pPr marL="0" algn="ctr" defTabSz="914400" rtl="0" eaLnBrk="1" latinLnBrk="1" hangingPunct="1">
              <a:defRPr lang="ko-KR" altLang="en-US" sz="1300" kern="1200" smtClean="0">
                <a:solidFill>
                  <a:schemeClr val="bg1">
                    <a:lumMod val="50000"/>
                  </a:schemeClr>
                </a:solidFill>
                <a:latin typeface="샘물체" pitchFamily="18" charset="-127"/>
                <a:ea typeface="샘물체" pitchFamily="18" charset="-127"/>
                <a:cs typeface="+mn-cs"/>
              </a:defRPr>
            </a:lvl1pPr>
          </a:lstStyle>
          <a:p>
            <a:fld id="{AF33F0E2-3294-4740-8E22-F3EF5A8BEBAB}" type="slidenum">
              <a:rPr lang="en-US" altLang="ko-KR" smtClean="0"/>
              <a:pPr/>
              <a:t>‹#›</a:t>
            </a:fld>
            <a:endParaRPr lang="en-US" altLang="ko-KR" dirty="0"/>
          </a:p>
        </p:txBody>
      </p:sp>
      <p:sp>
        <p:nvSpPr>
          <p:cNvPr id="7" name="제목 1"/>
          <p:cNvSpPr>
            <a:spLocks noGrp="1"/>
          </p:cNvSpPr>
          <p:nvPr>
            <p:ph type="title"/>
          </p:nvPr>
        </p:nvSpPr>
        <p:spPr>
          <a:xfrm>
            <a:off x="2928428" y="1821831"/>
            <a:ext cx="4492362" cy="533895"/>
          </a:xfrm>
          <a:prstGeom prst="rect">
            <a:avLst/>
          </a:prstGeom>
        </p:spPr>
        <p:txBody>
          <a:bodyPr vert="horz" lIns="75927" tIns="37964" rIns="75927" bIns="37964" rtlCol="0" anchor="ctr">
            <a:noAutofit/>
          </a:bodyPr>
          <a:lstStyle>
            <a:lvl1pPr algn="l">
              <a:defRPr lang="ko-KR" altLang="en-US" sz="3200" b="1" spc="-100" baseline="0" dirty="0">
                <a:ln>
                  <a:solidFill>
                    <a:srgbClr val="2A2D72">
                      <a:alpha val="5000"/>
                    </a:srgbClr>
                  </a:solidFill>
                </a:ln>
                <a:solidFill>
                  <a:srgbClr val="002060"/>
                </a:solidFill>
                <a:latin typeface="+mj-ea"/>
                <a:cs typeface="Arial" panose="020B0604020202020204" pitchFamily="34" charset="0"/>
              </a:defRPr>
            </a:lvl1pPr>
          </a:lstStyle>
          <a:p>
            <a:pPr lvl="0" algn="l" defTabSz="759272">
              <a:lnSpc>
                <a:spcPct val="100000"/>
              </a:lnSpc>
            </a:pPr>
            <a:r>
              <a:rPr lang="ko-KR" altLang="en-US" dirty="0"/>
              <a:t>마스터 제목 스타일 편집</a:t>
            </a:r>
          </a:p>
        </p:txBody>
      </p:sp>
    </p:spTree>
    <p:extLst>
      <p:ext uri="{BB962C8B-B14F-4D97-AF65-F5344CB8AC3E}">
        <p14:creationId xmlns:p14="http://schemas.microsoft.com/office/powerpoint/2010/main" val="249813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사용자 지정 레이아웃">
    <p:spTree>
      <p:nvGrpSpPr>
        <p:cNvPr id="1" name=""/>
        <p:cNvGrpSpPr/>
        <p:nvPr/>
      </p:nvGrpSpPr>
      <p:grpSpPr>
        <a:xfrm>
          <a:off x="0" y="0"/>
          <a:ext cx="0" cy="0"/>
          <a:chOff x="0" y="0"/>
          <a:chExt cx="0" cy="0"/>
        </a:xfrm>
      </p:grpSpPr>
      <p:pic>
        <p:nvPicPr>
          <p:cNvPr id="8" name="그림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제목 1"/>
          <p:cNvSpPr>
            <a:spLocks noGrp="1"/>
          </p:cNvSpPr>
          <p:nvPr>
            <p:ph type="title"/>
          </p:nvPr>
        </p:nvSpPr>
        <p:spPr>
          <a:xfrm>
            <a:off x="356400" y="-1229"/>
            <a:ext cx="8430220" cy="531531"/>
          </a:xfrm>
          <a:prstGeom prst="rect">
            <a:avLst/>
          </a:prstGeom>
        </p:spPr>
        <p:txBody>
          <a:bodyPr vert="horz" lIns="75927" tIns="37964" rIns="75927" bIns="37964" rtlCol="0" anchor="ctr">
            <a:normAutofit/>
          </a:bodyPr>
          <a:lstStyle>
            <a:lvl1pPr algn="l">
              <a:defRPr lang="ko-KR" altLang="en-US" sz="2200" b="1" spc="-100" baseline="0" dirty="0">
                <a:ln>
                  <a:solidFill>
                    <a:srgbClr val="2A2D72">
                      <a:alpha val="5000"/>
                    </a:srgbClr>
                  </a:solidFill>
                </a:ln>
                <a:solidFill>
                  <a:schemeClr val="bg1"/>
                </a:solidFill>
                <a:latin typeface="+mj-ea"/>
                <a:cs typeface="Arial" panose="020B0604020202020204" pitchFamily="34" charset="0"/>
              </a:defRPr>
            </a:lvl1pPr>
          </a:lstStyle>
          <a:p>
            <a:pPr lvl="0" algn="l" defTabSz="759272">
              <a:lnSpc>
                <a:spcPct val="100000"/>
              </a:lnSpc>
            </a:pPr>
            <a:r>
              <a:rPr lang="ko-KR" altLang="en-US" dirty="0"/>
              <a:t>마스터 제목 스타일 편집</a:t>
            </a:r>
          </a:p>
        </p:txBody>
      </p:sp>
      <p:sp>
        <p:nvSpPr>
          <p:cNvPr id="10" name="슬라이드 번호 개체 틀 2"/>
          <p:cNvSpPr>
            <a:spLocks noGrp="1"/>
          </p:cNvSpPr>
          <p:nvPr>
            <p:ph type="sldNum" sz="quarter" idx="4"/>
          </p:nvPr>
        </p:nvSpPr>
        <p:spPr>
          <a:xfrm>
            <a:off x="3772452" y="4921727"/>
            <a:ext cx="1440000" cy="208404"/>
          </a:xfrm>
          <a:prstGeom prst="rect">
            <a:avLst/>
          </a:prstGeom>
        </p:spPr>
        <p:txBody>
          <a:bodyPr/>
          <a:lstStyle>
            <a:lvl1pPr marL="0" algn="ctr" defTabSz="914400" rtl="0" eaLnBrk="1" latinLnBrk="1" hangingPunct="1">
              <a:defRPr lang="ko-KR" altLang="en-US" sz="1300" kern="1200" smtClean="0">
                <a:solidFill>
                  <a:schemeClr val="bg1">
                    <a:lumMod val="50000"/>
                  </a:schemeClr>
                </a:solidFill>
                <a:latin typeface="샘물체" pitchFamily="18" charset="-127"/>
                <a:ea typeface="샘물체" pitchFamily="18" charset="-127"/>
                <a:cs typeface="+mn-cs"/>
              </a:defRPr>
            </a:lvl1pPr>
          </a:lstStyle>
          <a:p>
            <a:fld id="{AF33F0E2-3294-4740-8E22-F3EF5A8BEBAB}" type="slidenum">
              <a:rPr lang="en-US" altLang="ko-KR" smtClean="0"/>
              <a:pPr/>
              <a:t>‹#›</a:t>
            </a:fld>
            <a:endParaRPr lang="en-US" altLang="ko-KR" dirty="0"/>
          </a:p>
        </p:txBody>
      </p:sp>
      <p:sp>
        <p:nvSpPr>
          <p:cNvPr id="9" name="내용 개체 틀 2"/>
          <p:cNvSpPr>
            <a:spLocks noGrp="1"/>
          </p:cNvSpPr>
          <p:nvPr>
            <p:ph idx="1"/>
          </p:nvPr>
        </p:nvSpPr>
        <p:spPr>
          <a:xfrm>
            <a:off x="251520" y="779180"/>
            <a:ext cx="8712968" cy="3751262"/>
          </a:xfrm>
          <a:prstGeom prst="rect">
            <a:avLst/>
          </a:prstGeom>
        </p:spPr>
        <p:txBody>
          <a:bodyPr>
            <a:normAutofit/>
          </a:bodyPr>
          <a:lstStyle>
            <a:lvl1pPr marL="271463" indent="-180000">
              <a:lnSpc>
                <a:spcPct val="120000"/>
              </a:lnSpc>
              <a:spcAft>
                <a:spcPts val="500"/>
              </a:spcAft>
              <a:buClr>
                <a:schemeClr val="tx2"/>
              </a:buClr>
              <a:buSzPct val="110000"/>
              <a:buFont typeface="Arial" panose="020B0604020202020204" pitchFamily="34" charset="0"/>
              <a:buChar char="•"/>
              <a:defRPr sz="1600" spc="-70" baseline="0">
                <a:ln>
                  <a:solidFill>
                    <a:schemeClr val="tx1">
                      <a:alpha val="1000"/>
                    </a:schemeClr>
                  </a:solidFill>
                </a:ln>
                <a:latin typeface="맑은 고딕" panose="020B0503020000020004" pitchFamily="50" charset="-127"/>
                <a:ea typeface="맑은 고딕" panose="020B0503020000020004" pitchFamily="50" charset="-127"/>
              </a:defRPr>
            </a:lvl1pPr>
            <a:lvl2pPr marL="541338" indent="-180000">
              <a:lnSpc>
                <a:spcPct val="120000"/>
              </a:lnSpc>
              <a:spcAft>
                <a:spcPts val="500"/>
              </a:spcAft>
              <a:buClr>
                <a:schemeClr val="tx2"/>
              </a:buClr>
              <a:buSzPct val="110000"/>
              <a:buFont typeface="Arial" panose="020B0604020202020204" pitchFamily="34" charset="0"/>
              <a:buChar char="•"/>
              <a:defRPr sz="1400" spc="-70" baseline="0">
                <a:ln>
                  <a:solidFill>
                    <a:schemeClr val="tx1">
                      <a:alpha val="1000"/>
                    </a:schemeClr>
                  </a:solidFill>
                </a:ln>
                <a:latin typeface="맑은 고딕" panose="020B0503020000020004" pitchFamily="50" charset="-127"/>
                <a:ea typeface="맑은 고딕" panose="020B0503020000020004" pitchFamily="50" charset="-127"/>
              </a:defRPr>
            </a:lvl2pPr>
            <a:lvl3pPr marL="804863" indent="-180000">
              <a:lnSpc>
                <a:spcPct val="120000"/>
              </a:lnSpc>
              <a:spcAft>
                <a:spcPts val="500"/>
              </a:spcAft>
              <a:buClr>
                <a:schemeClr val="tx2"/>
              </a:buClr>
              <a:buSzPct val="110000"/>
              <a:buFont typeface="Arial" panose="020B0604020202020204" pitchFamily="34" charset="0"/>
              <a:buChar char="•"/>
              <a:defRPr sz="1200" spc="-70" baseline="0">
                <a:ln>
                  <a:solidFill>
                    <a:schemeClr val="tx1">
                      <a:alpha val="1000"/>
                    </a:schemeClr>
                  </a:solidFill>
                </a:ln>
                <a:latin typeface="맑은 고딕" panose="020B0503020000020004" pitchFamily="50" charset="-127"/>
                <a:ea typeface="맑은 고딕" panose="020B0503020000020004" pitchFamily="50" charset="-127"/>
              </a:defRPr>
            </a:lvl3pPr>
            <a:lvl4pPr marL="1074738" indent="-180000">
              <a:lnSpc>
                <a:spcPct val="120000"/>
              </a:lnSpc>
              <a:spcAft>
                <a:spcPts val="500"/>
              </a:spcAft>
              <a:buClr>
                <a:schemeClr val="tx2"/>
              </a:buClr>
              <a:buSzPct val="110000"/>
              <a:buFont typeface="Arial" panose="020B0604020202020204" pitchFamily="34" charset="0"/>
              <a:buChar char="•"/>
              <a:defRPr sz="1050" spc="-70" baseline="0">
                <a:ln>
                  <a:solidFill>
                    <a:schemeClr val="tx1">
                      <a:alpha val="1000"/>
                    </a:schemeClr>
                  </a:solidFill>
                </a:ln>
                <a:latin typeface="맑은 고딕" panose="020B0503020000020004" pitchFamily="50" charset="-127"/>
                <a:ea typeface="맑은 고딕" panose="020B0503020000020004" pitchFamily="50" charset="-127"/>
              </a:defRPr>
            </a:lvl4pPr>
            <a:lvl5pPr marL="1346200" indent="-180000">
              <a:lnSpc>
                <a:spcPct val="120000"/>
              </a:lnSpc>
              <a:spcAft>
                <a:spcPts val="500"/>
              </a:spcAft>
              <a:buClr>
                <a:schemeClr val="tx2"/>
              </a:buClr>
              <a:buSzPct val="110000"/>
              <a:buFont typeface="Arial" panose="020B0604020202020204" pitchFamily="34" charset="0"/>
              <a:buChar char="•"/>
              <a:defRPr sz="800" spc="-70" baseline="0">
                <a:ln>
                  <a:solidFill>
                    <a:schemeClr val="tx1">
                      <a:alpha val="1000"/>
                    </a:schemeClr>
                  </a:solidFill>
                </a:ln>
                <a:latin typeface="맑은 고딕" panose="020B0503020000020004" pitchFamily="50" charset="-127"/>
                <a:ea typeface="맑은 고딕" panose="020B0503020000020004"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extLst>
      <p:ext uri="{BB962C8B-B14F-4D97-AF65-F5344CB8AC3E}">
        <p14:creationId xmlns:p14="http://schemas.microsoft.com/office/powerpoint/2010/main" val="564728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spTree>
      <p:nvGrpSpPr>
        <p:cNvPr id="1" name=""/>
        <p:cNvGrpSpPr/>
        <p:nvPr/>
      </p:nvGrpSpPr>
      <p:grpSpPr>
        <a:xfrm>
          <a:off x="0" y="0"/>
          <a:ext cx="0" cy="0"/>
          <a:chOff x="0" y="0"/>
          <a:chExt cx="0" cy="0"/>
        </a:xfrm>
      </p:grpSpPr>
      <p:pic>
        <p:nvPicPr>
          <p:cNvPr id="4" name="그림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5" name="그림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081516" y="4639216"/>
            <a:ext cx="980969" cy="211582"/>
          </a:xfrm>
          <a:prstGeom prst="rect">
            <a:avLst/>
          </a:prstGeom>
        </p:spPr>
      </p:pic>
      <p:sp>
        <p:nvSpPr>
          <p:cNvPr id="7" name="슬라이드 번호 개체 틀 2"/>
          <p:cNvSpPr>
            <a:spLocks noGrp="1"/>
          </p:cNvSpPr>
          <p:nvPr>
            <p:ph type="sldNum" sz="quarter" idx="4"/>
          </p:nvPr>
        </p:nvSpPr>
        <p:spPr>
          <a:xfrm>
            <a:off x="3772452" y="4921727"/>
            <a:ext cx="1440000" cy="208404"/>
          </a:xfrm>
          <a:prstGeom prst="rect">
            <a:avLst/>
          </a:prstGeom>
        </p:spPr>
        <p:txBody>
          <a:bodyPr/>
          <a:lstStyle>
            <a:lvl1pPr marL="0" algn="ctr" defTabSz="914400" rtl="0" eaLnBrk="1" latinLnBrk="1" hangingPunct="1">
              <a:defRPr lang="ko-KR" altLang="en-US" sz="1300" kern="1200" smtClean="0">
                <a:solidFill>
                  <a:schemeClr val="bg1">
                    <a:lumMod val="50000"/>
                  </a:schemeClr>
                </a:solidFill>
                <a:latin typeface="샘물체" pitchFamily="18" charset="-127"/>
                <a:ea typeface="샘물체" pitchFamily="18" charset="-127"/>
                <a:cs typeface="+mn-cs"/>
              </a:defRPr>
            </a:lvl1pPr>
          </a:lstStyle>
          <a:p>
            <a:fld id="{AF33F0E2-3294-4740-8E22-F3EF5A8BEBAB}" type="slidenum">
              <a:rPr lang="en-US" altLang="ko-KR" smtClean="0"/>
              <a:pPr/>
              <a:t>‹#›</a:t>
            </a:fld>
            <a:endParaRPr lang="en-US" altLang="ko-KR" dirty="0"/>
          </a:p>
        </p:txBody>
      </p:sp>
    </p:spTree>
    <p:extLst>
      <p:ext uri="{BB962C8B-B14F-4D97-AF65-F5344CB8AC3E}">
        <p14:creationId xmlns:p14="http://schemas.microsoft.com/office/powerpoint/2010/main" val="2711301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D2A3C65-D02E-4E12-BBF0-35296EE360BB}" type="datetimeFigureOut">
              <a:rPr lang="ko-KR" altLang="en-US" smtClean="0"/>
              <a:t>2026-06-27</a:t>
            </a:fld>
            <a:endParaRPr lang="ko-KR" altLang="en-US"/>
          </a:p>
        </p:txBody>
      </p:sp>
      <p:sp>
        <p:nvSpPr>
          <p:cNvPr id="5" name="바닥글 개체 틀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26DD48A1-790C-457C-9116-8D1E078518D9}" type="slidenum">
              <a:rPr lang="ko-KR" altLang="en-US" smtClean="0"/>
              <a:t>‹#›</a:t>
            </a:fld>
            <a:endParaRPr lang="ko-KR" altLang="en-US"/>
          </a:p>
        </p:txBody>
      </p:sp>
    </p:spTree>
    <p:extLst>
      <p:ext uri="{BB962C8B-B14F-4D97-AF65-F5344CB8AC3E}">
        <p14:creationId xmlns:p14="http://schemas.microsoft.com/office/powerpoint/2010/main" val="2525176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2" r:id="rId5"/>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refactoring.guru/design-patterns"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4.xml"/><Relationship Id="rId1" Type="http://schemas.openxmlformats.org/officeDocument/2006/relationships/themeOverride" Target="../theme/themeOverride2.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hyperlink" Target="https://docs.oracle.com/javase/8/docs/api/index.html?java/util/Observable.html"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hyperlink" Target="https://docs.oracle.com/javase/8/docs/api/index.html?java/util/Observer.html"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49.png"/><Relationship Id="rId4" Type="http://schemas.openxmlformats.org/officeDocument/2006/relationships/image" Target="../media/image48.png"/></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51.png"/></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hyperlink" Target="https://docs.oracle.com/javase/8/docs/api/index.html?java/util/Observable.html"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5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68.pn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71.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4.xml"/><Relationship Id="rId5" Type="http://schemas.openxmlformats.org/officeDocument/2006/relationships/image" Target="../media/image75.png"/><Relationship Id="rId4" Type="http://schemas.openxmlformats.org/officeDocument/2006/relationships/image" Target="../media/image74.png"/></Relationships>
</file>

<file path=ppt/slides/_rels/slide7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4.xml"/><Relationship Id="rId5" Type="http://schemas.openxmlformats.org/officeDocument/2006/relationships/image" Target="../media/image99.png"/><Relationship Id="rId4" Type="http://schemas.openxmlformats.org/officeDocument/2006/relationships/image" Target="../media/image98.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refactoring.guru/design-patterns" TargetMode="Externa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9B864AE8-15CF-46E2-BC3A-93E646893054}"/>
              </a:ext>
            </a:extLst>
          </p:cNvPr>
          <p:cNvSpPr>
            <a:spLocks noGrp="1"/>
          </p:cNvSpPr>
          <p:nvPr>
            <p:ph type="body" idx="12"/>
          </p:nvPr>
        </p:nvSpPr>
        <p:spPr/>
        <p:txBody>
          <a:bodyPr/>
          <a:lstStyle/>
          <a:p>
            <a:endParaRPr lang="ko-KR" altLang="en-US" dirty="0"/>
          </a:p>
        </p:txBody>
      </p:sp>
      <p:sp>
        <p:nvSpPr>
          <p:cNvPr id="7" name="제목 1"/>
          <p:cNvSpPr txBox="1">
            <a:spLocks/>
          </p:cNvSpPr>
          <p:nvPr/>
        </p:nvSpPr>
        <p:spPr>
          <a:xfrm>
            <a:off x="641881" y="1857747"/>
            <a:ext cx="7772400" cy="714003"/>
          </a:xfrm>
          <a:prstGeom prst="rect">
            <a:avLst/>
          </a:prstGeom>
        </p:spPr>
        <p:txBody>
          <a:bodyPr vert="horz" lIns="91440" tIns="45720" rIns="91440" bIns="45720" rtlCol="0" anchor="t">
            <a:normAutofit/>
          </a:bodyPr>
          <a:lstStyle>
            <a:lvl1pPr algn="ctr" defTabSz="914400" rtl="0" eaLnBrk="1" latinLnBrk="1" hangingPunct="1">
              <a:spcBef>
                <a:spcPct val="0"/>
              </a:spcBef>
              <a:buNone/>
              <a:defRPr sz="4600" b="1" kern="1200" cap="all" spc="-150">
                <a:ln>
                  <a:noFill/>
                </a:ln>
                <a:solidFill>
                  <a:schemeClr val="bg1"/>
                </a:solidFill>
                <a:latin typeface="맑은 고딕" panose="020B0503020000020004" pitchFamily="50" charset="-127"/>
                <a:ea typeface="맑은 고딕" panose="020B0503020000020004" pitchFamily="50" charset="-127"/>
                <a:cs typeface="+mj-cs"/>
              </a:defRPr>
            </a:lvl1pPr>
          </a:lstStyle>
          <a:p>
            <a:r>
              <a:rPr lang="en-US" altLang="ko-KR" sz="3600"/>
              <a:t>Design Patterns Practice</a:t>
            </a:r>
            <a:endParaRPr lang="ko-KR" altLang="en-US" sz="3600" dirty="0"/>
          </a:p>
        </p:txBody>
      </p:sp>
      <p:sp>
        <p:nvSpPr>
          <p:cNvPr id="8" name="텍스트 개체 틀 6"/>
          <p:cNvSpPr>
            <a:spLocks noGrp="1"/>
          </p:cNvSpPr>
          <p:nvPr>
            <p:ph type="body" idx="12"/>
          </p:nvPr>
        </p:nvSpPr>
        <p:spPr>
          <a:xfrm>
            <a:off x="2555776" y="1375199"/>
            <a:ext cx="3615368" cy="369704"/>
          </a:xfrm>
        </p:spPr>
        <p:txBody>
          <a:bodyPr/>
          <a:lstStyle/>
          <a:p>
            <a:r>
              <a:rPr lang="en-US" altLang="ko-KR" sz="1600" dirty="0"/>
              <a:t>Associate Architect </a:t>
            </a:r>
            <a:r>
              <a:rPr lang="ko-KR" altLang="en-US" sz="1600" dirty="0"/>
              <a:t>양성과정</a:t>
            </a:r>
          </a:p>
        </p:txBody>
      </p:sp>
    </p:spTree>
    <p:extLst>
      <p:ext uri="{BB962C8B-B14F-4D97-AF65-F5344CB8AC3E}">
        <p14:creationId xmlns:p14="http://schemas.microsoft.com/office/powerpoint/2010/main" val="2916147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r>
              <a:rPr lang="ko-KR" altLang="en-US" sz="2000" dirty="0"/>
              <a:t>강사 소개</a:t>
            </a:r>
          </a:p>
        </p:txBody>
      </p:sp>
      <p:sp>
        <p:nvSpPr>
          <p:cNvPr id="8" name="내용 개체 틀 2"/>
          <p:cNvSpPr txBox="1">
            <a:spLocks/>
          </p:cNvSpPr>
          <p:nvPr/>
        </p:nvSpPr>
        <p:spPr>
          <a:xfrm>
            <a:off x="467544" y="699542"/>
            <a:ext cx="5681304" cy="2249527"/>
          </a:xfrm>
          <a:prstGeom prst="rect">
            <a:avLst/>
          </a:prstGeom>
          <a:noFill/>
        </p:spPr>
        <p:txBody>
          <a:bodyPr wrap="square" lIns="0" tIns="0" rIns="0" bIns="0" rtlCol="0" anchor="t">
            <a:spAutoFit/>
          </a:bodyPr>
          <a:lstStyle>
            <a:lvl1pPr marL="247529" indent="-247529" algn="l" defTabSz="660076" rtl="0" eaLnBrk="1" latinLnBrk="1" hangingPunct="1">
              <a:spcBef>
                <a:spcPct val="20000"/>
              </a:spcBef>
              <a:buFont typeface="Arial" pitchFamily="34" charset="0"/>
              <a:buChar char="•"/>
              <a:defRPr sz="2400" kern="1200">
                <a:solidFill>
                  <a:schemeClr val="tx1"/>
                </a:solidFill>
                <a:latin typeface="+mn-lt"/>
                <a:ea typeface="+mn-ea"/>
                <a:cs typeface="+mn-cs"/>
              </a:defRPr>
            </a:lvl1pPr>
            <a:lvl2pPr marL="536312" indent="-206274" algn="l" defTabSz="660076" rtl="0" eaLnBrk="1" latinLnBrk="1" hangingPunct="1">
              <a:spcBef>
                <a:spcPct val="20000"/>
              </a:spcBef>
              <a:buFont typeface="Arial" pitchFamily="34" charset="0"/>
              <a:buChar char="–"/>
              <a:defRPr sz="2025" kern="1200">
                <a:solidFill>
                  <a:schemeClr val="tx1"/>
                </a:solidFill>
                <a:latin typeface="+mn-lt"/>
                <a:ea typeface="+mn-ea"/>
                <a:cs typeface="+mn-cs"/>
              </a:defRPr>
            </a:lvl2pPr>
            <a:lvl3pPr marL="825095" indent="-165020" algn="l" defTabSz="660076" rtl="0" eaLnBrk="1" latinLnBrk="1" hangingPunct="1">
              <a:spcBef>
                <a:spcPct val="20000"/>
              </a:spcBef>
              <a:buFont typeface="Arial" pitchFamily="34" charset="0"/>
              <a:buChar char="•"/>
              <a:defRPr sz="1725" kern="1200">
                <a:solidFill>
                  <a:schemeClr val="tx1"/>
                </a:solidFill>
                <a:latin typeface="+mn-lt"/>
                <a:ea typeface="+mn-ea"/>
                <a:cs typeface="+mn-cs"/>
              </a:defRPr>
            </a:lvl3pPr>
            <a:lvl4pPr marL="115513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4pPr>
            <a:lvl5pPr marL="1485172"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5pPr>
            <a:lvl6pPr marL="1815211"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6pPr>
            <a:lvl7pPr marL="2145248"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7pPr>
            <a:lvl8pPr marL="2475286"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8pPr>
            <a:lvl9pPr marL="280532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9pPr>
          </a:lstStyle>
          <a:p>
            <a:pPr defTabSz="715082">
              <a:lnSpc>
                <a:spcPct val="160000"/>
              </a:lnSpc>
              <a:buFont typeface="Wingdings" panose="05000000000000000000" pitchFamily="2" charset="2"/>
              <a:buChar char="§"/>
            </a:pPr>
            <a:r>
              <a:rPr lang="ko-KR" altLang="en-US" sz="1200" dirty="0">
                <a:solidFill>
                  <a:srgbClr val="1E1E2A"/>
                </a:solidFill>
                <a:latin typeface="맑은 고딕" panose="020B0503020000020004" pitchFamily="50" charset="-127"/>
                <a:ea typeface="맑은 고딕" panose="020B0503020000020004" pitchFamily="50" charset="-127"/>
              </a:rPr>
              <a:t>이름</a:t>
            </a:r>
            <a:r>
              <a:rPr lang="en-US" altLang="ko-KR" sz="1200" dirty="0">
                <a:solidFill>
                  <a:srgbClr val="1E1E2A"/>
                </a:solidFill>
                <a:latin typeface="맑은 고딕" panose="020B0503020000020004" pitchFamily="50" charset="-127"/>
                <a:ea typeface="맑은 고딕" panose="020B0503020000020004" pitchFamily="50" charset="-127"/>
              </a:rPr>
              <a:t>: </a:t>
            </a:r>
            <a:r>
              <a:rPr lang="ko-KR" altLang="en-US" sz="1200" dirty="0">
                <a:solidFill>
                  <a:srgbClr val="1E1E2A"/>
                </a:solidFill>
                <a:latin typeface="맑은 고딕" panose="020B0503020000020004" pitchFamily="50" charset="-127"/>
                <a:ea typeface="맑은 고딕" panose="020B0503020000020004" pitchFamily="50" charset="-127"/>
              </a:rPr>
              <a:t>방경운 </a:t>
            </a:r>
            <a:r>
              <a:rPr lang="en-US" altLang="ko-KR" sz="1200" dirty="0">
                <a:solidFill>
                  <a:srgbClr val="1E1E2A"/>
                </a:solidFill>
                <a:latin typeface="맑은 고딕" panose="020B0503020000020004" pitchFamily="50" charset="-127"/>
                <a:ea typeface="맑은 고딕" panose="020B0503020000020004" pitchFamily="50" charset="-127"/>
              </a:rPr>
              <a:t>S/W Architect</a:t>
            </a:r>
          </a:p>
          <a:p>
            <a:pPr defTabSz="715082">
              <a:lnSpc>
                <a:spcPct val="160000"/>
              </a:lnSpc>
              <a:buFont typeface="Wingdings" panose="05000000000000000000" pitchFamily="2" charset="2"/>
              <a:buChar char="§"/>
            </a:pPr>
            <a:r>
              <a:rPr lang="ko-KR" altLang="en-US" sz="1200" dirty="0">
                <a:solidFill>
                  <a:srgbClr val="1E1E2A"/>
                </a:solidFill>
                <a:latin typeface="맑은 고딕" panose="020B0503020000020004" pitchFamily="50" charset="-127"/>
                <a:ea typeface="맑은 고딕" panose="020B0503020000020004" pitchFamily="50" charset="-127"/>
              </a:rPr>
              <a:t>소속</a:t>
            </a:r>
            <a:r>
              <a:rPr lang="en-US" altLang="ko-KR" sz="1200" dirty="0">
                <a:solidFill>
                  <a:srgbClr val="1E1E2A"/>
                </a:solidFill>
                <a:latin typeface="맑은 고딕" panose="020B0503020000020004" pitchFamily="50" charset="-127"/>
                <a:ea typeface="맑은 고딕" panose="020B0503020000020004" pitchFamily="50" charset="-127"/>
              </a:rPr>
              <a:t>: </a:t>
            </a:r>
            <a:r>
              <a:rPr lang="ko-KR" altLang="en-US" sz="1200" dirty="0">
                <a:solidFill>
                  <a:srgbClr val="1E1E2A"/>
                </a:solidFill>
                <a:latin typeface="맑은 고딕" panose="020B0503020000020004" pitchFamily="50" charset="-127"/>
                <a:ea typeface="맑은 고딕" panose="020B0503020000020004" pitchFamily="50" charset="-127"/>
              </a:rPr>
              <a:t>삼성전자 </a:t>
            </a:r>
            <a:r>
              <a:rPr lang="en-US" altLang="ko-KR" sz="1200" dirty="0">
                <a:solidFill>
                  <a:srgbClr val="1E1E2A"/>
                </a:solidFill>
                <a:latin typeface="맑은 고딕" panose="020B0503020000020004" pitchFamily="50" charset="-127"/>
                <a:ea typeface="맑은 고딕" panose="020B0503020000020004" pitchFamily="50" charset="-127"/>
              </a:rPr>
              <a:t>AI</a:t>
            </a:r>
            <a:r>
              <a:rPr lang="ko-KR" altLang="en-US" sz="1200" dirty="0">
                <a:solidFill>
                  <a:srgbClr val="1E1E2A"/>
                </a:solidFill>
                <a:latin typeface="맑은 고딕" panose="020B0503020000020004" pitchFamily="50" charset="-127"/>
                <a:ea typeface="맑은 고딕" panose="020B0503020000020004" pitchFamily="50" charset="-127"/>
              </a:rPr>
              <a:t>센터 물류자동화</a:t>
            </a:r>
            <a:r>
              <a:rPr lang="en-US" altLang="ko-KR" sz="1200" dirty="0">
                <a:solidFill>
                  <a:srgbClr val="1E1E2A"/>
                </a:solidFill>
                <a:latin typeface="맑은 고딕" panose="020B0503020000020004" pitchFamily="50" charset="-127"/>
                <a:ea typeface="맑은 고딕" panose="020B0503020000020004" pitchFamily="50" charset="-127"/>
              </a:rPr>
              <a:t>S/W</a:t>
            </a:r>
            <a:r>
              <a:rPr lang="ko-KR" altLang="en-US" sz="1200" dirty="0">
                <a:solidFill>
                  <a:srgbClr val="1E1E2A"/>
                </a:solidFill>
                <a:latin typeface="맑은 고딕" panose="020B0503020000020004" pitchFamily="50" charset="-127"/>
                <a:ea typeface="맑은 고딕" panose="020B0503020000020004" pitchFamily="50" charset="-127"/>
              </a:rPr>
              <a:t> 그룹</a:t>
            </a:r>
            <a:endParaRPr lang="en-US" altLang="ko-KR" sz="1200" dirty="0">
              <a:solidFill>
                <a:srgbClr val="1E1E2A"/>
              </a:solidFill>
              <a:latin typeface="맑은 고딕" panose="020B0503020000020004" pitchFamily="50" charset="-127"/>
              <a:ea typeface="맑은 고딕" panose="020B0503020000020004" pitchFamily="50" charset="-127"/>
            </a:endParaRPr>
          </a:p>
          <a:p>
            <a:pPr defTabSz="715082">
              <a:lnSpc>
                <a:spcPct val="160000"/>
              </a:lnSpc>
              <a:buFont typeface="Wingdings" panose="05000000000000000000" pitchFamily="2" charset="2"/>
              <a:buChar char="§"/>
            </a:pPr>
            <a:endParaRPr lang="en-US" altLang="ko-KR" sz="1200" dirty="0">
              <a:solidFill>
                <a:srgbClr val="1E1E2A"/>
              </a:solidFill>
              <a:latin typeface="맑은 고딕" panose="020B0503020000020004" pitchFamily="50" charset="-127"/>
              <a:ea typeface="맑은 고딕" panose="020B0503020000020004" pitchFamily="50" charset="-127"/>
            </a:endParaRPr>
          </a:p>
          <a:p>
            <a:pPr defTabSz="715082">
              <a:lnSpc>
                <a:spcPct val="160000"/>
              </a:lnSpc>
              <a:buFont typeface="Wingdings" panose="05000000000000000000" pitchFamily="2" charset="2"/>
              <a:buChar char="§"/>
            </a:pPr>
            <a:r>
              <a:rPr lang="ko-KR" altLang="en-US" sz="1200" dirty="0">
                <a:solidFill>
                  <a:srgbClr val="1E1E2A"/>
                </a:solidFill>
                <a:latin typeface="맑은 고딕" panose="020B0503020000020004" pitchFamily="50" charset="-127"/>
                <a:ea typeface="맑은 고딕" panose="020B0503020000020004" pitchFamily="50" charset="-127"/>
              </a:rPr>
              <a:t>업무</a:t>
            </a:r>
            <a:r>
              <a:rPr lang="en-US" altLang="ko-KR" sz="1200" dirty="0">
                <a:solidFill>
                  <a:srgbClr val="1E1E2A"/>
                </a:solidFill>
                <a:latin typeface="맑은 고딕" panose="020B0503020000020004" pitchFamily="50" charset="-127"/>
                <a:ea typeface="맑은 고딕" panose="020B0503020000020004" pitchFamily="50" charset="-127"/>
              </a:rPr>
              <a:t>: </a:t>
            </a:r>
            <a:r>
              <a:rPr lang="ko-KR" altLang="en-US" sz="1200" dirty="0">
                <a:solidFill>
                  <a:srgbClr val="1E1E2A"/>
                </a:solidFill>
                <a:latin typeface="맑은 고딕" panose="020B0503020000020004" pitchFamily="50" charset="-127"/>
                <a:ea typeface="맑은 고딕" panose="020B0503020000020004" pitchFamily="50" charset="-127"/>
              </a:rPr>
              <a:t>물류 제어기 시뮬레이터 개발</a:t>
            </a:r>
            <a:endParaRPr lang="en-US" altLang="ko-KR" sz="1200" dirty="0">
              <a:solidFill>
                <a:srgbClr val="1E1E2A"/>
              </a:solidFill>
              <a:latin typeface="맑은 고딕" panose="020B0503020000020004" pitchFamily="50" charset="-127"/>
              <a:ea typeface="맑은 고딕" panose="020B0503020000020004" pitchFamily="50" charset="-127"/>
            </a:endParaRPr>
          </a:p>
          <a:p>
            <a:pPr defTabSz="715082">
              <a:lnSpc>
                <a:spcPct val="160000"/>
              </a:lnSpc>
              <a:buFont typeface="Wingdings" panose="05000000000000000000" pitchFamily="2" charset="2"/>
              <a:buChar char="§"/>
            </a:pPr>
            <a:r>
              <a:rPr lang="ko-KR" altLang="en-US" sz="1200" dirty="0">
                <a:solidFill>
                  <a:srgbClr val="1E1E2A"/>
                </a:solidFill>
                <a:latin typeface="맑은 고딕" panose="020B0503020000020004" pitchFamily="50" charset="-127"/>
                <a:ea typeface="맑은 고딕" panose="020B0503020000020004" pitchFamily="50" charset="-127"/>
              </a:rPr>
              <a:t>전문 분야</a:t>
            </a:r>
            <a:r>
              <a:rPr lang="en-US" altLang="ko-KR" sz="1200" dirty="0">
                <a:solidFill>
                  <a:srgbClr val="1E1E2A"/>
                </a:solidFill>
                <a:latin typeface="맑은 고딕" panose="020B0503020000020004" pitchFamily="50" charset="-127"/>
                <a:ea typeface="맑은 고딕" panose="020B0503020000020004" pitchFamily="50" charset="-127"/>
              </a:rPr>
              <a:t>: Modeling</a:t>
            </a:r>
            <a:r>
              <a:rPr lang="ko-KR" altLang="en-US" sz="1200" dirty="0">
                <a:solidFill>
                  <a:srgbClr val="1E1E2A"/>
                </a:solidFill>
                <a:latin typeface="맑은 고딕" panose="020B0503020000020004" pitchFamily="50" charset="-127"/>
                <a:ea typeface="맑은 고딕" panose="020B0503020000020004" pitchFamily="50" charset="-127"/>
              </a:rPr>
              <a:t> </a:t>
            </a:r>
            <a:r>
              <a:rPr lang="en-US" altLang="ko-KR" sz="1200" dirty="0">
                <a:solidFill>
                  <a:srgbClr val="1E1E2A"/>
                </a:solidFill>
                <a:latin typeface="맑은 고딕" panose="020B0503020000020004" pitchFamily="50" charset="-127"/>
                <a:ea typeface="맑은 고딕" panose="020B0503020000020004" pitchFamily="50" charset="-127"/>
              </a:rPr>
              <a:t>and</a:t>
            </a:r>
            <a:r>
              <a:rPr lang="ko-KR" altLang="en-US" sz="1200" dirty="0">
                <a:solidFill>
                  <a:srgbClr val="1E1E2A"/>
                </a:solidFill>
                <a:latin typeface="맑은 고딕" panose="020B0503020000020004" pitchFamily="50" charset="-127"/>
                <a:ea typeface="맑은 고딕" panose="020B0503020000020004" pitchFamily="50" charset="-127"/>
              </a:rPr>
              <a:t> </a:t>
            </a:r>
            <a:r>
              <a:rPr lang="en-US" altLang="ko-KR" sz="1200" dirty="0">
                <a:solidFill>
                  <a:srgbClr val="1E1E2A"/>
                </a:solidFill>
                <a:latin typeface="맑은 고딕" panose="020B0503020000020004" pitchFamily="50" charset="-127"/>
                <a:ea typeface="맑은 고딕" panose="020B0503020000020004" pitchFamily="50" charset="-127"/>
              </a:rPr>
              <a:t>Simulation, DEVS, </a:t>
            </a:r>
          </a:p>
          <a:p>
            <a:pPr defTabSz="715082">
              <a:lnSpc>
                <a:spcPct val="160000"/>
              </a:lnSpc>
              <a:buFont typeface="Wingdings" panose="05000000000000000000" pitchFamily="2" charset="2"/>
              <a:buChar char="§"/>
            </a:pPr>
            <a:endParaRPr lang="en-US" altLang="ko-KR" sz="1200" dirty="0">
              <a:solidFill>
                <a:srgbClr val="1E1E2A"/>
              </a:solidFill>
              <a:latin typeface="맑은 고딕" panose="020B0503020000020004" pitchFamily="50" charset="-127"/>
              <a:ea typeface="맑은 고딕" panose="020B0503020000020004" pitchFamily="50" charset="-127"/>
            </a:endParaRPr>
          </a:p>
          <a:p>
            <a:pPr defTabSz="715082">
              <a:lnSpc>
                <a:spcPct val="160000"/>
              </a:lnSpc>
              <a:buFont typeface="Wingdings" panose="05000000000000000000" pitchFamily="2" charset="2"/>
              <a:buChar char="§"/>
            </a:pPr>
            <a:r>
              <a:rPr lang="ko-KR" altLang="en-US" sz="1200" dirty="0">
                <a:solidFill>
                  <a:srgbClr val="1E1E2A"/>
                </a:solidFill>
                <a:latin typeface="맑은 고딕" panose="020B0503020000020004" pitchFamily="50" charset="-127"/>
                <a:ea typeface="맑은 고딕" panose="020B0503020000020004" pitchFamily="50" charset="-127"/>
              </a:rPr>
              <a:t>취미</a:t>
            </a:r>
            <a:r>
              <a:rPr lang="en-US" altLang="ko-KR" sz="1200" dirty="0">
                <a:solidFill>
                  <a:srgbClr val="1E1E2A"/>
                </a:solidFill>
                <a:latin typeface="맑은 고딕" panose="020B0503020000020004" pitchFamily="50" charset="-127"/>
                <a:ea typeface="맑은 고딕" panose="020B0503020000020004" pitchFamily="50" charset="-127"/>
              </a:rPr>
              <a:t>/</a:t>
            </a:r>
            <a:r>
              <a:rPr lang="ko-KR" altLang="en-US" sz="1200" dirty="0">
                <a:solidFill>
                  <a:srgbClr val="1E1E2A"/>
                </a:solidFill>
                <a:latin typeface="맑은 고딕" panose="020B0503020000020004" pitchFamily="50" charset="-127"/>
                <a:ea typeface="맑은 고딕" panose="020B0503020000020004" pitchFamily="50" charset="-127"/>
              </a:rPr>
              <a:t>관심분야</a:t>
            </a:r>
            <a:r>
              <a:rPr lang="en-US" altLang="ko-KR" sz="1200" dirty="0">
                <a:solidFill>
                  <a:srgbClr val="1E1E2A"/>
                </a:solidFill>
                <a:latin typeface="맑은 고딕" panose="020B0503020000020004" pitchFamily="50" charset="-127"/>
                <a:ea typeface="맑은 고딕" panose="020B0503020000020004" pitchFamily="50" charset="-127"/>
              </a:rPr>
              <a:t>: </a:t>
            </a:r>
            <a:r>
              <a:rPr lang="ko-KR" altLang="en-US" sz="1200" dirty="0">
                <a:solidFill>
                  <a:srgbClr val="1E1E2A"/>
                </a:solidFill>
                <a:latin typeface="맑은 고딕" panose="020B0503020000020004" pitchFamily="50" charset="-127"/>
                <a:ea typeface="맑은 고딕" panose="020B0503020000020004" pitchFamily="50" charset="-127"/>
              </a:rPr>
              <a:t>테니스</a:t>
            </a:r>
            <a:r>
              <a:rPr lang="en-US" altLang="ko-KR" sz="1200" dirty="0">
                <a:solidFill>
                  <a:srgbClr val="1E1E2A"/>
                </a:solidFill>
                <a:latin typeface="맑은 고딕" panose="020B0503020000020004" pitchFamily="50" charset="-127"/>
                <a:ea typeface="맑은 고딕" panose="020B0503020000020004" pitchFamily="50" charset="-127"/>
              </a:rPr>
              <a:t>, </a:t>
            </a:r>
            <a:r>
              <a:rPr lang="ko-KR" altLang="en-US" sz="1200" dirty="0">
                <a:solidFill>
                  <a:srgbClr val="1E1E2A"/>
                </a:solidFill>
                <a:latin typeface="맑은 고딕" panose="020B0503020000020004" pitchFamily="50" charset="-127"/>
                <a:ea typeface="맑은 고딕" panose="020B0503020000020004" pitchFamily="50" charset="-127"/>
              </a:rPr>
              <a:t>헬스</a:t>
            </a:r>
            <a:r>
              <a:rPr lang="en-US" altLang="ko-KR" sz="1200" dirty="0">
                <a:solidFill>
                  <a:srgbClr val="1E1E2A"/>
                </a:solidFill>
                <a:latin typeface="맑은 고딕" panose="020B0503020000020004" pitchFamily="50" charset="-127"/>
                <a:ea typeface="맑은 고딕" panose="020B0503020000020004" pitchFamily="50" charset="-127"/>
              </a:rPr>
              <a:t>, </a:t>
            </a:r>
            <a:r>
              <a:rPr lang="ko-KR" altLang="en-US" sz="1200" dirty="0">
                <a:solidFill>
                  <a:srgbClr val="1E1E2A"/>
                </a:solidFill>
                <a:latin typeface="맑은 고딕" panose="020B0503020000020004" pitchFamily="50" charset="-127"/>
                <a:ea typeface="맑은 고딕" panose="020B0503020000020004" pitchFamily="50" charset="-127"/>
              </a:rPr>
              <a:t>복싱</a:t>
            </a:r>
            <a:r>
              <a:rPr lang="en-US" altLang="ko-KR" sz="1200" dirty="0">
                <a:solidFill>
                  <a:srgbClr val="1E1E2A"/>
                </a:solidFill>
                <a:latin typeface="맑은 고딕" panose="020B0503020000020004" pitchFamily="50" charset="-127"/>
                <a:ea typeface="맑은 고딕" panose="020B0503020000020004" pitchFamily="50" charset="-127"/>
              </a:rPr>
              <a:t>, </a:t>
            </a:r>
            <a:r>
              <a:rPr lang="ko-KR" altLang="en-US" sz="1200" dirty="0">
                <a:solidFill>
                  <a:srgbClr val="1E1E2A"/>
                </a:solidFill>
                <a:latin typeface="맑은 고딕" panose="020B0503020000020004" pitchFamily="50" charset="-127"/>
                <a:ea typeface="맑은 고딕" panose="020B0503020000020004" pitchFamily="50" charset="-127"/>
              </a:rPr>
              <a:t>수영</a:t>
            </a:r>
            <a:r>
              <a:rPr lang="en-US" altLang="ko-KR" sz="1200" dirty="0">
                <a:solidFill>
                  <a:srgbClr val="1E1E2A"/>
                </a:solidFill>
                <a:latin typeface="맑은 고딕" panose="020B0503020000020004" pitchFamily="50" charset="-127"/>
                <a:ea typeface="맑은 고딕" panose="020B0503020000020004" pitchFamily="50" charset="-127"/>
              </a:rPr>
              <a:t>, </a:t>
            </a:r>
            <a:r>
              <a:rPr lang="ko-KR" altLang="en-US" sz="1200" dirty="0">
                <a:solidFill>
                  <a:srgbClr val="1E1E2A"/>
                </a:solidFill>
                <a:latin typeface="맑은 고딕" panose="020B0503020000020004" pitchFamily="50" charset="-127"/>
                <a:ea typeface="맑은 고딕" panose="020B0503020000020004" pitchFamily="50" charset="-127"/>
              </a:rPr>
              <a:t>골프</a:t>
            </a:r>
            <a:r>
              <a:rPr lang="en-US" altLang="ko-KR" sz="1200" dirty="0">
                <a:solidFill>
                  <a:srgbClr val="1E1E2A"/>
                </a:solidFill>
                <a:latin typeface="맑은 고딕" panose="020B0503020000020004" pitchFamily="50" charset="-127"/>
                <a:ea typeface="맑은 고딕" panose="020B0503020000020004" pitchFamily="50" charset="-127"/>
              </a:rPr>
              <a:t>, …</a:t>
            </a:r>
            <a:r>
              <a:rPr lang="ko-KR" altLang="en-US" sz="1200" dirty="0">
                <a:solidFill>
                  <a:srgbClr val="1E1E2A"/>
                </a:solidFill>
                <a:latin typeface="맑은 고딕" panose="020B0503020000020004" pitchFamily="50" charset="-127"/>
                <a:ea typeface="맑은 고딕" panose="020B0503020000020004" pitchFamily="50" charset="-127"/>
              </a:rPr>
              <a:t> </a:t>
            </a:r>
            <a:endParaRPr lang="en-US" altLang="ko-KR" sz="1200" dirty="0">
              <a:solidFill>
                <a:srgbClr val="1E1E2A"/>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768636555"/>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2928428" y="1821831"/>
            <a:ext cx="5604012" cy="2190079"/>
          </a:xfrm>
        </p:spPr>
        <p:txBody>
          <a:bodyPr>
            <a:noAutofit/>
          </a:bodyPr>
          <a:lstStyle/>
          <a:p>
            <a:r>
              <a:rPr lang="en-US" altLang="ko-KR" sz="3600" dirty="0"/>
              <a:t>Overview</a:t>
            </a:r>
          </a:p>
        </p:txBody>
      </p:sp>
    </p:spTree>
    <p:extLst>
      <p:ext uri="{BB962C8B-B14F-4D97-AF65-F5344CB8AC3E}">
        <p14:creationId xmlns:p14="http://schemas.microsoft.com/office/powerpoint/2010/main" val="2193978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Design Patterns </a:t>
            </a:r>
            <a:r>
              <a:rPr lang="ko-KR" altLang="en-US" spc="0" dirty="0"/>
              <a:t>과목 안내</a:t>
            </a:r>
          </a:p>
        </p:txBody>
      </p:sp>
      <p:sp>
        <p:nvSpPr>
          <p:cNvPr id="22" name="내용 개체 틀 2"/>
          <p:cNvSpPr txBox="1">
            <a:spLocks/>
          </p:cNvSpPr>
          <p:nvPr/>
        </p:nvSpPr>
        <p:spPr>
          <a:xfrm>
            <a:off x="497284" y="771550"/>
            <a:ext cx="3311291" cy="297710"/>
          </a:xfrm>
          <a:prstGeom prst="rect">
            <a:avLst/>
          </a:prstGeom>
          <a:noFill/>
        </p:spPr>
        <p:txBody>
          <a:bodyPr wrap="none" lIns="0" tIns="0" rIns="0" bIns="0" rtlCol="0" anchor="t">
            <a:spAutoFit/>
          </a:bodyPr>
          <a:lstStyle>
            <a:lvl1pPr marL="247529" indent="-247529" algn="l" defTabSz="660076" rtl="0" eaLnBrk="1" latinLnBrk="1" hangingPunct="1">
              <a:spcBef>
                <a:spcPct val="20000"/>
              </a:spcBef>
              <a:buFont typeface="Arial" pitchFamily="34" charset="0"/>
              <a:buChar char="•"/>
              <a:defRPr sz="2400" kern="1200">
                <a:solidFill>
                  <a:schemeClr val="tx1"/>
                </a:solidFill>
                <a:latin typeface="+mn-lt"/>
                <a:ea typeface="+mn-ea"/>
                <a:cs typeface="+mn-cs"/>
              </a:defRPr>
            </a:lvl1pPr>
            <a:lvl2pPr marL="536312" indent="-206274" algn="l" defTabSz="660076" rtl="0" eaLnBrk="1" latinLnBrk="1" hangingPunct="1">
              <a:spcBef>
                <a:spcPct val="20000"/>
              </a:spcBef>
              <a:buFont typeface="Arial" pitchFamily="34" charset="0"/>
              <a:buChar char="–"/>
              <a:defRPr sz="2025" kern="1200">
                <a:solidFill>
                  <a:schemeClr val="tx1"/>
                </a:solidFill>
                <a:latin typeface="+mn-lt"/>
                <a:ea typeface="+mn-ea"/>
                <a:cs typeface="+mn-cs"/>
              </a:defRPr>
            </a:lvl2pPr>
            <a:lvl3pPr marL="825095" indent="-165020" algn="l" defTabSz="660076" rtl="0" eaLnBrk="1" latinLnBrk="1" hangingPunct="1">
              <a:spcBef>
                <a:spcPct val="20000"/>
              </a:spcBef>
              <a:buFont typeface="Arial" pitchFamily="34" charset="0"/>
              <a:buChar char="•"/>
              <a:defRPr sz="1725" kern="1200">
                <a:solidFill>
                  <a:schemeClr val="tx1"/>
                </a:solidFill>
                <a:latin typeface="+mn-lt"/>
                <a:ea typeface="+mn-ea"/>
                <a:cs typeface="+mn-cs"/>
              </a:defRPr>
            </a:lvl3pPr>
            <a:lvl4pPr marL="115513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4pPr>
            <a:lvl5pPr marL="1485172"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5pPr>
            <a:lvl6pPr marL="1815211"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6pPr>
            <a:lvl7pPr marL="2145248"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7pPr>
            <a:lvl8pPr marL="2475286"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8pPr>
            <a:lvl9pPr marL="280532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9pPr>
          </a:lstStyle>
          <a:p>
            <a:pPr marL="0" indent="0" defTabSz="715082">
              <a:lnSpc>
                <a:spcPct val="160000"/>
              </a:lnSpc>
              <a:buNone/>
            </a:pPr>
            <a:r>
              <a:rPr lang="en-US" altLang="ko-KR" sz="1400" b="1" spc="-100" dirty="0">
                <a:ln>
                  <a:solidFill>
                    <a:srgbClr val="5B9BD5">
                      <a:alpha val="0"/>
                    </a:srgbClr>
                  </a:solidFill>
                </a:ln>
                <a:solidFill>
                  <a:srgbClr val="4156BD"/>
                </a:solidFill>
                <a:cs typeface="Arial" panose="020B0604020202020204" pitchFamily="34" charset="0"/>
              </a:rPr>
              <a:t>Design Patterns</a:t>
            </a:r>
            <a:r>
              <a:rPr lang="ko-KR" altLang="en-US" sz="1400" b="1" spc="-100" dirty="0">
                <a:ln>
                  <a:solidFill>
                    <a:srgbClr val="5B9BD5">
                      <a:alpha val="0"/>
                    </a:srgbClr>
                  </a:solidFill>
                </a:ln>
                <a:solidFill>
                  <a:srgbClr val="4156BD"/>
                </a:solidFill>
                <a:cs typeface="Arial" panose="020B0604020202020204" pitchFamily="34" charset="0"/>
              </a:rPr>
              <a:t>는 실습 중심으로 진행합니다</a:t>
            </a:r>
            <a:endParaRPr lang="en-US" altLang="ko-KR" sz="1400" b="1" spc="-100" dirty="0">
              <a:ln>
                <a:solidFill>
                  <a:srgbClr val="5B9BD5">
                    <a:alpha val="0"/>
                  </a:srgbClr>
                </a:solidFill>
              </a:ln>
              <a:solidFill>
                <a:srgbClr val="4156BD"/>
              </a:solidFill>
              <a:cs typeface="Arial" panose="020B0604020202020204" pitchFamily="34" charset="0"/>
            </a:endParaRPr>
          </a:p>
        </p:txBody>
      </p:sp>
      <p:sp>
        <p:nvSpPr>
          <p:cNvPr id="23" name="내용 개체 틀 2"/>
          <p:cNvSpPr txBox="1">
            <a:spLocks/>
          </p:cNvSpPr>
          <p:nvPr/>
        </p:nvSpPr>
        <p:spPr>
          <a:xfrm>
            <a:off x="0" y="1275606"/>
            <a:ext cx="8208912" cy="2573232"/>
          </a:xfrm>
          <a:prstGeom prst="rect">
            <a:avLst/>
          </a:prstGeom>
        </p:spPr>
        <p:txBody>
          <a:bodyPr vert="horz" lIns="91440" tIns="45720" rIns="91440" bIns="45720" rtlCol="0">
            <a:noAutofit/>
          </a:bodyPr>
          <a:lstStyle>
            <a:lvl1pPr marL="361950" indent="-252000">
              <a:lnSpc>
                <a:spcPct val="130000"/>
              </a:lnSpc>
              <a:spcBef>
                <a:spcPct val="20000"/>
              </a:spcBef>
              <a:buSzPct val="100000"/>
              <a:buFont typeface="+mj-lt"/>
              <a:buAutoNum type="arabicPeriod"/>
              <a:defRPr sz="1600" b="1" spc="-120" baseline="0">
                <a:latin typeface="맑은 고딕" panose="020B0503020000020004" pitchFamily="50" charset="-127"/>
                <a:ea typeface="맑은 고딕" panose="020B0503020000020004" pitchFamily="50" charset="-127"/>
              </a:defRPr>
            </a:lvl1pPr>
            <a:lvl2pPr marL="714375" lvl="1" indent="-252000">
              <a:lnSpc>
                <a:spcPct val="130000"/>
              </a:lnSpc>
              <a:spcBef>
                <a:spcPct val="20000"/>
              </a:spcBef>
              <a:buSzPct val="100000"/>
              <a:buFont typeface="+mj-lt"/>
              <a:buAutoNum type="arabicPeriod"/>
              <a:defRPr sz="1200" spc="-120" baseline="0">
                <a:solidFill>
                  <a:srgbClr val="1E1E2A"/>
                </a:solidFill>
                <a:latin typeface="맑은 고딕" panose="020B0503020000020004" pitchFamily="50" charset="-127"/>
                <a:ea typeface="맑은 고딕" panose="020B0503020000020004" pitchFamily="50" charset="-127"/>
              </a:defRPr>
            </a:lvl2pPr>
            <a:lvl3pPr marL="1076325" indent="-252000">
              <a:lnSpc>
                <a:spcPct val="130000"/>
              </a:lnSpc>
              <a:spcBef>
                <a:spcPct val="20000"/>
              </a:spcBef>
              <a:buSzPct val="100000"/>
              <a:buFont typeface="+mj-lt"/>
              <a:buAutoNum type="arabicPeriod"/>
              <a:defRPr sz="1400" spc="-120" baseline="0">
                <a:solidFill>
                  <a:srgbClr val="1E1E2A"/>
                </a:solidFill>
                <a:latin typeface="맑은 고딕" panose="020B0503020000020004" pitchFamily="50" charset="-127"/>
                <a:ea typeface="맑은 고딕" panose="020B0503020000020004" pitchFamily="50" charset="-127"/>
              </a:defRPr>
            </a:lvl3pPr>
            <a:lvl4pPr marL="1343025" indent="-266700">
              <a:lnSpc>
                <a:spcPct val="130000"/>
              </a:lnSpc>
              <a:spcBef>
                <a:spcPct val="20000"/>
              </a:spcBef>
              <a:buFont typeface="+mj-lt"/>
              <a:buAutoNum type="arabicPeriod"/>
              <a:defRPr sz="1200">
                <a:latin typeface="맑은 고딕" panose="020B0503020000020004" pitchFamily="50" charset="-127"/>
                <a:ea typeface="맑은 고딕" panose="020B0503020000020004" pitchFamily="50" charset="-127"/>
              </a:defRPr>
            </a:lvl4pPr>
            <a:lvl5pPr marL="1619250" indent="-276225">
              <a:lnSpc>
                <a:spcPct val="130000"/>
              </a:lnSpc>
              <a:spcBef>
                <a:spcPct val="20000"/>
              </a:spcBef>
              <a:buFont typeface="+mj-lt"/>
              <a:buAutoNum type="arabicPeriod"/>
              <a:defRPr sz="1000">
                <a:latin typeface="맑은 고딕" panose="020B0503020000020004" pitchFamily="50" charset="-127"/>
                <a:ea typeface="맑은 고딕" panose="020B0503020000020004" pitchFamily="50" charset="-127"/>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lvl="1">
              <a:lnSpc>
                <a:spcPct val="200000"/>
              </a:lnSpc>
              <a:buClr>
                <a:schemeClr val="accent1"/>
              </a:buClr>
              <a:buFont typeface="Wingdings" panose="05000000000000000000" pitchFamily="2" charset="2"/>
              <a:buChar char="§"/>
            </a:pPr>
            <a:r>
              <a:rPr lang="ko-KR" altLang="en-US" spc="-110" dirty="0"/>
              <a:t>개인별 사전 지식 수준이 다르므로</a:t>
            </a:r>
            <a:r>
              <a:rPr lang="en-US" altLang="ko-KR" spc="-110" dirty="0"/>
              <a:t> </a:t>
            </a:r>
            <a:r>
              <a:rPr lang="ko-KR" altLang="en-US" spc="-110" dirty="0">
                <a:highlight>
                  <a:srgbClr val="FFFF00"/>
                </a:highlight>
              </a:rPr>
              <a:t>각자 효율적인 방법으로 학습</a:t>
            </a:r>
            <a:r>
              <a:rPr lang="ko-KR" altLang="en-US" spc="-110" dirty="0"/>
              <a:t>해주세요</a:t>
            </a:r>
            <a:r>
              <a:rPr lang="en-US" altLang="ko-KR" spc="-110" dirty="0"/>
              <a:t>.</a:t>
            </a:r>
          </a:p>
          <a:p>
            <a:pPr lvl="2">
              <a:lnSpc>
                <a:spcPct val="200000"/>
              </a:lnSpc>
              <a:buClr>
                <a:schemeClr val="accent1"/>
              </a:buClr>
              <a:buFont typeface="Wingdings" panose="05000000000000000000" pitchFamily="2" charset="2"/>
              <a:buChar char="§"/>
            </a:pPr>
            <a:r>
              <a:rPr lang="ko-KR" altLang="en-US" sz="1200" spc="-110" dirty="0"/>
              <a:t>이해가 안되는 부분 </a:t>
            </a:r>
            <a:r>
              <a:rPr lang="en-US" altLang="ko-KR" sz="1200" spc="-110" dirty="0"/>
              <a:t>or </a:t>
            </a:r>
            <a:r>
              <a:rPr lang="ko-KR" altLang="en-US" sz="1200" spc="-110" dirty="0"/>
              <a:t>실습에 필요한 내용 중심</a:t>
            </a:r>
            <a:endParaRPr lang="en-US" altLang="ko-KR" sz="1200" spc="-110" dirty="0"/>
          </a:p>
          <a:p>
            <a:pPr lvl="1">
              <a:lnSpc>
                <a:spcPct val="200000"/>
              </a:lnSpc>
              <a:buClr>
                <a:schemeClr val="accent1"/>
              </a:buClr>
              <a:buFont typeface="Wingdings" panose="05000000000000000000" pitchFamily="2" charset="2"/>
              <a:buChar char="§"/>
            </a:pPr>
            <a:r>
              <a:rPr lang="ko-KR" altLang="en-US" spc="-110" dirty="0"/>
              <a:t>실습에 다루지 않은 내용도 </a:t>
            </a:r>
            <a:r>
              <a:rPr lang="ko-KR" altLang="en-US" b="1" u="sng" spc="-110" dirty="0"/>
              <a:t>모두 면접 질문의 범위</a:t>
            </a:r>
            <a:r>
              <a:rPr lang="ko-KR" altLang="en-US" spc="-110" dirty="0"/>
              <a:t>입니다</a:t>
            </a:r>
            <a:endParaRPr lang="en-US" altLang="ko-KR" spc="-110" dirty="0"/>
          </a:p>
          <a:p>
            <a:pPr lvl="1">
              <a:lnSpc>
                <a:spcPct val="200000"/>
              </a:lnSpc>
              <a:buClr>
                <a:schemeClr val="accent1"/>
              </a:buClr>
              <a:buFont typeface="Wingdings" panose="05000000000000000000" pitchFamily="2" charset="2"/>
              <a:buChar char="§"/>
            </a:pPr>
            <a:endParaRPr lang="en-US" altLang="ko-KR" spc="-110" dirty="0"/>
          </a:p>
          <a:p>
            <a:pPr lvl="1">
              <a:lnSpc>
                <a:spcPct val="200000"/>
              </a:lnSpc>
              <a:buClr>
                <a:schemeClr val="accent1"/>
              </a:buClr>
              <a:buFont typeface="Wingdings" panose="05000000000000000000" pitchFamily="2" charset="2"/>
              <a:buChar char="§"/>
            </a:pPr>
            <a:r>
              <a:rPr lang="en-US" altLang="ko-KR" spc="-110" dirty="0"/>
              <a:t>(</a:t>
            </a:r>
            <a:r>
              <a:rPr lang="ko-KR" altLang="en-US" spc="-110" dirty="0"/>
              <a:t>참고</a:t>
            </a:r>
            <a:r>
              <a:rPr lang="en-US" altLang="ko-KR" spc="-110" dirty="0"/>
              <a:t>) </a:t>
            </a:r>
            <a:r>
              <a:rPr lang="ko-KR" altLang="en-US" spc="-110" dirty="0"/>
              <a:t>디자인 패턴 설명 자료</a:t>
            </a:r>
            <a:endParaRPr lang="en-US" altLang="ko-KR" spc="-110" dirty="0"/>
          </a:p>
          <a:p>
            <a:pPr lvl="2">
              <a:lnSpc>
                <a:spcPct val="200000"/>
              </a:lnSpc>
              <a:buClr>
                <a:schemeClr val="accent1"/>
              </a:buClr>
              <a:buFont typeface="Wingdings" panose="05000000000000000000" pitchFamily="2" charset="2"/>
              <a:buChar char="§"/>
            </a:pPr>
            <a:r>
              <a:rPr lang="en-US" altLang="ko-KR" spc="-110" dirty="0">
                <a:hlinkClick r:id="rId2"/>
              </a:rPr>
              <a:t>https://refactoring.guru/design-patterns</a:t>
            </a:r>
            <a:r>
              <a:rPr lang="en-US" altLang="ko-KR" spc="-110" dirty="0"/>
              <a:t> </a:t>
            </a:r>
            <a:br>
              <a:rPr lang="en-US" altLang="ko-KR" spc="-110" dirty="0"/>
            </a:br>
            <a:r>
              <a:rPr lang="en-US" altLang="ko-KR" spc="-110" dirty="0"/>
              <a:t>(</a:t>
            </a:r>
            <a:r>
              <a:rPr lang="ko-KR" altLang="en-US" spc="-110" dirty="0"/>
              <a:t>한국어 선택 가능</a:t>
            </a:r>
            <a:r>
              <a:rPr lang="en-US" altLang="ko-KR" spc="-110" dirty="0"/>
              <a:t>)</a:t>
            </a:r>
          </a:p>
        </p:txBody>
      </p:sp>
      <p:sp>
        <p:nvSpPr>
          <p:cNvPr id="2" name="직사각형 1"/>
          <p:cNvSpPr/>
          <p:nvPr/>
        </p:nvSpPr>
        <p:spPr>
          <a:xfrm>
            <a:off x="2483768" y="2440945"/>
            <a:ext cx="1511952" cy="261610"/>
          </a:xfrm>
          <a:prstGeom prst="rect">
            <a:avLst/>
          </a:prstGeom>
        </p:spPr>
        <p:txBody>
          <a:bodyPr wrap="none">
            <a:spAutoFit/>
          </a:bodyPr>
          <a:lstStyle/>
          <a:p>
            <a:r>
              <a:rPr lang="en-US" altLang="ko-KR" sz="1100" spc="-100" dirty="0">
                <a:ln>
                  <a:solidFill>
                    <a:srgbClr val="5B9BD5">
                      <a:alpha val="0"/>
                    </a:srgbClr>
                  </a:solidFill>
                </a:ln>
                <a:solidFill>
                  <a:srgbClr val="4156BD"/>
                </a:solidFill>
                <a:cs typeface="Arial" panose="020B0604020202020204" pitchFamily="34" charset="0"/>
              </a:rPr>
              <a:t>* </a:t>
            </a:r>
            <a:r>
              <a:rPr lang="en-US" altLang="ko-KR" sz="1100" spc="-100" dirty="0" err="1">
                <a:ln>
                  <a:solidFill>
                    <a:srgbClr val="5B9BD5">
                      <a:alpha val="0"/>
                    </a:srgbClr>
                  </a:solidFill>
                </a:ln>
                <a:solidFill>
                  <a:srgbClr val="4156BD"/>
                </a:solidFill>
                <a:cs typeface="Arial" panose="020B0604020202020204" pitchFamily="34" charset="0"/>
              </a:rPr>
              <a:t>GoF</a:t>
            </a:r>
            <a:r>
              <a:rPr lang="en-US" altLang="ko-KR" sz="1100" spc="-100" dirty="0">
                <a:ln>
                  <a:solidFill>
                    <a:srgbClr val="5B9BD5">
                      <a:alpha val="0"/>
                    </a:srgbClr>
                  </a:solidFill>
                </a:ln>
                <a:solidFill>
                  <a:srgbClr val="4156BD"/>
                </a:solidFill>
                <a:cs typeface="Arial" panose="020B0604020202020204" pitchFamily="34" charset="0"/>
              </a:rPr>
              <a:t> 23</a:t>
            </a:r>
            <a:r>
              <a:rPr lang="ko-KR" altLang="en-US" sz="1100" spc="-100" dirty="0">
                <a:ln>
                  <a:solidFill>
                    <a:srgbClr val="5B9BD5">
                      <a:alpha val="0"/>
                    </a:srgbClr>
                  </a:solidFill>
                </a:ln>
                <a:solidFill>
                  <a:srgbClr val="4156BD"/>
                </a:solidFill>
                <a:cs typeface="Arial" panose="020B0604020202020204" pitchFamily="34" charset="0"/>
              </a:rPr>
              <a:t>개 </a:t>
            </a:r>
            <a:r>
              <a:rPr lang="en-US" altLang="ko-KR" sz="1100" spc="-100" dirty="0">
                <a:ln>
                  <a:solidFill>
                    <a:srgbClr val="5B9BD5">
                      <a:alpha val="0"/>
                    </a:srgbClr>
                  </a:solidFill>
                </a:ln>
                <a:solidFill>
                  <a:srgbClr val="4156BD"/>
                </a:solidFill>
                <a:cs typeface="Arial" panose="020B0604020202020204" pitchFamily="34" charset="0"/>
              </a:rPr>
              <a:t>Pattern </a:t>
            </a:r>
            <a:r>
              <a:rPr lang="ko-KR" altLang="en-US" sz="1100" spc="-100" dirty="0">
                <a:ln>
                  <a:solidFill>
                    <a:srgbClr val="5B9BD5">
                      <a:alpha val="0"/>
                    </a:srgbClr>
                  </a:solidFill>
                </a:ln>
                <a:solidFill>
                  <a:srgbClr val="4156BD"/>
                </a:solidFill>
                <a:cs typeface="Arial" panose="020B0604020202020204" pitchFamily="34" charset="0"/>
              </a:rPr>
              <a:t>전부</a:t>
            </a:r>
            <a:r>
              <a:rPr lang="en-US" altLang="ko-KR" sz="1100" spc="-100" dirty="0">
                <a:ln>
                  <a:solidFill>
                    <a:srgbClr val="5B9BD5">
                      <a:alpha val="0"/>
                    </a:srgbClr>
                  </a:solidFill>
                </a:ln>
                <a:solidFill>
                  <a:srgbClr val="4156BD"/>
                </a:solidFill>
                <a:cs typeface="Arial" panose="020B0604020202020204" pitchFamily="34" charset="0"/>
              </a:rPr>
              <a:t> </a:t>
            </a:r>
            <a:endParaRPr lang="ko-KR" altLang="en-US" sz="1100" dirty="0"/>
          </a:p>
        </p:txBody>
      </p:sp>
      <p:pic>
        <p:nvPicPr>
          <p:cNvPr id="5" name="그림 4">
            <a:extLst>
              <a:ext uri="{FF2B5EF4-FFF2-40B4-BE49-F238E27FC236}">
                <a16:creationId xmlns:a16="http://schemas.microsoft.com/office/drawing/2014/main" id="{96AA28AF-AB9E-45E7-B698-01CFE9AFA054}"/>
              </a:ext>
            </a:extLst>
          </p:cNvPr>
          <p:cNvPicPr>
            <a:picLocks noChangeAspect="1"/>
          </p:cNvPicPr>
          <p:nvPr/>
        </p:nvPicPr>
        <p:blipFill>
          <a:blip r:embed="rId3"/>
          <a:stretch>
            <a:fillRect/>
          </a:stretch>
        </p:blipFill>
        <p:spPr>
          <a:xfrm>
            <a:off x="5150399" y="2692550"/>
            <a:ext cx="3886097" cy="2399480"/>
          </a:xfrm>
          <a:prstGeom prst="rect">
            <a:avLst/>
          </a:prstGeom>
        </p:spPr>
      </p:pic>
    </p:spTree>
    <p:extLst>
      <p:ext uri="{BB962C8B-B14F-4D97-AF65-F5344CB8AC3E}">
        <p14:creationId xmlns:p14="http://schemas.microsoft.com/office/powerpoint/2010/main" val="909162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B60D08F6-3C65-B5C2-5144-2C7CD6FF07E4}"/>
              </a:ext>
            </a:extLst>
          </p:cNvPr>
          <p:cNvSpPr>
            <a:spLocks noGrp="1"/>
          </p:cNvSpPr>
          <p:nvPr>
            <p:ph type="title"/>
          </p:nvPr>
        </p:nvSpPr>
        <p:spPr/>
        <p:txBody>
          <a:bodyPr vert="horz" lIns="75927" tIns="37964" rIns="75927" bIns="37964" rtlCol="0" anchor="ctr">
            <a:normAutofit/>
          </a:bodyPr>
          <a:lstStyle/>
          <a:p>
            <a:r>
              <a:rPr lang="ko-KR" altLang="en-US" spc="0" dirty="0"/>
              <a:t>시간표</a:t>
            </a:r>
            <a:endParaRPr lang="ko-Kore-KR" altLang="en-US" spc="0" dirty="0"/>
          </a:p>
        </p:txBody>
      </p:sp>
      <p:sp>
        <p:nvSpPr>
          <p:cNvPr id="2" name="내용 개체 틀 1"/>
          <p:cNvSpPr>
            <a:spLocks noGrp="1"/>
          </p:cNvSpPr>
          <p:nvPr>
            <p:ph idx="1"/>
          </p:nvPr>
        </p:nvSpPr>
        <p:spPr>
          <a:xfrm>
            <a:off x="251520" y="771550"/>
            <a:ext cx="8712968" cy="3751262"/>
          </a:xfrm>
        </p:spPr>
        <p:txBody>
          <a:bodyPr>
            <a:normAutofit/>
          </a:bodyPr>
          <a:lstStyle/>
          <a:p>
            <a:r>
              <a:rPr lang="ko-KR" altLang="en-US" sz="1200" dirty="0">
                <a:solidFill>
                  <a:srgbClr val="000000"/>
                </a:solidFill>
                <a:latin typeface="맑은 고딕"/>
                <a:ea typeface="맑은 고딕"/>
                <a:cs typeface="맑은 고딕"/>
              </a:rPr>
              <a:t>이론 영상은 기본이론과 추가패턴으로 나누어 업로드 되어 있음</a:t>
            </a:r>
            <a:endParaRPr lang="en-US" altLang="ko-KR" sz="1200" dirty="0">
              <a:solidFill>
                <a:srgbClr val="000000"/>
              </a:solidFill>
              <a:latin typeface="맑은 고딕"/>
              <a:ea typeface="맑은 고딕"/>
              <a:cs typeface="맑은 고딕"/>
            </a:endParaRPr>
          </a:p>
          <a:p>
            <a:pPr lvl="1"/>
            <a:r>
              <a:rPr lang="ko-KR" altLang="en-US" sz="1200" dirty="0">
                <a:solidFill>
                  <a:srgbClr val="0000FF"/>
                </a:solidFill>
                <a:latin typeface="맑은 고딕"/>
                <a:ea typeface="맑은 고딕"/>
                <a:cs typeface="맑은 고딕"/>
              </a:rPr>
              <a:t>파란색으로 표시된 패턴</a:t>
            </a:r>
            <a:r>
              <a:rPr lang="ko-KR" altLang="en-US" sz="1200" dirty="0">
                <a:solidFill>
                  <a:srgbClr val="000000"/>
                </a:solidFill>
                <a:latin typeface="맑은 고딕"/>
                <a:ea typeface="맑은 고딕"/>
                <a:cs typeface="맑은 고딕"/>
              </a:rPr>
              <a:t>은 추가패턴 영상에서 확인</a:t>
            </a:r>
          </a:p>
          <a:p>
            <a:endParaRPr lang="ko-KR" altLang="en-US" sz="1200" dirty="0"/>
          </a:p>
        </p:txBody>
      </p:sp>
      <p:pic>
        <p:nvPicPr>
          <p:cNvPr id="6" name="그림 5">
            <a:extLst>
              <a:ext uri="{FF2B5EF4-FFF2-40B4-BE49-F238E27FC236}">
                <a16:creationId xmlns:a16="http://schemas.microsoft.com/office/drawing/2014/main" id="{90BFB955-CAAC-4C9B-AD64-98EF6500239C}"/>
              </a:ext>
            </a:extLst>
          </p:cNvPr>
          <p:cNvPicPr>
            <a:picLocks noChangeAspect="1"/>
          </p:cNvPicPr>
          <p:nvPr/>
        </p:nvPicPr>
        <p:blipFill>
          <a:blip r:embed="rId2"/>
          <a:stretch>
            <a:fillRect/>
          </a:stretch>
        </p:blipFill>
        <p:spPr>
          <a:xfrm>
            <a:off x="1691680" y="1867090"/>
            <a:ext cx="5029969" cy="3152932"/>
          </a:xfrm>
          <a:prstGeom prst="rect">
            <a:avLst/>
          </a:prstGeom>
        </p:spPr>
      </p:pic>
      <p:pic>
        <p:nvPicPr>
          <p:cNvPr id="9" name="그림 8">
            <a:extLst>
              <a:ext uri="{FF2B5EF4-FFF2-40B4-BE49-F238E27FC236}">
                <a16:creationId xmlns:a16="http://schemas.microsoft.com/office/drawing/2014/main" id="{2413E2C5-2EF5-40E3-8C21-76C90F3D841C}"/>
              </a:ext>
            </a:extLst>
          </p:cNvPr>
          <p:cNvPicPr>
            <a:picLocks noChangeAspect="1"/>
          </p:cNvPicPr>
          <p:nvPr/>
        </p:nvPicPr>
        <p:blipFill>
          <a:blip r:embed="rId3"/>
          <a:stretch>
            <a:fillRect/>
          </a:stretch>
        </p:blipFill>
        <p:spPr>
          <a:xfrm>
            <a:off x="5097000" y="843558"/>
            <a:ext cx="932578" cy="528615"/>
          </a:xfrm>
          <a:prstGeom prst="rect">
            <a:avLst/>
          </a:prstGeom>
        </p:spPr>
      </p:pic>
      <p:pic>
        <p:nvPicPr>
          <p:cNvPr id="11" name="그림 10">
            <a:extLst>
              <a:ext uri="{FF2B5EF4-FFF2-40B4-BE49-F238E27FC236}">
                <a16:creationId xmlns:a16="http://schemas.microsoft.com/office/drawing/2014/main" id="{6C95BEDE-460F-409C-AADB-EA99704F7013}"/>
              </a:ext>
            </a:extLst>
          </p:cNvPr>
          <p:cNvPicPr>
            <a:picLocks noChangeAspect="1"/>
          </p:cNvPicPr>
          <p:nvPr/>
        </p:nvPicPr>
        <p:blipFill>
          <a:blip r:embed="rId4"/>
          <a:stretch>
            <a:fillRect/>
          </a:stretch>
        </p:blipFill>
        <p:spPr>
          <a:xfrm>
            <a:off x="6108468" y="844682"/>
            <a:ext cx="911804" cy="512456"/>
          </a:xfrm>
          <a:prstGeom prst="rect">
            <a:avLst/>
          </a:prstGeom>
        </p:spPr>
      </p:pic>
    </p:spTree>
    <p:extLst>
      <p:ext uri="{BB962C8B-B14F-4D97-AF65-F5344CB8AC3E}">
        <p14:creationId xmlns:p14="http://schemas.microsoft.com/office/powerpoint/2010/main" val="766471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ko-KR" altLang="en-US" spc="0" dirty="0" err="1"/>
              <a:t>Why</a:t>
            </a:r>
            <a:r>
              <a:rPr lang="ko-KR" altLang="en-US" spc="0" dirty="0"/>
              <a:t> </a:t>
            </a:r>
            <a:r>
              <a:rPr lang="ko-KR" altLang="en-US" spc="0" dirty="0" err="1"/>
              <a:t>do</a:t>
            </a:r>
            <a:r>
              <a:rPr lang="ko-KR" altLang="en-US" spc="0" dirty="0"/>
              <a:t> </a:t>
            </a:r>
            <a:r>
              <a:rPr lang="ko-KR" altLang="en-US" spc="0" dirty="0" err="1"/>
              <a:t>we</a:t>
            </a:r>
            <a:r>
              <a:rPr lang="ko-KR" altLang="en-US" spc="0" dirty="0"/>
              <a:t> </a:t>
            </a:r>
            <a:r>
              <a:rPr lang="ko-KR" altLang="en-US" spc="0" dirty="0" err="1"/>
              <a:t>use</a:t>
            </a:r>
            <a:r>
              <a:rPr lang="ko-KR" altLang="en-US" spc="0" dirty="0"/>
              <a:t> </a:t>
            </a:r>
            <a:r>
              <a:rPr lang="ko-KR" altLang="en-US" spc="0" dirty="0" err="1"/>
              <a:t>patterns</a:t>
            </a:r>
            <a:r>
              <a:rPr lang="ko-KR" altLang="en-US" spc="0" dirty="0"/>
              <a:t>?</a:t>
            </a:r>
          </a:p>
        </p:txBody>
      </p:sp>
      <p:sp>
        <p:nvSpPr>
          <p:cNvPr id="9" name="내용 개체 틀 1"/>
          <p:cNvSpPr>
            <a:spLocks noGrp="1"/>
          </p:cNvSpPr>
          <p:nvPr>
            <p:ph idx="1"/>
          </p:nvPr>
        </p:nvSpPr>
        <p:spPr>
          <a:xfrm>
            <a:off x="251520" y="771550"/>
            <a:ext cx="8568952" cy="3751262"/>
          </a:xfrm>
        </p:spPr>
        <p:txBody>
          <a:bodyPr>
            <a:noAutofit/>
          </a:bodyPr>
          <a:lstStyle/>
          <a:p>
            <a:pPr lvl="0">
              <a:defRPr/>
            </a:pPr>
            <a:r>
              <a:rPr lang="en-US" altLang="ko-KR" sz="1200" dirty="0"/>
              <a:t>Designing object-oriented software is hard, </a:t>
            </a:r>
            <a:r>
              <a:rPr lang="en-US" altLang="ko-KR" sz="1200" b="1" dirty="0">
                <a:solidFill>
                  <a:srgbClr val="0070C0"/>
                </a:solidFill>
              </a:rPr>
              <a:t>Designing reusable</a:t>
            </a:r>
            <a:r>
              <a:rPr lang="ko-KR" altLang="en-US" sz="1200" b="1" dirty="0">
                <a:solidFill>
                  <a:srgbClr val="0070C0"/>
                </a:solidFill>
              </a:rPr>
              <a:t> </a:t>
            </a:r>
            <a:r>
              <a:rPr lang="en-US" altLang="ko-KR" sz="1200" b="1" dirty="0">
                <a:solidFill>
                  <a:srgbClr val="0070C0"/>
                </a:solidFill>
              </a:rPr>
              <a:t>object-oriented software is even harder</a:t>
            </a:r>
            <a:r>
              <a:rPr lang="en-US" altLang="ko-KR" sz="1200" dirty="0"/>
              <a:t>” – Erich Gamma</a:t>
            </a:r>
          </a:p>
          <a:p>
            <a:pPr lvl="0">
              <a:defRPr/>
            </a:pPr>
            <a:r>
              <a:rPr lang="en-US" altLang="ko-KR" sz="1200" dirty="0"/>
              <a:t>Experienced designers reuse solutions which were proved to work in the past</a:t>
            </a:r>
          </a:p>
          <a:p>
            <a:pPr lvl="0">
              <a:defRPr/>
            </a:pPr>
            <a:r>
              <a:rPr lang="en-US" altLang="ko-KR" sz="1200" dirty="0"/>
              <a:t>Well-structured object-oriented systems have recurring patterns of classes and objects</a:t>
            </a:r>
          </a:p>
          <a:p>
            <a:pPr lvl="0">
              <a:defRPr/>
            </a:pPr>
            <a:r>
              <a:rPr lang="en-US" altLang="ko-KR" sz="1200" dirty="0"/>
              <a:t>Knowledge of patterns allow a designer to be more productive and the resulting designs </a:t>
            </a:r>
            <a:r>
              <a:rPr lang="en-US" altLang="ko-KR" sz="1200" b="1" dirty="0">
                <a:solidFill>
                  <a:srgbClr val="0070C0"/>
                </a:solidFill>
              </a:rPr>
              <a:t>to be more flexible and reusable</a:t>
            </a:r>
          </a:p>
          <a:p>
            <a:pPr lvl="0">
              <a:defRPr/>
            </a:pPr>
            <a:r>
              <a:rPr lang="en-US" altLang="ko-KR" sz="1200" dirty="0"/>
              <a:t>Facilitate </a:t>
            </a:r>
            <a:r>
              <a:rPr lang="en-US" altLang="ko-KR" sz="1200" b="1" dirty="0">
                <a:solidFill>
                  <a:srgbClr val="0070C0"/>
                </a:solidFill>
              </a:rPr>
              <a:t>communication</a:t>
            </a:r>
            <a:r>
              <a:rPr lang="en-US" altLang="ko-KR" sz="1200" dirty="0"/>
              <a:t> among developers by providing a common language</a:t>
            </a:r>
          </a:p>
          <a:p>
            <a:pPr lvl="0">
              <a:defRPr/>
            </a:pPr>
            <a:r>
              <a:rPr lang="en-US" altLang="ko-KR" sz="1200" b="1" dirty="0">
                <a:solidFill>
                  <a:srgbClr val="0070C0"/>
                </a:solidFill>
              </a:rPr>
              <a:t>Someone has already solved your problems ! </a:t>
            </a:r>
          </a:p>
          <a:p>
            <a:pPr lvl="0">
              <a:defRPr/>
            </a:pPr>
            <a:r>
              <a:rPr lang="en-US" altLang="ko-KR" sz="1200" dirty="0">
                <a:solidFill>
                  <a:srgbClr val="0000FF"/>
                </a:solidFill>
              </a:rPr>
              <a:t>“A solution to a problem in a context”</a:t>
            </a:r>
          </a:p>
        </p:txBody>
      </p:sp>
    </p:spTree>
    <p:extLst>
      <p:ext uri="{BB962C8B-B14F-4D97-AF65-F5344CB8AC3E}">
        <p14:creationId xmlns:p14="http://schemas.microsoft.com/office/powerpoint/2010/main" val="4280362696"/>
      </p:ext>
    </p:extLst>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ko-KR" altLang="en-US" spc="0" dirty="0" err="1"/>
              <a:t>Category</a:t>
            </a:r>
            <a:r>
              <a:rPr lang="ko-KR" altLang="en-US" spc="0" dirty="0"/>
              <a:t> of </a:t>
            </a:r>
            <a:r>
              <a:rPr lang="ko-KR" altLang="en-US" spc="0" dirty="0" err="1"/>
              <a:t>GoF</a:t>
            </a:r>
            <a:r>
              <a:rPr lang="ko-KR" altLang="en-US" spc="0" dirty="0"/>
              <a:t> </a:t>
            </a:r>
            <a:r>
              <a:rPr lang="ko-KR" altLang="en-US" spc="0" dirty="0" err="1"/>
              <a:t>Patterns</a:t>
            </a:r>
            <a:endParaRPr lang="ko-KR" altLang="en-US" spc="0" dirty="0"/>
          </a:p>
        </p:txBody>
      </p:sp>
      <p:pic>
        <p:nvPicPr>
          <p:cNvPr id="11" name="그림 10"/>
          <p:cNvPicPr>
            <a:picLocks noChangeAspect="1"/>
          </p:cNvPicPr>
          <p:nvPr/>
        </p:nvPicPr>
        <p:blipFill rotWithShape="1">
          <a:blip r:embed="rId2"/>
          <a:stretch>
            <a:fillRect/>
          </a:stretch>
        </p:blipFill>
        <p:spPr>
          <a:xfrm>
            <a:off x="1403648" y="1383573"/>
            <a:ext cx="6048672" cy="3744782"/>
          </a:xfrm>
          <a:prstGeom prst="rect">
            <a:avLst/>
          </a:prstGeom>
        </p:spPr>
      </p:pic>
      <p:sp>
        <p:nvSpPr>
          <p:cNvPr id="5" name="내용 개체 틀 1"/>
          <p:cNvSpPr>
            <a:spLocks noGrp="1"/>
          </p:cNvSpPr>
          <p:nvPr>
            <p:ph idx="1"/>
          </p:nvPr>
        </p:nvSpPr>
        <p:spPr>
          <a:xfrm>
            <a:off x="251520" y="764704"/>
            <a:ext cx="8568952" cy="3751262"/>
          </a:xfrm>
        </p:spPr>
        <p:txBody>
          <a:bodyPr>
            <a:noAutofit/>
          </a:bodyPr>
          <a:lstStyle/>
          <a:p>
            <a:pPr lvl="0">
              <a:defRPr/>
            </a:pPr>
            <a:r>
              <a:rPr lang="en-US" altLang="ko-KR" sz="1200" dirty="0">
                <a:solidFill>
                  <a:srgbClr val="FF0000"/>
                </a:solidFill>
              </a:rPr>
              <a:t>(</a:t>
            </a:r>
            <a:r>
              <a:rPr lang="ko-KR" altLang="en-US" sz="1200" dirty="0">
                <a:solidFill>
                  <a:srgbClr val="FF0000"/>
                </a:solidFill>
              </a:rPr>
              <a:t>붉은색</a:t>
            </a:r>
            <a:r>
              <a:rPr lang="en-US" altLang="ko-KR" sz="1200" dirty="0">
                <a:solidFill>
                  <a:srgbClr val="FF0000"/>
                </a:solidFill>
              </a:rPr>
              <a:t>)</a:t>
            </a:r>
            <a:r>
              <a:rPr lang="en-US" altLang="ko-KR" sz="1200" dirty="0"/>
              <a:t> 2.1 Design Patterns </a:t>
            </a:r>
            <a:r>
              <a:rPr lang="ko-KR" altLang="en-US" sz="1200" dirty="0"/>
              <a:t>이론</a:t>
            </a:r>
            <a:r>
              <a:rPr lang="en-US" altLang="ko-KR" sz="1200" dirty="0"/>
              <a:t>(</a:t>
            </a:r>
            <a:r>
              <a:rPr lang="ko-KR" altLang="en-US" sz="1200" dirty="0" err="1"/>
              <a:t>사전학습</a:t>
            </a:r>
            <a:r>
              <a:rPr lang="en-US" altLang="ko-KR" sz="1200" dirty="0"/>
              <a:t>) </a:t>
            </a:r>
          </a:p>
          <a:p>
            <a:pPr lvl="0">
              <a:defRPr/>
            </a:pPr>
            <a:r>
              <a:rPr lang="en-US" altLang="ko-KR" sz="1200" dirty="0"/>
              <a:t>(</a:t>
            </a:r>
            <a:r>
              <a:rPr lang="ko-KR" altLang="en-US" sz="1200" dirty="0"/>
              <a:t>검정색</a:t>
            </a:r>
            <a:r>
              <a:rPr lang="en-US" altLang="ko-KR" sz="1200" dirty="0"/>
              <a:t>) 2.2 Design Patterns </a:t>
            </a:r>
            <a:r>
              <a:rPr lang="ko-KR" altLang="en-US" sz="1200" dirty="0"/>
              <a:t>이론</a:t>
            </a:r>
            <a:r>
              <a:rPr lang="en-US" altLang="ko-KR" sz="1200" dirty="0"/>
              <a:t>(</a:t>
            </a:r>
            <a:r>
              <a:rPr lang="ko-KR" altLang="en-US" sz="1200" dirty="0" err="1"/>
              <a:t>추가패턴</a:t>
            </a:r>
            <a:r>
              <a:rPr lang="en-US" altLang="ko-KR" sz="1200" dirty="0"/>
              <a:t>) </a:t>
            </a:r>
            <a:r>
              <a:rPr lang="ko-KR" altLang="en-US" sz="1200" dirty="0"/>
              <a:t> </a:t>
            </a:r>
            <a:r>
              <a:rPr lang="en-US" altLang="ko-KR" sz="1000" dirty="0">
                <a:solidFill>
                  <a:srgbClr val="0000FF"/>
                </a:solidFill>
              </a:rPr>
              <a:t>* </a:t>
            </a:r>
            <a:r>
              <a:rPr lang="ko-KR" altLang="en-US" sz="1000" dirty="0">
                <a:solidFill>
                  <a:srgbClr val="0000FF"/>
                </a:solidFill>
              </a:rPr>
              <a:t>일부 패턴은 제외</a:t>
            </a:r>
            <a:r>
              <a:rPr lang="en-US" altLang="ko-KR" sz="1000" dirty="0">
                <a:solidFill>
                  <a:srgbClr val="0000FF"/>
                </a:solidFill>
              </a:rPr>
              <a:t>(Flyweight, Interpreter, Memento)</a:t>
            </a:r>
            <a:endParaRPr lang="en-US" altLang="ko-KR" sz="1200" dirty="0">
              <a:solidFill>
                <a:srgbClr val="0000FF"/>
              </a:solidFill>
            </a:endParaRPr>
          </a:p>
        </p:txBody>
      </p:sp>
      <p:pic>
        <p:nvPicPr>
          <p:cNvPr id="6" name="그림 5">
            <a:extLst>
              <a:ext uri="{FF2B5EF4-FFF2-40B4-BE49-F238E27FC236}">
                <a16:creationId xmlns:a16="http://schemas.microsoft.com/office/drawing/2014/main" id="{23BDFF80-BE58-4443-B40F-A84C4BE452CC}"/>
              </a:ext>
            </a:extLst>
          </p:cNvPr>
          <p:cNvPicPr>
            <a:picLocks noChangeAspect="1"/>
          </p:cNvPicPr>
          <p:nvPr/>
        </p:nvPicPr>
        <p:blipFill>
          <a:blip r:embed="rId3"/>
          <a:stretch>
            <a:fillRect/>
          </a:stretch>
        </p:blipFill>
        <p:spPr>
          <a:xfrm>
            <a:off x="6296836" y="810890"/>
            <a:ext cx="932578" cy="528615"/>
          </a:xfrm>
          <a:prstGeom prst="rect">
            <a:avLst/>
          </a:prstGeom>
        </p:spPr>
      </p:pic>
      <p:pic>
        <p:nvPicPr>
          <p:cNvPr id="7" name="그림 6">
            <a:extLst>
              <a:ext uri="{FF2B5EF4-FFF2-40B4-BE49-F238E27FC236}">
                <a16:creationId xmlns:a16="http://schemas.microsoft.com/office/drawing/2014/main" id="{DF264B8D-5790-473D-AEFB-9C0E5B0E1F19}"/>
              </a:ext>
            </a:extLst>
          </p:cNvPr>
          <p:cNvPicPr>
            <a:picLocks noChangeAspect="1"/>
          </p:cNvPicPr>
          <p:nvPr/>
        </p:nvPicPr>
        <p:blipFill>
          <a:blip r:embed="rId4"/>
          <a:stretch>
            <a:fillRect/>
          </a:stretch>
        </p:blipFill>
        <p:spPr>
          <a:xfrm>
            <a:off x="7308304" y="812014"/>
            <a:ext cx="911804" cy="512456"/>
          </a:xfrm>
          <a:prstGeom prst="rect">
            <a:avLst/>
          </a:prstGeom>
        </p:spPr>
      </p:pic>
    </p:spTree>
    <p:extLst>
      <p:ext uri="{BB962C8B-B14F-4D97-AF65-F5344CB8AC3E}">
        <p14:creationId xmlns:p14="http://schemas.microsoft.com/office/powerpoint/2010/main" val="550588681"/>
      </p:ext>
    </p:extLst>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pPr lvl="0">
              <a:defRPr/>
            </a:pPr>
            <a:r>
              <a:rPr lang="ko-KR" altLang="en-US" spc="0" dirty="0" err="1"/>
              <a:t>O</a:t>
            </a:r>
            <a:r>
              <a:rPr lang="en-US" altLang="ko-KR" spc="0" dirty="0" err="1"/>
              <a:t>bject</a:t>
            </a:r>
            <a:r>
              <a:rPr lang="ko-KR" altLang="en-US" spc="0" dirty="0"/>
              <a:t>-</a:t>
            </a:r>
            <a:r>
              <a:rPr lang="ko-KR" altLang="en-US" spc="0" dirty="0" err="1"/>
              <a:t>O</a:t>
            </a:r>
            <a:r>
              <a:rPr lang="en-US" altLang="ko-KR" spc="0" dirty="0" err="1"/>
              <a:t>riented</a:t>
            </a:r>
            <a:r>
              <a:rPr lang="ko-KR" altLang="en-US" spc="0" dirty="0"/>
              <a:t> </a:t>
            </a:r>
            <a:r>
              <a:rPr lang="en-US" altLang="ko-KR" spc="0" dirty="0"/>
              <a:t>Paradigm</a:t>
            </a:r>
            <a:r>
              <a:rPr lang="ko-KR" altLang="en-US" spc="0" dirty="0"/>
              <a:t> </a:t>
            </a:r>
            <a:r>
              <a:rPr lang="ko-KR" altLang="en-US" spc="0" dirty="0" err="1"/>
              <a:t>R</a:t>
            </a:r>
            <a:r>
              <a:rPr lang="en-US" altLang="ko-KR" spc="0" dirty="0" err="1"/>
              <a:t>eview</a:t>
            </a:r>
            <a:endParaRPr lang="ko-KR" altLang="en-US" spc="0" dirty="0"/>
          </a:p>
        </p:txBody>
      </p:sp>
      <p:sp>
        <p:nvSpPr>
          <p:cNvPr id="13" name="내용 개체 틀 1"/>
          <p:cNvSpPr>
            <a:spLocks noGrp="1"/>
          </p:cNvSpPr>
          <p:nvPr>
            <p:ph idx="1"/>
          </p:nvPr>
        </p:nvSpPr>
        <p:spPr>
          <a:xfrm>
            <a:off x="251520" y="908720"/>
            <a:ext cx="8892480" cy="3751262"/>
          </a:xfrm>
        </p:spPr>
        <p:txBody>
          <a:bodyPr vert="horz" lIns="91440" tIns="45720" rIns="91440" bIns="45720">
            <a:noAutofit/>
          </a:bodyPr>
          <a:lstStyle/>
          <a:p>
            <a:pPr marL="271463" lvl="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600" b="1" i="0" u="none" strike="noStrike" kern="1200" cap="none" spc="-100" normalizeH="0" dirty="0">
                <a:solidFill>
                  <a:srgbClr val="000000"/>
                </a:solidFill>
                <a:latin typeface="맑은 고딕"/>
                <a:ea typeface="맑은 고딕"/>
                <a:cs typeface="맑은 고딕"/>
              </a:rPr>
              <a:t>ADT</a:t>
            </a:r>
            <a:r>
              <a:rPr kumimoji="0" lang="en-US" altLang="ko-KR" sz="1600" b="0" i="0" u="none" strike="noStrike" kern="1200" cap="none" spc="-100" normalizeH="0" dirty="0">
                <a:solidFill>
                  <a:srgbClr val="000000"/>
                </a:solidFill>
                <a:latin typeface="맑은 고딕"/>
                <a:ea typeface="맑은 고딕"/>
                <a:cs typeface="맑은 고딕"/>
              </a:rPr>
              <a:t> </a:t>
            </a:r>
            <a:r>
              <a:rPr kumimoji="0" lang="en-US" altLang="ko-KR" sz="1050" b="0" i="0" u="none" strike="noStrike" kern="1200" cap="none" spc="-100" normalizeH="0" dirty="0">
                <a:solidFill>
                  <a:srgbClr val="000000"/>
                </a:solidFill>
                <a:latin typeface="맑은 고딕"/>
                <a:ea typeface="맑은 고딕"/>
                <a:cs typeface="맑은 고딕"/>
              </a:rPr>
              <a:t>(Abstract Data Type)</a:t>
            </a:r>
            <a:r>
              <a:rPr kumimoji="0" lang="ko-KR" altLang="en-US" sz="1050" b="0" i="0" u="none" strike="noStrike" kern="1200" cap="none" spc="-100" normalizeH="0" dirty="0">
                <a:solidFill>
                  <a:srgbClr val="000000"/>
                </a:solidFill>
                <a:latin typeface="맑은 고딕"/>
                <a:ea typeface="맑은 고딕"/>
                <a:cs typeface="맑은 고딕"/>
              </a:rPr>
              <a:t> </a:t>
            </a:r>
            <a:r>
              <a:rPr kumimoji="0" lang="en-US" altLang="ko-KR" sz="1050" b="0" i="0" u="none" strike="noStrike" kern="1200" cap="none" spc="-100" normalizeH="0" dirty="0">
                <a:solidFill>
                  <a:srgbClr val="000000"/>
                </a:solidFill>
                <a:latin typeface="맑은 고딕"/>
                <a:ea typeface="맑은 고딕"/>
                <a:cs typeface="맑은 고딕"/>
              </a:rPr>
              <a:t>:</a:t>
            </a:r>
            <a:r>
              <a:rPr kumimoji="0" lang="ko-KR" altLang="en-US" sz="1600" b="0" i="0" u="none" strike="noStrike" kern="1200" cap="none" spc="0" normalizeH="0" dirty="0">
                <a:solidFill>
                  <a:srgbClr val="000000"/>
                </a:solidFill>
                <a:latin typeface="맑은 고딕"/>
                <a:ea typeface="맑은 고딕"/>
                <a:cs typeface="맑은 고딕"/>
              </a:rPr>
              <a:t> </a:t>
            </a:r>
            <a:r>
              <a:rPr kumimoji="0" lang="ko-KR" altLang="en-US" sz="1600" b="1" i="0" u="none" strike="noStrike" kern="1200" cap="none" spc="0" normalizeH="0" dirty="0">
                <a:solidFill>
                  <a:srgbClr val="0070C0"/>
                </a:solidFill>
                <a:latin typeface="맑은 고딕"/>
                <a:ea typeface="맑은 고딕"/>
                <a:cs typeface="맑은 고딕"/>
              </a:rPr>
              <a:t>Encapsulation</a:t>
            </a:r>
            <a:r>
              <a:rPr kumimoji="0" lang="ko-KR" altLang="en-US" sz="1600" b="0" i="0" u="none" strike="noStrike" kern="1200" cap="none" spc="0" normalizeH="0" dirty="0">
                <a:solidFill>
                  <a:srgbClr val="000000"/>
                </a:solidFill>
                <a:latin typeface="맑은 고딕"/>
                <a:ea typeface="맑은 고딕"/>
                <a:cs typeface="맑은 고딕"/>
              </a:rPr>
              <a:t> of </a:t>
            </a:r>
            <a:r>
              <a:rPr kumimoji="0" lang="ko-KR" altLang="en-US" sz="1600" b="0" i="0" u="none" strike="noStrike" kern="1200" cap="none" spc="0" normalizeH="0" dirty="0" err="1">
                <a:solidFill>
                  <a:srgbClr val="000000"/>
                </a:solidFill>
                <a:latin typeface="맑은 고딕"/>
                <a:ea typeface="맑은 고딕"/>
                <a:cs typeface="맑은 고딕"/>
              </a:rPr>
              <a:t>data</a:t>
            </a:r>
            <a:r>
              <a:rPr kumimoji="0" lang="ko-KR" altLang="en-US" sz="1600" b="0" i="0" u="none" strike="noStrike" kern="1200" cap="none" spc="0" normalizeH="0" dirty="0">
                <a:solidFill>
                  <a:srgbClr val="000000"/>
                </a:solidFill>
                <a:latin typeface="맑은 고딕"/>
                <a:ea typeface="맑은 고딕"/>
                <a:cs typeface="맑은 고딕"/>
              </a:rPr>
              <a:t> and </a:t>
            </a:r>
            <a:r>
              <a:rPr kumimoji="0" lang="ko-KR" altLang="en-US" sz="1600" b="0" i="0" u="none" strike="noStrike" kern="1200" cap="none" spc="0" normalizeH="0" dirty="0" err="1">
                <a:solidFill>
                  <a:srgbClr val="000000"/>
                </a:solidFill>
                <a:latin typeface="맑은 고딕"/>
                <a:ea typeface="맑은 고딕"/>
                <a:cs typeface="맑은 고딕"/>
              </a:rPr>
              <a:t>related</a:t>
            </a:r>
            <a:r>
              <a:rPr kumimoji="0" lang="ko-KR" altLang="en-US" sz="1600" b="0" i="0" u="none" strike="noStrike" kern="1200" cap="none" spc="0" normalizeH="0" dirty="0">
                <a:solidFill>
                  <a:srgbClr val="000000"/>
                </a:solidFill>
                <a:latin typeface="맑은 고딕"/>
                <a:ea typeface="맑은 고딕"/>
                <a:cs typeface="맑은 고딕"/>
              </a:rPr>
              <a:t> </a:t>
            </a:r>
            <a:r>
              <a:rPr kumimoji="0" lang="ko-KR" altLang="en-US" sz="1600" b="0" i="0" u="none" strike="noStrike" kern="1200" cap="none" spc="0" normalizeH="0" dirty="0" err="1">
                <a:solidFill>
                  <a:srgbClr val="000000"/>
                </a:solidFill>
                <a:latin typeface="맑은 고딕"/>
                <a:ea typeface="맑은 고딕"/>
                <a:cs typeface="맑은 고딕"/>
              </a:rPr>
              <a:t>operations</a:t>
            </a:r>
            <a:r>
              <a:rPr kumimoji="0" lang="ko-KR" altLang="en-US" sz="1600" b="0" i="0" u="none" strike="noStrike" kern="1200" cap="none" spc="0" normalizeH="0" dirty="0">
                <a:solidFill>
                  <a:srgbClr val="000000"/>
                </a:solidFill>
                <a:latin typeface="맑은 고딕"/>
                <a:ea typeface="맑은 고딕"/>
                <a:cs typeface="맑은 고딕"/>
              </a:rPr>
              <a:t> </a:t>
            </a:r>
            <a:r>
              <a:rPr kumimoji="0" lang="ko-KR" altLang="en-US" sz="1600" b="0" i="0" u="none" strike="noStrike" kern="1200" cap="none" spc="0" normalizeH="0" dirty="0" err="1">
                <a:solidFill>
                  <a:srgbClr val="000000"/>
                </a:solidFill>
                <a:latin typeface="맑은 고딕"/>
                <a:ea typeface="맑은 고딕"/>
                <a:cs typeface="맑은 고딕"/>
              </a:rPr>
              <a:t>into</a:t>
            </a:r>
            <a:r>
              <a:rPr kumimoji="0" lang="ko-KR" altLang="en-US" sz="1600" b="0" i="0" u="none" strike="noStrike" kern="1200" cap="none" spc="0" normalizeH="0" dirty="0">
                <a:solidFill>
                  <a:srgbClr val="000000"/>
                </a:solidFill>
                <a:latin typeface="맑은 고딕"/>
                <a:ea typeface="맑은 고딕"/>
                <a:cs typeface="맑은 고딕"/>
              </a:rPr>
              <a:t> </a:t>
            </a:r>
            <a:r>
              <a:rPr kumimoji="0" lang="ko-KR" altLang="en-US" sz="1600" b="0" i="0" u="none" strike="noStrike" kern="1200" cap="none" spc="0" normalizeH="0" dirty="0" err="1">
                <a:solidFill>
                  <a:srgbClr val="000000"/>
                </a:solidFill>
                <a:latin typeface="맑은 고딕"/>
                <a:ea typeface="맑은 고딕"/>
                <a:cs typeface="맑은 고딕"/>
              </a:rPr>
              <a:t>a</a:t>
            </a:r>
            <a:r>
              <a:rPr kumimoji="0" lang="ko-KR" altLang="en-US" sz="1600" b="0" i="0" u="none" strike="noStrike" kern="1200" cap="none" spc="0" normalizeH="0" dirty="0">
                <a:solidFill>
                  <a:srgbClr val="000000"/>
                </a:solidFill>
                <a:latin typeface="맑은 고딕"/>
                <a:ea typeface="맑은 고딕"/>
                <a:cs typeface="맑은 고딕"/>
              </a:rPr>
              <a:t> </a:t>
            </a:r>
            <a:r>
              <a:rPr kumimoji="0" lang="ko-KR" altLang="en-US" sz="1600" b="0" i="0" u="none" strike="noStrike" kern="1200" cap="none" spc="0" normalizeH="0" dirty="0" err="1">
                <a:solidFill>
                  <a:srgbClr val="000000"/>
                </a:solidFill>
                <a:latin typeface="맑은 고딕"/>
                <a:ea typeface="맑은 고딕"/>
                <a:cs typeface="맑은 고딕"/>
              </a:rPr>
              <a:t>single</a:t>
            </a:r>
            <a:r>
              <a:rPr kumimoji="0" lang="ko-KR" altLang="en-US" sz="1600" b="0" i="0" u="none" strike="noStrike" kern="1200" cap="none" spc="0" normalizeH="0" dirty="0">
                <a:solidFill>
                  <a:srgbClr val="000000"/>
                </a:solidFill>
                <a:latin typeface="맑은 고딕"/>
                <a:ea typeface="맑은 고딕"/>
                <a:cs typeface="맑은 고딕"/>
              </a:rPr>
              <a:t> </a:t>
            </a:r>
            <a:r>
              <a:rPr kumimoji="0" lang="ko-KR" altLang="en-US" sz="1600" b="0" i="0" u="none" strike="noStrike" kern="1200" cap="none" spc="0" normalizeH="0" dirty="0" err="1">
                <a:solidFill>
                  <a:srgbClr val="000000"/>
                </a:solidFill>
                <a:latin typeface="맑은 고딕"/>
                <a:ea typeface="맑은 고딕"/>
                <a:cs typeface="맑은 고딕"/>
              </a:rPr>
              <a:t>syntactic</a:t>
            </a:r>
            <a:r>
              <a:rPr kumimoji="0" lang="ko-KR" altLang="en-US" sz="1600" b="0" i="0" u="none" strike="noStrike" kern="1200" cap="none" spc="0" normalizeH="0" dirty="0">
                <a:solidFill>
                  <a:srgbClr val="000000"/>
                </a:solidFill>
                <a:latin typeface="맑은 고딕"/>
                <a:ea typeface="맑은 고딕"/>
                <a:cs typeface="맑은 고딕"/>
              </a:rPr>
              <a:t> </a:t>
            </a:r>
            <a:r>
              <a:rPr kumimoji="0" lang="ko-KR" altLang="en-US" sz="1600" b="0" i="0" u="none" strike="noStrike" kern="1200" cap="none" spc="0" normalizeH="0" dirty="0" err="1">
                <a:solidFill>
                  <a:srgbClr val="000000"/>
                </a:solidFill>
                <a:latin typeface="맑은 고딕"/>
                <a:ea typeface="맑은 고딕"/>
                <a:cs typeface="맑은 고딕"/>
              </a:rPr>
              <a:t>unit</a:t>
            </a:r>
            <a:endParaRPr kumimoji="0" lang="ko-KR" altLang="en-US" sz="1600" b="0" i="0" u="none" strike="noStrike" kern="1200" cap="none" spc="0" normalizeH="0" dirty="0">
              <a:solidFill>
                <a:srgbClr val="000000"/>
              </a:solidFill>
              <a:latin typeface="맑은 고딕"/>
              <a:ea typeface="맑은 고딕"/>
              <a:cs typeface="맑은 고딕"/>
            </a:endParaRPr>
          </a:p>
          <a:p>
            <a:pPr marL="271463" lvl="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600" b="1" i="0" u="none" strike="noStrike" kern="1200" cap="none" spc="0" normalizeH="0" dirty="0">
                <a:solidFill>
                  <a:srgbClr val="000000"/>
                </a:solidFill>
                <a:latin typeface="맑은 고딕"/>
                <a:ea typeface="맑은 고딕"/>
                <a:cs typeface="맑은 고딕"/>
              </a:rPr>
              <a:t>Class</a:t>
            </a:r>
            <a:r>
              <a:rPr kumimoji="0" lang="en-US" altLang="ko-KR" sz="1600" b="0" i="0" u="none" strike="noStrike" kern="1200" cap="none" spc="0" normalizeH="0" dirty="0">
                <a:solidFill>
                  <a:srgbClr val="000000"/>
                </a:solidFill>
                <a:latin typeface="맑은 고딕"/>
                <a:ea typeface="맑은 고딕"/>
                <a:cs typeface="맑은 고딕"/>
              </a:rPr>
              <a:t> = ADT + Inheritance + Polymorphism</a:t>
            </a:r>
          </a:p>
          <a:p>
            <a:pPr marL="271463" lvl="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600" b="1" i="0" u="none" strike="noStrike" kern="1200" cap="none" spc="0" normalizeH="0" dirty="0">
                <a:solidFill>
                  <a:srgbClr val="000000"/>
                </a:solidFill>
                <a:latin typeface="맑은 고딕"/>
                <a:ea typeface="맑은 고딕"/>
                <a:cs typeface="맑은 고딕"/>
              </a:rPr>
              <a:t>Types of Polymorphism</a:t>
            </a:r>
          </a:p>
          <a:p>
            <a:pPr marL="541338" lvl="1" indent="-180000" algn="l" defTabSz="914400" rtl="0" eaLnBrk="1" latinLnBrk="1" hangingPunct="1">
              <a:lnSpc>
                <a:spcPct val="100000"/>
              </a:lnSpc>
              <a:spcBef>
                <a:spcPct val="20000"/>
              </a:spcBef>
              <a:spcAft>
                <a:spcPts val="500"/>
              </a:spcAft>
              <a:buClr>
                <a:schemeClr val="tx1">
                  <a:lumMod val="75000"/>
                  <a:lumOff val="25000"/>
                </a:schemeClr>
              </a:buClr>
              <a:buSzPct val="110000"/>
              <a:buFont typeface="Arial"/>
              <a:buChar char="•"/>
              <a:defRPr/>
            </a:pPr>
            <a:r>
              <a:rPr kumimoji="0" lang="en-US" altLang="ko-KR" sz="1400" b="0" i="0" u="none" strike="noStrike" kern="1200" cap="none" spc="0" normalizeH="0" dirty="0">
                <a:solidFill>
                  <a:srgbClr val="000000"/>
                </a:solidFill>
                <a:latin typeface="맑은 고딕"/>
                <a:ea typeface="맑은 고딕"/>
                <a:cs typeface="맑은 고딕"/>
              </a:rPr>
              <a:t>Runtime polymorphism (Dynamic polymorphism)</a:t>
            </a:r>
            <a:r>
              <a:rPr kumimoji="0" lang="ko-KR" altLang="en-US" sz="1400" b="0" i="0" u="none" strike="noStrike" kern="1200" cap="none" spc="0" normalizeH="0" dirty="0">
                <a:solidFill>
                  <a:srgbClr val="000000"/>
                </a:solidFill>
                <a:latin typeface="맑은 고딕"/>
                <a:ea typeface="맑은 고딕"/>
                <a:cs typeface="맑은 고딕"/>
              </a:rPr>
              <a:t> </a:t>
            </a:r>
            <a:r>
              <a:rPr kumimoji="0" lang="en-US" altLang="ko-KR" sz="1400" b="0" i="0" u="none" strike="noStrike" kern="1200" cap="none" spc="0" normalizeH="0" dirty="0">
                <a:solidFill>
                  <a:srgbClr val="000000"/>
                </a:solidFill>
                <a:latin typeface="맑은 고딕"/>
                <a:ea typeface="맑은 고딕"/>
                <a:cs typeface="맑은 고딕"/>
              </a:rPr>
              <a:t>:</a:t>
            </a:r>
            <a:r>
              <a:rPr kumimoji="0" lang="ko-KR" altLang="en-US" sz="1400" b="0" i="0" u="none" strike="noStrike" kern="1200" cap="none" spc="0" normalizeH="0" dirty="0">
                <a:solidFill>
                  <a:srgbClr val="000000"/>
                </a:solidFill>
                <a:latin typeface="맑은 고딕"/>
                <a:ea typeface="맑은 고딕"/>
                <a:cs typeface="맑은 고딕"/>
              </a:rPr>
              <a:t> </a:t>
            </a:r>
            <a:r>
              <a:rPr kumimoji="0" lang="en-US" altLang="ko-KR" sz="1400" b="0" i="0" u="none" strike="noStrike" kern="1200" cap="none" spc="0" normalizeH="0" dirty="0">
                <a:solidFill>
                  <a:schemeClr val="dk1"/>
                </a:solidFill>
                <a:latin typeface="맑은 고딕"/>
                <a:ea typeface="맑은 고딕"/>
                <a:cs typeface="맑은 고딕"/>
              </a:rPr>
              <a:t>Method Overriding</a:t>
            </a:r>
          </a:p>
          <a:p>
            <a:pPr marL="541338" lvl="1" indent="-180000" algn="l" defTabSz="914400" rtl="0" eaLnBrk="1" latinLnBrk="1" hangingPunct="1">
              <a:lnSpc>
                <a:spcPct val="100000"/>
              </a:lnSpc>
              <a:spcBef>
                <a:spcPct val="20000"/>
              </a:spcBef>
              <a:spcAft>
                <a:spcPts val="500"/>
              </a:spcAft>
              <a:buClr>
                <a:schemeClr val="tx1">
                  <a:lumMod val="75000"/>
                  <a:lumOff val="25000"/>
                </a:schemeClr>
              </a:buClr>
              <a:buSzPct val="110000"/>
              <a:buFont typeface="Arial"/>
              <a:buChar char="•"/>
              <a:defRPr/>
            </a:pPr>
            <a:r>
              <a:rPr kumimoji="0" lang="en-US" altLang="ko-KR" sz="1400" b="0" i="0" u="none" strike="noStrike" kern="1200" cap="none" spc="0" normalizeH="0" dirty="0">
                <a:solidFill>
                  <a:srgbClr val="808080"/>
                </a:solidFill>
                <a:latin typeface="맑은 고딕"/>
                <a:ea typeface="맑은 고딕"/>
                <a:cs typeface="맑은 고딕"/>
              </a:rPr>
              <a:t>Compile time polymorphism (Static polymorphism) : Method Overloading</a:t>
            </a:r>
          </a:p>
          <a:p>
            <a:pPr marL="271463" lvl="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600" b="1" i="0" u="none" strike="noStrike" kern="1200" cap="none" spc="0" normalizeH="0" dirty="0">
                <a:solidFill>
                  <a:schemeClr val="dk1"/>
                </a:solidFill>
                <a:latin typeface="맑은 고딕"/>
                <a:ea typeface="맑은 고딕"/>
                <a:cs typeface="맑은 고딕"/>
              </a:rPr>
              <a:t>Abstract Class</a:t>
            </a:r>
            <a:r>
              <a:rPr kumimoji="0" lang="en-US" altLang="ko-KR" sz="1600" b="0" i="0" u="none" strike="noStrike" kern="1200" cap="none" spc="0" normalizeH="0" dirty="0">
                <a:solidFill>
                  <a:schemeClr val="dk1"/>
                </a:solidFill>
                <a:latin typeface="맑은 고딕"/>
                <a:ea typeface="맑은 고딕"/>
                <a:cs typeface="맑은 고딕"/>
              </a:rPr>
              <a:t> V.S. </a:t>
            </a:r>
            <a:r>
              <a:rPr kumimoji="0" lang="en-US" altLang="ko-KR" sz="1600" b="1" i="0" u="none" strike="noStrike" kern="1200" cap="none" spc="0" normalizeH="0" dirty="0">
                <a:solidFill>
                  <a:schemeClr val="dk1"/>
                </a:solidFill>
                <a:latin typeface="맑은 고딕"/>
                <a:ea typeface="맑은 고딕"/>
                <a:cs typeface="맑은 고딕"/>
              </a:rPr>
              <a:t>Interface</a:t>
            </a:r>
          </a:p>
          <a:p>
            <a:pPr marL="271463" lvl="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600" b="1" i="0" u="none" strike="noStrike" kern="1200" cap="none" spc="0" normalizeH="0" dirty="0">
                <a:solidFill>
                  <a:schemeClr val="dk1"/>
                </a:solidFill>
                <a:latin typeface="맑은 고딕"/>
                <a:ea typeface="맑은 고딕"/>
                <a:cs typeface="맑은 고딕"/>
              </a:rPr>
              <a:t>Class Relationships</a:t>
            </a:r>
          </a:p>
          <a:p>
            <a:pPr marL="271463" lvl="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600" b="1" i="0" u="none" strike="noStrike" kern="1200" cap="none" spc="0" normalizeH="0" dirty="0">
                <a:solidFill>
                  <a:schemeClr val="dk1"/>
                </a:solidFill>
                <a:latin typeface="맑은 고딕"/>
                <a:ea typeface="맑은 고딕"/>
                <a:cs typeface="맑은 고딕"/>
              </a:rPr>
              <a:t>Information Hiding</a:t>
            </a:r>
          </a:p>
          <a:p>
            <a:pPr lvl="1">
              <a:lnSpc>
                <a:spcPct val="100000"/>
              </a:lnSpc>
              <a:buFont typeface="Arial"/>
              <a:buChar char="•"/>
              <a:defRPr/>
            </a:pPr>
            <a:r>
              <a:rPr kumimoji="0" lang="en-US" altLang="ko-KR" sz="1400" b="0" i="0" u="none" strike="noStrike" kern="1200" cap="none" spc="0" normalizeH="0" dirty="0">
                <a:solidFill>
                  <a:schemeClr val="dk1"/>
                </a:solidFill>
                <a:latin typeface="맑은 고딕"/>
                <a:ea typeface="맑은 고딕"/>
                <a:cs typeface="맑은 고딕"/>
              </a:rPr>
              <a:t>internal design decisions are most likely to change</a:t>
            </a:r>
          </a:p>
          <a:p>
            <a:pPr lvl="1">
              <a:lnSpc>
                <a:spcPct val="100000"/>
              </a:lnSpc>
              <a:buFont typeface="Arial"/>
              <a:buChar char="•"/>
              <a:defRPr/>
            </a:pPr>
            <a:r>
              <a:rPr kumimoji="0" lang="en-US" altLang="ko-KR" sz="1400" b="0" i="0" u="none" strike="noStrike" kern="1200" cap="none" spc="0" normalizeH="0" dirty="0">
                <a:solidFill>
                  <a:schemeClr val="dk1"/>
                </a:solidFill>
                <a:latin typeface="맑은 고딕"/>
                <a:ea typeface="맑은 고딕"/>
                <a:cs typeface="맑은 고딕"/>
              </a:rPr>
              <a:t>reduce the side effects of any future maintenance or modification of the design</a:t>
            </a:r>
            <a:endParaRPr kumimoji="0" lang="en-US" altLang="ko-KR" sz="1400" b="0" i="0" u="none" strike="noStrike" kern="1200" cap="none" spc="0" normalizeH="0" dirty="0">
              <a:solidFill>
                <a:srgbClr val="000000"/>
              </a:solidFill>
              <a:latin typeface="맑은 고딕"/>
              <a:ea typeface="맑은 고딕"/>
              <a:cs typeface="맑은 고딕"/>
            </a:endParaRPr>
          </a:p>
        </p:txBody>
      </p:sp>
      <p:sp>
        <p:nvSpPr>
          <p:cNvPr id="2" name="TextBox 1"/>
          <p:cNvSpPr txBox="1"/>
          <p:nvPr/>
        </p:nvSpPr>
        <p:spPr>
          <a:xfrm>
            <a:off x="2123728" y="1635646"/>
            <a:ext cx="530915" cy="246221"/>
          </a:xfrm>
          <a:prstGeom prst="rect">
            <a:avLst/>
          </a:prstGeom>
          <a:noFill/>
        </p:spPr>
        <p:txBody>
          <a:bodyPr wrap="none" rtlCol="0">
            <a:spAutoFit/>
          </a:bodyPr>
          <a:lstStyle/>
          <a:p>
            <a:r>
              <a:rPr lang="en-US" altLang="ko-KR" sz="1000" dirty="0">
                <a:solidFill>
                  <a:srgbClr val="0066FF"/>
                </a:solidFill>
              </a:rPr>
              <a:t>Reuse</a:t>
            </a:r>
            <a:endParaRPr lang="ko-KR" altLang="en-US" sz="1000" dirty="0">
              <a:solidFill>
                <a:srgbClr val="0066FF"/>
              </a:solidFill>
            </a:endParaRPr>
          </a:p>
        </p:txBody>
      </p:sp>
      <p:sp>
        <p:nvSpPr>
          <p:cNvPr id="5" name="TextBox 4"/>
          <p:cNvSpPr txBox="1"/>
          <p:nvPr/>
        </p:nvSpPr>
        <p:spPr>
          <a:xfrm>
            <a:off x="3275856" y="1635646"/>
            <a:ext cx="721672" cy="246221"/>
          </a:xfrm>
          <a:prstGeom prst="rect">
            <a:avLst/>
          </a:prstGeom>
          <a:noFill/>
        </p:spPr>
        <p:txBody>
          <a:bodyPr wrap="none" rtlCol="0">
            <a:spAutoFit/>
          </a:bodyPr>
          <a:lstStyle/>
          <a:p>
            <a:r>
              <a:rPr lang="en-US" altLang="ko-KR" sz="1000" dirty="0">
                <a:solidFill>
                  <a:srgbClr val="0066FF"/>
                </a:solidFill>
              </a:rPr>
              <a:t>Flexibility</a:t>
            </a:r>
            <a:endParaRPr lang="ko-KR" altLang="en-US" sz="1000" dirty="0">
              <a:solidFill>
                <a:srgbClr val="0066FF"/>
              </a:solidFill>
            </a:endParaRPr>
          </a:p>
        </p:txBody>
      </p:sp>
      <p:sp>
        <p:nvSpPr>
          <p:cNvPr id="6" name="TextBox 5"/>
          <p:cNvSpPr txBox="1"/>
          <p:nvPr/>
        </p:nvSpPr>
        <p:spPr>
          <a:xfrm>
            <a:off x="899592" y="1635646"/>
            <a:ext cx="986167" cy="246221"/>
          </a:xfrm>
          <a:prstGeom prst="rect">
            <a:avLst/>
          </a:prstGeom>
          <a:noFill/>
        </p:spPr>
        <p:txBody>
          <a:bodyPr wrap="none" rtlCol="0">
            <a:spAutoFit/>
          </a:bodyPr>
          <a:lstStyle/>
          <a:p>
            <a:r>
              <a:rPr lang="en-US" altLang="ko-KR" sz="1000" dirty="0">
                <a:solidFill>
                  <a:srgbClr val="0066FF"/>
                </a:solidFill>
              </a:rPr>
              <a:t>Encapsulation</a:t>
            </a:r>
            <a:endParaRPr lang="ko-KR" altLang="en-US" sz="1000" dirty="0">
              <a:solidFill>
                <a:srgbClr val="0066FF"/>
              </a:solidFill>
            </a:endParaRPr>
          </a:p>
        </p:txBody>
      </p:sp>
    </p:spTree>
    <p:extLst>
      <p:ext uri="{BB962C8B-B14F-4D97-AF65-F5344CB8AC3E}">
        <p14:creationId xmlns:p14="http://schemas.microsoft.com/office/powerpoint/2010/main" val="4114041987"/>
      </p:ext>
    </p:extLst>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pPr lvl="0">
              <a:defRPr/>
            </a:pPr>
            <a:r>
              <a:rPr lang="en-US" altLang="ko-KR" spc="0" dirty="0"/>
              <a:t>R.C. Martin’s Software design principles (SOLID)</a:t>
            </a:r>
          </a:p>
        </p:txBody>
      </p:sp>
      <p:sp>
        <p:nvSpPr>
          <p:cNvPr id="13" name="내용 개체 틀 1"/>
          <p:cNvSpPr>
            <a:spLocks noGrp="1"/>
          </p:cNvSpPr>
          <p:nvPr>
            <p:ph idx="1"/>
          </p:nvPr>
        </p:nvSpPr>
        <p:spPr>
          <a:xfrm>
            <a:off x="251520" y="908720"/>
            <a:ext cx="8568952" cy="3751262"/>
          </a:xfrm>
        </p:spPr>
        <p:txBody>
          <a:bodyPr vert="horz" lIns="91440" tIns="45720" rIns="91440" bIns="45720">
            <a:noAutofit/>
          </a:bodyPr>
          <a:lstStyle/>
          <a:p>
            <a:pPr marL="271463" lvl="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800" b="0" i="0" u="none" strike="noStrike" kern="1200" cap="none" spc="0" normalizeH="0" dirty="0">
                <a:solidFill>
                  <a:schemeClr val="dk1"/>
                </a:solidFill>
                <a:latin typeface="맑은 고딕"/>
                <a:ea typeface="맑은 고딕"/>
                <a:cs typeface="맑은 고딕"/>
              </a:rPr>
              <a:t>The Single-Responsibility Principle (</a:t>
            </a:r>
            <a:r>
              <a:rPr kumimoji="0" lang="en-US" altLang="ko-KR" sz="1800" b="1" i="0" u="none" strike="noStrike" kern="1200" cap="none" spc="0" normalizeH="0" dirty="0">
                <a:solidFill>
                  <a:srgbClr val="0033CC"/>
                </a:solidFill>
                <a:latin typeface="맑은 고딕"/>
                <a:ea typeface="맑은 고딕"/>
                <a:cs typeface="맑은 고딕"/>
              </a:rPr>
              <a:t>S</a:t>
            </a:r>
            <a:r>
              <a:rPr kumimoji="0" lang="en-US" altLang="ko-KR" sz="1800" b="1" i="0" u="none" strike="noStrike" kern="1200" cap="none" spc="0" normalizeH="0" dirty="0">
                <a:solidFill>
                  <a:schemeClr val="dk1"/>
                </a:solidFill>
                <a:latin typeface="맑은 고딕"/>
                <a:ea typeface="맑은 고딕"/>
                <a:cs typeface="맑은 고딕"/>
              </a:rPr>
              <a:t>RP</a:t>
            </a:r>
            <a:r>
              <a:rPr kumimoji="0" lang="en-US" altLang="ko-KR" sz="1800" b="0" i="0" u="none" strike="noStrike" kern="1200" cap="none" spc="0" normalizeH="0" dirty="0">
                <a:solidFill>
                  <a:schemeClr val="dk1"/>
                </a:solidFill>
                <a:latin typeface="맑은 고딕"/>
                <a:ea typeface="맑은 고딕"/>
                <a:cs typeface="맑은 고딕"/>
              </a:rPr>
              <a:t>)      </a:t>
            </a:r>
            <a:r>
              <a:rPr kumimoji="0" lang="ko-KR" altLang="en-US" sz="1800" b="0" i="0" u="none" strike="noStrike" kern="1200" cap="none" spc="0" normalizeH="0" dirty="0">
                <a:solidFill>
                  <a:schemeClr val="dk1"/>
                </a:solidFill>
                <a:latin typeface="맑은 고딕"/>
                <a:ea typeface="맑은 고딕"/>
                <a:cs typeface="맑은 고딕"/>
              </a:rPr>
              <a:t>단일책임</a:t>
            </a:r>
            <a:endParaRPr kumimoji="0" lang="en-US" altLang="ko-KR" sz="1800" b="0" i="0" u="none" strike="noStrike" kern="1200" cap="none" spc="0" normalizeH="0" dirty="0">
              <a:solidFill>
                <a:schemeClr val="dk1"/>
              </a:solidFill>
              <a:latin typeface="맑은 고딕"/>
              <a:ea typeface="맑은 고딕"/>
              <a:cs typeface="맑은 고딕"/>
            </a:endParaRPr>
          </a:p>
          <a:p>
            <a:pPr marL="271463" lvl="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800" b="0" i="0" u="none" strike="noStrike" kern="1200" cap="none" spc="0" normalizeH="0" dirty="0">
                <a:solidFill>
                  <a:schemeClr val="dk1"/>
                </a:solidFill>
                <a:latin typeface="맑은 고딕"/>
                <a:ea typeface="맑은 고딕"/>
                <a:cs typeface="맑은 고딕"/>
              </a:rPr>
              <a:t>The Open-Closed Principle (</a:t>
            </a:r>
            <a:r>
              <a:rPr kumimoji="0" lang="en-US" altLang="ko-KR" sz="1800" b="1" i="0" u="none" strike="noStrike" kern="1200" cap="none" spc="0" normalizeH="0" dirty="0">
                <a:solidFill>
                  <a:srgbClr val="0033CC"/>
                </a:solidFill>
                <a:latin typeface="맑은 고딕"/>
                <a:ea typeface="맑은 고딕"/>
                <a:cs typeface="맑은 고딕"/>
              </a:rPr>
              <a:t>O</a:t>
            </a:r>
            <a:r>
              <a:rPr kumimoji="0" lang="en-US" altLang="ko-KR" sz="1800" b="1" i="0" u="none" strike="noStrike" kern="1200" cap="none" spc="0" normalizeH="0" dirty="0">
                <a:solidFill>
                  <a:schemeClr val="dk1"/>
                </a:solidFill>
                <a:latin typeface="맑은 고딕"/>
                <a:ea typeface="맑은 고딕"/>
                <a:cs typeface="맑은 고딕"/>
              </a:rPr>
              <a:t>CP</a:t>
            </a:r>
            <a:r>
              <a:rPr kumimoji="0" lang="en-US" altLang="ko-KR" sz="1800" b="0" i="0" u="none" strike="noStrike" kern="1200" cap="none" spc="0" normalizeH="0" dirty="0">
                <a:solidFill>
                  <a:schemeClr val="dk1"/>
                </a:solidFill>
                <a:latin typeface="맑은 고딕"/>
                <a:ea typeface="맑은 고딕"/>
                <a:cs typeface="맑은 고딕"/>
              </a:rPr>
              <a:t>)               </a:t>
            </a:r>
            <a:r>
              <a:rPr kumimoji="0" lang="ko-KR" altLang="en-US" sz="1800" b="0" i="0" u="none" strike="noStrike" kern="1200" cap="none" spc="0" normalizeH="0" dirty="0">
                <a:solidFill>
                  <a:schemeClr val="dk1"/>
                </a:solidFill>
                <a:latin typeface="맑은 고딕"/>
                <a:ea typeface="맑은 고딕"/>
                <a:cs typeface="맑은 고딕"/>
              </a:rPr>
              <a:t>개방</a:t>
            </a:r>
            <a:r>
              <a:rPr kumimoji="0" lang="en-US" altLang="ko-KR" sz="1800" b="0" i="0" u="none" strike="noStrike" kern="1200" cap="none" spc="0" normalizeH="0" dirty="0">
                <a:solidFill>
                  <a:schemeClr val="dk1"/>
                </a:solidFill>
                <a:latin typeface="맑은 고딕"/>
                <a:ea typeface="맑은 고딕"/>
                <a:cs typeface="맑은 고딕"/>
              </a:rPr>
              <a:t>-</a:t>
            </a:r>
            <a:r>
              <a:rPr kumimoji="0" lang="ko-KR" altLang="en-US" sz="1800" b="0" i="0" u="none" strike="noStrike" kern="1200" cap="none" spc="0" normalizeH="0" dirty="0">
                <a:solidFill>
                  <a:schemeClr val="dk1"/>
                </a:solidFill>
                <a:latin typeface="맑은 고딕"/>
                <a:ea typeface="맑은 고딕"/>
                <a:cs typeface="맑은 고딕"/>
              </a:rPr>
              <a:t>폐쇄</a:t>
            </a:r>
            <a:endParaRPr kumimoji="0" lang="en-US" altLang="ko-KR" sz="1800" b="0" i="0" u="none" strike="noStrike" kern="1200" cap="none" spc="0" normalizeH="0" dirty="0">
              <a:solidFill>
                <a:schemeClr val="dk1"/>
              </a:solidFill>
              <a:latin typeface="맑은 고딕"/>
              <a:ea typeface="맑은 고딕"/>
              <a:cs typeface="맑은 고딕"/>
            </a:endParaRPr>
          </a:p>
          <a:p>
            <a:pPr marL="271463" lvl="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800" b="0" i="0" u="none" strike="noStrike" kern="1200" cap="none" spc="0" normalizeH="0" dirty="0">
                <a:solidFill>
                  <a:schemeClr val="dk1"/>
                </a:solidFill>
                <a:latin typeface="맑은 고딕"/>
                <a:ea typeface="맑은 고딕"/>
                <a:cs typeface="맑은 고딕"/>
              </a:rPr>
              <a:t>The </a:t>
            </a:r>
            <a:r>
              <a:rPr kumimoji="0" lang="en-US" altLang="ko-KR" sz="1800" b="0" i="0" u="none" strike="noStrike" kern="1200" cap="none" spc="0" normalizeH="0" dirty="0" err="1">
                <a:solidFill>
                  <a:schemeClr val="dk1"/>
                </a:solidFill>
                <a:latin typeface="맑은 고딕"/>
                <a:ea typeface="맑은 고딕"/>
                <a:cs typeface="맑은 고딕"/>
              </a:rPr>
              <a:t>Liskov</a:t>
            </a:r>
            <a:r>
              <a:rPr kumimoji="0" lang="en-US" altLang="ko-KR" sz="1800" b="0" i="0" u="none" strike="noStrike" kern="1200" cap="none" spc="0" normalizeH="0" dirty="0">
                <a:solidFill>
                  <a:schemeClr val="dk1"/>
                </a:solidFill>
                <a:latin typeface="맑은 고딕"/>
                <a:ea typeface="맑은 고딕"/>
                <a:cs typeface="맑은 고딕"/>
              </a:rPr>
              <a:t> Substitution Principle (</a:t>
            </a:r>
            <a:r>
              <a:rPr kumimoji="0" lang="en-US" altLang="ko-KR" sz="1800" b="1" i="0" u="none" strike="noStrike" kern="1200" cap="none" spc="0" normalizeH="0" dirty="0">
                <a:solidFill>
                  <a:srgbClr val="0033CC"/>
                </a:solidFill>
                <a:latin typeface="맑은 고딕"/>
                <a:ea typeface="맑은 고딕"/>
                <a:cs typeface="맑은 고딕"/>
              </a:rPr>
              <a:t>L</a:t>
            </a:r>
            <a:r>
              <a:rPr kumimoji="0" lang="en-US" altLang="ko-KR" sz="1800" b="1" i="0" u="none" strike="noStrike" kern="1200" cap="none" spc="0" normalizeH="0" dirty="0">
                <a:solidFill>
                  <a:schemeClr val="dk1"/>
                </a:solidFill>
                <a:latin typeface="맑은 고딕"/>
                <a:ea typeface="맑은 고딕"/>
                <a:cs typeface="맑은 고딕"/>
              </a:rPr>
              <a:t>SP</a:t>
            </a:r>
            <a:r>
              <a:rPr kumimoji="0" lang="en-US" altLang="ko-KR" sz="1800" b="0" i="0" u="none" strike="noStrike" kern="1200" cap="none" spc="0" normalizeH="0" dirty="0">
                <a:solidFill>
                  <a:schemeClr val="dk1"/>
                </a:solidFill>
                <a:latin typeface="맑은 고딕"/>
                <a:ea typeface="맑은 고딕"/>
                <a:cs typeface="맑은 고딕"/>
              </a:rPr>
              <a:t>)         </a:t>
            </a:r>
            <a:r>
              <a:rPr kumimoji="0" lang="ko-KR" altLang="en-US" sz="1800" b="0" i="0" u="none" strike="noStrike" kern="1200" cap="none" spc="0" normalizeH="0" dirty="0" err="1">
                <a:solidFill>
                  <a:schemeClr val="dk1"/>
                </a:solidFill>
                <a:latin typeface="맑은 고딕"/>
                <a:ea typeface="맑은 고딕"/>
                <a:cs typeface="맑은 고딕"/>
              </a:rPr>
              <a:t>리스코프</a:t>
            </a:r>
            <a:r>
              <a:rPr kumimoji="0" lang="ko-KR" altLang="en-US" sz="1800" b="0" i="0" u="none" strike="noStrike" kern="1200" cap="none" spc="0" normalizeH="0" dirty="0">
                <a:solidFill>
                  <a:schemeClr val="dk1"/>
                </a:solidFill>
                <a:latin typeface="맑은 고딕"/>
                <a:ea typeface="맑은 고딕"/>
                <a:cs typeface="맑은 고딕"/>
              </a:rPr>
              <a:t> 치환</a:t>
            </a:r>
            <a:endParaRPr kumimoji="0" lang="en-US" altLang="ko-KR" sz="1800" b="0" i="0" u="none" strike="noStrike" kern="1200" cap="none" spc="0" normalizeH="0" dirty="0">
              <a:solidFill>
                <a:schemeClr val="dk1"/>
              </a:solidFill>
              <a:latin typeface="맑은 고딕"/>
              <a:ea typeface="맑은 고딕"/>
              <a:cs typeface="맑은 고딕"/>
            </a:endParaRPr>
          </a:p>
          <a:p>
            <a:pPr marL="271463" lvl="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800" b="0" i="0" u="none" strike="noStrike" kern="1200" cap="none" spc="0" normalizeH="0" dirty="0">
                <a:solidFill>
                  <a:schemeClr val="dk1"/>
                </a:solidFill>
                <a:latin typeface="맑은 고딕"/>
                <a:ea typeface="맑은 고딕"/>
                <a:cs typeface="맑은 고딕"/>
              </a:rPr>
              <a:t>The Interface Segregation Principle (</a:t>
            </a:r>
            <a:r>
              <a:rPr kumimoji="0" lang="en-US" altLang="ko-KR" sz="1800" b="1" i="0" u="none" strike="noStrike" kern="1200" cap="none" spc="0" normalizeH="0" dirty="0">
                <a:solidFill>
                  <a:srgbClr val="0033CC"/>
                </a:solidFill>
                <a:latin typeface="맑은 고딕"/>
                <a:ea typeface="맑은 고딕"/>
                <a:cs typeface="맑은 고딕"/>
              </a:rPr>
              <a:t>I</a:t>
            </a:r>
            <a:r>
              <a:rPr kumimoji="0" lang="en-US" altLang="ko-KR" sz="1800" b="1" i="0" u="none" strike="noStrike" kern="1200" cap="none" spc="0" normalizeH="0" dirty="0">
                <a:solidFill>
                  <a:schemeClr val="dk1"/>
                </a:solidFill>
                <a:latin typeface="맑은 고딕"/>
                <a:ea typeface="맑은 고딕"/>
                <a:cs typeface="맑은 고딕"/>
              </a:rPr>
              <a:t>SP</a:t>
            </a:r>
            <a:r>
              <a:rPr kumimoji="0" lang="en-US" altLang="ko-KR" sz="1800" b="0" i="0" u="none" strike="noStrike" kern="1200" cap="none" spc="0" normalizeH="0" dirty="0">
                <a:solidFill>
                  <a:schemeClr val="dk1"/>
                </a:solidFill>
                <a:latin typeface="맑은 고딕"/>
                <a:ea typeface="맑은 고딕"/>
                <a:cs typeface="맑은 고딕"/>
              </a:rPr>
              <a:t>)      </a:t>
            </a:r>
            <a:r>
              <a:rPr kumimoji="0" lang="ko-KR" altLang="en-US" sz="1800" b="0" i="0" u="none" strike="noStrike" kern="1200" cap="none" spc="0" normalizeH="0" dirty="0">
                <a:solidFill>
                  <a:schemeClr val="dk1"/>
                </a:solidFill>
                <a:latin typeface="맑은 고딕"/>
                <a:ea typeface="맑은 고딕"/>
                <a:cs typeface="맑은 고딕"/>
              </a:rPr>
              <a:t>인터페이스 분리</a:t>
            </a:r>
            <a:endParaRPr kumimoji="0" lang="en-US" altLang="ko-KR" sz="1800" b="0" i="0" u="none" strike="noStrike" kern="1200" cap="none" spc="0" normalizeH="0" dirty="0">
              <a:solidFill>
                <a:schemeClr val="dk1"/>
              </a:solidFill>
              <a:latin typeface="맑은 고딕"/>
              <a:ea typeface="맑은 고딕"/>
              <a:cs typeface="맑은 고딕"/>
            </a:endParaRPr>
          </a:p>
          <a:p>
            <a:pPr marL="271463" lvl="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800" b="0" i="0" u="none" strike="noStrike" kern="1200" cap="none" spc="0" normalizeH="0" dirty="0">
                <a:solidFill>
                  <a:schemeClr val="dk1"/>
                </a:solidFill>
                <a:latin typeface="맑은 고딕"/>
                <a:ea typeface="맑은 고딕"/>
                <a:cs typeface="맑은 고딕"/>
              </a:rPr>
              <a:t>The Dependency Inversion Principle (</a:t>
            </a:r>
            <a:r>
              <a:rPr kumimoji="0" lang="en-US" altLang="ko-KR" sz="1800" b="1" i="0" u="none" strike="noStrike" kern="1200" cap="none" spc="0" normalizeH="0" dirty="0">
                <a:solidFill>
                  <a:srgbClr val="0033CC"/>
                </a:solidFill>
                <a:latin typeface="맑은 고딕"/>
                <a:ea typeface="맑은 고딕"/>
                <a:cs typeface="맑은 고딕"/>
              </a:rPr>
              <a:t>D</a:t>
            </a:r>
            <a:r>
              <a:rPr kumimoji="0" lang="en-US" altLang="ko-KR" sz="1800" b="1" i="0" u="none" strike="noStrike" kern="1200" cap="none" spc="0" normalizeH="0" dirty="0">
                <a:solidFill>
                  <a:schemeClr val="dk1"/>
                </a:solidFill>
                <a:latin typeface="맑은 고딕"/>
                <a:ea typeface="맑은 고딕"/>
                <a:cs typeface="맑은 고딕"/>
              </a:rPr>
              <a:t>IP</a:t>
            </a:r>
            <a:r>
              <a:rPr kumimoji="0" lang="en-US" altLang="ko-KR" sz="1800" b="0" i="0" u="none" strike="noStrike" kern="1200" cap="none" spc="0" normalizeH="0" dirty="0">
                <a:solidFill>
                  <a:schemeClr val="dk1"/>
                </a:solidFill>
                <a:latin typeface="맑은 고딕"/>
                <a:ea typeface="맑은 고딕"/>
                <a:cs typeface="맑은 고딕"/>
              </a:rPr>
              <a:t>)     </a:t>
            </a:r>
            <a:r>
              <a:rPr kumimoji="0" lang="ko-KR" altLang="en-US" sz="1800" b="0" i="0" u="none" strike="noStrike" kern="1200" cap="none" spc="0" normalizeH="0" dirty="0">
                <a:solidFill>
                  <a:schemeClr val="dk1"/>
                </a:solidFill>
                <a:latin typeface="맑은 고딕"/>
                <a:ea typeface="맑은 고딕"/>
                <a:cs typeface="맑은 고딕"/>
              </a:rPr>
              <a:t>의존성 역전</a:t>
            </a:r>
            <a:endParaRPr kumimoji="0" lang="en-US" altLang="ko-KR" sz="1800" b="0" i="0" u="none" strike="noStrike" kern="1200" cap="none" spc="0" normalizeH="0" dirty="0">
              <a:solidFill>
                <a:schemeClr val="dk1"/>
              </a:solidFill>
              <a:latin typeface="맑은 고딕"/>
              <a:ea typeface="맑은 고딕"/>
              <a:cs typeface="맑은 고딕"/>
            </a:endParaRPr>
          </a:p>
        </p:txBody>
      </p:sp>
      <p:sp>
        <p:nvSpPr>
          <p:cNvPr id="4" name="TextBox 3">
            <a:extLst>
              <a:ext uri="{FF2B5EF4-FFF2-40B4-BE49-F238E27FC236}">
                <a16:creationId xmlns:a16="http://schemas.microsoft.com/office/drawing/2014/main" id="{575E97CD-1F92-4188-A337-A7CAF82E7A25}"/>
              </a:ext>
            </a:extLst>
          </p:cNvPr>
          <p:cNvSpPr txBox="1"/>
          <p:nvPr/>
        </p:nvSpPr>
        <p:spPr>
          <a:xfrm>
            <a:off x="356400" y="4336816"/>
            <a:ext cx="4428456" cy="646331"/>
          </a:xfrm>
          <a:prstGeom prst="rect">
            <a:avLst/>
          </a:prstGeom>
          <a:noFill/>
        </p:spPr>
        <p:txBody>
          <a:bodyPr wrap="none" rtlCol="0">
            <a:spAutoFit/>
          </a:bodyPr>
          <a:lstStyle/>
          <a:p>
            <a:r>
              <a:rPr lang="en-US" altLang="ko-KR" b="1" dirty="0">
                <a:solidFill>
                  <a:srgbClr val="C00000"/>
                </a:solidFill>
              </a:rPr>
              <a:t>To create more maintainable, </a:t>
            </a:r>
          </a:p>
          <a:p>
            <a:r>
              <a:rPr lang="en-US" altLang="ko-KR" b="1" dirty="0">
                <a:solidFill>
                  <a:srgbClr val="C00000"/>
                </a:solidFill>
              </a:rPr>
              <a:t>understandable, and flexible software.</a:t>
            </a:r>
            <a:endParaRPr lang="ko-KR" altLang="en-US" dirty="0">
              <a:solidFill>
                <a:srgbClr val="C00000"/>
              </a:solidFill>
            </a:endParaRPr>
          </a:p>
        </p:txBody>
      </p:sp>
    </p:spTree>
    <p:extLst>
      <p:ext uri="{BB962C8B-B14F-4D97-AF65-F5344CB8AC3E}">
        <p14:creationId xmlns:p14="http://schemas.microsoft.com/office/powerpoint/2010/main" val="3766222680"/>
      </p:ext>
    </p:extLst>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pPr lvl="0">
              <a:defRPr/>
            </a:pPr>
            <a:r>
              <a:rPr lang="en-US" altLang="ko-KR" spc="0" dirty="0"/>
              <a:t>R.C. Martin’s Software design principles (SOLID)</a:t>
            </a:r>
          </a:p>
        </p:txBody>
      </p:sp>
      <p:sp>
        <p:nvSpPr>
          <p:cNvPr id="13" name="내용 개체 틀 1"/>
          <p:cNvSpPr>
            <a:spLocks noGrp="1"/>
          </p:cNvSpPr>
          <p:nvPr>
            <p:ph idx="1"/>
          </p:nvPr>
        </p:nvSpPr>
        <p:spPr>
          <a:xfrm>
            <a:off x="251520" y="548680"/>
            <a:ext cx="8568952" cy="3751262"/>
          </a:xfrm>
        </p:spPr>
        <p:txBody>
          <a:bodyPr vert="horz" lIns="91440" tIns="45720" rIns="91440" bIns="45720">
            <a:noAutofit/>
          </a:bodyPr>
          <a:lstStyle/>
          <a:p>
            <a:pPr marL="271463" lvl="0" indent="-180000" algn="l" defTabSz="914400" rtl="0" eaLnBrk="1" latinLnBrk="1" hangingPunct="1">
              <a:lnSpc>
                <a:spcPct val="100000"/>
              </a:lnSpc>
              <a:spcBef>
                <a:spcPct val="20000"/>
              </a:spcBef>
              <a:spcAft>
                <a:spcPts val="500"/>
              </a:spcAft>
              <a:buClr>
                <a:schemeClr val="tx1">
                  <a:lumMod val="75000"/>
                  <a:lumOff val="25000"/>
                </a:schemeClr>
              </a:buClr>
              <a:buSzPct val="110000"/>
              <a:buFont typeface="Arial"/>
              <a:buChar char="•"/>
              <a:defRPr/>
            </a:pPr>
            <a:r>
              <a:rPr kumimoji="0" lang="en-US" altLang="ko-KR" sz="1200" b="1" i="0" u="none" strike="noStrike" kern="1200" cap="none" spc="0" normalizeH="0" baseline="0" dirty="0">
                <a:solidFill>
                  <a:schemeClr val="dk1"/>
                </a:solidFill>
                <a:latin typeface="맑은 고딕"/>
                <a:ea typeface="맑은 고딕"/>
                <a:cs typeface="맑은 고딕"/>
              </a:rPr>
              <a:t>The Single-Responsibility Principle (SRP)</a:t>
            </a:r>
          </a:p>
          <a:p>
            <a:pPr marL="541338" lvl="1" indent="-180000" algn="l" defTabSz="914400" rtl="0" eaLnBrk="1" latinLnBrk="1" hangingPunct="1">
              <a:lnSpc>
                <a:spcPct val="100000"/>
              </a:lnSpc>
              <a:spcBef>
                <a:spcPct val="20000"/>
              </a:spcBef>
              <a:spcAft>
                <a:spcPts val="500"/>
              </a:spcAft>
              <a:buClr>
                <a:schemeClr val="tx1">
                  <a:lumMod val="75000"/>
                  <a:lumOff val="25000"/>
                </a:schemeClr>
              </a:buClr>
              <a:buSzPct val="110000"/>
              <a:buFont typeface="Arial"/>
              <a:buChar char="•"/>
              <a:defRPr/>
            </a:pPr>
            <a:r>
              <a:rPr kumimoji="0" lang="en-US" altLang="ko-KR" sz="1100" b="0" i="0" u="none" strike="noStrike" kern="1200" cap="none" spc="0" normalizeH="0" baseline="0" dirty="0">
                <a:solidFill>
                  <a:schemeClr val="dk1"/>
                </a:solidFill>
                <a:latin typeface="맑은 고딕"/>
                <a:ea typeface="맑은 고딕"/>
                <a:cs typeface="맑은 고딕"/>
              </a:rPr>
              <a:t>A class should have one, and only one, reason to change</a:t>
            </a:r>
          </a:p>
          <a:p>
            <a:pPr marL="541338" lvl="1" indent="-180000" algn="l" defTabSz="914400" rtl="0" eaLnBrk="1" latinLnBrk="1" hangingPunct="1">
              <a:lnSpc>
                <a:spcPct val="100000"/>
              </a:lnSpc>
              <a:spcBef>
                <a:spcPct val="20000"/>
              </a:spcBef>
              <a:spcAft>
                <a:spcPts val="500"/>
              </a:spcAft>
              <a:buClr>
                <a:schemeClr val="tx1">
                  <a:lumMod val="75000"/>
                  <a:lumOff val="25000"/>
                </a:schemeClr>
              </a:buClr>
              <a:buSzPct val="110000"/>
              <a:buFont typeface="Arial"/>
              <a:buChar char="•"/>
              <a:defRPr/>
            </a:pPr>
            <a:r>
              <a:rPr kumimoji="0" lang="en-US" altLang="ko-KR" sz="1100" b="0" i="0" u="none" strike="noStrike" kern="1200" cap="none" spc="0" normalizeH="0" baseline="0" dirty="0">
                <a:solidFill>
                  <a:schemeClr val="dk1"/>
                </a:solidFill>
                <a:latin typeface="맑은 고딕"/>
                <a:ea typeface="맑은 고딕"/>
                <a:cs typeface="맑은 고딕"/>
              </a:rPr>
              <a:t>Cohesion</a:t>
            </a:r>
            <a:r>
              <a:rPr kumimoji="0" lang="ko-KR" altLang="en-US" sz="1100" b="0" i="0" u="none" strike="noStrike" kern="1200" cap="none" spc="0" normalizeH="0" baseline="0" dirty="0">
                <a:solidFill>
                  <a:schemeClr val="dk1"/>
                </a:solidFill>
                <a:latin typeface="맑은 고딕"/>
                <a:ea typeface="맑은 고딕"/>
                <a:cs typeface="맑은 고딕"/>
              </a:rPr>
              <a:t> ↑</a:t>
            </a:r>
            <a:r>
              <a:rPr kumimoji="0" lang="en-US" altLang="ko-KR" sz="1100" b="0" i="0" u="none" strike="noStrike" kern="1200" cap="none" spc="0" normalizeH="0" baseline="0" dirty="0">
                <a:solidFill>
                  <a:schemeClr val="dk1"/>
                </a:solidFill>
                <a:latin typeface="맑은 고딕"/>
                <a:ea typeface="맑은 고딕"/>
                <a:cs typeface="맑은 고딕"/>
              </a:rPr>
              <a:t>,</a:t>
            </a:r>
            <a:r>
              <a:rPr kumimoji="0" lang="ko-KR" altLang="en-US" sz="1100" b="0" i="0" u="none" strike="noStrike" kern="1200" cap="none" spc="0" normalizeH="0" baseline="0" dirty="0">
                <a:solidFill>
                  <a:schemeClr val="dk1"/>
                </a:solidFill>
                <a:latin typeface="맑은 고딕"/>
                <a:ea typeface="맑은 고딕"/>
                <a:cs typeface="맑은 고딕"/>
              </a:rPr>
              <a:t>  </a:t>
            </a:r>
            <a:r>
              <a:rPr kumimoji="0" lang="en-US" altLang="ko-KR" sz="1100" b="0" i="0" u="none" strike="noStrike" kern="1200" cap="none" spc="0" normalizeH="0" baseline="0" dirty="0">
                <a:solidFill>
                  <a:schemeClr val="dk1"/>
                </a:solidFill>
                <a:latin typeface="맑은 고딕"/>
                <a:ea typeface="맑은 고딕"/>
                <a:cs typeface="맑은 고딕"/>
              </a:rPr>
              <a:t>Maintainability</a:t>
            </a:r>
            <a:r>
              <a:rPr kumimoji="0" lang="ko-KR" altLang="en-US" sz="1100" b="0" i="0" u="none" strike="noStrike" kern="1200" cap="none" spc="0" normalizeH="0" baseline="0" dirty="0">
                <a:solidFill>
                  <a:schemeClr val="dk1"/>
                </a:solidFill>
                <a:latin typeface="맑은 고딕"/>
                <a:ea typeface="맑은 고딕"/>
                <a:cs typeface="맑은 고딕"/>
              </a:rPr>
              <a:t> ↑</a:t>
            </a:r>
            <a:endParaRPr kumimoji="0" lang="ko-KR" altLang="en-US" sz="1050" b="0" i="0" u="none" strike="noStrike" kern="1200" cap="none" spc="0" normalizeH="0" baseline="0" dirty="0">
              <a:solidFill>
                <a:schemeClr val="dk1"/>
              </a:solidFill>
              <a:latin typeface="맑은 고딕"/>
              <a:ea typeface="맑은 고딕"/>
              <a:cs typeface="맑은 고딕"/>
            </a:endParaRPr>
          </a:p>
          <a:p>
            <a:pPr lvl="0">
              <a:lnSpc>
                <a:spcPct val="100000"/>
              </a:lnSpc>
              <a:buClr>
                <a:schemeClr val="tx1">
                  <a:lumMod val="75000"/>
                  <a:lumOff val="25000"/>
                </a:schemeClr>
              </a:buClr>
              <a:buFont typeface="Arial"/>
              <a:buChar char="•"/>
              <a:defRPr/>
            </a:pPr>
            <a:r>
              <a:rPr lang="en-US" altLang="ko-KR" sz="1100" b="1" dirty="0">
                <a:solidFill>
                  <a:srgbClr val="0070C0"/>
                </a:solidFill>
                <a:latin typeface="맑은 고딕"/>
                <a:ea typeface="맑은 고딕"/>
              </a:rPr>
              <a:t>SRP Violation</a:t>
            </a:r>
          </a:p>
          <a:p>
            <a:pPr lvl="1">
              <a:lnSpc>
                <a:spcPct val="100000"/>
              </a:lnSpc>
              <a:defRPr/>
            </a:pPr>
            <a:r>
              <a:rPr lang="en-US" altLang="ko-KR" sz="1100" dirty="0">
                <a:solidFill>
                  <a:schemeClr val="dk1"/>
                </a:solidFill>
                <a:latin typeface="맑은 고딕"/>
                <a:ea typeface="맑은 고딕"/>
              </a:rPr>
              <a:t>2</a:t>
            </a:r>
            <a:r>
              <a:rPr lang="ko-KR" altLang="en-US" sz="1100" dirty="0">
                <a:solidFill>
                  <a:schemeClr val="dk1"/>
                </a:solidFill>
                <a:latin typeface="맑은 고딕"/>
                <a:ea typeface="맑은 고딕"/>
              </a:rPr>
              <a:t>가지 기능을 가진 </a:t>
            </a:r>
            <a:r>
              <a:rPr lang="en-US" altLang="ko-KR" sz="1100" dirty="0">
                <a:solidFill>
                  <a:schemeClr val="dk1"/>
                </a:solidFill>
                <a:latin typeface="맑은 고딕"/>
                <a:ea typeface="맑은 고딕"/>
              </a:rPr>
              <a:t>Class</a:t>
            </a:r>
          </a:p>
          <a:p>
            <a:pPr lvl="2">
              <a:lnSpc>
                <a:spcPct val="100000"/>
              </a:lnSpc>
              <a:defRPr/>
            </a:pPr>
            <a:r>
              <a:rPr lang="ko-KR" altLang="en-US" sz="1100" dirty="0">
                <a:solidFill>
                  <a:schemeClr val="dk1"/>
                </a:solidFill>
                <a:latin typeface="맑은 고딕"/>
                <a:ea typeface="맑은 고딕"/>
              </a:rPr>
              <a:t>사각형 면적 계산</a:t>
            </a:r>
            <a:endParaRPr lang="en-US" altLang="ko-KR" sz="1100" dirty="0">
              <a:solidFill>
                <a:schemeClr val="dk1"/>
              </a:solidFill>
              <a:latin typeface="맑은 고딕"/>
              <a:ea typeface="맑은 고딕"/>
            </a:endParaRPr>
          </a:p>
          <a:p>
            <a:pPr lvl="2">
              <a:lnSpc>
                <a:spcPct val="100000"/>
              </a:lnSpc>
              <a:defRPr/>
            </a:pPr>
            <a:r>
              <a:rPr lang="ko-KR" altLang="en-US" sz="1100" dirty="0">
                <a:solidFill>
                  <a:schemeClr val="dk1"/>
                </a:solidFill>
                <a:latin typeface="맑은 고딕"/>
                <a:ea typeface="맑은 고딕"/>
              </a:rPr>
              <a:t>사각형 렌더링</a:t>
            </a:r>
          </a:p>
          <a:p>
            <a:pPr marL="361338" lvl="1" indent="0" algn="l" defTabSz="914400" rtl="0" eaLnBrk="1" latinLnBrk="1" hangingPunct="1">
              <a:lnSpc>
                <a:spcPct val="100000"/>
              </a:lnSpc>
              <a:spcBef>
                <a:spcPct val="20000"/>
              </a:spcBef>
              <a:spcAft>
                <a:spcPts val="500"/>
              </a:spcAft>
              <a:buClr>
                <a:schemeClr val="tx1">
                  <a:lumMod val="75000"/>
                  <a:lumOff val="25000"/>
                </a:schemeClr>
              </a:buClr>
              <a:buSzPct val="110000"/>
              <a:buNone/>
              <a:defRPr/>
            </a:pPr>
            <a:endParaRPr kumimoji="0" lang="en-US" altLang="ko-KR" sz="1050" b="0" i="0" u="none" strike="noStrike" kern="1200" cap="none" spc="0" normalizeH="0" baseline="0" dirty="0">
              <a:solidFill>
                <a:schemeClr val="dk1"/>
              </a:solidFill>
              <a:latin typeface="맑은 고딕"/>
              <a:ea typeface="맑은 고딕"/>
              <a:cs typeface="맑은 고딕"/>
            </a:endParaRPr>
          </a:p>
        </p:txBody>
      </p:sp>
      <p:pic>
        <p:nvPicPr>
          <p:cNvPr id="14" name="그림 13"/>
          <p:cNvPicPr>
            <a:picLocks noChangeAspect="1"/>
          </p:cNvPicPr>
          <p:nvPr/>
        </p:nvPicPr>
        <p:blipFill rotWithShape="1">
          <a:blip r:embed="rId2"/>
          <a:stretch>
            <a:fillRect/>
          </a:stretch>
        </p:blipFill>
        <p:spPr>
          <a:xfrm>
            <a:off x="323528" y="2511661"/>
            <a:ext cx="3600400" cy="1723119"/>
          </a:xfrm>
          <a:prstGeom prst="rect">
            <a:avLst/>
          </a:prstGeom>
        </p:spPr>
      </p:pic>
      <p:sp>
        <p:nvSpPr>
          <p:cNvPr id="15" name="TextBox 14"/>
          <p:cNvSpPr txBox="1"/>
          <p:nvPr/>
        </p:nvSpPr>
        <p:spPr>
          <a:xfrm>
            <a:off x="1187624" y="4218133"/>
            <a:ext cx="1584176" cy="572464"/>
          </a:xfrm>
          <a:prstGeom prst="rect">
            <a:avLst/>
          </a:prstGeom>
        </p:spPr>
        <p:txBody>
          <a:bodyPr wrap="square">
            <a:spAutoFit/>
          </a:bodyPr>
          <a:lstStyle/>
          <a:p>
            <a:pPr marL="84138" lvl="0" indent="-180000" algn="l" defTabSz="914400" rtl="0" eaLnBrk="1" latinLnBrk="1" hangingPunct="1">
              <a:lnSpc>
                <a:spcPct val="130000"/>
              </a:lnSpc>
              <a:buClr>
                <a:schemeClr val="tx1">
                  <a:lumMod val="75000"/>
                  <a:lumOff val="25000"/>
                </a:schemeClr>
              </a:buClr>
              <a:buSzPct val="110000"/>
              <a:buFont typeface="Arial"/>
              <a:buChar char="•"/>
              <a:defRPr/>
            </a:pPr>
            <a:r>
              <a:rPr lang="en-US" altLang="ko-KR" sz="800" dirty="0"/>
              <a:t>2</a:t>
            </a:r>
            <a:r>
              <a:rPr lang="ko-KR" altLang="en-US" sz="800" dirty="0"/>
              <a:t>가지 기능을 가진 </a:t>
            </a:r>
            <a:r>
              <a:rPr lang="en-US" altLang="ko-KR" sz="800" dirty="0"/>
              <a:t>Class</a:t>
            </a:r>
          </a:p>
          <a:p>
            <a:pPr marL="146898" lvl="0" indent="-242760" algn="l" defTabSz="914400" rtl="0" eaLnBrk="1" latinLnBrk="1" hangingPunct="1">
              <a:lnSpc>
                <a:spcPct val="130000"/>
              </a:lnSpc>
              <a:buClr>
                <a:schemeClr val="tx1">
                  <a:lumMod val="75000"/>
                  <a:lumOff val="25000"/>
                </a:schemeClr>
              </a:buClr>
              <a:buSzPct val="110000"/>
              <a:buFont typeface="Wingdings"/>
              <a:buChar char="ü"/>
              <a:defRPr/>
            </a:pPr>
            <a:r>
              <a:rPr lang="ko-KR" altLang="en-US" sz="800" dirty="0"/>
              <a:t>사각형 면적 계산</a:t>
            </a:r>
          </a:p>
          <a:p>
            <a:pPr marL="146898" lvl="0" indent="-242760" algn="l" defTabSz="914400" rtl="0" eaLnBrk="1" latinLnBrk="1" hangingPunct="1">
              <a:lnSpc>
                <a:spcPct val="130000"/>
              </a:lnSpc>
              <a:buClr>
                <a:schemeClr val="tx1">
                  <a:lumMod val="75000"/>
                  <a:lumOff val="25000"/>
                </a:schemeClr>
              </a:buClr>
              <a:buSzPct val="110000"/>
              <a:buFont typeface="Wingdings"/>
              <a:buChar char="ü"/>
              <a:defRPr/>
            </a:pPr>
            <a:r>
              <a:rPr kumimoji="0" lang="ko-KR" altLang="en-US" sz="800" b="0" i="0" u="none" strike="noStrike" kern="1200" cap="none" normalizeH="0" baseline="0" dirty="0">
                <a:latin typeface="맑은 고딕"/>
                <a:ea typeface="맑은 고딕"/>
                <a:cs typeface="맑은 고딕"/>
              </a:rPr>
              <a:t>사</a:t>
            </a:r>
            <a:r>
              <a:rPr lang="ko-KR" altLang="en-US" sz="800" dirty="0"/>
              <a:t>각형 렌더링</a:t>
            </a:r>
          </a:p>
        </p:txBody>
      </p:sp>
      <p:sp>
        <p:nvSpPr>
          <p:cNvPr id="6" name="TextBox 5"/>
          <p:cNvSpPr txBox="1"/>
          <p:nvPr/>
        </p:nvSpPr>
        <p:spPr>
          <a:xfrm>
            <a:off x="4659835" y="699542"/>
            <a:ext cx="1955985" cy="400110"/>
          </a:xfrm>
          <a:prstGeom prst="rect">
            <a:avLst/>
          </a:prstGeom>
          <a:noFill/>
        </p:spPr>
        <p:txBody>
          <a:bodyPr wrap="none" rtlCol="0">
            <a:spAutoFit/>
          </a:bodyPr>
          <a:lstStyle/>
          <a:p>
            <a:r>
              <a:rPr lang="en-US" altLang="ko-KR" sz="1000" dirty="0">
                <a:solidFill>
                  <a:srgbClr val="0066FF"/>
                </a:solidFill>
              </a:rPr>
              <a:t>More changes, more bugs, </a:t>
            </a:r>
          </a:p>
          <a:p>
            <a:r>
              <a:rPr lang="en-US" altLang="ko-KR" sz="1000" dirty="0">
                <a:solidFill>
                  <a:srgbClr val="0066FF"/>
                </a:solidFill>
              </a:rPr>
              <a:t>Change can impact the others</a:t>
            </a:r>
            <a:endParaRPr lang="ko-KR" altLang="en-US" sz="1000" dirty="0">
              <a:solidFill>
                <a:srgbClr val="0066FF"/>
              </a:solidFill>
            </a:endParaRPr>
          </a:p>
        </p:txBody>
      </p:sp>
      <p:sp>
        <p:nvSpPr>
          <p:cNvPr id="7" name="TextBox 6"/>
          <p:cNvSpPr txBox="1"/>
          <p:nvPr/>
        </p:nvSpPr>
        <p:spPr>
          <a:xfrm>
            <a:off x="1064931" y="4727736"/>
            <a:ext cx="7444667" cy="246221"/>
          </a:xfrm>
          <a:prstGeom prst="rect">
            <a:avLst/>
          </a:prstGeom>
          <a:noFill/>
        </p:spPr>
        <p:txBody>
          <a:bodyPr wrap="none" rtlCol="0">
            <a:spAutoFit/>
          </a:bodyPr>
          <a:lstStyle/>
          <a:p>
            <a:r>
              <a:rPr lang="en-US" altLang="ko-KR" sz="1000" dirty="0">
                <a:solidFill>
                  <a:srgbClr val="0066FF"/>
                </a:solidFill>
              </a:rPr>
              <a:t>Change propagation: graphical application</a:t>
            </a:r>
            <a:r>
              <a:rPr lang="ko-KR" altLang="en-US" sz="1000" dirty="0">
                <a:solidFill>
                  <a:srgbClr val="0066FF"/>
                </a:solidFill>
              </a:rPr>
              <a:t>의 변화가 </a:t>
            </a:r>
            <a:r>
              <a:rPr lang="en-US" altLang="ko-KR" sz="1000" dirty="0">
                <a:solidFill>
                  <a:srgbClr val="0066FF"/>
                </a:solidFill>
              </a:rPr>
              <a:t>Computational Geometry Application </a:t>
            </a:r>
            <a:r>
              <a:rPr lang="ko-KR" altLang="en-US" sz="1000" dirty="0">
                <a:solidFill>
                  <a:srgbClr val="0066FF"/>
                </a:solidFill>
              </a:rPr>
              <a:t>에도 영향을 끼칠 가능성이 있다</a:t>
            </a:r>
            <a:r>
              <a:rPr lang="en-US" altLang="ko-KR" sz="1000" dirty="0">
                <a:solidFill>
                  <a:srgbClr val="0066FF"/>
                </a:solidFill>
              </a:rPr>
              <a:t>.</a:t>
            </a:r>
            <a:endParaRPr lang="ko-KR" altLang="en-US" sz="1000" dirty="0">
              <a:solidFill>
                <a:srgbClr val="0066FF"/>
              </a:solidFill>
            </a:endParaRPr>
          </a:p>
        </p:txBody>
      </p:sp>
      <p:pic>
        <p:nvPicPr>
          <p:cNvPr id="9" name="그림 8">
            <a:extLst>
              <a:ext uri="{FF2B5EF4-FFF2-40B4-BE49-F238E27FC236}">
                <a16:creationId xmlns:a16="http://schemas.microsoft.com/office/drawing/2014/main" id="{09869247-56FC-48D2-938B-9D90E43DB597}"/>
              </a:ext>
            </a:extLst>
          </p:cNvPr>
          <p:cNvPicPr>
            <a:picLocks noChangeAspect="1"/>
          </p:cNvPicPr>
          <p:nvPr/>
        </p:nvPicPr>
        <p:blipFill>
          <a:blip r:embed="rId3"/>
          <a:stretch>
            <a:fillRect/>
          </a:stretch>
        </p:blipFill>
        <p:spPr>
          <a:xfrm>
            <a:off x="5004048" y="2264792"/>
            <a:ext cx="3702856" cy="1976834"/>
          </a:xfrm>
          <a:prstGeom prst="rect">
            <a:avLst/>
          </a:prstGeom>
        </p:spPr>
      </p:pic>
      <p:sp>
        <p:nvSpPr>
          <p:cNvPr id="10" name="화살표: 오른쪽 9">
            <a:extLst>
              <a:ext uri="{FF2B5EF4-FFF2-40B4-BE49-F238E27FC236}">
                <a16:creationId xmlns:a16="http://schemas.microsoft.com/office/drawing/2014/main" id="{342B75CA-6D8A-4DB5-9535-F47CF6B9C9E7}"/>
              </a:ext>
            </a:extLst>
          </p:cNvPr>
          <p:cNvSpPr/>
          <p:nvPr/>
        </p:nvSpPr>
        <p:spPr>
          <a:xfrm>
            <a:off x="4247964" y="3147814"/>
            <a:ext cx="432048" cy="648072"/>
          </a:xfrm>
          <a:prstGeom prst="rightArrow">
            <a:avLst>
              <a:gd name="adj1" fmla="val 50000"/>
              <a:gd name="adj2" fmla="val 50000"/>
            </a:avLst>
          </a:prstGeom>
          <a:ln/>
        </p:spPr>
        <p:style>
          <a:lnRef idx="2">
            <a:schemeClr val="accent1"/>
          </a:lnRef>
          <a:fillRef idx="1">
            <a:schemeClr val="lt1"/>
          </a:fillRef>
          <a:effectRef idx="0">
            <a:schemeClr val="accent1"/>
          </a:effectRef>
          <a:fontRef idx="minor">
            <a:schemeClr val="dk1"/>
          </a:fontRef>
        </p:style>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normalizeH="0">
              <a:solidFill>
                <a:srgbClr val="FFFFFF"/>
              </a:solidFill>
              <a:latin typeface="맑은 고딕"/>
              <a:ea typeface="맑은 고딕"/>
              <a:cs typeface="맑은 고딕"/>
            </a:endParaRPr>
          </a:p>
        </p:txBody>
      </p:sp>
    </p:spTree>
    <p:extLst>
      <p:ext uri="{BB962C8B-B14F-4D97-AF65-F5344CB8AC3E}">
        <p14:creationId xmlns:p14="http://schemas.microsoft.com/office/powerpoint/2010/main" val="3122658044"/>
      </p:ext>
    </p:extLst>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pPr lvl="0">
              <a:defRPr/>
            </a:pPr>
            <a:r>
              <a:rPr lang="en-US" altLang="ko-KR" spc="0" dirty="0"/>
              <a:t>R.C. Martin’s Software design principles (SOLID)</a:t>
            </a:r>
          </a:p>
        </p:txBody>
      </p:sp>
      <p:sp>
        <p:nvSpPr>
          <p:cNvPr id="13" name="내용 개체 틀 1"/>
          <p:cNvSpPr>
            <a:spLocks noGrp="1"/>
          </p:cNvSpPr>
          <p:nvPr>
            <p:ph idx="1"/>
          </p:nvPr>
        </p:nvSpPr>
        <p:spPr>
          <a:xfrm>
            <a:off x="251520" y="908720"/>
            <a:ext cx="8568952" cy="3751262"/>
          </a:xfrm>
        </p:spPr>
        <p:txBody>
          <a:bodyPr vert="horz" lIns="91440" tIns="45720" rIns="91440" bIns="45720">
            <a:noAutofit/>
          </a:bodyPr>
          <a:lstStyle/>
          <a:p>
            <a:pPr marL="271463" lvl="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800" b="1" i="0" u="none" strike="noStrike" kern="1200" cap="none" spc="0" normalizeH="0" dirty="0">
                <a:solidFill>
                  <a:schemeClr val="dk1"/>
                </a:solidFill>
                <a:latin typeface="맑은 고딕"/>
                <a:ea typeface="맑은 고딕"/>
                <a:cs typeface="맑은 고딕"/>
              </a:rPr>
              <a:t>The Open-Closed Principle (OCP)</a:t>
            </a:r>
          </a:p>
          <a:p>
            <a:pPr marL="541338" lvl="1"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ko-KR" altLang="en-US" sz="1600" b="0" i="0" u="none" strike="noStrike" kern="1200" cap="none" spc="0" normalizeH="0" dirty="0" err="1">
                <a:solidFill>
                  <a:srgbClr val="0066FF"/>
                </a:solidFill>
                <a:latin typeface="맑은 고딕"/>
                <a:ea typeface="맑은 고딕"/>
                <a:cs typeface="맑은 고딕"/>
              </a:rPr>
              <a:t>Open</a:t>
            </a:r>
            <a:r>
              <a:rPr kumimoji="0" lang="ko-KR" altLang="en-US" sz="1600" b="0" i="0" u="none" strike="noStrike" kern="1200" cap="none" spc="0" normalizeH="0" dirty="0">
                <a:solidFill>
                  <a:schemeClr val="dk1"/>
                </a:solidFill>
                <a:latin typeface="맑은 고딕"/>
                <a:ea typeface="맑은 고딕"/>
                <a:cs typeface="맑은 고딕"/>
              </a:rPr>
              <a:t> </a:t>
            </a:r>
            <a:r>
              <a:rPr kumimoji="0" lang="ko-KR" altLang="en-US" sz="1600" b="0" i="0" u="none" strike="noStrike" kern="1200" cap="none" spc="0" normalizeH="0" dirty="0" err="1">
                <a:solidFill>
                  <a:schemeClr val="dk1"/>
                </a:solidFill>
                <a:latin typeface="맑은 고딕"/>
                <a:ea typeface="맑은 고딕"/>
                <a:cs typeface="맑은 고딕"/>
              </a:rPr>
              <a:t>for</a:t>
            </a:r>
            <a:r>
              <a:rPr kumimoji="0" lang="ko-KR" altLang="en-US" sz="1600" b="0" i="0" u="none" strike="noStrike" kern="1200" cap="none" spc="0" normalizeH="0" dirty="0">
                <a:solidFill>
                  <a:schemeClr val="dk1"/>
                </a:solidFill>
                <a:latin typeface="맑은 고딕"/>
                <a:ea typeface="맑은 고딕"/>
                <a:cs typeface="맑은 고딕"/>
              </a:rPr>
              <a:t> </a:t>
            </a:r>
            <a:r>
              <a:rPr kumimoji="0" lang="ko-KR" altLang="en-US" sz="1600" b="0" i="0" u="none" strike="noStrike" kern="1200" cap="none" spc="0" normalizeH="0" dirty="0" err="1">
                <a:solidFill>
                  <a:schemeClr val="dk1"/>
                </a:solidFill>
                <a:latin typeface="맑은 고딕"/>
                <a:ea typeface="맑은 고딕"/>
                <a:cs typeface="맑은 고딕"/>
              </a:rPr>
              <a:t>extension</a:t>
            </a:r>
            <a:endParaRPr kumimoji="0" lang="ko-KR" altLang="en-US" sz="1600" b="0" i="0" u="none" strike="noStrike" kern="1200" cap="none" spc="0" normalizeH="0" dirty="0">
              <a:solidFill>
                <a:schemeClr val="dk1"/>
              </a:solidFill>
              <a:latin typeface="맑은 고딕"/>
              <a:ea typeface="맑은 고딕"/>
              <a:cs typeface="맑은 고딕"/>
            </a:endParaRPr>
          </a:p>
          <a:p>
            <a:pPr marL="541338" lvl="1"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ko-KR" altLang="en-US" sz="1600" b="0" i="0" u="none" strike="noStrike" kern="1200" cap="none" spc="0" normalizeH="0" dirty="0" err="1">
                <a:solidFill>
                  <a:srgbClr val="0066FF"/>
                </a:solidFill>
                <a:latin typeface="맑은 고딕"/>
                <a:ea typeface="맑은 고딕"/>
                <a:cs typeface="맑은 고딕"/>
              </a:rPr>
              <a:t>Closed</a:t>
            </a:r>
            <a:r>
              <a:rPr kumimoji="0" lang="ko-KR" altLang="en-US" sz="1600" b="0" i="0" u="none" strike="noStrike" kern="1200" cap="none" spc="0" normalizeH="0" dirty="0">
                <a:solidFill>
                  <a:schemeClr val="dk1"/>
                </a:solidFill>
                <a:latin typeface="맑은 고딕"/>
                <a:ea typeface="맑은 고딕"/>
                <a:cs typeface="맑은 고딕"/>
              </a:rPr>
              <a:t> </a:t>
            </a:r>
            <a:r>
              <a:rPr kumimoji="0" lang="ko-KR" altLang="en-US" sz="1600" b="0" i="0" u="none" strike="noStrike" kern="1200" cap="none" spc="0" normalizeH="0" dirty="0" err="1">
                <a:solidFill>
                  <a:schemeClr val="dk1"/>
                </a:solidFill>
                <a:latin typeface="맑은 고딕"/>
                <a:ea typeface="맑은 고딕"/>
                <a:cs typeface="맑은 고딕"/>
              </a:rPr>
              <a:t>for</a:t>
            </a:r>
            <a:r>
              <a:rPr kumimoji="0" lang="ko-KR" altLang="en-US" sz="1600" b="0" i="0" u="none" strike="noStrike" kern="1200" cap="none" spc="0" normalizeH="0" dirty="0">
                <a:solidFill>
                  <a:schemeClr val="dk1"/>
                </a:solidFill>
                <a:latin typeface="맑은 고딕"/>
                <a:ea typeface="맑은 고딕"/>
                <a:cs typeface="맑은 고딕"/>
              </a:rPr>
              <a:t> </a:t>
            </a:r>
            <a:r>
              <a:rPr kumimoji="0" lang="ko-KR" altLang="en-US" sz="1600" b="0" i="0" u="none" strike="noStrike" kern="1200" cap="none" spc="0" normalizeH="0" dirty="0" err="1">
                <a:solidFill>
                  <a:schemeClr val="dk1"/>
                </a:solidFill>
                <a:latin typeface="맑은 고딕"/>
                <a:ea typeface="맑은 고딕"/>
                <a:cs typeface="맑은 고딕"/>
              </a:rPr>
              <a:t>modification</a:t>
            </a:r>
            <a:endParaRPr kumimoji="0" lang="ko-KR" altLang="en-US" b="0" i="0" u="none" strike="noStrike" kern="1200" cap="none" spc="0" normalizeH="0" dirty="0">
              <a:solidFill>
                <a:schemeClr val="dk1"/>
              </a:solidFill>
              <a:latin typeface="맑은 고딕"/>
              <a:ea typeface="맑은 고딕"/>
              <a:cs typeface="맑은 고딕"/>
            </a:endParaRPr>
          </a:p>
          <a:p>
            <a:pPr marL="91463" lvl="0" indent="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None/>
              <a:defRPr/>
            </a:pPr>
            <a:endParaRPr kumimoji="0" lang="en-US" altLang="ko-KR" sz="1700" b="0" i="0" u="none" strike="noStrike" kern="1200" cap="none" spc="0" normalizeH="0" dirty="0">
              <a:solidFill>
                <a:schemeClr val="dk1"/>
              </a:solidFill>
              <a:latin typeface="맑은 고딕"/>
              <a:ea typeface="맑은 고딕"/>
              <a:cs typeface="맑은 고딕"/>
            </a:endParaRPr>
          </a:p>
        </p:txBody>
      </p:sp>
      <p:pic>
        <p:nvPicPr>
          <p:cNvPr id="14" name="그림 13"/>
          <p:cNvPicPr>
            <a:picLocks noChangeAspect="1"/>
          </p:cNvPicPr>
          <p:nvPr/>
        </p:nvPicPr>
        <p:blipFill rotWithShape="1">
          <a:blip r:embed="rId2"/>
          <a:stretch>
            <a:fillRect/>
          </a:stretch>
        </p:blipFill>
        <p:spPr>
          <a:xfrm>
            <a:off x="395536" y="2283718"/>
            <a:ext cx="3738287" cy="2641722"/>
          </a:xfrm>
          <a:prstGeom prst="rect">
            <a:avLst/>
          </a:prstGeom>
        </p:spPr>
      </p:pic>
      <p:sp>
        <p:nvSpPr>
          <p:cNvPr id="15" name="TextBox 14"/>
          <p:cNvSpPr txBox="1"/>
          <p:nvPr/>
        </p:nvSpPr>
        <p:spPr>
          <a:xfrm>
            <a:off x="2987824" y="2643758"/>
            <a:ext cx="2448273" cy="400110"/>
          </a:xfrm>
          <a:prstGeom prst="rect">
            <a:avLst/>
          </a:prstGeom>
        </p:spPr>
        <p:txBody>
          <a:bodyPr wrap="square">
            <a:spAutoFit/>
          </a:bodyPr>
          <a:lstStyle/>
          <a:p>
            <a:pPr marL="146898" lvl="0" indent="-242760" algn="l" defTabSz="914400" rtl="0" eaLnBrk="1" latinLnBrk="1" hangingPunct="1">
              <a:buClr>
                <a:schemeClr val="tx1">
                  <a:lumMod val="75000"/>
                  <a:lumOff val="25000"/>
                </a:schemeClr>
              </a:buClr>
              <a:buSzPct val="110000"/>
              <a:buFont typeface="Wingdings"/>
              <a:buChar char="ü"/>
              <a:defRPr/>
            </a:pPr>
            <a:r>
              <a:rPr kumimoji="0" lang="ko-KR" altLang="en-US" sz="1000" b="0" i="0" u="none" strike="noStrike" kern="1200" cap="none" normalizeH="0" dirty="0">
                <a:solidFill>
                  <a:srgbClr val="000000"/>
                </a:solidFill>
                <a:latin typeface="맑은 고딕"/>
                <a:ea typeface="맑은 고딕"/>
                <a:cs typeface="맑은 고딕"/>
              </a:rPr>
              <a:t>새로운 타입의 직원 추가한다면</a:t>
            </a:r>
            <a:r>
              <a:rPr kumimoji="0" lang="en-US" altLang="ko-KR" sz="1000" b="0" i="0" u="none" strike="noStrike" kern="1200" cap="none" normalizeH="0" dirty="0">
                <a:solidFill>
                  <a:srgbClr val="000000"/>
                </a:solidFill>
                <a:latin typeface="맑은 고딕"/>
                <a:ea typeface="맑은 고딕"/>
                <a:cs typeface="맑은 고딕"/>
              </a:rPr>
              <a:t>?</a:t>
            </a:r>
          </a:p>
          <a:p>
            <a:pPr marL="146898" lvl="0" indent="-242760" algn="l" defTabSz="914400" rtl="0" eaLnBrk="1" latinLnBrk="1" hangingPunct="1">
              <a:buClr>
                <a:schemeClr val="tx1">
                  <a:lumMod val="75000"/>
                  <a:lumOff val="25000"/>
                </a:schemeClr>
              </a:buClr>
              <a:buSzPct val="110000"/>
              <a:buFont typeface="Wingdings"/>
              <a:buChar char="ü"/>
              <a:defRPr/>
            </a:pPr>
            <a:r>
              <a:rPr kumimoji="0" lang="ko-KR" altLang="en-US" sz="1000" b="0" i="0" u="none" strike="noStrike" kern="1200" cap="none" normalizeH="0" dirty="0">
                <a:solidFill>
                  <a:srgbClr val="000000"/>
                </a:solidFill>
                <a:latin typeface="맑은 고딕"/>
                <a:ea typeface="맑은 고딕"/>
                <a:cs typeface="맑은 고딕"/>
              </a:rPr>
              <a:t>코드 재사용 하고 싶은데</a:t>
            </a:r>
            <a:r>
              <a:rPr kumimoji="0" lang="en-US" altLang="ko-KR" sz="1000" b="0" i="0" u="none" strike="noStrike" kern="1200" cap="none" normalizeH="0" dirty="0">
                <a:solidFill>
                  <a:srgbClr val="000000"/>
                </a:solidFill>
                <a:latin typeface="맑은 고딕"/>
                <a:ea typeface="맑은 고딕"/>
                <a:cs typeface="맑은 고딕"/>
              </a:rPr>
              <a:t>..</a:t>
            </a:r>
          </a:p>
        </p:txBody>
      </p:sp>
      <p:sp>
        <p:nvSpPr>
          <p:cNvPr id="8" name="화살표: 오른쪽 7">
            <a:extLst>
              <a:ext uri="{FF2B5EF4-FFF2-40B4-BE49-F238E27FC236}">
                <a16:creationId xmlns:a16="http://schemas.microsoft.com/office/drawing/2014/main" id="{86C75718-311D-474E-A636-2B93B1032613}"/>
              </a:ext>
            </a:extLst>
          </p:cNvPr>
          <p:cNvSpPr/>
          <p:nvPr/>
        </p:nvSpPr>
        <p:spPr>
          <a:xfrm>
            <a:off x="4247964" y="3147814"/>
            <a:ext cx="432048" cy="648072"/>
          </a:xfrm>
          <a:prstGeom prst="rightArrow">
            <a:avLst>
              <a:gd name="adj1" fmla="val 50000"/>
              <a:gd name="adj2" fmla="val 50000"/>
            </a:avLst>
          </a:prstGeom>
          <a:ln/>
        </p:spPr>
        <p:style>
          <a:lnRef idx="2">
            <a:schemeClr val="accent1"/>
          </a:lnRef>
          <a:fillRef idx="1">
            <a:schemeClr val="lt1"/>
          </a:fillRef>
          <a:effectRef idx="0">
            <a:schemeClr val="accent1"/>
          </a:effectRef>
          <a:fontRef idx="minor">
            <a:schemeClr val="dk1"/>
          </a:fontRef>
        </p:style>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normalizeH="0">
              <a:solidFill>
                <a:srgbClr val="FFFFFF"/>
              </a:solidFill>
              <a:latin typeface="맑은 고딕"/>
              <a:ea typeface="맑은 고딕"/>
              <a:cs typeface="맑은 고딕"/>
            </a:endParaRPr>
          </a:p>
        </p:txBody>
      </p:sp>
      <p:pic>
        <p:nvPicPr>
          <p:cNvPr id="9" name="그림 8">
            <a:extLst>
              <a:ext uri="{FF2B5EF4-FFF2-40B4-BE49-F238E27FC236}">
                <a16:creationId xmlns:a16="http://schemas.microsoft.com/office/drawing/2014/main" id="{D78C2D72-5589-4EB4-9C86-F765787FDBF0}"/>
              </a:ext>
            </a:extLst>
          </p:cNvPr>
          <p:cNvPicPr>
            <a:picLocks noChangeAspect="1"/>
          </p:cNvPicPr>
          <p:nvPr/>
        </p:nvPicPr>
        <p:blipFill>
          <a:blip r:embed="rId3"/>
          <a:stretch>
            <a:fillRect/>
          </a:stretch>
        </p:blipFill>
        <p:spPr>
          <a:xfrm>
            <a:off x="5357838" y="2375429"/>
            <a:ext cx="3606650" cy="2192842"/>
          </a:xfrm>
          <a:prstGeom prst="rect">
            <a:avLst/>
          </a:prstGeom>
        </p:spPr>
      </p:pic>
    </p:spTree>
    <p:extLst>
      <p:ext uri="{BB962C8B-B14F-4D97-AF65-F5344CB8AC3E}">
        <p14:creationId xmlns:p14="http://schemas.microsoft.com/office/powerpoint/2010/main" val="3545790460"/>
      </p:ext>
    </p:extLst>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pPr lvl="0">
              <a:defRPr/>
            </a:pPr>
            <a:r>
              <a:rPr lang="en-US" altLang="ko-KR" spc="0" dirty="0"/>
              <a:t>R.C. Martin’s Software design principles (SOLID)</a:t>
            </a:r>
          </a:p>
        </p:txBody>
      </p:sp>
      <p:sp>
        <p:nvSpPr>
          <p:cNvPr id="13" name="내용 개체 틀 1"/>
          <p:cNvSpPr>
            <a:spLocks noGrp="1"/>
          </p:cNvSpPr>
          <p:nvPr>
            <p:ph idx="1"/>
          </p:nvPr>
        </p:nvSpPr>
        <p:spPr>
          <a:xfrm>
            <a:off x="251520" y="908720"/>
            <a:ext cx="8568952" cy="3751262"/>
          </a:xfrm>
        </p:spPr>
        <p:txBody>
          <a:bodyPr vert="horz" lIns="91440" tIns="45720" rIns="91440" bIns="45720">
            <a:noAutofit/>
          </a:bodyPr>
          <a:lstStyle/>
          <a:p>
            <a:pPr marL="271463" lvl="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800" b="1" i="0" u="none" strike="noStrike" kern="1200" cap="none" spc="0" normalizeH="0" dirty="0">
                <a:solidFill>
                  <a:schemeClr val="dk1"/>
                </a:solidFill>
                <a:latin typeface="맑은 고딕"/>
                <a:ea typeface="맑은 고딕"/>
                <a:cs typeface="맑은 고딕"/>
              </a:rPr>
              <a:t>The </a:t>
            </a:r>
            <a:r>
              <a:rPr kumimoji="0" lang="en-US" altLang="ko-KR" sz="1800" b="1" i="0" u="none" strike="noStrike" kern="1200" cap="none" spc="0" normalizeH="0" dirty="0" err="1">
                <a:solidFill>
                  <a:schemeClr val="dk1"/>
                </a:solidFill>
                <a:latin typeface="맑은 고딕"/>
                <a:ea typeface="맑은 고딕"/>
                <a:cs typeface="맑은 고딕"/>
              </a:rPr>
              <a:t>Liskov</a:t>
            </a:r>
            <a:r>
              <a:rPr kumimoji="0" lang="en-US" altLang="ko-KR" sz="1800" b="1" i="0" u="none" strike="noStrike" kern="1200" cap="none" spc="0" normalizeH="0" dirty="0">
                <a:solidFill>
                  <a:schemeClr val="dk1"/>
                </a:solidFill>
                <a:latin typeface="맑은 고딕"/>
                <a:ea typeface="맑은 고딕"/>
                <a:cs typeface="맑은 고딕"/>
              </a:rPr>
              <a:t> Substitution Principle (LSP) </a:t>
            </a:r>
          </a:p>
          <a:p>
            <a:pPr marL="541338" lvl="1"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600" b="0" i="0" u="none" strike="noStrike" kern="1200" cap="none" spc="0" normalizeH="0" dirty="0">
                <a:solidFill>
                  <a:schemeClr val="dk1"/>
                </a:solidFill>
                <a:latin typeface="맑은 고딕"/>
                <a:ea typeface="맑은 고딕"/>
                <a:cs typeface="맑은 고딕"/>
              </a:rPr>
              <a:t>Subtypes must be substitutable</a:t>
            </a:r>
            <a:r>
              <a:rPr kumimoji="0" lang="ko-KR" altLang="en-US" sz="1600" b="0" i="0" u="none" strike="noStrike" kern="1200" cap="none" spc="0" normalizeH="0" dirty="0">
                <a:solidFill>
                  <a:schemeClr val="dk1"/>
                </a:solidFill>
                <a:latin typeface="맑은 고딕"/>
                <a:ea typeface="맑은 고딕"/>
                <a:cs typeface="맑은 고딕"/>
              </a:rPr>
              <a:t> </a:t>
            </a:r>
            <a:r>
              <a:rPr kumimoji="0" lang="en-US" altLang="ko-KR" sz="1600" b="0" i="0" u="none" strike="noStrike" kern="1200" cap="none" spc="0" normalizeH="0" dirty="0">
                <a:solidFill>
                  <a:schemeClr val="dk1"/>
                </a:solidFill>
                <a:latin typeface="맑은 고딕"/>
                <a:ea typeface="맑은 고딕"/>
                <a:cs typeface="맑은 고딕"/>
              </a:rPr>
              <a:t>for their base types</a:t>
            </a:r>
          </a:p>
        </p:txBody>
      </p:sp>
      <p:sp>
        <p:nvSpPr>
          <p:cNvPr id="5" name="TextBox 4"/>
          <p:cNvSpPr txBox="1"/>
          <p:nvPr/>
        </p:nvSpPr>
        <p:spPr>
          <a:xfrm>
            <a:off x="840074" y="4284312"/>
            <a:ext cx="2052165" cy="400110"/>
          </a:xfrm>
          <a:prstGeom prst="rect">
            <a:avLst/>
          </a:prstGeom>
          <a:noFill/>
        </p:spPr>
        <p:txBody>
          <a:bodyPr wrap="none" rtlCol="0">
            <a:spAutoFit/>
          </a:bodyPr>
          <a:lstStyle/>
          <a:p>
            <a:r>
              <a:rPr lang="en-US" altLang="ko-KR" sz="1000" dirty="0">
                <a:solidFill>
                  <a:srgbClr val="0066FF"/>
                </a:solidFill>
              </a:rPr>
              <a:t>List</a:t>
            </a:r>
            <a:r>
              <a:rPr lang="ko-KR" altLang="en-US" sz="1000" dirty="0">
                <a:solidFill>
                  <a:srgbClr val="0066FF"/>
                </a:solidFill>
              </a:rPr>
              <a:t>와 </a:t>
            </a:r>
            <a:r>
              <a:rPr lang="en-US" altLang="ko-KR" sz="1000" dirty="0">
                <a:solidFill>
                  <a:srgbClr val="0066FF"/>
                </a:solidFill>
              </a:rPr>
              <a:t>Queue</a:t>
            </a:r>
            <a:r>
              <a:rPr lang="ko-KR" altLang="en-US" sz="1000" dirty="0">
                <a:solidFill>
                  <a:srgbClr val="0066FF"/>
                </a:solidFill>
              </a:rPr>
              <a:t>의 동작은 다르기에</a:t>
            </a:r>
            <a:endParaRPr lang="en-US" altLang="ko-KR" sz="1000" dirty="0">
              <a:solidFill>
                <a:srgbClr val="0066FF"/>
              </a:solidFill>
            </a:endParaRPr>
          </a:p>
          <a:p>
            <a:r>
              <a:rPr lang="en-US" altLang="ko-KR" sz="1000" dirty="0">
                <a:solidFill>
                  <a:srgbClr val="0066FF"/>
                </a:solidFill>
              </a:rPr>
              <a:t>Subtype</a:t>
            </a:r>
            <a:r>
              <a:rPr lang="ko-KR" altLang="en-US" sz="1000" dirty="0">
                <a:solidFill>
                  <a:srgbClr val="0066FF"/>
                </a:solidFill>
              </a:rPr>
              <a:t>을 활용할 수 없다</a:t>
            </a:r>
            <a:r>
              <a:rPr lang="en-US" altLang="ko-KR" sz="1000" dirty="0">
                <a:solidFill>
                  <a:srgbClr val="0066FF"/>
                </a:solidFill>
              </a:rPr>
              <a:t>.</a:t>
            </a:r>
            <a:endParaRPr lang="ko-KR" altLang="en-US" sz="1000" dirty="0">
              <a:solidFill>
                <a:srgbClr val="0066FF"/>
              </a:solidFill>
            </a:endParaRPr>
          </a:p>
        </p:txBody>
      </p:sp>
      <p:grpSp>
        <p:nvGrpSpPr>
          <p:cNvPr id="4" name="그룹 3">
            <a:extLst>
              <a:ext uri="{FF2B5EF4-FFF2-40B4-BE49-F238E27FC236}">
                <a16:creationId xmlns:a16="http://schemas.microsoft.com/office/drawing/2014/main" id="{661A4035-0EDC-0528-9B16-502FA043B117}"/>
              </a:ext>
            </a:extLst>
          </p:cNvPr>
          <p:cNvGrpSpPr/>
          <p:nvPr/>
        </p:nvGrpSpPr>
        <p:grpSpPr>
          <a:xfrm>
            <a:off x="840074" y="1914555"/>
            <a:ext cx="6289732" cy="2320225"/>
            <a:chOff x="840074" y="1914555"/>
            <a:chExt cx="6289732" cy="2320225"/>
          </a:xfrm>
        </p:grpSpPr>
        <p:pic>
          <p:nvPicPr>
            <p:cNvPr id="14" name="그림 13"/>
            <p:cNvPicPr>
              <a:picLocks noChangeAspect="1"/>
            </p:cNvPicPr>
            <p:nvPr/>
          </p:nvPicPr>
          <p:blipFill rotWithShape="1">
            <a:blip r:embed="rId3"/>
            <a:stretch>
              <a:fillRect/>
            </a:stretch>
          </p:blipFill>
          <p:spPr>
            <a:xfrm>
              <a:off x="1115616" y="1997205"/>
              <a:ext cx="5618185" cy="2237575"/>
            </a:xfrm>
            <a:prstGeom prst="rect">
              <a:avLst/>
            </a:prstGeom>
          </p:spPr>
        </p:pic>
        <p:sp>
          <p:nvSpPr>
            <p:cNvPr id="7" name="직사각형 6">
              <a:extLst>
                <a:ext uri="{FF2B5EF4-FFF2-40B4-BE49-F238E27FC236}">
                  <a16:creationId xmlns:a16="http://schemas.microsoft.com/office/drawing/2014/main" id="{7EA3C821-828C-4E3E-8804-593AD0B471AE}"/>
                </a:ext>
              </a:extLst>
            </p:cNvPr>
            <p:cNvSpPr/>
            <p:nvPr/>
          </p:nvSpPr>
          <p:spPr>
            <a:xfrm>
              <a:off x="4211960" y="1914555"/>
              <a:ext cx="1368152" cy="1882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6" name="그림 5">
              <a:extLst>
                <a:ext uri="{FF2B5EF4-FFF2-40B4-BE49-F238E27FC236}">
                  <a16:creationId xmlns:a16="http://schemas.microsoft.com/office/drawing/2014/main" id="{EA10A6BF-C42A-4E42-8D3D-C384138C81FD}"/>
                </a:ext>
              </a:extLst>
            </p:cNvPr>
            <p:cNvPicPr>
              <a:picLocks noChangeAspect="1"/>
            </p:cNvPicPr>
            <p:nvPr/>
          </p:nvPicPr>
          <p:blipFill>
            <a:blip r:embed="rId4"/>
            <a:stretch>
              <a:fillRect/>
            </a:stretch>
          </p:blipFill>
          <p:spPr>
            <a:xfrm>
              <a:off x="4610720" y="1914555"/>
              <a:ext cx="2519086" cy="1883950"/>
            </a:xfrm>
            <a:prstGeom prst="rect">
              <a:avLst/>
            </a:prstGeom>
          </p:spPr>
        </p:pic>
        <p:sp>
          <p:nvSpPr>
            <p:cNvPr id="16" name="화살표: 오른쪽 15">
              <a:extLst>
                <a:ext uri="{FF2B5EF4-FFF2-40B4-BE49-F238E27FC236}">
                  <a16:creationId xmlns:a16="http://schemas.microsoft.com/office/drawing/2014/main" id="{1023EBA9-918B-40AA-A8F0-8E8751DD5053}"/>
                </a:ext>
              </a:extLst>
            </p:cNvPr>
            <p:cNvSpPr/>
            <p:nvPr/>
          </p:nvSpPr>
          <p:spPr>
            <a:xfrm>
              <a:off x="2413321" y="2531944"/>
              <a:ext cx="432048" cy="648072"/>
            </a:xfrm>
            <a:prstGeom prst="rightArrow">
              <a:avLst>
                <a:gd name="adj1" fmla="val 50000"/>
                <a:gd name="adj2" fmla="val 50000"/>
              </a:avLst>
            </a:prstGeom>
            <a:ln/>
          </p:spPr>
          <p:style>
            <a:lnRef idx="2">
              <a:schemeClr val="accent1"/>
            </a:lnRef>
            <a:fillRef idx="1">
              <a:schemeClr val="lt1"/>
            </a:fillRef>
            <a:effectRef idx="0">
              <a:schemeClr val="accent1"/>
            </a:effectRef>
            <a:fontRef idx="minor">
              <a:schemeClr val="dk1"/>
            </a:fontRef>
          </p:style>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normalizeH="0">
                <a:solidFill>
                  <a:srgbClr val="FFFFFF"/>
                </a:solidFill>
                <a:latin typeface="맑은 고딕"/>
                <a:ea typeface="맑은 고딕"/>
                <a:cs typeface="맑은 고딕"/>
              </a:endParaRPr>
            </a:p>
          </p:txBody>
        </p:sp>
        <p:sp>
          <p:nvSpPr>
            <p:cNvPr id="17" name="화살표: 오른쪽 16">
              <a:extLst>
                <a:ext uri="{FF2B5EF4-FFF2-40B4-BE49-F238E27FC236}">
                  <a16:creationId xmlns:a16="http://schemas.microsoft.com/office/drawing/2014/main" id="{E5F3F5B1-EDD6-4BDB-A772-D3E326E83142}"/>
                </a:ext>
              </a:extLst>
            </p:cNvPr>
            <p:cNvSpPr/>
            <p:nvPr/>
          </p:nvSpPr>
          <p:spPr>
            <a:xfrm>
              <a:off x="4164851" y="2531944"/>
              <a:ext cx="432048" cy="648072"/>
            </a:xfrm>
            <a:prstGeom prst="rightArrow">
              <a:avLst>
                <a:gd name="adj1" fmla="val 50000"/>
                <a:gd name="adj2" fmla="val 50000"/>
              </a:avLst>
            </a:prstGeom>
            <a:ln/>
          </p:spPr>
          <p:style>
            <a:lnRef idx="2">
              <a:schemeClr val="accent1"/>
            </a:lnRef>
            <a:fillRef idx="1">
              <a:schemeClr val="lt1"/>
            </a:fillRef>
            <a:effectRef idx="0">
              <a:schemeClr val="accent1"/>
            </a:effectRef>
            <a:fontRef idx="minor">
              <a:schemeClr val="dk1"/>
            </a:fontRef>
          </p:style>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normalizeH="0">
                <a:solidFill>
                  <a:srgbClr val="FFFFFF"/>
                </a:solidFill>
                <a:latin typeface="맑은 고딕"/>
                <a:ea typeface="맑은 고딕"/>
                <a:cs typeface="맑은 고딕"/>
              </a:endParaRPr>
            </a:p>
          </p:txBody>
        </p:sp>
        <p:sp>
          <p:nvSpPr>
            <p:cNvPr id="2" name="직사각형 1">
              <a:extLst>
                <a:ext uri="{FF2B5EF4-FFF2-40B4-BE49-F238E27FC236}">
                  <a16:creationId xmlns:a16="http://schemas.microsoft.com/office/drawing/2014/main" id="{73D4FC79-CDA3-ADDA-4FCB-C241373B5645}"/>
                </a:ext>
              </a:extLst>
            </p:cNvPr>
            <p:cNvSpPr/>
            <p:nvPr/>
          </p:nvSpPr>
          <p:spPr>
            <a:xfrm>
              <a:off x="840074" y="4023758"/>
              <a:ext cx="1753597" cy="1872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rgbClr val="FF0000"/>
                  </a:solidFill>
                </a:rPr>
                <a:t>Violation of LSP</a:t>
              </a:r>
              <a:endParaRPr lang="ko-KR" altLang="en-US" sz="1200" b="1" dirty="0">
                <a:solidFill>
                  <a:srgbClr val="FF0000"/>
                </a:solidFill>
              </a:endParaRPr>
            </a:p>
          </p:txBody>
        </p:sp>
      </p:grpSp>
    </p:spTree>
    <p:extLst>
      <p:ext uri="{BB962C8B-B14F-4D97-AF65-F5344CB8AC3E}">
        <p14:creationId xmlns:p14="http://schemas.microsoft.com/office/powerpoint/2010/main" val="3356796596"/>
      </p:ext>
    </p:extLst>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pPr lvl="0">
              <a:defRPr/>
            </a:pPr>
            <a:r>
              <a:rPr lang="en-US" altLang="ko-KR" spc="0" dirty="0"/>
              <a:t>R.C. Martin’s Software design principles (SOLID)</a:t>
            </a:r>
          </a:p>
        </p:txBody>
      </p:sp>
      <p:sp>
        <p:nvSpPr>
          <p:cNvPr id="13" name="내용 개체 틀 1"/>
          <p:cNvSpPr>
            <a:spLocks noGrp="1"/>
          </p:cNvSpPr>
          <p:nvPr>
            <p:ph idx="1"/>
          </p:nvPr>
        </p:nvSpPr>
        <p:spPr>
          <a:xfrm>
            <a:off x="251520" y="908720"/>
            <a:ext cx="8568952" cy="3751262"/>
          </a:xfrm>
        </p:spPr>
        <p:txBody>
          <a:bodyPr vert="horz" lIns="91440" tIns="45720" rIns="91440" bIns="45720">
            <a:noAutofit/>
          </a:bodyPr>
          <a:lstStyle/>
          <a:p>
            <a:pPr marL="271463" lvl="0"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800" b="1" i="0" u="none" strike="noStrike" kern="1200" cap="none" spc="0" normalizeH="0" dirty="0">
                <a:solidFill>
                  <a:schemeClr val="dk1"/>
                </a:solidFill>
                <a:latin typeface="맑은 고딕"/>
                <a:ea typeface="맑은 고딕"/>
                <a:cs typeface="맑은 고딕"/>
              </a:rPr>
              <a:t>The Interface Segregation Principle (ISP)</a:t>
            </a:r>
          </a:p>
          <a:p>
            <a:pPr marL="541338" lvl="1"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en-US" altLang="ko-KR" sz="1600" b="0" i="0" u="none" strike="noStrike" kern="1200" cap="none" spc="0" normalizeH="0" dirty="0">
                <a:solidFill>
                  <a:schemeClr val="dk1"/>
                </a:solidFill>
                <a:latin typeface="맑은 고딕"/>
                <a:ea typeface="맑은 고딕"/>
                <a:cs typeface="맑은 고딕"/>
              </a:rPr>
              <a:t>Clients should not be forced to depend on methods they do not use</a:t>
            </a:r>
          </a:p>
          <a:p>
            <a:pPr marL="541338" lvl="1" indent="-180000" algn="l" defTabSz="914400" rtl="0" eaLnBrk="1" latinLnBrk="1" hangingPunct="1">
              <a:lnSpc>
                <a:spcPct val="130000"/>
              </a:lnSpc>
              <a:spcBef>
                <a:spcPct val="20000"/>
              </a:spcBef>
              <a:spcAft>
                <a:spcPts val="500"/>
              </a:spcAft>
              <a:buClr>
                <a:schemeClr val="tx1">
                  <a:lumMod val="75000"/>
                  <a:lumOff val="25000"/>
                </a:schemeClr>
              </a:buClr>
              <a:buSzPct val="110000"/>
              <a:buFont typeface="Arial"/>
              <a:buChar char="•"/>
              <a:defRPr/>
            </a:pPr>
            <a:r>
              <a:rPr kumimoji="0" lang="ko-KR" altLang="en-US" sz="1600" b="0" i="0" u="none" strike="noStrike" kern="1200" cap="none" spc="0" normalizeH="0" dirty="0">
                <a:solidFill>
                  <a:schemeClr val="dk1"/>
                </a:solidFill>
                <a:latin typeface="맑은 고딕"/>
                <a:ea typeface="맑은 고딕"/>
                <a:cs typeface="맑은 고딕"/>
              </a:rPr>
              <a:t>인터페이스는 필요한 기능만 제공하도록 잘게 나누자 </a:t>
            </a:r>
            <a:r>
              <a:rPr kumimoji="0" lang="en-US" altLang="ko-KR" sz="1600" b="0" i="0" u="none" strike="noStrike" kern="1200" cap="none" spc="0" normalizeH="0" dirty="0">
                <a:solidFill>
                  <a:schemeClr val="dk1"/>
                </a:solidFill>
                <a:latin typeface="맑은 고딕"/>
                <a:ea typeface="맑은 고딕"/>
                <a:cs typeface="맑은 고딕"/>
              </a:rPr>
              <a:t>(</a:t>
            </a:r>
            <a:r>
              <a:rPr kumimoji="0" lang="ko-KR" altLang="en-US" sz="1600" b="0" i="0" u="none" strike="noStrike" kern="1200" cap="none" spc="0" normalizeH="0" dirty="0">
                <a:solidFill>
                  <a:schemeClr val="dk1"/>
                </a:solidFill>
                <a:latin typeface="맑은 고딕"/>
                <a:ea typeface="맑은 고딕"/>
                <a:cs typeface="맑은 고딕"/>
              </a:rPr>
              <a:t>결합도 ↓</a:t>
            </a:r>
            <a:r>
              <a:rPr kumimoji="0" lang="en-US" altLang="ko-KR" sz="1600" b="0" i="0" u="none" strike="noStrike" kern="1200" cap="none" spc="0" normalizeH="0" dirty="0">
                <a:solidFill>
                  <a:schemeClr val="dk1"/>
                </a:solidFill>
                <a:latin typeface="맑은 고딕"/>
                <a:ea typeface="맑은 고딕"/>
                <a:cs typeface="맑은 고딕"/>
              </a:rPr>
              <a:t>,</a:t>
            </a:r>
            <a:r>
              <a:rPr kumimoji="0" lang="ko-KR" altLang="en-US" sz="1600" b="0" i="0" u="none" strike="noStrike" kern="1200" cap="none" spc="0" normalizeH="0" dirty="0">
                <a:solidFill>
                  <a:schemeClr val="dk1"/>
                </a:solidFill>
                <a:latin typeface="맑은 고딕"/>
                <a:ea typeface="맑은 고딕"/>
                <a:cs typeface="맑은 고딕"/>
              </a:rPr>
              <a:t> 응집도 ↑</a:t>
            </a:r>
            <a:r>
              <a:rPr kumimoji="0" lang="en-US" altLang="ko-KR" sz="1600" b="0" i="0" u="none" strike="noStrike" kern="1200" cap="none" spc="0" normalizeH="0" dirty="0">
                <a:solidFill>
                  <a:schemeClr val="dk1"/>
                </a:solidFill>
                <a:latin typeface="맑은 고딕"/>
                <a:ea typeface="맑은 고딕"/>
                <a:cs typeface="맑은 고딕"/>
              </a:rPr>
              <a:t>)</a:t>
            </a:r>
          </a:p>
        </p:txBody>
      </p:sp>
      <p:pic>
        <p:nvPicPr>
          <p:cNvPr id="14" name="그림 13"/>
          <p:cNvPicPr>
            <a:picLocks noChangeAspect="1"/>
          </p:cNvPicPr>
          <p:nvPr/>
        </p:nvPicPr>
        <p:blipFill rotWithShape="1">
          <a:blip r:embed="rId2"/>
          <a:stretch>
            <a:fillRect/>
          </a:stretch>
        </p:blipFill>
        <p:spPr>
          <a:xfrm>
            <a:off x="35496" y="2715766"/>
            <a:ext cx="4248472" cy="1639493"/>
          </a:xfrm>
          <a:prstGeom prst="rect">
            <a:avLst/>
          </a:prstGeom>
        </p:spPr>
      </p:pic>
      <p:pic>
        <p:nvPicPr>
          <p:cNvPr id="15" name="그림 14"/>
          <p:cNvPicPr>
            <a:picLocks noChangeAspect="1"/>
          </p:cNvPicPr>
          <p:nvPr/>
        </p:nvPicPr>
        <p:blipFill rotWithShape="1">
          <a:blip r:embed="rId3"/>
          <a:stretch>
            <a:fillRect/>
          </a:stretch>
        </p:blipFill>
        <p:spPr>
          <a:xfrm>
            <a:off x="5034457" y="2296200"/>
            <a:ext cx="4002038" cy="2723821"/>
          </a:xfrm>
          <a:prstGeom prst="rect">
            <a:avLst/>
          </a:prstGeom>
        </p:spPr>
      </p:pic>
      <p:sp>
        <p:nvSpPr>
          <p:cNvPr id="7" name="화살표: 오른쪽 6">
            <a:extLst>
              <a:ext uri="{FF2B5EF4-FFF2-40B4-BE49-F238E27FC236}">
                <a16:creationId xmlns:a16="http://schemas.microsoft.com/office/drawing/2014/main" id="{90B5B603-98CC-4C22-B7BF-3FD168611954}"/>
              </a:ext>
            </a:extLst>
          </p:cNvPr>
          <p:cNvSpPr/>
          <p:nvPr/>
        </p:nvSpPr>
        <p:spPr>
          <a:xfrm>
            <a:off x="4247964" y="3147814"/>
            <a:ext cx="432048" cy="648072"/>
          </a:xfrm>
          <a:prstGeom prst="rightArrow">
            <a:avLst>
              <a:gd name="adj1" fmla="val 50000"/>
              <a:gd name="adj2" fmla="val 50000"/>
            </a:avLst>
          </a:prstGeom>
          <a:ln/>
        </p:spPr>
        <p:style>
          <a:lnRef idx="2">
            <a:schemeClr val="accent1"/>
          </a:lnRef>
          <a:fillRef idx="1">
            <a:schemeClr val="lt1"/>
          </a:fillRef>
          <a:effectRef idx="0">
            <a:schemeClr val="accent1"/>
          </a:effectRef>
          <a:fontRef idx="minor">
            <a:schemeClr val="dk1"/>
          </a:fontRef>
        </p:style>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normalizeH="0">
              <a:solidFill>
                <a:srgbClr val="FFFFFF"/>
              </a:solidFill>
              <a:latin typeface="맑은 고딕"/>
              <a:ea typeface="맑은 고딕"/>
              <a:cs typeface="맑은 고딕"/>
            </a:endParaRPr>
          </a:p>
        </p:txBody>
      </p:sp>
    </p:spTree>
    <p:extLst>
      <p:ext uri="{BB962C8B-B14F-4D97-AF65-F5344CB8AC3E}">
        <p14:creationId xmlns:p14="http://schemas.microsoft.com/office/powerpoint/2010/main" val="597208680"/>
      </p:ext>
    </p:extLst>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p:txBody>
          <a:bodyPr/>
          <a:lstStyle/>
          <a:p>
            <a:pPr lvl="0">
              <a:buFont typeface="Arial"/>
              <a:buChar char="•"/>
              <a:defRPr/>
            </a:pPr>
            <a:r>
              <a:rPr lang="en-US" altLang="ko-KR" sz="1800" b="1" spc="0" dirty="0">
                <a:solidFill>
                  <a:schemeClr val="dk1"/>
                </a:solidFill>
                <a:latin typeface="맑은 고딕"/>
                <a:ea typeface="맑은 고딕"/>
                <a:cs typeface="맑은 고딕"/>
              </a:rPr>
              <a:t>The Dependency Inversion Principle (DIP)</a:t>
            </a:r>
          </a:p>
          <a:p>
            <a:pPr lvl="1">
              <a:buFont typeface="Arial"/>
              <a:buChar char="•"/>
              <a:defRPr/>
            </a:pPr>
            <a:r>
              <a:rPr lang="en-US" altLang="ko-KR" sz="1600" spc="0" dirty="0">
                <a:solidFill>
                  <a:schemeClr val="dk1"/>
                </a:solidFill>
                <a:latin typeface="맑은 고딕"/>
                <a:ea typeface="맑은 고딕"/>
                <a:cs typeface="맑은 고딕"/>
              </a:rPr>
              <a:t>High-level modules should not depend on low-level modules. </a:t>
            </a:r>
            <a:br>
              <a:rPr lang="en-US" altLang="ko-KR" sz="1600" spc="0" dirty="0">
                <a:solidFill>
                  <a:schemeClr val="dk1"/>
                </a:solidFill>
                <a:latin typeface="맑은 고딕"/>
                <a:ea typeface="맑은 고딕"/>
                <a:cs typeface="맑은 고딕"/>
              </a:rPr>
            </a:br>
            <a:r>
              <a:rPr lang="en-US" altLang="ko-KR" sz="1600" spc="0" dirty="0">
                <a:solidFill>
                  <a:schemeClr val="dk1"/>
                </a:solidFill>
                <a:latin typeface="맑은 고딕"/>
                <a:ea typeface="맑은 고딕"/>
                <a:cs typeface="맑은 고딕"/>
              </a:rPr>
              <a:t>Both should depend on abstractions</a:t>
            </a:r>
          </a:p>
          <a:p>
            <a:pPr lvl="1">
              <a:buFont typeface="Arial"/>
              <a:buChar char="•"/>
              <a:defRPr/>
            </a:pPr>
            <a:r>
              <a:rPr lang="ko-KR" altLang="en-US" sz="1600" spc="0" dirty="0">
                <a:solidFill>
                  <a:schemeClr val="dk1"/>
                </a:solidFill>
                <a:latin typeface="맑은 고딕"/>
                <a:ea typeface="맑은 고딕"/>
                <a:cs typeface="맑은 고딕"/>
              </a:rPr>
              <a:t>하위</a:t>
            </a:r>
            <a:r>
              <a:rPr lang="en-US" altLang="ko-KR" sz="1600" spc="0" dirty="0">
                <a:solidFill>
                  <a:schemeClr val="dk1"/>
                </a:solidFill>
                <a:latin typeface="맑은 고딕"/>
                <a:ea typeface="맑은 고딕"/>
                <a:cs typeface="맑은 고딕"/>
              </a:rPr>
              <a:t> </a:t>
            </a:r>
            <a:r>
              <a:rPr lang="ko-KR" altLang="en-US" sz="1600" spc="0" dirty="0">
                <a:solidFill>
                  <a:schemeClr val="dk1"/>
                </a:solidFill>
                <a:latin typeface="맑은 고딕"/>
                <a:ea typeface="맑은 고딕"/>
                <a:cs typeface="맑은 고딕"/>
              </a:rPr>
              <a:t>모듈이 변경되면 상위 모듈이 영향 받는다</a:t>
            </a:r>
            <a:r>
              <a:rPr lang="en-US" altLang="ko-KR" sz="1600" spc="0" dirty="0">
                <a:solidFill>
                  <a:schemeClr val="dk1"/>
                </a:solidFill>
                <a:latin typeface="맑은 고딕"/>
                <a:ea typeface="맑은 고딕"/>
                <a:cs typeface="맑은 고딕"/>
              </a:rPr>
              <a:t>.</a:t>
            </a:r>
            <a:r>
              <a:rPr lang="ko-KR" altLang="en-US" sz="1600" spc="0" dirty="0">
                <a:solidFill>
                  <a:schemeClr val="dk1"/>
                </a:solidFill>
                <a:latin typeface="맑은 고딕"/>
                <a:ea typeface="맑은 고딕"/>
                <a:cs typeface="맑은 고딕"/>
              </a:rPr>
              <a:t> 이를 역전 시키자</a:t>
            </a:r>
            <a:r>
              <a:rPr lang="en-US" altLang="ko-KR" sz="1600" spc="0" dirty="0">
                <a:solidFill>
                  <a:schemeClr val="dk1"/>
                </a:solidFill>
                <a:latin typeface="맑은 고딕"/>
                <a:ea typeface="맑은 고딕"/>
                <a:cs typeface="맑은 고딕"/>
              </a:rPr>
              <a:t>.</a:t>
            </a:r>
            <a:r>
              <a:rPr lang="ko-KR" altLang="en-US" sz="1600" spc="0" dirty="0">
                <a:solidFill>
                  <a:schemeClr val="dk1"/>
                </a:solidFill>
                <a:latin typeface="맑은 고딕"/>
                <a:ea typeface="맑은 고딕"/>
                <a:cs typeface="맑은 고딕"/>
              </a:rPr>
              <a:t> </a:t>
            </a:r>
            <a:br>
              <a:rPr lang="en-US" altLang="ko-KR" sz="1600" spc="0" dirty="0">
                <a:solidFill>
                  <a:schemeClr val="dk1"/>
                </a:solidFill>
                <a:latin typeface="맑은 고딕"/>
                <a:ea typeface="맑은 고딕"/>
                <a:cs typeface="맑은 고딕"/>
              </a:rPr>
            </a:br>
            <a:r>
              <a:rPr lang="ko-KR" altLang="en-US" sz="1600" spc="0" dirty="0">
                <a:solidFill>
                  <a:schemeClr val="dk1"/>
                </a:solidFill>
                <a:latin typeface="맑은 고딕"/>
                <a:ea typeface="맑은 고딕"/>
                <a:cs typeface="맑은 고딕"/>
              </a:rPr>
              <a:t>하위 모듈이 상위 모듈에 의존하도록</a:t>
            </a:r>
            <a:r>
              <a:rPr lang="en-US" altLang="ko-KR" sz="1600" spc="0" dirty="0">
                <a:solidFill>
                  <a:schemeClr val="dk1"/>
                </a:solidFill>
                <a:latin typeface="맑은 고딕"/>
                <a:ea typeface="맑은 고딕"/>
                <a:cs typeface="맑은 고딕"/>
              </a:rPr>
              <a:t>..</a:t>
            </a:r>
          </a:p>
          <a:p>
            <a:endParaRPr lang="ko-KR" altLang="en-US" spc="0" dirty="0"/>
          </a:p>
        </p:txBody>
      </p:sp>
      <p:sp>
        <p:nvSpPr>
          <p:cNvPr id="3" name="제목 2"/>
          <p:cNvSpPr>
            <a:spLocks noGrp="1"/>
          </p:cNvSpPr>
          <p:nvPr>
            <p:ph type="title"/>
          </p:nvPr>
        </p:nvSpPr>
        <p:spPr/>
        <p:txBody>
          <a:bodyPr/>
          <a:lstStyle/>
          <a:p>
            <a:r>
              <a:rPr lang="en-US" altLang="ko-KR" spc="0" dirty="0"/>
              <a:t>R.C. Martin’s Software design principles (SOLID)</a:t>
            </a:r>
            <a:endParaRPr lang="ko-KR" altLang="en-US" spc="0" dirty="0"/>
          </a:p>
        </p:txBody>
      </p:sp>
      <p:pic>
        <p:nvPicPr>
          <p:cNvPr id="4" name="그림 3"/>
          <p:cNvPicPr>
            <a:picLocks noChangeAspect="1"/>
          </p:cNvPicPr>
          <p:nvPr/>
        </p:nvPicPr>
        <p:blipFill rotWithShape="1">
          <a:blip r:embed="rId2"/>
          <a:stretch>
            <a:fillRect/>
          </a:stretch>
        </p:blipFill>
        <p:spPr>
          <a:xfrm>
            <a:off x="90885" y="2873424"/>
            <a:ext cx="4233666" cy="1944216"/>
          </a:xfrm>
          <a:prstGeom prst="rect">
            <a:avLst/>
          </a:prstGeom>
        </p:spPr>
      </p:pic>
      <p:pic>
        <p:nvPicPr>
          <p:cNvPr id="5" name="그림 4"/>
          <p:cNvPicPr>
            <a:picLocks noChangeAspect="1"/>
          </p:cNvPicPr>
          <p:nvPr/>
        </p:nvPicPr>
        <p:blipFill rotWithShape="1">
          <a:blip r:embed="rId3"/>
          <a:stretch>
            <a:fillRect/>
          </a:stretch>
        </p:blipFill>
        <p:spPr>
          <a:xfrm>
            <a:off x="4932040" y="2650604"/>
            <a:ext cx="4075931" cy="2239044"/>
          </a:xfrm>
          <a:prstGeom prst="rect">
            <a:avLst/>
          </a:prstGeom>
        </p:spPr>
      </p:pic>
      <p:sp>
        <p:nvSpPr>
          <p:cNvPr id="7" name="화살표: 오른쪽 6">
            <a:extLst>
              <a:ext uri="{FF2B5EF4-FFF2-40B4-BE49-F238E27FC236}">
                <a16:creationId xmlns:a16="http://schemas.microsoft.com/office/drawing/2014/main" id="{C091070A-1E15-4EC3-9A5D-699B48295C73}"/>
              </a:ext>
            </a:extLst>
          </p:cNvPr>
          <p:cNvSpPr/>
          <p:nvPr/>
        </p:nvSpPr>
        <p:spPr>
          <a:xfrm>
            <a:off x="4270593" y="3446090"/>
            <a:ext cx="432048" cy="648072"/>
          </a:xfrm>
          <a:prstGeom prst="rightArrow">
            <a:avLst>
              <a:gd name="adj1" fmla="val 50000"/>
              <a:gd name="adj2" fmla="val 50000"/>
            </a:avLst>
          </a:prstGeom>
          <a:ln/>
        </p:spPr>
        <p:style>
          <a:lnRef idx="2">
            <a:schemeClr val="accent1"/>
          </a:lnRef>
          <a:fillRef idx="1">
            <a:schemeClr val="lt1"/>
          </a:fillRef>
          <a:effectRef idx="0">
            <a:schemeClr val="accent1"/>
          </a:effectRef>
          <a:fontRef idx="minor">
            <a:schemeClr val="dk1"/>
          </a:fontRef>
        </p:style>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normalizeH="0">
              <a:solidFill>
                <a:srgbClr val="FFFFFF"/>
              </a:solidFill>
              <a:latin typeface="맑은 고딕"/>
              <a:ea typeface="맑은 고딕"/>
              <a:cs typeface="맑은 고딕"/>
            </a:endParaRPr>
          </a:p>
        </p:txBody>
      </p:sp>
    </p:spTree>
    <p:extLst>
      <p:ext uri="{BB962C8B-B14F-4D97-AF65-F5344CB8AC3E}">
        <p14:creationId xmlns:p14="http://schemas.microsoft.com/office/powerpoint/2010/main" val="2542438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56FE4-9FD3-FF07-2B89-CE1859F7B987}"/>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E39DCABA-2BCF-AC59-C7AA-DA7419A56B77}"/>
              </a:ext>
            </a:extLst>
          </p:cNvPr>
          <p:cNvSpPr>
            <a:spLocks noGrp="1"/>
          </p:cNvSpPr>
          <p:nvPr>
            <p:ph type="title"/>
          </p:nvPr>
        </p:nvSpPr>
        <p:spPr/>
        <p:txBody>
          <a:bodyPr vert="horz" lIns="75927" tIns="37964" rIns="75927" bIns="37964" rtlCol="0" anchor="ctr">
            <a:normAutofit/>
          </a:bodyPr>
          <a:lstStyle/>
          <a:p>
            <a:r>
              <a:rPr lang="en-US" altLang="ko-KR" spc="0" dirty="0"/>
              <a:t>R.C. Martin’s Software design principles (SOLID)</a:t>
            </a:r>
          </a:p>
        </p:txBody>
      </p:sp>
      <p:sp>
        <p:nvSpPr>
          <p:cNvPr id="13" name="내용 개체 틀 1">
            <a:extLst>
              <a:ext uri="{FF2B5EF4-FFF2-40B4-BE49-F238E27FC236}">
                <a16:creationId xmlns:a16="http://schemas.microsoft.com/office/drawing/2014/main" id="{112B32C7-71BA-F97C-9026-4C5E5B208AC4}"/>
              </a:ext>
            </a:extLst>
          </p:cNvPr>
          <p:cNvSpPr>
            <a:spLocks noGrp="1"/>
          </p:cNvSpPr>
          <p:nvPr>
            <p:ph idx="1"/>
          </p:nvPr>
        </p:nvSpPr>
        <p:spPr>
          <a:xfrm>
            <a:off x="251520" y="771550"/>
            <a:ext cx="8568952" cy="3751262"/>
          </a:xfrm>
        </p:spPr>
        <p:txBody>
          <a:bodyPr vert="horz" lIns="91440" tIns="45720" rIns="91440" bIns="45720" rtlCol="0">
            <a:normAutofit/>
          </a:bodyPr>
          <a:lstStyle/>
          <a:p>
            <a:pPr>
              <a:buFont typeface="Arial"/>
            </a:pPr>
            <a:r>
              <a:rPr lang="en-US" altLang="ko-KR" sz="1800" b="1" spc="0" dirty="0">
                <a:solidFill>
                  <a:schemeClr val="dk1"/>
                </a:solidFill>
                <a:latin typeface="맑은 고딕"/>
                <a:ea typeface="맑은 고딕"/>
                <a:cs typeface="맑은 고딕"/>
              </a:rPr>
              <a:t>The Dependency Inversion Principle (DIP)  - Example</a:t>
            </a:r>
          </a:p>
          <a:p>
            <a:pPr>
              <a:buFont typeface="Arial"/>
            </a:pPr>
            <a:endParaRPr lang="en-US" altLang="ko-KR" sz="1800" b="1" spc="0" dirty="0">
              <a:solidFill>
                <a:schemeClr val="dk1"/>
              </a:solidFill>
              <a:latin typeface="맑은 고딕"/>
              <a:ea typeface="맑은 고딕"/>
              <a:cs typeface="맑은 고딕"/>
            </a:endParaRPr>
          </a:p>
        </p:txBody>
      </p:sp>
      <p:sp>
        <p:nvSpPr>
          <p:cNvPr id="2" name="직사각형 1">
            <a:extLst>
              <a:ext uri="{FF2B5EF4-FFF2-40B4-BE49-F238E27FC236}">
                <a16:creationId xmlns:a16="http://schemas.microsoft.com/office/drawing/2014/main" id="{CBF00062-110B-E19A-8E60-DF4BD201CDEF}"/>
              </a:ext>
            </a:extLst>
          </p:cNvPr>
          <p:cNvSpPr/>
          <p:nvPr/>
        </p:nvSpPr>
        <p:spPr>
          <a:xfrm>
            <a:off x="630915" y="2247714"/>
            <a:ext cx="1224136" cy="360040"/>
          </a:xfrm>
          <a:prstGeom prst="rect">
            <a:avLst/>
          </a:prstGeom>
          <a:solidFill>
            <a:schemeClr val="tx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00" dirty="0">
                <a:solidFill>
                  <a:schemeClr val="tx1"/>
                </a:solidFill>
              </a:rPr>
              <a:t>날씨 </a:t>
            </a:r>
            <a:r>
              <a:rPr lang="en-US" altLang="ko-KR" sz="1100" dirty="0">
                <a:solidFill>
                  <a:schemeClr val="tx1"/>
                </a:solidFill>
              </a:rPr>
              <a:t>GUI </a:t>
            </a:r>
            <a:r>
              <a:rPr lang="ko-KR" altLang="en-US" sz="1100" dirty="0">
                <a:solidFill>
                  <a:schemeClr val="tx1"/>
                </a:solidFill>
              </a:rPr>
              <a:t>모듈</a:t>
            </a:r>
          </a:p>
        </p:txBody>
      </p:sp>
      <p:sp>
        <p:nvSpPr>
          <p:cNvPr id="4" name="직사각형 3">
            <a:extLst>
              <a:ext uri="{FF2B5EF4-FFF2-40B4-BE49-F238E27FC236}">
                <a16:creationId xmlns:a16="http://schemas.microsoft.com/office/drawing/2014/main" id="{4763B266-5444-1C55-B8C5-94464E1C44D9}"/>
              </a:ext>
            </a:extLst>
          </p:cNvPr>
          <p:cNvSpPr/>
          <p:nvPr/>
        </p:nvSpPr>
        <p:spPr>
          <a:xfrm>
            <a:off x="630915" y="3003798"/>
            <a:ext cx="1224136" cy="360040"/>
          </a:xfrm>
          <a:prstGeom prst="rect">
            <a:avLst/>
          </a:prstGeom>
          <a:solidFill>
            <a:schemeClr val="tx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00" dirty="0">
                <a:solidFill>
                  <a:schemeClr val="tx1"/>
                </a:solidFill>
              </a:rPr>
              <a:t>날씨</a:t>
            </a:r>
            <a:r>
              <a:rPr lang="en-US" altLang="ko-KR" sz="1100" dirty="0">
                <a:solidFill>
                  <a:schemeClr val="tx1"/>
                </a:solidFill>
              </a:rPr>
              <a:t> </a:t>
            </a:r>
            <a:r>
              <a:rPr lang="ko-KR" altLang="en-US" sz="1100" dirty="0">
                <a:solidFill>
                  <a:schemeClr val="tx1"/>
                </a:solidFill>
              </a:rPr>
              <a:t>정보 모듈 </a:t>
            </a:r>
            <a:r>
              <a:rPr lang="en-US" altLang="ko-KR" sz="1000" b="1" dirty="0">
                <a:solidFill>
                  <a:schemeClr val="tx1"/>
                </a:solidFill>
              </a:rPr>
              <a:t>(</a:t>
            </a:r>
            <a:r>
              <a:rPr lang="ko-KR" altLang="en-US" sz="1000" b="1" dirty="0">
                <a:solidFill>
                  <a:schemeClr val="tx1"/>
                </a:solidFill>
              </a:rPr>
              <a:t>기상청 </a:t>
            </a:r>
            <a:r>
              <a:rPr lang="en-US" altLang="ko-KR" sz="1000" b="1" dirty="0">
                <a:solidFill>
                  <a:schemeClr val="tx1"/>
                </a:solidFill>
              </a:rPr>
              <a:t>API)</a:t>
            </a:r>
            <a:r>
              <a:rPr lang="ko-KR" altLang="en-US" sz="1000" b="1" dirty="0">
                <a:solidFill>
                  <a:schemeClr val="tx1"/>
                </a:solidFill>
              </a:rPr>
              <a:t> </a:t>
            </a:r>
            <a:endParaRPr lang="en-US" altLang="ko-KR" sz="1000" b="1" dirty="0">
              <a:solidFill>
                <a:schemeClr val="tx1"/>
              </a:solidFill>
            </a:endParaRPr>
          </a:p>
        </p:txBody>
      </p:sp>
      <p:cxnSp>
        <p:nvCxnSpPr>
          <p:cNvPr id="6" name="직선 화살표 연결선 5">
            <a:extLst>
              <a:ext uri="{FF2B5EF4-FFF2-40B4-BE49-F238E27FC236}">
                <a16:creationId xmlns:a16="http://schemas.microsoft.com/office/drawing/2014/main" id="{79B3FC57-7B8B-74F6-9CE3-B182F29AEAEB}"/>
              </a:ext>
            </a:extLst>
          </p:cNvPr>
          <p:cNvCxnSpPr>
            <a:cxnSpLocks/>
            <a:stCxn id="2" idx="2"/>
            <a:endCxn id="4" idx="0"/>
          </p:cNvCxnSpPr>
          <p:nvPr/>
        </p:nvCxnSpPr>
        <p:spPr>
          <a:xfrm>
            <a:off x="1242983" y="2607754"/>
            <a:ext cx="0" cy="396044"/>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2" name="직사각형 11">
            <a:extLst>
              <a:ext uri="{FF2B5EF4-FFF2-40B4-BE49-F238E27FC236}">
                <a16:creationId xmlns:a16="http://schemas.microsoft.com/office/drawing/2014/main" id="{8AE3D14A-687D-25C9-631E-3ED84EF09324}"/>
              </a:ext>
            </a:extLst>
          </p:cNvPr>
          <p:cNvSpPr/>
          <p:nvPr/>
        </p:nvSpPr>
        <p:spPr>
          <a:xfrm>
            <a:off x="2431115" y="3003798"/>
            <a:ext cx="1224136" cy="360040"/>
          </a:xfrm>
          <a:prstGeom prst="rect">
            <a:avLst/>
          </a:prstGeom>
          <a:solidFill>
            <a:schemeClr val="accent2">
              <a:lumMod val="40000"/>
              <a:lumOff val="6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00" dirty="0">
                <a:solidFill>
                  <a:schemeClr val="tx1"/>
                </a:solidFill>
              </a:rPr>
              <a:t>날씨</a:t>
            </a:r>
            <a:r>
              <a:rPr lang="en-US" altLang="ko-KR" sz="1100" dirty="0">
                <a:solidFill>
                  <a:schemeClr val="tx1"/>
                </a:solidFill>
              </a:rPr>
              <a:t> </a:t>
            </a:r>
            <a:r>
              <a:rPr lang="ko-KR" altLang="en-US" sz="1100" dirty="0">
                <a:solidFill>
                  <a:schemeClr val="tx1"/>
                </a:solidFill>
              </a:rPr>
              <a:t>정보 모듈 </a:t>
            </a:r>
            <a:r>
              <a:rPr lang="en-US" altLang="ko-KR" sz="900" b="1" dirty="0">
                <a:solidFill>
                  <a:schemeClr val="tx1"/>
                </a:solidFill>
              </a:rPr>
              <a:t>(</a:t>
            </a:r>
            <a:r>
              <a:rPr lang="en-US" altLang="ko-KR" sz="900" b="1" dirty="0" err="1">
                <a:solidFill>
                  <a:schemeClr val="tx1"/>
                </a:solidFill>
              </a:rPr>
              <a:t>Accuweather</a:t>
            </a:r>
            <a:r>
              <a:rPr lang="ko-KR" altLang="en-US" sz="900" b="1" dirty="0">
                <a:solidFill>
                  <a:schemeClr val="tx1"/>
                </a:solidFill>
              </a:rPr>
              <a:t> </a:t>
            </a:r>
            <a:r>
              <a:rPr lang="en-US" altLang="ko-KR" sz="900" b="1" dirty="0">
                <a:solidFill>
                  <a:schemeClr val="tx1"/>
                </a:solidFill>
              </a:rPr>
              <a:t>API)</a:t>
            </a:r>
            <a:r>
              <a:rPr lang="ko-KR" altLang="en-US" sz="900" b="1" dirty="0">
                <a:solidFill>
                  <a:schemeClr val="tx1"/>
                </a:solidFill>
              </a:rPr>
              <a:t> </a:t>
            </a:r>
            <a:endParaRPr lang="en-US" altLang="ko-KR" sz="900" b="1" dirty="0">
              <a:solidFill>
                <a:schemeClr val="tx1"/>
              </a:solidFill>
            </a:endParaRPr>
          </a:p>
        </p:txBody>
      </p:sp>
      <p:sp>
        <p:nvSpPr>
          <p:cNvPr id="20" name="직사각형 19">
            <a:extLst>
              <a:ext uri="{FF2B5EF4-FFF2-40B4-BE49-F238E27FC236}">
                <a16:creationId xmlns:a16="http://schemas.microsoft.com/office/drawing/2014/main" id="{C16C78CC-C8B5-DC51-9400-D51F8F66850F}"/>
              </a:ext>
            </a:extLst>
          </p:cNvPr>
          <p:cNvSpPr/>
          <p:nvPr/>
        </p:nvSpPr>
        <p:spPr>
          <a:xfrm>
            <a:off x="2431115" y="2247714"/>
            <a:ext cx="1224136" cy="360040"/>
          </a:xfrm>
          <a:prstGeom prst="rect">
            <a:avLst/>
          </a:prstGeom>
          <a:solidFill>
            <a:schemeClr val="accent2">
              <a:lumMod val="40000"/>
              <a:lumOff val="6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00" dirty="0">
                <a:solidFill>
                  <a:schemeClr val="tx1"/>
                </a:solidFill>
              </a:rPr>
              <a:t>날씨 </a:t>
            </a:r>
            <a:r>
              <a:rPr lang="en-US" altLang="ko-KR" sz="1100" dirty="0">
                <a:solidFill>
                  <a:schemeClr val="tx1"/>
                </a:solidFill>
              </a:rPr>
              <a:t>GUI </a:t>
            </a:r>
            <a:r>
              <a:rPr lang="ko-KR" altLang="en-US" sz="1100" dirty="0">
                <a:solidFill>
                  <a:schemeClr val="tx1"/>
                </a:solidFill>
              </a:rPr>
              <a:t>모듈</a:t>
            </a:r>
          </a:p>
        </p:txBody>
      </p:sp>
      <p:cxnSp>
        <p:nvCxnSpPr>
          <p:cNvPr id="21" name="직선 화살표 연결선 20">
            <a:extLst>
              <a:ext uri="{FF2B5EF4-FFF2-40B4-BE49-F238E27FC236}">
                <a16:creationId xmlns:a16="http://schemas.microsoft.com/office/drawing/2014/main" id="{02E195E8-2C20-82E4-F729-FC613235999B}"/>
              </a:ext>
            </a:extLst>
          </p:cNvPr>
          <p:cNvCxnSpPr>
            <a:cxnSpLocks/>
          </p:cNvCxnSpPr>
          <p:nvPr/>
        </p:nvCxnSpPr>
        <p:spPr>
          <a:xfrm>
            <a:off x="3056565" y="2607754"/>
            <a:ext cx="0" cy="396044"/>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2" name="화살표: 오른쪽 21">
            <a:extLst>
              <a:ext uri="{FF2B5EF4-FFF2-40B4-BE49-F238E27FC236}">
                <a16:creationId xmlns:a16="http://schemas.microsoft.com/office/drawing/2014/main" id="{03AC2B66-7C95-2D07-9735-8B5E2B506124}"/>
              </a:ext>
            </a:extLst>
          </p:cNvPr>
          <p:cNvSpPr/>
          <p:nvPr/>
        </p:nvSpPr>
        <p:spPr>
          <a:xfrm>
            <a:off x="2012450" y="2697764"/>
            <a:ext cx="288032" cy="216024"/>
          </a:xfrm>
          <a:prstGeom prst="rightArrow">
            <a:avLst/>
          </a:prstGeom>
          <a:solidFill>
            <a:schemeClr val="tx1">
              <a:lumMod val="50000"/>
              <a:lumOff val="5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a:extLst>
              <a:ext uri="{FF2B5EF4-FFF2-40B4-BE49-F238E27FC236}">
                <a16:creationId xmlns:a16="http://schemas.microsoft.com/office/drawing/2014/main" id="{640A88DE-69BB-9836-90A2-47437BEF0C4A}"/>
              </a:ext>
            </a:extLst>
          </p:cNvPr>
          <p:cNvSpPr/>
          <p:nvPr/>
        </p:nvSpPr>
        <p:spPr>
          <a:xfrm>
            <a:off x="5364088" y="1347614"/>
            <a:ext cx="1224136" cy="360040"/>
          </a:xfrm>
          <a:prstGeom prst="rect">
            <a:avLst/>
          </a:prstGeom>
          <a:solidFill>
            <a:schemeClr val="tx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00" dirty="0">
                <a:solidFill>
                  <a:schemeClr val="tx1"/>
                </a:solidFill>
              </a:rPr>
              <a:t>날씨 </a:t>
            </a:r>
            <a:r>
              <a:rPr lang="en-US" altLang="ko-KR" sz="1100" dirty="0">
                <a:solidFill>
                  <a:schemeClr val="tx1"/>
                </a:solidFill>
              </a:rPr>
              <a:t>GUI </a:t>
            </a:r>
            <a:r>
              <a:rPr lang="ko-KR" altLang="en-US" sz="1100" dirty="0">
                <a:solidFill>
                  <a:schemeClr val="tx1"/>
                </a:solidFill>
              </a:rPr>
              <a:t>모듈</a:t>
            </a:r>
          </a:p>
        </p:txBody>
      </p:sp>
      <p:sp>
        <p:nvSpPr>
          <p:cNvPr id="24" name="직사각형 23">
            <a:extLst>
              <a:ext uri="{FF2B5EF4-FFF2-40B4-BE49-F238E27FC236}">
                <a16:creationId xmlns:a16="http://schemas.microsoft.com/office/drawing/2014/main" id="{D78D959A-F3AF-CBE7-A885-180DD0A7D91E}"/>
              </a:ext>
            </a:extLst>
          </p:cNvPr>
          <p:cNvSpPr/>
          <p:nvPr/>
        </p:nvSpPr>
        <p:spPr>
          <a:xfrm>
            <a:off x="5364088" y="2103698"/>
            <a:ext cx="1224136" cy="360040"/>
          </a:xfrm>
          <a:prstGeom prst="rect">
            <a:avLst/>
          </a:prstGeom>
          <a:solidFill>
            <a:schemeClr val="tx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rPr>
              <a:t>&lt;interface&gt;</a:t>
            </a:r>
          </a:p>
          <a:p>
            <a:pPr algn="ctr"/>
            <a:r>
              <a:rPr lang="ko-KR" altLang="en-US" sz="1100" dirty="0">
                <a:solidFill>
                  <a:schemeClr val="tx1"/>
                </a:solidFill>
              </a:rPr>
              <a:t>날씨 </a:t>
            </a:r>
            <a:r>
              <a:rPr lang="en-US" altLang="ko-KR" sz="1100" dirty="0">
                <a:solidFill>
                  <a:schemeClr val="tx1"/>
                </a:solidFill>
              </a:rPr>
              <a:t>GUI data</a:t>
            </a:r>
            <a:endParaRPr lang="en-US" altLang="ko-KR" sz="1000" dirty="0">
              <a:solidFill>
                <a:schemeClr val="tx1"/>
              </a:solidFill>
            </a:endParaRPr>
          </a:p>
        </p:txBody>
      </p:sp>
      <p:cxnSp>
        <p:nvCxnSpPr>
          <p:cNvPr id="25" name="직선 화살표 연결선 24">
            <a:extLst>
              <a:ext uri="{FF2B5EF4-FFF2-40B4-BE49-F238E27FC236}">
                <a16:creationId xmlns:a16="http://schemas.microsoft.com/office/drawing/2014/main" id="{2EE3A92B-E9D3-1A19-356F-576F1027FB8E}"/>
              </a:ext>
            </a:extLst>
          </p:cNvPr>
          <p:cNvCxnSpPr>
            <a:cxnSpLocks/>
            <a:stCxn id="23" idx="2"/>
            <a:endCxn id="24" idx="0"/>
          </p:cNvCxnSpPr>
          <p:nvPr/>
        </p:nvCxnSpPr>
        <p:spPr>
          <a:xfrm>
            <a:off x="5976156" y="1707654"/>
            <a:ext cx="0" cy="396044"/>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34" name="직사각형 33">
            <a:extLst>
              <a:ext uri="{FF2B5EF4-FFF2-40B4-BE49-F238E27FC236}">
                <a16:creationId xmlns:a16="http://schemas.microsoft.com/office/drawing/2014/main" id="{35860949-23C4-358A-738F-35769862629E}"/>
              </a:ext>
            </a:extLst>
          </p:cNvPr>
          <p:cNvSpPr/>
          <p:nvPr/>
        </p:nvSpPr>
        <p:spPr>
          <a:xfrm>
            <a:off x="7308304" y="2103698"/>
            <a:ext cx="1224136" cy="360040"/>
          </a:xfrm>
          <a:prstGeom prst="rect">
            <a:avLst/>
          </a:prstGeom>
          <a:solidFill>
            <a:schemeClr val="tx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00" dirty="0">
                <a:solidFill>
                  <a:schemeClr val="tx1"/>
                </a:solidFill>
              </a:rPr>
              <a:t>날씨</a:t>
            </a:r>
            <a:r>
              <a:rPr lang="en-US" altLang="ko-KR" sz="1100" dirty="0">
                <a:solidFill>
                  <a:schemeClr val="tx1"/>
                </a:solidFill>
              </a:rPr>
              <a:t> </a:t>
            </a:r>
            <a:r>
              <a:rPr lang="ko-KR" altLang="en-US" sz="1100" dirty="0">
                <a:solidFill>
                  <a:schemeClr val="tx1"/>
                </a:solidFill>
              </a:rPr>
              <a:t>정보 모듈 </a:t>
            </a:r>
            <a:r>
              <a:rPr lang="en-US" altLang="ko-KR" sz="1000" b="1" dirty="0">
                <a:solidFill>
                  <a:schemeClr val="tx1"/>
                </a:solidFill>
              </a:rPr>
              <a:t>(</a:t>
            </a:r>
            <a:r>
              <a:rPr lang="ko-KR" altLang="en-US" sz="1000" b="1" dirty="0">
                <a:solidFill>
                  <a:schemeClr val="tx1"/>
                </a:solidFill>
              </a:rPr>
              <a:t>기상청 </a:t>
            </a:r>
            <a:r>
              <a:rPr lang="en-US" altLang="ko-KR" sz="1000" b="1" dirty="0">
                <a:solidFill>
                  <a:schemeClr val="tx1"/>
                </a:solidFill>
              </a:rPr>
              <a:t>API)</a:t>
            </a:r>
            <a:r>
              <a:rPr lang="ko-KR" altLang="en-US" sz="1000" b="1" dirty="0">
                <a:solidFill>
                  <a:schemeClr val="tx1"/>
                </a:solidFill>
              </a:rPr>
              <a:t> </a:t>
            </a:r>
            <a:endParaRPr lang="en-US" altLang="ko-KR" sz="1000" b="1" dirty="0">
              <a:solidFill>
                <a:schemeClr val="tx1"/>
              </a:solidFill>
            </a:endParaRPr>
          </a:p>
        </p:txBody>
      </p:sp>
      <p:cxnSp>
        <p:nvCxnSpPr>
          <p:cNvPr id="36" name="직선 화살표 연결선 35">
            <a:extLst>
              <a:ext uri="{FF2B5EF4-FFF2-40B4-BE49-F238E27FC236}">
                <a16:creationId xmlns:a16="http://schemas.microsoft.com/office/drawing/2014/main" id="{8EE0D52F-5F39-AA7D-8BE7-DB50E9C67CB1}"/>
              </a:ext>
            </a:extLst>
          </p:cNvPr>
          <p:cNvCxnSpPr>
            <a:endCxn id="24" idx="3"/>
          </p:cNvCxnSpPr>
          <p:nvPr/>
        </p:nvCxnSpPr>
        <p:spPr>
          <a:xfrm flipH="1">
            <a:off x="6588224" y="2283718"/>
            <a:ext cx="72008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직사각형 36">
            <a:extLst>
              <a:ext uri="{FF2B5EF4-FFF2-40B4-BE49-F238E27FC236}">
                <a16:creationId xmlns:a16="http://schemas.microsoft.com/office/drawing/2014/main" id="{AB15B646-D6B1-E820-4473-842B2CF239CD}"/>
              </a:ext>
            </a:extLst>
          </p:cNvPr>
          <p:cNvSpPr/>
          <p:nvPr/>
        </p:nvSpPr>
        <p:spPr>
          <a:xfrm>
            <a:off x="5364088" y="3298676"/>
            <a:ext cx="1224136" cy="360040"/>
          </a:xfrm>
          <a:prstGeom prst="rect">
            <a:avLst/>
          </a:prstGeom>
          <a:solidFill>
            <a:schemeClr val="tx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00" dirty="0">
                <a:solidFill>
                  <a:schemeClr val="tx1"/>
                </a:solidFill>
              </a:rPr>
              <a:t>날씨 </a:t>
            </a:r>
            <a:r>
              <a:rPr lang="en-US" altLang="ko-KR" sz="1100" dirty="0">
                <a:solidFill>
                  <a:schemeClr val="tx1"/>
                </a:solidFill>
              </a:rPr>
              <a:t>GUI </a:t>
            </a:r>
            <a:r>
              <a:rPr lang="ko-KR" altLang="en-US" sz="1100" dirty="0">
                <a:solidFill>
                  <a:schemeClr val="tx1"/>
                </a:solidFill>
              </a:rPr>
              <a:t>모듈</a:t>
            </a:r>
          </a:p>
        </p:txBody>
      </p:sp>
      <p:sp>
        <p:nvSpPr>
          <p:cNvPr id="38" name="직사각형 37">
            <a:extLst>
              <a:ext uri="{FF2B5EF4-FFF2-40B4-BE49-F238E27FC236}">
                <a16:creationId xmlns:a16="http://schemas.microsoft.com/office/drawing/2014/main" id="{8DC9D0EC-3A7A-A83C-DEE9-3CA52F0AAC7B}"/>
              </a:ext>
            </a:extLst>
          </p:cNvPr>
          <p:cNvSpPr/>
          <p:nvPr/>
        </p:nvSpPr>
        <p:spPr>
          <a:xfrm>
            <a:off x="5364088" y="4054760"/>
            <a:ext cx="1224136" cy="360040"/>
          </a:xfrm>
          <a:prstGeom prst="rect">
            <a:avLst/>
          </a:prstGeom>
          <a:solidFill>
            <a:schemeClr val="tx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rPr>
              <a:t>&lt;interface&gt;</a:t>
            </a:r>
          </a:p>
          <a:p>
            <a:pPr algn="ctr"/>
            <a:r>
              <a:rPr lang="ko-KR" altLang="en-US" sz="1100" dirty="0">
                <a:solidFill>
                  <a:schemeClr val="tx1"/>
                </a:solidFill>
              </a:rPr>
              <a:t>날씨 </a:t>
            </a:r>
            <a:r>
              <a:rPr lang="en-US" altLang="ko-KR" sz="1100" dirty="0">
                <a:solidFill>
                  <a:schemeClr val="tx1"/>
                </a:solidFill>
              </a:rPr>
              <a:t>GUI data</a:t>
            </a:r>
            <a:endParaRPr lang="en-US" altLang="ko-KR" sz="1000" dirty="0">
              <a:solidFill>
                <a:schemeClr val="tx1"/>
              </a:solidFill>
            </a:endParaRPr>
          </a:p>
        </p:txBody>
      </p:sp>
      <p:cxnSp>
        <p:nvCxnSpPr>
          <p:cNvPr id="39" name="직선 화살표 연결선 38">
            <a:extLst>
              <a:ext uri="{FF2B5EF4-FFF2-40B4-BE49-F238E27FC236}">
                <a16:creationId xmlns:a16="http://schemas.microsoft.com/office/drawing/2014/main" id="{A30919B7-1A8A-12D7-4488-5AADEF529B49}"/>
              </a:ext>
            </a:extLst>
          </p:cNvPr>
          <p:cNvCxnSpPr>
            <a:cxnSpLocks/>
            <a:stCxn id="37" idx="2"/>
            <a:endCxn id="38" idx="0"/>
          </p:cNvCxnSpPr>
          <p:nvPr/>
        </p:nvCxnSpPr>
        <p:spPr>
          <a:xfrm>
            <a:off x="5976156" y="3658716"/>
            <a:ext cx="0" cy="396044"/>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41" name="직선 화살표 연결선 40">
            <a:extLst>
              <a:ext uri="{FF2B5EF4-FFF2-40B4-BE49-F238E27FC236}">
                <a16:creationId xmlns:a16="http://schemas.microsoft.com/office/drawing/2014/main" id="{DE07F01C-DB63-0856-8035-183946CB83DE}"/>
              </a:ext>
            </a:extLst>
          </p:cNvPr>
          <p:cNvCxnSpPr>
            <a:endCxn id="38" idx="3"/>
          </p:cNvCxnSpPr>
          <p:nvPr/>
        </p:nvCxnSpPr>
        <p:spPr>
          <a:xfrm flipH="1">
            <a:off x="6588224" y="4234780"/>
            <a:ext cx="72008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화살표: 오른쪽 41">
            <a:extLst>
              <a:ext uri="{FF2B5EF4-FFF2-40B4-BE49-F238E27FC236}">
                <a16:creationId xmlns:a16="http://schemas.microsoft.com/office/drawing/2014/main" id="{1C9C1EE1-6691-04F1-6578-8632FC7EB2D3}"/>
              </a:ext>
            </a:extLst>
          </p:cNvPr>
          <p:cNvSpPr/>
          <p:nvPr/>
        </p:nvSpPr>
        <p:spPr>
          <a:xfrm rot="5400000">
            <a:off x="6804248" y="2863205"/>
            <a:ext cx="288032" cy="216024"/>
          </a:xfrm>
          <a:prstGeom prst="rightArrow">
            <a:avLst/>
          </a:prstGeom>
          <a:solidFill>
            <a:schemeClr val="tx1">
              <a:lumMod val="50000"/>
              <a:lumOff val="5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직사각형 42">
            <a:extLst>
              <a:ext uri="{FF2B5EF4-FFF2-40B4-BE49-F238E27FC236}">
                <a16:creationId xmlns:a16="http://schemas.microsoft.com/office/drawing/2014/main" id="{3C6694A6-40DB-90C7-5BFF-F44759DEE3C3}"/>
              </a:ext>
            </a:extLst>
          </p:cNvPr>
          <p:cNvSpPr/>
          <p:nvPr/>
        </p:nvSpPr>
        <p:spPr>
          <a:xfrm>
            <a:off x="7308304" y="4054760"/>
            <a:ext cx="1224136" cy="360040"/>
          </a:xfrm>
          <a:prstGeom prst="rect">
            <a:avLst/>
          </a:prstGeom>
          <a:solidFill>
            <a:schemeClr val="accent2">
              <a:lumMod val="40000"/>
              <a:lumOff val="6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00" dirty="0">
                <a:solidFill>
                  <a:schemeClr val="tx1"/>
                </a:solidFill>
              </a:rPr>
              <a:t>날씨</a:t>
            </a:r>
            <a:r>
              <a:rPr lang="en-US" altLang="ko-KR" sz="1100" dirty="0">
                <a:solidFill>
                  <a:schemeClr val="tx1"/>
                </a:solidFill>
              </a:rPr>
              <a:t> </a:t>
            </a:r>
            <a:r>
              <a:rPr lang="ko-KR" altLang="en-US" sz="1100" dirty="0">
                <a:solidFill>
                  <a:schemeClr val="tx1"/>
                </a:solidFill>
              </a:rPr>
              <a:t>정보 모듈 </a:t>
            </a:r>
            <a:r>
              <a:rPr lang="en-US" altLang="ko-KR" sz="900" b="1" dirty="0">
                <a:solidFill>
                  <a:schemeClr val="tx1"/>
                </a:solidFill>
              </a:rPr>
              <a:t>(</a:t>
            </a:r>
            <a:r>
              <a:rPr lang="en-US" altLang="ko-KR" sz="900" b="1" dirty="0" err="1">
                <a:solidFill>
                  <a:schemeClr val="tx1"/>
                </a:solidFill>
              </a:rPr>
              <a:t>Accuweather</a:t>
            </a:r>
            <a:r>
              <a:rPr lang="ko-KR" altLang="en-US" sz="900" b="1" dirty="0">
                <a:solidFill>
                  <a:schemeClr val="tx1"/>
                </a:solidFill>
              </a:rPr>
              <a:t> </a:t>
            </a:r>
            <a:r>
              <a:rPr lang="en-US" altLang="ko-KR" sz="900" b="1" dirty="0">
                <a:solidFill>
                  <a:schemeClr val="tx1"/>
                </a:solidFill>
              </a:rPr>
              <a:t>API)</a:t>
            </a:r>
            <a:r>
              <a:rPr lang="ko-KR" altLang="en-US" sz="900" b="1" dirty="0">
                <a:solidFill>
                  <a:schemeClr val="tx1"/>
                </a:solidFill>
              </a:rPr>
              <a:t> </a:t>
            </a:r>
            <a:endParaRPr lang="en-US" altLang="ko-KR" sz="900" b="1" dirty="0">
              <a:solidFill>
                <a:schemeClr val="tx1"/>
              </a:solidFill>
            </a:endParaRPr>
          </a:p>
        </p:txBody>
      </p:sp>
      <p:sp>
        <p:nvSpPr>
          <p:cNvPr id="45" name="TextBox 44">
            <a:extLst>
              <a:ext uri="{FF2B5EF4-FFF2-40B4-BE49-F238E27FC236}">
                <a16:creationId xmlns:a16="http://schemas.microsoft.com/office/drawing/2014/main" id="{99EF7AC3-A87F-B3D4-BFFA-023B7F2CA40B}"/>
              </a:ext>
            </a:extLst>
          </p:cNvPr>
          <p:cNvSpPr txBox="1"/>
          <p:nvPr/>
        </p:nvSpPr>
        <p:spPr>
          <a:xfrm>
            <a:off x="6660232" y="2100855"/>
            <a:ext cx="994445" cy="215444"/>
          </a:xfrm>
          <a:prstGeom prst="rect">
            <a:avLst/>
          </a:prstGeom>
          <a:noFill/>
        </p:spPr>
        <p:txBody>
          <a:bodyPr wrap="square">
            <a:spAutoFit/>
          </a:bodyPr>
          <a:lstStyle/>
          <a:p>
            <a:r>
              <a:rPr lang="en-US" altLang="ko-KR" sz="800" dirty="0">
                <a:solidFill>
                  <a:schemeClr val="tx1"/>
                </a:solidFill>
              </a:rPr>
              <a:t>implement</a:t>
            </a:r>
            <a:endParaRPr lang="ko-KR" altLang="en-US" sz="800" dirty="0"/>
          </a:p>
        </p:txBody>
      </p:sp>
      <p:sp>
        <p:nvSpPr>
          <p:cNvPr id="46" name="TextBox 45">
            <a:extLst>
              <a:ext uri="{FF2B5EF4-FFF2-40B4-BE49-F238E27FC236}">
                <a16:creationId xmlns:a16="http://schemas.microsoft.com/office/drawing/2014/main" id="{30EC381E-5FBF-D2F9-EAB3-83CEDF992F35}"/>
              </a:ext>
            </a:extLst>
          </p:cNvPr>
          <p:cNvSpPr txBox="1"/>
          <p:nvPr/>
        </p:nvSpPr>
        <p:spPr>
          <a:xfrm>
            <a:off x="6638267" y="4022771"/>
            <a:ext cx="994445" cy="215444"/>
          </a:xfrm>
          <a:prstGeom prst="rect">
            <a:avLst/>
          </a:prstGeom>
          <a:noFill/>
        </p:spPr>
        <p:txBody>
          <a:bodyPr wrap="square">
            <a:spAutoFit/>
          </a:bodyPr>
          <a:lstStyle/>
          <a:p>
            <a:r>
              <a:rPr lang="en-US" altLang="ko-KR" sz="800" dirty="0">
                <a:solidFill>
                  <a:schemeClr val="tx1"/>
                </a:solidFill>
              </a:rPr>
              <a:t>implement</a:t>
            </a:r>
            <a:endParaRPr lang="ko-KR" altLang="en-US" sz="800" dirty="0"/>
          </a:p>
        </p:txBody>
      </p:sp>
      <p:cxnSp>
        <p:nvCxnSpPr>
          <p:cNvPr id="48" name="직선 연결선 47">
            <a:extLst>
              <a:ext uri="{FF2B5EF4-FFF2-40B4-BE49-F238E27FC236}">
                <a16:creationId xmlns:a16="http://schemas.microsoft.com/office/drawing/2014/main" id="{4F9D20C1-42AD-18D6-380F-DCDC730CDE8B}"/>
              </a:ext>
            </a:extLst>
          </p:cNvPr>
          <p:cNvCxnSpPr>
            <a:cxnSpLocks/>
          </p:cNvCxnSpPr>
          <p:nvPr/>
        </p:nvCxnSpPr>
        <p:spPr>
          <a:xfrm>
            <a:off x="4427984" y="1347614"/>
            <a:ext cx="0" cy="3024336"/>
          </a:xfrm>
          <a:prstGeom prst="line">
            <a:avLst/>
          </a:prstGeom>
          <a:ln w="9525">
            <a:solidFill>
              <a:schemeClr val="tx1">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sp>
        <p:nvSpPr>
          <p:cNvPr id="49" name="직사각형 48">
            <a:extLst>
              <a:ext uri="{FF2B5EF4-FFF2-40B4-BE49-F238E27FC236}">
                <a16:creationId xmlns:a16="http://schemas.microsoft.com/office/drawing/2014/main" id="{EE751800-979E-EEB7-ED99-37712BAB60CA}"/>
              </a:ext>
            </a:extLst>
          </p:cNvPr>
          <p:cNvSpPr/>
          <p:nvPr/>
        </p:nvSpPr>
        <p:spPr>
          <a:xfrm>
            <a:off x="4009098" y="4741200"/>
            <a:ext cx="837769" cy="219388"/>
          </a:xfrm>
          <a:prstGeom prst="rect">
            <a:avLst/>
          </a:prstGeom>
          <a:solidFill>
            <a:schemeClr val="accent2">
              <a:lumMod val="40000"/>
              <a:lumOff val="6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00" dirty="0">
                <a:solidFill>
                  <a:schemeClr val="tx1"/>
                </a:solidFill>
              </a:rPr>
              <a:t>변경 모듈</a:t>
            </a:r>
          </a:p>
        </p:txBody>
      </p:sp>
      <p:sp>
        <p:nvSpPr>
          <p:cNvPr id="51" name="직사각형 50">
            <a:extLst>
              <a:ext uri="{FF2B5EF4-FFF2-40B4-BE49-F238E27FC236}">
                <a16:creationId xmlns:a16="http://schemas.microsoft.com/office/drawing/2014/main" id="{027D1F30-99BE-6BF8-BF7C-D4EC04A716CC}"/>
              </a:ext>
            </a:extLst>
          </p:cNvPr>
          <p:cNvSpPr/>
          <p:nvPr/>
        </p:nvSpPr>
        <p:spPr>
          <a:xfrm>
            <a:off x="4009099" y="4505078"/>
            <a:ext cx="837769" cy="236122"/>
          </a:xfrm>
          <a:prstGeom prst="rect">
            <a:avLst/>
          </a:prstGeom>
          <a:solidFill>
            <a:schemeClr val="tx2">
              <a:lumMod val="20000"/>
              <a:lumOff val="80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00" dirty="0">
                <a:solidFill>
                  <a:schemeClr val="tx1"/>
                </a:solidFill>
              </a:rPr>
              <a:t>기존 모듈</a:t>
            </a:r>
          </a:p>
        </p:txBody>
      </p:sp>
    </p:spTree>
    <p:extLst>
      <p:ext uri="{BB962C8B-B14F-4D97-AF65-F5344CB8AC3E}">
        <p14:creationId xmlns:p14="http://schemas.microsoft.com/office/powerpoint/2010/main" val="2364725319"/>
      </p:ext>
    </p:extLst>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p:txBody>
          <a:bodyPr/>
          <a:lstStyle/>
          <a:p>
            <a:pPr lvl="0">
              <a:buFont typeface="Arial"/>
              <a:buChar char="•"/>
              <a:defRPr/>
            </a:pPr>
            <a:r>
              <a:rPr lang="en-US" altLang="ko-KR" sz="1800" b="1" spc="0" dirty="0">
                <a:solidFill>
                  <a:schemeClr val="dk1"/>
                </a:solidFill>
                <a:latin typeface="맑은 고딕"/>
                <a:ea typeface="맑은 고딕"/>
                <a:cs typeface="맑은 고딕"/>
              </a:rPr>
              <a:t>9 Principles</a:t>
            </a:r>
          </a:p>
          <a:p>
            <a:endParaRPr lang="ko-KR" altLang="en-US" spc="0" dirty="0"/>
          </a:p>
        </p:txBody>
      </p:sp>
      <p:sp>
        <p:nvSpPr>
          <p:cNvPr id="3" name="제목 2"/>
          <p:cNvSpPr>
            <a:spLocks noGrp="1"/>
          </p:cNvSpPr>
          <p:nvPr>
            <p:ph type="title"/>
          </p:nvPr>
        </p:nvSpPr>
        <p:spPr>
          <a:xfrm>
            <a:off x="474872" y="21631"/>
            <a:ext cx="8669128" cy="531531"/>
          </a:xfrm>
        </p:spPr>
        <p:txBody>
          <a:bodyPr>
            <a:normAutofit/>
          </a:bodyPr>
          <a:lstStyle/>
          <a:p>
            <a:r>
              <a:rPr lang="en-US" altLang="ko-KR" sz="2400" spc="0" dirty="0"/>
              <a:t>General Responsibility Assignment Software Patterns </a:t>
            </a:r>
            <a:r>
              <a:rPr lang="en-US" altLang="ko-KR" sz="1200" spc="0" dirty="0"/>
              <a:t>(GRASP)</a:t>
            </a:r>
            <a:endParaRPr lang="ko-KR" altLang="en-US" spc="0" dirty="0"/>
          </a:p>
        </p:txBody>
      </p:sp>
      <p:graphicFrame>
        <p:nvGraphicFramePr>
          <p:cNvPr id="7" name="표 6"/>
          <p:cNvGraphicFramePr>
            <a:graphicFrameLocks noGrp="1"/>
          </p:cNvGraphicFramePr>
          <p:nvPr>
            <p:extLst>
              <p:ext uri="{D42A27DB-BD31-4B8C-83A1-F6EECF244321}">
                <p14:modId xmlns:p14="http://schemas.microsoft.com/office/powerpoint/2010/main" val="1423253888"/>
              </p:ext>
            </p:extLst>
          </p:nvPr>
        </p:nvGraphicFramePr>
        <p:xfrm>
          <a:off x="608918" y="1347614"/>
          <a:ext cx="8283562" cy="3596640"/>
        </p:xfrm>
        <a:graphic>
          <a:graphicData uri="http://schemas.openxmlformats.org/drawingml/2006/table">
            <a:tbl>
              <a:tblPr firstRow="1" bandRow="1">
                <a:tableStyleId>{5940675A-B579-460E-94D1-54222C63F5DA}</a:tableStyleId>
              </a:tblPr>
              <a:tblGrid>
                <a:gridCol w="1539423">
                  <a:extLst>
                    <a:ext uri="{9D8B030D-6E8A-4147-A177-3AD203B41FA5}">
                      <a16:colId xmlns:a16="http://schemas.microsoft.com/office/drawing/2014/main" val="516524215"/>
                    </a:ext>
                  </a:extLst>
                </a:gridCol>
                <a:gridCol w="3811904">
                  <a:extLst>
                    <a:ext uri="{9D8B030D-6E8A-4147-A177-3AD203B41FA5}">
                      <a16:colId xmlns:a16="http://schemas.microsoft.com/office/drawing/2014/main" val="3074439729"/>
                    </a:ext>
                  </a:extLst>
                </a:gridCol>
                <a:gridCol w="1172894">
                  <a:extLst>
                    <a:ext uri="{9D8B030D-6E8A-4147-A177-3AD203B41FA5}">
                      <a16:colId xmlns:a16="http://schemas.microsoft.com/office/drawing/2014/main" val="3434351788"/>
                    </a:ext>
                  </a:extLst>
                </a:gridCol>
                <a:gridCol w="1759341">
                  <a:extLst>
                    <a:ext uri="{9D8B030D-6E8A-4147-A177-3AD203B41FA5}">
                      <a16:colId xmlns:a16="http://schemas.microsoft.com/office/drawing/2014/main" val="2643338069"/>
                    </a:ext>
                  </a:extLst>
                </a:gridCol>
              </a:tblGrid>
              <a:tr h="0">
                <a:tc>
                  <a:txBody>
                    <a:bodyPr/>
                    <a:lstStyle/>
                    <a:p>
                      <a:pPr algn="ctr" latinLnBrk="1"/>
                      <a:r>
                        <a:rPr lang="en-US" altLang="ko-KR" sz="1100" b="1" dirty="0">
                          <a:latin typeface="+mn-ea"/>
                          <a:ea typeface="+mn-ea"/>
                        </a:rPr>
                        <a:t>Principle</a:t>
                      </a:r>
                      <a:endParaRPr lang="ko-KR" altLang="en-US" sz="1100" b="1" dirty="0">
                        <a:latin typeface="+mn-ea"/>
                        <a:ea typeface="+mn-ea"/>
                      </a:endParaRPr>
                    </a:p>
                  </a:txBody>
                  <a:tcPr anchor="ctr">
                    <a:solidFill>
                      <a:schemeClr val="accent5">
                        <a:lumMod val="20000"/>
                        <a:lumOff val="80000"/>
                      </a:schemeClr>
                    </a:solidFill>
                  </a:tcPr>
                </a:tc>
                <a:tc>
                  <a:txBody>
                    <a:bodyPr/>
                    <a:lstStyle/>
                    <a:p>
                      <a:pPr algn="ctr" latinLnBrk="1"/>
                      <a:r>
                        <a:rPr lang="en-US" altLang="ko-KR" sz="1100" b="1" dirty="0">
                          <a:latin typeface="+mn-ea"/>
                          <a:ea typeface="+mn-ea"/>
                        </a:rPr>
                        <a:t>Problem</a:t>
                      </a:r>
                      <a:endParaRPr lang="ko-KR" altLang="en-US" sz="1100" b="1" dirty="0">
                        <a:latin typeface="+mn-ea"/>
                        <a:ea typeface="+mn-ea"/>
                      </a:endParaRPr>
                    </a:p>
                  </a:txBody>
                  <a:tcPr anchor="ctr">
                    <a:solidFill>
                      <a:schemeClr val="accent5">
                        <a:lumMod val="20000"/>
                        <a:lumOff val="80000"/>
                      </a:schemeClr>
                    </a:solidFill>
                  </a:tcPr>
                </a:tc>
                <a:tc>
                  <a:txBody>
                    <a:bodyPr/>
                    <a:lstStyle/>
                    <a:p>
                      <a:pPr algn="ctr" latinLnBrk="1"/>
                      <a:r>
                        <a:rPr lang="en-US" altLang="ko-KR" sz="1100" b="1" dirty="0">
                          <a:latin typeface="+mn-ea"/>
                          <a:ea typeface="+mn-ea"/>
                        </a:rPr>
                        <a:t>Benefit</a:t>
                      </a:r>
                      <a:endParaRPr lang="ko-KR" altLang="en-US" sz="1100" b="1" dirty="0">
                        <a:latin typeface="+mn-ea"/>
                        <a:ea typeface="+mn-ea"/>
                      </a:endParaRPr>
                    </a:p>
                  </a:txBody>
                  <a:tcPr anchor="ctr">
                    <a:solidFill>
                      <a:schemeClr val="accent5">
                        <a:lumMod val="20000"/>
                        <a:lumOff val="80000"/>
                      </a:schemeClr>
                    </a:solidFill>
                  </a:tcPr>
                </a:tc>
                <a:tc>
                  <a:txBody>
                    <a:bodyPr/>
                    <a:lstStyle/>
                    <a:p>
                      <a:pPr algn="ctr" latinLnBrk="1"/>
                      <a:r>
                        <a:rPr lang="en-US" altLang="ko-KR" sz="1100" b="1" dirty="0">
                          <a:latin typeface="+mn-ea"/>
                          <a:ea typeface="+mn-ea"/>
                        </a:rPr>
                        <a:t>Design pattern</a:t>
                      </a:r>
                      <a:endParaRPr lang="ko-KR" altLang="en-US" sz="1100" b="1" dirty="0">
                        <a:latin typeface="+mn-ea"/>
                        <a:ea typeface="+mn-ea"/>
                      </a:endParaRPr>
                    </a:p>
                  </a:txBody>
                  <a:tcPr anchor="ctr">
                    <a:solidFill>
                      <a:schemeClr val="accent5">
                        <a:lumMod val="20000"/>
                        <a:lumOff val="80000"/>
                      </a:schemeClr>
                    </a:solidFill>
                  </a:tcPr>
                </a:tc>
                <a:extLst>
                  <a:ext uri="{0D108BD9-81ED-4DB2-BD59-A6C34878D82A}">
                    <a16:rowId xmlns:a16="http://schemas.microsoft.com/office/drawing/2014/main" val="1596236305"/>
                  </a:ext>
                </a:extLst>
              </a:tr>
              <a:tr h="0">
                <a:tc>
                  <a:txBody>
                    <a:bodyPr/>
                    <a:lstStyle/>
                    <a:p>
                      <a:pPr latinLnBrk="1"/>
                      <a:r>
                        <a:rPr lang="en-US" altLang="ko-KR" sz="1100" b="1" dirty="0">
                          <a:latin typeface="+mn-ea"/>
                          <a:ea typeface="+mn-ea"/>
                        </a:rPr>
                        <a:t>Creator</a:t>
                      </a:r>
                      <a:endParaRPr lang="ko-KR" altLang="en-US" sz="1100" b="1" dirty="0">
                        <a:latin typeface="+mn-ea"/>
                        <a:ea typeface="+mn-ea"/>
                      </a:endParaRPr>
                    </a:p>
                  </a:txBody>
                  <a:tcPr anchor="ctr"/>
                </a:tc>
                <a:tc>
                  <a:txBody>
                    <a:bodyPr/>
                    <a:lstStyle/>
                    <a:p>
                      <a:pPr latinLnBrk="1"/>
                      <a:r>
                        <a:rPr lang="en-US" altLang="ko-KR" sz="1100" dirty="0">
                          <a:latin typeface="+mn-ea"/>
                          <a:ea typeface="+mn-ea"/>
                        </a:rPr>
                        <a:t>Who creates an instance?</a:t>
                      </a:r>
                      <a:endParaRPr lang="ko-KR" altLang="en-US" sz="1100" dirty="0">
                        <a:latin typeface="+mn-ea"/>
                        <a:ea typeface="+mn-ea"/>
                      </a:endParaRPr>
                    </a:p>
                  </a:txBody>
                  <a:tcPr anchor="ctr"/>
                </a:tc>
                <a:tc>
                  <a:txBody>
                    <a:bodyPr/>
                    <a:lstStyle/>
                    <a:p>
                      <a:pPr latinLnBrk="1"/>
                      <a:r>
                        <a:rPr lang="en-US" altLang="ko-KR" sz="1100" dirty="0">
                          <a:latin typeface="+mn-ea"/>
                          <a:ea typeface="+mn-ea"/>
                        </a:rPr>
                        <a:t>Coupling </a:t>
                      </a:r>
                      <a:r>
                        <a:rPr lang="ko-KR" altLang="en-US" sz="1100" dirty="0">
                          <a:latin typeface="+mn-ea"/>
                          <a:ea typeface="+mn-ea"/>
                        </a:rPr>
                        <a:t>↓</a:t>
                      </a:r>
                    </a:p>
                  </a:txBody>
                  <a:tcPr anchor="ctr"/>
                </a:tc>
                <a:tc>
                  <a:txBody>
                    <a:bodyPr/>
                    <a:lstStyle/>
                    <a:p>
                      <a:pPr latinLnBrk="1"/>
                      <a:r>
                        <a:rPr lang="en-US" altLang="ko-KR" sz="1100" dirty="0">
                          <a:latin typeface="+mn-ea"/>
                          <a:ea typeface="+mn-ea"/>
                        </a:rPr>
                        <a:t>Abstract</a:t>
                      </a:r>
                      <a:r>
                        <a:rPr lang="en-US" altLang="ko-KR" sz="1100" baseline="0" dirty="0">
                          <a:latin typeface="+mn-ea"/>
                          <a:ea typeface="+mn-ea"/>
                        </a:rPr>
                        <a:t> Factory, Singleton</a:t>
                      </a:r>
                      <a:endParaRPr lang="ko-KR" altLang="en-US" sz="1100" dirty="0">
                        <a:latin typeface="+mn-ea"/>
                        <a:ea typeface="+mn-ea"/>
                      </a:endParaRPr>
                    </a:p>
                  </a:txBody>
                  <a:tcPr anchor="ctr"/>
                </a:tc>
                <a:extLst>
                  <a:ext uri="{0D108BD9-81ED-4DB2-BD59-A6C34878D82A}">
                    <a16:rowId xmlns:a16="http://schemas.microsoft.com/office/drawing/2014/main" val="4073099781"/>
                  </a:ext>
                </a:extLst>
              </a:tr>
              <a:tr h="0">
                <a:tc>
                  <a:txBody>
                    <a:bodyPr/>
                    <a:lstStyle/>
                    <a:p>
                      <a:pPr latinLnBrk="1"/>
                      <a:r>
                        <a:rPr lang="en-US" altLang="ko-KR" sz="1100" b="1" dirty="0">
                          <a:latin typeface="+mn-ea"/>
                          <a:ea typeface="+mn-ea"/>
                        </a:rPr>
                        <a:t>Information Expert</a:t>
                      </a:r>
                      <a:endParaRPr lang="ko-KR" altLang="en-US" sz="1100" b="1" dirty="0">
                        <a:latin typeface="+mn-ea"/>
                        <a:ea typeface="+mn-ea"/>
                      </a:endParaRPr>
                    </a:p>
                  </a:txBody>
                  <a:tcPr anchor="ctr"/>
                </a:tc>
                <a:tc>
                  <a:txBody>
                    <a:bodyPr/>
                    <a:lstStyle/>
                    <a:p>
                      <a:pPr latinLnBrk="1"/>
                      <a:r>
                        <a:rPr lang="en-US" altLang="ko-KR" sz="1100" dirty="0">
                          <a:latin typeface="+mn-ea"/>
                          <a:ea typeface="+mn-ea"/>
                        </a:rPr>
                        <a:t>Basic</a:t>
                      </a:r>
                      <a:r>
                        <a:rPr lang="en-US" altLang="ko-KR" sz="1100" baseline="0" dirty="0">
                          <a:latin typeface="+mn-ea"/>
                          <a:ea typeface="+mn-ea"/>
                        </a:rPr>
                        <a:t> principles to assign responsibility</a:t>
                      </a:r>
                      <a:endParaRPr lang="ko-KR" altLang="en-US" sz="1100" dirty="0">
                        <a:latin typeface="+mn-ea"/>
                        <a:ea typeface="+mn-ea"/>
                      </a:endParaRPr>
                    </a:p>
                  </a:txBody>
                  <a:tcPr anchor="ctr"/>
                </a:tc>
                <a:tc>
                  <a:txBody>
                    <a:bodyPr/>
                    <a:lstStyle/>
                    <a:p>
                      <a:pPr latinLnBrk="1"/>
                      <a:r>
                        <a:rPr lang="en-US" altLang="ko-KR" sz="1100" dirty="0">
                          <a:latin typeface="+mn-ea"/>
                          <a:ea typeface="+mn-ea"/>
                        </a:rPr>
                        <a:t>Coupling </a:t>
                      </a:r>
                      <a:r>
                        <a:rPr lang="ko-KR" altLang="en-US" sz="1100" dirty="0">
                          <a:latin typeface="+mn-ea"/>
                          <a:ea typeface="+mn-ea"/>
                        </a:rPr>
                        <a:t>↓</a:t>
                      </a:r>
                    </a:p>
                  </a:txBody>
                  <a:tcPr anchor="ctr"/>
                </a:tc>
                <a:tc>
                  <a:txBody>
                    <a:bodyPr/>
                    <a:lstStyle/>
                    <a:p>
                      <a:pPr latinLnBrk="1"/>
                      <a:endParaRPr lang="ko-KR" altLang="en-US" sz="1100">
                        <a:latin typeface="+mn-ea"/>
                        <a:ea typeface="+mn-ea"/>
                      </a:endParaRPr>
                    </a:p>
                  </a:txBody>
                  <a:tcPr anchor="ctr"/>
                </a:tc>
                <a:extLst>
                  <a:ext uri="{0D108BD9-81ED-4DB2-BD59-A6C34878D82A}">
                    <a16:rowId xmlns:a16="http://schemas.microsoft.com/office/drawing/2014/main" val="4222881643"/>
                  </a:ext>
                </a:extLst>
              </a:tr>
              <a:tr h="0">
                <a:tc>
                  <a:txBody>
                    <a:bodyPr/>
                    <a:lstStyle/>
                    <a:p>
                      <a:pPr latinLnBrk="1"/>
                      <a:r>
                        <a:rPr lang="en-US" altLang="ko-KR" sz="1100" b="1" dirty="0">
                          <a:latin typeface="+mn-ea"/>
                          <a:ea typeface="+mn-ea"/>
                        </a:rPr>
                        <a:t>Controller</a:t>
                      </a:r>
                      <a:endParaRPr lang="ko-KR" altLang="en-US" sz="1100" b="1" dirty="0">
                        <a:latin typeface="+mn-ea"/>
                        <a:ea typeface="+mn-ea"/>
                      </a:endParaRPr>
                    </a:p>
                  </a:txBody>
                  <a:tcPr anchor="ctr"/>
                </a:tc>
                <a:tc>
                  <a:txBody>
                    <a:bodyPr/>
                    <a:lstStyle/>
                    <a:p>
                      <a:pPr latinLnBrk="1"/>
                      <a:r>
                        <a:rPr lang="en-US" altLang="ko-KR" sz="1100" dirty="0">
                          <a:latin typeface="+mn-ea"/>
                          <a:ea typeface="+mn-ea"/>
                        </a:rPr>
                        <a:t>First</a:t>
                      </a:r>
                      <a:r>
                        <a:rPr lang="en-US" altLang="ko-KR" sz="1100" baseline="0" dirty="0">
                          <a:latin typeface="+mn-ea"/>
                          <a:ea typeface="+mn-ea"/>
                        </a:rPr>
                        <a:t> object beyond the UI layer received and coordinates(“controls”)</a:t>
                      </a:r>
                      <a:endParaRPr lang="ko-KR" altLang="en-US" sz="1100" dirty="0">
                        <a:latin typeface="+mn-ea"/>
                        <a:ea typeface="+mn-ea"/>
                      </a:endParaRPr>
                    </a:p>
                  </a:txBody>
                  <a:tcPr anchor="ctr"/>
                </a:tc>
                <a:tc>
                  <a:txBody>
                    <a:bodyPr/>
                    <a:lstStyle/>
                    <a:p>
                      <a:pPr latinLnBrk="1"/>
                      <a:r>
                        <a:rPr lang="en-US" altLang="ko-KR" sz="1100" dirty="0">
                          <a:latin typeface="+mn-ea"/>
                          <a:ea typeface="+mn-ea"/>
                        </a:rPr>
                        <a:t>Reusability</a:t>
                      </a:r>
                      <a:r>
                        <a:rPr lang="en-US" altLang="ko-KR" sz="1100" baseline="0" dirty="0">
                          <a:latin typeface="+mn-ea"/>
                          <a:ea typeface="+mn-ea"/>
                        </a:rPr>
                        <a:t> </a:t>
                      </a:r>
                      <a:r>
                        <a:rPr lang="ko-KR" altLang="en-US" sz="1100" baseline="0" dirty="0">
                          <a:latin typeface="+mn-ea"/>
                          <a:ea typeface="+mn-ea"/>
                        </a:rPr>
                        <a:t>↑</a:t>
                      </a:r>
                      <a:endParaRPr lang="ko-KR" altLang="en-US" sz="1100" dirty="0">
                        <a:latin typeface="+mn-ea"/>
                        <a:ea typeface="+mn-ea"/>
                      </a:endParaRPr>
                    </a:p>
                  </a:txBody>
                  <a:tcPr anchor="ctr"/>
                </a:tc>
                <a:tc>
                  <a:txBody>
                    <a:bodyPr/>
                    <a:lstStyle/>
                    <a:p>
                      <a:pPr latinLnBrk="1"/>
                      <a:endParaRPr lang="ko-KR" altLang="en-US" sz="1100" dirty="0">
                        <a:latin typeface="+mn-ea"/>
                        <a:ea typeface="+mn-ea"/>
                      </a:endParaRPr>
                    </a:p>
                  </a:txBody>
                  <a:tcPr anchor="ctr"/>
                </a:tc>
                <a:extLst>
                  <a:ext uri="{0D108BD9-81ED-4DB2-BD59-A6C34878D82A}">
                    <a16:rowId xmlns:a16="http://schemas.microsoft.com/office/drawing/2014/main" val="1327424702"/>
                  </a:ext>
                </a:extLst>
              </a:tr>
              <a:tr h="0">
                <a:tc>
                  <a:txBody>
                    <a:bodyPr/>
                    <a:lstStyle/>
                    <a:p>
                      <a:pPr latinLnBrk="1"/>
                      <a:r>
                        <a:rPr lang="en-US" altLang="ko-KR" sz="1100" b="1" dirty="0">
                          <a:latin typeface="+mn-ea"/>
                          <a:ea typeface="+mn-ea"/>
                        </a:rPr>
                        <a:t>Low coupling</a:t>
                      </a:r>
                      <a:endParaRPr lang="ko-KR" altLang="en-US" sz="1100" b="1" dirty="0">
                        <a:latin typeface="+mn-ea"/>
                        <a:ea typeface="+mn-ea"/>
                      </a:endParaRPr>
                    </a:p>
                  </a:txBody>
                  <a:tcPr anchor="ctr"/>
                </a:tc>
                <a:tc>
                  <a:txBody>
                    <a:bodyPr/>
                    <a:lstStyle/>
                    <a:p>
                      <a:pPr latinLnBrk="1"/>
                      <a:r>
                        <a:rPr lang="en-US" altLang="ko-KR" sz="1100" dirty="0">
                          <a:latin typeface="+mn-ea"/>
                          <a:ea typeface="+mn-ea"/>
                        </a:rPr>
                        <a:t>How to</a:t>
                      </a:r>
                      <a:r>
                        <a:rPr lang="en-US" altLang="ko-KR" sz="1100" baseline="0" dirty="0">
                          <a:latin typeface="+mn-ea"/>
                          <a:ea typeface="+mn-ea"/>
                        </a:rPr>
                        <a:t> reduce the impact of change</a:t>
                      </a:r>
                      <a:endParaRPr lang="ko-KR" altLang="en-US" sz="1100" dirty="0">
                        <a:latin typeface="+mn-ea"/>
                        <a:ea typeface="+mn-ea"/>
                      </a:endParaRPr>
                    </a:p>
                  </a:txBody>
                  <a:tcPr anchor="ct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100" dirty="0">
                          <a:latin typeface="+mn-ea"/>
                          <a:ea typeface="+mn-ea"/>
                        </a:rPr>
                        <a:t>Coupling </a:t>
                      </a:r>
                      <a:r>
                        <a:rPr lang="ko-KR" altLang="en-US" sz="1100" dirty="0">
                          <a:latin typeface="+mn-ea"/>
                          <a:ea typeface="+mn-ea"/>
                        </a:rPr>
                        <a:t>↓</a:t>
                      </a:r>
                    </a:p>
                  </a:txBody>
                  <a:tcPr anchor="ctr"/>
                </a:tc>
                <a:tc>
                  <a:txBody>
                    <a:bodyPr/>
                    <a:lstStyle/>
                    <a:p>
                      <a:pPr latinLnBrk="1"/>
                      <a:endParaRPr lang="ko-KR" altLang="en-US" sz="1100" dirty="0">
                        <a:latin typeface="+mn-ea"/>
                        <a:ea typeface="+mn-ea"/>
                      </a:endParaRPr>
                    </a:p>
                  </a:txBody>
                  <a:tcPr anchor="ctr"/>
                </a:tc>
                <a:extLst>
                  <a:ext uri="{0D108BD9-81ED-4DB2-BD59-A6C34878D82A}">
                    <a16:rowId xmlns:a16="http://schemas.microsoft.com/office/drawing/2014/main" val="314794234"/>
                  </a:ext>
                </a:extLst>
              </a:tr>
              <a:tr h="0">
                <a:tc>
                  <a:txBody>
                    <a:bodyPr/>
                    <a:lstStyle/>
                    <a:p>
                      <a:pPr latinLnBrk="1"/>
                      <a:r>
                        <a:rPr lang="en-US" altLang="ko-KR" sz="1100" b="1" dirty="0">
                          <a:latin typeface="+mn-ea"/>
                          <a:ea typeface="+mn-ea"/>
                        </a:rPr>
                        <a:t>High Cohesion</a:t>
                      </a:r>
                      <a:endParaRPr lang="ko-KR" altLang="en-US" sz="1100" b="1" dirty="0">
                        <a:latin typeface="+mn-ea"/>
                        <a:ea typeface="+mn-ea"/>
                      </a:endParaRPr>
                    </a:p>
                  </a:txBody>
                  <a:tcPr anchor="ctr"/>
                </a:tc>
                <a:tc>
                  <a:txBody>
                    <a:bodyPr/>
                    <a:lstStyle/>
                    <a:p>
                      <a:pPr latinLnBrk="1"/>
                      <a:r>
                        <a:rPr lang="en-US" altLang="ko-KR" sz="1100" dirty="0">
                          <a:latin typeface="+mn-ea"/>
                          <a:ea typeface="+mn-ea"/>
                        </a:rPr>
                        <a:t>How to keep objects understandable and manageable support Low Coupling?</a:t>
                      </a:r>
                      <a:endParaRPr lang="ko-KR" altLang="en-US" sz="1100" dirty="0">
                        <a:latin typeface="+mn-ea"/>
                        <a:ea typeface="+mn-ea"/>
                      </a:endParaRPr>
                    </a:p>
                  </a:txBody>
                  <a:tcPr anchor="ct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100" dirty="0">
                          <a:latin typeface="+mn-ea"/>
                          <a:ea typeface="+mn-ea"/>
                        </a:rPr>
                        <a:t>Coupling </a:t>
                      </a:r>
                      <a:r>
                        <a:rPr lang="ko-KR" altLang="en-US" sz="1100" dirty="0">
                          <a:latin typeface="+mn-ea"/>
                          <a:ea typeface="+mn-ea"/>
                        </a:rPr>
                        <a:t>↓</a:t>
                      </a:r>
                    </a:p>
                  </a:txBody>
                  <a:tcPr anchor="ctr"/>
                </a:tc>
                <a:tc>
                  <a:txBody>
                    <a:bodyPr/>
                    <a:lstStyle/>
                    <a:p>
                      <a:pPr latinLnBrk="1"/>
                      <a:endParaRPr lang="ko-KR" altLang="en-US" sz="1100">
                        <a:latin typeface="+mn-ea"/>
                        <a:ea typeface="+mn-ea"/>
                      </a:endParaRPr>
                    </a:p>
                  </a:txBody>
                  <a:tcPr anchor="ctr"/>
                </a:tc>
                <a:extLst>
                  <a:ext uri="{0D108BD9-81ED-4DB2-BD59-A6C34878D82A}">
                    <a16:rowId xmlns:a16="http://schemas.microsoft.com/office/drawing/2014/main" val="4134461188"/>
                  </a:ext>
                </a:extLst>
              </a:tr>
              <a:tr h="0">
                <a:tc>
                  <a:txBody>
                    <a:bodyPr/>
                    <a:lstStyle/>
                    <a:p>
                      <a:pPr latinLnBrk="1"/>
                      <a:r>
                        <a:rPr lang="en-US" altLang="ko-KR" sz="1100" b="1" dirty="0">
                          <a:latin typeface="+mn-ea"/>
                          <a:ea typeface="+mn-ea"/>
                        </a:rPr>
                        <a:t>Pure Fabrication</a:t>
                      </a:r>
                      <a:endParaRPr lang="ko-KR" altLang="en-US" sz="1100" b="1" dirty="0">
                        <a:latin typeface="+mn-ea"/>
                        <a:ea typeface="+mn-ea"/>
                      </a:endParaRPr>
                    </a:p>
                  </a:txBody>
                  <a:tcPr anchor="ctr"/>
                </a:tc>
                <a:tc>
                  <a:txBody>
                    <a:bodyPr/>
                    <a:lstStyle/>
                    <a:p>
                      <a:pPr latinLnBrk="1"/>
                      <a:r>
                        <a:rPr lang="en-US" altLang="ko-KR" sz="1100" dirty="0">
                          <a:latin typeface="+mn-ea"/>
                          <a:ea typeface="+mn-ea"/>
                        </a:rPr>
                        <a:t>“behavior” class that</a:t>
                      </a:r>
                      <a:r>
                        <a:rPr lang="en-US" altLang="ko-KR" sz="1100" baseline="0" dirty="0">
                          <a:latin typeface="+mn-ea"/>
                          <a:ea typeface="+mn-ea"/>
                        </a:rPr>
                        <a:t> does not represent a problem domain concept</a:t>
                      </a:r>
                      <a:endParaRPr lang="ko-KR" altLang="en-US" sz="1100" dirty="0">
                        <a:latin typeface="+mn-ea"/>
                        <a:ea typeface="+mn-ea"/>
                      </a:endParaRPr>
                    </a:p>
                  </a:txBody>
                  <a:tcPr anchor="ct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100" dirty="0">
                          <a:latin typeface="+mn-ea"/>
                          <a:ea typeface="+mn-ea"/>
                        </a:rPr>
                        <a:t>Coupling </a:t>
                      </a:r>
                      <a:r>
                        <a:rPr lang="ko-KR" altLang="en-US" sz="1100" dirty="0">
                          <a:latin typeface="+mn-ea"/>
                          <a:ea typeface="+mn-ea"/>
                        </a:rPr>
                        <a:t>↓</a:t>
                      </a:r>
                    </a:p>
                  </a:txBody>
                  <a:tcPr anchor="ctr"/>
                </a:tc>
                <a:tc>
                  <a:txBody>
                    <a:bodyPr/>
                    <a:lstStyle/>
                    <a:p>
                      <a:pPr latinLnBrk="1"/>
                      <a:endParaRPr lang="ko-KR" altLang="en-US" sz="1100" dirty="0">
                        <a:latin typeface="+mn-ea"/>
                        <a:ea typeface="+mn-ea"/>
                      </a:endParaRPr>
                    </a:p>
                  </a:txBody>
                  <a:tcPr anchor="ctr"/>
                </a:tc>
                <a:extLst>
                  <a:ext uri="{0D108BD9-81ED-4DB2-BD59-A6C34878D82A}">
                    <a16:rowId xmlns:a16="http://schemas.microsoft.com/office/drawing/2014/main" val="2656126772"/>
                  </a:ext>
                </a:extLst>
              </a:tr>
              <a:tr h="0">
                <a:tc>
                  <a:txBody>
                    <a:bodyPr/>
                    <a:lstStyle/>
                    <a:p>
                      <a:pPr latinLnBrk="1"/>
                      <a:r>
                        <a:rPr lang="en-US" altLang="ko-KR" sz="1100" b="1" dirty="0">
                          <a:latin typeface="+mn-ea"/>
                          <a:ea typeface="+mn-ea"/>
                        </a:rPr>
                        <a:t>Polymorphism</a:t>
                      </a:r>
                      <a:endParaRPr lang="ko-KR" altLang="en-US" sz="1100" b="1" dirty="0">
                        <a:latin typeface="+mn-ea"/>
                        <a:ea typeface="+mn-ea"/>
                      </a:endParaRPr>
                    </a:p>
                  </a:txBody>
                  <a:tcPr anchor="ctr"/>
                </a:tc>
                <a:tc>
                  <a:txBody>
                    <a:bodyPr/>
                    <a:lstStyle/>
                    <a:p>
                      <a:pPr latinLnBrk="1"/>
                      <a:r>
                        <a:rPr lang="en-US" altLang="ko-KR" sz="1100" dirty="0">
                          <a:latin typeface="+mn-ea"/>
                          <a:ea typeface="+mn-ea"/>
                        </a:rPr>
                        <a:t>Who is responsible</a:t>
                      </a:r>
                      <a:r>
                        <a:rPr lang="en-US" altLang="ko-KR" sz="1100" baseline="0" dirty="0">
                          <a:latin typeface="+mn-ea"/>
                          <a:ea typeface="+mn-ea"/>
                        </a:rPr>
                        <a:t> when behavior varies by type?</a:t>
                      </a:r>
                      <a:endParaRPr lang="ko-KR" altLang="en-US" sz="1100" dirty="0">
                        <a:latin typeface="+mn-ea"/>
                        <a:ea typeface="+mn-ea"/>
                      </a:endParaRPr>
                    </a:p>
                  </a:txBody>
                  <a:tcPr anchor="ct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100" dirty="0">
                          <a:latin typeface="+mn-ea"/>
                          <a:ea typeface="+mn-ea"/>
                        </a:rPr>
                        <a:t>Reusability</a:t>
                      </a:r>
                      <a:r>
                        <a:rPr lang="en-US" altLang="ko-KR" sz="1100" baseline="0" dirty="0">
                          <a:latin typeface="+mn-ea"/>
                          <a:ea typeface="+mn-ea"/>
                        </a:rPr>
                        <a:t> </a:t>
                      </a:r>
                      <a:r>
                        <a:rPr lang="ko-KR" altLang="en-US" sz="1100" baseline="0" dirty="0">
                          <a:latin typeface="+mn-ea"/>
                          <a:ea typeface="+mn-ea"/>
                        </a:rPr>
                        <a:t>↑</a:t>
                      </a:r>
                      <a:endParaRPr lang="ko-KR" altLang="en-US" sz="1100" dirty="0">
                        <a:latin typeface="+mn-ea"/>
                        <a:ea typeface="+mn-ea"/>
                      </a:endParaRPr>
                    </a:p>
                  </a:txBody>
                  <a:tcPr anchor="ctr"/>
                </a:tc>
                <a:tc>
                  <a:txBody>
                    <a:bodyPr/>
                    <a:lstStyle/>
                    <a:p>
                      <a:pPr latinLnBrk="1"/>
                      <a:r>
                        <a:rPr lang="en-US" altLang="ko-KR" sz="1100" dirty="0">
                          <a:latin typeface="+mn-ea"/>
                          <a:ea typeface="+mn-ea"/>
                        </a:rPr>
                        <a:t>Strategy,</a:t>
                      </a:r>
                      <a:r>
                        <a:rPr lang="en-US" altLang="ko-KR" sz="1100" baseline="0" dirty="0">
                          <a:latin typeface="+mn-ea"/>
                          <a:ea typeface="+mn-ea"/>
                        </a:rPr>
                        <a:t> Template method, and etc.</a:t>
                      </a:r>
                      <a:endParaRPr lang="ko-KR" altLang="en-US" sz="1100" dirty="0">
                        <a:latin typeface="+mn-ea"/>
                        <a:ea typeface="+mn-ea"/>
                      </a:endParaRPr>
                    </a:p>
                  </a:txBody>
                  <a:tcPr anchor="ctr"/>
                </a:tc>
                <a:extLst>
                  <a:ext uri="{0D108BD9-81ED-4DB2-BD59-A6C34878D82A}">
                    <a16:rowId xmlns:a16="http://schemas.microsoft.com/office/drawing/2014/main" val="4107900540"/>
                  </a:ext>
                </a:extLst>
              </a:tr>
              <a:tr h="0">
                <a:tc>
                  <a:txBody>
                    <a:bodyPr/>
                    <a:lstStyle/>
                    <a:p>
                      <a:pPr latinLnBrk="1"/>
                      <a:r>
                        <a:rPr lang="en-US" altLang="ko-KR" sz="1100" b="1" dirty="0">
                          <a:latin typeface="+mn-ea"/>
                          <a:ea typeface="+mn-ea"/>
                        </a:rPr>
                        <a:t>Indirection </a:t>
                      </a:r>
                      <a:endParaRPr lang="ko-KR" altLang="en-US" sz="1100" b="1" dirty="0">
                        <a:latin typeface="+mn-ea"/>
                        <a:ea typeface="+mn-ea"/>
                      </a:endParaRPr>
                    </a:p>
                  </a:txBody>
                  <a:tcPr anchor="ctr"/>
                </a:tc>
                <a:tc>
                  <a:txBody>
                    <a:bodyPr/>
                    <a:lstStyle/>
                    <a:p>
                      <a:pPr latinLnBrk="1"/>
                      <a:r>
                        <a:rPr lang="en-US" altLang="ko-KR" sz="1100" dirty="0">
                          <a:latin typeface="+mn-ea"/>
                          <a:ea typeface="+mn-ea"/>
                        </a:rPr>
                        <a:t>How to assign responsibilities to avoid direct coupling</a:t>
                      </a:r>
                      <a:endParaRPr lang="ko-KR" altLang="en-US" sz="1100" dirty="0">
                        <a:latin typeface="+mn-ea"/>
                        <a:ea typeface="+mn-ea"/>
                      </a:endParaRPr>
                    </a:p>
                  </a:txBody>
                  <a:tcPr anchor="ct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100" dirty="0">
                          <a:latin typeface="+mn-ea"/>
                          <a:ea typeface="+mn-ea"/>
                        </a:rPr>
                        <a:t>Coupling </a:t>
                      </a:r>
                      <a:r>
                        <a:rPr lang="ko-KR" altLang="en-US" sz="1100" dirty="0">
                          <a:latin typeface="+mn-ea"/>
                          <a:ea typeface="+mn-ea"/>
                        </a:rPr>
                        <a:t>↓</a:t>
                      </a:r>
                    </a:p>
                  </a:txBody>
                  <a:tcPr anchor="ctr"/>
                </a:tc>
                <a:tc>
                  <a:txBody>
                    <a:bodyPr/>
                    <a:lstStyle/>
                    <a:p>
                      <a:pPr latinLnBrk="1"/>
                      <a:r>
                        <a:rPr lang="en-US" altLang="ko-KR" sz="1100" dirty="0">
                          <a:latin typeface="+mn-ea"/>
                          <a:ea typeface="+mn-ea"/>
                        </a:rPr>
                        <a:t>Adapter, Façade, Proxy, Mediator, …</a:t>
                      </a:r>
                      <a:endParaRPr lang="ko-KR" altLang="en-US" sz="1100" dirty="0">
                        <a:latin typeface="+mn-ea"/>
                        <a:ea typeface="+mn-ea"/>
                      </a:endParaRPr>
                    </a:p>
                  </a:txBody>
                  <a:tcPr anchor="ctr"/>
                </a:tc>
                <a:extLst>
                  <a:ext uri="{0D108BD9-81ED-4DB2-BD59-A6C34878D82A}">
                    <a16:rowId xmlns:a16="http://schemas.microsoft.com/office/drawing/2014/main" val="2238728629"/>
                  </a:ext>
                </a:extLst>
              </a:tr>
              <a:tr h="0">
                <a:tc>
                  <a:txBody>
                    <a:bodyPr/>
                    <a:lstStyle/>
                    <a:p>
                      <a:pPr latinLnBrk="1"/>
                      <a:r>
                        <a:rPr lang="en-US" altLang="ko-KR" sz="1100" b="1" dirty="0">
                          <a:latin typeface="+mn-ea"/>
                          <a:ea typeface="+mn-ea"/>
                        </a:rPr>
                        <a:t>Protected variations</a:t>
                      </a:r>
                      <a:endParaRPr lang="ko-KR" altLang="en-US" sz="1100" b="1" dirty="0">
                        <a:latin typeface="+mn-ea"/>
                        <a:ea typeface="+mn-ea"/>
                      </a:endParaRPr>
                    </a:p>
                  </a:txBody>
                  <a:tcPr anchor="ctr"/>
                </a:tc>
                <a:tc>
                  <a:txBody>
                    <a:bodyPr/>
                    <a:lstStyle/>
                    <a:p>
                      <a:pPr latinLnBrk="1"/>
                      <a:r>
                        <a:rPr lang="en-US" altLang="ko-KR" sz="1100" dirty="0">
                          <a:latin typeface="+mn-ea"/>
                          <a:ea typeface="+mn-ea"/>
                        </a:rPr>
                        <a:t>Identify</a:t>
                      </a:r>
                      <a:r>
                        <a:rPr lang="en-US" altLang="ko-KR" sz="1100" baseline="0" dirty="0">
                          <a:latin typeface="+mn-ea"/>
                          <a:ea typeface="+mn-ea"/>
                        </a:rPr>
                        <a:t> points of predicted variation of instability</a:t>
                      </a:r>
                      <a:endParaRPr lang="ko-KR" altLang="en-US" sz="1100" dirty="0">
                        <a:latin typeface="+mn-ea"/>
                        <a:ea typeface="+mn-ea"/>
                      </a:endParaRPr>
                    </a:p>
                  </a:txBody>
                  <a:tcPr anchor="ctr"/>
                </a:tc>
                <a:tc>
                  <a:txBody>
                    <a:bodyPr/>
                    <a:lstStyle/>
                    <a:p>
                      <a:pPr latinLnBrk="1"/>
                      <a:r>
                        <a:rPr lang="en-US" altLang="ko-KR" sz="1100" dirty="0">
                          <a:latin typeface="+mn-ea"/>
                          <a:ea typeface="+mn-ea"/>
                        </a:rPr>
                        <a:t>Flexibility</a:t>
                      </a:r>
                      <a:r>
                        <a:rPr lang="en-US" altLang="ko-KR" sz="1100" baseline="0" dirty="0">
                          <a:latin typeface="+mn-ea"/>
                          <a:ea typeface="+mn-ea"/>
                        </a:rPr>
                        <a:t> </a:t>
                      </a:r>
                      <a:r>
                        <a:rPr lang="ko-KR" altLang="en-US" sz="1100" baseline="0" dirty="0">
                          <a:latin typeface="+mn-ea"/>
                          <a:ea typeface="+mn-ea"/>
                        </a:rPr>
                        <a:t>↑</a:t>
                      </a:r>
                      <a:endParaRPr lang="ko-KR" altLang="en-US" sz="1100" dirty="0">
                        <a:latin typeface="+mn-ea"/>
                        <a:ea typeface="+mn-ea"/>
                      </a:endParaRPr>
                    </a:p>
                  </a:txBody>
                  <a:tcPr anchor="ctr"/>
                </a:tc>
                <a:tc>
                  <a:txBody>
                    <a:bodyPr/>
                    <a:lstStyle/>
                    <a:p>
                      <a:pPr latinLnBrk="1"/>
                      <a:endParaRPr lang="ko-KR" altLang="en-US" sz="1100" dirty="0">
                        <a:latin typeface="+mn-ea"/>
                        <a:ea typeface="+mn-ea"/>
                      </a:endParaRPr>
                    </a:p>
                  </a:txBody>
                  <a:tcPr anchor="ctr"/>
                </a:tc>
                <a:extLst>
                  <a:ext uri="{0D108BD9-81ED-4DB2-BD59-A6C34878D82A}">
                    <a16:rowId xmlns:a16="http://schemas.microsoft.com/office/drawing/2014/main" val="3556546780"/>
                  </a:ext>
                </a:extLst>
              </a:tr>
            </a:tbl>
          </a:graphicData>
        </a:graphic>
      </p:graphicFrame>
    </p:spTree>
    <p:extLst>
      <p:ext uri="{BB962C8B-B14F-4D97-AF65-F5344CB8AC3E}">
        <p14:creationId xmlns:p14="http://schemas.microsoft.com/office/powerpoint/2010/main" val="2799976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p:txBody>
          <a:bodyPr>
            <a:normAutofit fontScale="92500" lnSpcReduction="20000"/>
          </a:bodyPr>
          <a:lstStyle/>
          <a:p>
            <a:pPr lvl="0">
              <a:buFont typeface="Arial"/>
              <a:buChar char="•"/>
              <a:defRPr/>
            </a:pPr>
            <a:r>
              <a:rPr lang="en-US" altLang="ko-KR" sz="1800" b="1" spc="0" dirty="0">
                <a:solidFill>
                  <a:schemeClr val="dk1"/>
                </a:solidFill>
                <a:latin typeface="맑은 고딕"/>
                <a:ea typeface="맑은 고딕"/>
                <a:cs typeface="맑은 고딕"/>
              </a:rPr>
              <a:t>Coupling (</a:t>
            </a:r>
            <a:r>
              <a:rPr lang="ko-KR" altLang="en-US" sz="1800" b="1" spc="0" dirty="0">
                <a:solidFill>
                  <a:schemeClr val="dk1"/>
                </a:solidFill>
                <a:latin typeface="맑은 고딕"/>
                <a:ea typeface="맑은 고딕"/>
                <a:cs typeface="맑은 고딕"/>
              </a:rPr>
              <a:t>결합도</a:t>
            </a:r>
            <a:r>
              <a:rPr lang="en-US" altLang="ko-KR" sz="1800" b="1" spc="0" dirty="0">
                <a:solidFill>
                  <a:schemeClr val="dk1"/>
                </a:solidFill>
                <a:latin typeface="맑은 고딕"/>
                <a:ea typeface="맑은 고딕"/>
                <a:cs typeface="맑은 고딕"/>
              </a:rPr>
              <a:t>)</a:t>
            </a:r>
          </a:p>
          <a:p>
            <a:pPr lvl="0">
              <a:buFont typeface="Arial"/>
              <a:buChar char="•"/>
              <a:defRPr/>
            </a:pPr>
            <a:endParaRPr lang="en-US" altLang="ko-KR" sz="1800" spc="0" dirty="0">
              <a:solidFill>
                <a:schemeClr val="dk1"/>
              </a:solidFill>
              <a:latin typeface="맑은 고딕"/>
              <a:ea typeface="맑은 고딕"/>
              <a:cs typeface="맑은 고딕"/>
            </a:endParaRPr>
          </a:p>
          <a:p>
            <a:pPr lvl="0">
              <a:buFont typeface="Arial"/>
              <a:buChar char="•"/>
              <a:defRPr/>
            </a:pPr>
            <a:endParaRPr lang="en-US" altLang="ko-KR" sz="1100" spc="0" dirty="0">
              <a:solidFill>
                <a:schemeClr val="dk1"/>
              </a:solidFill>
              <a:latin typeface="맑은 고딕"/>
              <a:ea typeface="맑은 고딕"/>
              <a:cs typeface="맑은 고딕"/>
            </a:endParaRPr>
          </a:p>
          <a:p>
            <a:pPr lvl="0">
              <a:buFont typeface="Arial"/>
              <a:buChar char="•"/>
              <a:defRPr/>
            </a:pPr>
            <a:endParaRPr lang="en-US" altLang="ko-KR" sz="1800" spc="0" dirty="0">
              <a:solidFill>
                <a:schemeClr val="dk1"/>
              </a:solidFill>
              <a:latin typeface="맑은 고딕"/>
              <a:ea typeface="맑은 고딕"/>
              <a:cs typeface="맑은 고딕"/>
            </a:endParaRPr>
          </a:p>
          <a:p>
            <a:pPr marL="91463" lvl="0" indent="0">
              <a:buNone/>
              <a:defRPr/>
            </a:pPr>
            <a:endParaRPr lang="en-US" altLang="ko-KR" sz="1600" spc="0" dirty="0">
              <a:solidFill>
                <a:schemeClr val="dk1"/>
              </a:solidFill>
              <a:latin typeface="맑은 고딕"/>
              <a:ea typeface="맑은 고딕"/>
              <a:cs typeface="맑은 고딕"/>
            </a:endParaRPr>
          </a:p>
          <a:p>
            <a:pPr lvl="0">
              <a:buFont typeface="Arial"/>
              <a:buChar char="•"/>
              <a:defRPr/>
            </a:pPr>
            <a:endParaRPr lang="en-US" altLang="ko-KR" sz="1800" b="1" spc="0" dirty="0">
              <a:solidFill>
                <a:srgbClr val="0070C0"/>
              </a:solidFill>
              <a:latin typeface="맑은 고딕"/>
              <a:ea typeface="맑은 고딕"/>
              <a:cs typeface="맑은 고딕"/>
            </a:endParaRPr>
          </a:p>
          <a:p>
            <a:pPr lvl="0">
              <a:buFont typeface="Arial"/>
              <a:buChar char="•"/>
              <a:defRPr/>
            </a:pPr>
            <a:r>
              <a:rPr lang="en-US" altLang="ko-KR" sz="1800" b="1" spc="0" dirty="0">
                <a:solidFill>
                  <a:srgbClr val="0070C0"/>
                </a:solidFill>
                <a:latin typeface="맑은 고딕"/>
                <a:ea typeface="맑은 고딕"/>
                <a:cs typeface="맑은 고딕"/>
              </a:rPr>
              <a:t>Pursue Low (or loose) Coupling!</a:t>
            </a:r>
          </a:p>
          <a:p>
            <a:pPr lvl="0">
              <a:buFont typeface="Arial"/>
              <a:buChar char="•"/>
              <a:defRPr/>
            </a:pPr>
            <a:r>
              <a:rPr lang="en-US" altLang="ko-KR" sz="1800" b="1" spc="0" dirty="0">
                <a:solidFill>
                  <a:schemeClr val="dk1"/>
                </a:solidFill>
                <a:latin typeface="맑은 고딕"/>
                <a:ea typeface="맑은 고딕"/>
                <a:cs typeface="맑은 고딕"/>
              </a:rPr>
              <a:t>Disadvantages of High Coupling:</a:t>
            </a:r>
          </a:p>
          <a:p>
            <a:pPr lvl="1">
              <a:lnSpc>
                <a:spcPct val="100000"/>
              </a:lnSpc>
              <a:buFont typeface="Arial"/>
              <a:buChar char="•"/>
              <a:defRPr/>
            </a:pPr>
            <a:r>
              <a:rPr lang="en-US" altLang="ko-KR" sz="1600" spc="0" dirty="0">
                <a:solidFill>
                  <a:schemeClr val="dk1"/>
                </a:solidFill>
                <a:latin typeface="맑은 고딕"/>
                <a:ea typeface="맑은 고딕"/>
                <a:cs typeface="맑은 고딕"/>
              </a:rPr>
              <a:t>Forced changes due to changes in depending classes</a:t>
            </a:r>
          </a:p>
          <a:p>
            <a:pPr lvl="1">
              <a:lnSpc>
                <a:spcPct val="100000"/>
              </a:lnSpc>
              <a:buFont typeface="Arial"/>
              <a:buChar char="•"/>
              <a:defRPr/>
            </a:pPr>
            <a:r>
              <a:rPr lang="en-US" altLang="ko-KR" sz="1600" spc="0" dirty="0">
                <a:solidFill>
                  <a:schemeClr val="dk1"/>
                </a:solidFill>
                <a:latin typeface="맑은 고딕"/>
                <a:ea typeface="맑은 고딕"/>
                <a:cs typeface="맑은 고딕"/>
              </a:rPr>
              <a:t>Harder to understand in isolation</a:t>
            </a:r>
          </a:p>
          <a:p>
            <a:pPr lvl="1">
              <a:lnSpc>
                <a:spcPct val="100000"/>
              </a:lnSpc>
              <a:buFont typeface="Arial"/>
              <a:buChar char="•"/>
              <a:defRPr/>
            </a:pPr>
            <a:r>
              <a:rPr lang="en-US" altLang="ko-KR" sz="1600" spc="0" dirty="0">
                <a:solidFill>
                  <a:schemeClr val="dk1"/>
                </a:solidFill>
                <a:latin typeface="맑은 고딕"/>
                <a:ea typeface="맑은 고딕"/>
                <a:cs typeface="맑은 고딕"/>
              </a:rPr>
              <a:t>Harder to reuse</a:t>
            </a:r>
            <a:endParaRPr lang="en-US" altLang="ko-KR" spc="0" dirty="0">
              <a:solidFill>
                <a:schemeClr val="dk1"/>
              </a:solidFill>
              <a:latin typeface="맑은 고딕"/>
              <a:ea typeface="맑은 고딕"/>
              <a:cs typeface="맑은 고딕"/>
            </a:endParaRPr>
          </a:p>
        </p:txBody>
      </p:sp>
      <p:pic>
        <p:nvPicPr>
          <p:cNvPr id="5" name="그림 4"/>
          <p:cNvPicPr>
            <a:picLocks noChangeAspect="1"/>
          </p:cNvPicPr>
          <p:nvPr/>
        </p:nvPicPr>
        <p:blipFill rotWithShape="1">
          <a:blip r:embed="rId2"/>
          <a:stretch>
            <a:fillRect/>
          </a:stretch>
        </p:blipFill>
        <p:spPr>
          <a:xfrm>
            <a:off x="1475622" y="1296122"/>
            <a:ext cx="1656183" cy="1563659"/>
          </a:xfrm>
          <a:prstGeom prst="rect">
            <a:avLst/>
          </a:prstGeom>
        </p:spPr>
      </p:pic>
      <p:pic>
        <p:nvPicPr>
          <p:cNvPr id="6" name="그림 5"/>
          <p:cNvPicPr>
            <a:picLocks noChangeAspect="1"/>
          </p:cNvPicPr>
          <p:nvPr/>
        </p:nvPicPr>
        <p:blipFill rotWithShape="1">
          <a:blip r:embed="rId3"/>
          <a:stretch>
            <a:fillRect/>
          </a:stretch>
        </p:blipFill>
        <p:spPr>
          <a:xfrm>
            <a:off x="4139952" y="1419622"/>
            <a:ext cx="2592253" cy="1373507"/>
          </a:xfrm>
          <a:prstGeom prst="rect">
            <a:avLst/>
          </a:prstGeom>
        </p:spPr>
      </p:pic>
      <p:sp>
        <p:nvSpPr>
          <p:cNvPr id="7" name="화살표: 오른쪽 6">
            <a:extLst>
              <a:ext uri="{FF2B5EF4-FFF2-40B4-BE49-F238E27FC236}">
                <a16:creationId xmlns:a16="http://schemas.microsoft.com/office/drawing/2014/main" id="{09E8265E-2658-4F26-8EF5-66F56F093756}"/>
              </a:ext>
            </a:extLst>
          </p:cNvPr>
          <p:cNvSpPr/>
          <p:nvPr/>
        </p:nvSpPr>
        <p:spPr>
          <a:xfrm>
            <a:off x="3642207" y="1753915"/>
            <a:ext cx="432048" cy="648072"/>
          </a:xfrm>
          <a:prstGeom prst="rightArrow">
            <a:avLst>
              <a:gd name="adj1" fmla="val 50000"/>
              <a:gd name="adj2" fmla="val 50000"/>
            </a:avLst>
          </a:prstGeom>
          <a:ln/>
        </p:spPr>
        <p:style>
          <a:lnRef idx="2">
            <a:schemeClr val="accent1"/>
          </a:lnRef>
          <a:fillRef idx="1">
            <a:schemeClr val="lt1"/>
          </a:fillRef>
          <a:effectRef idx="0">
            <a:schemeClr val="accent1"/>
          </a:effectRef>
          <a:fontRef idx="minor">
            <a:schemeClr val="dk1"/>
          </a:fontRef>
        </p:style>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normalizeH="0">
              <a:solidFill>
                <a:srgbClr val="FFFFFF"/>
              </a:solidFill>
              <a:latin typeface="맑은 고딕"/>
              <a:ea typeface="맑은 고딕"/>
              <a:cs typeface="맑은 고딕"/>
            </a:endParaRPr>
          </a:p>
        </p:txBody>
      </p:sp>
      <p:sp>
        <p:nvSpPr>
          <p:cNvPr id="8" name="제목 2"/>
          <p:cNvSpPr>
            <a:spLocks noGrp="1"/>
          </p:cNvSpPr>
          <p:nvPr>
            <p:ph type="title"/>
          </p:nvPr>
        </p:nvSpPr>
        <p:spPr>
          <a:xfrm>
            <a:off x="356400" y="-1229"/>
            <a:ext cx="8430220" cy="531531"/>
          </a:xfrm>
        </p:spPr>
        <p:txBody>
          <a:bodyPr vert="horz" lIns="75927" tIns="37964" rIns="75927" bIns="37964" rtlCol="0" anchor="ctr">
            <a:normAutofit/>
          </a:bodyPr>
          <a:lstStyle/>
          <a:p>
            <a:r>
              <a:rPr lang="en-US" altLang="ko-KR" spc="0" dirty="0"/>
              <a:t>General Responsibility Assignment Software Patterns(GRASP)</a:t>
            </a:r>
          </a:p>
        </p:txBody>
      </p:sp>
    </p:spTree>
    <p:extLst>
      <p:ext uri="{BB962C8B-B14F-4D97-AF65-F5344CB8AC3E}">
        <p14:creationId xmlns:p14="http://schemas.microsoft.com/office/powerpoint/2010/main" val="2441698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p:txBody>
          <a:bodyPr>
            <a:normAutofit fontScale="85000" lnSpcReduction="20000"/>
          </a:bodyPr>
          <a:lstStyle/>
          <a:p>
            <a:pPr lvl="0">
              <a:buFont typeface="Arial"/>
              <a:buChar char="•"/>
              <a:defRPr/>
            </a:pPr>
            <a:r>
              <a:rPr lang="en-US" altLang="ko-KR" sz="1800" b="1" spc="0" dirty="0">
                <a:solidFill>
                  <a:schemeClr val="dk1"/>
                </a:solidFill>
                <a:latin typeface="맑은 고딕"/>
                <a:ea typeface="맑은 고딕"/>
                <a:cs typeface="맑은 고딕"/>
              </a:rPr>
              <a:t>Cohesion (</a:t>
            </a:r>
            <a:r>
              <a:rPr lang="ko-KR" altLang="en-US" sz="1800" b="1" spc="0" dirty="0">
                <a:solidFill>
                  <a:schemeClr val="dk1"/>
                </a:solidFill>
                <a:latin typeface="맑은 고딕"/>
                <a:ea typeface="맑은 고딕"/>
                <a:cs typeface="맑은 고딕"/>
              </a:rPr>
              <a:t>응집도</a:t>
            </a:r>
            <a:r>
              <a:rPr lang="en-US" altLang="ko-KR" sz="1800" b="1" spc="0" dirty="0">
                <a:solidFill>
                  <a:schemeClr val="dk1"/>
                </a:solidFill>
                <a:latin typeface="맑은 고딕"/>
                <a:ea typeface="맑은 고딕"/>
                <a:cs typeface="맑은 고딕"/>
              </a:rPr>
              <a:t>)</a:t>
            </a:r>
          </a:p>
          <a:p>
            <a:pPr lvl="0">
              <a:buFont typeface="Arial"/>
              <a:buChar char="•"/>
              <a:defRPr/>
            </a:pPr>
            <a:endParaRPr lang="en-US" altLang="ko-KR" sz="1800" spc="0" dirty="0">
              <a:solidFill>
                <a:schemeClr val="dk1"/>
              </a:solidFill>
              <a:latin typeface="맑은 고딕"/>
              <a:ea typeface="맑은 고딕"/>
              <a:cs typeface="맑은 고딕"/>
            </a:endParaRPr>
          </a:p>
          <a:p>
            <a:pPr lvl="0">
              <a:buFont typeface="Arial"/>
              <a:buChar char="•"/>
              <a:defRPr/>
            </a:pPr>
            <a:endParaRPr lang="en-US" altLang="ko-KR" sz="1800" spc="0" dirty="0">
              <a:solidFill>
                <a:schemeClr val="dk1"/>
              </a:solidFill>
              <a:latin typeface="맑은 고딕"/>
              <a:ea typeface="맑은 고딕"/>
              <a:cs typeface="맑은 고딕"/>
            </a:endParaRPr>
          </a:p>
          <a:p>
            <a:pPr lvl="0">
              <a:buFont typeface="Arial"/>
              <a:buChar char="•"/>
              <a:defRPr/>
            </a:pPr>
            <a:endParaRPr lang="en-US" altLang="ko-KR" sz="1800" spc="0" dirty="0">
              <a:solidFill>
                <a:schemeClr val="dk1"/>
              </a:solidFill>
              <a:latin typeface="맑은 고딕"/>
              <a:ea typeface="맑은 고딕"/>
              <a:cs typeface="맑은 고딕"/>
            </a:endParaRPr>
          </a:p>
          <a:p>
            <a:pPr lvl="0">
              <a:buFont typeface="Arial"/>
              <a:buChar char="•"/>
              <a:defRPr/>
            </a:pPr>
            <a:endParaRPr lang="en-US" altLang="ko-KR" sz="1100" spc="0" dirty="0">
              <a:solidFill>
                <a:schemeClr val="dk1"/>
              </a:solidFill>
              <a:latin typeface="맑은 고딕"/>
              <a:ea typeface="맑은 고딕"/>
              <a:cs typeface="맑은 고딕"/>
            </a:endParaRPr>
          </a:p>
          <a:p>
            <a:pPr lvl="0">
              <a:buFont typeface="Arial"/>
              <a:buChar char="•"/>
              <a:defRPr/>
            </a:pPr>
            <a:endParaRPr lang="en-US" altLang="ko-KR" sz="1600" b="1" spc="0" dirty="0">
              <a:solidFill>
                <a:srgbClr val="0070C0"/>
              </a:solidFill>
              <a:latin typeface="맑은 고딕"/>
              <a:ea typeface="맑은 고딕"/>
              <a:cs typeface="맑은 고딕"/>
            </a:endParaRPr>
          </a:p>
          <a:p>
            <a:pPr lvl="0">
              <a:buFont typeface="Arial"/>
              <a:buChar char="•"/>
              <a:defRPr/>
            </a:pPr>
            <a:endParaRPr lang="en-US" altLang="ko-KR" b="1" spc="0" dirty="0">
              <a:solidFill>
                <a:srgbClr val="0070C0"/>
              </a:solidFill>
              <a:latin typeface="맑은 고딕"/>
              <a:ea typeface="맑은 고딕"/>
              <a:cs typeface="맑은 고딕"/>
            </a:endParaRPr>
          </a:p>
          <a:p>
            <a:pPr lvl="0">
              <a:buFont typeface="Arial"/>
              <a:buChar char="•"/>
              <a:defRPr/>
            </a:pPr>
            <a:r>
              <a:rPr lang="en-US" altLang="ko-KR" sz="1600" b="1" spc="0" dirty="0">
                <a:solidFill>
                  <a:srgbClr val="0070C0"/>
                </a:solidFill>
                <a:latin typeface="맑은 고딕"/>
                <a:ea typeface="맑은 고딕"/>
                <a:cs typeface="맑은 고딕"/>
              </a:rPr>
              <a:t>Pursue High Cohesion!</a:t>
            </a:r>
          </a:p>
          <a:p>
            <a:pPr lvl="0">
              <a:buFont typeface="Arial"/>
              <a:buChar char="•"/>
              <a:defRPr/>
            </a:pPr>
            <a:r>
              <a:rPr lang="en-US" altLang="ko-KR" sz="1600" b="1" spc="0" dirty="0">
                <a:solidFill>
                  <a:schemeClr val="dk1"/>
                </a:solidFill>
                <a:latin typeface="맑은 고딕"/>
                <a:ea typeface="맑은 고딕"/>
                <a:cs typeface="맑은 고딕"/>
              </a:rPr>
              <a:t>Advantages of High Cohesion</a:t>
            </a:r>
          </a:p>
          <a:p>
            <a:pPr lvl="1">
              <a:lnSpc>
                <a:spcPct val="100000"/>
              </a:lnSpc>
              <a:buFont typeface="Arial"/>
              <a:buChar char="•"/>
              <a:defRPr/>
            </a:pPr>
            <a:r>
              <a:rPr lang="en-US" altLang="ko-KR" sz="1600" spc="0" dirty="0">
                <a:solidFill>
                  <a:schemeClr val="dk1"/>
                </a:solidFill>
                <a:latin typeface="맑은 고딕"/>
                <a:ea typeface="맑은 고딕"/>
                <a:cs typeface="맑은 고딕"/>
              </a:rPr>
              <a:t>Easily understandable and maintainable</a:t>
            </a:r>
          </a:p>
          <a:p>
            <a:pPr lvl="1">
              <a:lnSpc>
                <a:spcPct val="100000"/>
              </a:lnSpc>
              <a:buFont typeface="Arial"/>
              <a:buChar char="•"/>
              <a:defRPr/>
            </a:pPr>
            <a:r>
              <a:rPr lang="en-US" altLang="ko-KR" sz="1600" spc="0" dirty="0">
                <a:solidFill>
                  <a:schemeClr val="dk1"/>
                </a:solidFill>
                <a:latin typeface="맑은 고딕"/>
                <a:ea typeface="맑은 고딕"/>
                <a:cs typeface="맑은 고딕"/>
              </a:rPr>
              <a:t>Code reuse </a:t>
            </a:r>
          </a:p>
          <a:p>
            <a:pPr lvl="1">
              <a:lnSpc>
                <a:spcPct val="100000"/>
              </a:lnSpc>
              <a:buFont typeface="Arial"/>
              <a:buChar char="•"/>
              <a:defRPr/>
            </a:pPr>
            <a:r>
              <a:rPr lang="en-US" altLang="ko-KR" sz="1600" spc="0" dirty="0">
                <a:solidFill>
                  <a:schemeClr val="dk1"/>
                </a:solidFill>
                <a:latin typeface="맑은 고딕"/>
                <a:ea typeface="맑은 고딕"/>
                <a:cs typeface="맑은 고딕"/>
              </a:rPr>
              <a:t>Low coupling</a:t>
            </a:r>
          </a:p>
        </p:txBody>
      </p:sp>
      <p:pic>
        <p:nvPicPr>
          <p:cNvPr id="9" name="그림 8"/>
          <p:cNvPicPr>
            <a:picLocks noChangeAspect="1"/>
          </p:cNvPicPr>
          <p:nvPr/>
        </p:nvPicPr>
        <p:blipFill rotWithShape="1">
          <a:blip r:embed="rId2"/>
          <a:stretch>
            <a:fillRect/>
          </a:stretch>
        </p:blipFill>
        <p:spPr>
          <a:xfrm>
            <a:off x="1259632" y="1347614"/>
            <a:ext cx="1438275" cy="1647825"/>
          </a:xfrm>
          <a:prstGeom prst="rect">
            <a:avLst/>
          </a:prstGeom>
        </p:spPr>
      </p:pic>
      <p:pic>
        <p:nvPicPr>
          <p:cNvPr id="10" name="그림 9"/>
          <p:cNvPicPr>
            <a:picLocks noChangeAspect="1"/>
          </p:cNvPicPr>
          <p:nvPr/>
        </p:nvPicPr>
        <p:blipFill rotWithShape="1">
          <a:blip r:embed="rId3"/>
          <a:stretch>
            <a:fillRect/>
          </a:stretch>
        </p:blipFill>
        <p:spPr>
          <a:xfrm>
            <a:off x="3986015" y="1339255"/>
            <a:ext cx="2600325" cy="1619250"/>
          </a:xfrm>
          <a:prstGeom prst="rect">
            <a:avLst/>
          </a:prstGeom>
        </p:spPr>
      </p:pic>
      <p:sp>
        <p:nvSpPr>
          <p:cNvPr id="8" name="화살표: 오른쪽 7">
            <a:extLst>
              <a:ext uri="{FF2B5EF4-FFF2-40B4-BE49-F238E27FC236}">
                <a16:creationId xmlns:a16="http://schemas.microsoft.com/office/drawing/2014/main" id="{8A239722-D266-4F08-ACBF-A642D6B6FDAB}"/>
              </a:ext>
            </a:extLst>
          </p:cNvPr>
          <p:cNvSpPr/>
          <p:nvPr/>
        </p:nvSpPr>
        <p:spPr>
          <a:xfrm>
            <a:off x="3125937" y="1707654"/>
            <a:ext cx="432048" cy="648072"/>
          </a:xfrm>
          <a:prstGeom prst="rightArrow">
            <a:avLst>
              <a:gd name="adj1" fmla="val 50000"/>
              <a:gd name="adj2" fmla="val 50000"/>
            </a:avLst>
          </a:prstGeom>
          <a:ln/>
        </p:spPr>
        <p:style>
          <a:lnRef idx="2">
            <a:schemeClr val="accent1"/>
          </a:lnRef>
          <a:fillRef idx="1">
            <a:schemeClr val="lt1"/>
          </a:fillRef>
          <a:effectRef idx="0">
            <a:schemeClr val="accent1"/>
          </a:effectRef>
          <a:fontRef idx="minor">
            <a:schemeClr val="dk1"/>
          </a:fontRef>
        </p:style>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normalizeH="0">
              <a:solidFill>
                <a:srgbClr val="FFFFFF"/>
              </a:solidFill>
              <a:latin typeface="맑은 고딕"/>
              <a:ea typeface="맑은 고딕"/>
              <a:cs typeface="맑은 고딕"/>
            </a:endParaRPr>
          </a:p>
        </p:txBody>
      </p:sp>
      <p:sp>
        <p:nvSpPr>
          <p:cNvPr id="11" name="제목 2"/>
          <p:cNvSpPr>
            <a:spLocks noGrp="1"/>
          </p:cNvSpPr>
          <p:nvPr>
            <p:ph type="title"/>
          </p:nvPr>
        </p:nvSpPr>
        <p:spPr>
          <a:xfrm>
            <a:off x="356400" y="-1229"/>
            <a:ext cx="8430220" cy="531531"/>
          </a:xfrm>
        </p:spPr>
        <p:txBody>
          <a:bodyPr vert="horz" lIns="75927" tIns="37964" rIns="75927" bIns="37964" rtlCol="0" anchor="ctr">
            <a:normAutofit/>
          </a:bodyPr>
          <a:lstStyle/>
          <a:p>
            <a:r>
              <a:rPr lang="en-US" altLang="ko-KR" spc="0" dirty="0"/>
              <a:t>General Responsibility Assignment Software Patterns(GRASP)</a:t>
            </a:r>
          </a:p>
        </p:txBody>
      </p:sp>
    </p:spTree>
    <p:extLst>
      <p:ext uri="{BB962C8B-B14F-4D97-AF65-F5344CB8AC3E}">
        <p14:creationId xmlns:p14="http://schemas.microsoft.com/office/powerpoint/2010/main" val="24960712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en-US" altLang="ko-KR" spc="0" dirty="0"/>
              <a:t>Class Relationships (coupling)</a:t>
            </a:r>
            <a:endParaRPr lang="ko-KR" altLang="en-US" spc="0" dirty="0"/>
          </a:p>
        </p:txBody>
      </p:sp>
      <p:graphicFrame>
        <p:nvGraphicFramePr>
          <p:cNvPr id="4" name="표 3">
            <a:extLst>
              <a:ext uri="{FF2B5EF4-FFF2-40B4-BE49-F238E27FC236}">
                <a16:creationId xmlns:a16="http://schemas.microsoft.com/office/drawing/2014/main" id="{415E88F6-5D20-DF48-8BDC-7C005D2A3EDF}"/>
              </a:ext>
            </a:extLst>
          </p:cNvPr>
          <p:cNvGraphicFramePr>
            <a:graphicFrameLocks noGrp="1"/>
          </p:cNvGraphicFramePr>
          <p:nvPr/>
        </p:nvGraphicFramePr>
        <p:xfrm>
          <a:off x="842921" y="843558"/>
          <a:ext cx="5976664" cy="3658787"/>
        </p:xfrm>
        <a:graphic>
          <a:graphicData uri="http://schemas.openxmlformats.org/drawingml/2006/table">
            <a:tbl>
              <a:tblPr firstRow="1" bandRow="1">
                <a:tableStyleId>{5940675A-B579-460E-94D1-54222C63F5DA}</a:tableStyleId>
              </a:tblPr>
              <a:tblGrid>
                <a:gridCol w="1306700">
                  <a:extLst>
                    <a:ext uri="{9D8B030D-6E8A-4147-A177-3AD203B41FA5}">
                      <a16:colId xmlns:a16="http://schemas.microsoft.com/office/drawing/2014/main" val="2811007045"/>
                    </a:ext>
                  </a:extLst>
                </a:gridCol>
                <a:gridCol w="1944216">
                  <a:extLst>
                    <a:ext uri="{9D8B030D-6E8A-4147-A177-3AD203B41FA5}">
                      <a16:colId xmlns:a16="http://schemas.microsoft.com/office/drawing/2014/main" val="2486377948"/>
                    </a:ext>
                  </a:extLst>
                </a:gridCol>
                <a:gridCol w="2725748">
                  <a:extLst>
                    <a:ext uri="{9D8B030D-6E8A-4147-A177-3AD203B41FA5}">
                      <a16:colId xmlns:a16="http://schemas.microsoft.com/office/drawing/2014/main" val="4275266744"/>
                    </a:ext>
                  </a:extLst>
                </a:gridCol>
              </a:tblGrid>
              <a:tr h="392012">
                <a:tc>
                  <a:txBody>
                    <a:bodyPr/>
                    <a:lstStyle/>
                    <a:p>
                      <a:pPr algn="ctr" latinLnBrk="1"/>
                      <a:r>
                        <a:rPr lang="en-US" altLang="ko-KR" sz="1200" b="1" dirty="0"/>
                        <a:t>Relation</a:t>
                      </a:r>
                      <a:endParaRPr lang="ko-KR" altLang="en-US" sz="1200" b="1" dirty="0"/>
                    </a:p>
                  </a:txBody>
                  <a:tcPr anchor="ctr">
                    <a:solidFill>
                      <a:schemeClr val="tx2">
                        <a:lumMod val="20000"/>
                        <a:lumOff val="80000"/>
                      </a:schemeClr>
                    </a:solidFill>
                  </a:tcPr>
                </a:tc>
                <a:tc>
                  <a:txBody>
                    <a:bodyPr/>
                    <a:lstStyle/>
                    <a:p>
                      <a:pPr algn="ctr" latinLnBrk="1"/>
                      <a:r>
                        <a:rPr lang="en-US" altLang="ko-KR" sz="1200" b="1" dirty="0"/>
                        <a:t>Notation</a:t>
                      </a:r>
                      <a:endParaRPr lang="ko-KR" altLang="en-US" sz="1200" b="1" dirty="0"/>
                    </a:p>
                  </a:txBody>
                  <a:tcPr anchor="ctr">
                    <a:solidFill>
                      <a:schemeClr val="tx2">
                        <a:lumMod val="20000"/>
                        <a:lumOff val="80000"/>
                      </a:schemeClr>
                    </a:solidFill>
                  </a:tcPr>
                </a:tc>
                <a:tc>
                  <a:txBody>
                    <a:bodyPr/>
                    <a:lstStyle/>
                    <a:p>
                      <a:pPr algn="ctr" latinLnBrk="1"/>
                      <a:r>
                        <a:rPr lang="en-US" altLang="ko-KR" sz="1200" b="1" dirty="0"/>
                        <a:t>Description</a:t>
                      </a:r>
                      <a:endParaRPr lang="ko-KR" altLang="en-US" sz="1200" b="1" dirty="0"/>
                    </a:p>
                  </a:txBody>
                  <a:tcPr anchor="ctr">
                    <a:solidFill>
                      <a:schemeClr val="tx2">
                        <a:lumMod val="20000"/>
                        <a:lumOff val="80000"/>
                      </a:schemeClr>
                    </a:solidFill>
                  </a:tcPr>
                </a:tc>
                <a:extLst>
                  <a:ext uri="{0D108BD9-81ED-4DB2-BD59-A6C34878D82A}">
                    <a16:rowId xmlns:a16="http://schemas.microsoft.com/office/drawing/2014/main" val="40427702"/>
                  </a:ext>
                </a:extLst>
              </a:tr>
              <a:tr h="653355">
                <a:tc>
                  <a:txBody>
                    <a:bodyPr/>
                    <a:lstStyle/>
                    <a:p>
                      <a:pPr latinLnBrk="1"/>
                      <a:r>
                        <a:rPr lang="en-US" altLang="ko-KR" sz="1200" b="1" dirty="0"/>
                        <a:t>Inheritance</a:t>
                      </a:r>
                      <a:endParaRPr lang="ko-KR" altLang="en-US" sz="1200" b="1" dirty="0"/>
                    </a:p>
                  </a:txBody>
                  <a:tcPr anchor="ctr">
                    <a:solidFill>
                      <a:schemeClr val="bg1"/>
                    </a:solidFill>
                  </a:tcPr>
                </a:tc>
                <a:tc>
                  <a:txBody>
                    <a:bodyPr/>
                    <a:lstStyle/>
                    <a:p>
                      <a:pPr latinLnBrk="1"/>
                      <a:endParaRPr lang="ko-KR" altLang="en-US" sz="1200" dirty="0"/>
                    </a:p>
                  </a:txBody>
                  <a:tcPr anchor="ctr">
                    <a:solidFill>
                      <a:schemeClr val="bg1"/>
                    </a:solidFill>
                  </a:tcPr>
                </a:tc>
                <a:tc>
                  <a:txBody>
                    <a:bodyPr/>
                    <a:lstStyle/>
                    <a:p>
                      <a:pPr latinLnBrk="1"/>
                      <a:r>
                        <a:rPr lang="en-US" altLang="ko-KR" sz="1200" dirty="0"/>
                        <a:t>When one class is </a:t>
                      </a:r>
                      <a:r>
                        <a:rPr lang="en-US" altLang="ko-KR" sz="1200" b="1" dirty="0"/>
                        <a:t>a type of</a:t>
                      </a:r>
                      <a:r>
                        <a:rPr lang="en-US" altLang="ko-KR" sz="1200" dirty="0"/>
                        <a:t> another class</a:t>
                      </a:r>
                      <a:endParaRPr lang="ko-KR" altLang="en-US" sz="1200" dirty="0"/>
                    </a:p>
                  </a:txBody>
                  <a:tcPr anchor="ctr">
                    <a:solidFill>
                      <a:schemeClr val="bg1"/>
                    </a:solidFill>
                  </a:tcPr>
                </a:tc>
                <a:extLst>
                  <a:ext uri="{0D108BD9-81ED-4DB2-BD59-A6C34878D82A}">
                    <a16:rowId xmlns:a16="http://schemas.microsoft.com/office/drawing/2014/main" val="2562413375"/>
                  </a:ext>
                </a:extLst>
              </a:tr>
              <a:tr h="653355">
                <a:tc>
                  <a:txBody>
                    <a:bodyPr/>
                    <a:lstStyle/>
                    <a:p>
                      <a:pPr latinLnBrk="1"/>
                      <a:r>
                        <a:rPr lang="en-US" altLang="ko-KR" sz="1200" b="1" dirty="0"/>
                        <a:t>Composition</a:t>
                      </a:r>
                      <a:endParaRPr lang="ko-KR" altLang="en-US" sz="1200" b="1" dirty="0"/>
                    </a:p>
                  </a:txBody>
                  <a:tcPr anchor="ctr">
                    <a:solidFill>
                      <a:schemeClr val="bg1"/>
                    </a:solidFill>
                  </a:tcPr>
                </a:tc>
                <a:tc>
                  <a:txBody>
                    <a:bodyPr/>
                    <a:lstStyle/>
                    <a:p>
                      <a:pPr latinLnBrk="1"/>
                      <a:endParaRPr lang="ko-KR" altLang="en-US" sz="1200" dirty="0"/>
                    </a:p>
                  </a:txBody>
                  <a:tcPr anchor="ctr">
                    <a:solidFill>
                      <a:schemeClr val="bg1"/>
                    </a:solidFill>
                  </a:tcPr>
                </a:tc>
                <a:tc>
                  <a:txBody>
                    <a:bodyPr/>
                    <a:lstStyle/>
                    <a:p>
                      <a:pPr latinLnBrk="1"/>
                      <a:r>
                        <a:rPr lang="en-US" altLang="ko-KR" sz="1200" dirty="0"/>
                        <a:t>When one class </a:t>
                      </a:r>
                      <a:r>
                        <a:rPr lang="en-US" altLang="ko-KR" sz="1200" b="1" dirty="0"/>
                        <a:t>contains</a:t>
                      </a:r>
                      <a:r>
                        <a:rPr lang="en-US" altLang="ko-KR" sz="1200" dirty="0"/>
                        <a:t> objects of another class</a:t>
                      </a:r>
                      <a:endParaRPr lang="ko-KR" altLang="en-US" sz="1200" dirty="0"/>
                    </a:p>
                  </a:txBody>
                  <a:tcPr anchor="ctr">
                    <a:solidFill>
                      <a:schemeClr val="bg1"/>
                    </a:solidFill>
                  </a:tcPr>
                </a:tc>
                <a:extLst>
                  <a:ext uri="{0D108BD9-81ED-4DB2-BD59-A6C34878D82A}">
                    <a16:rowId xmlns:a16="http://schemas.microsoft.com/office/drawing/2014/main" val="1649616921"/>
                  </a:ext>
                </a:extLst>
              </a:tr>
              <a:tr h="653355">
                <a:tc>
                  <a:txBody>
                    <a:bodyPr/>
                    <a:lstStyle/>
                    <a:p>
                      <a:pPr latinLnBrk="1"/>
                      <a:r>
                        <a:rPr lang="en-US" altLang="ko-KR" sz="1200" b="1" dirty="0"/>
                        <a:t>Aggregation</a:t>
                      </a:r>
                      <a:endParaRPr lang="ko-KR" altLang="en-US" sz="1200" b="1" dirty="0"/>
                    </a:p>
                  </a:txBody>
                  <a:tcPr anchor="ctr">
                    <a:solidFill>
                      <a:schemeClr val="bg1"/>
                    </a:solidFill>
                  </a:tcPr>
                </a:tc>
                <a:tc>
                  <a:txBody>
                    <a:bodyPr/>
                    <a:lstStyle/>
                    <a:p>
                      <a:pPr latinLnBrk="1"/>
                      <a:endParaRPr lang="ko-KR" altLang="en-US" sz="1200" dirty="0"/>
                    </a:p>
                  </a:txBody>
                  <a:tcPr anchor="ctr">
                    <a:solidFill>
                      <a:schemeClr val="bg1"/>
                    </a:solidFill>
                  </a:tcPr>
                </a:tc>
                <a:tc>
                  <a:txBody>
                    <a:bodyPr/>
                    <a:lstStyle/>
                    <a:p>
                      <a:pPr latinLnBrk="1"/>
                      <a:r>
                        <a:rPr lang="en-US" altLang="ko-KR" sz="1200" dirty="0"/>
                        <a:t>When one class </a:t>
                      </a:r>
                      <a:r>
                        <a:rPr lang="en-US" altLang="ko-KR" sz="1200" b="1" dirty="0"/>
                        <a:t>owns but shares </a:t>
                      </a:r>
                      <a:r>
                        <a:rPr lang="en-US" altLang="ko-KR" sz="1200" dirty="0"/>
                        <a:t>a reference to objects of another class</a:t>
                      </a:r>
                      <a:endParaRPr lang="ko-KR" altLang="en-US" sz="1200" dirty="0"/>
                    </a:p>
                  </a:txBody>
                  <a:tcPr anchor="ctr">
                    <a:solidFill>
                      <a:schemeClr val="bg1"/>
                    </a:solidFill>
                  </a:tcPr>
                </a:tc>
                <a:extLst>
                  <a:ext uri="{0D108BD9-81ED-4DB2-BD59-A6C34878D82A}">
                    <a16:rowId xmlns:a16="http://schemas.microsoft.com/office/drawing/2014/main" val="789896514"/>
                  </a:ext>
                </a:extLst>
              </a:tr>
              <a:tr h="653355">
                <a:tc>
                  <a:txBody>
                    <a:bodyPr/>
                    <a:lstStyle/>
                    <a:p>
                      <a:pPr latinLnBrk="1"/>
                      <a:r>
                        <a:rPr lang="en-US" altLang="ko-KR" sz="1200" b="1" dirty="0"/>
                        <a:t>Association</a:t>
                      </a:r>
                      <a:endParaRPr lang="ko-KR" altLang="en-US" sz="1200" b="1" dirty="0"/>
                    </a:p>
                  </a:txBody>
                  <a:tcPr anchor="ctr">
                    <a:solidFill>
                      <a:schemeClr val="bg1"/>
                    </a:solidFill>
                  </a:tcPr>
                </a:tc>
                <a:tc>
                  <a:txBody>
                    <a:bodyPr/>
                    <a:lstStyle/>
                    <a:p>
                      <a:pPr latinLnBrk="1"/>
                      <a:endParaRPr lang="ko-KR" altLang="en-US" sz="1200" dirty="0"/>
                    </a:p>
                  </a:txBody>
                  <a:tcPr anchor="ctr">
                    <a:solidFill>
                      <a:schemeClr val="bg1"/>
                    </a:solidFill>
                  </a:tcPr>
                </a:tc>
                <a:tc>
                  <a:txBody>
                    <a:bodyPr/>
                    <a:lstStyle/>
                    <a:p>
                      <a:pPr latinLnBrk="1"/>
                      <a:r>
                        <a:rPr lang="en-US" altLang="ko-KR" sz="1200" dirty="0"/>
                        <a:t>When objects of one class </a:t>
                      </a:r>
                      <a:r>
                        <a:rPr lang="en-US" altLang="ko-KR" sz="1200" b="1" dirty="0"/>
                        <a:t>work with </a:t>
                      </a:r>
                      <a:r>
                        <a:rPr lang="en-US" altLang="ko-KR" sz="1200" dirty="0"/>
                        <a:t>objects of another class for some prolonged amount of time</a:t>
                      </a:r>
                      <a:endParaRPr lang="ko-KR" altLang="en-US" sz="1200" dirty="0"/>
                    </a:p>
                  </a:txBody>
                  <a:tcPr anchor="ctr">
                    <a:solidFill>
                      <a:schemeClr val="bg1"/>
                    </a:solidFill>
                  </a:tcPr>
                </a:tc>
                <a:extLst>
                  <a:ext uri="{0D108BD9-81ED-4DB2-BD59-A6C34878D82A}">
                    <a16:rowId xmlns:a16="http://schemas.microsoft.com/office/drawing/2014/main" val="410564565"/>
                  </a:ext>
                </a:extLst>
              </a:tr>
              <a:tr h="653355">
                <a:tc>
                  <a:txBody>
                    <a:bodyPr/>
                    <a:lstStyle/>
                    <a:p>
                      <a:pPr latinLnBrk="1"/>
                      <a:r>
                        <a:rPr lang="en-US" altLang="ko-KR" sz="1200" b="1" dirty="0"/>
                        <a:t>Dependency</a:t>
                      </a:r>
                      <a:endParaRPr lang="ko-KR" altLang="en-US" sz="1200" b="1" dirty="0"/>
                    </a:p>
                  </a:txBody>
                  <a:tcPr anchor="ctr">
                    <a:solidFill>
                      <a:schemeClr val="bg1"/>
                    </a:solidFill>
                  </a:tcPr>
                </a:tc>
                <a:tc>
                  <a:txBody>
                    <a:bodyPr/>
                    <a:lstStyle/>
                    <a:p>
                      <a:pPr latinLnBrk="1"/>
                      <a:endParaRPr lang="ko-KR" altLang="en-US" sz="1200" dirty="0"/>
                    </a:p>
                  </a:txBody>
                  <a:tcPr anchor="ctr">
                    <a:solidFill>
                      <a:schemeClr val="bg1"/>
                    </a:solidFill>
                  </a:tcPr>
                </a:tc>
                <a:tc>
                  <a:txBody>
                    <a:bodyPr/>
                    <a:lstStyle/>
                    <a:p>
                      <a:pPr latinLnBrk="1"/>
                      <a:r>
                        <a:rPr lang="en-US" altLang="ko-KR" sz="1200" dirty="0"/>
                        <a:t>When objects of one </a:t>
                      </a:r>
                      <a:r>
                        <a:rPr lang="en-US" altLang="ko-KR" sz="1200" b="1" dirty="0"/>
                        <a:t>class work briefly with</a:t>
                      </a:r>
                      <a:r>
                        <a:rPr lang="en-US" altLang="ko-KR" sz="1200" dirty="0"/>
                        <a:t> objects of another class</a:t>
                      </a:r>
                      <a:endParaRPr lang="ko-KR" altLang="en-US" sz="1200" dirty="0"/>
                    </a:p>
                  </a:txBody>
                  <a:tcPr anchor="ctr">
                    <a:solidFill>
                      <a:schemeClr val="bg1"/>
                    </a:solidFill>
                  </a:tcPr>
                </a:tc>
                <a:extLst>
                  <a:ext uri="{0D108BD9-81ED-4DB2-BD59-A6C34878D82A}">
                    <a16:rowId xmlns:a16="http://schemas.microsoft.com/office/drawing/2014/main" val="3496500722"/>
                  </a:ext>
                </a:extLst>
              </a:tr>
            </a:tbl>
          </a:graphicData>
        </a:graphic>
      </p:graphicFrame>
      <p:pic>
        <p:nvPicPr>
          <p:cNvPr id="12" name="그림 11">
            <a:extLst>
              <a:ext uri="{FF2B5EF4-FFF2-40B4-BE49-F238E27FC236}">
                <a16:creationId xmlns:a16="http://schemas.microsoft.com/office/drawing/2014/main" id="{2F0C2BB3-5F02-31BE-7F69-F9707DA18329}"/>
              </a:ext>
            </a:extLst>
          </p:cNvPr>
          <p:cNvPicPr>
            <a:picLocks noChangeAspect="1"/>
          </p:cNvPicPr>
          <p:nvPr/>
        </p:nvPicPr>
        <p:blipFill>
          <a:blip r:embed="rId2"/>
          <a:stretch>
            <a:fillRect/>
          </a:stretch>
        </p:blipFill>
        <p:spPr>
          <a:xfrm>
            <a:off x="2227344" y="1370526"/>
            <a:ext cx="1762371" cy="409632"/>
          </a:xfrm>
          <a:prstGeom prst="rect">
            <a:avLst/>
          </a:prstGeom>
        </p:spPr>
      </p:pic>
      <p:pic>
        <p:nvPicPr>
          <p:cNvPr id="14" name="그림 13">
            <a:extLst>
              <a:ext uri="{FF2B5EF4-FFF2-40B4-BE49-F238E27FC236}">
                <a16:creationId xmlns:a16="http://schemas.microsoft.com/office/drawing/2014/main" id="{CD5D8507-E4DF-F773-836C-F9F248ED155D}"/>
              </a:ext>
            </a:extLst>
          </p:cNvPr>
          <p:cNvPicPr>
            <a:picLocks noChangeAspect="1"/>
          </p:cNvPicPr>
          <p:nvPr/>
        </p:nvPicPr>
        <p:blipFill>
          <a:blip r:embed="rId3"/>
          <a:stretch>
            <a:fillRect/>
          </a:stretch>
        </p:blipFill>
        <p:spPr>
          <a:xfrm>
            <a:off x="2265449" y="2039510"/>
            <a:ext cx="1724266" cy="390580"/>
          </a:xfrm>
          <a:prstGeom prst="rect">
            <a:avLst/>
          </a:prstGeom>
        </p:spPr>
      </p:pic>
      <p:pic>
        <p:nvPicPr>
          <p:cNvPr id="16" name="그림 15">
            <a:extLst>
              <a:ext uri="{FF2B5EF4-FFF2-40B4-BE49-F238E27FC236}">
                <a16:creationId xmlns:a16="http://schemas.microsoft.com/office/drawing/2014/main" id="{8B6AA23B-DF42-9C2F-95A4-0089D762B38C}"/>
              </a:ext>
            </a:extLst>
          </p:cNvPr>
          <p:cNvPicPr>
            <a:picLocks noChangeAspect="1"/>
          </p:cNvPicPr>
          <p:nvPr/>
        </p:nvPicPr>
        <p:blipFill>
          <a:blip r:embed="rId4"/>
          <a:stretch>
            <a:fillRect/>
          </a:stretch>
        </p:blipFill>
        <p:spPr>
          <a:xfrm>
            <a:off x="2265449" y="2689442"/>
            <a:ext cx="1705213" cy="371527"/>
          </a:xfrm>
          <a:prstGeom prst="rect">
            <a:avLst/>
          </a:prstGeom>
        </p:spPr>
      </p:pic>
      <p:pic>
        <p:nvPicPr>
          <p:cNvPr id="18" name="그림 17">
            <a:extLst>
              <a:ext uri="{FF2B5EF4-FFF2-40B4-BE49-F238E27FC236}">
                <a16:creationId xmlns:a16="http://schemas.microsoft.com/office/drawing/2014/main" id="{AF740FE3-7CBC-4F60-D045-5981C51402BC}"/>
              </a:ext>
            </a:extLst>
          </p:cNvPr>
          <p:cNvPicPr>
            <a:picLocks noChangeAspect="1"/>
          </p:cNvPicPr>
          <p:nvPr/>
        </p:nvPicPr>
        <p:blipFill>
          <a:blip r:embed="rId5"/>
          <a:stretch>
            <a:fillRect/>
          </a:stretch>
        </p:blipFill>
        <p:spPr>
          <a:xfrm>
            <a:off x="2277654" y="3320321"/>
            <a:ext cx="1743318" cy="419158"/>
          </a:xfrm>
          <a:prstGeom prst="rect">
            <a:avLst/>
          </a:prstGeom>
        </p:spPr>
      </p:pic>
      <p:pic>
        <p:nvPicPr>
          <p:cNvPr id="20" name="그림 19">
            <a:extLst>
              <a:ext uri="{FF2B5EF4-FFF2-40B4-BE49-F238E27FC236}">
                <a16:creationId xmlns:a16="http://schemas.microsoft.com/office/drawing/2014/main" id="{3F2D1E7F-DD8E-760B-D58D-F59CAD38D4A6}"/>
              </a:ext>
            </a:extLst>
          </p:cNvPr>
          <p:cNvPicPr>
            <a:picLocks noChangeAspect="1"/>
          </p:cNvPicPr>
          <p:nvPr/>
        </p:nvPicPr>
        <p:blipFill>
          <a:blip r:embed="rId6"/>
          <a:stretch>
            <a:fillRect/>
          </a:stretch>
        </p:blipFill>
        <p:spPr>
          <a:xfrm>
            <a:off x="2306393" y="3998831"/>
            <a:ext cx="1743318" cy="390580"/>
          </a:xfrm>
          <a:prstGeom prst="rect">
            <a:avLst/>
          </a:prstGeom>
        </p:spPr>
      </p:pic>
      <p:sp>
        <p:nvSpPr>
          <p:cNvPr id="21" name="화살표: 아래쪽 20">
            <a:extLst>
              <a:ext uri="{FF2B5EF4-FFF2-40B4-BE49-F238E27FC236}">
                <a16:creationId xmlns:a16="http://schemas.microsoft.com/office/drawing/2014/main" id="{71A7E3B9-A9C3-D174-D7B6-55209EC6DA36}"/>
              </a:ext>
            </a:extLst>
          </p:cNvPr>
          <p:cNvSpPr/>
          <p:nvPr/>
        </p:nvSpPr>
        <p:spPr>
          <a:xfrm rot="10800000">
            <a:off x="330856" y="1575342"/>
            <a:ext cx="288032" cy="455457"/>
          </a:xfrm>
          <a:prstGeom prst="downArrow">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화살표: 아래쪽 21">
            <a:extLst>
              <a:ext uri="{FF2B5EF4-FFF2-40B4-BE49-F238E27FC236}">
                <a16:creationId xmlns:a16="http://schemas.microsoft.com/office/drawing/2014/main" id="{3DFE5C41-3726-E694-DD5E-59B1079C51E4}"/>
              </a:ext>
            </a:extLst>
          </p:cNvPr>
          <p:cNvSpPr/>
          <p:nvPr/>
        </p:nvSpPr>
        <p:spPr>
          <a:xfrm>
            <a:off x="330856" y="3471941"/>
            <a:ext cx="288032" cy="455457"/>
          </a:xfrm>
          <a:prstGeom prst="downArrow">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TextBox 22">
            <a:extLst>
              <a:ext uri="{FF2B5EF4-FFF2-40B4-BE49-F238E27FC236}">
                <a16:creationId xmlns:a16="http://schemas.microsoft.com/office/drawing/2014/main" id="{065C181A-380A-6E42-8D38-5CBB638CABBA}"/>
              </a:ext>
            </a:extLst>
          </p:cNvPr>
          <p:cNvSpPr txBox="1"/>
          <p:nvPr/>
        </p:nvSpPr>
        <p:spPr>
          <a:xfrm>
            <a:off x="106822" y="1129029"/>
            <a:ext cx="736099" cy="261610"/>
          </a:xfrm>
          <a:prstGeom prst="rect">
            <a:avLst/>
          </a:prstGeom>
          <a:noFill/>
        </p:spPr>
        <p:txBody>
          <a:bodyPr wrap="none" rtlCol="0">
            <a:spAutoFit/>
          </a:bodyPr>
          <a:lstStyle/>
          <a:p>
            <a:r>
              <a:rPr lang="en-US" altLang="ko-KR" sz="1050" dirty="0">
                <a:solidFill>
                  <a:srgbClr val="0066FF"/>
                </a:solidFill>
              </a:rPr>
              <a:t>Stronger</a:t>
            </a:r>
            <a:endParaRPr lang="ko-KR" altLang="en-US" sz="1050" dirty="0">
              <a:solidFill>
                <a:srgbClr val="0066FF"/>
              </a:solidFill>
            </a:endParaRPr>
          </a:p>
        </p:txBody>
      </p:sp>
      <p:sp>
        <p:nvSpPr>
          <p:cNvPr id="24" name="TextBox 23">
            <a:extLst>
              <a:ext uri="{FF2B5EF4-FFF2-40B4-BE49-F238E27FC236}">
                <a16:creationId xmlns:a16="http://schemas.microsoft.com/office/drawing/2014/main" id="{A30FFE17-B850-AD56-A3EF-50B8FC203D1C}"/>
              </a:ext>
            </a:extLst>
          </p:cNvPr>
          <p:cNvSpPr txBox="1"/>
          <p:nvPr/>
        </p:nvSpPr>
        <p:spPr>
          <a:xfrm>
            <a:off x="106822" y="4248429"/>
            <a:ext cx="644728" cy="253916"/>
          </a:xfrm>
          <a:prstGeom prst="rect">
            <a:avLst/>
          </a:prstGeom>
          <a:noFill/>
        </p:spPr>
        <p:txBody>
          <a:bodyPr wrap="none" rtlCol="0">
            <a:spAutoFit/>
          </a:bodyPr>
          <a:lstStyle/>
          <a:p>
            <a:r>
              <a:rPr lang="en-US" altLang="ko-KR" sz="1050" dirty="0">
                <a:solidFill>
                  <a:srgbClr val="0066FF"/>
                </a:solidFill>
              </a:rPr>
              <a:t>Weaker</a:t>
            </a:r>
            <a:endParaRPr lang="ko-KR" altLang="en-US" sz="1050" dirty="0">
              <a:solidFill>
                <a:srgbClr val="0066FF"/>
              </a:solidFill>
            </a:endParaRPr>
          </a:p>
        </p:txBody>
      </p:sp>
      <p:sp>
        <p:nvSpPr>
          <p:cNvPr id="25" name="TextBox 24">
            <a:extLst>
              <a:ext uri="{FF2B5EF4-FFF2-40B4-BE49-F238E27FC236}">
                <a16:creationId xmlns:a16="http://schemas.microsoft.com/office/drawing/2014/main" id="{14F3C500-68BC-E0D5-6E0C-0EF311DD3AF1}"/>
              </a:ext>
            </a:extLst>
          </p:cNvPr>
          <p:cNvSpPr txBox="1"/>
          <p:nvPr/>
        </p:nvSpPr>
        <p:spPr>
          <a:xfrm>
            <a:off x="2227344" y="4543336"/>
            <a:ext cx="2848857" cy="600164"/>
          </a:xfrm>
          <a:prstGeom prst="rect">
            <a:avLst/>
          </a:prstGeom>
          <a:noFill/>
        </p:spPr>
        <p:txBody>
          <a:bodyPr wrap="none" rtlCol="0">
            <a:spAutoFit/>
          </a:bodyPr>
          <a:lstStyle/>
          <a:p>
            <a:r>
              <a:rPr lang="en-US" altLang="ko-KR" sz="1100" dirty="0">
                <a:solidFill>
                  <a:srgbClr val="4156BD"/>
                </a:solidFill>
              </a:rPr>
              <a:t>※ Change propagation:</a:t>
            </a:r>
          </a:p>
          <a:p>
            <a:r>
              <a:rPr lang="en-US" altLang="ko-KR" sz="1100" dirty="0">
                <a:solidFill>
                  <a:srgbClr val="4156BD"/>
                </a:solidFill>
              </a:rPr>
              <a:t>   B</a:t>
            </a:r>
            <a:r>
              <a:rPr lang="ko-KR" altLang="en-US" sz="1100" dirty="0">
                <a:solidFill>
                  <a:srgbClr val="4156BD"/>
                </a:solidFill>
              </a:rPr>
              <a:t>의 변경이 </a:t>
            </a:r>
            <a:r>
              <a:rPr lang="en-US" altLang="ko-KR" sz="1100" dirty="0">
                <a:solidFill>
                  <a:srgbClr val="4156BD"/>
                </a:solidFill>
              </a:rPr>
              <a:t>A</a:t>
            </a:r>
            <a:r>
              <a:rPr lang="ko-KR" altLang="en-US" sz="1100" dirty="0">
                <a:solidFill>
                  <a:srgbClr val="4156BD"/>
                </a:solidFill>
              </a:rPr>
              <a:t>에 영향을 끼친다</a:t>
            </a:r>
            <a:r>
              <a:rPr lang="en-US" altLang="ko-KR" sz="1100" dirty="0">
                <a:solidFill>
                  <a:srgbClr val="4156BD"/>
                </a:solidFill>
              </a:rPr>
              <a:t>.</a:t>
            </a:r>
          </a:p>
          <a:p>
            <a:r>
              <a:rPr lang="en-US" altLang="ko-KR" sz="1100" dirty="0">
                <a:solidFill>
                  <a:srgbClr val="4156BD"/>
                </a:solidFill>
              </a:rPr>
              <a:t>   (A</a:t>
            </a:r>
            <a:r>
              <a:rPr lang="ko-KR" altLang="en-US" sz="1100" dirty="0">
                <a:solidFill>
                  <a:srgbClr val="4156BD"/>
                </a:solidFill>
              </a:rPr>
              <a:t>의 변경은 </a:t>
            </a:r>
            <a:r>
              <a:rPr lang="en-US" altLang="ko-KR" sz="1100" dirty="0">
                <a:solidFill>
                  <a:srgbClr val="4156BD"/>
                </a:solidFill>
              </a:rPr>
              <a:t>B</a:t>
            </a:r>
            <a:r>
              <a:rPr lang="ko-KR" altLang="en-US" sz="1100" dirty="0">
                <a:solidFill>
                  <a:srgbClr val="4156BD"/>
                </a:solidFill>
              </a:rPr>
              <a:t>에 영향을 끼치지 않는다</a:t>
            </a:r>
            <a:r>
              <a:rPr lang="en-US" altLang="ko-KR" sz="1100" dirty="0">
                <a:solidFill>
                  <a:srgbClr val="4156BD"/>
                </a:solidFill>
              </a:rPr>
              <a:t>.)</a:t>
            </a:r>
          </a:p>
        </p:txBody>
      </p:sp>
      <p:pic>
        <p:nvPicPr>
          <p:cNvPr id="27" name="그림 26">
            <a:extLst>
              <a:ext uri="{FF2B5EF4-FFF2-40B4-BE49-F238E27FC236}">
                <a16:creationId xmlns:a16="http://schemas.microsoft.com/office/drawing/2014/main" id="{60E76ECB-11E7-F41D-19A5-738ECD3F0C48}"/>
              </a:ext>
            </a:extLst>
          </p:cNvPr>
          <p:cNvPicPr>
            <a:picLocks noChangeAspect="1"/>
          </p:cNvPicPr>
          <p:nvPr/>
        </p:nvPicPr>
        <p:blipFill>
          <a:blip r:embed="rId7"/>
          <a:stretch>
            <a:fillRect/>
          </a:stretch>
        </p:blipFill>
        <p:spPr>
          <a:xfrm>
            <a:off x="6999091" y="2672951"/>
            <a:ext cx="2028255" cy="1537666"/>
          </a:xfrm>
          <a:prstGeom prst="rect">
            <a:avLst/>
          </a:prstGeom>
        </p:spPr>
      </p:pic>
    </p:spTree>
    <p:extLst>
      <p:ext uri="{BB962C8B-B14F-4D97-AF65-F5344CB8AC3E}">
        <p14:creationId xmlns:p14="http://schemas.microsoft.com/office/powerpoint/2010/main" val="947597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2928428" y="1821831"/>
            <a:ext cx="5604012" cy="2190079"/>
          </a:xfrm>
        </p:spPr>
        <p:txBody>
          <a:bodyPr>
            <a:noAutofit/>
          </a:bodyPr>
          <a:lstStyle/>
          <a:p>
            <a:r>
              <a:rPr lang="en-US" altLang="ko-KR" sz="3600" dirty="0"/>
              <a:t>Environment Settings</a:t>
            </a:r>
          </a:p>
        </p:txBody>
      </p:sp>
      <p:sp>
        <p:nvSpPr>
          <p:cNvPr id="5" name="제목 1"/>
          <p:cNvSpPr txBox="1">
            <a:spLocks/>
          </p:cNvSpPr>
          <p:nvPr/>
        </p:nvSpPr>
        <p:spPr>
          <a:xfrm>
            <a:off x="2915816" y="1203598"/>
            <a:ext cx="2376264" cy="533895"/>
          </a:xfrm>
          <a:prstGeom prst="rect">
            <a:avLst/>
          </a:prstGeom>
        </p:spPr>
        <p:txBody>
          <a:bodyPr vert="horz" lIns="75927" tIns="37964" rIns="75927" bIns="37964" rtlCol="0" anchor="ctr">
            <a:noAutofit/>
          </a:bodyPr>
          <a:lstStyle>
            <a:lvl1pPr algn="l" defTabSz="914400" rtl="0" eaLnBrk="1" latinLnBrk="1" hangingPunct="1">
              <a:spcBef>
                <a:spcPct val="0"/>
              </a:spcBef>
              <a:buNone/>
              <a:defRPr lang="ko-KR" altLang="en-US" sz="2400" b="1" kern="1200" spc="-100" baseline="0" dirty="0">
                <a:ln>
                  <a:solidFill>
                    <a:srgbClr val="2A2D72">
                      <a:alpha val="5000"/>
                    </a:srgbClr>
                  </a:solidFill>
                </a:ln>
                <a:solidFill>
                  <a:srgbClr val="5974BF"/>
                </a:solidFill>
                <a:latin typeface="+mj-ea"/>
                <a:ea typeface="+mj-ea"/>
                <a:cs typeface="Arial" panose="020B0604020202020204" pitchFamily="34" charset="0"/>
              </a:defRPr>
            </a:lvl1pPr>
          </a:lstStyle>
          <a:p>
            <a:pPr defTabSz="759272"/>
            <a:r>
              <a:rPr lang="en-US" altLang="ko-KR" sz="2800" spc="-150" dirty="0">
                <a:ln>
                  <a:noFill/>
                </a:ln>
                <a:solidFill>
                  <a:srgbClr val="B2CCEC"/>
                </a:solidFill>
                <a:latin typeface="+mn-ea"/>
                <a:ea typeface="+mn-ea"/>
              </a:rPr>
              <a:t>00</a:t>
            </a:r>
            <a:endParaRPr lang="ko-KR" altLang="en-US" sz="2800" spc="-150" dirty="0">
              <a:ln>
                <a:noFill/>
              </a:ln>
              <a:solidFill>
                <a:srgbClr val="B2CCEC"/>
              </a:solidFill>
              <a:latin typeface="+mn-ea"/>
              <a:ea typeface="+mn-ea"/>
            </a:endParaRPr>
          </a:p>
        </p:txBody>
      </p:sp>
    </p:spTree>
    <p:extLst>
      <p:ext uri="{BB962C8B-B14F-4D97-AF65-F5344CB8AC3E}">
        <p14:creationId xmlns:p14="http://schemas.microsoft.com/office/powerpoint/2010/main" val="3804942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ko-KR" altLang="en-US" spc="0" dirty="0"/>
              <a:t>실습환경 구축 및 실습용 예제 확인</a:t>
            </a:r>
          </a:p>
        </p:txBody>
      </p:sp>
      <p:sp>
        <p:nvSpPr>
          <p:cNvPr id="9" name="내용 개체 틀 1"/>
          <p:cNvSpPr>
            <a:spLocks noGrp="1"/>
          </p:cNvSpPr>
          <p:nvPr>
            <p:ph idx="1"/>
          </p:nvPr>
        </p:nvSpPr>
        <p:spPr>
          <a:xfrm>
            <a:off x="251520" y="771550"/>
            <a:ext cx="8568952" cy="3751262"/>
          </a:xfrm>
        </p:spPr>
        <p:txBody>
          <a:bodyPr>
            <a:normAutofit/>
          </a:bodyPr>
          <a:lstStyle/>
          <a:p>
            <a:r>
              <a:rPr lang="en-US" altLang="ko-KR" sz="1200" dirty="0"/>
              <a:t>(</a:t>
            </a:r>
            <a:r>
              <a:rPr lang="ko-KR" altLang="en-US" sz="1200" dirty="0"/>
              <a:t>참고</a:t>
            </a:r>
            <a:r>
              <a:rPr lang="en-US" altLang="ko-KR" sz="1200" dirty="0"/>
              <a:t>) </a:t>
            </a:r>
            <a:r>
              <a:rPr lang="ko-KR" altLang="en-US" sz="1200" dirty="0"/>
              <a:t>개발도구 설치 및 환경설정 </a:t>
            </a:r>
            <a:r>
              <a:rPr lang="en-US" altLang="ko-KR" sz="1200" dirty="0"/>
              <a:t>Guide(IntelliJ) .</a:t>
            </a:r>
            <a:r>
              <a:rPr lang="en-US" altLang="ko-KR" sz="1200" dirty="0" err="1"/>
              <a:t>docx</a:t>
            </a:r>
            <a:endParaRPr lang="en-US" altLang="ko-KR" sz="1200" dirty="0"/>
          </a:p>
          <a:p>
            <a:r>
              <a:rPr lang="en-US" altLang="ko-KR" sz="1200" dirty="0"/>
              <a:t>(</a:t>
            </a:r>
            <a:r>
              <a:rPr lang="ko-KR" altLang="en-US" sz="1200" dirty="0"/>
              <a:t>참고</a:t>
            </a:r>
            <a:r>
              <a:rPr lang="en-US" altLang="ko-KR" sz="1200" dirty="0"/>
              <a:t>) </a:t>
            </a:r>
            <a:r>
              <a:rPr lang="ko-KR" altLang="en-US" sz="1200" dirty="0"/>
              <a:t>개발도구 설치 및 환경설정 </a:t>
            </a:r>
            <a:r>
              <a:rPr lang="en-US" altLang="ko-KR" sz="1200" dirty="0"/>
              <a:t>Guide(VS Code) .</a:t>
            </a:r>
            <a:r>
              <a:rPr lang="en-US" altLang="ko-KR" sz="1200" dirty="0" err="1"/>
              <a:t>docx</a:t>
            </a:r>
            <a:endParaRPr lang="en-US" altLang="ko-KR" sz="1200" dirty="0"/>
          </a:p>
          <a:p>
            <a:r>
              <a:rPr lang="en-US" altLang="ko-KR" sz="1200" dirty="0"/>
              <a:t>(</a:t>
            </a:r>
            <a:r>
              <a:rPr lang="ko-KR" altLang="en-US" sz="1200" dirty="0"/>
              <a:t>실습</a:t>
            </a:r>
            <a:r>
              <a:rPr lang="en-US" altLang="ko-KR" sz="1200" dirty="0"/>
              <a:t>) Design Patterns - </a:t>
            </a:r>
            <a:r>
              <a:rPr lang="en-US" altLang="ko-KR" sz="1200" dirty="0" err="1"/>
              <a:t>Practice.zip</a:t>
            </a:r>
            <a:endParaRPr lang="ko-KR" altLang="en-US" sz="1200" dirty="0"/>
          </a:p>
          <a:p>
            <a:pPr marL="91463" lvl="1" indent="0">
              <a:lnSpc>
                <a:spcPct val="70000"/>
              </a:lnSpc>
              <a:buNone/>
            </a:pPr>
            <a:r>
              <a:rPr lang="en-US" altLang="ko-KR" sz="1200" dirty="0"/>
              <a:t>  </a:t>
            </a:r>
          </a:p>
        </p:txBody>
      </p:sp>
      <p:pic>
        <p:nvPicPr>
          <p:cNvPr id="4" name="그림 3"/>
          <p:cNvPicPr>
            <a:picLocks noChangeAspect="1"/>
          </p:cNvPicPr>
          <p:nvPr/>
        </p:nvPicPr>
        <p:blipFill>
          <a:blip r:embed="rId2"/>
          <a:stretch>
            <a:fillRect/>
          </a:stretch>
        </p:blipFill>
        <p:spPr>
          <a:xfrm>
            <a:off x="971600" y="1943075"/>
            <a:ext cx="2409825" cy="2428875"/>
          </a:xfrm>
          <a:prstGeom prst="rect">
            <a:avLst/>
          </a:prstGeom>
        </p:spPr>
      </p:pic>
    </p:spTree>
    <p:extLst>
      <p:ext uri="{BB962C8B-B14F-4D97-AF65-F5344CB8AC3E}">
        <p14:creationId xmlns:p14="http://schemas.microsoft.com/office/powerpoint/2010/main" val="29246858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Pattern Overview – 1</a:t>
            </a:r>
            <a:r>
              <a:rPr lang="ko-KR" altLang="en-US" spc="0" dirty="0"/>
              <a:t>일차 </a:t>
            </a:r>
          </a:p>
        </p:txBody>
      </p:sp>
      <p:graphicFrame>
        <p:nvGraphicFramePr>
          <p:cNvPr id="6" name="표 5"/>
          <p:cNvGraphicFramePr>
            <a:graphicFrameLocks noGrp="1"/>
          </p:cNvGraphicFramePr>
          <p:nvPr/>
        </p:nvGraphicFramePr>
        <p:xfrm>
          <a:off x="107504" y="584101"/>
          <a:ext cx="8927614" cy="4306952"/>
        </p:xfrm>
        <a:graphic>
          <a:graphicData uri="http://schemas.openxmlformats.org/drawingml/2006/table">
            <a:tbl>
              <a:tblPr firstRow="1" bandRow="1"/>
              <a:tblGrid>
                <a:gridCol w="648072">
                  <a:extLst>
                    <a:ext uri="{9D8B030D-6E8A-4147-A177-3AD203B41FA5}">
                      <a16:colId xmlns:a16="http://schemas.microsoft.com/office/drawing/2014/main" val="20000"/>
                    </a:ext>
                  </a:extLst>
                </a:gridCol>
                <a:gridCol w="1512168">
                  <a:extLst>
                    <a:ext uri="{9D8B030D-6E8A-4147-A177-3AD203B41FA5}">
                      <a16:colId xmlns:a16="http://schemas.microsoft.com/office/drawing/2014/main" val="20001"/>
                    </a:ext>
                  </a:extLst>
                </a:gridCol>
                <a:gridCol w="1656184">
                  <a:extLst>
                    <a:ext uri="{9D8B030D-6E8A-4147-A177-3AD203B41FA5}">
                      <a16:colId xmlns:a16="http://schemas.microsoft.com/office/drawing/2014/main" val="2965765470"/>
                    </a:ext>
                  </a:extLst>
                </a:gridCol>
                <a:gridCol w="1728192">
                  <a:extLst>
                    <a:ext uri="{9D8B030D-6E8A-4147-A177-3AD203B41FA5}">
                      <a16:colId xmlns:a16="http://schemas.microsoft.com/office/drawing/2014/main" val="20002"/>
                    </a:ext>
                  </a:extLst>
                </a:gridCol>
                <a:gridCol w="1728192">
                  <a:extLst>
                    <a:ext uri="{9D8B030D-6E8A-4147-A177-3AD203B41FA5}">
                      <a16:colId xmlns:a16="http://schemas.microsoft.com/office/drawing/2014/main" val="20003"/>
                    </a:ext>
                  </a:extLst>
                </a:gridCol>
                <a:gridCol w="1654806">
                  <a:extLst>
                    <a:ext uri="{9D8B030D-6E8A-4147-A177-3AD203B41FA5}">
                      <a16:colId xmlns:a16="http://schemas.microsoft.com/office/drawing/2014/main" val="20004"/>
                    </a:ext>
                  </a:extLst>
                </a:gridCol>
              </a:tblGrid>
              <a:tr h="454472">
                <a:tc>
                  <a:txBody>
                    <a:bodyPr/>
                    <a:lstStyle/>
                    <a:p>
                      <a:pPr algn="ctr">
                        <a:defRPr/>
                      </a:pPr>
                      <a:r>
                        <a:rPr lang="ko-KR" altLang="en-US" sz="1200" b="1" kern="1200" spc="-120" baseline="0" dirty="0">
                          <a:solidFill>
                            <a:schemeClr val="tx1"/>
                          </a:solidFill>
                          <a:latin typeface="맑은 고딕" panose="020B0503020000020004" pitchFamily="50" charset="-127"/>
                          <a:ea typeface="맑은 고딕" panose="020B0503020000020004" pitchFamily="50" charset="-127"/>
                          <a:cs typeface="+mn-cs"/>
                        </a:rPr>
                        <a:t>패턴</a:t>
                      </a:r>
                    </a:p>
                  </a:txBody>
                  <a:tcPr marL="0" marR="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algn="ctr">
                        <a:defRPr/>
                      </a:pPr>
                      <a:r>
                        <a:rPr lang="en-US" altLang="ko-KR" sz="1200" b="1" kern="1200" spc="-120" baseline="0" dirty="0">
                          <a:solidFill>
                            <a:schemeClr val="tx1"/>
                          </a:solidFill>
                          <a:latin typeface="맑은 고딕" panose="020B0503020000020004" pitchFamily="50" charset="-127"/>
                          <a:ea typeface="맑은 고딕" panose="020B0503020000020004" pitchFamily="50" charset="-127"/>
                          <a:cs typeface="+mn-cs"/>
                        </a:rPr>
                        <a:t>Strategy</a:t>
                      </a:r>
                    </a:p>
                  </a:txBody>
                  <a:tcPr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algn="ctr">
                        <a:defRPr/>
                      </a:pPr>
                      <a:r>
                        <a:rPr lang="en-US" altLang="ko-KR" sz="1200" b="1" kern="1200" spc="-120" baseline="0" dirty="0">
                          <a:solidFill>
                            <a:schemeClr val="tx1"/>
                          </a:solidFill>
                          <a:latin typeface="맑은 고딕" panose="020B0503020000020004" pitchFamily="50" charset="-127"/>
                          <a:ea typeface="맑은 고딕" panose="020B0503020000020004" pitchFamily="50" charset="-127"/>
                          <a:cs typeface="+mn-cs"/>
                        </a:rPr>
                        <a:t>Observer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w="med" len="med"/>
                      <a:tailEnd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algn="ctr">
                        <a:defRPr/>
                      </a:pPr>
                      <a:r>
                        <a:rPr lang="en-US" altLang="ko-KR" sz="1200" b="1" kern="1200" spc="-120" baseline="0" dirty="0">
                          <a:solidFill>
                            <a:schemeClr val="tx1"/>
                          </a:solidFill>
                          <a:latin typeface="맑은 고딕" panose="020B0503020000020004" pitchFamily="50" charset="-127"/>
                          <a:ea typeface="맑은 고딕" panose="020B0503020000020004" pitchFamily="50" charset="-127"/>
                          <a:cs typeface="+mn-cs"/>
                        </a:rPr>
                        <a:t>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algn="ctr">
                        <a:defRPr/>
                      </a:pPr>
                      <a:r>
                        <a:rPr lang="en-US" altLang="ko-KR" sz="1200" b="1" kern="1200" spc="-120" baseline="0" dirty="0">
                          <a:solidFill>
                            <a:schemeClr val="tx1"/>
                          </a:solidFill>
                          <a:latin typeface="맑은 고딕" panose="020B0503020000020004" pitchFamily="50" charset="-127"/>
                          <a:ea typeface="맑은 고딕" panose="020B0503020000020004" pitchFamily="50" charset="-127"/>
                          <a:cs typeface="+mn-cs"/>
                        </a:rPr>
                        <a:t>Iterator</a:t>
                      </a:r>
                    </a:p>
                  </a:txBody>
                  <a:tcPr anchor="ct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algn="ctr">
                        <a:defRPr/>
                      </a:pPr>
                      <a:r>
                        <a:rPr lang="en-US" altLang="ko-KR" sz="1200" b="1" kern="1200" spc="-120" baseline="0" dirty="0">
                          <a:solidFill>
                            <a:schemeClr val="tx1"/>
                          </a:solidFill>
                          <a:latin typeface="맑은 고딕" panose="020B0503020000020004" pitchFamily="50" charset="-127"/>
                          <a:ea typeface="맑은 고딕" panose="020B0503020000020004" pitchFamily="50" charset="-127"/>
                          <a:cs typeface="+mn-cs"/>
                        </a:rPr>
                        <a:t>Mediator</a:t>
                      </a:r>
                    </a:p>
                  </a:txBody>
                  <a:tcPr anchor="ct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extLst>
                  <a:ext uri="{0D108BD9-81ED-4DB2-BD59-A6C34878D82A}">
                    <a16:rowId xmlns:a16="http://schemas.microsoft.com/office/drawing/2014/main" val="10000"/>
                  </a:ext>
                </a:extLst>
              </a:tr>
              <a:tr h="2196274">
                <a:tc>
                  <a:txBody>
                    <a:bodyPr/>
                    <a:lstStyle/>
                    <a:p>
                      <a:pPr algn="ctr">
                        <a:defRPr/>
                      </a:pPr>
                      <a:r>
                        <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rPr>
                        <a:t>구조</a:t>
                      </a:r>
                    </a:p>
                  </a:txBody>
                  <a:tcPr marL="0" marR="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a:defRPr/>
                      </a:pPr>
                      <a:endPar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endParaRPr>
                    </a:p>
                  </a:txBody>
                  <a:tcP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type="none" w="med" len="med"/>
                      <a:tailEnd type="none" w="med" len="med"/>
                    </a:lnB>
                    <a:solidFill>
                      <a:schemeClr val="lt1"/>
                    </a:solidFill>
                  </a:tcPr>
                </a:tc>
                <a:tc>
                  <a:txBody>
                    <a:bodyPr/>
                    <a:lstStyle/>
                    <a:p>
                      <a:pPr>
                        <a:defRPr/>
                      </a:pPr>
                      <a:endPar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w="med" len="med"/>
                      <a:tailEnd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a:defRPr/>
                      </a:pPr>
                      <a:endPar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a:defRPr/>
                      </a:pPr>
                      <a:endPar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endParaRP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type="none" w="med" len="med"/>
                      <a:tailEnd type="none" w="med" len="med"/>
                    </a:lnB>
                    <a:solidFill>
                      <a:schemeClr val="lt1"/>
                    </a:solidFill>
                  </a:tcPr>
                </a:tc>
                <a:tc>
                  <a:txBody>
                    <a:bodyPr/>
                    <a:lstStyle/>
                    <a:p>
                      <a:pPr>
                        <a:defRPr/>
                      </a:pPr>
                      <a:endPar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endParaRP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type="none" w="med" len="med"/>
                      <a:tailEnd type="none" w="med" len="med"/>
                    </a:lnB>
                    <a:solidFill>
                      <a:schemeClr val="lt1"/>
                    </a:solidFill>
                  </a:tcPr>
                </a:tc>
                <a:extLst>
                  <a:ext uri="{0D108BD9-81ED-4DB2-BD59-A6C34878D82A}">
                    <a16:rowId xmlns:a16="http://schemas.microsoft.com/office/drawing/2014/main" val="10001"/>
                  </a:ext>
                </a:extLst>
              </a:tr>
              <a:tr h="828103">
                <a:tc>
                  <a:txBody>
                    <a:bodyPr/>
                    <a:lstStyle/>
                    <a:p>
                      <a:pPr algn="ctr">
                        <a:defRPr/>
                      </a:pPr>
                      <a:r>
                        <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rPr>
                        <a:t>설명</a:t>
                      </a:r>
                    </a:p>
                  </a:txBody>
                  <a:tcPr marL="0" marR="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전략을 클래스화하여</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실행 시점에 전략을</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생성</a:t>
                      </a: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교체</a:t>
                      </a:r>
                    </a:p>
                  </a:txBody>
                  <a:tcPr marL="36000" marR="3600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상태 변화에 대한 </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알림 수신이</a:t>
                      </a: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 </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필요할 때</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w="med" len="med"/>
                      <a:tailEnd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객체의 상태에 따라</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다른 동작을 </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해야 하는 경우</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sym typeface="Wingdings" panose="05000000000000000000" pitchFamily="2" charset="2"/>
                        </a:rPr>
                        <a:t>자료구조에 </a:t>
                      </a:r>
                      <a:r>
                        <a:rPr lang="ko-KR" altLang="en-US" sz="1000" kern="1200" spc="-120" baseline="0" dirty="0">
                          <a:solidFill>
                            <a:srgbClr val="2A2D72"/>
                          </a:solidFill>
                          <a:latin typeface="맑은 고딕" panose="020B0503020000020004" pitchFamily="50" charset="-127"/>
                          <a:ea typeface="+mn-ea"/>
                          <a:cs typeface="+mn-cs"/>
                          <a:sym typeface="Wingdings" panose="05000000000000000000" pitchFamily="2" charset="2"/>
                        </a:rPr>
                        <a:t>순차적인 </a:t>
                      </a:r>
                      <a:endParaRPr lang="en-US" altLang="ko-KR" sz="1000" kern="1200" spc="-120" baseline="0" dirty="0">
                        <a:solidFill>
                          <a:srgbClr val="2A2D72"/>
                        </a:solidFill>
                        <a:latin typeface="맑은 고딕" panose="020B0503020000020004" pitchFamily="50" charset="-127"/>
                        <a:ea typeface="+mn-ea"/>
                        <a:cs typeface="+mn-cs"/>
                        <a:sym typeface="Wingdings" panose="05000000000000000000" pitchFamily="2" charset="2"/>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mn-ea"/>
                          <a:cs typeface="+mn-cs"/>
                          <a:sym typeface="Wingdings" panose="05000000000000000000" pitchFamily="2" charset="2"/>
                        </a:rPr>
                        <a:t>접근</a:t>
                      </a:r>
                      <a:r>
                        <a:rPr lang="en-US" altLang="ko-KR" sz="1000" kern="1200" spc="-120" baseline="0" dirty="0">
                          <a:solidFill>
                            <a:srgbClr val="2A2D72"/>
                          </a:solidFill>
                          <a:latin typeface="맑은 고딕" panose="020B0503020000020004" pitchFamily="50" charset="-127"/>
                          <a:ea typeface="+mn-ea"/>
                          <a:cs typeface="+mn-cs"/>
                          <a:sym typeface="Wingdings" panose="05000000000000000000" pitchFamily="2" charset="2"/>
                        </a:rPr>
                        <a:t>(</a:t>
                      </a:r>
                      <a:r>
                        <a:rPr lang="ko-KR" altLang="en-US" sz="1000" kern="1200" spc="-120" baseline="0" dirty="0">
                          <a:solidFill>
                            <a:srgbClr val="2A2D72"/>
                          </a:solidFill>
                          <a:latin typeface="맑은 고딕" panose="020B0503020000020004" pitchFamily="50" charset="-127"/>
                          <a:ea typeface="+mn-ea"/>
                          <a:cs typeface="+mn-cs"/>
                          <a:sym typeface="Wingdings" panose="05000000000000000000" pitchFamily="2" charset="2"/>
                        </a:rPr>
                        <a:t>순회</a:t>
                      </a:r>
                      <a:r>
                        <a:rPr lang="en-US" altLang="ko-KR" sz="1000" kern="1200" spc="-120" baseline="0" dirty="0">
                          <a:solidFill>
                            <a:srgbClr val="2A2D72"/>
                          </a:solidFill>
                          <a:latin typeface="맑은 고딕" panose="020B0503020000020004" pitchFamily="50" charset="-127"/>
                          <a:ea typeface="+mn-ea"/>
                          <a:cs typeface="+mn-cs"/>
                          <a:sym typeface="Wingdings" panose="05000000000000000000" pitchFamily="2" charset="2"/>
                        </a:rPr>
                        <a:t>)</a:t>
                      </a:r>
                      <a:r>
                        <a:rPr lang="ko-KR" altLang="en-US" sz="1000" kern="1200" spc="-120" baseline="0" dirty="0">
                          <a:solidFill>
                            <a:srgbClr val="2A2D72"/>
                          </a:solidFill>
                          <a:latin typeface="맑은 고딕" panose="020B0503020000020004" pitchFamily="50" charset="-127"/>
                          <a:ea typeface="+mn-ea"/>
                          <a:cs typeface="+mn-cs"/>
                          <a:sym typeface="Wingdings" panose="05000000000000000000" pitchFamily="2" charset="2"/>
                        </a:rPr>
                        <a:t>을 지원</a:t>
                      </a:r>
                      <a:endPar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endParaRPr>
                    </a:p>
                  </a:txBody>
                  <a:tcPr marL="36000" marR="3600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buFont typeface="Arial"/>
                        <a:buNone/>
                        <a:defRPr/>
                      </a:pPr>
                      <a:r>
                        <a:rPr lang="ko-KR" altLang="en-US" sz="1000" kern="1200" spc="-120" baseline="0" dirty="0">
                          <a:solidFill>
                            <a:srgbClr val="2A2D72"/>
                          </a:solidFill>
                          <a:latin typeface="맑은 고딕" panose="020B0503020000020004" pitchFamily="50" charset="-127"/>
                          <a:ea typeface="+mn-ea"/>
                          <a:cs typeface="+mn-cs"/>
                        </a:rPr>
                        <a:t>클래스 간 상호작용을 </a:t>
                      </a:r>
                      <a:endParaRPr lang="en-US" altLang="ko-KR" sz="1000" kern="1200" spc="-120" baseline="0" dirty="0">
                        <a:solidFill>
                          <a:srgbClr val="2A2D72"/>
                        </a:solidFill>
                        <a:latin typeface="맑은 고딕" panose="020B0503020000020004" pitchFamily="50" charset="-127"/>
                        <a:ea typeface="+mn-ea"/>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mn-ea"/>
                          <a:cs typeface="+mn-cs"/>
                        </a:rPr>
                        <a:t>별도 클래스에 위임 처리</a:t>
                      </a:r>
                      <a:endParaRPr lang="en-US" altLang="ko-KR" sz="1000" kern="1200" spc="-120" baseline="0" dirty="0">
                        <a:solidFill>
                          <a:srgbClr val="2A2D72"/>
                        </a:solidFill>
                        <a:latin typeface="맑은 고딕" panose="020B0503020000020004" pitchFamily="50" charset="-127"/>
                        <a:ea typeface="+mn-ea"/>
                        <a:cs typeface="+mn-cs"/>
                      </a:endParaRPr>
                    </a:p>
                    <a:p>
                      <a:pPr marL="0" indent="0" algn="ctr">
                        <a:buFont typeface="Arial"/>
                        <a:buNone/>
                        <a:defRPr/>
                      </a:pP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Coupling </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 </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extLst>
                  <a:ext uri="{0D108BD9-81ED-4DB2-BD59-A6C34878D82A}">
                    <a16:rowId xmlns:a16="http://schemas.microsoft.com/office/drawing/2014/main" val="10002"/>
                  </a:ext>
                </a:extLst>
              </a:tr>
              <a:tr h="828103">
                <a:tc>
                  <a:txBody>
                    <a:bodyPr/>
                    <a:lstStyle/>
                    <a:p>
                      <a:pPr algn="ctr">
                        <a:defRPr/>
                      </a:pPr>
                      <a:r>
                        <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rPr>
                        <a:t>활용</a:t>
                      </a:r>
                    </a:p>
                  </a:txBody>
                  <a:tcPr marL="0" marR="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lnSpc>
                          <a:spcPct val="100000"/>
                        </a:lnSpc>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신규 전략 추가 및</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lnSpc>
                          <a:spcPct val="100000"/>
                        </a:lnSpc>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변경 용이</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lnSpc>
                          <a:spcPct val="150000"/>
                        </a:lnSpc>
                        <a:buFont typeface="Arial"/>
                        <a:buNone/>
                        <a:defRPr/>
                      </a:pP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 Ex) </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게임 캐릭터 별 행동</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txBody>
                  <a:tcPr marL="36000" marR="3600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lnSpc>
                          <a:spcPct val="100000"/>
                        </a:lnSpc>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데이터의 변화를 </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lnSpc>
                          <a:spcPct val="100000"/>
                        </a:lnSpc>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표시하는 장치</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lnSpc>
                          <a:spcPct val="150000"/>
                        </a:lnSpc>
                        <a:buFont typeface="Arial"/>
                        <a:buNone/>
                        <a:defRPr/>
                      </a:pP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Ex ) </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날씨 정보</a:t>
                      </a: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 </a:t>
                      </a:r>
                      <a:r>
                        <a:rPr lang="en-US" altLang="ko-KR" sz="1000" kern="1200" spc="-120" baseline="0" dirty="0" err="1">
                          <a:solidFill>
                            <a:srgbClr val="2A2D72"/>
                          </a:solidFill>
                          <a:latin typeface="맑은 고딕" panose="020B0503020000020004" pitchFamily="50" charset="-127"/>
                          <a:ea typeface="맑은 고딕" panose="020B0503020000020004" pitchFamily="50" charset="-127"/>
                          <a:cs typeface="+mn-cs"/>
                        </a:rPr>
                        <a:t>Wi-fi</a:t>
                      </a: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 </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감도</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w="med" len="med"/>
                      <a:tailEnd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indent="0" algn="ctr">
                        <a:lnSpc>
                          <a:spcPct val="100000"/>
                        </a:lnSpc>
                        <a:buFont typeface="Arial"/>
                        <a:buNone/>
                        <a:defRPr/>
                      </a:pPr>
                      <a:r>
                        <a:rPr lang="ko-KR" altLang="en-US" sz="1000" kern="1200" spc="-120" baseline="0" dirty="0">
                          <a:solidFill>
                            <a:srgbClr val="2A2D72"/>
                          </a:solidFill>
                          <a:latin typeface="맑은 고딕" panose="020B0503020000020004" pitchFamily="50" charset="-127"/>
                          <a:ea typeface="+mn-ea"/>
                          <a:cs typeface="+mn-cs"/>
                        </a:rPr>
                        <a:t>상태에 따른 </a:t>
                      </a:r>
                      <a:endParaRPr lang="en-US" altLang="ko-KR" sz="1000" kern="1200" spc="-120" baseline="0" dirty="0">
                        <a:solidFill>
                          <a:srgbClr val="2A2D72"/>
                        </a:solidFill>
                        <a:latin typeface="맑은 고딕" panose="020B0503020000020004" pitchFamily="50" charset="-127"/>
                        <a:ea typeface="+mn-ea"/>
                        <a:cs typeface="+mn-cs"/>
                      </a:endParaRPr>
                    </a:p>
                    <a:p>
                      <a:pPr marL="0" indent="0" algn="ctr">
                        <a:lnSpc>
                          <a:spcPct val="100000"/>
                        </a:lnSpc>
                        <a:buFont typeface="Arial"/>
                        <a:buNone/>
                        <a:defRPr/>
                      </a:pPr>
                      <a:r>
                        <a:rPr lang="ko-KR" altLang="en-US" sz="1000" kern="1200" spc="-120" baseline="0" dirty="0" err="1">
                          <a:solidFill>
                            <a:srgbClr val="2A2D72"/>
                          </a:solidFill>
                          <a:latin typeface="맑은 고딕" panose="020B0503020000020004" pitchFamily="50" charset="-127"/>
                          <a:ea typeface="+mn-ea"/>
                          <a:cs typeface="+mn-cs"/>
                        </a:rPr>
                        <a:t>조건문</a:t>
                      </a:r>
                      <a:r>
                        <a:rPr lang="en-US" altLang="ko-KR" sz="1000" kern="1200" spc="-120" baseline="0" dirty="0">
                          <a:solidFill>
                            <a:srgbClr val="2A2D72"/>
                          </a:solidFill>
                          <a:latin typeface="맑은 고딕" panose="020B0503020000020004" pitchFamily="50" charset="-127"/>
                          <a:ea typeface="+mn-ea"/>
                          <a:cs typeface="+mn-cs"/>
                        </a:rPr>
                        <a:t> </a:t>
                      </a:r>
                      <a:r>
                        <a:rPr lang="ko-KR" altLang="en-US" sz="1000" kern="1200" spc="-120" baseline="0" dirty="0">
                          <a:solidFill>
                            <a:srgbClr val="2A2D72"/>
                          </a:solidFill>
                          <a:latin typeface="맑은 고딕" panose="020B0503020000020004" pitchFamily="50" charset="-127"/>
                          <a:ea typeface="+mn-ea"/>
                          <a:cs typeface="+mn-cs"/>
                        </a:rPr>
                        <a:t>제거</a:t>
                      </a:r>
                      <a:endParaRPr lang="en-US" altLang="ko-KR" sz="1000" kern="1200" spc="-120" baseline="0" dirty="0">
                        <a:solidFill>
                          <a:srgbClr val="2A2D72"/>
                        </a:solidFill>
                        <a:latin typeface="맑은 고딕" panose="020B0503020000020004" pitchFamily="50" charset="-127"/>
                        <a:ea typeface="+mn-ea"/>
                        <a:cs typeface="+mn-cs"/>
                      </a:endParaRPr>
                    </a:p>
                    <a:p>
                      <a:pPr algn="ctr">
                        <a:lnSpc>
                          <a:spcPct val="150000"/>
                        </a:lnSpc>
                        <a:defRPr/>
                      </a:pP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 Ex) Airplane mode On/Off</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lnSpc>
                          <a:spcPct val="100000"/>
                        </a:lnSpc>
                        <a:buFont typeface="Arial"/>
                        <a:buNone/>
                        <a:defRPr/>
                      </a:pPr>
                      <a:r>
                        <a:rPr lang="en-US" altLang="ko-KR" sz="1000" kern="1200" spc="-120" baseline="0" dirty="0">
                          <a:solidFill>
                            <a:srgbClr val="2A2D72"/>
                          </a:solidFill>
                          <a:latin typeface="맑은 고딕" panose="020B0503020000020004" pitchFamily="50" charset="-127"/>
                          <a:ea typeface="+mn-ea"/>
                          <a:cs typeface="+mn-cs"/>
                        </a:rPr>
                        <a:t>List, Tree, Graph, Table, Array</a:t>
                      </a:r>
                      <a:r>
                        <a:rPr lang="ko-KR" altLang="en-US" sz="1000" kern="1200" spc="-120" baseline="0" dirty="0">
                          <a:solidFill>
                            <a:srgbClr val="2A2D72"/>
                          </a:solidFill>
                          <a:latin typeface="맑은 고딕" panose="020B0503020000020004" pitchFamily="50" charset="-127"/>
                          <a:ea typeface="+mn-ea"/>
                          <a:cs typeface="+mn-cs"/>
                        </a:rPr>
                        <a:t>등에 동</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일한 방법으로 접근 </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lnSpc>
                          <a:spcPct val="150000"/>
                        </a:lnSpc>
                        <a:buFont typeface="Arial"/>
                        <a:buNone/>
                        <a:defRPr/>
                      </a:pP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Ex) Menu Item </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조회</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txBody>
                  <a:tcPr marL="36000" marR="3600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lnSpc>
                          <a:spcPct val="100000"/>
                        </a:lnSpc>
                        <a:buFont typeface="Arial"/>
                        <a:buNone/>
                        <a:defRPr/>
                      </a:pPr>
                      <a:r>
                        <a:rPr lang="en-US" altLang="ko-KR" sz="1000" kern="1200" spc="-120" baseline="0" dirty="0">
                          <a:solidFill>
                            <a:srgbClr val="2A2D72"/>
                          </a:solidFill>
                          <a:latin typeface="맑은 고딕" panose="020B0503020000020004" pitchFamily="50" charset="-127"/>
                          <a:ea typeface="+mn-ea"/>
                          <a:cs typeface="+mn-cs"/>
                        </a:rPr>
                        <a:t>N:M</a:t>
                      </a:r>
                      <a:r>
                        <a:rPr lang="ko-KR" altLang="en-US" sz="1000" kern="1200" spc="-120" baseline="0" dirty="0">
                          <a:solidFill>
                            <a:srgbClr val="2A2D72"/>
                          </a:solidFill>
                          <a:latin typeface="맑은 고딕" panose="020B0503020000020004" pitchFamily="50" charset="-127"/>
                          <a:ea typeface="+mn-ea"/>
                          <a:cs typeface="+mn-cs"/>
                        </a:rPr>
                        <a:t> 관계를 </a:t>
                      </a:r>
                      <a:r>
                        <a:rPr lang="en-US" altLang="ko-KR" sz="1000" kern="1200" spc="-120" baseline="0" dirty="0">
                          <a:solidFill>
                            <a:srgbClr val="2A2D72"/>
                          </a:solidFill>
                          <a:latin typeface="맑은 고딕" panose="020B0503020000020004" pitchFamily="50" charset="-127"/>
                          <a:ea typeface="+mn-ea"/>
                          <a:cs typeface="+mn-cs"/>
                        </a:rPr>
                        <a:t>N:1</a:t>
                      </a:r>
                      <a:r>
                        <a:rPr lang="ko-KR" altLang="en-US" sz="1000" kern="1200" spc="-120" baseline="0" dirty="0">
                          <a:solidFill>
                            <a:srgbClr val="2A2D72"/>
                          </a:solidFill>
                          <a:latin typeface="맑은 고딕" panose="020B0503020000020004" pitchFamily="50" charset="-127"/>
                          <a:ea typeface="+mn-ea"/>
                          <a:cs typeface="+mn-cs"/>
                        </a:rPr>
                        <a:t> 관계로</a:t>
                      </a:r>
                      <a:endParaRPr lang="en-US" altLang="ko-KR" sz="1000" kern="1200" spc="-120" baseline="0" dirty="0">
                        <a:solidFill>
                          <a:srgbClr val="2A2D72"/>
                        </a:solidFill>
                        <a:latin typeface="맑은 고딕" panose="020B0503020000020004" pitchFamily="50" charset="-127"/>
                        <a:ea typeface="+mn-ea"/>
                        <a:cs typeface="+mn-cs"/>
                      </a:endParaRPr>
                    </a:p>
                    <a:p>
                      <a:pPr marL="0" indent="0" algn="ctr">
                        <a:lnSpc>
                          <a:spcPct val="150000"/>
                        </a:lnSpc>
                        <a:buFont typeface="Arial"/>
                        <a:buNone/>
                        <a:defRPr/>
                      </a:pPr>
                      <a:r>
                        <a:rPr lang="ko-KR" altLang="en-US" sz="1000" kern="1200" spc="-120" baseline="0" dirty="0">
                          <a:solidFill>
                            <a:srgbClr val="2A2D72"/>
                          </a:solidFill>
                          <a:latin typeface="맑은 고딕" panose="020B0503020000020004" pitchFamily="50" charset="-127"/>
                          <a:ea typeface="+mn-ea"/>
                          <a:cs typeface="+mn-cs"/>
                        </a:rPr>
                        <a:t>바꾸어 유지보수에 유리</a:t>
                      </a:r>
                      <a:endParaRPr lang="en-US" altLang="ko-KR" sz="1000" kern="1200" spc="-120" baseline="0" dirty="0">
                        <a:solidFill>
                          <a:srgbClr val="2A2D72"/>
                        </a:solidFill>
                        <a:latin typeface="맑은 고딕" panose="020B0503020000020004" pitchFamily="50" charset="-127"/>
                        <a:ea typeface="+mn-ea"/>
                        <a:cs typeface="+mn-cs"/>
                      </a:endParaRPr>
                    </a:p>
                    <a:p>
                      <a:pPr marL="0" indent="0" algn="ctr">
                        <a:lnSpc>
                          <a:spcPct val="150000"/>
                        </a:lnSpc>
                        <a:buFont typeface="Arial"/>
                        <a:buNone/>
                        <a:defRPr/>
                      </a:pP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Ex) </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항공기</a:t>
                      </a: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관제탑</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extLst>
                  <a:ext uri="{0D108BD9-81ED-4DB2-BD59-A6C34878D82A}">
                    <a16:rowId xmlns:a16="http://schemas.microsoft.com/office/drawing/2014/main" val="10003"/>
                  </a:ext>
                </a:extLst>
              </a:tr>
            </a:tbl>
          </a:graphicData>
        </a:graphic>
      </p:graphicFrame>
      <p:pic>
        <p:nvPicPr>
          <p:cNvPr id="11" name="내용 개체 틀 7"/>
          <p:cNvPicPr>
            <a:picLocks noChangeAspect="1"/>
          </p:cNvPicPr>
          <p:nvPr/>
        </p:nvPicPr>
        <p:blipFill>
          <a:blip r:embed="rId2"/>
          <a:stretch>
            <a:fillRect/>
          </a:stretch>
        </p:blipFill>
        <p:spPr>
          <a:xfrm>
            <a:off x="5697537" y="1563638"/>
            <a:ext cx="1660830" cy="792088"/>
          </a:xfrm>
          <a:prstGeom prst="rect">
            <a:avLst/>
          </a:prstGeom>
        </p:spPr>
      </p:pic>
      <p:pic>
        <p:nvPicPr>
          <p:cNvPr id="12" name="내용 개체 틀 3"/>
          <p:cNvPicPr>
            <a:picLocks noGrp="1" noChangeAspect="1"/>
          </p:cNvPicPr>
          <p:nvPr>
            <p:ph idx="1"/>
          </p:nvPr>
        </p:nvPicPr>
        <p:blipFill>
          <a:blip r:embed="rId3"/>
          <a:stretch>
            <a:fillRect/>
          </a:stretch>
        </p:blipFill>
        <p:spPr>
          <a:xfrm>
            <a:off x="827584" y="1645277"/>
            <a:ext cx="1425852" cy="638441"/>
          </a:xfrm>
          <a:prstGeom prst="rect">
            <a:avLst/>
          </a:prstGeom>
        </p:spPr>
      </p:pic>
      <p:pic>
        <p:nvPicPr>
          <p:cNvPr id="13" name="내용 개체 틀 3">
            <a:extLst>
              <a:ext uri="{FF2B5EF4-FFF2-40B4-BE49-F238E27FC236}">
                <a16:creationId xmlns:a16="http://schemas.microsoft.com/office/drawing/2014/main" id="{EE585B98-365E-097F-CD30-0885887E1DED}"/>
              </a:ext>
            </a:extLst>
          </p:cNvPr>
          <p:cNvPicPr>
            <a:picLocks noChangeAspect="1"/>
          </p:cNvPicPr>
          <p:nvPr/>
        </p:nvPicPr>
        <p:blipFill>
          <a:blip r:embed="rId4"/>
          <a:stretch>
            <a:fillRect/>
          </a:stretch>
        </p:blipFill>
        <p:spPr>
          <a:xfrm>
            <a:off x="2317331" y="1419622"/>
            <a:ext cx="1556111" cy="1008112"/>
          </a:xfrm>
          <a:prstGeom prst="rect">
            <a:avLst/>
          </a:prstGeom>
        </p:spPr>
      </p:pic>
      <p:pic>
        <p:nvPicPr>
          <p:cNvPr id="14" name="내용 개체 틀 4">
            <a:extLst>
              <a:ext uri="{FF2B5EF4-FFF2-40B4-BE49-F238E27FC236}">
                <a16:creationId xmlns:a16="http://schemas.microsoft.com/office/drawing/2014/main" id="{4F93797C-EDB3-A9DE-4D77-8BF5E3716088}"/>
              </a:ext>
            </a:extLst>
          </p:cNvPr>
          <p:cNvPicPr>
            <a:picLocks noChangeAspect="1"/>
          </p:cNvPicPr>
          <p:nvPr/>
        </p:nvPicPr>
        <p:blipFill>
          <a:blip r:embed="rId5"/>
          <a:stretch>
            <a:fillRect/>
          </a:stretch>
        </p:blipFill>
        <p:spPr>
          <a:xfrm>
            <a:off x="4005463" y="1491630"/>
            <a:ext cx="1584176" cy="688772"/>
          </a:xfrm>
          <a:prstGeom prst="rect">
            <a:avLst/>
          </a:prstGeom>
        </p:spPr>
      </p:pic>
      <p:pic>
        <p:nvPicPr>
          <p:cNvPr id="15" name="그림 14"/>
          <p:cNvPicPr>
            <a:picLocks noChangeAspect="1"/>
          </p:cNvPicPr>
          <p:nvPr/>
        </p:nvPicPr>
        <p:blipFill rotWithShape="1">
          <a:blip r:embed="rId6"/>
          <a:srcRect l="5263" t="25087" r="3508"/>
          <a:stretch/>
        </p:blipFill>
        <p:spPr>
          <a:xfrm>
            <a:off x="7466265" y="1568143"/>
            <a:ext cx="1515172" cy="783078"/>
          </a:xfrm>
          <a:prstGeom prst="rect">
            <a:avLst/>
          </a:prstGeom>
        </p:spPr>
      </p:pic>
    </p:spTree>
    <p:extLst>
      <p:ext uri="{BB962C8B-B14F-4D97-AF65-F5344CB8AC3E}">
        <p14:creationId xmlns:p14="http://schemas.microsoft.com/office/powerpoint/2010/main" val="1471972522"/>
      </p:ext>
    </p:extLst>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2915816" y="1131590"/>
            <a:ext cx="6084169" cy="3960440"/>
          </a:xfrm>
        </p:spPr>
        <p:txBody>
          <a:bodyPr>
            <a:noAutofit/>
          </a:bodyPr>
          <a:lstStyle/>
          <a:p>
            <a:r>
              <a:rPr lang="en-US" altLang="ko-KR" sz="1600" dirty="0"/>
              <a:t>[</a:t>
            </a:r>
            <a:r>
              <a:rPr lang="ko-KR" altLang="en-US" sz="1600" dirty="0"/>
              <a:t>필수</a:t>
            </a:r>
            <a:r>
              <a:rPr lang="en-US" altLang="ko-KR" sz="1600" dirty="0"/>
              <a:t>]</a:t>
            </a:r>
            <a:br>
              <a:rPr lang="en-US" altLang="ko-KR" b="0" dirty="0"/>
            </a:br>
            <a:r>
              <a:rPr lang="en-US" altLang="ko-KR" sz="2000" b="0" dirty="0"/>
              <a:t>2. SOLID Principle </a:t>
            </a:r>
            <a:r>
              <a:rPr lang="en-US" altLang="ko-KR" sz="1600" b="0" dirty="0"/>
              <a:t>(77min)</a:t>
            </a:r>
            <a:br>
              <a:rPr lang="en-US" altLang="ko-KR" sz="1600" b="0" dirty="0"/>
            </a:br>
            <a:r>
              <a:rPr lang="en-US" altLang="ko-KR" sz="2000" b="0" dirty="0"/>
              <a:t>5. Strategy </a:t>
            </a:r>
            <a:r>
              <a:rPr lang="en-US" altLang="ko-KR" sz="1600" b="0" dirty="0"/>
              <a:t>(60min)</a:t>
            </a:r>
            <a:br>
              <a:rPr lang="en-US" altLang="ko-KR" sz="1600" b="0" dirty="0"/>
            </a:br>
            <a:r>
              <a:rPr lang="en-US" altLang="ko-KR" sz="2000" b="0" dirty="0"/>
              <a:t>7. Template Method </a:t>
            </a:r>
            <a:r>
              <a:rPr lang="en-US" altLang="ko-KR" sz="1600" b="0" dirty="0"/>
              <a:t>(22min)</a:t>
            </a:r>
            <a:br>
              <a:rPr lang="en-US" altLang="ko-KR" sz="1200" b="0" dirty="0"/>
            </a:br>
            <a:br>
              <a:rPr lang="en-US" altLang="ko-KR" sz="1600" b="0" dirty="0"/>
            </a:br>
            <a:r>
              <a:rPr lang="en-US" altLang="ko-KR" sz="1600" dirty="0">
                <a:solidFill>
                  <a:schemeClr val="tx2">
                    <a:lumMod val="40000"/>
                    <a:lumOff val="60000"/>
                  </a:schemeClr>
                </a:solidFill>
              </a:rPr>
              <a:t>[</a:t>
            </a:r>
            <a:r>
              <a:rPr lang="ko-KR" altLang="en-US" sz="1600" dirty="0">
                <a:solidFill>
                  <a:schemeClr val="tx2">
                    <a:lumMod val="40000"/>
                    <a:lumOff val="60000"/>
                  </a:schemeClr>
                </a:solidFill>
              </a:rPr>
              <a:t>추가 학습</a:t>
            </a:r>
            <a:r>
              <a:rPr lang="en-US" altLang="ko-KR" sz="1600" dirty="0">
                <a:solidFill>
                  <a:schemeClr val="tx2">
                    <a:lumMod val="40000"/>
                    <a:lumOff val="60000"/>
                  </a:schemeClr>
                </a:solidFill>
              </a:rPr>
              <a:t>]</a:t>
            </a:r>
            <a:br>
              <a:rPr lang="en-US" altLang="ko-KR" sz="1600" b="0" dirty="0"/>
            </a:br>
            <a:r>
              <a:rPr lang="en-US" altLang="ko-KR" sz="2000" b="0" dirty="0">
                <a:solidFill>
                  <a:schemeClr val="tx2">
                    <a:lumMod val="40000"/>
                    <a:lumOff val="60000"/>
                  </a:schemeClr>
                </a:solidFill>
              </a:rPr>
              <a:t>1. </a:t>
            </a:r>
            <a:r>
              <a:rPr lang="ko-KR" altLang="en-US" sz="2000" b="0" dirty="0">
                <a:solidFill>
                  <a:schemeClr val="tx2">
                    <a:lumMod val="40000"/>
                    <a:lumOff val="60000"/>
                  </a:schemeClr>
                </a:solidFill>
              </a:rPr>
              <a:t>설계패턴 소개 </a:t>
            </a:r>
            <a:r>
              <a:rPr lang="en-US" altLang="ko-KR" sz="1600" b="0" dirty="0">
                <a:solidFill>
                  <a:schemeClr val="tx2">
                    <a:lumMod val="40000"/>
                    <a:lumOff val="60000"/>
                  </a:schemeClr>
                </a:solidFill>
              </a:rPr>
              <a:t>(33min)</a:t>
            </a:r>
            <a:br>
              <a:rPr lang="ko-KR" altLang="en-US" sz="2000" b="0" dirty="0">
                <a:solidFill>
                  <a:schemeClr val="tx2">
                    <a:lumMod val="40000"/>
                    <a:lumOff val="60000"/>
                  </a:schemeClr>
                </a:solidFill>
              </a:rPr>
            </a:br>
            <a:r>
              <a:rPr lang="en-US" altLang="ko-KR" sz="2000" b="0" dirty="0">
                <a:solidFill>
                  <a:schemeClr val="tx2">
                    <a:lumMod val="40000"/>
                    <a:lumOff val="60000"/>
                  </a:schemeClr>
                </a:solidFill>
              </a:rPr>
              <a:t>2. </a:t>
            </a:r>
            <a:r>
              <a:rPr lang="ko-KR" altLang="en-US" sz="2000" b="0" dirty="0">
                <a:solidFill>
                  <a:schemeClr val="tx2">
                    <a:lumMod val="40000"/>
                    <a:lumOff val="60000"/>
                  </a:schemeClr>
                </a:solidFill>
              </a:rPr>
              <a:t>객체지향 패러다임 </a:t>
            </a:r>
            <a:r>
              <a:rPr lang="en-US" altLang="ko-KR" sz="1600" b="0" dirty="0">
                <a:solidFill>
                  <a:schemeClr val="tx2">
                    <a:lumMod val="40000"/>
                    <a:lumOff val="60000"/>
                  </a:schemeClr>
                </a:solidFill>
              </a:rPr>
              <a:t>(69min)</a:t>
            </a:r>
            <a:br>
              <a:rPr lang="ko-KR" altLang="en-US" sz="1600" b="0" dirty="0">
                <a:solidFill>
                  <a:schemeClr val="tx2">
                    <a:lumMod val="40000"/>
                    <a:lumOff val="60000"/>
                  </a:schemeClr>
                </a:solidFill>
              </a:rPr>
            </a:br>
            <a:r>
              <a:rPr lang="en-US" altLang="ko-KR" sz="2000" b="0" dirty="0">
                <a:solidFill>
                  <a:schemeClr val="tx2">
                    <a:lumMod val="40000"/>
                    <a:lumOff val="60000"/>
                  </a:schemeClr>
                </a:solidFill>
              </a:rPr>
              <a:t>4. GRASP Principle </a:t>
            </a:r>
            <a:r>
              <a:rPr lang="en-US" altLang="ko-KR" sz="1600" b="0" dirty="0">
                <a:solidFill>
                  <a:schemeClr val="tx2">
                    <a:lumMod val="40000"/>
                    <a:lumOff val="60000"/>
                  </a:schemeClr>
                </a:solidFill>
              </a:rPr>
              <a:t>(33min)</a:t>
            </a:r>
            <a:br>
              <a:rPr lang="en-US" altLang="ko-KR" sz="1600" b="0" dirty="0">
                <a:solidFill>
                  <a:schemeClr val="tx2">
                    <a:lumMod val="40000"/>
                    <a:lumOff val="60000"/>
                  </a:schemeClr>
                </a:solidFill>
              </a:rPr>
            </a:br>
            <a:br>
              <a:rPr lang="en-US" altLang="ko-KR" sz="1600" b="0" dirty="0"/>
            </a:br>
            <a:r>
              <a:rPr lang="en-US" altLang="ko-KR" sz="1600" b="0" dirty="0"/>
              <a:t>* </a:t>
            </a:r>
            <a:r>
              <a:rPr lang="ko-KR" altLang="en-US" sz="1600" b="0" dirty="0"/>
              <a:t>사전 학습 등 </a:t>
            </a:r>
            <a:r>
              <a:rPr lang="en-US" altLang="ko-KR" sz="1600" b="0" dirty="0"/>
              <a:t>DP</a:t>
            </a:r>
            <a:r>
              <a:rPr lang="ko-KR" altLang="en-US" sz="1600" b="0" dirty="0"/>
              <a:t>에 익숙한 분은 영상 시청 없이 바로 </a:t>
            </a:r>
            <a:r>
              <a:rPr lang="en-US" altLang="ko-KR" sz="1600" b="0" dirty="0"/>
              <a:t>Practice </a:t>
            </a:r>
            <a:r>
              <a:rPr lang="ko-KR" altLang="en-US" sz="1600" b="0" dirty="0"/>
              <a:t>도전</a:t>
            </a:r>
            <a:r>
              <a:rPr lang="en-US" altLang="ko-KR" sz="1600" b="0" dirty="0"/>
              <a:t>!</a:t>
            </a:r>
          </a:p>
        </p:txBody>
      </p:sp>
      <p:sp>
        <p:nvSpPr>
          <p:cNvPr id="5" name="제목 1"/>
          <p:cNvSpPr txBox="1">
            <a:spLocks/>
          </p:cNvSpPr>
          <p:nvPr/>
        </p:nvSpPr>
        <p:spPr>
          <a:xfrm>
            <a:off x="2915816" y="483518"/>
            <a:ext cx="4752528" cy="533895"/>
          </a:xfrm>
          <a:prstGeom prst="rect">
            <a:avLst/>
          </a:prstGeom>
        </p:spPr>
        <p:txBody>
          <a:bodyPr vert="horz" lIns="75927" tIns="37964" rIns="75927" bIns="37964" rtlCol="0" anchor="ctr">
            <a:noAutofit/>
          </a:bodyPr>
          <a:lstStyle>
            <a:lvl1pPr algn="l" defTabSz="914400" rtl="0" eaLnBrk="1" latinLnBrk="1" hangingPunct="1">
              <a:spcBef>
                <a:spcPct val="0"/>
              </a:spcBef>
              <a:buNone/>
              <a:defRPr lang="ko-KR" altLang="en-US" sz="2400" b="1" kern="1200" spc="-100" baseline="0" dirty="0">
                <a:ln>
                  <a:solidFill>
                    <a:srgbClr val="2A2D72">
                      <a:alpha val="5000"/>
                    </a:srgbClr>
                  </a:solidFill>
                </a:ln>
                <a:solidFill>
                  <a:srgbClr val="5974BF"/>
                </a:solidFill>
                <a:latin typeface="+mj-ea"/>
                <a:ea typeface="+mj-ea"/>
                <a:cs typeface="Arial" panose="020B0604020202020204" pitchFamily="34" charset="0"/>
              </a:defRPr>
            </a:lvl1pPr>
          </a:lstStyle>
          <a:p>
            <a:pPr defTabSz="759253"/>
            <a:r>
              <a:rPr lang="en-US" altLang="ko-KR" sz="2800" spc="-150" dirty="0">
                <a:ln>
                  <a:noFill/>
                </a:ln>
                <a:solidFill>
                  <a:srgbClr val="B2CCEC"/>
                </a:solidFill>
                <a:latin typeface="+mn-ea"/>
                <a:ea typeface="+mn-ea"/>
              </a:rPr>
              <a:t>[</a:t>
            </a:r>
            <a:r>
              <a:rPr lang="ko-KR" altLang="en-US" sz="2800" spc="-150" dirty="0">
                <a:ln>
                  <a:noFill/>
                </a:ln>
                <a:solidFill>
                  <a:srgbClr val="B2CCEC"/>
                </a:solidFill>
                <a:latin typeface="+mn-ea"/>
                <a:ea typeface="+mn-ea"/>
              </a:rPr>
              <a:t>온라인 영상 학습</a:t>
            </a:r>
            <a:r>
              <a:rPr lang="en-US" altLang="ko-KR" sz="2800" spc="-150" dirty="0">
                <a:ln>
                  <a:noFill/>
                </a:ln>
                <a:solidFill>
                  <a:srgbClr val="B2CCEC"/>
                </a:solidFill>
                <a:latin typeface="+mn-ea"/>
                <a:ea typeface="+mn-ea"/>
              </a:rPr>
              <a:t>]</a:t>
            </a:r>
            <a:endParaRPr lang="ko-KR" altLang="en-US" sz="2800" spc="-150" dirty="0">
              <a:ln>
                <a:noFill/>
              </a:ln>
              <a:solidFill>
                <a:srgbClr val="B2CCEC"/>
              </a:solidFill>
              <a:latin typeface="+mn-ea"/>
              <a:ea typeface="+mn-ea"/>
            </a:endParaRPr>
          </a:p>
        </p:txBody>
      </p:sp>
      <p:sp>
        <p:nvSpPr>
          <p:cNvPr id="6" name="직사각형 5"/>
          <p:cNvSpPr/>
          <p:nvPr/>
        </p:nvSpPr>
        <p:spPr>
          <a:xfrm>
            <a:off x="395536" y="2283718"/>
            <a:ext cx="1957587" cy="954107"/>
          </a:xfrm>
          <a:prstGeom prst="rect">
            <a:avLst/>
          </a:prstGeom>
        </p:spPr>
        <p:txBody>
          <a:bodyPr wrap="none">
            <a:spAutoFit/>
          </a:bodyPr>
          <a:lstStyle/>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Behavioral </a:t>
            </a:r>
          </a:p>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Patterns</a:t>
            </a:r>
            <a:endParaRPr lang="ko-KR" altLang="en-US" sz="2800" b="1" spc="-100" dirty="0">
              <a:ln>
                <a:solidFill>
                  <a:srgbClr val="2A2D72">
                    <a:alpha val="5000"/>
                  </a:srgbClr>
                </a:solidFill>
              </a:ln>
              <a:solidFill>
                <a:srgbClr val="5974BF"/>
              </a:solidFill>
              <a:latin typeface="+mj-ea"/>
              <a:ea typeface="+mj-ea"/>
              <a:cs typeface="Arial" panose="020B0604020202020204" pitchFamily="34" charset="0"/>
            </a:endParaRPr>
          </a:p>
        </p:txBody>
      </p:sp>
    </p:spTree>
    <p:extLst>
      <p:ext uri="{BB962C8B-B14F-4D97-AF65-F5344CB8AC3E}">
        <p14:creationId xmlns:p14="http://schemas.microsoft.com/office/powerpoint/2010/main" val="18635643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2928428" y="1821831"/>
            <a:ext cx="5604012" cy="2190079"/>
          </a:xfrm>
        </p:spPr>
        <p:txBody>
          <a:bodyPr>
            <a:noAutofit/>
          </a:bodyPr>
          <a:lstStyle/>
          <a:p>
            <a:r>
              <a:rPr lang="en-US" altLang="ko-KR" sz="3600" dirty="0"/>
              <a:t>Object Composition</a:t>
            </a:r>
            <a:br>
              <a:rPr lang="en-US" altLang="ko-KR" sz="3600" dirty="0"/>
            </a:br>
            <a:r>
              <a:rPr lang="en-US" altLang="ko-KR" sz="3600" dirty="0"/>
              <a:t>and Delegation </a:t>
            </a:r>
          </a:p>
        </p:txBody>
      </p:sp>
      <p:sp>
        <p:nvSpPr>
          <p:cNvPr id="5" name="제목 1"/>
          <p:cNvSpPr txBox="1">
            <a:spLocks/>
          </p:cNvSpPr>
          <p:nvPr/>
        </p:nvSpPr>
        <p:spPr>
          <a:xfrm>
            <a:off x="2915816" y="1203598"/>
            <a:ext cx="2376264" cy="533895"/>
          </a:xfrm>
          <a:prstGeom prst="rect">
            <a:avLst/>
          </a:prstGeom>
        </p:spPr>
        <p:txBody>
          <a:bodyPr vert="horz" lIns="75927" tIns="37964" rIns="75927" bIns="37964" rtlCol="0" anchor="ctr">
            <a:noAutofit/>
          </a:bodyPr>
          <a:lstStyle>
            <a:lvl1pPr algn="l" defTabSz="914400" rtl="0" eaLnBrk="1" latinLnBrk="1" hangingPunct="1">
              <a:spcBef>
                <a:spcPct val="0"/>
              </a:spcBef>
              <a:buNone/>
              <a:defRPr lang="ko-KR" altLang="en-US" sz="2400" b="1" kern="1200" spc="-100" baseline="0" dirty="0">
                <a:ln>
                  <a:solidFill>
                    <a:srgbClr val="2A2D72">
                      <a:alpha val="5000"/>
                    </a:srgbClr>
                  </a:solidFill>
                </a:ln>
                <a:solidFill>
                  <a:srgbClr val="5974BF"/>
                </a:solidFill>
                <a:latin typeface="+mj-ea"/>
                <a:ea typeface="+mj-ea"/>
                <a:cs typeface="Arial" panose="020B0604020202020204" pitchFamily="34" charset="0"/>
              </a:defRPr>
            </a:lvl1pPr>
          </a:lstStyle>
          <a:p>
            <a:pPr defTabSz="759272"/>
            <a:r>
              <a:rPr lang="en-US" altLang="ko-KR" sz="2800" spc="-150" dirty="0">
                <a:ln>
                  <a:noFill/>
                </a:ln>
                <a:solidFill>
                  <a:srgbClr val="B2CCEC"/>
                </a:solidFill>
                <a:latin typeface="+mn-ea"/>
                <a:ea typeface="+mn-ea"/>
              </a:rPr>
              <a:t>01</a:t>
            </a:r>
            <a:endParaRPr lang="ko-KR" altLang="en-US" sz="2800" spc="-150" dirty="0">
              <a:ln>
                <a:noFill/>
              </a:ln>
              <a:solidFill>
                <a:srgbClr val="B2CCEC"/>
              </a:solidFill>
              <a:latin typeface="+mn-ea"/>
              <a:ea typeface="+mn-ea"/>
            </a:endParaRPr>
          </a:p>
        </p:txBody>
      </p:sp>
      <p:sp>
        <p:nvSpPr>
          <p:cNvPr id="7" name="직사각형 6"/>
          <p:cNvSpPr/>
          <p:nvPr/>
        </p:nvSpPr>
        <p:spPr>
          <a:xfrm>
            <a:off x="395536" y="2283718"/>
            <a:ext cx="1957587" cy="954107"/>
          </a:xfrm>
          <a:prstGeom prst="rect">
            <a:avLst/>
          </a:prstGeom>
        </p:spPr>
        <p:txBody>
          <a:bodyPr wrap="none">
            <a:spAutoFit/>
          </a:bodyPr>
          <a:lstStyle/>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Behavioral </a:t>
            </a:r>
          </a:p>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Patterns</a:t>
            </a:r>
            <a:endParaRPr lang="ko-KR" altLang="en-US" sz="2800" b="1" spc="-100" dirty="0">
              <a:ln>
                <a:solidFill>
                  <a:srgbClr val="2A2D72">
                    <a:alpha val="5000"/>
                  </a:srgbClr>
                </a:solidFill>
              </a:ln>
              <a:solidFill>
                <a:srgbClr val="5974BF"/>
              </a:solidFill>
              <a:latin typeface="+mj-ea"/>
              <a:ea typeface="+mj-ea"/>
              <a:cs typeface="Arial" panose="020B0604020202020204" pitchFamily="34" charset="0"/>
            </a:endParaRPr>
          </a:p>
        </p:txBody>
      </p:sp>
    </p:spTree>
    <p:extLst>
      <p:ext uri="{BB962C8B-B14F-4D97-AF65-F5344CB8AC3E}">
        <p14:creationId xmlns:p14="http://schemas.microsoft.com/office/powerpoint/2010/main" val="1858125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Composition and Delegation </a:t>
            </a:r>
            <a:endParaRPr lang="ko-KR" altLang="en-US" spc="0" dirty="0"/>
          </a:p>
        </p:txBody>
      </p:sp>
      <p:pic>
        <p:nvPicPr>
          <p:cNvPr id="7" name="그림 6"/>
          <p:cNvPicPr>
            <a:picLocks noChangeAspect="1"/>
          </p:cNvPicPr>
          <p:nvPr/>
        </p:nvPicPr>
        <p:blipFill rotWithShape="1">
          <a:blip r:embed="rId3"/>
          <a:stretch>
            <a:fillRect/>
          </a:stretch>
        </p:blipFill>
        <p:spPr>
          <a:xfrm>
            <a:off x="434565" y="1924997"/>
            <a:ext cx="4281451" cy="3095024"/>
          </a:xfrm>
          <a:prstGeom prst="rect">
            <a:avLst/>
          </a:prstGeom>
        </p:spPr>
      </p:pic>
      <p:sp>
        <p:nvSpPr>
          <p:cNvPr id="8" name="직사각형 7"/>
          <p:cNvSpPr/>
          <p:nvPr/>
        </p:nvSpPr>
        <p:spPr>
          <a:xfrm>
            <a:off x="251520" y="771550"/>
            <a:ext cx="5545455" cy="338554"/>
          </a:xfrm>
          <a:prstGeom prst="rect">
            <a:avLst/>
          </a:prstGeom>
          <a:noFill/>
          <a:ln>
            <a:noFill/>
          </a:ln>
        </p:spPr>
        <p:txBody>
          <a:bodyPr wrap="square">
            <a:spAutoFit/>
          </a:bodyPr>
          <a:lstStyle/>
          <a:p>
            <a:pPr algn="l">
              <a:defRPr/>
            </a:pPr>
            <a:r>
              <a:rPr sz="1600" b="1" dirty="0">
                <a:solidFill>
                  <a:srgbClr val="2A2D72"/>
                </a:solidFill>
                <a:latin typeface="+mj-lt"/>
              </a:rPr>
              <a:t>Design Principle</a:t>
            </a:r>
            <a:r>
              <a:rPr sz="1600" b="0" i="0" strike="noStrike" dirty="0">
                <a:solidFill>
                  <a:srgbClr val="000000">
                    <a:alpha val="100000"/>
                  </a:srgbClr>
                </a:solidFill>
                <a:latin typeface="+mj-lt"/>
                <a:ea typeface="굴림"/>
              </a:rPr>
              <a:t>: Favor composition over inheritance</a:t>
            </a:r>
          </a:p>
        </p:txBody>
      </p:sp>
      <p:sp>
        <p:nvSpPr>
          <p:cNvPr id="9" name="TextBox 8"/>
          <p:cNvSpPr txBox="1"/>
          <p:nvPr/>
        </p:nvSpPr>
        <p:spPr>
          <a:xfrm>
            <a:off x="279747" y="1213587"/>
            <a:ext cx="5517228" cy="523220"/>
          </a:xfrm>
          <a:prstGeom prst="rect">
            <a:avLst/>
          </a:prstGeom>
        </p:spPr>
        <p:txBody>
          <a:bodyPr wrap="square">
            <a:spAutoFit/>
          </a:bodyPr>
          <a:lstStyle/>
          <a:p>
            <a:pPr marL="257040" indent="-257040">
              <a:buFont typeface="Arial"/>
              <a:buChar char="•"/>
              <a:defRPr/>
            </a:pPr>
            <a:r>
              <a:rPr lang="ko-KR" altLang="en-US" sz="1400" dirty="0">
                <a:latin typeface="+mj-lt"/>
              </a:rPr>
              <a:t>달라지는 부분을 캡슐화</a:t>
            </a:r>
          </a:p>
          <a:p>
            <a:pPr marL="257040" indent="-257040">
              <a:buFont typeface="Arial"/>
              <a:buChar char="•"/>
              <a:defRPr/>
            </a:pPr>
            <a:r>
              <a:rPr lang="ko-KR" altLang="en-US" sz="1400" dirty="0">
                <a:latin typeface="+mj-lt"/>
              </a:rPr>
              <a:t>구현보다는 </a:t>
            </a:r>
            <a:r>
              <a:rPr lang="ko-KR" altLang="en-US" sz="1400" b="1" dirty="0">
                <a:solidFill>
                  <a:srgbClr val="2A2D72"/>
                </a:solidFill>
                <a:latin typeface="+mj-lt"/>
              </a:rPr>
              <a:t>인터페이스</a:t>
            </a:r>
            <a:r>
              <a:rPr lang="ko-KR" altLang="en-US" sz="1400" dirty="0">
                <a:latin typeface="+mj-lt"/>
              </a:rPr>
              <a:t>에 맞춰서 프로그래밍</a:t>
            </a:r>
          </a:p>
        </p:txBody>
      </p:sp>
      <p:sp>
        <p:nvSpPr>
          <p:cNvPr id="6" name="직사각형 5">
            <a:extLst>
              <a:ext uri="{FF2B5EF4-FFF2-40B4-BE49-F238E27FC236}">
                <a16:creationId xmlns:a16="http://schemas.microsoft.com/office/drawing/2014/main" id="{B12287BC-2809-C128-0C9D-2C661B1DF342}"/>
              </a:ext>
            </a:extLst>
          </p:cNvPr>
          <p:cNvSpPr/>
          <p:nvPr/>
        </p:nvSpPr>
        <p:spPr>
          <a:xfrm>
            <a:off x="5724128" y="2571750"/>
            <a:ext cx="1812812" cy="1292486"/>
          </a:xfrm>
          <a:prstGeom prst="rect">
            <a:avLst/>
          </a:prstGeom>
          <a:solidFill>
            <a:schemeClr val="bg1">
              <a:lumMod val="8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rPr>
              <a:t>public abstract class Duck {</a:t>
            </a:r>
          </a:p>
          <a:p>
            <a:endParaRPr lang="en-US" altLang="ko-KR" sz="800" dirty="0">
              <a:solidFill>
                <a:schemeClr val="tx1"/>
              </a:solidFill>
            </a:endParaRPr>
          </a:p>
          <a:p>
            <a:r>
              <a:rPr lang="en-US" altLang="ko-KR" sz="800" dirty="0">
                <a:solidFill>
                  <a:schemeClr val="tx1"/>
                </a:solidFill>
              </a:rPr>
              <a:t>   public Duck() {</a:t>
            </a:r>
          </a:p>
          <a:p>
            <a:r>
              <a:rPr lang="en-US" altLang="ko-KR" sz="800" dirty="0">
                <a:solidFill>
                  <a:schemeClr val="tx1"/>
                </a:solidFill>
              </a:rPr>
              <a:t>   }</a:t>
            </a:r>
          </a:p>
          <a:p>
            <a:endParaRPr lang="en-US" altLang="ko-KR" sz="800" dirty="0">
              <a:solidFill>
                <a:schemeClr val="tx1"/>
              </a:solidFill>
            </a:endParaRPr>
          </a:p>
          <a:p>
            <a:r>
              <a:rPr lang="en-US" altLang="ko-KR" sz="800" dirty="0">
                <a:solidFill>
                  <a:schemeClr val="tx1"/>
                </a:solidFill>
              </a:rPr>
              <a:t>   abstract void display();</a:t>
            </a:r>
          </a:p>
          <a:p>
            <a:r>
              <a:rPr lang="en-US" altLang="ko-KR" sz="800" dirty="0">
                <a:solidFill>
                  <a:schemeClr val="tx1"/>
                </a:solidFill>
              </a:rPr>
              <a:t>   abstract void </a:t>
            </a:r>
            <a:r>
              <a:rPr lang="en-US" altLang="ko-KR" sz="800" dirty="0" err="1">
                <a:solidFill>
                  <a:schemeClr val="tx1"/>
                </a:solidFill>
              </a:rPr>
              <a:t>performFly</a:t>
            </a:r>
            <a:r>
              <a:rPr lang="en-US" altLang="ko-KR" sz="800" dirty="0">
                <a:solidFill>
                  <a:schemeClr val="tx1"/>
                </a:solidFill>
              </a:rPr>
              <a:t>();</a:t>
            </a:r>
          </a:p>
          <a:p>
            <a:r>
              <a:rPr lang="en-US" altLang="ko-KR" sz="800" dirty="0">
                <a:solidFill>
                  <a:schemeClr val="tx1"/>
                </a:solidFill>
              </a:rPr>
              <a:t>   abstract void </a:t>
            </a:r>
            <a:r>
              <a:rPr lang="en-US" altLang="ko-KR" sz="800" dirty="0" err="1">
                <a:solidFill>
                  <a:schemeClr val="tx1"/>
                </a:solidFill>
              </a:rPr>
              <a:t>performQuack</a:t>
            </a:r>
            <a:r>
              <a:rPr lang="en-US" altLang="ko-KR" sz="800" dirty="0">
                <a:solidFill>
                  <a:schemeClr val="tx1"/>
                </a:solidFill>
              </a:rPr>
              <a:t>();</a:t>
            </a:r>
          </a:p>
          <a:p>
            <a:r>
              <a:rPr lang="en-US" altLang="ko-KR" sz="800" dirty="0">
                <a:solidFill>
                  <a:schemeClr val="tx1"/>
                </a:solidFill>
              </a:rPr>
              <a:t>}</a:t>
            </a:r>
            <a:endParaRPr lang="ko-KR" altLang="en-US" sz="800" dirty="0">
              <a:solidFill>
                <a:schemeClr val="tx1"/>
              </a:solidFill>
            </a:endParaRPr>
          </a:p>
        </p:txBody>
      </p:sp>
      <p:sp>
        <p:nvSpPr>
          <p:cNvPr id="10" name="직사각형 9">
            <a:extLst>
              <a:ext uri="{FF2B5EF4-FFF2-40B4-BE49-F238E27FC236}">
                <a16:creationId xmlns:a16="http://schemas.microsoft.com/office/drawing/2014/main" id="{EE3200F6-8143-DEE7-8804-50655E584067}"/>
              </a:ext>
            </a:extLst>
          </p:cNvPr>
          <p:cNvSpPr/>
          <p:nvPr/>
        </p:nvSpPr>
        <p:spPr>
          <a:xfrm>
            <a:off x="5292080" y="3064104"/>
            <a:ext cx="325730" cy="307777"/>
          </a:xfrm>
          <a:prstGeom prst="rect">
            <a:avLst/>
          </a:prstGeom>
        </p:spPr>
        <p:txBody>
          <a:bodyPr wrap="none">
            <a:spAutoFit/>
          </a:bodyPr>
          <a:lstStyle/>
          <a:p>
            <a:r>
              <a:rPr lang="en-US" altLang="ko-KR" sz="1400" spc="-100" dirty="0">
                <a:ln>
                  <a:solidFill>
                    <a:srgbClr val="5B9BD5">
                      <a:alpha val="0"/>
                    </a:srgbClr>
                  </a:solidFill>
                </a:ln>
                <a:solidFill>
                  <a:srgbClr val="4156BD"/>
                </a:solidFill>
                <a:cs typeface="Arial" panose="020B0604020202020204" pitchFamily="34" charset="0"/>
              </a:rPr>
              <a:t>vs</a:t>
            </a:r>
            <a:endParaRPr lang="ko-KR" altLang="en-US" sz="1400" dirty="0"/>
          </a:p>
        </p:txBody>
      </p:sp>
      <p:sp>
        <p:nvSpPr>
          <p:cNvPr id="11" name="직사각형 10">
            <a:extLst>
              <a:ext uri="{FF2B5EF4-FFF2-40B4-BE49-F238E27FC236}">
                <a16:creationId xmlns:a16="http://schemas.microsoft.com/office/drawing/2014/main" id="{074B6E9B-B63C-AA68-1305-568B008D784D}"/>
              </a:ext>
            </a:extLst>
          </p:cNvPr>
          <p:cNvSpPr/>
          <p:nvPr/>
        </p:nvSpPr>
        <p:spPr>
          <a:xfrm>
            <a:off x="7884368" y="915566"/>
            <a:ext cx="864096" cy="216024"/>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050" b="1" dirty="0">
                <a:solidFill>
                  <a:schemeClr val="tx1"/>
                </a:solidFill>
              </a:rPr>
              <a:t>코드 설명</a:t>
            </a:r>
          </a:p>
        </p:txBody>
      </p:sp>
    </p:spTree>
    <p:extLst>
      <p:ext uri="{BB962C8B-B14F-4D97-AF65-F5344CB8AC3E}">
        <p14:creationId xmlns:p14="http://schemas.microsoft.com/office/powerpoint/2010/main" val="678615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FA9EA7A6-A1C5-482A-B3C2-DB460023BA0F}"/>
              </a:ext>
            </a:extLst>
          </p:cNvPr>
          <p:cNvPicPr>
            <a:picLocks noChangeAspect="1"/>
          </p:cNvPicPr>
          <p:nvPr/>
        </p:nvPicPr>
        <p:blipFill>
          <a:blip r:embed="rId2"/>
          <a:stretch>
            <a:fillRect/>
          </a:stretch>
        </p:blipFill>
        <p:spPr>
          <a:xfrm>
            <a:off x="4916039" y="2283718"/>
            <a:ext cx="4227961" cy="2902779"/>
          </a:xfrm>
          <a:prstGeom prst="rect">
            <a:avLst/>
          </a:prstGeom>
        </p:spPr>
      </p:pic>
      <p:sp>
        <p:nvSpPr>
          <p:cNvPr id="2" name="내용 개체 틀 1"/>
          <p:cNvSpPr>
            <a:spLocks noGrp="1"/>
          </p:cNvSpPr>
          <p:nvPr>
            <p:ph idx="1"/>
          </p:nvPr>
        </p:nvSpPr>
        <p:spPr>
          <a:xfrm>
            <a:off x="249559" y="1470069"/>
            <a:ext cx="8712968" cy="3045897"/>
          </a:xfrm>
        </p:spPr>
        <p:txBody>
          <a:bodyPr>
            <a:normAutofit/>
          </a:bodyPr>
          <a:lstStyle/>
          <a:p>
            <a:pPr marL="91463" indent="0">
              <a:lnSpc>
                <a:spcPct val="90000"/>
              </a:lnSpc>
              <a:buNone/>
            </a:pPr>
            <a:r>
              <a:rPr lang="en-US" altLang="ko-KR" sz="1400" b="1" u="sng" spc="0" dirty="0"/>
              <a:t>Worker</a:t>
            </a:r>
            <a:r>
              <a:rPr lang="ko-KR" altLang="en-US" sz="1400" b="1" u="sng" spc="0" dirty="0"/>
              <a:t> 연봉 관리 기능 확장</a:t>
            </a:r>
          </a:p>
          <a:p>
            <a:pPr marL="91463" indent="0">
              <a:lnSpc>
                <a:spcPct val="90000"/>
              </a:lnSpc>
              <a:buNone/>
            </a:pPr>
            <a:r>
              <a:rPr lang="en-US" altLang="ko-KR" sz="1200" spc="0" dirty="0"/>
              <a:t>(1) Worker</a:t>
            </a:r>
            <a:r>
              <a:rPr lang="ko-KR" altLang="en-US" sz="1200" spc="0" dirty="0"/>
              <a:t>의 직책을 구분할 수 있도록 </a:t>
            </a:r>
            <a:r>
              <a:rPr lang="ko-KR" altLang="en-US" sz="1200" b="1" spc="0" dirty="0">
                <a:solidFill>
                  <a:srgbClr val="0066FF"/>
                </a:solidFill>
              </a:rPr>
              <a:t>①</a:t>
            </a:r>
            <a:r>
              <a:rPr lang="ko-KR" altLang="en-US" sz="1200" spc="0" dirty="0"/>
              <a:t> </a:t>
            </a:r>
            <a:r>
              <a:rPr lang="en-US" altLang="ko-KR" sz="1200" b="1" spc="0" dirty="0" err="1">
                <a:solidFill>
                  <a:srgbClr val="0066FF"/>
                </a:solidFill>
              </a:rPr>
              <a:t>EmployeeType</a:t>
            </a:r>
            <a:r>
              <a:rPr lang="en-US" altLang="ko-KR" sz="1200" b="1" spc="0" dirty="0">
                <a:solidFill>
                  <a:srgbClr val="0066FF"/>
                </a:solidFill>
              </a:rPr>
              <a:t> </a:t>
            </a:r>
            <a:r>
              <a:rPr lang="ko-KR" altLang="en-US" sz="1200" b="1" spc="0" dirty="0">
                <a:solidFill>
                  <a:srgbClr val="0066FF"/>
                </a:solidFill>
              </a:rPr>
              <a:t>추가</a:t>
            </a:r>
            <a:endParaRPr lang="en-US" altLang="ko-KR" sz="1200" b="1" spc="0" dirty="0">
              <a:solidFill>
                <a:srgbClr val="0066FF"/>
              </a:solidFill>
            </a:endParaRPr>
          </a:p>
          <a:p>
            <a:pPr lvl="1">
              <a:lnSpc>
                <a:spcPct val="90000"/>
              </a:lnSpc>
            </a:pPr>
            <a:r>
              <a:rPr lang="en-US" altLang="ko-KR" sz="1200" spc="0" dirty="0" err="1"/>
              <a:t>EmployeeType</a:t>
            </a:r>
            <a:r>
              <a:rPr lang="ko-KR" altLang="en-US" sz="1200" spc="0" dirty="0"/>
              <a:t>에는 </a:t>
            </a:r>
            <a:r>
              <a:rPr lang="ko-KR" altLang="en-US" sz="1200" b="1" spc="0" dirty="0">
                <a:solidFill>
                  <a:srgbClr val="0066FF"/>
                </a:solidFill>
              </a:rPr>
              <a:t>② </a:t>
            </a:r>
            <a:r>
              <a:rPr lang="en-US" altLang="ko-KR" sz="1200" b="1" spc="0" dirty="0">
                <a:solidFill>
                  <a:srgbClr val="0066FF"/>
                </a:solidFill>
              </a:rPr>
              <a:t>Regular </a:t>
            </a:r>
            <a:r>
              <a:rPr lang="ko-KR" altLang="en-US" sz="1200" b="1" spc="0" dirty="0">
                <a:solidFill>
                  <a:srgbClr val="0066FF"/>
                </a:solidFill>
              </a:rPr>
              <a:t>와 </a:t>
            </a:r>
            <a:r>
              <a:rPr lang="en-US" altLang="ko-KR" sz="1200" b="1" spc="0" dirty="0">
                <a:solidFill>
                  <a:srgbClr val="0066FF"/>
                </a:solidFill>
              </a:rPr>
              <a:t>Manager </a:t>
            </a:r>
            <a:r>
              <a:rPr lang="ko-KR" altLang="en-US" sz="1200" spc="0" dirty="0"/>
              <a:t>가 있음</a:t>
            </a:r>
            <a:endParaRPr lang="en-US" altLang="ko-KR" sz="1200" spc="0" dirty="0"/>
          </a:p>
          <a:p>
            <a:pPr lvl="1">
              <a:lnSpc>
                <a:spcPct val="90000"/>
              </a:lnSpc>
            </a:pPr>
            <a:r>
              <a:rPr lang="ko-KR" altLang="en-US" sz="1200" b="1" spc="0" dirty="0">
                <a:solidFill>
                  <a:srgbClr val="0066FF"/>
                </a:solidFill>
              </a:rPr>
              <a:t>③ 추후 </a:t>
            </a:r>
            <a:r>
              <a:rPr lang="en-US" altLang="ko-KR" sz="1200" b="1" spc="0" dirty="0" err="1">
                <a:solidFill>
                  <a:srgbClr val="0066FF"/>
                </a:solidFill>
              </a:rPr>
              <a:t>EmployeeType</a:t>
            </a:r>
            <a:r>
              <a:rPr lang="ko-KR" altLang="en-US" sz="1200" b="1" spc="0" dirty="0">
                <a:solidFill>
                  <a:srgbClr val="0066FF"/>
                </a:solidFill>
              </a:rPr>
              <a:t>이 추가 될 수 있음을 고려하여 설계할 것</a:t>
            </a:r>
          </a:p>
          <a:p>
            <a:pPr marL="91463" indent="0">
              <a:lnSpc>
                <a:spcPct val="90000"/>
              </a:lnSpc>
              <a:buNone/>
            </a:pPr>
            <a:r>
              <a:rPr lang="en-US" altLang="ko-KR" sz="1200" spc="0" dirty="0"/>
              <a:t>(2) </a:t>
            </a:r>
            <a:r>
              <a:rPr lang="ko-KR" altLang="en-US" sz="1200" spc="0" dirty="0"/>
              <a:t>각 </a:t>
            </a:r>
            <a:r>
              <a:rPr lang="ko-KR" altLang="en-US" sz="1200" b="1" spc="0" dirty="0">
                <a:solidFill>
                  <a:srgbClr val="0066FF"/>
                </a:solidFill>
              </a:rPr>
              <a:t>④ </a:t>
            </a:r>
            <a:r>
              <a:rPr lang="en-US" altLang="ko-KR" sz="1200" b="1" spc="0" dirty="0">
                <a:solidFill>
                  <a:srgbClr val="0066FF"/>
                </a:solidFill>
              </a:rPr>
              <a:t>Worker </a:t>
            </a:r>
            <a:r>
              <a:rPr lang="ko-KR" altLang="en-US" sz="1200" b="1" spc="0" dirty="0">
                <a:solidFill>
                  <a:srgbClr val="0066FF"/>
                </a:solidFill>
              </a:rPr>
              <a:t>인스턴스의 </a:t>
            </a:r>
            <a:r>
              <a:rPr lang="en-US" altLang="ko-KR" sz="1200" b="1" spc="0" dirty="0" err="1">
                <a:solidFill>
                  <a:srgbClr val="0066FF"/>
                </a:solidFill>
              </a:rPr>
              <a:t>EmployeeType</a:t>
            </a:r>
            <a:r>
              <a:rPr lang="ko-KR" altLang="en-US" sz="1200" b="1" spc="0" dirty="0">
                <a:solidFill>
                  <a:srgbClr val="0066FF"/>
                </a:solidFill>
              </a:rPr>
              <a:t>을 동적으로 변경하는 </a:t>
            </a:r>
            <a:r>
              <a:rPr lang="en-US" altLang="ko-KR" sz="1200" b="1" spc="0" dirty="0">
                <a:solidFill>
                  <a:srgbClr val="0066FF"/>
                </a:solidFill>
              </a:rPr>
              <a:t>API</a:t>
            </a:r>
            <a:r>
              <a:rPr lang="ko-KR" altLang="en-US" sz="1200" spc="0" dirty="0"/>
              <a:t>를 제공해야 함</a:t>
            </a:r>
          </a:p>
          <a:p>
            <a:pPr marL="91463" indent="0">
              <a:buNone/>
            </a:pPr>
            <a:r>
              <a:rPr lang="en-US" altLang="ko-KR" sz="1200" spc="0" dirty="0"/>
              <a:t>(3) </a:t>
            </a:r>
            <a:r>
              <a:rPr lang="ko-KR" altLang="en-US" sz="1200" b="1" spc="0" dirty="0">
                <a:solidFill>
                  <a:srgbClr val="0066FF"/>
                </a:solidFill>
              </a:rPr>
              <a:t>⑤ </a:t>
            </a:r>
            <a:r>
              <a:rPr lang="en-US" altLang="ko-KR" sz="1200" b="1" spc="0" dirty="0" err="1">
                <a:solidFill>
                  <a:srgbClr val="0066FF"/>
                </a:solidFill>
              </a:rPr>
              <a:t>increaseSalary</a:t>
            </a:r>
            <a:r>
              <a:rPr lang="en-US" altLang="ko-KR" sz="1200" b="1" spc="0" dirty="0">
                <a:solidFill>
                  <a:srgbClr val="0066FF"/>
                </a:solidFill>
              </a:rPr>
              <a:t>(double rate)</a:t>
            </a:r>
            <a:r>
              <a:rPr lang="ko-KR" altLang="en-US" sz="1200" spc="0" dirty="0"/>
              <a:t>는 </a:t>
            </a:r>
            <a:r>
              <a:rPr lang="en-US" altLang="ko-KR" sz="1200" spc="0" dirty="0"/>
              <a:t>Worker</a:t>
            </a:r>
            <a:r>
              <a:rPr lang="ko-KR" altLang="en-US" sz="1200" spc="0" dirty="0"/>
              <a:t>의 </a:t>
            </a:r>
            <a:r>
              <a:rPr lang="en-US" altLang="ko-KR" sz="1200" spc="0" dirty="0" err="1"/>
              <a:t>EmployeeType</a:t>
            </a:r>
            <a:r>
              <a:rPr lang="ko-KR" altLang="en-US" sz="1200" spc="0" dirty="0"/>
              <a:t>에 따라 다르게 동작</a:t>
            </a:r>
          </a:p>
          <a:p>
            <a:pPr marL="91463" indent="0">
              <a:lnSpc>
                <a:spcPct val="80000"/>
              </a:lnSpc>
              <a:buNone/>
            </a:pPr>
            <a:r>
              <a:rPr lang="en-US" altLang="ko-KR" sz="1200" spc="0" dirty="0"/>
              <a:t>   - Manager : </a:t>
            </a:r>
            <a:r>
              <a:rPr lang="ko-KR" altLang="en-US" sz="1200" spc="0" dirty="0"/>
              <a:t>기존 봉급에 </a:t>
            </a:r>
            <a:r>
              <a:rPr lang="en-US" altLang="ko-KR" sz="1200" spc="0" dirty="0"/>
              <a:t>$10</a:t>
            </a:r>
            <a:r>
              <a:rPr lang="ko-KR" altLang="en-US" sz="1200" spc="0" dirty="0"/>
              <a:t>를 우선 더하고</a:t>
            </a:r>
            <a:r>
              <a:rPr lang="en-US" altLang="ko-KR" sz="1200" spc="0" dirty="0"/>
              <a:t>, </a:t>
            </a:r>
            <a:r>
              <a:rPr lang="ko-KR" altLang="en-US" sz="1200" spc="0" dirty="0"/>
              <a:t>증가된 봉급에 </a:t>
            </a:r>
            <a:r>
              <a:rPr lang="en-US" altLang="ko-KR" sz="1200" spc="0" dirty="0"/>
              <a:t>rate </a:t>
            </a:r>
            <a:r>
              <a:rPr lang="ko-KR" altLang="en-US" sz="1200" spc="0" dirty="0"/>
              <a:t>만큼 인상</a:t>
            </a:r>
          </a:p>
          <a:p>
            <a:pPr marL="91463" indent="0">
              <a:lnSpc>
                <a:spcPct val="80000"/>
              </a:lnSpc>
              <a:buNone/>
            </a:pPr>
            <a:r>
              <a:rPr lang="en-US" altLang="ko-KR" sz="1200" spc="0" dirty="0"/>
              <a:t>   - Regular : </a:t>
            </a:r>
            <a:r>
              <a:rPr lang="ko-KR" altLang="en-US" sz="1200" spc="0" dirty="0"/>
              <a:t>기존 봉급에 </a:t>
            </a:r>
            <a:r>
              <a:rPr lang="en-US" altLang="ko-KR" sz="1200" spc="0" dirty="0"/>
              <a:t>rate </a:t>
            </a:r>
            <a:r>
              <a:rPr lang="ko-KR" altLang="en-US" sz="1200" spc="0" dirty="0"/>
              <a:t>만큼 인상</a:t>
            </a:r>
            <a:endParaRPr lang="en-US" altLang="ko-KR" sz="1400" spc="0" dirty="0"/>
          </a:p>
          <a:p>
            <a:pPr marL="91463" indent="0">
              <a:lnSpc>
                <a:spcPct val="80000"/>
              </a:lnSpc>
              <a:buNone/>
            </a:pPr>
            <a:r>
              <a:rPr lang="en-US" altLang="ko-KR" sz="1200" spc="0" dirty="0"/>
              <a:t>(4) </a:t>
            </a:r>
            <a:r>
              <a:rPr lang="ko-KR" altLang="en-US" sz="1200" b="1" spc="0" dirty="0">
                <a:solidFill>
                  <a:srgbClr val="0066FF"/>
                </a:solidFill>
              </a:rPr>
              <a:t>추가된 연봉 관리 기능 </a:t>
            </a:r>
            <a:r>
              <a:rPr lang="en-US" altLang="ko-KR" sz="1200" b="1" spc="0" dirty="0">
                <a:solidFill>
                  <a:srgbClr val="0066FF"/>
                </a:solidFill>
              </a:rPr>
              <a:t>Test </a:t>
            </a:r>
          </a:p>
          <a:p>
            <a:pPr lvl="1">
              <a:lnSpc>
                <a:spcPct val="80000"/>
              </a:lnSpc>
            </a:pPr>
            <a:r>
              <a:rPr lang="en-US" altLang="ko-KR" sz="1200" spc="0" dirty="0"/>
              <a:t>Main </a:t>
            </a:r>
            <a:r>
              <a:rPr lang="ko-KR" altLang="en-US" sz="1200" spc="0" dirty="0"/>
              <a:t>클래스의 </a:t>
            </a:r>
            <a:r>
              <a:rPr lang="en-US" altLang="ko-KR" sz="1200" spc="0" dirty="0"/>
              <a:t>main() </a:t>
            </a:r>
            <a:r>
              <a:rPr lang="ko-KR" altLang="en-US" sz="1200" spc="0" dirty="0" err="1"/>
              <a:t>메소드</a:t>
            </a:r>
            <a:r>
              <a:rPr lang="ko-KR" altLang="en-US" sz="1200" spc="0" dirty="0"/>
              <a:t> 주석 부분 해제 동작 확인</a:t>
            </a:r>
          </a:p>
          <a:p>
            <a:pPr marL="91463" indent="0">
              <a:lnSpc>
                <a:spcPct val="80000"/>
              </a:lnSpc>
              <a:buNone/>
            </a:pPr>
            <a:endParaRPr lang="en-US" altLang="ko-KR" sz="1400" spc="0" dirty="0"/>
          </a:p>
          <a:p>
            <a:pPr marL="91463" indent="0">
              <a:lnSpc>
                <a:spcPct val="80000"/>
              </a:lnSpc>
              <a:buNone/>
            </a:pPr>
            <a:endParaRPr lang="ko-KR" altLang="en-US" sz="1400" spc="0" dirty="0"/>
          </a:p>
        </p:txBody>
      </p:sp>
      <p:sp>
        <p:nvSpPr>
          <p:cNvPr id="3" name="제목 2"/>
          <p:cNvSpPr>
            <a:spLocks noGrp="1"/>
          </p:cNvSpPr>
          <p:nvPr>
            <p:ph type="title"/>
          </p:nvPr>
        </p:nvSpPr>
        <p:spPr/>
        <p:txBody>
          <a:bodyPr/>
          <a:lstStyle/>
          <a:p>
            <a:r>
              <a:rPr lang="en-US" altLang="ko-KR" spc="0" dirty="0"/>
              <a:t>[Practice 1] Delegation</a:t>
            </a:r>
            <a:endParaRPr lang="ko-KR" altLang="en-US" spc="0" dirty="0"/>
          </a:p>
        </p:txBody>
      </p:sp>
      <p:sp>
        <p:nvSpPr>
          <p:cNvPr id="4" name="직사각형 3"/>
          <p:cNvSpPr/>
          <p:nvPr/>
        </p:nvSpPr>
        <p:spPr>
          <a:xfrm>
            <a:off x="251520" y="771550"/>
            <a:ext cx="3384376" cy="286232"/>
          </a:xfrm>
          <a:prstGeom prst="rect">
            <a:avLst/>
          </a:prstGeom>
          <a:solidFill>
            <a:schemeClr val="accent1">
              <a:lumMod val="20000"/>
              <a:lumOff val="80000"/>
            </a:schemeClr>
          </a:solidFill>
        </p:spPr>
        <p:txBody>
          <a:bodyPr wrap="square">
            <a:spAutoFit/>
          </a:bodyPr>
          <a:lstStyle/>
          <a:p>
            <a:pPr>
              <a:lnSpc>
                <a:spcPct val="90000"/>
              </a:lnSpc>
            </a:pPr>
            <a:r>
              <a:rPr lang="en-US" altLang="ko-KR" sz="1400" b="1" dirty="0"/>
              <a:t>[</a:t>
            </a:r>
            <a:r>
              <a:rPr lang="ko-KR" altLang="en-US" sz="1400" b="1" dirty="0"/>
              <a:t>실습 코드</a:t>
            </a:r>
            <a:r>
              <a:rPr lang="en-US" altLang="ko-KR" sz="1400" b="1" dirty="0"/>
              <a:t>] </a:t>
            </a:r>
            <a:r>
              <a:rPr lang="en-US" altLang="ko-KR" sz="1400" dirty="0"/>
              <a:t>1_delegationProblem</a:t>
            </a:r>
          </a:p>
        </p:txBody>
      </p:sp>
    </p:spTree>
    <p:extLst>
      <p:ext uri="{BB962C8B-B14F-4D97-AF65-F5344CB8AC3E}">
        <p14:creationId xmlns:p14="http://schemas.microsoft.com/office/powerpoint/2010/main" val="9372210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pPr>
              <a:tabLst>
                <a:tab pos="5118100" algn="l"/>
              </a:tabLst>
            </a:pPr>
            <a:r>
              <a:rPr lang="en-US" altLang="ko-KR" spc="0" dirty="0">
                <a:latin typeface="+mj-lt"/>
              </a:rPr>
              <a:t>[Practice 1] Delegation (solution)</a:t>
            </a:r>
            <a:endParaRPr lang="ko-KR" altLang="en-US" spc="0" dirty="0">
              <a:latin typeface="+mj-lt"/>
            </a:endParaRPr>
          </a:p>
        </p:txBody>
      </p:sp>
      <p:pic>
        <p:nvPicPr>
          <p:cNvPr id="7" name="내용 개체 틀 6">
            <a:extLst>
              <a:ext uri="{FF2B5EF4-FFF2-40B4-BE49-F238E27FC236}">
                <a16:creationId xmlns:a16="http://schemas.microsoft.com/office/drawing/2014/main" id="{4554B6DC-95D4-43DE-BF10-F990DA5B2C61}"/>
              </a:ext>
            </a:extLst>
          </p:cNvPr>
          <p:cNvPicPr>
            <a:picLocks noGrp="1" noChangeAspect="1"/>
          </p:cNvPicPr>
          <p:nvPr>
            <p:ph idx="1"/>
          </p:nvPr>
        </p:nvPicPr>
        <p:blipFill>
          <a:blip r:embed="rId2"/>
          <a:stretch>
            <a:fillRect/>
          </a:stretch>
        </p:blipFill>
        <p:spPr>
          <a:xfrm>
            <a:off x="933012" y="908050"/>
            <a:ext cx="7349413" cy="3751263"/>
          </a:xfrm>
          <a:prstGeom prst="rect">
            <a:avLst/>
          </a:prstGeom>
        </p:spPr>
      </p:pic>
      <p:sp>
        <p:nvSpPr>
          <p:cNvPr id="4" name="직사각형 3"/>
          <p:cNvSpPr/>
          <p:nvPr/>
        </p:nvSpPr>
        <p:spPr>
          <a:xfrm>
            <a:off x="5796136" y="771550"/>
            <a:ext cx="2448272" cy="18722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j-lt"/>
            </a:endParaRPr>
          </a:p>
        </p:txBody>
      </p:sp>
      <p:sp>
        <p:nvSpPr>
          <p:cNvPr id="2" name="직사각형 1"/>
          <p:cNvSpPr/>
          <p:nvPr/>
        </p:nvSpPr>
        <p:spPr>
          <a:xfrm>
            <a:off x="6156176" y="843558"/>
            <a:ext cx="646331" cy="369332"/>
          </a:xfrm>
          <a:prstGeom prst="rect">
            <a:avLst/>
          </a:prstGeom>
        </p:spPr>
        <p:txBody>
          <a:bodyPr wrap="none">
            <a:spAutoFit/>
          </a:bodyPr>
          <a:lstStyle/>
          <a:p>
            <a:r>
              <a:rPr lang="ko-KR" altLang="en-US" b="1" dirty="0">
                <a:solidFill>
                  <a:srgbClr val="0066FF"/>
                </a:solidFill>
                <a:latin typeface="+mj-lt"/>
              </a:rPr>
              <a:t>①③</a:t>
            </a:r>
            <a:endParaRPr lang="ko-KR" altLang="en-US" dirty="0">
              <a:latin typeface="+mj-lt"/>
            </a:endParaRPr>
          </a:p>
        </p:txBody>
      </p:sp>
      <p:sp>
        <p:nvSpPr>
          <p:cNvPr id="5" name="직사각형 4"/>
          <p:cNvSpPr/>
          <p:nvPr/>
        </p:nvSpPr>
        <p:spPr>
          <a:xfrm>
            <a:off x="5784324" y="1851335"/>
            <a:ext cx="415498" cy="369332"/>
          </a:xfrm>
          <a:prstGeom prst="rect">
            <a:avLst/>
          </a:prstGeom>
        </p:spPr>
        <p:txBody>
          <a:bodyPr wrap="none">
            <a:spAutoFit/>
          </a:bodyPr>
          <a:lstStyle/>
          <a:p>
            <a:r>
              <a:rPr lang="ko-KR" altLang="en-US" b="1" dirty="0">
                <a:solidFill>
                  <a:srgbClr val="0066FF"/>
                </a:solidFill>
                <a:latin typeface="+mj-lt"/>
              </a:rPr>
              <a:t>②</a:t>
            </a:r>
            <a:endParaRPr lang="ko-KR" altLang="en-US" dirty="0">
              <a:latin typeface="+mj-lt"/>
            </a:endParaRPr>
          </a:p>
        </p:txBody>
      </p:sp>
      <p:sp>
        <p:nvSpPr>
          <p:cNvPr id="8" name="직사각형 7"/>
          <p:cNvSpPr/>
          <p:nvPr/>
        </p:nvSpPr>
        <p:spPr>
          <a:xfrm>
            <a:off x="6948264" y="1866585"/>
            <a:ext cx="415498" cy="369332"/>
          </a:xfrm>
          <a:prstGeom prst="rect">
            <a:avLst/>
          </a:prstGeom>
        </p:spPr>
        <p:txBody>
          <a:bodyPr wrap="none">
            <a:spAutoFit/>
          </a:bodyPr>
          <a:lstStyle/>
          <a:p>
            <a:r>
              <a:rPr lang="ko-KR" altLang="en-US" b="1" dirty="0">
                <a:solidFill>
                  <a:srgbClr val="0066FF"/>
                </a:solidFill>
                <a:latin typeface="+mj-lt"/>
              </a:rPr>
              <a:t>②</a:t>
            </a:r>
            <a:endParaRPr lang="ko-KR" altLang="en-US" dirty="0">
              <a:latin typeface="+mj-lt"/>
            </a:endParaRPr>
          </a:p>
        </p:txBody>
      </p:sp>
      <p:sp>
        <p:nvSpPr>
          <p:cNvPr id="6" name="직사각형 5"/>
          <p:cNvSpPr/>
          <p:nvPr/>
        </p:nvSpPr>
        <p:spPr>
          <a:xfrm>
            <a:off x="2649751" y="1419344"/>
            <a:ext cx="415498" cy="369332"/>
          </a:xfrm>
          <a:prstGeom prst="rect">
            <a:avLst/>
          </a:prstGeom>
        </p:spPr>
        <p:txBody>
          <a:bodyPr wrap="none">
            <a:spAutoFit/>
          </a:bodyPr>
          <a:lstStyle/>
          <a:p>
            <a:r>
              <a:rPr lang="ko-KR" altLang="en-US" b="1" dirty="0">
                <a:solidFill>
                  <a:srgbClr val="0066FF"/>
                </a:solidFill>
                <a:latin typeface="+mj-lt"/>
              </a:rPr>
              <a:t>④</a:t>
            </a:r>
            <a:endParaRPr lang="ko-KR" altLang="en-US" dirty="0">
              <a:latin typeface="+mj-lt"/>
            </a:endParaRPr>
          </a:p>
        </p:txBody>
      </p:sp>
      <p:sp>
        <p:nvSpPr>
          <p:cNvPr id="9" name="직사각형 8"/>
          <p:cNvSpPr/>
          <p:nvPr/>
        </p:nvSpPr>
        <p:spPr>
          <a:xfrm>
            <a:off x="6543402" y="2313776"/>
            <a:ext cx="415498" cy="369332"/>
          </a:xfrm>
          <a:prstGeom prst="rect">
            <a:avLst/>
          </a:prstGeom>
        </p:spPr>
        <p:txBody>
          <a:bodyPr wrap="none">
            <a:spAutoFit/>
          </a:bodyPr>
          <a:lstStyle/>
          <a:p>
            <a:r>
              <a:rPr lang="ko-KR" altLang="en-US" b="1" dirty="0">
                <a:solidFill>
                  <a:srgbClr val="0066FF"/>
                </a:solidFill>
                <a:latin typeface="+mj-lt"/>
              </a:rPr>
              <a:t>⑤</a:t>
            </a:r>
            <a:endParaRPr lang="ko-KR" altLang="en-US" dirty="0">
              <a:latin typeface="+mj-lt"/>
            </a:endParaRPr>
          </a:p>
        </p:txBody>
      </p:sp>
      <p:sp>
        <p:nvSpPr>
          <p:cNvPr id="10" name="직사각형 9"/>
          <p:cNvSpPr/>
          <p:nvPr/>
        </p:nvSpPr>
        <p:spPr>
          <a:xfrm>
            <a:off x="7866927" y="2313776"/>
            <a:ext cx="415498" cy="369332"/>
          </a:xfrm>
          <a:prstGeom prst="rect">
            <a:avLst/>
          </a:prstGeom>
        </p:spPr>
        <p:txBody>
          <a:bodyPr wrap="none">
            <a:spAutoFit/>
          </a:bodyPr>
          <a:lstStyle/>
          <a:p>
            <a:r>
              <a:rPr lang="ko-KR" altLang="en-US" b="1" dirty="0">
                <a:solidFill>
                  <a:srgbClr val="0066FF"/>
                </a:solidFill>
                <a:latin typeface="+mj-lt"/>
              </a:rPr>
              <a:t>⑤</a:t>
            </a:r>
            <a:endParaRPr lang="ko-KR" altLang="en-US" dirty="0">
              <a:latin typeface="+mj-lt"/>
            </a:endParaRPr>
          </a:p>
        </p:txBody>
      </p:sp>
      <p:sp>
        <p:nvSpPr>
          <p:cNvPr id="11" name="직사각형 10"/>
          <p:cNvSpPr/>
          <p:nvPr/>
        </p:nvSpPr>
        <p:spPr>
          <a:xfrm>
            <a:off x="7236296" y="1191607"/>
            <a:ext cx="415498" cy="369332"/>
          </a:xfrm>
          <a:prstGeom prst="rect">
            <a:avLst/>
          </a:prstGeom>
        </p:spPr>
        <p:txBody>
          <a:bodyPr wrap="none">
            <a:spAutoFit/>
          </a:bodyPr>
          <a:lstStyle/>
          <a:p>
            <a:r>
              <a:rPr lang="ko-KR" altLang="en-US" b="1" dirty="0">
                <a:solidFill>
                  <a:srgbClr val="0066FF"/>
                </a:solidFill>
                <a:latin typeface="+mj-lt"/>
              </a:rPr>
              <a:t>⑤</a:t>
            </a:r>
            <a:endParaRPr lang="ko-KR" altLang="en-US" dirty="0">
              <a:latin typeface="+mj-lt"/>
            </a:endParaRPr>
          </a:p>
        </p:txBody>
      </p:sp>
      <p:sp>
        <p:nvSpPr>
          <p:cNvPr id="12" name="직사각형 11"/>
          <p:cNvSpPr/>
          <p:nvPr/>
        </p:nvSpPr>
        <p:spPr>
          <a:xfrm>
            <a:off x="6131476" y="3272577"/>
            <a:ext cx="2763898" cy="1615827"/>
          </a:xfrm>
          <a:prstGeom prst="rect">
            <a:avLst/>
          </a:prstGeom>
        </p:spPr>
        <p:txBody>
          <a:bodyPr wrap="none">
            <a:spAutoFit/>
          </a:bodyPr>
          <a:lstStyle/>
          <a:p>
            <a:pPr>
              <a:lnSpc>
                <a:spcPct val="150000"/>
              </a:lnSpc>
            </a:pPr>
            <a:r>
              <a:rPr lang="ko-KR" altLang="en-US" sz="1100" dirty="0">
                <a:solidFill>
                  <a:srgbClr val="0066FF"/>
                </a:solidFill>
                <a:latin typeface="+mj-lt"/>
              </a:rPr>
              <a:t>①</a:t>
            </a:r>
            <a:r>
              <a:rPr lang="ko-KR" altLang="en-US" sz="1100" dirty="0">
                <a:latin typeface="+mj-lt"/>
              </a:rPr>
              <a:t> </a:t>
            </a:r>
            <a:r>
              <a:rPr lang="en-US" altLang="ko-KR" sz="1100" dirty="0" err="1">
                <a:solidFill>
                  <a:srgbClr val="0066FF"/>
                </a:solidFill>
                <a:latin typeface="+mj-lt"/>
              </a:rPr>
              <a:t>EmployeeType</a:t>
            </a:r>
            <a:r>
              <a:rPr lang="en-US" altLang="ko-KR" sz="1100" dirty="0">
                <a:solidFill>
                  <a:srgbClr val="0066FF"/>
                </a:solidFill>
                <a:latin typeface="+mj-lt"/>
              </a:rPr>
              <a:t> </a:t>
            </a:r>
            <a:r>
              <a:rPr lang="ko-KR" altLang="en-US" sz="1100" dirty="0">
                <a:solidFill>
                  <a:srgbClr val="0066FF"/>
                </a:solidFill>
                <a:latin typeface="+mj-lt"/>
              </a:rPr>
              <a:t>추가</a:t>
            </a:r>
            <a:endParaRPr lang="en-US" altLang="ko-KR" sz="1100" dirty="0">
              <a:solidFill>
                <a:srgbClr val="0066FF"/>
              </a:solidFill>
              <a:latin typeface="+mj-lt"/>
            </a:endParaRPr>
          </a:p>
          <a:p>
            <a:pPr>
              <a:lnSpc>
                <a:spcPct val="150000"/>
              </a:lnSpc>
            </a:pPr>
            <a:r>
              <a:rPr lang="ko-KR" altLang="en-US" sz="1100" dirty="0">
                <a:solidFill>
                  <a:srgbClr val="0066FF"/>
                </a:solidFill>
                <a:latin typeface="+mj-lt"/>
              </a:rPr>
              <a:t>② </a:t>
            </a:r>
            <a:r>
              <a:rPr lang="en-US" altLang="ko-KR" sz="1100" dirty="0">
                <a:solidFill>
                  <a:srgbClr val="0066FF"/>
                </a:solidFill>
                <a:latin typeface="+mj-lt"/>
              </a:rPr>
              <a:t>Regular </a:t>
            </a:r>
            <a:r>
              <a:rPr lang="ko-KR" altLang="en-US" sz="1100" dirty="0">
                <a:solidFill>
                  <a:srgbClr val="0066FF"/>
                </a:solidFill>
                <a:latin typeface="+mj-lt"/>
              </a:rPr>
              <a:t>와 </a:t>
            </a:r>
            <a:r>
              <a:rPr lang="en-US" altLang="ko-KR" sz="1100" dirty="0">
                <a:solidFill>
                  <a:srgbClr val="0066FF"/>
                </a:solidFill>
                <a:latin typeface="+mj-lt"/>
              </a:rPr>
              <a:t>Manager</a:t>
            </a:r>
          </a:p>
          <a:p>
            <a:pPr>
              <a:lnSpc>
                <a:spcPct val="150000"/>
              </a:lnSpc>
            </a:pPr>
            <a:r>
              <a:rPr lang="ko-KR" altLang="en-US" sz="1100" dirty="0">
                <a:solidFill>
                  <a:srgbClr val="0066FF"/>
                </a:solidFill>
                <a:latin typeface="+mj-lt"/>
              </a:rPr>
              <a:t>③ 추후 </a:t>
            </a:r>
            <a:r>
              <a:rPr lang="en-US" altLang="ko-KR" sz="1100" dirty="0" err="1">
                <a:solidFill>
                  <a:srgbClr val="0066FF"/>
                </a:solidFill>
                <a:latin typeface="+mj-lt"/>
              </a:rPr>
              <a:t>EmployeeType</a:t>
            </a:r>
            <a:r>
              <a:rPr lang="ko-KR" altLang="en-US" sz="1100" dirty="0">
                <a:solidFill>
                  <a:srgbClr val="0066FF"/>
                </a:solidFill>
                <a:latin typeface="+mj-lt"/>
              </a:rPr>
              <a:t>이 추가</a:t>
            </a:r>
            <a:endParaRPr lang="en-US" altLang="ko-KR" sz="1100" dirty="0">
              <a:solidFill>
                <a:srgbClr val="0066FF"/>
              </a:solidFill>
              <a:latin typeface="+mj-lt"/>
            </a:endParaRPr>
          </a:p>
          <a:p>
            <a:pPr>
              <a:lnSpc>
                <a:spcPct val="150000"/>
              </a:lnSpc>
            </a:pPr>
            <a:r>
              <a:rPr lang="ko-KR" altLang="en-US" sz="1100" dirty="0">
                <a:solidFill>
                  <a:srgbClr val="0066FF"/>
                </a:solidFill>
                <a:latin typeface="+mj-lt"/>
              </a:rPr>
              <a:t>④ </a:t>
            </a:r>
            <a:r>
              <a:rPr lang="en-US" altLang="ko-KR" sz="1100" dirty="0">
                <a:solidFill>
                  <a:srgbClr val="0066FF"/>
                </a:solidFill>
                <a:latin typeface="+mj-lt"/>
              </a:rPr>
              <a:t>Worker </a:t>
            </a:r>
            <a:r>
              <a:rPr lang="ko-KR" altLang="en-US" sz="1100" dirty="0">
                <a:solidFill>
                  <a:srgbClr val="0066FF"/>
                </a:solidFill>
                <a:latin typeface="+mj-lt"/>
              </a:rPr>
              <a:t>인스턴스의 </a:t>
            </a:r>
            <a:r>
              <a:rPr lang="en-US" altLang="ko-KR" sz="1100" dirty="0" err="1">
                <a:solidFill>
                  <a:srgbClr val="0066FF"/>
                </a:solidFill>
                <a:latin typeface="+mj-lt"/>
              </a:rPr>
              <a:t>EmployeeType</a:t>
            </a:r>
            <a:r>
              <a:rPr lang="ko-KR" altLang="en-US" sz="1100" dirty="0">
                <a:solidFill>
                  <a:srgbClr val="0066FF"/>
                </a:solidFill>
                <a:latin typeface="+mj-lt"/>
              </a:rPr>
              <a:t>을 </a:t>
            </a:r>
            <a:br>
              <a:rPr lang="en-US" altLang="ko-KR" sz="1100" dirty="0">
                <a:solidFill>
                  <a:srgbClr val="0066FF"/>
                </a:solidFill>
                <a:latin typeface="+mj-lt"/>
              </a:rPr>
            </a:br>
            <a:r>
              <a:rPr lang="en-US" altLang="ko-KR" sz="1100" dirty="0">
                <a:solidFill>
                  <a:srgbClr val="0066FF"/>
                </a:solidFill>
                <a:latin typeface="+mj-lt"/>
              </a:rPr>
              <a:t>    </a:t>
            </a:r>
            <a:r>
              <a:rPr lang="ko-KR" altLang="en-US" sz="1100" dirty="0">
                <a:solidFill>
                  <a:srgbClr val="0066FF"/>
                </a:solidFill>
                <a:latin typeface="+mj-lt"/>
              </a:rPr>
              <a:t>동적으로 변경</a:t>
            </a:r>
            <a:endParaRPr lang="en-US" altLang="ko-KR" sz="1100" dirty="0">
              <a:solidFill>
                <a:srgbClr val="0066FF"/>
              </a:solidFill>
              <a:latin typeface="+mj-lt"/>
            </a:endParaRPr>
          </a:p>
          <a:p>
            <a:pPr>
              <a:lnSpc>
                <a:spcPct val="150000"/>
              </a:lnSpc>
            </a:pPr>
            <a:r>
              <a:rPr lang="ko-KR" altLang="en-US" sz="1100" dirty="0">
                <a:solidFill>
                  <a:srgbClr val="0066FF"/>
                </a:solidFill>
                <a:latin typeface="+mj-lt"/>
              </a:rPr>
              <a:t>⑤ </a:t>
            </a:r>
            <a:r>
              <a:rPr lang="en-US" altLang="ko-KR" sz="1100" dirty="0" err="1">
                <a:solidFill>
                  <a:srgbClr val="0066FF"/>
                </a:solidFill>
                <a:latin typeface="+mj-lt"/>
              </a:rPr>
              <a:t>increaseSalary</a:t>
            </a:r>
            <a:r>
              <a:rPr lang="en-US" altLang="ko-KR" sz="1100" dirty="0">
                <a:solidFill>
                  <a:srgbClr val="0066FF"/>
                </a:solidFill>
                <a:latin typeface="+mj-lt"/>
              </a:rPr>
              <a:t>(double rate)</a:t>
            </a:r>
          </a:p>
        </p:txBody>
      </p:sp>
    </p:spTree>
    <p:extLst>
      <p:ext uri="{BB962C8B-B14F-4D97-AF65-F5344CB8AC3E}">
        <p14:creationId xmlns:p14="http://schemas.microsoft.com/office/powerpoint/2010/main" val="10326545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2928428" y="1821831"/>
            <a:ext cx="5604012" cy="2190079"/>
          </a:xfrm>
        </p:spPr>
        <p:txBody>
          <a:bodyPr>
            <a:noAutofit/>
          </a:bodyPr>
          <a:lstStyle/>
          <a:p>
            <a:r>
              <a:rPr lang="en-US" altLang="ko-KR" sz="3600" dirty="0"/>
              <a:t>Strategy Pattern</a:t>
            </a:r>
          </a:p>
        </p:txBody>
      </p:sp>
      <p:sp>
        <p:nvSpPr>
          <p:cNvPr id="5" name="제목 1"/>
          <p:cNvSpPr txBox="1">
            <a:spLocks/>
          </p:cNvSpPr>
          <p:nvPr/>
        </p:nvSpPr>
        <p:spPr>
          <a:xfrm>
            <a:off x="2915816" y="1203598"/>
            <a:ext cx="2376264" cy="533895"/>
          </a:xfrm>
          <a:prstGeom prst="rect">
            <a:avLst/>
          </a:prstGeom>
        </p:spPr>
        <p:txBody>
          <a:bodyPr vert="horz" lIns="75927" tIns="37964" rIns="75927" bIns="37964" rtlCol="0" anchor="ctr">
            <a:noAutofit/>
          </a:bodyPr>
          <a:lstStyle>
            <a:lvl1pPr algn="l" defTabSz="914400" rtl="0" eaLnBrk="1" latinLnBrk="1" hangingPunct="1">
              <a:spcBef>
                <a:spcPct val="0"/>
              </a:spcBef>
              <a:buNone/>
              <a:defRPr lang="ko-KR" altLang="en-US" sz="2400" b="1" kern="1200" spc="-100" baseline="0" dirty="0">
                <a:ln>
                  <a:solidFill>
                    <a:srgbClr val="2A2D72">
                      <a:alpha val="5000"/>
                    </a:srgbClr>
                  </a:solidFill>
                </a:ln>
                <a:solidFill>
                  <a:srgbClr val="5974BF"/>
                </a:solidFill>
                <a:latin typeface="+mj-ea"/>
                <a:ea typeface="+mj-ea"/>
                <a:cs typeface="Arial" panose="020B0604020202020204" pitchFamily="34" charset="0"/>
              </a:defRPr>
            </a:lvl1pPr>
          </a:lstStyle>
          <a:p>
            <a:pPr defTabSz="759272"/>
            <a:r>
              <a:rPr lang="en-US" altLang="ko-KR" sz="2800" spc="-150" dirty="0">
                <a:ln>
                  <a:noFill/>
                </a:ln>
                <a:solidFill>
                  <a:srgbClr val="B2CCEC"/>
                </a:solidFill>
                <a:latin typeface="+mn-ea"/>
                <a:ea typeface="+mn-ea"/>
              </a:rPr>
              <a:t>02</a:t>
            </a:r>
            <a:endParaRPr lang="ko-KR" altLang="en-US" sz="2800" spc="-150" dirty="0">
              <a:ln>
                <a:noFill/>
              </a:ln>
              <a:solidFill>
                <a:srgbClr val="B2CCEC"/>
              </a:solidFill>
              <a:latin typeface="+mn-ea"/>
              <a:ea typeface="+mn-ea"/>
            </a:endParaRPr>
          </a:p>
        </p:txBody>
      </p:sp>
      <p:sp>
        <p:nvSpPr>
          <p:cNvPr id="7" name="직사각형 6"/>
          <p:cNvSpPr/>
          <p:nvPr/>
        </p:nvSpPr>
        <p:spPr>
          <a:xfrm>
            <a:off x="395536" y="2283718"/>
            <a:ext cx="1957587" cy="954107"/>
          </a:xfrm>
          <a:prstGeom prst="rect">
            <a:avLst/>
          </a:prstGeom>
        </p:spPr>
        <p:txBody>
          <a:bodyPr wrap="none">
            <a:spAutoFit/>
          </a:bodyPr>
          <a:lstStyle/>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Behavioral </a:t>
            </a:r>
          </a:p>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Patterns</a:t>
            </a:r>
            <a:endParaRPr lang="ko-KR" altLang="en-US" sz="2800" b="1" spc="-100" dirty="0">
              <a:ln>
                <a:solidFill>
                  <a:srgbClr val="2A2D72">
                    <a:alpha val="5000"/>
                  </a:srgbClr>
                </a:solidFill>
              </a:ln>
              <a:solidFill>
                <a:srgbClr val="5974BF"/>
              </a:solidFill>
              <a:latin typeface="+mj-ea"/>
              <a:ea typeface="+mj-ea"/>
              <a:cs typeface="Arial" panose="020B0604020202020204" pitchFamily="34" charset="0"/>
            </a:endParaRPr>
          </a:p>
        </p:txBody>
      </p:sp>
    </p:spTree>
    <p:extLst>
      <p:ext uri="{BB962C8B-B14F-4D97-AF65-F5344CB8AC3E}">
        <p14:creationId xmlns:p14="http://schemas.microsoft.com/office/powerpoint/2010/main" val="16144227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p:txBody>
          <a:bodyPr>
            <a:normAutofit/>
          </a:bodyPr>
          <a:lstStyle/>
          <a:p>
            <a:pPr>
              <a:lnSpc>
                <a:spcPct val="150000"/>
              </a:lnSpc>
            </a:pPr>
            <a:r>
              <a:rPr lang="en-US" altLang="ko-KR" dirty="0"/>
              <a:t>Algorithm changes → object changes</a:t>
            </a:r>
          </a:p>
          <a:p>
            <a:pPr>
              <a:lnSpc>
                <a:spcPct val="150000"/>
              </a:lnSpc>
            </a:pPr>
            <a:r>
              <a:rPr lang="en-US" altLang="ko-KR" dirty="0"/>
              <a:t>Algorithm that is likely to change should be isolated</a:t>
            </a:r>
          </a:p>
          <a:p>
            <a:pPr>
              <a:lnSpc>
                <a:spcPct val="150000"/>
              </a:lnSpc>
            </a:pPr>
            <a:r>
              <a:rPr lang="en-US" altLang="ko-KR" dirty="0"/>
              <a:t>Design patterns : Strategy, Builder, Iterator, Template Method, Visitor</a:t>
            </a:r>
          </a:p>
          <a:p>
            <a:pPr>
              <a:lnSpc>
                <a:spcPct val="80000"/>
              </a:lnSpc>
            </a:pPr>
            <a:endParaRPr lang="ko-KR" altLang="en-US" sz="1600" dirty="0"/>
          </a:p>
        </p:txBody>
      </p:sp>
      <p:grpSp>
        <p:nvGrpSpPr>
          <p:cNvPr id="10" name="그룹 9"/>
          <p:cNvGrpSpPr/>
          <p:nvPr/>
        </p:nvGrpSpPr>
        <p:grpSpPr>
          <a:xfrm>
            <a:off x="565001" y="2189574"/>
            <a:ext cx="8039447" cy="2501010"/>
            <a:chOff x="-169119" y="1995686"/>
            <a:chExt cx="9285945" cy="2888786"/>
          </a:xfrm>
        </p:grpSpPr>
        <p:sp>
          <p:nvSpPr>
            <p:cNvPr id="6" name="TextBox 5"/>
            <p:cNvSpPr txBox="1"/>
            <p:nvPr/>
          </p:nvSpPr>
          <p:spPr>
            <a:xfrm>
              <a:off x="1520614" y="4607472"/>
              <a:ext cx="1181734" cy="276999"/>
            </a:xfrm>
            <a:prstGeom prst="rect">
              <a:avLst/>
            </a:prstGeom>
            <a:noFill/>
          </p:spPr>
          <p:txBody>
            <a:bodyPr wrap="none" rtlCol="0">
              <a:spAutoFit/>
            </a:bodyPr>
            <a:lstStyle/>
            <a:p>
              <a:r>
                <a:rPr lang="en-US" altLang="ko-KR" sz="1200" dirty="0">
                  <a:solidFill>
                    <a:srgbClr val="7030A0"/>
                  </a:solidFill>
                  <a:latin typeface="Arial" panose="020B0604020202020204" pitchFamily="34" charset="0"/>
                  <a:cs typeface="Arial" panose="020B0604020202020204" pitchFamily="34" charset="0"/>
                </a:rPr>
                <a:t>Builder pattern</a:t>
              </a:r>
              <a:endParaRPr lang="ko-KR" altLang="en-US" sz="1200" dirty="0">
                <a:solidFill>
                  <a:srgbClr val="7030A0"/>
                </a:solidFill>
                <a:latin typeface="Arial" panose="020B0604020202020204" pitchFamily="34" charset="0"/>
                <a:cs typeface="Arial" panose="020B0604020202020204" pitchFamily="34" charset="0"/>
              </a:endParaRPr>
            </a:p>
          </p:txBody>
        </p:sp>
        <p:sp>
          <p:nvSpPr>
            <p:cNvPr id="7" name="TextBox 6"/>
            <p:cNvSpPr txBox="1"/>
            <p:nvPr/>
          </p:nvSpPr>
          <p:spPr>
            <a:xfrm>
              <a:off x="6211932" y="4607473"/>
              <a:ext cx="1192955" cy="276999"/>
            </a:xfrm>
            <a:prstGeom prst="rect">
              <a:avLst/>
            </a:prstGeom>
            <a:noFill/>
          </p:spPr>
          <p:txBody>
            <a:bodyPr wrap="none" rtlCol="0">
              <a:spAutoFit/>
            </a:bodyPr>
            <a:lstStyle/>
            <a:p>
              <a:r>
                <a:rPr lang="en-US" altLang="ko-KR" sz="1200">
                  <a:solidFill>
                    <a:srgbClr val="7030A0"/>
                  </a:solidFill>
                  <a:latin typeface="Arial" panose="020B0604020202020204" pitchFamily="34" charset="0"/>
                  <a:cs typeface="Arial" panose="020B0604020202020204" pitchFamily="34" charset="0"/>
                </a:rPr>
                <a:t>Iterator pattern</a:t>
              </a:r>
              <a:endParaRPr lang="ko-KR" altLang="en-US" sz="1200">
                <a:solidFill>
                  <a:srgbClr val="7030A0"/>
                </a:solidFill>
                <a:latin typeface="Arial" panose="020B0604020202020204" pitchFamily="34" charset="0"/>
                <a:cs typeface="Arial" panose="020B0604020202020204" pitchFamily="34" charset="0"/>
              </a:endParaRPr>
            </a:p>
          </p:txBody>
        </p:sp>
        <p:pic>
          <p:nvPicPr>
            <p:cNvPr id="8" name="그림 7"/>
            <p:cNvPicPr>
              <a:picLocks noChangeAspect="1"/>
            </p:cNvPicPr>
            <p:nvPr/>
          </p:nvPicPr>
          <p:blipFill>
            <a:blip r:embed="rId2"/>
            <a:stretch>
              <a:fillRect/>
            </a:stretch>
          </p:blipFill>
          <p:spPr>
            <a:xfrm>
              <a:off x="-169119" y="1995686"/>
              <a:ext cx="4561201" cy="2312722"/>
            </a:xfrm>
            <a:prstGeom prst="rect">
              <a:avLst/>
            </a:prstGeom>
          </p:spPr>
        </p:pic>
        <p:pic>
          <p:nvPicPr>
            <p:cNvPr id="9" name="그림 8"/>
            <p:cNvPicPr>
              <a:picLocks noChangeAspect="1"/>
            </p:cNvPicPr>
            <p:nvPr/>
          </p:nvPicPr>
          <p:blipFill>
            <a:blip r:embed="rId3"/>
            <a:stretch>
              <a:fillRect/>
            </a:stretch>
          </p:blipFill>
          <p:spPr>
            <a:xfrm>
              <a:off x="4499992" y="2189573"/>
              <a:ext cx="4616834" cy="2201874"/>
            </a:xfrm>
            <a:prstGeom prst="rect">
              <a:avLst/>
            </a:prstGeom>
          </p:spPr>
        </p:pic>
      </p:grpSp>
      <p:sp>
        <p:nvSpPr>
          <p:cNvPr id="11" name="제목 2"/>
          <p:cNvSpPr>
            <a:spLocks noGrp="1"/>
          </p:cNvSpPr>
          <p:nvPr>
            <p:ph type="title"/>
          </p:nvPr>
        </p:nvSpPr>
        <p:spPr>
          <a:xfrm>
            <a:off x="356400" y="-1229"/>
            <a:ext cx="8430220" cy="531531"/>
          </a:xfrm>
        </p:spPr>
        <p:txBody>
          <a:bodyPr vert="horz" lIns="75927" tIns="37964" rIns="75927" bIns="37964" rtlCol="0" anchor="ctr">
            <a:normAutofit/>
          </a:bodyPr>
          <a:lstStyle/>
          <a:p>
            <a:r>
              <a:rPr lang="en-US" altLang="ko-KR" spc="0" dirty="0"/>
              <a:t>Algorithmic Dependencies</a:t>
            </a:r>
            <a:endParaRPr lang="ko-KR" altLang="en-US" spc="0" dirty="0"/>
          </a:p>
        </p:txBody>
      </p:sp>
    </p:spTree>
    <p:extLst>
      <p:ext uri="{BB962C8B-B14F-4D97-AF65-F5344CB8AC3E}">
        <p14:creationId xmlns:p14="http://schemas.microsoft.com/office/powerpoint/2010/main" val="35720801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Strategy Pattern – Class Diagram</a:t>
            </a:r>
            <a:endParaRPr lang="ko-KR" altLang="en-US" spc="0" dirty="0"/>
          </a:p>
        </p:txBody>
      </p:sp>
      <p:pic>
        <p:nvPicPr>
          <p:cNvPr id="4" name="내용 개체 틀 3"/>
          <p:cNvPicPr>
            <a:picLocks noGrp="1" noChangeAspect="1"/>
          </p:cNvPicPr>
          <p:nvPr>
            <p:ph idx="1"/>
          </p:nvPr>
        </p:nvPicPr>
        <p:blipFill>
          <a:blip r:embed="rId2"/>
          <a:stretch>
            <a:fillRect/>
          </a:stretch>
        </p:blipFill>
        <p:spPr>
          <a:xfrm>
            <a:off x="596413" y="923752"/>
            <a:ext cx="8022612" cy="3592214"/>
          </a:xfrm>
          <a:prstGeom prst="rect">
            <a:avLst/>
          </a:prstGeom>
        </p:spPr>
      </p:pic>
      <p:sp>
        <p:nvSpPr>
          <p:cNvPr id="5" name="TextBox 4"/>
          <p:cNvSpPr txBox="1"/>
          <p:nvPr/>
        </p:nvSpPr>
        <p:spPr>
          <a:xfrm>
            <a:off x="3995936" y="4443958"/>
            <a:ext cx="1277914" cy="276999"/>
          </a:xfrm>
          <a:prstGeom prst="rect">
            <a:avLst/>
          </a:prstGeom>
          <a:noFill/>
        </p:spPr>
        <p:txBody>
          <a:bodyPr wrap="none" rtlCol="0">
            <a:spAutoFit/>
          </a:bodyPr>
          <a:lstStyle/>
          <a:p>
            <a:r>
              <a:rPr lang="en-US" altLang="ko-KR" sz="1200" dirty="0">
                <a:solidFill>
                  <a:srgbClr val="7030A0"/>
                </a:solidFill>
                <a:latin typeface="Arial" panose="020B0604020202020204" pitchFamily="34" charset="0"/>
                <a:cs typeface="Arial" panose="020B0604020202020204" pitchFamily="34" charset="0"/>
              </a:rPr>
              <a:t>Strategy pattern</a:t>
            </a:r>
            <a:endParaRPr lang="ko-KR" altLang="en-US" sz="12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49738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p:cNvGrpSpPr/>
          <p:nvPr/>
        </p:nvGrpSpPr>
        <p:grpSpPr>
          <a:xfrm>
            <a:off x="1475656" y="1327870"/>
            <a:ext cx="6190157" cy="3692152"/>
            <a:chOff x="883169" y="1418306"/>
            <a:chExt cx="7559075" cy="4508649"/>
          </a:xfrm>
        </p:grpSpPr>
        <p:pic>
          <p:nvPicPr>
            <p:cNvPr id="5" name="그림 4"/>
            <p:cNvPicPr>
              <a:picLocks noChangeAspect="1"/>
            </p:cNvPicPr>
            <p:nvPr/>
          </p:nvPicPr>
          <p:blipFill>
            <a:blip r:embed="rId2"/>
            <a:stretch>
              <a:fillRect/>
            </a:stretch>
          </p:blipFill>
          <p:spPr>
            <a:xfrm>
              <a:off x="883169" y="1418306"/>
              <a:ext cx="7499702" cy="4320480"/>
            </a:xfrm>
            <a:prstGeom prst="rect">
              <a:avLst/>
            </a:prstGeom>
          </p:spPr>
        </p:pic>
        <p:sp>
          <p:nvSpPr>
            <p:cNvPr id="9" name="TextBox 8"/>
            <p:cNvSpPr txBox="1"/>
            <p:nvPr/>
          </p:nvSpPr>
          <p:spPr>
            <a:xfrm>
              <a:off x="1916329" y="5551115"/>
              <a:ext cx="1147330" cy="375840"/>
            </a:xfrm>
            <a:prstGeom prst="rect">
              <a:avLst/>
            </a:prstGeom>
            <a:noFill/>
          </p:spPr>
          <p:txBody>
            <a:bodyPr wrap="square" rtlCol="0">
              <a:spAutoFit/>
            </a:bodyPr>
            <a:lstStyle/>
            <a:p>
              <a:pPr algn="ctr"/>
              <a:r>
                <a:rPr lang="en-US" altLang="ko-KR" sz="1400" dirty="0">
                  <a:solidFill>
                    <a:srgbClr val="00B050"/>
                  </a:solidFill>
                </a:rPr>
                <a:t>Client</a:t>
              </a:r>
              <a:endParaRPr lang="ko-KR" altLang="en-US" sz="1400" dirty="0">
                <a:solidFill>
                  <a:srgbClr val="00B050"/>
                </a:solidFill>
              </a:endParaRPr>
            </a:p>
          </p:txBody>
        </p:sp>
        <p:sp>
          <p:nvSpPr>
            <p:cNvPr id="11" name="TextBox 10"/>
            <p:cNvSpPr txBox="1"/>
            <p:nvPr/>
          </p:nvSpPr>
          <p:spPr>
            <a:xfrm>
              <a:off x="4169838" y="5527005"/>
              <a:ext cx="4272406" cy="375840"/>
            </a:xfrm>
            <a:prstGeom prst="rect">
              <a:avLst/>
            </a:prstGeom>
            <a:noFill/>
          </p:spPr>
          <p:txBody>
            <a:bodyPr wrap="square" rtlCol="0">
              <a:spAutoFit/>
            </a:bodyPr>
            <a:lstStyle/>
            <a:p>
              <a:pPr algn="ctr"/>
              <a:r>
                <a:rPr lang="en-US" altLang="ko-KR" sz="1400" dirty="0">
                  <a:solidFill>
                    <a:srgbClr val="7030A0"/>
                  </a:solidFill>
                </a:rPr>
                <a:t>Encapsulating quacking behavior</a:t>
              </a:r>
              <a:endParaRPr lang="ko-KR" altLang="en-US" sz="1400" dirty="0">
                <a:solidFill>
                  <a:srgbClr val="7030A0"/>
                </a:solidFill>
              </a:endParaRPr>
            </a:p>
          </p:txBody>
        </p:sp>
        <p:sp>
          <p:nvSpPr>
            <p:cNvPr id="13" name="TextBox 12"/>
            <p:cNvSpPr txBox="1"/>
            <p:nvPr/>
          </p:nvSpPr>
          <p:spPr>
            <a:xfrm>
              <a:off x="4118845" y="3209214"/>
              <a:ext cx="1241733" cy="319463"/>
            </a:xfrm>
            <a:prstGeom prst="rect">
              <a:avLst/>
            </a:prstGeom>
            <a:noFill/>
          </p:spPr>
          <p:txBody>
            <a:bodyPr wrap="square" rtlCol="0">
              <a:spAutoFit/>
            </a:bodyPr>
            <a:lstStyle/>
            <a:p>
              <a:r>
                <a:rPr lang="en-US" altLang="ko-KR" sz="1100" dirty="0">
                  <a:solidFill>
                    <a:srgbClr val="2A2D72"/>
                  </a:solidFill>
                </a:rPr>
                <a:t>composition</a:t>
              </a:r>
              <a:endParaRPr lang="ko-KR" altLang="en-US" sz="1100" dirty="0">
                <a:solidFill>
                  <a:srgbClr val="2A2D72"/>
                </a:solidFill>
              </a:endParaRPr>
            </a:p>
          </p:txBody>
        </p:sp>
        <p:sp>
          <p:nvSpPr>
            <p:cNvPr id="12" name="TextBox 11"/>
            <p:cNvSpPr txBox="1"/>
            <p:nvPr/>
          </p:nvSpPr>
          <p:spPr>
            <a:xfrm>
              <a:off x="3679184" y="1714367"/>
              <a:ext cx="1325343" cy="319463"/>
            </a:xfrm>
            <a:prstGeom prst="rect">
              <a:avLst/>
            </a:prstGeom>
            <a:noFill/>
          </p:spPr>
          <p:txBody>
            <a:bodyPr wrap="square" rtlCol="0">
              <a:spAutoFit/>
            </a:bodyPr>
            <a:lstStyle/>
            <a:p>
              <a:r>
                <a:rPr lang="en-US" altLang="ko-KR" sz="1100" dirty="0">
                  <a:solidFill>
                    <a:srgbClr val="2A2D72"/>
                  </a:solidFill>
                </a:rPr>
                <a:t>composition</a:t>
              </a:r>
              <a:endParaRPr lang="ko-KR" altLang="en-US" sz="1100" dirty="0">
                <a:solidFill>
                  <a:srgbClr val="2A2D72"/>
                </a:solidFill>
              </a:endParaRPr>
            </a:p>
          </p:txBody>
        </p:sp>
      </p:grpSp>
      <p:sp>
        <p:nvSpPr>
          <p:cNvPr id="6" name="직사각형 5"/>
          <p:cNvSpPr/>
          <p:nvPr/>
        </p:nvSpPr>
        <p:spPr>
          <a:xfrm>
            <a:off x="4227525" y="1378452"/>
            <a:ext cx="3057287" cy="1389578"/>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 name="직사각형 6"/>
          <p:cNvSpPr/>
          <p:nvPr/>
        </p:nvSpPr>
        <p:spPr>
          <a:xfrm>
            <a:off x="4104211" y="3096901"/>
            <a:ext cx="3549545" cy="1615346"/>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8" name="직사각형 7"/>
          <p:cNvSpPr/>
          <p:nvPr/>
        </p:nvSpPr>
        <p:spPr>
          <a:xfrm>
            <a:off x="1547664" y="1405005"/>
            <a:ext cx="2496945" cy="3307241"/>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3" name="제목 2"/>
          <p:cNvSpPr>
            <a:spLocks noGrp="1"/>
          </p:cNvSpPr>
          <p:nvPr>
            <p:ph type="title"/>
          </p:nvPr>
        </p:nvSpPr>
        <p:spPr/>
        <p:txBody>
          <a:bodyPr vert="horz" lIns="75927" tIns="37964" rIns="75927" bIns="37964" rtlCol="0" anchor="ctr">
            <a:normAutofit/>
          </a:bodyPr>
          <a:lstStyle/>
          <a:p>
            <a:r>
              <a:rPr lang="en-US" altLang="ko-KR" spc="0" dirty="0"/>
              <a:t>Designing for Change</a:t>
            </a:r>
            <a:endParaRPr lang="ko-KR" altLang="en-US" spc="0" dirty="0"/>
          </a:p>
        </p:txBody>
      </p:sp>
      <p:sp>
        <p:nvSpPr>
          <p:cNvPr id="17" name="내용 개체 틀 1"/>
          <p:cNvSpPr>
            <a:spLocks noGrp="1"/>
          </p:cNvSpPr>
          <p:nvPr>
            <p:ph idx="1"/>
          </p:nvPr>
        </p:nvSpPr>
        <p:spPr>
          <a:xfrm>
            <a:off x="251520" y="771550"/>
            <a:ext cx="8712968" cy="3751262"/>
          </a:xfrm>
        </p:spPr>
        <p:txBody>
          <a:bodyPr>
            <a:normAutofit/>
          </a:bodyPr>
          <a:lstStyle/>
          <a:p>
            <a:r>
              <a:rPr lang="en-US" altLang="ko-KR" dirty="0"/>
              <a:t>Design patterns help to ensure that a system can change in specific ways → easier to change</a:t>
            </a:r>
          </a:p>
        </p:txBody>
      </p:sp>
      <p:sp>
        <p:nvSpPr>
          <p:cNvPr id="15" name="TextBox 14"/>
          <p:cNvSpPr txBox="1"/>
          <p:nvPr/>
        </p:nvSpPr>
        <p:spPr>
          <a:xfrm>
            <a:off x="7284813" y="1947221"/>
            <a:ext cx="1593080" cy="523220"/>
          </a:xfrm>
          <a:prstGeom prst="rect">
            <a:avLst/>
          </a:prstGeom>
          <a:noFill/>
        </p:spPr>
        <p:txBody>
          <a:bodyPr wrap="square" rtlCol="0">
            <a:spAutoFit/>
          </a:bodyPr>
          <a:lstStyle/>
          <a:p>
            <a:r>
              <a:rPr lang="en-US" altLang="ko-KR" sz="1400" dirty="0">
                <a:solidFill>
                  <a:srgbClr val="00B0F0"/>
                </a:solidFill>
              </a:rPr>
              <a:t>Encapsulating</a:t>
            </a:r>
          </a:p>
          <a:p>
            <a:r>
              <a:rPr lang="en-US" altLang="ko-KR" sz="1400" dirty="0">
                <a:solidFill>
                  <a:srgbClr val="00B0F0"/>
                </a:solidFill>
              </a:rPr>
              <a:t>flying behavior</a:t>
            </a:r>
            <a:endParaRPr lang="ko-KR" altLang="en-US" sz="1400" dirty="0">
              <a:solidFill>
                <a:srgbClr val="00B0F0"/>
              </a:solidFill>
            </a:endParaRPr>
          </a:p>
        </p:txBody>
      </p:sp>
    </p:spTree>
    <p:extLst>
      <p:ext uri="{BB962C8B-B14F-4D97-AF65-F5344CB8AC3E}">
        <p14:creationId xmlns:p14="http://schemas.microsoft.com/office/powerpoint/2010/main" val="36503678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p:txBody>
          <a:bodyPr>
            <a:normAutofit/>
          </a:bodyPr>
          <a:lstStyle/>
          <a:p>
            <a:pPr marL="87313" lvl="1" indent="0">
              <a:buNone/>
            </a:pPr>
            <a:endParaRPr lang="en-US" altLang="ko-KR" dirty="0"/>
          </a:p>
          <a:p>
            <a:pPr marL="87313" lvl="1" indent="0">
              <a:buNone/>
            </a:pPr>
            <a:r>
              <a:rPr lang="en-US" altLang="ko-KR" dirty="0"/>
              <a:t>(1) </a:t>
            </a:r>
            <a:r>
              <a:rPr lang="ko-KR" altLang="en-US" dirty="0"/>
              <a:t>이번 실습은 </a:t>
            </a:r>
            <a:r>
              <a:rPr lang="en-US" altLang="ko-KR" dirty="0"/>
              <a:t>4</a:t>
            </a:r>
            <a:r>
              <a:rPr lang="ko-KR" altLang="en-US" dirty="0"/>
              <a:t>번의 코드 수정이 이어집니다</a:t>
            </a:r>
            <a:endParaRPr lang="en-US" altLang="ko-KR" dirty="0"/>
          </a:p>
          <a:p>
            <a:pPr marL="87313" lvl="1" indent="0">
              <a:buNone/>
            </a:pPr>
            <a:r>
              <a:rPr lang="en-US" altLang="ko-KR" dirty="0"/>
              <a:t>   - 2-1 &gt; 2-2 &gt; 2-3 &gt; 2-4</a:t>
            </a:r>
            <a:endParaRPr lang="ko-KR" altLang="en-US" dirty="0"/>
          </a:p>
          <a:p>
            <a:pPr marL="87313" lvl="1" indent="0">
              <a:buNone/>
            </a:pPr>
            <a:endParaRPr lang="en-US" altLang="ko-KR" dirty="0"/>
          </a:p>
          <a:p>
            <a:pPr marL="87313" lvl="1" indent="0">
              <a:buNone/>
            </a:pPr>
            <a:r>
              <a:rPr lang="en-US" altLang="ko-KR" dirty="0"/>
              <a:t>(2) </a:t>
            </a:r>
            <a:r>
              <a:rPr lang="ko-KR" altLang="en-US" dirty="0"/>
              <a:t>순차적으로 진행하며</a:t>
            </a:r>
            <a:r>
              <a:rPr lang="en-US" altLang="ko-KR" dirty="0"/>
              <a:t>, </a:t>
            </a:r>
            <a:r>
              <a:rPr lang="en-US" altLang="ko-KR" u="sng" dirty="0">
                <a:solidFill>
                  <a:srgbClr val="002060"/>
                </a:solidFill>
              </a:rPr>
              <a:t>2-1 </a:t>
            </a:r>
            <a:r>
              <a:rPr lang="ko-KR" altLang="en-US" u="sng" dirty="0">
                <a:solidFill>
                  <a:srgbClr val="002060"/>
                </a:solidFill>
              </a:rPr>
              <a:t>및 </a:t>
            </a:r>
            <a:r>
              <a:rPr lang="en-US" altLang="ko-KR" u="sng" dirty="0">
                <a:solidFill>
                  <a:srgbClr val="002060"/>
                </a:solidFill>
              </a:rPr>
              <a:t>2-2 </a:t>
            </a:r>
            <a:r>
              <a:rPr lang="ko-KR" altLang="en-US" u="sng" dirty="0">
                <a:solidFill>
                  <a:srgbClr val="002060"/>
                </a:solidFill>
              </a:rPr>
              <a:t>중심으로 설명</a:t>
            </a:r>
            <a:r>
              <a:rPr lang="ko-KR" altLang="en-US" dirty="0"/>
              <a:t>합니다</a:t>
            </a:r>
            <a:r>
              <a:rPr lang="en-US" altLang="ko-KR" dirty="0"/>
              <a:t>.</a:t>
            </a:r>
          </a:p>
          <a:p>
            <a:pPr marL="87313" lvl="1" indent="0">
              <a:buNone/>
            </a:pPr>
            <a:endParaRPr lang="en-US" altLang="ko-KR" dirty="0"/>
          </a:p>
          <a:p>
            <a:pPr marL="87313" lvl="1" indent="0">
              <a:buNone/>
            </a:pPr>
            <a:r>
              <a:rPr lang="en-US" altLang="ko-KR" dirty="0"/>
              <a:t>(3) Design Patterns</a:t>
            </a:r>
            <a:r>
              <a:rPr lang="ko-KR" altLang="en-US" dirty="0"/>
              <a:t>에 익숙하신 분 </a:t>
            </a:r>
            <a:r>
              <a:rPr lang="en-US" altLang="ko-KR" dirty="0"/>
              <a:t>or </a:t>
            </a:r>
            <a:r>
              <a:rPr lang="ko-KR" altLang="en-US" dirty="0"/>
              <a:t>실습이 빨리 끝난 분은 </a:t>
            </a:r>
            <a:r>
              <a:rPr lang="en-US" altLang="ko-KR" u="sng" dirty="0">
                <a:solidFill>
                  <a:srgbClr val="002060"/>
                </a:solidFill>
              </a:rPr>
              <a:t>2-3 </a:t>
            </a:r>
            <a:r>
              <a:rPr lang="ko-KR" altLang="en-US" u="sng" dirty="0">
                <a:solidFill>
                  <a:srgbClr val="002060"/>
                </a:solidFill>
              </a:rPr>
              <a:t>및 </a:t>
            </a:r>
            <a:r>
              <a:rPr lang="en-US" altLang="ko-KR" u="sng" dirty="0">
                <a:solidFill>
                  <a:srgbClr val="002060"/>
                </a:solidFill>
              </a:rPr>
              <a:t>2-4 </a:t>
            </a:r>
            <a:r>
              <a:rPr lang="ko-KR" altLang="en-US" u="sng" dirty="0">
                <a:solidFill>
                  <a:srgbClr val="002060"/>
                </a:solidFill>
              </a:rPr>
              <a:t>실습도 진행해보세요</a:t>
            </a:r>
          </a:p>
        </p:txBody>
      </p:sp>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2] Strategy</a:t>
            </a:r>
            <a:endParaRPr lang="ko-KR" altLang="en-US" spc="0" dirty="0"/>
          </a:p>
        </p:txBody>
      </p:sp>
      <p:sp>
        <p:nvSpPr>
          <p:cNvPr id="4" name="직사각형 3"/>
          <p:cNvSpPr/>
          <p:nvPr/>
        </p:nvSpPr>
        <p:spPr>
          <a:xfrm>
            <a:off x="251520" y="771550"/>
            <a:ext cx="3384376" cy="286232"/>
          </a:xfrm>
          <a:prstGeom prst="rect">
            <a:avLst/>
          </a:prstGeom>
          <a:solidFill>
            <a:schemeClr val="accent1">
              <a:lumMod val="20000"/>
              <a:lumOff val="80000"/>
            </a:schemeClr>
          </a:solidFill>
        </p:spPr>
        <p:txBody>
          <a:bodyPr wrap="square">
            <a:spAutoFit/>
          </a:bodyPr>
          <a:lstStyle/>
          <a:p>
            <a:pPr>
              <a:lnSpc>
                <a:spcPct val="90000"/>
              </a:lnSpc>
            </a:pPr>
            <a:r>
              <a:rPr lang="en-US" altLang="ko-KR" sz="1400" b="1" dirty="0"/>
              <a:t>[</a:t>
            </a:r>
            <a:r>
              <a:rPr lang="ko-KR" altLang="en-US" sz="1400" b="1" dirty="0"/>
              <a:t>실습 코드</a:t>
            </a:r>
            <a:r>
              <a:rPr lang="en-US" altLang="ko-KR" sz="1400" b="1" dirty="0"/>
              <a:t>] </a:t>
            </a:r>
            <a:r>
              <a:rPr lang="en-US" altLang="ko-KR" sz="1400" dirty="0"/>
              <a:t>2_strategy</a:t>
            </a:r>
          </a:p>
        </p:txBody>
      </p:sp>
    </p:spTree>
    <p:extLst>
      <p:ext uri="{BB962C8B-B14F-4D97-AF65-F5344CB8AC3E}">
        <p14:creationId xmlns:p14="http://schemas.microsoft.com/office/powerpoint/2010/main" val="39417241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p:txBody>
          <a:bodyPr>
            <a:normAutofit/>
          </a:bodyPr>
          <a:lstStyle/>
          <a:p>
            <a:pPr marL="361338" lvl="1" indent="0">
              <a:buNone/>
            </a:pPr>
            <a:endParaRPr lang="en-US" altLang="ko-KR" sz="1400" spc="0" dirty="0"/>
          </a:p>
          <a:p>
            <a:pPr marL="361338" lvl="1" indent="0">
              <a:buNone/>
            </a:pPr>
            <a:r>
              <a:rPr lang="en-US" altLang="ko-KR" sz="1400" spc="0" dirty="0"/>
              <a:t>(1) </a:t>
            </a:r>
            <a:r>
              <a:rPr lang="en-US" altLang="ko-KR" b="1" spc="0" dirty="0">
                <a:solidFill>
                  <a:srgbClr val="0066FF"/>
                </a:solidFill>
              </a:rPr>
              <a:t>MiniDuckSimulator.java</a:t>
            </a:r>
            <a:r>
              <a:rPr lang="en-US" altLang="ko-KR" sz="1400" b="1" spc="0" dirty="0">
                <a:solidFill>
                  <a:srgbClr val="0066FF"/>
                </a:solidFill>
              </a:rPr>
              <a:t> </a:t>
            </a:r>
            <a:r>
              <a:rPr lang="ko-KR" altLang="en-US" sz="1400" b="1" spc="0" dirty="0">
                <a:solidFill>
                  <a:srgbClr val="0066FF"/>
                </a:solidFill>
              </a:rPr>
              <a:t>의</a:t>
            </a:r>
            <a:r>
              <a:rPr lang="en-US" altLang="ko-KR" sz="1400" b="1" spc="0" dirty="0">
                <a:solidFill>
                  <a:srgbClr val="0066FF"/>
                </a:solidFill>
              </a:rPr>
              <a:t> main() </a:t>
            </a:r>
            <a:r>
              <a:rPr lang="ko-KR" altLang="en-US" sz="1400" b="1" spc="0" dirty="0">
                <a:solidFill>
                  <a:srgbClr val="0066FF"/>
                </a:solidFill>
              </a:rPr>
              <a:t>실행 </a:t>
            </a:r>
            <a:endParaRPr lang="en-US" altLang="ko-KR" sz="1400" b="1" spc="0" dirty="0">
              <a:solidFill>
                <a:srgbClr val="0066FF"/>
              </a:solidFill>
            </a:endParaRPr>
          </a:p>
          <a:p>
            <a:pPr marL="361338" lvl="1" indent="0">
              <a:buNone/>
            </a:pPr>
            <a:r>
              <a:rPr lang="en-US" altLang="ko-KR" sz="1400" spc="0" dirty="0"/>
              <a:t>(2) </a:t>
            </a:r>
            <a:r>
              <a:rPr lang="en-US" altLang="ko-KR" sz="1400" b="1" spc="0" dirty="0"/>
              <a:t>Duck</a:t>
            </a:r>
            <a:r>
              <a:rPr lang="en-US" altLang="ko-KR" sz="1400" spc="0" dirty="0"/>
              <a:t> abstract class </a:t>
            </a:r>
            <a:r>
              <a:rPr lang="ko-KR" altLang="en-US" sz="1400" spc="0" dirty="0"/>
              <a:t>살펴보기</a:t>
            </a:r>
          </a:p>
          <a:p>
            <a:pPr marL="361338" lvl="1" indent="0">
              <a:buNone/>
            </a:pPr>
            <a:r>
              <a:rPr lang="en-US" altLang="ko-KR" sz="1400" spc="0" dirty="0"/>
              <a:t>(3) </a:t>
            </a:r>
            <a:r>
              <a:rPr lang="en-US" altLang="ko-KR" sz="1400" b="1" spc="0" dirty="0" err="1"/>
              <a:t>MallardDuck</a:t>
            </a:r>
            <a:r>
              <a:rPr lang="en-US" altLang="ko-KR" sz="1400" spc="0" dirty="0"/>
              <a:t>,</a:t>
            </a:r>
            <a:r>
              <a:rPr lang="ko-KR" altLang="en-US" sz="1400" spc="0" dirty="0"/>
              <a:t> </a:t>
            </a:r>
            <a:r>
              <a:rPr lang="en-US" altLang="ko-KR" sz="1400" b="1" spc="0" dirty="0" err="1"/>
              <a:t>ModelDuck</a:t>
            </a:r>
            <a:r>
              <a:rPr lang="en-US" altLang="ko-KR" sz="1400" spc="0" dirty="0"/>
              <a:t>, </a:t>
            </a:r>
            <a:r>
              <a:rPr lang="en-US" altLang="ko-KR" sz="1400" b="1" spc="0" dirty="0" err="1"/>
              <a:t>RedHeaduck</a:t>
            </a:r>
            <a:r>
              <a:rPr lang="en-US" altLang="ko-KR" sz="1400" spc="0" dirty="0"/>
              <a:t>, </a:t>
            </a:r>
            <a:r>
              <a:rPr lang="en-US" altLang="ko-KR" sz="1400" b="1" spc="0" dirty="0" err="1"/>
              <a:t>RubberDuck</a:t>
            </a:r>
            <a:r>
              <a:rPr lang="en-US" altLang="ko-KR" sz="1400" spc="0" dirty="0"/>
              <a:t>,</a:t>
            </a:r>
            <a:r>
              <a:rPr lang="ko-KR" altLang="en-US" sz="1400" spc="0" dirty="0"/>
              <a:t> </a:t>
            </a:r>
            <a:r>
              <a:rPr lang="en-US" altLang="ko-KR" sz="1400" b="1" spc="0" dirty="0" err="1"/>
              <a:t>DecoyDuck</a:t>
            </a:r>
            <a:r>
              <a:rPr lang="en-US" altLang="ko-KR" sz="1400" spc="0" dirty="0"/>
              <a:t> </a:t>
            </a:r>
            <a:r>
              <a:rPr lang="ko-KR" altLang="en-US" sz="1400" spc="0" dirty="0"/>
              <a:t>클래스 살펴보기</a:t>
            </a:r>
          </a:p>
          <a:p>
            <a:pPr marL="361338" lvl="1" indent="0">
              <a:buNone/>
            </a:pPr>
            <a:r>
              <a:rPr lang="en-US" altLang="ko-KR" sz="1400" spc="0" dirty="0"/>
              <a:t>(4) </a:t>
            </a:r>
            <a:r>
              <a:rPr lang="en-US" altLang="ko-KR" sz="1400" b="1" spc="0" dirty="0" err="1"/>
              <a:t>QuackBehavior</a:t>
            </a:r>
            <a:r>
              <a:rPr lang="en-US" altLang="ko-KR" sz="1400" spc="0" dirty="0"/>
              <a:t> </a:t>
            </a:r>
            <a:r>
              <a:rPr lang="ko-KR" altLang="en-US" sz="1400" spc="0" dirty="0"/>
              <a:t>인터페이스와 </a:t>
            </a:r>
            <a:r>
              <a:rPr lang="en-US" altLang="ko-KR" sz="1400" b="1" spc="0" dirty="0" err="1"/>
              <a:t>FakeQuack</a:t>
            </a:r>
            <a:r>
              <a:rPr lang="en-US" altLang="ko-KR" sz="1400" spc="0" dirty="0"/>
              <a:t>, </a:t>
            </a:r>
            <a:r>
              <a:rPr lang="en-US" altLang="ko-KR" sz="1400" b="1" spc="0" dirty="0" err="1"/>
              <a:t>MuteQuack</a:t>
            </a:r>
            <a:r>
              <a:rPr lang="en-US" altLang="ko-KR" sz="1400" spc="0" dirty="0"/>
              <a:t>, </a:t>
            </a:r>
            <a:r>
              <a:rPr lang="en-US" altLang="ko-KR" sz="1400" b="1" spc="0" dirty="0"/>
              <a:t>Quack</a:t>
            </a:r>
            <a:r>
              <a:rPr lang="en-US" altLang="ko-KR" sz="1400" spc="0" dirty="0"/>
              <a:t>, </a:t>
            </a:r>
            <a:r>
              <a:rPr lang="en-US" altLang="ko-KR" sz="1400" b="1" spc="0" dirty="0"/>
              <a:t>Squeak</a:t>
            </a:r>
            <a:r>
              <a:rPr lang="en-US" altLang="ko-KR" sz="1400" spc="0" dirty="0"/>
              <a:t> </a:t>
            </a:r>
            <a:r>
              <a:rPr lang="ko-KR" altLang="en-US" sz="1400" spc="0" dirty="0"/>
              <a:t>클래스 살펴보기 </a:t>
            </a:r>
          </a:p>
          <a:p>
            <a:pPr marL="361338" lvl="1" indent="0">
              <a:buNone/>
            </a:pPr>
            <a:r>
              <a:rPr lang="en-US" altLang="ko-KR" sz="1400" spc="0" dirty="0"/>
              <a:t>(5) </a:t>
            </a:r>
            <a:r>
              <a:rPr lang="en-US" altLang="ko-KR" sz="1400" b="1" spc="0" dirty="0" err="1"/>
              <a:t>FlyBehavior</a:t>
            </a:r>
            <a:r>
              <a:rPr lang="en-US" altLang="ko-KR" sz="1400" spc="0" dirty="0"/>
              <a:t> </a:t>
            </a:r>
            <a:r>
              <a:rPr lang="ko-KR" altLang="en-US" sz="1400" spc="0" dirty="0"/>
              <a:t>인터페이스와 </a:t>
            </a:r>
            <a:r>
              <a:rPr lang="en-US" altLang="ko-KR" sz="1400" b="1" spc="0" dirty="0" err="1"/>
              <a:t>FlyWithWings</a:t>
            </a:r>
            <a:r>
              <a:rPr lang="en-US" altLang="ko-KR" sz="1400" spc="0" dirty="0"/>
              <a:t>, </a:t>
            </a:r>
            <a:r>
              <a:rPr lang="en-US" altLang="ko-KR" sz="1400" b="1" spc="0" dirty="0" err="1"/>
              <a:t>FlyRocketPowered</a:t>
            </a:r>
            <a:r>
              <a:rPr lang="en-US" altLang="ko-KR" sz="1400" spc="0" dirty="0"/>
              <a:t>, </a:t>
            </a:r>
            <a:r>
              <a:rPr lang="en-US" altLang="ko-KR" sz="1400" b="1" spc="0" dirty="0" err="1"/>
              <a:t>FlyNoWay</a:t>
            </a:r>
            <a:r>
              <a:rPr lang="en-US" altLang="ko-KR" sz="1400" spc="0" dirty="0"/>
              <a:t> </a:t>
            </a:r>
            <a:r>
              <a:rPr lang="ko-KR" altLang="en-US" sz="1400" spc="0" dirty="0"/>
              <a:t>클래스 살펴보기</a:t>
            </a:r>
          </a:p>
          <a:p>
            <a:pPr marL="361338" lvl="1" indent="0">
              <a:buNone/>
            </a:pPr>
            <a:r>
              <a:rPr lang="en-US" altLang="ko-KR" sz="1400" spc="0" dirty="0"/>
              <a:t>(6) </a:t>
            </a:r>
            <a:r>
              <a:rPr lang="ko-KR" altLang="en-US" sz="1400" spc="0" dirty="0"/>
              <a:t>모든 클래스 및 인터페이스를 종합하여 </a:t>
            </a:r>
            <a:r>
              <a:rPr lang="ko-KR" altLang="en-US" sz="1400" b="1" spc="0" dirty="0">
                <a:solidFill>
                  <a:srgbClr val="FF0000"/>
                </a:solidFill>
              </a:rPr>
              <a:t>클래스 다이어그램 그리기</a:t>
            </a:r>
          </a:p>
        </p:txBody>
      </p:sp>
      <p:sp>
        <p:nvSpPr>
          <p:cNvPr id="3" name="제목 2"/>
          <p:cNvSpPr>
            <a:spLocks noGrp="1"/>
          </p:cNvSpPr>
          <p:nvPr>
            <p:ph type="title"/>
          </p:nvPr>
        </p:nvSpPr>
        <p:spPr/>
        <p:txBody>
          <a:bodyPr/>
          <a:lstStyle/>
          <a:p>
            <a:r>
              <a:rPr lang="en-US" altLang="ko-KR" spc="0" dirty="0"/>
              <a:t>[Practice 2-1] Strategy: Quack Duck</a:t>
            </a:r>
            <a:endParaRPr lang="ko-KR" altLang="en-US" spc="0" dirty="0"/>
          </a:p>
        </p:txBody>
      </p:sp>
      <p:sp>
        <p:nvSpPr>
          <p:cNvPr id="4" name="직사각형 3"/>
          <p:cNvSpPr/>
          <p:nvPr/>
        </p:nvSpPr>
        <p:spPr>
          <a:xfrm>
            <a:off x="478050" y="765604"/>
            <a:ext cx="3384376" cy="286232"/>
          </a:xfrm>
          <a:prstGeom prst="rect">
            <a:avLst/>
          </a:prstGeom>
          <a:solidFill>
            <a:schemeClr val="accent1">
              <a:lumMod val="20000"/>
              <a:lumOff val="80000"/>
            </a:schemeClr>
          </a:solidFill>
        </p:spPr>
        <p:txBody>
          <a:bodyPr wrap="square">
            <a:spAutoFit/>
          </a:bodyPr>
          <a:lstStyle/>
          <a:p>
            <a:pPr>
              <a:lnSpc>
                <a:spcPct val="90000"/>
              </a:lnSpc>
            </a:pPr>
            <a:r>
              <a:rPr lang="en-US" altLang="ko-KR" sz="1400" b="1" dirty="0"/>
              <a:t>[</a:t>
            </a:r>
            <a:r>
              <a:rPr lang="ko-KR" altLang="en-US" sz="1400" b="1" dirty="0"/>
              <a:t>실습 코드</a:t>
            </a:r>
            <a:r>
              <a:rPr lang="en-US" altLang="ko-KR" sz="1400" b="1" dirty="0"/>
              <a:t>] </a:t>
            </a:r>
            <a:r>
              <a:rPr lang="en-US" altLang="ko-KR" sz="1400" dirty="0"/>
              <a:t>2_strategy</a:t>
            </a:r>
          </a:p>
        </p:txBody>
      </p:sp>
    </p:spTree>
    <p:extLst>
      <p:ext uri="{BB962C8B-B14F-4D97-AF65-F5344CB8AC3E}">
        <p14:creationId xmlns:p14="http://schemas.microsoft.com/office/powerpoint/2010/main" val="14158926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2-1] Strategy : Quack Duck (solution)</a:t>
            </a:r>
            <a:endParaRPr lang="ko-KR" altLang="en-US" spc="0" dirty="0"/>
          </a:p>
        </p:txBody>
      </p:sp>
      <p:pic>
        <p:nvPicPr>
          <p:cNvPr id="5" name="그림 4"/>
          <p:cNvPicPr>
            <a:picLocks noChangeAspect="1"/>
          </p:cNvPicPr>
          <p:nvPr/>
        </p:nvPicPr>
        <p:blipFill rotWithShape="1">
          <a:blip r:embed="rId3"/>
          <a:srcRect t="6452"/>
          <a:stretch/>
        </p:blipFill>
        <p:spPr>
          <a:xfrm>
            <a:off x="107504" y="771550"/>
            <a:ext cx="8900519" cy="4176464"/>
          </a:xfrm>
          <a:prstGeom prst="rect">
            <a:avLst/>
          </a:prstGeom>
        </p:spPr>
      </p:pic>
      <p:sp>
        <p:nvSpPr>
          <p:cNvPr id="4" name="TextBox 3">
            <a:extLst>
              <a:ext uri="{FF2B5EF4-FFF2-40B4-BE49-F238E27FC236}">
                <a16:creationId xmlns:a16="http://schemas.microsoft.com/office/drawing/2014/main" id="{01CFBDE6-E623-0DC0-8AA6-B771238D1013}"/>
              </a:ext>
            </a:extLst>
          </p:cNvPr>
          <p:cNvSpPr txBox="1"/>
          <p:nvPr/>
        </p:nvSpPr>
        <p:spPr>
          <a:xfrm>
            <a:off x="3851920" y="1851670"/>
            <a:ext cx="1085329" cy="246221"/>
          </a:xfrm>
          <a:prstGeom prst="rect">
            <a:avLst/>
          </a:prstGeom>
          <a:noFill/>
        </p:spPr>
        <p:txBody>
          <a:bodyPr wrap="square" rtlCol="0">
            <a:spAutoFit/>
          </a:bodyPr>
          <a:lstStyle/>
          <a:p>
            <a:r>
              <a:rPr lang="en-US" altLang="ko-KR" sz="1000" dirty="0">
                <a:solidFill>
                  <a:srgbClr val="2A2D72"/>
                </a:solidFill>
              </a:rPr>
              <a:t>composition</a:t>
            </a:r>
            <a:endParaRPr lang="ko-KR" altLang="en-US" sz="1000" dirty="0">
              <a:solidFill>
                <a:srgbClr val="2A2D72"/>
              </a:solidFill>
            </a:endParaRPr>
          </a:p>
        </p:txBody>
      </p:sp>
      <p:sp>
        <p:nvSpPr>
          <p:cNvPr id="6" name="TextBox 5">
            <a:extLst>
              <a:ext uri="{FF2B5EF4-FFF2-40B4-BE49-F238E27FC236}">
                <a16:creationId xmlns:a16="http://schemas.microsoft.com/office/drawing/2014/main" id="{398C1854-CC86-398C-0DD4-FB79B5C2466F}"/>
              </a:ext>
            </a:extLst>
          </p:cNvPr>
          <p:cNvSpPr txBox="1"/>
          <p:nvPr/>
        </p:nvSpPr>
        <p:spPr>
          <a:xfrm>
            <a:off x="4147317" y="2746593"/>
            <a:ext cx="1085329" cy="246221"/>
          </a:xfrm>
          <a:prstGeom prst="rect">
            <a:avLst/>
          </a:prstGeom>
          <a:noFill/>
        </p:spPr>
        <p:txBody>
          <a:bodyPr wrap="square" rtlCol="0">
            <a:spAutoFit/>
          </a:bodyPr>
          <a:lstStyle/>
          <a:p>
            <a:r>
              <a:rPr lang="en-US" altLang="ko-KR" sz="1000" dirty="0">
                <a:solidFill>
                  <a:srgbClr val="2A2D72"/>
                </a:solidFill>
              </a:rPr>
              <a:t>composition</a:t>
            </a:r>
            <a:endParaRPr lang="ko-KR" altLang="en-US" sz="1000" dirty="0">
              <a:solidFill>
                <a:srgbClr val="2A2D72"/>
              </a:solidFill>
            </a:endParaRPr>
          </a:p>
        </p:txBody>
      </p:sp>
      <p:sp>
        <p:nvSpPr>
          <p:cNvPr id="7" name="TextBox 6">
            <a:extLst>
              <a:ext uri="{FF2B5EF4-FFF2-40B4-BE49-F238E27FC236}">
                <a16:creationId xmlns:a16="http://schemas.microsoft.com/office/drawing/2014/main" id="{471FDE4B-4F11-4A6D-33A1-73E3FC75506F}"/>
              </a:ext>
            </a:extLst>
          </p:cNvPr>
          <p:cNvSpPr txBox="1"/>
          <p:nvPr/>
        </p:nvSpPr>
        <p:spPr>
          <a:xfrm>
            <a:off x="7388921" y="902982"/>
            <a:ext cx="1593080" cy="400110"/>
          </a:xfrm>
          <a:prstGeom prst="rect">
            <a:avLst/>
          </a:prstGeom>
          <a:noFill/>
        </p:spPr>
        <p:txBody>
          <a:bodyPr wrap="square" rtlCol="0">
            <a:spAutoFit/>
          </a:bodyPr>
          <a:lstStyle/>
          <a:p>
            <a:r>
              <a:rPr lang="en-US" altLang="ko-KR" sz="1000" dirty="0">
                <a:solidFill>
                  <a:srgbClr val="00B0F0"/>
                </a:solidFill>
              </a:rPr>
              <a:t>Encapsulating</a:t>
            </a:r>
          </a:p>
          <a:p>
            <a:r>
              <a:rPr lang="en-US" altLang="ko-KR" sz="1000" dirty="0">
                <a:solidFill>
                  <a:srgbClr val="00B0F0"/>
                </a:solidFill>
              </a:rPr>
              <a:t>flying behavior</a:t>
            </a:r>
            <a:endParaRPr lang="ko-KR" altLang="en-US" sz="1000" dirty="0">
              <a:solidFill>
                <a:srgbClr val="00B0F0"/>
              </a:solidFill>
            </a:endParaRPr>
          </a:p>
        </p:txBody>
      </p:sp>
      <p:sp>
        <p:nvSpPr>
          <p:cNvPr id="8" name="TextBox 7">
            <a:extLst>
              <a:ext uri="{FF2B5EF4-FFF2-40B4-BE49-F238E27FC236}">
                <a16:creationId xmlns:a16="http://schemas.microsoft.com/office/drawing/2014/main" id="{3A8CC2F5-3E4F-E68C-C9E8-576FF0DEB79E}"/>
              </a:ext>
            </a:extLst>
          </p:cNvPr>
          <p:cNvSpPr txBox="1"/>
          <p:nvPr/>
        </p:nvSpPr>
        <p:spPr>
          <a:xfrm>
            <a:off x="7305117" y="2895760"/>
            <a:ext cx="1869677" cy="400110"/>
          </a:xfrm>
          <a:prstGeom prst="rect">
            <a:avLst/>
          </a:prstGeom>
          <a:noFill/>
        </p:spPr>
        <p:txBody>
          <a:bodyPr wrap="square" rtlCol="0">
            <a:spAutoFit/>
          </a:bodyPr>
          <a:lstStyle/>
          <a:p>
            <a:pPr algn="ctr"/>
            <a:r>
              <a:rPr lang="en-US" altLang="ko-KR" sz="1000" dirty="0">
                <a:solidFill>
                  <a:srgbClr val="7030A0"/>
                </a:solidFill>
              </a:rPr>
              <a:t>Encapsulating</a:t>
            </a:r>
          </a:p>
          <a:p>
            <a:pPr algn="ctr"/>
            <a:r>
              <a:rPr lang="en-US" altLang="ko-KR" sz="1000" dirty="0">
                <a:solidFill>
                  <a:srgbClr val="7030A0"/>
                </a:solidFill>
              </a:rPr>
              <a:t>quacking behavior</a:t>
            </a:r>
            <a:endParaRPr lang="ko-KR" altLang="en-US" sz="1000" dirty="0">
              <a:solidFill>
                <a:srgbClr val="7030A0"/>
              </a:solidFill>
            </a:endParaRPr>
          </a:p>
        </p:txBody>
      </p:sp>
      <p:sp>
        <p:nvSpPr>
          <p:cNvPr id="9" name="직사각형 8">
            <a:extLst>
              <a:ext uri="{FF2B5EF4-FFF2-40B4-BE49-F238E27FC236}">
                <a16:creationId xmlns:a16="http://schemas.microsoft.com/office/drawing/2014/main" id="{89D01232-910C-7544-A517-26B8589BC6DC}"/>
              </a:ext>
            </a:extLst>
          </p:cNvPr>
          <p:cNvSpPr/>
          <p:nvPr/>
        </p:nvSpPr>
        <p:spPr>
          <a:xfrm>
            <a:off x="1682154" y="3046407"/>
            <a:ext cx="1152128" cy="242446"/>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ko-KR" altLang="en-US" sz="1000"/>
          </a:p>
        </p:txBody>
      </p:sp>
      <p:sp>
        <p:nvSpPr>
          <p:cNvPr id="10" name="직사각형 9">
            <a:extLst>
              <a:ext uri="{FF2B5EF4-FFF2-40B4-BE49-F238E27FC236}">
                <a16:creationId xmlns:a16="http://schemas.microsoft.com/office/drawing/2014/main" id="{AEBF923D-C1BA-2F12-BA66-4E2574E294FD}"/>
              </a:ext>
            </a:extLst>
          </p:cNvPr>
          <p:cNvSpPr/>
          <p:nvPr/>
        </p:nvSpPr>
        <p:spPr>
          <a:xfrm>
            <a:off x="1682154" y="3284460"/>
            <a:ext cx="1800200" cy="242446"/>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ko-KR" altLang="en-US" sz="1000"/>
          </a:p>
        </p:txBody>
      </p:sp>
    </p:spTree>
    <p:extLst>
      <p:ext uri="{BB962C8B-B14F-4D97-AF65-F5344CB8AC3E}">
        <p14:creationId xmlns:p14="http://schemas.microsoft.com/office/powerpoint/2010/main" val="849027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r>
              <a:rPr lang="en-US" altLang="ko-KR" spc="0" dirty="0"/>
              <a:t>[Practice 2-2] Strategy: </a:t>
            </a:r>
            <a:r>
              <a:rPr lang="ko-KR" altLang="en-US" spc="0" dirty="0"/>
              <a:t>새로운 </a:t>
            </a:r>
            <a:r>
              <a:rPr lang="en-US" altLang="ko-KR" spc="0" dirty="0"/>
              <a:t>Quack Behavior </a:t>
            </a:r>
            <a:r>
              <a:rPr lang="ko-KR" altLang="en-US" spc="0" dirty="0"/>
              <a:t>추가</a:t>
            </a:r>
          </a:p>
        </p:txBody>
      </p:sp>
      <p:sp>
        <p:nvSpPr>
          <p:cNvPr id="4" name="내용 개체 틀 1"/>
          <p:cNvSpPr>
            <a:spLocks noGrp="1"/>
          </p:cNvSpPr>
          <p:nvPr>
            <p:ph idx="1"/>
          </p:nvPr>
        </p:nvSpPr>
        <p:spPr>
          <a:xfrm>
            <a:off x="251520" y="1131590"/>
            <a:ext cx="8712968" cy="3391222"/>
          </a:xfrm>
        </p:spPr>
        <p:txBody>
          <a:bodyPr>
            <a:noAutofit/>
          </a:bodyPr>
          <a:lstStyle/>
          <a:p>
            <a:r>
              <a:rPr lang="en-US" altLang="ko-KR" sz="1600" spc="0" dirty="0" err="1"/>
              <a:t>DoubleQuack</a:t>
            </a:r>
            <a:r>
              <a:rPr lang="en-US" altLang="ko-KR" sz="1600" spc="0" dirty="0"/>
              <a:t> </a:t>
            </a:r>
            <a:r>
              <a:rPr lang="ko-KR" altLang="en-US" sz="1600" spc="0" dirty="0"/>
              <a:t>추가</a:t>
            </a:r>
          </a:p>
          <a:p>
            <a:pPr marL="361338" lvl="1" indent="0">
              <a:buNone/>
            </a:pPr>
            <a:r>
              <a:rPr lang="en-US" altLang="ko-KR" sz="1400" spc="0" dirty="0"/>
              <a:t>(1) Duck</a:t>
            </a:r>
            <a:r>
              <a:rPr lang="ko-KR" altLang="en-US" sz="1400" spc="0" dirty="0"/>
              <a:t>의 </a:t>
            </a:r>
            <a:r>
              <a:rPr lang="en-US" altLang="ko-KR" sz="1400" spc="0" dirty="0"/>
              <a:t>quack behavior</a:t>
            </a:r>
            <a:r>
              <a:rPr lang="ko-KR" altLang="en-US" sz="1400" spc="0" dirty="0"/>
              <a:t>의 새로운 형태인 </a:t>
            </a:r>
            <a:r>
              <a:rPr lang="en-US" altLang="ko-KR" sz="1400" b="1" spc="0" dirty="0" err="1">
                <a:solidFill>
                  <a:srgbClr val="0066FF"/>
                </a:solidFill>
              </a:rPr>
              <a:t>DoubleQuack</a:t>
            </a:r>
            <a:r>
              <a:rPr lang="en-US" altLang="ko-KR" sz="1400" b="1" spc="0" dirty="0"/>
              <a:t> </a:t>
            </a:r>
            <a:r>
              <a:rPr lang="ko-KR" altLang="en-US" sz="1400" spc="0" dirty="0"/>
              <a:t>클래스를 추가하시오</a:t>
            </a:r>
            <a:r>
              <a:rPr lang="en-US" altLang="ko-KR" sz="1400" spc="0" dirty="0"/>
              <a:t>.</a:t>
            </a:r>
          </a:p>
          <a:p>
            <a:pPr marL="361338" lvl="1" indent="0">
              <a:buNone/>
            </a:pPr>
            <a:r>
              <a:rPr lang="en-US" altLang="ko-KR" sz="1400" spc="0" dirty="0"/>
              <a:t>(2) </a:t>
            </a:r>
            <a:r>
              <a:rPr lang="ko-KR" altLang="en-US" sz="1400" spc="0" dirty="0"/>
              <a:t>해당 </a:t>
            </a:r>
            <a:r>
              <a:rPr lang="en-US" altLang="ko-KR" sz="1400" spc="0" dirty="0" err="1"/>
              <a:t>DoubleQuack</a:t>
            </a:r>
            <a:r>
              <a:rPr lang="ko-KR" altLang="en-US" sz="1400" spc="0" dirty="0"/>
              <a:t>의 </a:t>
            </a:r>
            <a:r>
              <a:rPr lang="en-US" altLang="ko-KR" sz="1400" b="1" spc="0" dirty="0">
                <a:solidFill>
                  <a:srgbClr val="0066FF"/>
                </a:solidFill>
              </a:rPr>
              <a:t>quack()</a:t>
            </a:r>
            <a:r>
              <a:rPr lang="en-US" altLang="ko-KR" sz="1400" spc="0" dirty="0"/>
              <a:t> </a:t>
            </a:r>
            <a:r>
              <a:rPr lang="ko-KR" altLang="en-US" sz="1400" spc="0" dirty="0" err="1"/>
              <a:t>메쏘드는</a:t>
            </a:r>
            <a:r>
              <a:rPr lang="ko-KR" altLang="en-US" sz="1400" spc="0" dirty="0"/>
              <a:t> 다음과 같이 구현하시오</a:t>
            </a:r>
            <a:r>
              <a:rPr lang="en-US" altLang="ko-KR" sz="1400" spc="0" dirty="0"/>
              <a:t>.</a:t>
            </a:r>
          </a:p>
          <a:p>
            <a:pPr marL="91463" indent="0">
              <a:buNone/>
            </a:pPr>
            <a:endParaRPr lang="en-US" altLang="ko-KR" sz="1600" spc="0" dirty="0"/>
          </a:p>
          <a:p>
            <a:pPr marL="361338" lvl="1" indent="0">
              <a:buNone/>
            </a:pPr>
            <a:r>
              <a:rPr lang="en-US" altLang="ko-KR" sz="1400" spc="0" dirty="0"/>
              <a:t>(3) </a:t>
            </a:r>
            <a:r>
              <a:rPr lang="en-US" altLang="ko-KR" spc="0" dirty="0"/>
              <a:t>MiniDuckSimulator.java </a:t>
            </a:r>
            <a:r>
              <a:rPr lang="ko-KR" altLang="en-US" sz="1400" spc="0" dirty="0"/>
              <a:t>에서 </a:t>
            </a:r>
            <a:r>
              <a:rPr lang="en-US" altLang="ko-KR" sz="1400" b="1" spc="0" dirty="0" err="1"/>
              <a:t>ModelDuck</a:t>
            </a:r>
            <a:r>
              <a:rPr lang="ko-KR" altLang="en-US" sz="1400" spc="0" dirty="0"/>
              <a:t>을 이용하여 추가된 </a:t>
            </a:r>
            <a:r>
              <a:rPr lang="en-US" altLang="ko-KR" sz="1400" b="1" spc="0" dirty="0" err="1"/>
              <a:t>DoubleQuack</a:t>
            </a:r>
            <a:r>
              <a:rPr lang="ko-KR" altLang="en-US" sz="1400" spc="0" dirty="0"/>
              <a:t>을 테스트 하시오</a:t>
            </a:r>
            <a:r>
              <a:rPr lang="en-US" altLang="ko-KR" sz="1400" spc="0" dirty="0"/>
              <a:t>.</a:t>
            </a:r>
          </a:p>
          <a:p>
            <a:endParaRPr lang="en-US" altLang="ko-KR" sz="1600" spc="0" dirty="0"/>
          </a:p>
        </p:txBody>
      </p:sp>
      <p:sp>
        <p:nvSpPr>
          <p:cNvPr id="5" name="Rectangle 3"/>
          <p:cNvSpPr>
            <a:spLocks noChangeArrowheads="1"/>
          </p:cNvSpPr>
          <p:nvPr/>
        </p:nvSpPr>
        <p:spPr bwMode="auto">
          <a:xfrm>
            <a:off x="971600" y="2355726"/>
            <a:ext cx="5563093" cy="238527"/>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r>
              <a:rPr lang="en-US" altLang="ko-KR" sz="1100" dirty="0">
                <a:latin typeface="Lucida Console" panose="020B0609040504020204" pitchFamily="49" charset="0"/>
              </a:rPr>
              <a:t>public void quack() { </a:t>
            </a:r>
            <a:r>
              <a:rPr lang="en-US" altLang="ko-KR" sz="1100" dirty="0" err="1">
                <a:latin typeface="Lucida Console" panose="020B0609040504020204" pitchFamily="49" charset="0"/>
              </a:rPr>
              <a:t>System.out.println</a:t>
            </a:r>
            <a:r>
              <a:rPr lang="en-US" altLang="ko-KR" sz="1100" dirty="0">
                <a:latin typeface="Lucida Console" panose="020B0609040504020204" pitchFamily="49" charset="0"/>
              </a:rPr>
              <a:t>("Quack, Quack"); }</a:t>
            </a:r>
          </a:p>
        </p:txBody>
      </p:sp>
      <p:sp>
        <p:nvSpPr>
          <p:cNvPr id="6" name="직사각형 5"/>
          <p:cNvSpPr/>
          <p:nvPr/>
        </p:nvSpPr>
        <p:spPr>
          <a:xfrm>
            <a:off x="251520" y="740814"/>
            <a:ext cx="3384376" cy="286232"/>
          </a:xfrm>
          <a:prstGeom prst="rect">
            <a:avLst/>
          </a:prstGeom>
          <a:solidFill>
            <a:schemeClr val="accent1">
              <a:lumMod val="20000"/>
              <a:lumOff val="80000"/>
            </a:schemeClr>
          </a:solidFill>
        </p:spPr>
        <p:txBody>
          <a:bodyPr wrap="square">
            <a:spAutoFit/>
          </a:bodyPr>
          <a:lstStyle/>
          <a:p>
            <a:pPr>
              <a:lnSpc>
                <a:spcPct val="90000"/>
              </a:lnSpc>
            </a:pPr>
            <a:r>
              <a:rPr lang="en-US" altLang="ko-KR" sz="1400" b="1" dirty="0"/>
              <a:t>[</a:t>
            </a:r>
            <a:r>
              <a:rPr lang="ko-KR" altLang="en-US" sz="1400" b="1" dirty="0"/>
              <a:t>실습 코드</a:t>
            </a:r>
            <a:r>
              <a:rPr lang="en-US" altLang="ko-KR" sz="1400" b="1" dirty="0"/>
              <a:t>] </a:t>
            </a:r>
            <a:r>
              <a:rPr lang="en-US" altLang="ko-KR" sz="1400" dirty="0"/>
              <a:t>2_strategy</a:t>
            </a:r>
          </a:p>
        </p:txBody>
      </p:sp>
    </p:spTree>
    <p:extLst>
      <p:ext uri="{BB962C8B-B14F-4D97-AF65-F5344CB8AC3E}">
        <p14:creationId xmlns:p14="http://schemas.microsoft.com/office/powerpoint/2010/main" val="40649503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2-2] Strategy : </a:t>
            </a:r>
            <a:r>
              <a:rPr lang="ko-KR" altLang="en-US" spc="0" dirty="0"/>
              <a:t>새로운 </a:t>
            </a:r>
            <a:r>
              <a:rPr lang="en-US" altLang="ko-KR" spc="0" dirty="0"/>
              <a:t>Quack Behavior </a:t>
            </a:r>
            <a:r>
              <a:rPr lang="ko-KR" altLang="en-US" spc="0" dirty="0"/>
              <a:t>추가 </a:t>
            </a:r>
            <a:r>
              <a:rPr lang="en-US" altLang="ko-KR" spc="0" dirty="0"/>
              <a:t>(solution)</a:t>
            </a:r>
            <a:endParaRPr lang="ko-KR" altLang="en-US" spc="0" dirty="0"/>
          </a:p>
        </p:txBody>
      </p:sp>
      <p:pic>
        <p:nvPicPr>
          <p:cNvPr id="9" name="그림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53162"/>
            <a:ext cx="9144000" cy="4524866"/>
          </a:xfrm>
          <a:prstGeom prst="rect">
            <a:avLst/>
          </a:prstGeom>
        </p:spPr>
      </p:pic>
      <p:sp>
        <p:nvSpPr>
          <p:cNvPr id="10" name="직사각형 9"/>
          <p:cNvSpPr/>
          <p:nvPr/>
        </p:nvSpPr>
        <p:spPr>
          <a:xfrm>
            <a:off x="8295791" y="1601271"/>
            <a:ext cx="827584" cy="6480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163533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r>
              <a:rPr lang="en-US" altLang="ko-KR" spc="0" dirty="0"/>
              <a:t>[Practice 2-3] Strategy: Duck</a:t>
            </a:r>
            <a:r>
              <a:rPr lang="ko-KR" altLang="en-US" spc="0" dirty="0"/>
              <a:t>의 </a:t>
            </a:r>
            <a:r>
              <a:rPr lang="en-US" altLang="ko-KR" spc="0" dirty="0"/>
              <a:t>Behavior Type </a:t>
            </a:r>
            <a:r>
              <a:rPr lang="ko-KR" altLang="en-US" spc="0" dirty="0"/>
              <a:t>확장</a:t>
            </a:r>
          </a:p>
        </p:txBody>
      </p:sp>
      <p:sp>
        <p:nvSpPr>
          <p:cNvPr id="4" name="내용 개체 틀 1"/>
          <p:cNvSpPr>
            <a:spLocks noGrp="1"/>
          </p:cNvSpPr>
          <p:nvPr>
            <p:ph idx="1"/>
          </p:nvPr>
        </p:nvSpPr>
        <p:spPr>
          <a:xfrm>
            <a:off x="333498" y="627534"/>
            <a:ext cx="8712968" cy="4320480"/>
          </a:xfrm>
        </p:spPr>
        <p:txBody>
          <a:bodyPr>
            <a:noAutofit/>
          </a:bodyPr>
          <a:lstStyle/>
          <a:p>
            <a:pPr marL="361338" lvl="1" indent="0">
              <a:lnSpc>
                <a:spcPct val="80000"/>
              </a:lnSpc>
              <a:buNone/>
            </a:pPr>
            <a:endParaRPr lang="en-US" altLang="ko-KR" sz="1400" spc="0" dirty="0"/>
          </a:p>
          <a:p>
            <a:pPr marL="361338" lvl="1" indent="0">
              <a:lnSpc>
                <a:spcPct val="80000"/>
              </a:lnSpc>
              <a:buNone/>
            </a:pPr>
            <a:endParaRPr lang="en-US" altLang="ko-KR" sz="1400" spc="0" dirty="0"/>
          </a:p>
          <a:p>
            <a:pPr>
              <a:lnSpc>
                <a:spcPct val="80000"/>
              </a:lnSpc>
            </a:pPr>
            <a:r>
              <a:rPr lang="en-US" altLang="ko-KR" sz="1600" spc="0" dirty="0" err="1"/>
              <a:t>EggBehavior</a:t>
            </a:r>
            <a:r>
              <a:rPr lang="en-US" altLang="ko-KR" sz="1600" spc="0" dirty="0"/>
              <a:t> </a:t>
            </a:r>
            <a:r>
              <a:rPr lang="ko-KR" altLang="en-US" sz="1600" spc="0" dirty="0"/>
              <a:t>추가 </a:t>
            </a:r>
            <a:endParaRPr lang="en-US" altLang="ko-KR" sz="1600" spc="0" dirty="0"/>
          </a:p>
          <a:p>
            <a:pPr marL="361338" lvl="1" indent="0">
              <a:lnSpc>
                <a:spcPct val="80000"/>
              </a:lnSpc>
              <a:buNone/>
            </a:pPr>
            <a:r>
              <a:rPr lang="en-US" altLang="ko-KR" sz="1300" spc="0" dirty="0"/>
              <a:t>(1) Duck</a:t>
            </a:r>
            <a:r>
              <a:rPr lang="ko-KR" altLang="en-US" sz="1300" spc="0" dirty="0"/>
              <a:t>의 새로운 </a:t>
            </a:r>
            <a:r>
              <a:rPr lang="en-US" altLang="ko-KR" sz="1300" spc="0" dirty="0"/>
              <a:t>behavior type</a:t>
            </a:r>
            <a:r>
              <a:rPr lang="ko-KR" altLang="en-US" sz="1300" spc="0" dirty="0"/>
              <a:t>으로 </a:t>
            </a:r>
            <a:r>
              <a:rPr lang="en-US" altLang="ko-KR" sz="1300" b="1" spc="0" dirty="0" err="1"/>
              <a:t>EggBehavior</a:t>
            </a:r>
            <a:r>
              <a:rPr lang="en-US" altLang="ko-KR" sz="1300" b="1" spc="0" dirty="0"/>
              <a:t> </a:t>
            </a:r>
            <a:r>
              <a:rPr lang="ko-KR" altLang="en-US" sz="1300" spc="0" dirty="0"/>
              <a:t>인터페이스를 추가하시오</a:t>
            </a:r>
            <a:r>
              <a:rPr lang="en-US" altLang="ko-KR" sz="1300" spc="0" dirty="0"/>
              <a:t>. </a:t>
            </a:r>
          </a:p>
          <a:p>
            <a:pPr marL="361338" lvl="1" indent="0">
              <a:lnSpc>
                <a:spcPct val="80000"/>
              </a:lnSpc>
              <a:buNone/>
            </a:pPr>
            <a:endParaRPr lang="en-US" altLang="ko-KR" sz="1300" spc="0" dirty="0"/>
          </a:p>
          <a:p>
            <a:pPr marL="361338" lvl="1" indent="0">
              <a:lnSpc>
                <a:spcPct val="80000"/>
              </a:lnSpc>
              <a:buNone/>
            </a:pPr>
            <a:r>
              <a:rPr lang="en-US" altLang="ko-KR" sz="1300" spc="0" dirty="0"/>
              <a:t>(2) Duck </a:t>
            </a:r>
            <a:r>
              <a:rPr lang="ko-KR" altLang="en-US" sz="1300" spc="0" dirty="0"/>
              <a:t>클래스에 </a:t>
            </a:r>
            <a:r>
              <a:rPr lang="en-US" altLang="ko-KR" sz="1300" b="1" spc="0" dirty="0" err="1"/>
              <a:t>setEggBehavior</a:t>
            </a:r>
            <a:r>
              <a:rPr lang="en-US" altLang="ko-KR" sz="1300" b="1" spc="0" dirty="0"/>
              <a:t>()</a:t>
            </a:r>
            <a:r>
              <a:rPr lang="ko-KR" altLang="en-US" sz="1300" spc="0" dirty="0"/>
              <a:t>와 </a:t>
            </a:r>
            <a:r>
              <a:rPr lang="en-US" altLang="ko-KR" sz="1300" b="1" spc="0" dirty="0" err="1"/>
              <a:t>performEggBehavior</a:t>
            </a:r>
            <a:r>
              <a:rPr lang="en-US" altLang="ko-KR" sz="1300" b="1" spc="0" dirty="0"/>
              <a:t>()</a:t>
            </a:r>
            <a:r>
              <a:rPr lang="ko-KR" altLang="en-US" sz="1300" spc="0" dirty="0"/>
              <a:t>를 추가하시오</a:t>
            </a:r>
            <a:r>
              <a:rPr lang="en-US" altLang="ko-KR" sz="1300" spc="0" dirty="0"/>
              <a:t>.</a:t>
            </a:r>
          </a:p>
          <a:p>
            <a:pPr marL="361338" lvl="1" indent="0">
              <a:lnSpc>
                <a:spcPct val="80000"/>
              </a:lnSpc>
              <a:buNone/>
            </a:pPr>
            <a:r>
              <a:rPr lang="en-US" altLang="ko-KR" sz="1300" spc="0" dirty="0"/>
              <a:t>(3) </a:t>
            </a:r>
            <a:r>
              <a:rPr lang="en-US" altLang="ko-KR" sz="1300" spc="0" dirty="0" err="1"/>
              <a:t>EggBehavior</a:t>
            </a:r>
            <a:r>
              <a:rPr lang="ko-KR" altLang="en-US" sz="1300" spc="0" dirty="0"/>
              <a:t>를 구현하는 </a:t>
            </a:r>
            <a:r>
              <a:rPr lang="en-US" altLang="ko-KR" sz="1300" spc="0" dirty="0"/>
              <a:t>concrete class</a:t>
            </a:r>
            <a:r>
              <a:rPr lang="ko-KR" altLang="en-US" sz="1300" spc="0" dirty="0"/>
              <a:t>로 </a:t>
            </a:r>
            <a:r>
              <a:rPr lang="en-US" altLang="ko-KR" sz="1300" b="1" spc="0" dirty="0" err="1"/>
              <a:t>SpawnEgg</a:t>
            </a:r>
            <a:r>
              <a:rPr lang="ko-KR" altLang="en-US" sz="1300" spc="0" dirty="0"/>
              <a:t>와 </a:t>
            </a:r>
            <a:r>
              <a:rPr lang="en-US" altLang="ko-KR" sz="1300" b="1" spc="0" dirty="0" err="1"/>
              <a:t>SpawnNothing</a:t>
            </a:r>
            <a:r>
              <a:rPr lang="en-US" altLang="ko-KR" sz="1300" spc="0" dirty="0"/>
              <a:t> </a:t>
            </a:r>
            <a:r>
              <a:rPr lang="ko-KR" altLang="en-US" sz="1300" spc="0" dirty="0"/>
              <a:t>클래스를 </a:t>
            </a:r>
            <a:r>
              <a:rPr lang="ko-KR" altLang="en-US" sz="1300" spc="0" dirty="0" err="1"/>
              <a:t>추가하시오</a:t>
            </a:r>
            <a:r>
              <a:rPr lang="en-US" altLang="ko-KR" sz="1300" spc="0" dirty="0"/>
              <a:t>.</a:t>
            </a:r>
          </a:p>
          <a:p>
            <a:pPr lvl="1">
              <a:lnSpc>
                <a:spcPct val="80000"/>
              </a:lnSpc>
            </a:pPr>
            <a:endParaRPr lang="en-US" altLang="ko-KR" sz="1300" spc="0" dirty="0"/>
          </a:p>
          <a:p>
            <a:pPr lvl="1">
              <a:lnSpc>
                <a:spcPct val="80000"/>
              </a:lnSpc>
            </a:pPr>
            <a:endParaRPr lang="en-US" altLang="ko-KR" sz="1300" spc="0" dirty="0"/>
          </a:p>
          <a:p>
            <a:pPr marL="361338" lvl="1" indent="0">
              <a:lnSpc>
                <a:spcPct val="80000"/>
              </a:lnSpc>
              <a:buNone/>
            </a:pPr>
            <a:endParaRPr lang="en-US" altLang="ko-KR" sz="1300" spc="0" dirty="0"/>
          </a:p>
          <a:p>
            <a:pPr marL="361338" lvl="1" indent="0">
              <a:lnSpc>
                <a:spcPct val="80000"/>
              </a:lnSpc>
              <a:buNone/>
            </a:pPr>
            <a:endParaRPr lang="en-US" altLang="ko-KR" sz="1300" spc="0" dirty="0"/>
          </a:p>
          <a:p>
            <a:pPr marL="361338" lvl="1" indent="0">
              <a:lnSpc>
                <a:spcPct val="80000"/>
              </a:lnSpc>
              <a:buNone/>
            </a:pPr>
            <a:endParaRPr lang="en-US" altLang="ko-KR" sz="1300" spc="0" dirty="0"/>
          </a:p>
          <a:p>
            <a:pPr marL="361338" lvl="1" indent="0">
              <a:lnSpc>
                <a:spcPct val="80000"/>
              </a:lnSpc>
              <a:buNone/>
            </a:pPr>
            <a:r>
              <a:rPr lang="en-US" altLang="ko-KR" sz="1300" spc="0" dirty="0"/>
              <a:t>(4) </a:t>
            </a:r>
            <a:r>
              <a:rPr lang="ko-KR" altLang="en-US" sz="1300" spc="0" dirty="0"/>
              <a:t>모든 </a:t>
            </a:r>
            <a:r>
              <a:rPr lang="en-US" altLang="ko-KR" sz="1300" spc="0" dirty="0"/>
              <a:t>Duck</a:t>
            </a:r>
            <a:r>
              <a:rPr lang="ko-KR" altLang="en-US" sz="1300" spc="0" dirty="0"/>
              <a:t>의 기본 </a:t>
            </a:r>
            <a:r>
              <a:rPr lang="en-US" altLang="ko-KR" sz="1300" b="1" spc="0" dirty="0" err="1"/>
              <a:t>EggBehavior</a:t>
            </a:r>
            <a:r>
              <a:rPr lang="ko-KR" altLang="en-US" sz="1300" spc="0" dirty="0"/>
              <a:t>는 </a:t>
            </a:r>
            <a:r>
              <a:rPr lang="en-US" altLang="ko-KR" sz="1300" b="1" spc="0" dirty="0" err="1"/>
              <a:t>SpawnNothing</a:t>
            </a:r>
            <a:r>
              <a:rPr lang="ko-KR" altLang="en-US" sz="1300" spc="0" dirty="0"/>
              <a:t>으로 초기화되도록 코드를 작성하시오</a:t>
            </a:r>
            <a:r>
              <a:rPr lang="en-US" altLang="ko-KR" sz="1300" spc="0" dirty="0"/>
              <a:t>.</a:t>
            </a:r>
          </a:p>
          <a:p>
            <a:pPr marL="361338" lvl="1" indent="0">
              <a:lnSpc>
                <a:spcPct val="80000"/>
              </a:lnSpc>
              <a:buNone/>
            </a:pPr>
            <a:r>
              <a:rPr lang="en-US" altLang="ko-KR" sz="1300" spc="0" dirty="0"/>
              <a:t>(5) </a:t>
            </a:r>
            <a:r>
              <a:rPr lang="ko-KR" altLang="en-US" sz="1300" spc="0" dirty="0"/>
              <a:t>테스트를 위해 </a:t>
            </a:r>
            <a:r>
              <a:rPr lang="en-US" altLang="ko-KR" sz="1300" spc="0" dirty="0"/>
              <a:t>Main</a:t>
            </a:r>
            <a:r>
              <a:rPr lang="ko-KR" altLang="en-US" sz="1300" spc="0" dirty="0"/>
              <a:t>에서 각 인스턴스의 </a:t>
            </a:r>
            <a:r>
              <a:rPr lang="en-US" altLang="ko-KR" sz="1300" b="1" spc="0" dirty="0"/>
              <a:t>display()</a:t>
            </a:r>
            <a:r>
              <a:rPr lang="ko-KR" altLang="en-US" sz="1300" spc="0" dirty="0"/>
              <a:t>와 </a:t>
            </a:r>
            <a:r>
              <a:rPr lang="en-US" altLang="ko-KR" sz="1300" b="1" spc="0" dirty="0" err="1"/>
              <a:t>performEgg</a:t>
            </a:r>
            <a:r>
              <a:rPr lang="en-US" altLang="ko-KR" sz="1300" b="1" spc="0" dirty="0"/>
              <a:t>()</a:t>
            </a:r>
            <a:r>
              <a:rPr lang="ko-KR" altLang="en-US" sz="1300" spc="0" dirty="0"/>
              <a:t>를 </a:t>
            </a:r>
            <a:r>
              <a:rPr lang="ko-KR" altLang="en-US" sz="1300" spc="0" dirty="0" err="1"/>
              <a:t>호출하시오</a:t>
            </a:r>
            <a:r>
              <a:rPr lang="en-US" altLang="ko-KR" sz="1300" spc="0" dirty="0"/>
              <a:t>.</a:t>
            </a:r>
          </a:p>
          <a:p>
            <a:pPr marL="361338" lvl="1" indent="0">
              <a:lnSpc>
                <a:spcPct val="100000"/>
              </a:lnSpc>
              <a:buNone/>
            </a:pPr>
            <a:r>
              <a:rPr lang="en-US" altLang="ko-KR" sz="1300" spc="0" dirty="0"/>
              <a:t>(6) mallard </a:t>
            </a:r>
            <a:r>
              <a:rPr lang="ko-KR" altLang="en-US" sz="1300" spc="0" dirty="0"/>
              <a:t>인스턴스만 </a:t>
            </a:r>
            <a:r>
              <a:rPr lang="en-US" altLang="ko-KR" sz="1300" b="1" spc="0" dirty="0" err="1"/>
              <a:t>SpawnEgg</a:t>
            </a:r>
            <a:r>
              <a:rPr lang="ko-KR" altLang="en-US" sz="1300" spc="0" dirty="0"/>
              <a:t>를 할 수 있도록 </a:t>
            </a:r>
            <a:r>
              <a:rPr lang="en-US" altLang="ko-KR" sz="1300" b="1" spc="0" dirty="0" err="1"/>
              <a:t>setEggBehavior</a:t>
            </a:r>
            <a:r>
              <a:rPr lang="en-US" altLang="ko-KR" sz="1300" b="1" spc="0" dirty="0"/>
              <a:t>()</a:t>
            </a:r>
            <a:r>
              <a:rPr lang="ko-KR" altLang="en-US" sz="1300" spc="0" dirty="0"/>
              <a:t>를 이용하여 바꾸고</a:t>
            </a:r>
            <a:r>
              <a:rPr lang="en-US" altLang="ko-KR" sz="1300" spc="0" dirty="0"/>
              <a:t>, </a:t>
            </a:r>
            <a:br>
              <a:rPr lang="en-US" altLang="ko-KR" sz="1300" spc="0" dirty="0"/>
            </a:br>
            <a:r>
              <a:rPr lang="en-US" altLang="ko-KR" sz="1300" spc="0" dirty="0"/>
              <a:t>    </a:t>
            </a:r>
            <a:r>
              <a:rPr lang="ko-KR" altLang="en-US" sz="1300" spc="0" dirty="0"/>
              <a:t>배열의 모든 원소에 대해 </a:t>
            </a:r>
            <a:r>
              <a:rPr lang="en-US" altLang="ko-KR" sz="1300" b="1" spc="0" dirty="0"/>
              <a:t>display()</a:t>
            </a:r>
            <a:r>
              <a:rPr lang="ko-KR" altLang="en-US" sz="1300" spc="0" dirty="0"/>
              <a:t>와 </a:t>
            </a:r>
            <a:r>
              <a:rPr lang="en-US" altLang="ko-KR" sz="1300" b="1" spc="0" dirty="0" err="1"/>
              <a:t>performEgg</a:t>
            </a:r>
            <a:r>
              <a:rPr lang="en-US" altLang="ko-KR" sz="1300" b="1" spc="0" dirty="0"/>
              <a:t>()</a:t>
            </a:r>
            <a:r>
              <a:rPr lang="ko-KR" altLang="en-US" sz="1300" spc="0" dirty="0"/>
              <a:t>를 호출하여 검사하시오</a:t>
            </a:r>
            <a:r>
              <a:rPr lang="en-US" altLang="ko-KR" sz="1300" spc="0" dirty="0"/>
              <a:t>.</a:t>
            </a:r>
          </a:p>
        </p:txBody>
      </p:sp>
      <p:sp>
        <p:nvSpPr>
          <p:cNvPr id="6" name="Rectangle 3"/>
          <p:cNvSpPr>
            <a:spLocks noChangeArrowheads="1"/>
          </p:cNvSpPr>
          <p:nvPr/>
        </p:nvSpPr>
        <p:spPr bwMode="auto">
          <a:xfrm>
            <a:off x="1115616" y="1728957"/>
            <a:ext cx="6264696" cy="238527"/>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r>
              <a:rPr lang="en-US" altLang="ko-KR" sz="1100" dirty="0">
                <a:latin typeface="Lucida Console" panose="020B0609040504020204" pitchFamily="49" charset="0"/>
              </a:rPr>
              <a:t>public interface </a:t>
            </a:r>
            <a:r>
              <a:rPr lang="en-US" altLang="ko-KR" sz="1100" dirty="0" err="1">
                <a:latin typeface="Lucida Console" panose="020B0609040504020204" pitchFamily="49" charset="0"/>
              </a:rPr>
              <a:t>EggBehavior</a:t>
            </a:r>
            <a:r>
              <a:rPr lang="en-US" altLang="ko-KR" sz="1100" dirty="0">
                <a:latin typeface="Lucida Console" panose="020B0609040504020204" pitchFamily="49" charset="0"/>
              </a:rPr>
              <a:t> { public void spawn(); }</a:t>
            </a:r>
            <a:endParaRPr lang="ko-KR" altLang="en-US" sz="1100" dirty="0">
              <a:latin typeface="Lucida Console" panose="020B0609040504020204" pitchFamily="49" charset="0"/>
            </a:endParaRPr>
          </a:p>
        </p:txBody>
      </p:sp>
      <p:sp>
        <p:nvSpPr>
          <p:cNvPr id="8" name="직사각형 7"/>
          <p:cNvSpPr/>
          <p:nvPr/>
        </p:nvSpPr>
        <p:spPr>
          <a:xfrm>
            <a:off x="251520" y="771550"/>
            <a:ext cx="3384376" cy="286232"/>
          </a:xfrm>
          <a:prstGeom prst="rect">
            <a:avLst/>
          </a:prstGeom>
          <a:solidFill>
            <a:schemeClr val="accent1">
              <a:lumMod val="20000"/>
              <a:lumOff val="80000"/>
            </a:schemeClr>
          </a:solidFill>
        </p:spPr>
        <p:txBody>
          <a:bodyPr wrap="square">
            <a:spAutoFit/>
          </a:bodyPr>
          <a:lstStyle/>
          <a:p>
            <a:pPr>
              <a:lnSpc>
                <a:spcPct val="90000"/>
              </a:lnSpc>
            </a:pPr>
            <a:r>
              <a:rPr lang="en-US" altLang="ko-KR" sz="1400" b="1" dirty="0"/>
              <a:t>[</a:t>
            </a:r>
            <a:r>
              <a:rPr lang="ko-KR" altLang="en-US" sz="1400" b="1" dirty="0"/>
              <a:t>실습 코드</a:t>
            </a:r>
            <a:r>
              <a:rPr lang="en-US" altLang="ko-KR" sz="1400" b="1" dirty="0"/>
              <a:t>] </a:t>
            </a:r>
            <a:r>
              <a:rPr lang="en-US" altLang="ko-KR" sz="1400" dirty="0"/>
              <a:t>2_strategy</a:t>
            </a:r>
          </a:p>
        </p:txBody>
      </p:sp>
      <p:sp>
        <p:nvSpPr>
          <p:cNvPr id="9" name="Rectangle 3"/>
          <p:cNvSpPr>
            <a:spLocks noChangeArrowheads="1"/>
          </p:cNvSpPr>
          <p:nvPr/>
        </p:nvSpPr>
        <p:spPr bwMode="auto">
          <a:xfrm>
            <a:off x="1115616" y="2586264"/>
            <a:ext cx="6264696" cy="577081"/>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r>
              <a:rPr lang="en-US" altLang="ko-KR" sz="1100" dirty="0">
                <a:latin typeface="Lucida Console" panose="020B0609040504020204" pitchFamily="49" charset="0"/>
              </a:rPr>
              <a:t>public class </a:t>
            </a:r>
            <a:r>
              <a:rPr lang="en-US" altLang="ko-KR" sz="1100" dirty="0" err="1">
                <a:latin typeface="Lucida Console" panose="020B0609040504020204" pitchFamily="49" charset="0"/>
              </a:rPr>
              <a:t>SpawnEgg</a:t>
            </a:r>
            <a:r>
              <a:rPr lang="en-US" altLang="ko-KR" sz="1100" dirty="0">
                <a:latin typeface="Lucida Console" panose="020B0609040504020204" pitchFamily="49" charset="0"/>
              </a:rPr>
              <a:t> implements </a:t>
            </a:r>
            <a:r>
              <a:rPr lang="en-US" altLang="ko-KR" sz="1100" dirty="0" err="1">
                <a:latin typeface="Lucida Console" panose="020B0609040504020204" pitchFamily="49" charset="0"/>
              </a:rPr>
              <a:t>EggBehavior</a:t>
            </a:r>
            <a:r>
              <a:rPr lang="en-US" altLang="ko-KR" sz="1100" dirty="0">
                <a:latin typeface="Lucida Console" panose="020B0609040504020204" pitchFamily="49" charset="0"/>
              </a:rPr>
              <a:t> {</a:t>
            </a:r>
          </a:p>
          <a:p>
            <a:r>
              <a:rPr lang="en-US" altLang="ko-KR" sz="1100" dirty="0">
                <a:latin typeface="Lucida Console" panose="020B0609040504020204" pitchFamily="49" charset="0"/>
              </a:rPr>
              <a:t>    public void spawn() { </a:t>
            </a:r>
            <a:r>
              <a:rPr lang="en-US" altLang="ko-KR" sz="1100" dirty="0" err="1">
                <a:latin typeface="Lucida Console" panose="020B0609040504020204" pitchFamily="49" charset="0"/>
              </a:rPr>
              <a:t>System.out.println</a:t>
            </a:r>
            <a:r>
              <a:rPr lang="en-US" altLang="ko-KR" sz="1100" dirty="0">
                <a:latin typeface="Lucida Console" panose="020B0609040504020204" pitchFamily="49" charset="0"/>
              </a:rPr>
              <a:t>("I have Spawned :) ");} </a:t>
            </a:r>
          </a:p>
          <a:p>
            <a:r>
              <a:rPr lang="en-US" altLang="ko-KR" sz="1100" dirty="0">
                <a:latin typeface="Lucida Console" panose="020B0609040504020204" pitchFamily="49" charset="0"/>
              </a:rPr>
              <a:t>}</a:t>
            </a:r>
            <a:endParaRPr lang="ko-KR" altLang="en-US" sz="1100" dirty="0">
              <a:latin typeface="Lucida Console" panose="020B0609040504020204" pitchFamily="49" charset="0"/>
            </a:endParaRPr>
          </a:p>
        </p:txBody>
      </p:sp>
      <p:sp>
        <p:nvSpPr>
          <p:cNvPr id="11" name="Rectangle 3"/>
          <p:cNvSpPr>
            <a:spLocks noChangeArrowheads="1"/>
          </p:cNvSpPr>
          <p:nvPr/>
        </p:nvSpPr>
        <p:spPr bwMode="auto">
          <a:xfrm>
            <a:off x="1115616" y="3198177"/>
            <a:ext cx="6264696" cy="577081"/>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r>
              <a:rPr lang="en-US" altLang="ko-KR" sz="1100" dirty="0">
                <a:latin typeface="Lucida Console" panose="020B0609040504020204" pitchFamily="49" charset="0"/>
              </a:rPr>
              <a:t>public class </a:t>
            </a:r>
            <a:r>
              <a:rPr lang="en-US" altLang="ko-KR" sz="1100" dirty="0" err="1">
                <a:latin typeface="Lucida Console" panose="020B0609040504020204" pitchFamily="49" charset="0"/>
              </a:rPr>
              <a:t>SpawnNothing</a:t>
            </a:r>
            <a:r>
              <a:rPr lang="en-US" altLang="ko-KR" sz="1100" dirty="0">
                <a:latin typeface="Lucida Console" panose="020B0609040504020204" pitchFamily="49" charset="0"/>
              </a:rPr>
              <a:t> implements </a:t>
            </a:r>
            <a:r>
              <a:rPr lang="en-US" altLang="ko-KR" sz="1100" dirty="0" err="1">
                <a:latin typeface="Lucida Console" panose="020B0609040504020204" pitchFamily="49" charset="0"/>
              </a:rPr>
              <a:t>EggBehavior</a:t>
            </a:r>
            <a:r>
              <a:rPr lang="en-US" altLang="ko-KR" sz="1100" dirty="0">
                <a:latin typeface="Lucida Console" panose="020B0609040504020204" pitchFamily="49" charset="0"/>
              </a:rPr>
              <a:t> {</a:t>
            </a:r>
          </a:p>
          <a:p>
            <a:r>
              <a:rPr lang="en-US" altLang="ko-KR" sz="1100" dirty="0">
                <a:latin typeface="Lucida Console" panose="020B0609040504020204" pitchFamily="49" charset="0"/>
              </a:rPr>
              <a:t>    public void spawn() { </a:t>
            </a:r>
            <a:r>
              <a:rPr lang="en-US" altLang="ko-KR" sz="1100" dirty="0" err="1">
                <a:latin typeface="Lucida Console" panose="020B0609040504020204" pitchFamily="49" charset="0"/>
              </a:rPr>
              <a:t>System.out.println</a:t>
            </a:r>
            <a:r>
              <a:rPr lang="en-US" altLang="ko-KR" sz="1100" dirty="0">
                <a:latin typeface="Lucida Console" panose="020B0609040504020204" pitchFamily="49" charset="0"/>
              </a:rPr>
              <a:t>("I can't spawn :( "); }</a:t>
            </a:r>
          </a:p>
          <a:p>
            <a:r>
              <a:rPr lang="en-US" altLang="ko-KR" sz="1100" dirty="0">
                <a:latin typeface="Lucida Console" panose="020B0609040504020204" pitchFamily="49" charset="0"/>
              </a:rPr>
              <a:t>}</a:t>
            </a:r>
            <a:endParaRPr lang="ko-KR" altLang="en-US" sz="1100" dirty="0">
              <a:latin typeface="Lucida Console" panose="020B0609040504020204" pitchFamily="49" charset="0"/>
            </a:endParaRPr>
          </a:p>
        </p:txBody>
      </p:sp>
    </p:spTree>
    <p:extLst>
      <p:ext uri="{BB962C8B-B14F-4D97-AF65-F5344CB8AC3E}">
        <p14:creationId xmlns:p14="http://schemas.microsoft.com/office/powerpoint/2010/main" val="3841471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2-3] Strategy : Duck</a:t>
            </a:r>
            <a:r>
              <a:rPr lang="ko-KR" altLang="en-US" spc="0" dirty="0"/>
              <a:t>의 </a:t>
            </a:r>
            <a:r>
              <a:rPr lang="en-US" altLang="ko-KR" spc="0" dirty="0"/>
              <a:t>Behavior Type </a:t>
            </a:r>
            <a:r>
              <a:rPr lang="ko-KR" altLang="en-US" spc="0" dirty="0"/>
              <a:t>확장 </a:t>
            </a:r>
            <a:r>
              <a:rPr lang="en-US" altLang="ko-KR" spc="0" dirty="0"/>
              <a:t>(solution)</a:t>
            </a:r>
            <a:endParaRPr lang="ko-KR" altLang="en-US" spc="0" dirty="0"/>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2" y="553162"/>
            <a:ext cx="8694307" cy="4554912"/>
          </a:xfrm>
          <a:prstGeom prst="rect">
            <a:avLst/>
          </a:prstGeom>
        </p:spPr>
      </p:pic>
      <p:sp>
        <p:nvSpPr>
          <p:cNvPr id="9" name="직사각형 8"/>
          <p:cNvSpPr/>
          <p:nvPr/>
        </p:nvSpPr>
        <p:spPr>
          <a:xfrm>
            <a:off x="5796136" y="3667914"/>
            <a:ext cx="1728192" cy="14401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0" name="직선 연결선 9"/>
          <p:cNvCxnSpPr/>
          <p:nvPr/>
        </p:nvCxnSpPr>
        <p:spPr>
          <a:xfrm>
            <a:off x="2686042" y="2780899"/>
            <a:ext cx="79208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a:off x="2696053" y="3037603"/>
            <a:ext cx="1260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7504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p:txBody>
          <a:bodyPr>
            <a:normAutofit/>
          </a:bodyPr>
          <a:lstStyle/>
          <a:p>
            <a:pPr>
              <a:lnSpc>
                <a:spcPct val="150000"/>
              </a:lnSpc>
            </a:pPr>
            <a:endParaRPr lang="en-US" altLang="ko-KR" sz="1500" spc="0" dirty="0"/>
          </a:p>
          <a:p>
            <a:pPr>
              <a:lnSpc>
                <a:spcPct val="150000"/>
              </a:lnSpc>
            </a:pPr>
            <a:r>
              <a:rPr lang="en-US" altLang="ko-KR" sz="1600" b="1" spc="0" dirty="0" err="1"/>
              <a:t>ModelDuck</a:t>
            </a:r>
            <a:r>
              <a:rPr lang="ko-KR" altLang="en-US" sz="1600" spc="0" dirty="0"/>
              <a:t>에 </a:t>
            </a:r>
            <a:r>
              <a:rPr lang="en-US" altLang="ko-KR" sz="1600" b="1" spc="0" dirty="0" err="1"/>
              <a:t>CopyBehavior</a:t>
            </a:r>
            <a:r>
              <a:rPr lang="en-US" altLang="ko-KR" sz="1600" b="1" spc="0" dirty="0"/>
              <a:t>(Duck source)</a:t>
            </a:r>
            <a:r>
              <a:rPr lang="en-US" altLang="ko-KR" sz="1600" spc="0" dirty="0"/>
              <a:t> </a:t>
            </a:r>
            <a:r>
              <a:rPr lang="ko-KR" altLang="en-US" sz="1600" spc="0" dirty="0" err="1"/>
              <a:t>메쏘드</a:t>
            </a:r>
            <a:r>
              <a:rPr lang="ko-KR" altLang="en-US" sz="1600" spc="0" dirty="0"/>
              <a:t> 추가</a:t>
            </a:r>
            <a:endParaRPr lang="en-US" altLang="ko-KR" sz="1600" spc="0" dirty="0"/>
          </a:p>
          <a:p>
            <a:pPr marL="361338" lvl="1" indent="0">
              <a:lnSpc>
                <a:spcPct val="150000"/>
              </a:lnSpc>
              <a:buNone/>
            </a:pPr>
            <a:r>
              <a:rPr lang="en-US" altLang="ko-KR" sz="1300" spc="0" dirty="0"/>
              <a:t>(1) </a:t>
            </a:r>
            <a:r>
              <a:rPr lang="ko-KR" altLang="en-US" sz="1300" spc="0" dirty="0"/>
              <a:t>해당 </a:t>
            </a:r>
            <a:r>
              <a:rPr lang="ko-KR" altLang="en-US" sz="1300" spc="0" dirty="0" err="1"/>
              <a:t>메쏘드는</a:t>
            </a:r>
            <a:r>
              <a:rPr lang="ko-KR" altLang="en-US" sz="1300" spc="0" dirty="0"/>
              <a:t> </a:t>
            </a:r>
            <a:r>
              <a:rPr lang="en-US" altLang="ko-KR" sz="1300" spc="0" dirty="0"/>
              <a:t>source</a:t>
            </a:r>
            <a:r>
              <a:rPr lang="ko-KR" altLang="en-US" sz="1300" spc="0" dirty="0"/>
              <a:t>로 지정된 </a:t>
            </a:r>
            <a:r>
              <a:rPr lang="en-US" altLang="ko-KR" sz="1300" spc="0" dirty="0"/>
              <a:t>Duck</a:t>
            </a:r>
            <a:r>
              <a:rPr lang="ko-KR" altLang="en-US" sz="1300" spc="0" dirty="0"/>
              <a:t>의 </a:t>
            </a:r>
            <a:r>
              <a:rPr lang="en-US" altLang="ko-KR" sz="1300" b="1" spc="0" dirty="0" err="1"/>
              <a:t>flyBehavior</a:t>
            </a:r>
            <a:r>
              <a:rPr lang="en-US" altLang="ko-KR" sz="1300" spc="0" dirty="0"/>
              <a:t>, </a:t>
            </a:r>
            <a:r>
              <a:rPr lang="en-US" altLang="ko-KR" sz="1300" b="1" spc="0" dirty="0" err="1"/>
              <a:t>quackBehavior</a:t>
            </a:r>
            <a:r>
              <a:rPr lang="en-US" altLang="ko-KR" sz="1300" spc="0" dirty="0"/>
              <a:t>, </a:t>
            </a:r>
            <a:r>
              <a:rPr lang="en-US" altLang="ko-KR" sz="1300" b="1" spc="0" dirty="0" err="1"/>
              <a:t>eggBehavior</a:t>
            </a:r>
            <a:r>
              <a:rPr lang="ko-KR" altLang="en-US" sz="1300" b="1" spc="0" dirty="0"/>
              <a:t>를 복사</a:t>
            </a:r>
            <a:r>
              <a:rPr lang="ko-KR" altLang="en-US" sz="1300" spc="0" dirty="0"/>
              <a:t>하는 기능 구현</a:t>
            </a:r>
          </a:p>
          <a:p>
            <a:pPr marL="361338" lvl="1" indent="0">
              <a:lnSpc>
                <a:spcPct val="150000"/>
              </a:lnSpc>
              <a:buNone/>
            </a:pPr>
            <a:r>
              <a:rPr lang="en-US" altLang="ko-KR" sz="1300" spc="0" dirty="0"/>
              <a:t>(2) </a:t>
            </a:r>
            <a:r>
              <a:rPr lang="ko-KR" altLang="en-US" sz="1300" spc="0" dirty="0"/>
              <a:t>테스트를 위해 </a:t>
            </a:r>
            <a:r>
              <a:rPr lang="en-US" altLang="ko-KR" sz="1300" spc="0" dirty="0"/>
              <a:t>Main</a:t>
            </a:r>
            <a:r>
              <a:rPr lang="ko-KR" altLang="en-US" sz="1300" spc="0" dirty="0"/>
              <a:t>에서 </a:t>
            </a:r>
            <a:r>
              <a:rPr lang="en-US" altLang="ko-KR" sz="1300" b="1" spc="0" dirty="0" err="1"/>
              <a:t>CopyBehavior</a:t>
            </a:r>
            <a:r>
              <a:rPr lang="en-US" altLang="ko-KR" sz="1300" b="1" spc="0" dirty="0"/>
              <a:t>()</a:t>
            </a:r>
            <a:r>
              <a:rPr lang="en-US" altLang="ko-KR" sz="1300" spc="0" dirty="0"/>
              <a:t> </a:t>
            </a:r>
            <a:r>
              <a:rPr lang="ko-KR" altLang="en-US" sz="1300" spc="0" dirty="0" err="1"/>
              <a:t>메쏘드를</a:t>
            </a:r>
            <a:r>
              <a:rPr lang="ko-KR" altLang="en-US" sz="1300" spc="0" dirty="0"/>
              <a:t> 이용하여 </a:t>
            </a:r>
            <a:br>
              <a:rPr lang="en-US" altLang="ko-KR" sz="1300" spc="0" dirty="0"/>
            </a:br>
            <a:r>
              <a:rPr lang="en-US" altLang="ko-KR" sz="1300" spc="0" dirty="0"/>
              <a:t>     mallard </a:t>
            </a:r>
            <a:r>
              <a:rPr lang="ko-KR" altLang="en-US" sz="1300" spc="0" dirty="0"/>
              <a:t>객체의 </a:t>
            </a:r>
            <a:r>
              <a:rPr lang="en-US" altLang="ko-KR" sz="1300" spc="0" dirty="0"/>
              <a:t>behavior</a:t>
            </a:r>
            <a:r>
              <a:rPr lang="ko-KR" altLang="en-US" sz="1300" spc="0" dirty="0"/>
              <a:t>를 </a:t>
            </a:r>
            <a:r>
              <a:rPr lang="en-US" altLang="ko-KR" sz="1300" spc="0" dirty="0"/>
              <a:t>model </a:t>
            </a:r>
            <a:r>
              <a:rPr lang="ko-KR" altLang="en-US" sz="1300" spc="0" dirty="0"/>
              <a:t>객체로 복사한 후</a:t>
            </a:r>
            <a:r>
              <a:rPr lang="en-US" altLang="ko-KR" sz="1300" spc="0" dirty="0"/>
              <a:t>, </a:t>
            </a:r>
          </a:p>
          <a:p>
            <a:pPr marL="361338" lvl="1" indent="0">
              <a:lnSpc>
                <a:spcPct val="150000"/>
              </a:lnSpc>
              <a:buNone/>
            </a:pPr>
            <a:r>
              <a:rPr lang="en-US" altLang="ko-KR" sz="1300" spc="0" dirty="0"/>
              <a:t>(3) </a:t>
            </a:r>
            <a:r>
              <a:rPr lang="ko-KR" altLang="en-US" sz="1300" spc="0" dirty="0"/>
              <a:t>배열의 모든 원소에 대해 </a:t>
            </a:r>
            <a:r>
              <a:rPr lang="en-US" altLang="ko-KR" sz="1300" b="1" spc="0" dirty="0"/>
              <a:t>display(), </a:t>
            </a:r>
            <a:r>
              <a:rPr lang="en-US" altLang="ko-KR" sz="1300" b="1" spc="0" dirty="0" err="1"/>
              <a:t>performQuack</a:t>
            </a:r>
            <a:r>
              <a:rPr lang="en-US" altLang="ko-KR" sz="1300" b="1" spc="0" dirty="0"/>
              <a:t>(), </a:t>
            </a:r>
            <a:r>
              <a:rPr lang="en-US" altLang="ko-KR" sz="1300" b="1" spc="0" dirty="0" err="1"/>
              <a:t>performFly</a:t>
            </a:r>
            <a:r>
              <a:rPr lang="en-US" altLang="ko-KR" sz="1300" b="1" spc="0" dirty="0"/>
              <a:t>(),</a:t>
            </a:r>
            <a:r>
              <a:rPr lang="ko-KR" altLang="en-US" sz="1300" b="1" spc="0" dirty="0"/>
              <a:t> </a:t>
            </a:r>
            <a:r>
              <a:rPr lang="en-US" altLang="ko-KR" sz="1300" b="1" spc="0" dirty="0" err="1"/>
              <a:t>performEgg</a:t>
            </a:r>
            <a:r>
              <a:rPr lang="en-US" altLang="ko-KR" sz="1300" b="1" spc="0" dirty="0"/>
              <a:t>()</a:t>
            </a:r>
            <a:r>
              <a:rPr lang="ko-KR" altLang="en-US" sz="1300" spc="0" dirty="0"/>
              <a:t>를 호출하여 </a:t>
            </a:r>
            <a:br>
              <a:rPr lang="en-US" altLang="ko-KR" sz="1300" spc="0" dirty="0"/>
            </a:br>
            <a:r>
              <a:rPr lang="en-US" altLang="ko-KR" sz="1300" spc="0" dirty="0"/>
              <a:t>    </a:t>
            </a:r>
            <a:r>
              <a:rPr lang="ko-KR" altLang="en-US" sz="1300" spc="0" dirty="0"/>
              <a:t>행위 복사가 올바르게 되었는지 </a:t>
            </a:r>
            <a:r>
              <a:rPr lang="ko-KR" altLang="en-US" sz="1300" spc="0" dirty="0" err="1"/>
              <a:t>검사하시오</a:t>
            </a:r>
            <a:r>
              <a:rPr lang="en-US" altLang="ko-KR" sz="1300" spc="0" dirty="0"/>
              <a:t>. </a:t>
            </a:r>
          </a:p>
        </p:txBody>
      </p:sp>
      <p:sp>
        <p:nvSpPr>
          <p:cNvPr id="3" name="제목 2"/>
          <p:cNvSpPr>
            <a:spLocks noGrp="1"/>
          </p:cNvSpPr>
          <p:nvPr>
            <p:ph type="title"/>
          </p:nvPr>
        </p:nvSpPr>
        <p:spPr/>
        <p:txBody>
          <a:bodyPr/>
          <a:lstStyle/>
          <a:p>
            <a:r>
              <a:rPr lang="en-US" altLang="ko-KR" spc="0" dirty="0"/>
              <a:t>[Practice 2-4] Strategy: Duck</a:t>
            </a:r>
            <a:r>
              <a:rPr lang="ko-KR" altLang="en-US" spc="0" dirty="0"/>
              <a:t>의 </a:t>
            </a:r>
            <a:r>
              <a:rPr lang="en-US" altLang="ko-KR" spc="0" dirty="0"/>
              <a:t>Behavior </a:t>
            </a:r>
            <a:r>
              <a:rPr lang="ko-KR" altLang="en-US" spc="0" dirty="0"/>
              <a:t>동적 복사</a:t>
            </a:r>
          </a:p>
        </p:txBody>
      </p:sp>
      <p:sp>
        <p:nvSpPr>
          <p:cNvPr id="4" name="직사각형 3"/>
          <p:cNvSpPr/>
          <p:nvPr/>
        </p:nvSpPr>
        <p:spPr>
          <a:xfrm>
            <a:off x="264797" y="771550"/>
            <a:ext cx="3384376" cy="286232"/>
          </a:xfrm>
          <a:prstGeom prst="rect">
            <a:avLst/>
          </a:prstGeom>
          <a:solidFill>
            <a:schemeClr val="accent1">
              <a:lumMod val="20000"/>
              <a:lumOff val="80000"/>
            </a:schemeClr>
          </a:solidFill>
        </p:spPr>
        <p:txBody>
          <a:bodyPr wrap="square">
            <a:spAutoFit/>
          </a:bodyPr>
          <a:lstStyle/>
          <a:p>
            <a:pPr>
              <a:lnSpc>
                <a:spcPct val="90000"/>
              </a:lnSpc>
            </a:pPr>
            <a:r>
              <a:rPr lang="en-US" altLang="ko-KR" sz="1400" b="1" dirty="0"/>
              <a:t>[</a:t>
            </a:r>
            <a:r>
              <a:rPr lang="ko-KR" altLang="en-US" sz="1400" b="1" dirty="0"/>
              <a:t>실습 코드</a:t>
            </a:r>
            <a:r>
              <a:rPr lang="en-US" altLang="ko-KR" sz="1400" b="1" dirty="0"/>
              <a:t>] </a:t>
            </a:r>
            <a:r>
              <a:rPr lang="en-US" altLang="ko-KR" sz="1400" dirty="0"/>
              <a:t>2_strategy</a:t>
            </a:r>
          </a:p>
        </p:txBody>
      </p:sp>
    </p:spTree>
    <p:extLst>
      <p:ext uri="{BB962C8B-B14F-4D97-AF65-F5344CB8AC3E}">
        <p14:creationId xmlns:p14="http://schemas.microsoft.com/office/powerpoint/2010/main" val="13426811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2-4] Strategy : Duck</a:t>
            </a:r>
            <a:r>
              <a:rPr lang="ko-KR" altLang="en-US" spc="0" dirty="0"/>
              <a:t>의 </a:t>
            </a:r>
            <a:r>
              <a:rPr lang="en-US" altLang="ko-KR" spc="0" dirty="0"/>
              <a:t>Behavior </a:t>
            </a:r>
            <a:r>
              <a:rPr lang="ko-KR" altLang="en-US" spc="0" dirty="0"/>
              <a:t>동적 복사 </a:t>
            </a:r>
            <a:r>
              <a:rPr lang="en-US" altLang="ko-KR" spc="0" dirty="0"/>
              <a:t>(solution)</a:t>
            </a:r>
            <a:endParaRPr lang="ko-KR" altLang="en-US" spc="0" dirty="0"/>
          </a:p>
        </p:txBody>
      </p:sp>
      <p:grpSp>
        <p:nvGrpSpPr>
          <p:cNvPr id="2" name="그룹 1"/>
          <p:cNvGrpSpPr/>
          <p:nvPr/>
        </p:nvGrpSpPr>
        <p:grpSpPr>
          <a:xfrm>
            <a:off x="270791" y="553162"/>
            <a:ext cx="8602418" cy="4590338"/>
            <a:chOff x="270791" y="553162"/>
            <a:chExt cx="8602418" cy="4590338"/>
          </a:xfrm>
        </p:grpSpPr>
        <p:pic>
          <p:nvPicPr>
            <p:cNvPr id="5" name="그림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791" y="553162"/>
              <a:ext cx="8602418" cy="4590338"/>
            </a:xfrm>
            <a:prstGeom prst="rect">
              <a:avLst/>
            </a:prstGeom>
          </p:spPr>
        </p:pic>
        <p:cxnSp>
          <p:nvCxnSpPr>
            <p:cNvPr id="7" name="직선 연결선 6"/>
            <p:cNvCxnSpPr/>
            <p:nvPr/>
          </p:nvCxnSpPr>
          <p:spPr>
            <a:xfrm>
              <a:off x="4176064" y="4155926"/>
              <a:ext cx="972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435382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2915816" y="1821832"/>
            <a:ext cx="6156177" cy="2190079"/>
          </a:xfrm>
        </p:spPr>
        <p:txBody>
          <a:bodyPr>
            <a:noAutofit/>
          </a:bodyPr>
          <a:lstStyle/>
          <a:p>
            <a:r>
              <a:rPr lang="en-US" altLang="ko-KR" sz="1600" dirty="0"/>
              <a:t>[</a:t>
            </a:r>
            <a:r>
              <a:rPr lang="ko-KR" altLang="en-US" sz="1600" dirty="0"/>
              <a:t>필수</a:t>
            </a:r>
            <a:r>
              <a:rPr lang="en-US" altLang="ko-KR" sz="1600" dirty="0"/>
              <a:t>] </a:t>
            </a:r>
            <a:br>
              <a:rPr lang="en-US" altLang="ko-KR" b="0" dirty="0"/>
            </a:br>
            <a:r>
              <a:rPr lang="en-US" altLang="ko-KR" sz="2000" b="0" dirty="0"/>
              <a:t>6. Observer </a:t>
            </a:r>
            <a:r>
              <a:rPr lang="en-US" altLang="ko-KR" sz="1600" b="0" dirty="0"/>
              <a:t>(34min)</a:t>
            </a:r>
            <a:br>
              <a:rPr lang="en-US" altLang="ko-KR" sz="1600" b="0" dirty="0"/>
            </a:br>
            <a:r>
              <a:rPr lang="en-US" altLang="ko-KR" sz="2000" b="0" dirty="0"/>
              <a:t>8. Iterator </a:t>
            </a:r>
            <a:r>
              <a:rPr lang="en-US" altLang="ko-KR" sz="1600" b="0" dirty="0"/>
              <a:t>(36min)</a:t>
            </a:r>
            <a:br>
              <a:rPr lang="en-US" altLang="ko-KR" sz="1600" b="0" dirty="0"/>
            </a:br>
            <a:r>
              <a:rPr lang="en-US" altLang="ko-KR" sz="2000" b="0" dirty="0"/>
              <a:t>9. State </a:t>
            </a:r>
            <a:r>
              <a:rPr lang="en-US" altLang="ko-KR" sz="1600" b="0" dirty="0"/>
              <a:t>(36min)</a:t>
            </a:r>
            <a:br>
              <a:rPr lang="en-US" altLang="ko-KR" sz="1600" b="0" dirty="0"/>
            </a:br>
            <a:r>
              <a:rPr lang="en-US" altLang="ko-KR" sz="2000" b="0" dirty="0"/>
              <a:t>10. Mediator </a:t>
            </a:r>
            <a:r>
              <a:rPr lang="en-US" altLang="ko-KR" sz="1600" b="0" dirty="0"/>
              <a:t>(18min)</a:t>
            </a:r>
            <a:br>
              <a:rPr lang="en-US" altLang="ko-KR" sz="1600" b="0" dirty="0"/>
            </a:br>
            <a:br>
              <a:rPr lang="en-US" altLang="ko-KR" b="0" dirty="0"/>
            </a:br>
            <a:r>
              <a:rPr lang="en-US" altLang="ko-KR" sz="1600" dirty="0">
                <a:solidFill>
                  <a:schemeClr val="tx2">
                    <a:lumMod val="40000"/>
                    <a:lumOff val="60000"/>
                  </a:schemeClr>
                </a:solidFill>
              </a:rPr>
              <a:t>[</a:t>
            </a:r>
            <a:r>
              <a:rPr lang="ko-KR" altLang="en-US" sz="1600" dirty="0">
                <a:solidFill>
                  <a:schemeClr val="tx2">
                    <a:lumMod val="40000"/>
                    <a:lumOff val="60000"/>
                  </a:schemeClr>
                </a:solidFill>
              </a:rPr>
              <a:t>추가 학습</a:t>
            </a:r>
            <a:r>
              <a:rPr lang="en-US" altLang="ko-KR" sz="1600" dirty="0">
                <a:solidFill>
                  <a:schemeClr val="tx2">
                    <a:lumMod val="40000"/>
                    <a:lumOff val="60000"/>
                  </a:schemeClr>
                </a:solidFill>
              </a:rPr>
              <a:t>]</a:t>
            </a:r>
            <a:br>
              <a:rPr lang="en-US" altLang="ko-KR" b="0" dirty="0"/>
            </a:br>
            <a:r>
              <a:rPr lang="en-US" altLang="ko-KR" sz="2000" b="0" dirty="0">
                <a:solidFill>
                  <a:schemeClr val="tx2">
                    <a:lumMod val="40000"/>
                    <a:lumOff val="60000"/>
                  </a:schemeClr>
                </a:solidFill>
              </a:rPr>
              <a:t>7. Template Method </a:t>
            </a:r>
            <a:r>
              <a:rPr lang="en-US" altLang="ko-KR" sz="1600" b="0" dirty="0">
                <a:solidFill>
                  <a:schemeClr val="tx2">
                    <a:lumMod val="40000"/>
                    <a:lumOff val="60000"/>
                  </a:schemeClr>
                </a:solidFill>
              </a:rPr>
              <a:t>(22min)</a:t>
            </a:r>
            <a:br>
              <a:rPr lang="en-US" altLang="ko-KR" sz="1600" b="0" dirty="0"/>
            </a:br>
            <a:br>
              <a:rPr lang="en-US" altLang="ko-KR" b="0" dirty="0"/>
            </a:br>
            <a:br>
              <a:rPr lang="en-US" altLang="ko-KR" sz="1600" b="0" dirty="0"/>
            </a:br>
            <a:r>
              <a:rPr lang="en-US" altLang="ko-KR" sz="1600" b="0" dirty="0"/>
              <a:t>* </a:t>
            </a:r>
            <a:r>
              <a:rPr lang="ko-KR" altLang="en-US" sz="1600" b="0" dirty="0"/>
              <a:t>사전 학습 등 </a:t>
            </a:r>
            <a:r>
              <a:rPr lang="en-US" altLang="ko-KR" sz="1600" b="0" dirty="0"/>
              <a:t>DP</a:t>
            </a:r>
            <a:r>
              <a:rPr lang="ko-KR" altLang="en-US" sz="1600" b="0" dirty="0"/>
              <a:t>에 익숙한 분은 영상 시청 없이 바로 </a:t>
            </a:r>
            <a:r>
              <a:rPr lang="en-US" altLang="ko-KR" sz="1600" b="0" dirty="0"/>
              <a:t>Practice 4</a:t>
            </a:r>
            <a:r>
              <a:rPr lang="ko-KR" altLang="en-US" sz="1600" b="0" dirty="0"/>
              <a:t>개 도전</a:t>
            </a:r>
            <a:r>
              <a:rPr lang="en-US" altLang="ko-KR" sz="1600" b="0" dirty="0"/>
              <a:t>!</a:t>
            </a:r>
          </a:p>
        </p:txBody>
      </p:sp>
      <p:sp>
        <p:nvSpPr>
          <p:cNvPr id="5" name="제목 1"/>
          <p:cNvSpPr txBox="1">
            <a:spLocks/>
          </p:cNvSpPr>
          <p:nvPr/>
        </p:nvSpPr>
        <p:spPr>
          <a:xfrm>
            <a:off x="2915816" y="483518"/>
            <a:ext cx="4752528" cy="533895"/>
          </a:xfrm>
          <a:prstGeom prst="rect">
            <a:avLst/>
          </a:prstGeom>
        </p:spPr>
        <p:txBody>
          <a:bodyPr vert="horz" lIns="75927" tIns="37964" rIns="75927" bIns="37964" rtlCol="0" anchor="ctr">
            <a:noAutofit/>
          </a:bodyPr>
          <a:lstStyle>
            <a:lvl1pPr algn="l" defTabSz="914400" rtl="0" eaLnBrk="1" latinLnBrk="1" hangingPunct="1">
              <a:spcBef>
                <a:spcPct val="0"/>
              </a:spcBef>
              <a:buNone/>
              <a:defRPr lang="ko-KR" altLang="en-US" sz="2400" b="1" kern="1200" spc="-100" baseline="0" dirty="0">
                <a:ln>
                  <a:solidFill>
                    <a:srgbClr val="2A2D72">
                      <a:alpha val="5000"/>
                    </a:srgbClr>
                  </a:solidFill>
                </a:ln>
                <a:solidFill>
                  <a:srgbClr val="5974BF"/>
                </a:solidFill>
                <a:latin typeface="+mj-ea"/>
                <a:ea typeface="+mj-ea"/>
                <a:cs typeface="Arial" panose="020B0604020202020204" pitchFamily="34" charset="0"/>
              </a:defRPr>
            </a:lvl1pPr>
          </a:lstStyle>
          <a:p>
            <a:pPr defTabSz="759253"/>
            <a:r>
              <a:rPr lang="en-US" altLang="ko-KR" sz="2800" spc="-150" dirty="0">
                <a:ln>
                  <a:noFill/>
                </a:ln>
                <a:solidFill>
                  <a:srgbClr val="B2CCEC"/>
                </a:solidFill>
                <a:latin typeface="+mn-ea"/>
                <a:ea typeface="+mn-ea"/>
              </a:rPr>
              <a:t>[</a:t>
            </a:r>
            <a:r>
              <a:rPr lang="ko-KR" altLang="en-US" sz="2800" spc="-150" dirty="0">
                <a:ln>
                  <a:noFill/>
                </a:ln>
                <a:solidFill>
                  <a:srgbClr val="B2CCEC"/>
                </a:solidFill>
                <a:latin typeface="+mn-ea"/>
                <a:ea typeface="+mn-ea"/>
              </a:rPr>
              <a:t>온라인 영상 학습</a:t>
            </a:r>
            <a:r>
              <a:rPr lang="en-US" altLang="ko-KR" sz="2800" spc="-150" dirty="0">
                <a:ln>
                  <a:noFill/>
                </a:ln>
                <a:solidFill>
                  <a:srgbClr val="B2CCEC"/>
                </a:solidFill>
                <a:latin typeface="+mn-ea"/>
                <a:ea typeface="+mn-ea"/>
              </a:rPr>
              <a:t>]</a:t>
            </a:r>
            <a:endParaRPr lang="ko-KR" altLang="en-US" sz="2800" spc="-150" dirty="0">
              <a:ln>
                <a:noFill/>
              </a:ln>
              <a:solidFill>
                <a:srgbClr val="B2CCEC"/>
              </a:solidFill>
              <a:latin typeface="+mn-ea"/>
              <a:ea typeface="+mn-ea"/>
            </a:endParaRPr>
          </a:p>
        </p:txBody>
      </p:sp>
      <p:sp>
        <p:nvSpPr>
          <p:cNvPr id="6" name="직사각형 5"/>
          <p:cNvSpPr/>
          <p:nvPr/>
        </p:nvSpPr>
        <p:spPr>
          <a:xfrm>
            <a:off x="395536" y="2283718"/>
            <a:ext cx="1957587" cy="954107"/>
          </a:xfrm>
          <a:prstGeom prst="rect">
            <a:avLst/>
          </a:prstGeom>
        </p:spPr>
        <p:txBody>
          <a:bodyPr wrap="none">
            <a:spAutoFit/>
          </a:bodyPr>
          <a:lstStyle/>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Behavioral </a:t>
            </a:r>
          </a:p>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Patterns</a:t>
            </a:r>
            <a:endParaRPr lang="ko-KR" altLang="en-US" sz="2800" b="1" spc="-100" dirty="0">
              <a:ln>
                <a:solidFill>
                  <a:srgbClr val="2A2D72">
                    <a:alpha val="5000"/>
                  </a:srgbClr>
                </a:solidFill>
              </a:ln>
              <a:solidFill>
                <a:srgbClr val="5974BF"/>
              </a:solidFill>
              <a:latin typeface="+mj-ea"/>
              <a:ea typeface="+mj-ea"/>
              <a:cs typeface="Arial" panose="020B0604020202020204" pitchFamily="34" charset="0"/>
            </a:endParaRPr>
          </a:p>
        </p:txBody>
      </p:sp>
    </p:spTree>
    <p:extLst>
      <p:ext uri="{BB962C8B-B14F-4D97-AF65-F5344CB8AC3E}">
        <p14:creationId xmlns:p14="http://schemas.microsoft.com/office/powerpoint/2010/main" val="29876649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2928428" y="1821831"/>
            <a:ext cx="5604012" cy="2190079"/>
          </a:xfrm>
        </p:spPr>
        <p:txBody>
          <a:bodyPr>
            <a:noAutofit/>
          </a:bodyPr>
          <a:lstStyle/>
          <a:p>
            <a:r>
              <a:rPr lang="en-US" altLang="ko-KR" sz="3600" dirty="0"/>
              <a:t>Observer, State Patterns    </a:t>
            </a:r>
          </a:p>
        </p:txBody>
      </p:sp>
      <p:sp>
        <p:nvSpPr>
          <p:cNvPr id="5" name="제목 1"/>
          <p:cNvSpPr txBox="1">
            <a:spLocks/>
          </p:cNvSpPr>
          <p:nvPr/>
        </p:nvSpPr>
        <p:spPr>
          <a:xfrm>
            <a:off x="2915816" y="1203598"/>
            <a:ext cx="2376264" cy="533895"/>
          </a:xfrm>
          <a:prstGeom prst="rect">
            <a:avLst/>
          </a:prstGeom>
        </p:spPr>
        <p:txBody>
          <a:bodyPr vert="horz" lIns="75927" tIns="37964" rIns="75927" bIns="37964" rtlCol="0" anchor="ctr">
            <a:noAutofit/>
          </a:bodyPr>
          <a:lstStyle>
            <a:lvl1pPr algn="l" defTabSz="914400" rtl="0" eaLnBrk="1" latinLnBrk="1" hangingPunct="1">
              <a:spcBef>
                <a:spcPct val="0"/>
              </a:spcBef>
              <a:buNone/>
              <a:defRPr lang="ko-KR" altLang="en-US" sz="2400" b="1" kern="1200" spc="-100" baseline="0" dirty="0">
                <a:ln>
                  <a:solidFill>
                    <a:srgbClr val="2A2D72">
                      <a:alpha val="5000"/>
                    </a:srgbClr>
                  </a:solidFill>
                </a:ln>
                <a:solidFill>
                  <a:srgbClr val="5974BF"/>
                </a:solidFill>
                <a:latin typeface="+mj-ea"/>
                <a:ea typeface="+mj-ea"/>
                <a:cs typeface="Arial" panose="020B0604020202020204" pitchFamily="34" charset="0"/>
              </a:defRPr>
            </a:lvl1pPr>
          </a:lstStyle>
          <a:p>
            <a:pPr defTabSz="759272"/>
            <a:r>
              <a:rPr lang="en-US" altLang="ko-KR" sz="2800" spc="-150" dirty="0">
                <a:ln>
                  <a:noFill/>
                </a:ln>
                <a:solidFill>
                  <a:srgbClr val="B2CCEC"/>
                </a:solidFill>
                <a:latin typeface="+mn-ea"/>
                <a:ea typeface="+mn-ea"/>
              </a:rPr>
              <a:t>03 04</a:t>
            </a:r>
            <a:endParaRPr lang="ko-KR" altLang="en-US" sz="2800" spc="-150" dirty="0">
              <a:ln>
                <a:noFill/>
              </a:ln>
              <a:solidFill>
                <a:srgbClr val="B2CCEC"/>
              </a:solidFill>
              <a:latin typeface="+mn-ea"/>
              <a:ea typeface="+mn-ea"/>
            </a:endParaRPr>
          </a:p>
        </p:txBody>
      </p:sp>
      <p:sp>
        <p:nvSpPr>
          <p:cNvPr id="7" name="직사각형 6"/>
          <p:cNvSpPr/>
          <p:nvPr/>
        </p:nvSpPr>
        <p:spPr>
          <a:xfrm>
            <a:off x="395536" y="2283718"/>
            <a:ext cx="1957587" cy="954107"/>
          </a:xfrm>
          <a:prstGeom prst="rect">
            <a:avLst/>
          </a:prstGeom>
        </p:spPr>
        <p:txBody>
          <a:bodyPr wrap="none">
            <a:spAutoFit/>
          </a:bodyPr>
          <a:lstStyle/>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Behavioral </a:t>
            </a:r>
          </a:p>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Patterns</a:t>
            </a:r>
            <a:endParaRPr lang="ko-KR" altLang="en-US" sz="2800" b="1" spc="-100" dirty="0">
              <a:ln>
                <a:solidFill>
                  <a:srgbClr val="2A2D72">
                    <a:alpha val="5000"/>
                  </a:srgbClr>
                </a:solidFill>
              </a:ln>
              <a:solidFill>
                <a:srgbClr val="5974BF"/>
              </a:solidFill>
              <a:latin typeface="+mj-ea"/>
              <a:ea typeface="+mj-ea"/>
              <a:cs typeface="Arial" panose="020B0604020202020204" pitchFamily="34" charset="0"/>
            </a:endParaRPr>
          </a:p>
        </p:txBody>
      </p:sp>
    </p:spTree>
    <p:extLst>
      <p:ext uri="{BB962C8B-B14F-4D97-AF65-F5344CB8AC3E}">
        <p14:creationId xmlns:p14="http://schemas.microsoft.com/office/powerpoint/2010/main" val="17534979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1834-8B13-174F-D26E-5F80E4205ACB}"/>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918E8EDA-DF46-0D3B-F11F-DE86FDF81E73}"/>
              </a:ext>
            </a:extLst>
          </p:cNvPr>
          <p:cNvSpPr>
            <a:spLocks noGrp="1"/>
          </p:cNvSpPr>
          <p:nvPr>
            <p:ph type="title"/>
          </p:nvPr>
        </p:nvSpPr>
        <p:spPr/>
        <p:txBody>
          <a:bodyPr vert="horz" lIns="75927" tIns="37964" rIns="75927" bIns="37964" rtlCol="0" anchor="ctr">
            <a:normAutofit/>
          </a:bodyPr>
          <a:lstStyle/>
          <a:p>
            <a:r>
              <a:rPr lang="en-US" altLang="ko-KR" spc="0" dirty="0"/>
              <a:t>[Practice 3] Observer Pattern</a:t>
            </a:r>
            <a:endParaRPr lang="ko-KR" altLang="en-US" spc="0" dirty="0"/>
          </a:p>
        </p:txBody>
      </p:sp>
      <p:pic>
        <p:nvPicPr>
          <p:cNvPr id="4" name="내용 개체 틀 3">
            <a:extLst>
              <a:ext uri="{FF2B5EF4-FFF2-40B4-BE49-F238E27FC236}">
                <a16:creationId xmlns:a16="http://schemas.microsoft.com/office/drawing/2014/main" id="{D554FE3A-13CA-8192-C526-523AF2AD1321}"/>
              </a:ext>
            </a:extLst>
          </p:cNvPr>
          <p:cNvPicPr>
            <a:picLocks noGrp="1" noChangeAspect="1"/>
          </p:cNvPicPr>
          <p:nvPr>
            <p:ph idx="1"/>
          </p:nvPr>
        </p:nvPicPr>
        <p:blipFill>
          <a:blip r:embed="rId2"/>
          <a:stretch>
            <a:fillRect/>
          </a:stretch>
        </p:blipFill>
        <p:spPr>
          <a:xfrm>
            <a:off x="1740694" y="926306"/>
            <a:ext cx="5734050" cy="3714750"/>
          </a:xfrm>
          <a:prstGeom prst="rect">
            <a:avLst/>
          </a:prstGeom>
        </p:spPr>
      </p:pic>
      <p:sp>
        <p:nvSpPr>
          <p:cNvPr id="2" name="직사각형 1">
            <a:extLst>
              <a:ext uri="{FF2B5EF4-FFF2-40B4-BE49-F238E27FC236}">
                <a16:creationId xmlns:a16="http://schemas.microsoft.com/office/drawing/2014/main" id="{BACA5D66-0E56-710D-601E-00AEB73F47C5}"/>
              </a:ext>
            </a:extLst>
          </p:cNvPr>
          <p:cNvSpPr/>
          <p:nvPr/>
        </p:nvSpPr>
        <p:spPr>
          <a:xfrm>
            <a:off x="1578256" y="843558"/>
            <a:ext cx="6018079" cy="2160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 name="직사각형 4">
            <a:extLst>
              <a:ext uri="{FF2B5EF4-FFF2-40B4-BE49-F238E27FC236}">
                <a16:creationId xmlns:a16="http://schemas.microsoft.com/office/drawing/2014/main" id="{106B8A30-0F92-84B9-D772-1960C4F56633}"/>
              </a:ext>
            </a:extLst>
          </p:cNvPr>
          <p:cNvSpPr/>
          <p:nvPr/>
        </p:nvSpPr>
        <p:spPr>
          <a:xfrm>
            <a:off x="1907704" y="3086546"/>
            <a:ext cx="1656184" cy="1658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b="1" dirty="0">
                <a:solidFill>
                  <a:schemeClr val="tx1"/>
                </a:solidFill>
              </a:rPr>
              <a:t>Subject</a:t>
            </a:r>
            <a:endParaRPr lang="ko-KR" altLang="en-US" sz="1100" b="1" dirty="0">
              <a:solidFill>
                <a:schemeClr val="tx1"/>
              </a:solidFill>
            </a:endParaRPr>
          </a:p>
        </p:txBody>
      </p:sp>
      <p:sp>
        <p:nvSpPr>
          <p:cNvPr id="6" name="직사각형 5">
            <a:extLst>
              <a:ext uri="{FF2B5EF4-FFF2-40B4-BE49-F238E27FC236}">
                <a16:creationId xmlns:a16="http://schemas.microsoft.com/office/drawing/2014/main" id="{63DA086E-263C-776B-3D2E-BF6DAB8067A6}"/>
              </a:ext>
            </a:extLst>
          </p:cNvPr>
          <p:cNvSpPr/>
          <p:nvPr/>
        </p:nvSpPr>
        <p:spPr>
          <a:xfrm>
            <a:off x="3708957" y="2729666"/>
            <a:ext cx="1756675" cy="11446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8" name="직선 화살표 연결선 7">
            <a:extLst>
              <a:ext uri="{FF2B5EF4-FFF2-40B4-BE49-F238E27FC236}">
                <a16:creationId xmlns:a16="http://schemas.microsoft.com/office/drawing/2014/main" id="{4ABDD9C4-AF1C-BE8F-E135-C0886E8E8471}"/>
              </a:ext>
            </a:extLst>
          </p:cNvPr>
          <p:cNvCxnSpPr>
            <a:cxnSpLocks/>
          </p:cNvCxnSpPr>
          <p:nvPr/>
        </p:nvCxnSpPr>
        <p:spPr>
          <a:xfrm>
            <a:off x="3727295" y="3846068"/>
            <a:ext cx="1719998" cy="0"/>
          </a:xfrm>
          <a:prstGeom prst="straightConnector1">
            <a:avLst/>
          </a:prstGeom>
          <a:ln w="12700">
            <a:solidFill>
              <a:schemeClr val="tx1"/>
            </a:solidFill>
            <a:prstDash val="solid"/>
            <a:tailEnd type="arrow"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A804FB3-1F41-1DEB-8C9E-138824084B3A}"/>
              </a:ext>
            </a:extLst>
          </p:cNvPr>
          <p:cNvSpPr txBox="1"/>
          <p:nvPr/>
        </p:nvSpPr>
        <p:spPr>
          <a:xfrm>
            <a:off x="155395" y="699542"/>
            <a:ext cx="1341643" cy="369332"/>
          </a:xfrm>
          <a:prstGeom prst="rect">
            <a:avLst/>
          </a:prstGeom>
          <a:noFill/>
        </p:spPr>
        <p:txBody>
          <a:bodyPr wrap="square">
            <a:spAutoFit/>
          </a:bodyPr>
          <a:lstStyle/>
          <a:p>
            <a:r>
              <a:rPr lang="en-US" altLang="ko-KR" sz="1800" b="1" dirty="0"/>
              <a:t>[</a:t>
            </a:r>
            <a:r>
              <a:rPr lang="ko-KR" altLang="en-US" sz="1800" b="1" dirty="0"/>
              <a:t>문제점</a:t>
            </a:r>
            <a:r>
              <a:rPr lang="en-US" altLang="ko-KR" sz="1800" b="1" dirty="0"/>
              <a:t>] </a:t>
            </a:r>
            <a:endParaRPr lang="ko-KR" altLang="en-US" b="1" dirty="0"/>
          </a:p>
        </p:txBody>
      </p:sp>
      <p:sp>
        <p:nvSpPr>
          <p:cNvPr id="10" name="직사각형 9">
            <a:extLst>
              <a:ext uri="{FF2B5EF4-FFF2-40B4-BE49-F238E27FC236}">
                <a16:creationId xmlns:a16="http://schemas.microsoft.com/office/drawing/2014/main" id="{32ED1885-4B25-709D-6DBF-F7A2F94713DF}"/>
              </a:ext>
            </a:extLst>
          </p:cNvPr>
          <p:cNvSpPr/>
          <p:nvPr/>
        </p:nvSpPr>
        <p:spPr>
          <a:xfrm>
            <a:off x="5529124" y="3077378"/>
            <a:ext cx="1656184" cy="1658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b="1" dirty="0" err="1">
                <a:solidFill>
                  <a:schemeClr val="tx1"/>
                </a:solidFill>
              </a:rPr>
              <a:t>ReceiverA</a:t>
            </a:r>
            <a:endParaRPr lang="ko-KR" altLang="en-US" sz="1100" b="1" dirty="0">
              <a:solidFill>
                <a:schemeClr val="tx1"/>
              </a:solidFill>
            </a:endParaRPr>
          </a:p>
        </p:txBody>
      </p:sp>
      <p:sp>
        <p:nvSpPr>
          <p:cNvPr id="11" name="직사각형 10">
            <a:extLst>
              <a:ext uri="{FF2B5EF4-FFF2-40B4-BE49-F238E27FC236}">
                <a16:creationId xmlns:a16="http://schemas.microsoft.com/office/drawing/2014/main" id="{5EDF6F6C-AC73-F06C-84F1-B917E13DB004}"/>
              </a:ext>
            </a:extLst>
          </p:cNvPr>
          <p:cNvSpPr/>
          <p:nvPr/>
        </p:nvSpPr>
        <p:spPr>
          <a:xfrm>
            <a:off x="1879747" y="3294194"/>
            <a:ext cx="1756675" cy="11037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5" name="직사각형 14">
            <a:extLst>
              <a:ext uri="{FF2B5EF4-FFF2-40B4-BE49-F238E27FC236}">
                <a16:creationId xmlns:a16="http://schemas.microsoft.com/office/drawing/2014/main" id="{F22F370D-3BDA-8041-83D4-03527D1CB02A}"/>
              </a:ext>
            </a:extLst>
          </p:cNvPr>
          <p:cNvSpPr/>
          <p:nvPr/>
        </p:nvSpPr>
        <p:spPr>
          <a:xfrm>
            <a:off x="5538167" y="3481447"/>
            <a:ext cx="1756675" cy="7920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6" name="TextBox 15">
            <a:extLst>
              <a:ext uri="{FF2B5EF4-FFF2-40B4-BE49-F238E27FC236}">
                <a16:creationId xmlns:a16="http://schemas.microsoft.com/office/drawing/2014/main" id="{ED03089B-F858-E7B3-4D94-78F134BB517A}"/>
              </a:ext>
            </a:extLst>
          </p:cNvPr>
          <p:cNvSpPr txBox="1"/>
          <p:nvPr/>
        </p:nvSpPr>
        <p:spPr>
          <a:xfrm>
            <a:off x="2276454" y="1759151"/>
            <a:ext cx="1165843" cy="276999"/>
          </a:xfrm>
          <a:prstGeom prst="rect">
            <a:avLst/>
          </a:prstGeom>
          <a:solidFill>
            <a:schemeClr val="bg1">
              <a:lumMod val="95000"/>
            </a:schemeClr>
          </a:solidFill>
          <a:ln w="3175">
            <a:solidFill>
              <a:schemeClr val="tx1"/>
            </a:solidFill>
          </a:ln>
        </p:spPr>
        <p:txBody>
          <a:bodyPr wrap="square">
            <a:spAutoFit/>
          </a:bodyPr>
          <a:lstStyle/>
          <a:p>
            <a:r>
              <a:rPr lang="ko-KR" altLang="en-US" sz="1200" dirty="0"/>
              <a:t>날씨 정보</a:t>
            </a:r>
          </a:p>
        </p:txBody>
      </p:sp>
      <p:sp>
        <p:nvSpPr>
          <p:cNvPr id="17" name="TextBox 16">
            <a:extLst>
              <a:ext uri="{FF2B5EF4-FFF2-40B4-BE49-F238E27FC236}">
                <a16:creationId xmlns:a16="http://schemas.microsoft.com/office/drawing/2014/main" id="{0C85812D-2AA7-47D7-0B71-0DDD292F3F4B}"/>
              </a:ext>
            </a:extLst>
          </p:cNvPr>
          <p:cNvSpPr txBox="1"/>
          <p:nvPr/>
        </p:nvSpPr>
        <p:spPr>
          <a:xfrm>
            <a:off x="5555358" y="1273988"/>
            <a:ext cx="1424106" cy="276999"/>
          </a:xfrm>
          <a:prstGeom prst="rect">
            <a:avLst/>
          </a:prstGeom>
          <a:solidFill>
            <a:schemeClr val="bg1">
              <a:lumMod val="95000"/>
            </a:schemeClr>
          </a:solidFill>
          <a:ln w="3175">
            <a:solidFill>
              <a:schemeClr val="tx1"/>
            </a:solidFill>
          </a:ln>
        </p:spPr>
        <p:txBody>
          <a:bodyPr wrap="square">
            <a:spAutoFit/>
          </a:bodyPr>
          <a:lstStyle/>
          <a:p>
            <a:r>
              <a:rPr lang="ko-KR" altLang="en-US" sz="1200" dirty="0"/>
              <a:t>날씨 위젯</a:t>
            </a:r>
          </a:p>
        </p:txBody>
      </p:sp>
      <p:sp>
        <p:nvSpPr>
          <p:cNvPr id="18" name="TextBox 17">
            <a:extLst>
              <a:ext uri="{FF2B5EF4-FFF2-40B4-BE49-F238E27FC236}">
                <a16:creationId xmlns:a16="http://schemas.microsoft.com/office/drawing/2014/main" id="{5BE98432-F554-71C0-4F8C-90C66C883D38}"/>
              </a:ext>
            </a:extLst>
          </p:cNvPr>
          <p:cNvSpPr txBox="1"/>
          <p:nvPr/>
        </p:nvSpPr>
        <p:spPr>
          <a:xfrm>
            <a:off x="5555358" y="1716900"/>
            <a:ext cx="1424106" cy="276999"/>
          </a:xfrm>
          <a:prstGeom prst="rect">
            <a:avLst/>
          </a:prstGeom>
          <a:solidFill>
            <a:schemeClr val="bg1">
              <a:lumMod val="95000"/>
            </a:schemeClr>
          </a:solidFill>
          <a:ln w="3175">
            <a:solidFill>
              <a:schemeClr val="tx1"/>
            </a:solidFill>
          </a:ln>
        </p:spPr>
        <p:txBody>
          <a:bodyPr wrap="square">
            <a:spAutoFit/>
          </a:bodyPr>
          <a:lstStyle/>
          <a:p>
            <a:r>
              <a:rPr lang="ko-KR" altLang="en-US" sz="1200" dirty="0"/>
              <a:t>날씨 알림 서비스</a:t>
            </a:r>
          </a:p>
        </p:txBody>
      </p:sp>
      <p:cxnSp>
        <p:nvCxnSpPr>
          <p:cNvPr id="20" name="직선 화살표 연결선 19">
            <a:extLst>
              <a:ext uri="{FF2B5EF4-FFF2-40B4-BE49-F238E27FC236}">
                <a16:creationId xmlns:a16="http://schemas.microsoft.com/office/drawing/2014/main" id="{4F1AE35C-3CF6-A715-AA4F-B3CC05819680}"/>
              </a:ext>
            </a:extLst>
          </p:cNvPr>
          <p:cNvCxnSpPr>
            <a:cxnSpLocks/>
          </p:cNvCxnSpPr>
          <p:nvPr/>
        </p:nvCxnSpPr>
        <p:spPr>
          <a:xfrm flipV="1">
            <a:off x="3563888" y="1512669"/>
            <a:ext cx="1776344" cy="266993"/>
          </a:xfrm>
          <a:prstGeom prst="straightConnector1">
            <a:avLst/>
          </a:prstGeom>
          <a:ln w="12700">
            <a:solidFill>
              <a:schemeClr val="tx1"/>
            </a:solidFill>
            <a:prstDash val="solid"/>
            <a:tailEnd type="arrow" w="lg" len="lg"/>
          </a:ln>
        </p:spPr>
        <p:style>
          <a:lnRef idx="1">
            <a:schemeClr val="accent1"/>
          </a:lnRef>
          <a:fillRef idx="0">
            <a:schemeClr val="accent1"/>
          </a:fillRef>
          <a:effectRef idx="0">
            <a:schemeClr val="accent1"/>
          </a:effectRef>
          <a:fontRef idx="minor">
            <a:schemeClr val="tx1"/>
          </a:fontRef>
        </p:style>
      </p:cxnSp>
      <p:cxnSp>
        <p:nvCxnSpPr>
          <p:cNvPr id="22" name="직선 화살표 연결선 21">
            <a:extLst>
              <a:ext uri="{FF2B5EF4-FFF2-40B4-BE49-F238E27FC236}">
                <a16:creationId xmlns:a16="http://schemas.microsoft.com/office/drawing/2014/main" id="{18BA13CF-FB6E-0F35-81CB-BDF43C75A80D}"/>
              </a:ext>
            </a:extLst>
          </p:cNvPr>
          <p:cNvCxnSpPr>
            <a:cxnSpLocks/>
          </p:cNvCxnSpPr>
          <p:nvPr/>
        </p:nvCxnSpPr>
        <p:spPr>
          <a:xfrm flipV="1">
            <a:off x="3573782" y="1884990"/>
            <a:ext cx="1790306" cy="25323"/>
          </a:xfrm>
          <a:prstGeom prst="straightConnector1">
            <a:avLst/>
          </a:prstGeom>
          <a:ln w="12700">
            <a:solidFill>
              <a:schemeClr val="tx1"/>
            </a:solidFill>
            <a:prstDash val="solid"/>
            <a:tailEnd type="arrow" w="lg" len="lg"/>
          </a:ln>
        </p:spPr>
        <p:style>
          <a:lnRef idx="1">
            <a:schemeClr val="accent1"/>
          </a:lnRef>
          <a:fillRef idx="0">
            <a:schemeClr val="accent1"/>
          </a:fillRef>
          <a:effectRef idx="0">
            <a:schemeClr val="accent1"/>
          </a:effectRef>
          <a:fontRef idx="minor">
            <a:schemeClr val="tx1"/>
          </a:fontRef>
        </p:style>
      </p:cxnSp>
      <p:cxnSp>
        <p:nvCxnSpPr>
          <p:cNvPr id="24" name="직선 화살표 연결선 23">
            <a:extLst>
              <a:ext uri="{FF2B5EF4-FFF2-40B4-BE49-F238E27FC236}">
                <a16:creationId xmlns:a16="http://schemas.microsoft.com/office/drawing/2014/main" id="{8AC7BBD1-7EC2-B50A-B2F7-38C7A1AF0EDA}"/>
              </a:ext>
            </a:extLst>
          </p:cNvPr>
          <p:cNvCxnSpPr>
            <a:cxnSpLocks/>
          </p:cNvCxnSpPr>
          <p:nvPr/>
        </p:nvCxnSpPr>
        <p:spPr>
          <a:xfrm>
            <a:off x="3573782" y="2025215"/>
            <a:ext cx="1766450" cy="370701"/>
          </a:xfrm>
          <a:prstGeom prst="straightConnector1">
            <a:avLst/>
          </a:prstGeom>
          <a:ln w="12700">
            <a:solidFill>
              <a:schemeClr val="tx1"/>
            </a:solidFill>
            <a:prstDash val="solid"/>
            <a:tailEnd type="arrow"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516A6E5-7044-604E-A941-4A4B69E80B8A}"/>
              </a:ext>
            </a:extLst>
          </p:cNvPr>
          <p:cNvSpPr txBox="1"/>
          <p:nvPr/>
        </p:nvSpPr>
        <p:spPr>
          <a:xfrm>
            <a:off x="5556403" y="2216452"/>
            <a:ext cx="1423061" cy="276999"/>
          </a:xfrm>
          <a:prstGeom prst="rect">
            <a:avLst/>
          </a:prstGeom>
          <a:solidFill>
            <a:schemeClr val="bg1">
              <a:lumMod val="95000"/>
            </a:schemeClr>
          </a:solidFill>
          <a:ln w="3175">
            <a:solidFill>
              <a:schemeClr val="tx1"/>
            </a:solidFill>
          </a:ln>
        </p:spPr>
        <p:txBody>
          <a:bodyPr wrap="square">
            <a:spAutoFit/>
          </a:bodyPr>
          <a:lstStyle/>
          <a:p>
            <a:r>
              <a:rPr lang="en-US" altLang="ko-KR" sz="1200" dirty="0"/>
              <a:t>… </a:t>
            </a:r>
            <a:r>
              <a:rPr lang="ko-KR" altLang="en-US" sz="1200" dirty="0"/>
              <a:t>또 다른 서비스</a:t>
            </a:r>
          </a:p>
        </p:txBody>
      </p:sp>
      <p:sp>
        <p:nvSpPr>
          <p:cNvPr id="28" name="직사각형 27">
            <a:extLst>
              <a:ext uri="{FF2B5EF4-FFF2-40B4-BE49-F238E27FC236}">
                <a16:creationId xmlns:a16="http://schemas.microsoft.com/office/drawing/2014/main" id="{BFAEAC29-6484-F42F-FD13-082858ACD25F}"/>
              </a:ext>
            </a:extLst>
          </p:cNvPr>
          <p:cNvSpPr/>
          <p:nvPr/>
        </p:nvSpPr>
        <p:spPr>
          <a:xfrm>
            <a:off x="5340232" y="866872"/>
            <a:ext cx="2016224" cy="288032"/>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ko-KR" sz="800" dirty="0">
                <a:solidFill>
                  <a:srgbClr val="0000FF"/>
                </a:solidFill>
              </a:rPr>
              <a:t>* Receiver</a:t>
            </a:r>
            <a:r>
              <a:rPr lang="ko-KR" altLang="en-US" sz="800" dirty="0">
                <a:solidFill>
                  <a:srgbClr val="0000FF"/>
                </a:solidFill>
              </a:rPr>
              <a:t>가 변경될 때마다</a:t>
            </a:r>
            <a:r>
              <a:rPr lang="en-US" altLang="ko-KR" sz="800" dirty="0">
                <a:solidFill>
                  <a:srgbClr val="0000FF"/>
                </a:solidFill>
              </a:rPr>
              <a:t>?</a:t>
            </a:r>
          </a:p>
          <a:p>
            <a:r>
              <a:rPr lang="en-US" altLang="ko-KR" sz="800" dirty="0">
                <a:solidFill>
                  <a:srgbClr val="0000FF"/>
                </a:solidFill>
              </a:rPr>
              <a:t>* </a:t>
            </a:r>
            <a:r>
              <a:rPr lang="ko-KR" altLang="en-US" sz="800" dirty="0">
                <a:solidFill>
                  <a:srgbClr val="0000FF"/>
                </a:solidFill>
              </a:rPr>
              <a:t>새로운</a:t>
            </a:r>
            <a:r>
              <a:rPr lang="en-US" altLang="ko-KR" sz="800" dirty="0">
                <a:solidFill>
                  <a:srgbClr val="0000FF"/>
                </a:solidFill>
              </a:rPr>
              <a:t> Receiver</a:t>
            </a:r>
            <a:r>
              <a:rPr lang="ko-KR" altLang="en-US" sz="800" dirty="0">
                <a:solidFill>
                  <a:srgbClr val="0000FF"/>
                </a:solidFill>
              </a:rPr>
              <a:t>가 추가 될 때 마다</a:t>
            </a:r>
            <a:r>
              <a:rPr lang="en-US" altLang="ko-KR" sz="800" dirty="0">
                <a:solidFill>
                  <a:srgbClr val="0000FF"/>
                </a:solidFill>
              </a:rPr>
              <a:t>?</a:t>
            </a:r>
            <a:endParaRPr lang="ko-KR" altLang="en-US" sz="800" dirty="0">
              <a:solidFill>
                <a:srgbClr val="0000FF"/>
              </a:solidFill>
            </a:endParaRPr>
          </a:p>
        </p:txBody>
      </p:sp>
    </p:spTree>
    <p:extLst>
      <p:ext uri="{BB962C8B-B14F-4D97-AF65-F5344CB8AC3E}">
        <p14:creationId xmlns:p14="http://schemas.microsoft.com/office/powerpoint/2010/main" val="14930780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1834-8B13-174F-D26E-5F80E4205ACB}"/>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918E8EDA-DF46-0D3B-F11F-DE86FDF81E73}"/>
              </a:ext>
            </a:extLst>
          </p:cNvPr>
          <p:cNvSpPr>
            <a:spLocks noGrp="1"/>
          </p:cNvSpPr>
          <p:nvPr>
            <p:ph type="title"/>
          </p:nvPr>
        </p:nvSpPr>
        <p:spPr/>
        <p:txBody>
          <a:bodyPr vert="horz" lIns="75927" tIns="37964" rIns="75927" bIns="37964" rtlCol="0" anchor="ctr">
            <a:normAutofit/>
          </a:bodyPr>
          <a:lstStyle/>
          <a:p>
            <a:r>
              <a:rPr lang="en-US" altLang="ko-KR" spc="0" dirty="0"/>
              <a:t>[Practice 3] Observer Pattern</a:t>
            </a:r>
            <a:endParaRPr lang="ko-KR" altLang="en-US" spc="0" dirty="0"/>
          </a:p>
        </p:txBody>
      </p:sp>
      <p:pic>
        <p:nvPicPr>
          <p:cNvPr id="4" name="내용 개체 틀 3">
            <a:extLst>
              <a:ext uri="{FF2B5EF4-FFF2-40B4-BE49-F238E27FC236}">
                <a16:creationId xmlns:a16="http://schemas.microsoft.com/office/drawing/2014/main" id="{D554FE3A-13CA-8192-C526-523AF2AD1321}"/>
              </a:ext>
            </a:extLst>
          </p:cNvPr>
          <p:cNvPicPr>
            <a:picLocks noGrp="1" noChangeAspect="1"/>
          </p:cNvPicPr>
          <p:nvPr>
            <p:ph idx="1"/>
          </p:nvPr>
        </p:nvPicPr>
        <p:blipFill>
          <a:blip r:embed="rId2"/>
          <a:stretch>
            <a:fillRect/>
          </a:stretch>
        </p:blipFill>
        <p:spPr>
          <a:xfrm>
            <a:off x="1740694" y="926306"/>
            <a:ext cx="5734050" cy="3714750"/>
          </a:xfrm>
          <a:prstGeom prst="rect">
            <a:avLst/>
          </a:prstGeom>
        </p:spPr>
      </p:pic>
      <p:sp>
        <p:nvSpPr>
          <p:cNvPr id="2" name="직사각형 1">
            <a:extLst>
              <a:ext uri="{FF2B5EF4-FFF2-40B4-BE49-F238E27FC236}">
                <a16:creationId xmlns:a16="http://schemas.microsoft.com/office/drawing/2014/main" id="{BACA5D66-0E56-710D-601E-00AEB73F47C5}"/>
              </a:ext>
            </a:extLst>
          </p:cNvPr>
          <p:cNvSpPr/>
          <p:nvPr/>
        </p:nvSpPr>
        <p:spPr>
          <a:xfrm>
            <a:off x="1578257" y="843558"/>
            <a:ext cx="3888432" cy="20882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 name="직사각형 4">
            <a:extLst>
              <a:ext uri="{FF2B5EF4-FFF2-40B4-BE49-F238E27FC236}">
                <a16:creationId xmlns:a16="http://schemas.microsoft.com/office/drawing/2014/main" id="{106B8A30-0F92-84B9-D772-1960C4F56633}"/>
              </a:ext>
            </a:extLst>
          </p:cNvPr>
          <p:cNvSpPr/>
          <p:nvPr/>
        </p:nvSpPr>
        <p:spPr>
          <a:xfrm>
            <a:off x="1907704" y="3086546"/>
            <a:ext cx="1656184" cy="1658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b="1" dirty="0">
                <a:solidFill>
                  <a:schemeClr val="tx1"/>
                </a:solidFill>
              </a:rPr>
              <a:t>Subject</a:t>
            </a:r>
            <a:endParaRPr lang="ko-KR" altLang="en-US" sz="1100" b="1" dirty="0">
              <a:solidFill>
                <a:schemeClr val="tx1"/>
              </a:solidFill>
            </a:endParaRPr>
          </a:p>
        </p:txBody>
      </p:sp>
      <p:sp>
        <p:nvSpPr>
          <p:cNvPr id="6" name="직사각형 5">
            <a:extLst>
              <a:ext uri="{FF2B5EF4-FFF2-40B4-BE49-F238E27FC236}">
                <a16:creationId xmlns:a16="http://schemas.microsoft.com/office/drawing/2014/main" id="{63DA086E-263C-776B-3D2E-BF6DAB8067A6}"/>
              </a:ext>
            </a:extLst>
          </p:cNvPr>
          <p:cNvSpPr/>
          <p:nvPr/>
        </p:nvSpPr>
        <p:spPr>
          <a:xfrm>
            <a:off x="1835696" y="1869873"/>
            <a:ext cx="1341643" cy="11446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8" name="직선 화살표 연결선 7">
            <a:extLst>
              <a:ext uri="{FF2B5EF4-FFF2-40B4-BE49-F238E27FC236}">
                <a16:creationId xmlns:a16="http://schemas.microsoft.com/office/drawing/2014/main" id="{4ABDD9C4-AF1C-BE8F-E135-C0886E8E8471}"/>
              </a:ext>
            </a:extLst>
          </p:cNvPr>
          <p:cNvCxnSpPr/>
          <p:nvPr/>
        </p:nvCxnSpPr>
        <p:spPr>
          <a:xfrm flipV="1">
            <a:off x="2957231" y="1426093"/>
            <a:ext cx="2448272" cy="1522908"/>
          </a:xfrm>
          <a:prstGeom prst="straightConnector1">
            <a:avLst/>
          </a:prstGeom>
          <a:ln w="12700">
            <a:solidFill>
              <a:schemeClr val="tx1"/>
            </a:solidFill>
            <a:prstDash val="solid"/>
            <a:tailEnd type="arrow" w="lg"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2C7B54E-4B40-07E1-EA9A-6437C7C3E7F8}"/>
              </a:ext>
            </a:extLst>
          </p:cNvPr>
          <p:cNvSpPr txBox="1"/>
          <p:nvPr/>
        </p:nvSpPr>
        <p:spPr>
          <a:xfrm>
            <a:off x="155395" y="699542"/>
            <a:ext cx="1341643" cy="369332"/>
          </a:xfrm>
          <a:prstGeom prst="rect">
            <a:avLst/>
          </a:prstGeom>
          <a:noFill/>
        </p:spPr>
        <p:txBody>
          <a:bodyPr wrap="square">
            <a:spAutoFit/>
          </a:bodyPr>
          <a:lstStyle/>
          <a:p>
            <a:r>
              <a:rPr lang="en-US" altLang="ko-KR" sz="1800" b="1" dirty="0"/>
              <a:t>[</a:t>
            </a:r>
            <a:r>
              <a:rPr lang="ko-KR" altLang="en-US" sz="1800" b="1" dirty="0"/>
              <a:t>문제 해결</a:t>
            </a:r>
            <a:r>
              <a:rPr lang="en-US" altLang="ko-KR" sz="1800" b="1" dirty="0"/>
              <a:t>] </a:t>
            </a:r>
            <a:endParaRPr lang="ko-KR" altLang="en-US" b="1" dirty="0"/>
          </a:p>
        </p:txBody>
      </p:sp>
      <p:sp>
        <p:nvSpPr>
          <p:cNvPr id="12" name="직사각형 11">
            <a:extLst>
              <a:ext uri="{FF2B5EF4-FFF2-40B4-BE49-F238E27FC236}">
                <a16:creationId xmlns:a16="http://schemas.microsoft.com/office/drawing/2014/main" id="{9182D389-A5E2-C567-9666-FA3DB800B621}"/>
              </a:ext>
            </a:extLst>
          </p:cNvPr>
          <p:cNvSpPr/>
          <p:nvPr/>
        </p:nvSpPr>
        <p:spPr>
          <a:xfrm>
            <a:off x="3275856" y="1060096"/>
            <a:ext cx="2016224" cy="35885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ko-KR" sz="800" dirty="0">
                <a:solidFill>
                  <a:srgbClr val="0000FF"/>
                </a:solidFill>
              </a:rPr>
              <a:t>* (DIP) Dependency Inversion Principle</a:t>
            </a:r>
          </a:p>
          <a:p>
            <a:r>
              <a:rPr lang="ko-KR" altLang="en-US" sz="800" dirty="0">
                <a:solidFill>
                  <a:srgbClr val="0000FF"/>
                </a:solidFill>
              </a:rPr>
              <a:t>  의존성을 반대 방향으로 역전</a:t>
            </a:r>
          </a:p>
        </p:txBody>
      </p:sp>
    </p:spTree>
    <p:extLst>
      <p:ext uri="{BB962C8B-B14F-4D97-AF65-F5344CB8AC3E}">
        <p14:creationId xmlns:p14="http://schemas.microsoft.com/office/powerpoint/2010/main" val="36566563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3] Observer Pattern</a:t>
            </a:r>
            <a:endParaRPr lang="ko-KR" altLang="en-US" spc="0" dirty="0"/>
          </a:p>
        </p:txBody>
      </p:sp>
      <p:pic>
        <p:nvPicPr>
          <p:cNvPr id="4" name="내용 개체 틀 3">
            <a:extLst>
              <a:ext uri="{FF2B5EF4-FFF2-40B4-BE49-F238E27FC236}">
                <a16:creationId xmlns:a16="http://schemas.microsoft.com/office/drawing/2014/main" id="{EE585B98-365E-097F-CD30-0885887E1DED}"/>
              </a:ext>
            </a:extLst>
          </p:cNvPr>
          <p:cNvPicPr>
            <a:picLocks noGrp="1" noChangeAspect="1"/>
          </p:cNvPicPr>
          <p:nvPr>
            <p:ph idx="1"/>
          </p:nvPr>
        </p:nvPicPr>
        <p:blipFill>
          <a:blip r:embed="rId2"/>
          <a:stretch>
            <a:fillRect/>
          </a:stretch>
        </p:blipFill>
        <p:spPr>
          <a:xfrm>
            <a:off x="1740694" y="926306"/>
            <a:ext cx="5734050" cy="3714750"/>
          </a:xfrm>
          <a:prstGeom prst="rect">
            <a:avLst/>
          </a:prstGeom>
        </p:spPr>
      </p:pic>
      <p:sp>
        <p:nvSpPr>
          <p:cNvPr id="5" name="TextBox 4">
            <a:extLst>
              <a:ext uri="{FF2B5EF4-FFF2-40B4-BE49-F238E27FC236}">
                <a16:creationId xmlns:a16="http://schemas.microsoft.com/office/drawing/2014/main" id="{E2E1BC8B-3548-CCB3-D499-1C447C6D91F8}"/>
              </a:ext>
            </a:extLst>
          </p:cNvPr>
          <p:cNvSpPr txBox="1"/>
          <p:nvPr/>
        </p:nvSpPr>
        <p:spPr>
          <a:xfrm>
            <a:off x="155395" y="699542"/>
            <a:ext cx="1341643" cy="369332"/>
          </a:xfrm>
          <a:prstGeom prst="rect">
            <a:avLst/>
          </a:prstGeom>
          <a:noFill/>
        </p:spPr>
        <p:txBody>
          <a:bodyPr wrap="square">
            <a:spAutoFit/>
          </a:bodyPr>
          <a:lstStyle/>
          <a:p>
            <a:r>
              <a:rPr lang="en-US" altLang="ko-KR" sz="1800" b="1" dirty="0"/>
              <a:t>[</a:t>
            </a:r>
            <a:r>
              <a:rPr lang="ko-KR" altLang="en-US" sz="1800" b="1" dirty="0"/>
              <a:t>일반화</a:t>
            </a:r>
            <a:r>
              <a:rPr lang="en-US" altLang="ko-KR" sz="1800" b="1" dirty="0"/>
              <a:t>] </a:t>
            </a:r>
            <a:endParaRPr lang="ko-KR" altLang="en-US" b="1" dirty="0"/>
          </a:p>
        </p:txBody>
      </p:sp>
      <p:sp>
        <p:nvSpPr>
          <p:cNvPr id="6" name="직사각형 5">
            <a:extLst>
              <a:ext uri="{FF2B5EF4-FFF2-40B4-BE49-F238E27FC236}">
                <a16:creationId xmlns:a16="http://schemas.microsoft.com/office/drawing/2014/main" id="{C29652B1-298D-F925-381F-FD6D5D4C4A60}"/>
              </a:ext>
            </a:extLst>
          </p:cNvPr>
          <p:cNvSpPr/>
          <p:nvPr/>
        </p:nvSpPr>
        <p:spPr>
          <a:xfrm>
            <a:off x="1907704" y="714769"/>
            <a:ext cx="1872208" cy="358851"/>
          </a:xfrm>
          <a:prstGeom prst="rect">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ko-KR" sz="800" dirty="0">
                <a:solidFill>
                  <a:srgbClr val="0000FF"/>
                </a:solidFill>
              </a:rPr>
              <a:t>* Subject</a:t>
            </a:r>
            <a:r>
              <a:rPr lang="ko-KR" altLang="en-US" sz="800" dirty="0">
                <a:solidFill>
                  <a:srgbClr val="0000FF"/>
                </a:solidFill>
              </a:rPr>
              <a:t>의 반복적인 패턴을 추상화</a:t>
            </a:r>
            <a:endParaRPr lang="en-US" altLang="ko-KR" sz="800" dirty="0">
              <a:solidFill>
                <a:srgbClr val="0000FF"/>
              </a:solidFill>
            </a:endParaRPr>
          </a:p>
          <a:p>
            <a:r>
              <a:rPr lang="en-US" altLang="ko-KR" sz="800" dirty="0">
                <a:solidFill>
                  <a:srgbClr val="0000FF"/>
                </a:solidFill>
              </a:rPr>
              <a:t>  Observer Pattern</a:t>
            </a:r>
            <a:r>
              <a:rPr lang="ko-KR" altLang="en-US" sz="800" dirty="0">
                <a:solidFill>
                  <a:srgbClr val="0000FF"/>
                </a:solidFill>
              </a:rPr>
              <a:t>으로 일반화</a:t>
            </a:r>
          </a:p>
        </p:txBody>
      </p:sp>
    </p:spTree>
    <p:extLst>
      <p:ext uri="{BB962C8B-B14F-4D97-AF65-F5344CB8AC3E}">
        <p14:creationId xmlns:p14="http://schemas.microsoft.com/office/powerpoint/2010/main" val="29085565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p:txBody>
          <a:bodyPr>
            <a:normAutofit lnSpcReduction="10000"/>
          </a:bodyPr>
          <a:lstStyle/>
          <a:p>
            <a:endParaRPr lang="en-US" altLang="ko-KR" sz="1600" spc="0" dirty="0"/>
          </a:p>
          <a:p>
            <a:pPr marL="91463" indent="0">
              <a:buNone/>
            </a:pPr>
            <a:r>
              <a:rPr lang="en-US" altLang="ko-KR" sz="1400" spc="0" dirty="0"/>
              <a:t>(1) Tightly coupled </a:t>
            </a:r>
            <a:r>
              <a:rPr lang="ko-KR" altLang="en-US" sz="1400" spc="0" dirty="0"/>
              <a:t>상태인 </a:t>
            </a:r>
            <a:r>
              <a:rPr lang="en-US" altLang="ko-KR" sz="1400" b="1" spc="0" dirty="0"/>
              <a:t>WeatherDataSubject</a:t>
            </a:r>
            <a:r>
              <a:rPr lang="ko-KR" altLang="en-US" sz="1400" spc="0" dirty="0"/>
              <a:t>와 </a:t>
            </a:r>
            <a:r>
              <a:rPr lang="en-US" altLang="ko-KR" sz="1400" b="1" spc="0" dirty="0" err="1"/>
              <a:t>ClothingStore</a:t>
            </a:r>
            <a:r>
              <a:rPr lang="en-US" altLang="ko-KR" sz="1400" spc="0" dirty="0"/>
              <a:t> </a:t>
            </a:r>
            <a:r>
              <a:rPr lang="ko-KR" altLang="en-US" sz="1400" spc="0" dirty="0"/>
              <a:t>및 </a:t>
            </a:r>
            <a:r>
              <a:rPr lang="en-US" altLang="ko-KR" sz="1400" b="1" spc="0" dirty="0" err="1"/>
              <a:t>UmbrellaStore</a:t>
            </a:r>
            <a:r>
              <a:rPr lang="ko-KR" altLang="en-US" sz="1400" spc="0" dirty="0"/>
              <a:t>가 있다</a:t>
            </a:r>
            <a:r>
              <a:rPr lang="en-US" altLang="ko-KR" sz="1400" spc="0" dirty="0"/>
              <a:t>. </a:t>
            </a:r>
          </a:p>
          <a:p>
            <a:pPr marL="91463" indent="0">
              <a:buNone/>
            </a:pPr>
            <a:r>
              <a:rPr lang="en-US" altLang="ko-KR" sz="1400" spc="0" dirty="0"/>
              <a:t>   </a:t>
            </a:r>
            <a:r>
              <a:rPr lang="ko-KR" altLang="en-US" sz="1400" spc="0" dirty="0"/>
              <a:t>이들의 관계를 </a:t>
            </a:r>
            <a:r>
              <a:rPr lang="en-US" altLang="ko-KR" sz="1400" b="1" spc="0" dirty="0">
                <a:solidFill>
                  <a:srgbClr val="0066FF"/>
                </a:solidFill>
              </a:rPr>
              <a:t>Observer pattern</a:t>
            </a:r>
            <a:r>
              <a:rPr lang="ko-KR" altLang="en-US" sz="1400" b="1" spc="0" dirty="0">
                <a:solidFill>
                  <a:srgbClr val="0066FF"/>
                </a:solidFill>
              </a:rPr>
              <a:t>을 이용하여 재구성</a:t>
            </a:r>
            <a:r>
              <a:rPr lang="ko-KR" altLang="en-US" sz="1400" b="1" spc="0" dirty="0">
                <a:solidFill>
                  <a:srgbClr val="FF0000"/>
                </a:solidFill>
              </a:rPr>
              <a:t> </a:t>
            </a:r>
            <a:r>
              <a:rPr lang="ko-KR" altLang="en-US" sz="1400" spc="0" dirty="0"/>
              <a:t>하시오</a:t>
            </a:r>
            <a:r>
              <a:rPr lang="en-US" altLang="ko-KR" sz="1400" spc="0" dirty="0"/>
              <a:t>. </a:t>
            </a:r>
            <a:br>
              <a:rPr lang="en-US" altLang="ko-KR" sz="1400" spc="0" dirty="0"/>
            </a:br>
            <a:r>
              <a:rPr lang="en-US" altLang="ko-KR" sz="1400" spc="0" dirty="0"/>
              <a:t>    (</a:t>
            </a:r>
            <a:r>
              <a:rPr lang="en-US" altLang="ko-KR" sz="1400" spc="0" dirty="0" err="1">
                <a:solidFill>
                  <a:srgbClr val="0066FF"/>
                </a:solidFill>
              </a:rPr>
              <a:t>java.util.Obsever</a:t>
            </a:r>
            <a:r>
              <a:rPr lang="en-US" altLang="ko-KR" sz="1400" spc="0" dirty="0">
                <a:solidFill>
                  <a:srgbClr val="0066FF"/>
                </a:solidFill>
              </a:rPr>
              <a:t> , </a:t>
            </a:r>
            <a:r>
              <a:rPr lang="en-US" altLang="ko-KR" sz="1400" spc="0" dirty="0" err="1">
                <a:solidFill>
                  <a:srgbClr val="0066FF"/>
                </a:solidFill>
              </a:rPr>
              <a:t>java.util.Observable</a:t>
            </a:r>
            <a:r>
              <a:rPr lang="en-US" altLang="ko-KR" sz="1400" spc="0" dirty="0">
                <a:solidFill>
                  <a:srgbClr val="0066FF"/>
                </a:solidFill>
              </a:rPr>
              <a:t> </a:t>
            </a:r>
            <a:r>
              <a:rPr lang="ko-KR" altLang="en-US" sz="1400" spc="0" dirty="0">
                <a:solidFill>
                  <a:srgbClr val="0066FF"/>
                </a:solidFill>
              </a:rPr>
              <a:t>이용</a:t>
            </a:r>
            <a:r>
              <a:rPr lang="en-US" altLang="ko-KR" sz="1400" spc="0" dirty="0"/>
              <a:t>)</a:t>
            </a:r>
          </a:p>
          <a:p>
            <a:pPr lvl="1"/>
            <a:r>
              <a:rPr lang="en-US" altLang="ko-KR" sz="1200" spc="0" dirty="0">
                <a:hlinkClick r:id="rId3"/>
              </a:rPr>
              <a:t>https://docs.oracle.com/javase/8/docs/api/index.html?java/util/Observable.html</a:t>
            </a:r>
            <a:endParaRPr lang="en-US" altLang="ko-KR" sz="1200" spc="0" dirty="0"/>
          </a:p>
          <a:p>
            <a:pPr lvl="1"/>
            <a:r>
              <a:rPr lang="en-US" altLang="ko-KR" sz="1200" spc="0" dirty="0">
                <a:hlinkClick r:id="rId4"/>
              </a:rPr>
              <a:t>https://docs.oracle.com/javase/8/docs/api/index.html?java/util/Observer.html</a:t>
            </a:r>
            <a:r>
              <a:rPr lang="en-US" altLang="ko-KR" sz="1200" spc="0" dirty="0"/>
              <a:t> </a:t>
            </a:r>
          </a:p>
          <a:p>
            <a:pPr marL="91463" indent="0">
              <a:buNone/>
            </a:pPr>
            <a:endParaRPr lang="en-US" altLang="ko-KR" sz="1400" spc="0" dirty="0"/>
          </a:p>
          <a:p>
            <a:pPr marL="91463" indent="0">
              <a:buNone/>
            </a:pPr>
            <a:r>
              <a:rPr lang="en-US" altLang="ko-KR" sz="1400" spc="0" dirty="0"/>
              <a:t>(2) </a:t>
            </a:r>
            <a:r>
              <a:rPr lang="ko-KR" altLang="en-US" sz="1400" spc="0" dirty="0"/>
              <a:t>새로운 </a:t>
            </a:r>
            <a:r>
              <a:rPr lang="en-US" altLang="ko-KR" sz="1400" spc="0" dirty="0"/>
              <a:t>Observer</a:t>
            </a:r>
            <a:r>
              <a:rPr lang="ko-KR" altLang="en-US" sz="1400" spc="0" dirty="0"/>
              <a:t>인</a:t>
            </a:r>
            <a:r>
              <a:rPr lang="ko-KR" altLang="en-US" sz="1400" spc="0" dirty="0">
                <a:solidFill>
                  <a:srgbClr val="0066FF"/>
                </a:solidFill>
              </a:rPr>
              <a:t> </a:t>
            </a:r>
            <a:r>
              <a:rPr lang="en-US" altLang="ko-KR" sz="1400" b="1" spc="0" dirty="0" err="1">
                <a:solidFill>
                  <a:srgbClr val="0066FF"/>
                </a:solidFill>
              </a:rPr>
              <a:t>IceCreamStore</a:t>
            </a:r>
            <a:r>
              <a:rPr lang="en-US" altLang="ko-KR" sz="1400" b="1" spc="0" dirty="0">
                <a:solidFill>
                  <a:srgbClr val="0066FF"/>
                </a:solidFill>
              </a:rPr>
              <a:t> </a:t>
            </a:r>
            <a:r>
              <a:rPr lang="ko-KR" altLang="en-US" sz="1400" b="1" spc="0" dirty="0">
                <a:solidFill>
                  <a:srgbClr val="0066FF"/>
                </a:solidFill>
              </a:rPr>
              <a:t>클래스를 생성</a:t>
            </a:r>
            <a:r>
              <a:rPr lang="ko-KR" altLang="en-US" sz="1400" spc="0" dirty="0"/>
              <a:t>하고</a:t>
            </a:r>
            <a:r>
              <a:rPr lang="en-US" altLang="ko-KR" sz="1400" spc="0" dirty="0"/>
              <a:t>, </a:t>
            </a:r>
          </a:p>
          <a:p>
            <a:pPr marL="91463" indent="0">
              <a:buNone/>
            </a:pPr>
            <a:r>
              <a:rPr lang="en-US" altLang="ko-KR" sz="1400" spc="0" dirty="0"/>
              <a:t>   </a:t>
            </a:r>
            <a:r>
              <a:rPr lang="ko-KR" altLang="en-US" sz="1400" b="1" spc="0" dirty="0">
                <a:solidFill>
                  <a:srgbClr val="0066FF"/>
                </a:solidFill>
              </a:rPr>
              <a:t>온도가 </a:t>
            </a:r>
            <a:r>
              <a:rPr lang="en-US" altLang="ko-KR" sz="1400" b="1" spc="0" dirty="0">
                <a:solidFill>
                  <a:srgbClr val="0066FF"/>
                </a:solidFill>
              </a:rPr>
              <a:t>20.0℃ </a:t>
            </a:r>
            <a:r>
              <a:rPr lang="ko-KR" altLang="en-US" sz="1400" b="1" spc="0" dirty="0">
                <a:solidFill>
                  <a:srgbClr val="0066FF"/>
                </a:solidFill>
              </a:rPr>
              <a:t>이상일 때 아이스크림을 팔도록</a:t>
            </a:r>
            <a:r>
              <a:rPr lang="en-US" altLang="ko-KR" sz="1400" b="1" spc="0" dirty="0">
                <a:solidFill>
                  <a:srgbClr val="0066FF"/>
                </a:solidFill>
              </a:rPr>
              <a:t>,</a:t>
            </a:r>
            <a:r>
              <a:rPr lang="ko-KR" altLang="en-US" sz="1400" b="1" spc="0" dirty="0">
                <a:solidFill>
                  <a:srgbClr val="0066FF"/>
                </a:solidFill>
              </a:rPr>
              <a:t> 위 </a:t>
            </a:r>
            <a:r>
              <a:rPr lang="en-US" altLang="ko-KR" sz="1400" b="1" spc="0" dirty="0">
                <a:solidFill>
                  <a:srgbClr val="0066FF"/>
                </a:solidFill>
              </a:rPr>
              <a:t>Observer pattern</a:t>
            </a:r>
            <a:r>
              <a:rPr lang="ko-KR" altLang="en-US" sz="1400" b="1" spc="0" dirty="0">
                <a:solidFill>
                  <a:srgbClr val="0066FF"/>
                </a:solidFill>
              </a:rPr>
              <a:t>을 이용하여 확장</a:t>
            </a:r>
            <a:r>
              <a:rPr lang="ko-KR" altLang="en-US" sz="1400" spc="0" dirty="0">
                <a:solidFill>
                  <a:srgbClr val="FF0000"/>
                </a:solidFill>
              </a:rPr>
              <a:t> </a:t>
            </a:r>
            <a:r>
              <a:rPr lang="ko-KR" altLang="en-US" sz="1400" spc="0" dirty="0"/>
              <a:t>하시오</a:t>
            </a:r>
            <a:r>
              <a:rPr lang="en-US" altLang="ko-KR" sz="1400" spc="0" dirty="0"/>
              <a:t>.</a:t>
            </a:r>
          </a:p>
          <a:p>
            <a:endParaRPr lang="en-US" altLang="ko-KR" sz="1400" dirty="0"/>
          </a:p>
          <a:p>
            <a:r>
              <a:rPr lang="en-US" altLang="ko-KR" sz="1400" dirty="0"/>
              <a:t>Java</a:t>
            </a:r>
            <a:r>
              <a:rPr lang="ko-KR" altLang="en-US" sz="1400" dirty="0"/>
              <a:t>가 익숙하지 않은 분들은 </a:t>
            </a:r>
            <a:r>
              <a:rPr lang="en-US" altLang="ko-KR" sz="1400" dirty="0"/>
              <a:t>main() </a:t>
            </a:r>
            <a:r>
              <a:rPr lang="ko-KR" altLang="en-US" sz="1400" dirty="0"/>
              <a:t>하단 부분의 코드를 참조</a:t>
            </a:r>
            <a:endParaRPr lang="en-US" altLang="ko-KR" sz="1400" spc="0" dirty="0">
              <a:hlinkClick r:id="rId3"/>
            </a:endParaRPr>
          </a:p>
        </p:txBody>
      </p:sp>
      <p:sp>
        <p:nvSpPr>
          <p:cNvPr id="3" name="제목 2"/>
          <p:cNvSpPr>
            <a:spLocks noGrp="1"/>
          </p:cNvSpPr>
          <p:nvPr>
            <p:ph type="title"/>
          </p:nvPr>
        </p:nvSpPr>
        <p:spPr/>
        <p:txBody>
          <a:bodyPr>
            <a:normAutofit/>
          </a:bodyPr>
          <a:lstStyle/>
          <a:p>
            <a:r>
              <a:rPr lang="en-US" altLang="ko-KR" spc="0" dirty="0"/>
              <a:t>[Practice 3] Observer Pattern</a:t>
            </a:r>
            <a:endParaRPr lang="ko-KR" altLang="en-US" spc="0" dirty="0"/>
          </a:p>
        </p:txBody>
      </p:sp>
      <p:sp>
        <p:nvSpPr>
          <p:cNvPr id="5" name="직사각형 4"/>
          <p:cNvSpPr/>
          <p:nvPr/>
        </p:nvSpPr>
        <p:spPr>
          <a:xfrm>
            <a:off x="251520" y="752386"/>
            <a:ext cx="3384376" cy="307777"/>
          </a:xfrm>
          <a:prstGeom prst="rect">
            <a:avLst/>
          </a:prstGeom>
          <a:solidFill>
            <a:schemeClr val="accent1">
              <a:lumMod val="20000"/>
              <a:lumOff val="80000"/>
            </a:schemeClr>
          </a:solidFill>
        </p:spPr>
        <p:txBody>
          <a:bodyPr wrap="square">
            <a:spAutoFit/>
          </a:bodyPr>
          <a:lstStyle/>
          <a:p>
            <a:r>
              <a:rPr lang="en-US" altLang="ko-KR" sz="1400" b="1" dirty="0"/>
              <a:t>[</a:t>
            </a:r>
            <a:r>
              <a:rPr lang="ko-KR" altLang="en-US" sz="1400" b="1" dirty="0"/>
              <a:t>실습 코드</a:t>
            </a:r>
            <a:r>
              <a:rPr lang="en-US" altLang="ko-KR" sz="1400" b="1" dirty="0"/>
              <a:t>] </a:t>
            </a:r>
            <a:r>
              <a:rPr lang="en-US" altLang="ko-KR" sz="1400" dirty="0"/>
              <a:t>3_observerPractice </a:t>
            </a:r>
          </a:p>
        </p:txBody>
      </p:sp>
    </p:spTree>
    <p:extLst>
      <p:ext uri="{BB962C8B-B14F-4D97-AF65-F5344CB8AC3E}">
        <p14:creationId xmlns:p14="http://schemas.microsoft.com/office/powerpoint/2010/main" val="13675215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내용 개체 틀 6"/>
          <p:cNvPicPr>
            <a:picLocks noGrp="1" noChangeAspect="1"/>
          </p:cNvPicPr>
          <p:nvPr>
            <p:ph idx="1"/>
          </p:nvPr>
        </p:nvPicPr>
        <p:blipFill>
          <a:blip r:embed="rId3"/>
          <a:stretch>
            <a:fillRect/>
          </a:stretch>
        </p:blipFill>
        <p:spPr>
          <a:xfrm>
            <a:off x="323528" y="1635646"/>
            <a:ext cx="3384376" cy="1307764"/>
          </a:xfrm>
          <a:prstGeom prst="rect">
            <a:avLst/>
          </a:prstGeom>
        </p:spPr>
      </p:pic>
      <p:sp>
        <p:nvSpPr>
          <p:cNvPr id="3" name="제목 2"/>
          <p:cNvSpPr>
            <a:spLocks noGrp="1"/>
          </p:cNvSpPr>
          <p:nvPr>
            <p:ph type="title"/>
          </p:nvPr>
        </p:nvSpPr>
        <p:spPr/>
        <p:txBody>
          <a:bodyPr>
            <a:normAutofit/>
          </a:bodyPr>
          <a:lstStyle/>
          <a:p>
            <a:r>
              <a:rPr lang="en-US" altLang="ko-KR" spc="0" dirty="0"/>
              <a:t>[Practice 3] Observer Pattern (hint)</a:t>
            </a:r>
            <a:endParaRPr lang="ko-KR" altLang="en-US" spc="0" dirty="0"/>
          </a:p>
        </p:txBody>
      </p:sp>
      <p:sp>
        <p:nvSpPr>
          <p:cNvPr id="5" name="직사각형 4"/>
          <p:cNvSpPr/>
          <p:nvPr/>
        </p:nvSpPr>
        <p:spPr>
          <a:xfrm>
            <a:off x="251520" y="752386"/>
            <a:ext cx="3384376" cy="307777"/>
          </a:xfrm>
          <a:prstGeom prst="rect">
            <a:avLst/>
          </a:prstGeom>
          <a:solidFill>
            <a:schemeClr val="accent1">
              <a:lumMod val="20000"/>
              <a:lumOff val="80000"/>
            </a:schemeClr>
          </a:solidFill>
        </p:spPr>
        <p:txBody>
          <a:bodyPr wrap="square">
            <a:spAutoFit/>
          </a:bodyPr>
          <a:lstStyle/>
          <a:p>
            <a:r>
              <a:rPr lang="en-US" altLang="ko-KR" sz="1400" b="1" dirty="0"/>
              <a:t>[</a:t>
            </a:r>
            <a:r>
              <a:rPr lang="ko-KR" altLang="en-US" sz="1400" b="1" dirty="0"/>
              <a:t>실습 코드</a:t>
            </a:r>
            <a:r>
              <a:rPr lang="en-US" altLang="ko-KR" sz="1400" b="1" dirty="0"/>
              <a:t>] </a:t>
            </a:r>
            <a:r>
              <a:rPr lang="en-US" altLang="ko-KR" sz="1400" dirty="0"/>
              <a:t>3_observerPractice </a:t>
            </a:r>
          </a:p>
        </p:txBody>
      </p:sp>
      <p:pic>
        <p:nvPicPr>
          <p:cNvPr id="8" name="그림 7"/>
          <p:cNvPicPr>
            <a:picLocks noChangeAspect="1"/>
          </p:cNvPicPr>
          <p:nvPr/>
        </p:nvPicPr>
        <p:blipFill>
          <a:blip r:embed="rId4"/>
          <a:stretch>
            <a:fillRect/>
          </a:stretch>
        </p:blipFill>
        <p:spPr>
          <a:xfrm>
            <a:off x="4716016" y="699542"/>
            <a:ext cx="3410627" cy="1924616"/>
          </a:xfrm>
          <a:prstGeom prst="rect">
            <a:avLst/>
          </a:prstGeom>
        </p:spPr>
      </p:pic>
      <p:pic>
        <p:nvPicPr>
          <p:cNvPr id="9" name="그림 8"/>
          <p:cNvPicPr>
            <a:picLocks noChangeAspect="1"/>
          </p:cNvPicPr>
          <p:nvPr/>
        </p:nvPicPr>
        <p:blipFill>
          <a:blip r:embed="rId5"/>
          <a:stretch>
            <a:fillRect/>
          </a:stretch>
        </p:blipFill>
        <p:spPr>
          <a:xfrm>
            <a:off x="4716016" y="3097385"/>
            <a:ext cx="4221875" cy="1960840"/>
          </a:xfrm>
          <a:prstGeom prst="rect">
            <a:avLst/>
          </a:prstGeom>
        </p:spPr>
      </p:pic>
      <p:sp>
        <p:nvSpPr>
          <p:cNvPr id="10" name="화살표: 오른쪽 6">
            <a:extLst>
              <a:ext uri="{FF2B5EF4-FFF2-40B4-BE49-F238E27FC236}">
                <a16:creationId xmlns:a16="http://schemas.microsoft.com/office/drawing/2014/main" id="{09E8265E-2658-4F26-8EF5-66F56F093756}"/>
              </a:ext>
            </a:extLst>
          </p:cNvPr>
          <p:cNvSpPr/>
          <p:nvPr/>
        </p:nvSpPr>
        <p:spPr>
          <a:xfrm rot="20033978">
            <a:off x="3997613" y="1842138"/>
            <a:ext cx="356687" cy="313505"/>
          </a:xfrm>
          <a:prstGeom prst="rightArrow">
            <a:avLst>
              <a:gd name="adj1" fmla="val 50000"/>
              <a:gd name="adj2" fmla="val 50000"/>
            </a:avLst>
          </a:prstGeom>
          <a:ln/>
        </p:spPr>
        <p:style>
          <a:lnRef idx="2">
            <a:schemeClr val="accent1"/>
          </a:lnRef>
          <a:fillRef idx="1">
            <a:schemeClr val="lt1"/>
          </a:fillRef>
          <a:effectRef idx="0">
            <a:schemeClr val="accent1"/>
          </a:effectRef>
          <a:fontRef idx="minor">
            <a:schemeClr val="dk1"/>
          </a:fontRef>
        </p:style>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normalizeH="0">
              <a:solidFill>
                <a:srgbClr val="FFFFFF"/>
              </a:solidFill>
              <a:latin typeface="맑은 고딕"/>
              <a:ea typeface="맑은 고딕"/>
              <a:cs typeface="맑은 고딕"/>
            </a:endParaRPr>
          </a:p>
        </p:txBody>
      </p:sp>
      <p:sp>
        <p:nvSpPr>
          <p:cNvPr id="11" name="화살표: 오른쪽 6">
            <a:extLst>
              <a:ext uri="{FF2B5EF4-FFF2-40B4-BE49-F238E27FC236}">
                <a16:creationId xmlns:a16="http://schemas.microsoft.com/office/drawing/2014/main" id="{09E8265E-2658-4F26-8EF5-66F56F093756}"/>
              </a:ext>
            </a:extLst>
          </p:cNvPr>
          <p:cNvSpPr/>
          <p:nvPr/>
        </p:nvSpPr>
        <p:spPr>
          <a:xfrm rot="5400000">
            <a:off x="6278601" y="2636645"/>
            <a:ext cx="356687" cy="313505"/>
          </a:xfrm>
          <a:prstGeom prst="rightArrow">
            <a:avLst>
              <a:gd name="adj1" fmla="val 50000"/>
              <a:gd name="adj2" fmla="val 50000"/>
            </a:avLst>
          </a:prstGeom>
          <a:ln/>
        </p:spPr>
        <p:style>
          <a:lnRef idx="2">
            <a:schemeClr val="accent1"/>
          </a:lnRef>
          <a:fillRef idx="1">
            <a:schemeClr val="lt1"/>
          </a:fillRef>
          <a:effectRef idx="0">
            <a:schemeClr val="accent1"/>
          </a:effectRef>
          <a:fontRef idx="minor">
            <a:schemeClr val="dk1"/>
          </a:fontRef>
        </p:style>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normalizeH="0">
              <a:solidFill>
                <a:srgbClr val="FFFFFF"/>
              </a:solidFill>
              <a:latin typeface="맑은 고딕"/>
              <a:ea typeface="맑은 고딕"/>
              <a:cs typeface="맑은 고딕"/>
            </a:endParaRPr>
          </a:p>
        </p:txBody>
      </p:sp>
      <p:sp>
        <p:nvSpPr>
          <p:cNvPr id="2" name="직사각형 1"/>
          <p:cNvSpPr/>
          <p:nvPr/>
        </p:nvSpPr>
        <p:spPr>
          <a:xfrm>
            <a:off x="419976" y="2097384"/>
            <a:ext cx="1155605" cy="434801"/>
          </a:xfrm>
          <a:prstGeom prst="rect">
            <a:avLst/>
          </a:prstGeom>
          <a:solidFill>
            <a:srgbClr val="FFF2CC"/>
          </a:solidFill>
          <a:ln w="3175">
            <a:solidFill>
              <a:schemeClr val="accent6">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900" dirty="0">
                <a:solidFill>
                  <a:schemeClr val="tx1"/>
                </a:solidFill>
                <a:latin typeface="SamsungOne 700C" panose="020B0806030303020204" pitchFamily="34" charset="0"/>
                <a:ea typeface="SamsungOne 700C" panose="020B0806030303020204" pitchFamily="34" charset="0"/>
              </a:rPr>
              <a:t>WeatherDataSubject</a:t>
            </a:r>
            <a:endParaRPr lang="ko-KR" altLang="en-US" sz="900" dirty="0">
              <a:solidFill>
                <a:schemeClr val="tx1"/>
              </a:solidFill>
              <a:latin typeface="SamsungOne 700C" panose="020B0806030303020204" pitchFamily="34" charset="0"/>
            </a:endParaRPr>
          </a:p>
        </p:txBody>
      </p:sp>
      <p:sp>
        <p:nvSpPr>
          <p:cNvPr id="12" name="직사각형 11"/>
          <p:cNvSpPr/>
          <p:nvPr/>
        </p:nvSpPr>
        <p:spPr>
          <a:xfrm>
            <a:off x="4806824" y="1771611"/>
            <a:ext cx="982031" cy="401847"/>
          </a:xfrm>
          <a:prstGeom prst="rect">
            <a:avLst/>
          </a:prstGeom>
          <a:solidFill>
            <a:srgbClr val="FFF2CC"/>
          </a:solidFill>
          <a:ln w="3175">
            <a:solidFill>
              <a:schemeClr val="accent6">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dirty="0">
                <a:solidFill>
                  <a:schemeClr val="tx1"/>
                </a:solidFill>
                <a:latin typeface="SamsungOne 700C" panose="020B0806030303020204" pitchFamily="34" charset="0"/>
                <a:ea typeface="SamsungOne 700C" panose="020B0806030303020204" pitchFamily="34" charset="0"/>
              </a:rPr>
              <a:t>WeatherDataSubject</a:t>
            </a:r>
            <a:endParaRPr lang="ko-KR" altLang="en-US" sz="800" dirty="0">
              <a:solidFill>
                <a:schemeClr val="tx1"/>
              </a:solidFill>
              <a:latin typeface="SamsungOne 700C" panose="020B0806030303020204" pitchFamily="34" charset="0"/>
            </a:endParaRPr>
          </a:p>
        </p:txBody>
      </p:sp>
      <p:sp>
        <p:nvSpPr>
          <p:cNvPr id="13" name="직사각형 12"/>
          <p:cNvSpPr/>
          <p:nvPr/>
        </p:nvSpPr>
        <p:spPr>
          <a:xfrm>
            <a:off x="4794704" y="4145194"/>
            <a:ext cx="973050" cy="384603"/>
          </a:xfrm>
          <a:prstGeom prst="rect">
            <a:avLst/>
          </a:prstGeom>
          <a:solidFill>
            <a:srgbClr val="FFF2CC"/>
          </a:solidFill>
          <a:ln w="3175">
            <a:solidFill>
              <a:schemeClr val="accent6">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800" dirty="0">
                <a:solidFill>
                  <a:schemeClr val="tx1"/>
                </a:solidFill>
                <a:latin typeface="SamsungOne 700C" panose="020B0806030303020204" pitchFamily="34" charset="0"/>
                <a:ea typeface="SamsungOne 700C" panose="020B0806030303020204" pitchFamily="34" charset="0"/>
              </a:rPr>
              <a:t>WeatherDataSubject</a:t>
            </a:r>
            <a:endParaRPr lang="ko-KR" altLang="en-US" sz="800" dirty="0">
              <a:solidFill>
                <a:schemeClr val="tx1"/>
              </a:solidFill>
              <a:latin typeface="SamsungOne 700C" panose="020B0806030303020204" pitchFamily="34" charset="0"/>
            </a:endParaRPr>
          </a:p>
        </p:txBody>
      </p:sp>
    </p:spTree>
    <p:extLst>
      <p:ext uri="{BB962C8B-B14F-4D97-AF65-F5344CB8AC3E}">
        <p14:creationId xmlns:p14="http://schemas.microsoft.com/office/powerpoint/2010/main" val="11658510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그림 11"/>
          <p:cNvPicPr>
            <a:picLocks noChangeAspect="1"/>
          </p:cNvPicPr>
          <p:nvPr/>
        </p:nvPicPr>
        <p:blipFill>
          <a:blip r:embed="rId3"/>
          <a:stretch>
            <a:fillRect/>
          </a:stretch>
        </p:blipFill>
        <p:spPr>
          <a:xfrm>
            <a:off x="26205" y="1347614"/>
            <a:ext cx="3207170" cy="2952328"/>
          </a:xfrm>
          <a:prstGeom prst="rect">
            <a:avLst/>
          </a:prstGeom>
        </p:spPr>
      </p:pic>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3] Observer Pattern (solution)</a:t>
            </a:r>
            <a:endParaRPr lang="ko-KR" altLang="en-US" spc="0" dirty="0"/>
          </a:p>
        </p:txBody>
      </p:sp>
      <p:cxnSp>
        <p:nvCxnSpPr>
          <p:cNvPr id="17" name="직선 연결선 16"/>
          <p:cNvCxnSpPr/>
          <p:nvPr/>
        </p:nvCxnSpPr>
        <p:spPr>
          <a:xfrm>
            <a:off x="1019761" y="2727821"/>
            <a:ext cx="1116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직선 연결선 17"/>
          <p:cNvCxnSpPr/>
          <p:nvPr/>
        </p:nvCxnSpPr>
        <p:spPr>
          <a:xfrm>
            <a:off x="147614" y="4203058"/>
            <a:ext cx="1008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a:xfrm>
            <a:off x="2157021" y="4034576"/>
            <a:ext cx="1008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p:nvGrpSpPr>
        <p:grpSpPr>
          <a:xfrm>
            <a:off x="3383874" y="1059582"/>
            <a:ext cx="5743757" cy="3263181"/>
            <a:chOff x="3330534" y="1532967"/>
            <a:chExt cx="5743757" cy="3263181"/>
          </a:xfrm>
        </p:grpSpPr>
        <p:pic>
          <p:nvPicPr>
            <p:cNvPr id="4" name="그림 3"/>
            <p:cNvPicPr>
              <a:picLocks noChangeAspect="1"/>
            </p:cNvPicPr>
            <p:nvPr/>
          </p:nvPicPr>
          <p:blipFill>
            <a:blip r:embed="rId4"/>
            <a:stretch>
              <a:fillRect/>
            </a:stretch>
          </p:blipFill>
          <p:spPr>
            <a:xfrm>
              <a:off x="3330534" y="1532967"/>
              <a:ext cx="5743757" cy="3263181"/>
            </a:xfrm>
            <a:prstGeom prst="rect">
              <a:avLst/>
            </a:prstGeom>
          </p:spPr>
        </p:pic>
        <p:sp>
          <p:nvSpPr>
            <p:cNvPr id="7" name="직사각형 6"/>
            <p:cNvSpPr/>
            <p:nvPr/>
          </p:nvSpPr>
          <p:spPr>
            <a:xfrm>
              <a:off x="3380668" y="2635736"/>
              <a:ext cx="1182724" cy="6480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p:cNvSpPr/>
            <p:nvPr/>
          </p:nvSpPr>
          <p:spPr>
            <a:xfrm>
              <a:off x="5796137" y="1663840"/>
              <a:ext cx="1296144" cy="69188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1" name="직선 연결선 10"/>
            <p:cNvCxnSpPr/>
            <p:nvPr/>
          </p:nvCxnSpPr>
          <p:spPr>
            <a:xfrm>
              <a:off x="7848722" y="3938206"/>
              <a:ext cx="1014545"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직사각형 15"/>
            <p:cNvSpPr/>
            <p:nvPr/>
          </p:nvSpPr>
          <p:spPr>
            <a:xfrm>
              <a:off x="5004048" y="3067254"/>
              <a:ext cx="1377167" cy="87238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0" name="직선 연결선 19"/>
            <p:cNvCxnSpPr/>
            <p:nvPr/>
          </p:nvCxnSpPr>
          <p:spPr>
            <a:xfrm>
              <a:off x="3432621" y="3110912"/>
              <a:ext cx="828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직선 연결선 20"/>
            <p:cNvCxnSpPr/>
            <p:nvPr/>
          </p:nvCxnSpPr>
          <p:spPr>
            <a:xfrm>
              <a:off x="5228781" y="3750005"/>
              <a:ext cx="1014545"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직선 연결선 21"/>
            <p:cNvCxnSpPr/>
            <p:nvPr/>
          </p:nvCxnSpPr>
          <p:spPr>
            <a:xfrm>
              <a:off x="6547572" y="3753980"/>
              <a:ext cx="1014545"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a:off x="5948861" y="2087448"/>
              <a:ext cx="1023469"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651755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182E3AAD-4D92-8BA9-8A77-B4382F1EED89}"/>
              </a:ext>
            </a:extLst>
          </p:cNvPr>
          <p:cNvSpPr>
            <a:spLocks noGrp="1"/>
          </p:cNvSpPr>
          <p:nvPr>
            <p:ph type="title"/>
          </p:nvPr>
        </p:nvSpPr>
        <p:spPr/>
        <p:txBody>
          <a:bodyPr vert="horz" lIns="75927" tIns="37964" rIns="75927" bIns="37964" rtlCol="0" anchor="ctr">
            <a:normAutofit/>
          </a:bodyPr>
          <a:lstStyle/>
          <a:p>
            <a:r>
              <a:rPr lang="en-US" altLang="ko-KR" spc="0" dirty="0"/>
              <a:t>[Practice 4] </a:t>
            </a:r>
            <a:r>
              <a:rPr lang="en-US" altLang="ko-Kore-KR" spc="0" dirty="0"/>
              <a:t>State Pattern – Class Diagram</a:t>
            </a:r>
            <a:endParaRPr lang="ko-Kore-KR" altLang="en-US" spc="0" dirty="0"/>
          </a:p>
        </p:txBody>
      </p:sp>
      <p:pic>
        <p:nvPicPr>
          <p:cNvPr id="5" name="내용 개체 틀 4">
            <a:extLst>
              <a:ext uri="{FF2B5EF4-FFF2-40B4-BE49-F238E27FC236}">
                <a16:creationId xmlns:a16="http://schemas.microsoft.com/office/drawing/2014/main" id="{4F93797C-EDB3-A9DE-4D77-8BF5E3716088}"/>
              </a:ext>
            </a:extLst>
          </p:cNvPr>
          <p:cNvPicPr>
            <a:picLocks noGrp="1" noChangeAspect="1"/>
          </p:cNvPicPr>
          <p:nvPr>
            <p:ph idx="1"/>
          </p:nvPr>
        </p:nvPicPr>
        <p:blipFill>
          <a:blip r:embed="rId2"/>
          <a:stretch>
            <a:fillRect/>
          </a:stretch>
        </p:blipFill>
        <p:spPr>
          <a:xfrm>
            <a:off x="1115616" y="1156428"/>
            <a:ext cx="6510482" cy="2830644"/>
          </a:xfrm>
          <a:prstGeom prst="rect">
            <a:avLst/>
          </a:prstGeom>
        </p:spPr>
      </p:pic>
    </p:spTree>
    <p:extLst>
      <p:ext uri="{BB962C8B-B14F-4D97-AF65-F5344CB8AC3E}">
        <p14:creationId xmlns:p14="http://schemas.microsoft.com/office/powerpoint/2010/main" val="10063137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182E3AAD-4D92-8BA9-8A77-B4382F1EED89}"/>
              </a:ext>
            </a:extLst>
          </p:cNvPr>
          <p:cNvSpPr>
            <a:spLocks noGrp="1"/>
          </p:cNvSpPr>
          <p:nvPr>
            <p:ph type="title"/>
          </p:nvPr>
        </p:nvSpPr>
        <p:spPr/>
        <p:txBody>
          <a:bodyPr vert="horz" lIns="75927" tIns="37964" rIns="75927" bIns="37964" rtlCol="0" anchor="ctr">
            <a:normAutofit/>
          </a:bodyPr>
          <a:lstStyle/>
          <a:p>
            <a:r>
              <a:rPr lang="en-US" altLang="ko-KR" spc="0" dirty="0"/>
              <a:t>[Practice 4] </a:t>
            </a:r>
            <a:r>
              <a:rPr lang="en-US" altLang="ko-Kore-KR" spc="0" dirty="0"/>
              <a:t>State Pattern </a:t>
            </a:r>
            <a:r>
              <a:rPr lang="ko-KR" altLang="en-US" spc="0" dirty="0"/>
              <a:t>예시</a:t>
            </a:r>
            <a:endParaRPr lang="ko-Kore-KR" altLang="en-US" spc="0" dirty="0"/>
          </a:p>
        </p:txBody>
      </p:sp>
      <p:sp>
        <p:nvSpPr>
          <p:cNvPr id="5" name="TextBox 4">
            <a:extLst>
              <a:ext uri="{FF2B5EF4-FFF2-40B4-BE49-F238E27FC236}">
                <a16:creationId xmlns:a16="http://schemas.microsoft.com/office/drawing/2014/main" id="{9A804FB3-1F41-1DEB-8C9E-138824084B3A}"/>
              </a:ext>
            </a:extLst>
          </p:cNvPr>
          <p:cNvSpPr txBox="1"/>
          <p:nvPr/>
        </p:nvSpPr>
        <p:spPr>
          <a:xfrm>
            <a:off x="155395" y="699542"/>
            <a:ext cx="8521061" cy="369332"/>
          </a:xfrm>
          <a:prstGeom prst="rect">
            <a:avLst/>
          </a:prstGeom>
          <a:noFill/>
        </p:spPr>
        <p:txBody>
          <a:bodyPr wrap="square">
            <a:spAutoFit/>
          </a:bodyPr>
          <a:lstStyle/>
          <a:p>
            <a:r>
              <a:rPr lang="en-US" altLang="ko-KR" sz="1800" b="1" dirty="0"/>
              <a:t>[</a:t>
            </a:r>
            <a:r>
              <a:rPr lang="ko-KR" altLang="en-US" b="1" dirty="0"/>
              <a:t>문제점</a:t>
            </a:r>
            <a:r>
              <a:rPr lang="en-US" altLang="ko-KR" sz="1800" b="1" dirty="0"/>
              <a:t>] </a:t>
            </a:r>
            <a:r>
              <a:rPr lang="ko-KR" altLang="en-US" sz="1800" b="1" dirty="0"/>
              <a:t>게임 캐릭터 구현 </a:t>
            </a:r>
            <a:r>
              <a:rPr lang="ko-KR" altLang="en-US" b="1" dirty="0"/>
              <a:t>예시</a:t>
            </a:r>
          </a:p>
        </p:txBody>
      </p:sp>
      <p:sp>
        <p:nvSpPr>
          <p:cNvPr id="8" name="내용 개체 틀 1"/>
          <p:cNvSpPr>
            <a:spLocks noGrp="1"/>
          </p:cNvSpPr>
          <p:nvPr>
            <p:ph idx="1"/>
          </p:nvPr>
        </p:nvSpPr>
        <p:spPr>
          <a:xfrm>
            <a:off x="251520" y="1131590"/>
            <a:ext cx="8712968" cy="3398852"/>
          </a:xfrm>
        </p:spPr>
        <p:txBody>
          <a:bodyPr>
            <a:normAutofit/>
          </a:bodyPr>
          <a:lstStyle/>
          <a:p>
            <a:r>
              <a:rPr lang="ko-KR" altLang="en-US" sz="1400" dirty="0"/>
              <a:t>게임 캐릭터는 </a:t>
            </a:r>
            <a:r>
              <a:rPr lang="en-US" altLang="ko-KR" sz="1400" dirty="0"/>
              <a:t>move, attack, magic, die </a:t>
            </a:r>
            <a:r>
              <a:rPr lang="ko-KR" altLang="en-US" sz="1400" dirty="0"/>
              <a:t>함수를 가진다</a:t>
            </a:r>
            <a:r>
              <a:rPr lang="en-US" altLang="ko-KR" sz="1400" dirty="0"/>
              <a:t>.</a:t>
            </a:r>
          </a:p>
          <a:p>
            <a:endParaRPr lang="en-US" altLang="ko-KR" sz="1400" spc="0" dirty="0"/>
          </a:p>
          <a:p>
            <a:r>
              <a:rPr lang="ko-KR" altLang="en-US" sz="1400" spc="0" dirty="0"/>
              <a:t>캐릭터는 등급</a:t>
            </a:r>
            <a:r>
              <a:rPr lang="en-US" altLang="ko-KR" sz="1400" spc="0" dirty="0"/>
              <a:t>(Grade)</a:t>
            </a:r>
            <a:r>
              <a:rPr lang="ko-KR" altLang="en-US" sz="1400" spc="0" dirty="0"/>
              <a:t>를 가지며</a:t>
            </a:r>
            <a:r>
              <a:rPr lang="en-US" altLang="ko-KR" sz="1400" spc="0" dirty="0"/>
              <a:t>, </a:t>
            </a:r>
            <a:br>
              <a:rPr lang="en-US" altLang="ko-KR" sz="1400" spc="0" dirty="0"/>
            </a:br>
            <a:r>
              <a:rPr lang="ko-KR" altLang="en-US" sz="1400" spc="0" dirty="0"/>
              <a:t>등급별 </a:t>
            </a:r>
            <a:r>
              <a:rPr lang="en-US" altLang="ko-KR" sz="1400" spc="0" dirty="0"/>
              <a:t>move, attack, magic </a:t>
            </a:r>
            <a:r>
              <a:rPr lang="ko-KR" altLang="en-US" sz="1400" spc="0" dirty="0"/>
              <a:t>효과가 다르다</a:t>
            </a:r>
            <a:r>
              <a:rPr lang="en-US" altLang="ko-KR" sz="1400" spc="0" dirty="0"/>
              <a:t>.</a:t>
            </a:r>
            <a:br>
              <a:rPr lang="en-US" altLang="ko-KR" sz="1400" spc="0" dirty="0"/>
            </a:br>
            <a:endParaRPr lang="en-US" altLang="ko-KR" sz="1400" spc="0" dirty="0"/>
          </a:p>
          <a:p>
            <a:r>
              <a:rPr lang="ko-KR" altLang="en-US" sz="1400" spc="0" dirty="0"/>
              <a:t>캐릭터는 </a:t>
            </a:r>
            <a:r>
              <a:rPr lang="en-US" altLang="ko-KR" sz="1400" spc="0" dirty="0"/>
              <a:t>attack</a:t>
            </a:r>
            <a:r>
              <a:rPr lang="ko-KR" altLang="en-US" sz="1400" spc="0" dirty="0"/>
              <a:t>과 </a:t>
            </a:r>
            <a:r>
              <a:rPr lang="en-US" altLang="ko-KR" sz="1400" spc="0" dirty="0"/>
              <a:t>magic</a:t>
            </a:r>
            <a:r>
              <a:rPr lang="ko-KR" altLang="en-US" sz="1400" spc="0" dirty="0"/>
              <a:t>의 결과로</a:t>
            </a:r>
            <a:br>
              <a:rPr lang="en-US" altLang="ko-KR" sz="1400" spc="0" dirty="0"/>
            </a:br>
            <a:r>
              <a:rPr lang="ko-KR" altLang="en-US" sz="1400" spc="0" dirty="0"/>
              <a:t>경험치를 쌓으면 높은 등급으로 업그레이드 된다</a:t>
            </a:r>
            <a:r>
              <a:rPr lang="en-US" altLang="ko-KR" sz="1400" spc="0" dirty="0"/>
              <a:t>.</a:t>
            </a:r>
          </a:p>
          <a:p>
            <a:endParaRPr lang="en-US" altLang="ko-KR" sz="1400" spc="0" dirty="0"/>
          </a:p>
          <a:p>
            <a:r>
              <a:rPr lang="ko-KR" altLang="en-US" sz="1400" spc="0" dirty="0">
                <a:solidFill>
                  <a:srgbClr val="FF0000"/>
                </a:solidFill>
              </a:rPr>
              <a:t>캐릭터의 새로운 등급</a:t>
            </a:r>
            <a:r>
              <a:rPr lang="en-US" altLang="ko-KR" sz="1400" spc="0" dirty="0">
                <a:solidFill>
                  <a:srgbClr val="FF0000"/>
                </a:solidFill>
              </a:rPr>
              <a:t>(Ultimate)</a:t>
            </a:r>
            <a:r>
              <a:rPr lang="ko-KR" altLang="en-US" sz="1400" spc="0" dirty="0">
                <a:solidFill>
                  <a:srgbClr val="FF0000"/>
                </a:solidFill>
              </a:rPr>
              <a:t>이 추가된다면</a:t>
            </a:r>
            <a:r>
              <a:rPr lang="en-US" altLang="ko-KR" sz="1400" spc="0" dirty="0">
                <a:solidFill>
                  <a:srgbClr val="FF0000"/>
                </a:solidFill>
              </a:rPr>
              <a:t>?</a:t>
            </a:r>
          </a:p>
          <a:p>
            <a:pPr lvl="1"/>
            <a:r>
              <a:rPr lang="ko-KR" altLang="en-US" sz="1100" spc="0" dirty="0">
                <a:solidFill>
                  <a:srgbClr val="FF0000"/>
                </a:solidFill>
              </a:rPr>
              <a:t>등급이 많아질 수록 복잡도 증가 </a:t>
            </a:r>
            <a:endParaRPr lang="en-US" altLang="ko-KR" sz="1100" spc="0" dirty="0">
              <a:solidFill>
                <a:srgbClr val="FF0000"/>
              </a:solidFill>
              <a:hlinkClick r:id="rId3">
                <a:extLst>
                  <a:ext uri="{A12FA001-AC4F-418D-AE19-62706E023703}">
                    <ahyp:hlinkClr xmlns:ahyp="http://schemas.microsoft.com/office/drawing/2018/hyperlinkcolor" val="tx"/>
                  </a:ext>
                </a:extLst>
              </a:hlinkClick>
            </a:endParaRPr>
          </a:p>
        </p:txBody>
      </p:sp>
      <p:sp>
        <p:nvSpPr>
          <p:cNvPr id="9" name="직사각형 8"/>
          <p:cNvSpPr/>
          <p:nvPr/>
        </p:nvSpPr>
        <p:spPr>
          <a:xfrm>
            <a:off x="3111232" y="1851670"/>
            <a:ext cx="2016224" cy="303481"/>
          </a:xfrm>
          <a:prstGeom prst="rect">
            <a:avLst/>
          </a:prstGeom>
        </p:spPr>
        <p:txBody>
          <a:bodyPr wrap="square">
            <a:spAutoFit/>
          </a:bodyPr>
          <a:lstStyle/>
          <a:p>
            <a:pPr>
              <a:lnSpc>
                <a:spcPct val="150000"/>
              </a:lnSpc>
            </a:pPr>
            <a:r>
              <a:rPr lang="en-US" altLang="ko-KR" sz="1050" dirty="0">
                <a:solidFill>
                  <a:srgbClr val="0066FF"/>
                </a:solidFill>
                <a:latin typeface="+mj-lt"/>
              </a:rPr>
              <a:t>NORMAL, HERO, LEGEND</a:t>
            </a:r>
          </a:p>
        </p:txBody>
      </p:sp>
      <p:pic>
        <p:nvPicPr>
          <p:cNvPr id="6" name="그림 5"/>
          <p:cNvPicPr>
            <a:picLocks noChangeAspect="1"/>
          </p:cNvPicPr>
          <p:nvPr/>
        </p:nvPicPr>
        <p:blipFill>
          <a:blip r:embed="rId4"/>
          <a:stretch>
            <a:fillRect/>
          </a:stretch>
        </p:blipFill>
        <p:spPr>
          <a:xfrm>
            <a:off x="4539889" y="3680636"/>
            <a:ext cx="1428573" cy="1135914"/>
          </a:xfrm>
          <a:prstGeom prst="rect">
            <a:avLst/>
          </a:prstGeom>
        </p:spPr>
      </p:pic>
      <p:sp>
        <p:nvSpPr>
          <p:cNvPr id="11" name="직사각형 10">
            <a:extLst>
              <a:ext uri="{FF2B5EF4-FFF2-40B4-BE49-F238E27FC236}">
                <a16:creationId xmlns:a16="http://schemas.microsoft.com/office/drawing/2014/main" id="{B12287BC-2809-C128-0C9D-2C661B1DF342}"/>
              </a:ext>
            </a:extLst>
          </p:cNvPr>
          <p:cNvSpPr/>
          <p:nvPr/>
        </p:nvSpPr>
        <p:spPr>
          <a:xfrm>
            <a:off x="6156176" y="843558"/>
            <a:ext cx="2270404" cy="3888432"/>
          </a:xfrm>
          <a:prstGeom prst="rect">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ko-KR" sz="800" dirty="0">
                <a:solidFill>
                  <a:schemeClr val="tx1"/>
                </a:solidFill>
              </a:rPr>
              <a:t>public class Game {</a:t>
            </a:r>
          </a:p>
          <a:p>
            <a:endParaRPr lang="en-US" altLang="ko-KR" sz="800" dirty="0">
              <a:solidFill>
                <a:schemeClr val="tx1"/>
              </a:solidFill>
            </a:endParaRPr>
          </a:p>
          <a:p>
            <a:r>
              <a:rPr lang="en-US" altLang="ko-KR" sz="800" dirty="0">
                <a:solidFill>
                  <a:schemeClr val="tx1"/>
                </a:solidFill>
              </a:rPr>
              <a:t>   …</a:t>
            </a:r>
          </a:p>
          <a:p>
            <a:r>
              <a:rPr lang="en-US" altLang="ko-KR" sz="800" dirty="0">
                <a:solidFill>
                  <a:schemeClr val="tx1"/>
                </a:solidFill>
              </a:rPr>
              <a:t>   public void move() {</a:t>
            </a:r>
          </a:p>
          <a:p>
            <a:r>
              <a:rPr lang="en-US" altLang="ko-KR" sz="800" dirty="0">
                <a:solidFill>
                  <a:srgbClr val="0070C0"/>
                </a:solidFill>
              </a:rPr>
              <a:t>       if (grade == NORMAL) {</a:t>
            </a:r>
          </a:p>
          <a:p>
            <a:r>
              <a:rPr lang="en-US" altLang="ko-KR" sz="800" dirty="0">
                <a:solidFill>
                  <a:schemeClr val="tx1"/>
                </a:solidFill>
              </a:rPr>
              <a:t>           // implement</a:t>
            </a:r>
          </a:p>
          <a:p>
            <a:r>
              <a:rPr lang="en-US" altLang="ko-KR" sz="800" dirty="0">
                <a:solidFill>
                  <a:srgbClr val="0070C0"/>
                </a:solidFill>
              </a:rPr>
              <a:t>       } else if (grade == HERO) {</a:t>
            </a:r>
          </a:p>
          <a:p>
            <a:r>
              <a:rPr lang="en-US" altLang="ko-KR" sz="800" dirty="0">
                <a:solidFill>
                  <a:schemeClr val="tx1"/>
                </a:solidFill>
              </a:rPr>
              <a:t>            // implement</a:t>
            </a:r>
          </a:p>
          <a:p>
            <a:r>
              <a:rPr lang="en-US" altLang="ko-KR" sz="800" dirty="0">
                <a:solidFill>
                  <a:srgbClr val="0070C0"/>
                </a:solidFill>
              </a:rPr>
              <a:t>       } else if (grade == LEGEND) {</a:t>
            </a:r>
          </a:p>
          <a:p>
            <a:r>
              <a:rPr lang="en-US" altLang="ko-KR" sz="800" dirty="0">
                <a:solidFill>
                  <a:schemeClr val="tx1"/>
                </a:solidFill>
              </a:rPr>
              <a:t>            // implement</a:t>
            </a:r>
          </a:p>
          <a:p>
            <a:r>
              <a:rPr lang="en-US" altLang="ko-KR" sz="800" dirty="0">
                <a:solidFill>
                  <a:schemeClr val="tx1"/>
                </a:solidFill>
              </a:rPr>
              <a:t>       </a:t>
            </a:r>
            <a:r>
              <a:rPr lang="en-US" altLang="ko-KR" sz="800" dirty="0">
                <a:solidFill>
                  <a:srgbClr val="FF0000"/>
                </a:solidFill>
              </a:rPr>
              <a:t>} else if (grade == ULTIMATE)  {</a:t>
            </a:r>
          </a:p>
          <a:p>
            <a:r>
              <a:rPr lang="en-US" altLang="ko-KR" sz="800" dirty="0">
                <a:solidFill>
                  <a:schemeClr val="tx1"/>
                </a:solidFill>
              </a:rPr>
              <a:t>            // implement</a:t>
            </a:r>
          </a:p>
          <a:p>
            <a:r>
              <a:rPr lang="en-US" altLang="ko-KR" sz="800" dirty="0">
                <a:solidFill>
                  <a:schemeClr val="tx1"/>
                </a:solidFill>
              </a:rPr>
              <a:t>       }</a:t>
            </a:r>
          </a:p>
          <a:p>
            <a:r>
              <a:rPr lang="en-US" altLang="ko-KR" sz="800" dirty="0">
                <a:solidFill>
                  <a:schemeClr val="tx1"/>
                </a:solidFill>
              </a:rPr>
              <a:t>   }</a:t>
            </a:r>
          </a:p>
          <a:p>
            <a:endParaRPr lang="en-US" altLang="ko-KR" sz="800" dirty="0">
              <a:solidFill>
                <a:schemeClr val="tx1"/>
              </a:solidFill>
            </a:endParaRPr>
          </a:p>
          <a:p>
            <a:r>
              <a:rPr lang="en-US" altLang="ko-KR" sz="800" dirty="0">
                <a:solidFill>
                  <a:schemeClr val="tx1"/>
                </a:solidFill>
              </a:rPr>
              <a:t>   …</a:t>
            </a:r>
          </a:p>
          <a:p>
            <a:endParaRPr lang="en-US" altLang="ko-KR" sz="800" dirty="0">
              <a:solidFill>
                <a:schemeClr val="tx1"/>
              </a:solidFill>
            </a:endParaRPr>
          </a:p>
          <a:p>
            <a:r>
              <a:rPr lang="en-US" altLang="ko-KR" sz="800" dirty="0">
                <a:solidFill>
                  <a:schemeClr val="tx1"/>
                </a:solidFill>
              </a:rPr>
              <a:t>   public void attack() {</a:t>
            </a:r>
          </a:p>
          <a:p>
            <a:r>
              <a:rPr lang="en-US" altLang="ko-KR" sz="800" dirty="0">
                <a:solidFill>
                  <a:srgbClr val="0070C0"/>
                </a:solidFill>
              </a:rPr>
              <a:t>      if (grade == NORMAL) {</a:t>
            </a:r>
          </a:p>
          <a:p>
            <a:r>
              <a:rPr lang="en-US" altLang="ko-KR" sz="800" dirty="0">
                <a:solidFill>
                  <a:schemeClr val="tx1"/>
                </a:solidFill>
              </a:rPr>
              <a:t>           // implement</a:t>
            </a:r>
          </a:p>
          <a:p>
            <a:r>
              <a:rPr lang="en-US" altLang="ko-KR" sz="800" dirty="0">
                <a:solidFill>
                  <a:srgbClr val="0070C0"/>
                </a:solidFill>
              </a:rPr>
              <a:t>       } else if (grade == HERO) {</a:t>
            </a:r>
          </a:p>
          <a:p>
            <a:r>
              <a:rPr lang="en-US" altLang="ko-KR" sz="800" dirty="0">
                <a:solidFill>
                  <a:schemeClr val="tx1"/>
                </a:solidFill>
              </a:rPr>
              <a:t>            // implement</a:t>
            </a:r>
          </a:p>
          <a:p>
            <a:r>
              <a:rPr lang="en-US" altLang="ko-KR" sz="800" dirty="0">
                <a:solidFill>
                  <a:srgbClr val="0070C0"/>
                </a:solidFill>
              </a:rPr>
              <a:t>       } else if (grade == LEGEND) {</a:t>
            </a:r>
          </a:p>
          <a:p>
            <a:r>
              <a:rPr lang="en-US" altLang="ko-KR" sz="800" dirty="0">
                <a:solidFill>
                  <a:schemeClr val="tx1"/>
                </a:solidFill>
              </a:rPr>
              <a:t>            // implement</a:t>
            </a:r>
          </a:p>
          <a:p>
            <a:r>
              <a:rPr lang="en-US" altLang="ko-KR" sz="800" dirty="0">
                <a:solidFill>
                  <a:schemeClr val="tx1"/>
                </a:solidFill>
              </a:rPr>
              <a:t>       </a:t>
            </a:r>
            <a:r>
              <a:rPr lang="en-US" altLang="ko-KR" sz="800" dirty="0">
                <a:solidFill>
                  <a:srgbClr val="FF0000"/>
                </a:solidFill>
              </a:rPr>
              <a:t>} else if (grade == ULTIMATE)  {</a:t>
            </a:r>
          </a:p>
          <a:p>
            <a:r>
              <a:rPr lang="en-US" altLang="ko-KR" sz="800" dirty="0">
                <a:solidFill>
                  <a:schemeClr val="tx1"/>
                </a:solidFill>
              </a:rPr>
              <a:t>            // implement</a:t>
            </a:r>
          </a:p>
          <a:p>
            <a:r>
              <a:rPr lang="en-US" altLang="ko-KR" sz="800" dirty="0">
                <a:solidFill>
                  <a:schemeClr val="tx1"/>
                </a:solidFill>
              </a:rPr>
              <a:t>       }</a:t>
            </a:r>
          </a:p>
          <a:p>
            <a:r>
              <a:rPr lang="en-US" altLang="ko-KR" sz="800" dirty="0">
                <a:solidFill>
                  <a:schemeClr val="tx1"/>
                </a:solidFill>
              </a:rPr>
              <a:t>    }</a:t>
            </a:r>
          </a:p>
          <a:p>
            <a:endParaRPr lang="en-US" altLang="ko-KR" sz="800" dirty="0">
              <a:solidFill>
                <a:schemeClr val="tx1"/>
              </a:solidFill>
            </a:endParaRPr>
          </a:p>
          <a:p>
            <a:r>
              <a:rPr lang="en-US" altLang="ko-KR" sz="800" dirty="0">
                <a:solidFill>
                  <a:schemeClr val="tx1"/>
                </a:solidFill>
              </a:rPr>
              <a:t>    …</a:t>
            </a:r>
          </a:p>
          <a:p>
            <a:r>
              <a:rPr lang="en-US" altLang="ko-KR" sz="800" dirty="0">
                <a:solidFill>
                  <a:schemeClr val="tx1"/>
                </a:solidFill>
              </a:rPr>
              <a:t>}</a:t>
            </a:r>
            <a:endParaRPr lang="ko-KR" altLang="en-US" sz="800" dirty="0">
              <a:solidFill>
                <a:schemeClr val="tx1"/>
              </a:solidFill>
            </a:endParaRPr>
          </a:p>
        </p:txBody>
      </p:sp>
    </p:spTree>
    <p:extLst>
      <p:ext uri="{BB962C8B-B14F-4D97-AF65-F5344CB8AC3E}">
        <p14:creationId xmlns:p14="http://schemas.microsoft.com/office/powerpoint/2010/main" val="12876156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182E3AAD-4D92-8BA9-8A77-B4382F1EED89}"/>
              </a:ext>
            </a:extLst>
          </p:cNvPr>
          <p:cNvSpPr>
            <a:spLocks noGrp="1"/>
          </p:cNvSpPr>
          <p:nvPr>
            <p:ph type="title"/>
          </p:nvPr>
        </p:nvSpPr>
        <p:spPr/>
        <p:txBody>
          <a:bodyPr vert="horz" lIns="75927" tIns="37964" rIns="75927" bIns="37964" rtlCol="0" anchor="ctr">
            <a:normAutofit/>
          </a:bodyPr>
          <a:lstStyle/>
          <a:p>
            <a:r>
              <a:rPr lang="en-US" altLang="ko-KR" spc="0" dirty="0"/>
              <a:t>[Practice 4] </a:t>
            </a:r>
            <a:r>
              <a:rPr lang="en-US" altLang="ko-Kore-KR" spc="0" dirty="0"/>
              <a:t>State Pattern </a:t>
            </a:r>
            <a:r>
              <a:rPr lang="ko-KR" altLang="en-US" spc="0" dirty="0"/>
              <a:t>예시 </a:t>
            </a:r>
            <a:r>
              <a:rPr lang="en-US" altLang="ko-Kore-KR" spc="0" dirty="0"/>
              <a:t>– Class Diagram</a:t>
            </a:r>
            <a:endParaRPr lang="ko-Kore-KR" altLang="en-US" spc="0" dirty="0"/>
          </a:p>
        </p:txBody>
      </p:sp>
      <p:pic>
        <p:nvPicPr>
          <p:cNvPr id="4" name="그림 3"/>
          <p:cNvPicPr>
            <a:picLocks noChangeAspect="1"/>
          </p:cNvPicPr>
          <p:nvPr/>
        </p:nvPicPr>
        <p:blipFill>
          <a:blip r:embed="rId2"/>
          <a:stretch>
            <a:fillRect/>
          </a:stretch>
        </p:blipFill>
        <p:spPr>
          <a:xfrm>
            <a:off x="971600" y="1248627"/>
            <a:ext cx="7445376" cy="3190876"/>
          </a:xfrm>
          <a:prstGeom prst="rect">
            <a:avLst/>
          </a:prstGeom>
        </p:spPr>
      </p:pic>
      <p:sp>
        <p:nvSpPr>
          <p:cNvPr id="10" name="TextBox 9">
            <a:extLst>
              <a:ext uri="{FF2B5EF4-FFF2-40B4-BE49-F238E27FC236}">
                <a16:creationId xmlns:a16="http://schemas.microsoft.com/office/drawing/2014/main" id="{9A804FB3-1F41-1DEB-8C9E-138824084B3A}"/>
              </a:ext>
            </a:extLst>
          </p:cNvPr>
          <p:cNvSpPr txBox="1"/>
          <p:nvPr/>
        </p:nvSpPr>
        <p:spPr>
          <a:xfrm>
            <a:off x="155395" y="699542"/>
            <a:ext cx="8521061" cy="369332"/>
          </a:xfrm>
          <a:prstGeom prst="rect">
            <a:avLst/>
          </a:prstGeom>
          <a:noFill/>
        </p:spPr>
        <p:txBody>
          <a:bodyPr wrap="square">
            <a:spAutoFit/>
          </a:bodyPr>
          <a:lstStyle/>
          <a:p>
            <a:r>
              <a:rPr lang="en-US" altLang="ko-KR" sz="1800" b="1" dirty="0"/>
              <a:t>[</a:t>
            </a:r>
            <a:r>
              <a:rPr lang="ko-KR" altLang="en-US" b="1" dirty="0"/>
              <a:t>해결안</a:t>
            </a:r>
            <a:r>
              <a:rPr lang="en-US" altLang="ko-KR" sz="1800" b="1" dirty="0"/>
              <a:t>] </a:t>
            </a:r>
            <a:r>
              <a:rPr lang="en-US" altLang="ko-KR" b="1" dirty="0"/>
              <a:t>State pattern </a:t>
            </a:r>
            <a:r>
              <a:rPr lang="ko-KR" altLang="en-US" b="1" dirty="0"/>
              <a:t>적용</a:t>
            </a:r>
          </a:p>
        </p:txBody>
      </p:sp>
    </p:spTree>
    <p:extLst>
      <p:ext uri="{BB962C8B-B14F-4D97-AF65-F5344CB8AC3E}">
        <p14:creationId xmlns:p14="http://schemas.microsoft.com/office/powerpoint/2010/main" val="23998971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6105E-5273-77A7-A23A-F6241F6907B6}"/>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6939112F-5752-D2D9-3596-E9FED0E854A9}"/>
              </a:ext>
            </a:extLst>
          </p:cNvPr>
          <p:cNvSpPr>
            <a:spLocks noGrp="1"/>
          </p:cNvSpPr>
          <p:nvPr>
            <p:ph type="title"/>
          </p:nvPr>
        </p:nvSpPr>
        <p:spPr/>
        <p:txBody>
          <a:bodyPr vert="horz" lIns="75927" tIns="37964" rIns="75927" bIns="37964" rtlCol="0" anchor="ctr">
            <a:normAutofit/>
          </a:bodyPr>
          <a:lstStyle/>
          <a:p>
            <a:r>
              <a:rPr lang="en-US" altLang="ko-KR" spc="0" dirty="0"/>
              <a:t>[Practice 4] </a:t>
            </a:r>
            <a:r>
              <a:rPr lang="en-US" altLang="ko-Kore-KR" spc="0" dirty="0"/>
              <a:t>State Pattern </a:t>
            </a:r>
            <a:r>
              <a:rPr lang="ko-KR" altLang="en-US" spc="0" dirty="0"/>
              <a:t>예시 </a:t>
            </a:r>
            <a:r>
              <a:rPr lang="en-US" altLang="ko-Kore-KR" spc="0" dirty="0"/>
              <a:t>– State Diagram</a:t>
            </a:r>
            <a:endParaRPr lang="ko-Kore-KR" altLang="en-US" spc="0" dirty="0"/>
          </a:p>
        </p:txBody>
      </p:sp>
      <p:sp>
        <p:nvSpPr>
          <p:cNvPr id="10" name="TextBox 9">
            <a:extLst>
              <a:ext uri="{FF2B5EF4-FFF2-40B4-BE49-F238E27FC236}">
                <a16:creationId xmlns:a16="http://schemas.microsoft.com/office/drawing/2014/main" id="{7099E5D6-9039-7196-7CC3-2BB7D9A385A1}"/>
              </a:ext>
            </a:extLst>
          </p:cNvPr>
          <p:cNvSpPr txBox="1"/>
          <p:nvPr/>
        </p:nvSpPr>
        <p:spPr>
          <a:xfrm>
            <a:off x="155395" y="699542"/>
            <a:ext cx="8521061" cy="369332"/>
          </a:xfrm>
          <a:prstGeom prst="rect">
            <a:avLst/>
          </a:prstGeom>
          <a:noFill/>
        </p:spPr>
        <p:txBody>
          <a:bodyPr wrap="square">
            <a:spAutoFit/>
          </a:bodyPr>
          <a:lstStyle/>
          <a:p>
            <a:r>
              <a:rPr lang="en-US" altLang="ko-KR" sz="1800" b="1" dirty="0"/>
              <a:t>[</a:t>
            </a:r>
            <a:r>
              <a:rPr lang="ko-KR" altLang="en-US" b="1" dirty="0"/>
              <a:t>해결안</a:t>
            </a:r>
            <a:r>
              <a:rPr lang="en-US" altLang="ko-KR" sz="1800" b="1" dirty="0"/>
              <a:t>] </a:t>
            </a:r>
            <a:r>
              <a:rPr lang="en-US" altLang="ko-KR" b="1" dirty="0"/>
              <a:t>State pattern </a:t>
            </a:r>
            <a:r>
              <a:rPr lang="ko-KR" altLang="en-US" b="1" dirty="0"/>
              <a:t>적용</a:t>
            </a:r>
          </a:p>
        </p:txBody>
      </p:sp>
      <p:pic>
        <p:nvPicPr>
          <p:cNvPr id="1026" name="Picture 2">
            <a:extLst>
              <a:ext uri="{FF2B5EF4-FFF2-40B4-BE49-F238E27FC236}">
                <a16:creationId xmlns:a16="http://schemas.microsoft.com/office/drawing/2014/main" id="{5FF3972C-9C9A-EF58-1C8A-706C2AC2EC9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4488" y="1228725"/>
            <a:ext cx="5915025" cy="2686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5740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r>
              <a:rPr lang="en-US" altLang="ko-KR" spc="0" dirty="0"/>
              <a:t>[Practice 4] State Pattern</a:t>
            </a:r>
            <a:endParaRPr lang="ko-KR" altLang="en-US" spc="0" dirty="0"/>
          </a:p>
        </p:txBody>
      </p:sp>
      <p:sp>
        <p:nvSpPr>
          <p:cNvPr id="4" name="내용 개체 틀 1"/>
          <p:cNvSpPr>
            <a:spLocks noGrp="1"/>
          </p:cNvSpPr>
          <p:nvPr>
            <p:ph idx="1"/>
          </p:nvPr>
        </p:nvSpPr>
        <p:spPr>
          <a:xfrm>
            <a:off x="203077" y="771550"/>
            <a:ext cx="8712968" cy="4234780"/>
          </a:xfrm>
        </p:spPr>
        <p:txBody>
          <a:bodyPr>
            <a:normAutofit/>
          </a:bodyPr>
          <a:lstStyle/>
          <a:p>
            <a:endParaRPr lang="en-US" altLang="ko-KR" sz="1600" spc="0" dirty="0"/>
          </a:p>
          <a:p>
            <a:r>
              <a:rPr lang="ko-KR" altLang="en-US" sz="1300" spc="0" dirty="0"/>
              <a:t>오른쪽 그림과 같이 작동하는 기존 코드 분석 후</a:t>
            </a:r>
            <a:endParaRPr lang="en-US" altLang="ko-KR" sz="1300" spc="0" dirty="0"/>
          </a:p>
          <a:p>
            <a:r>
              <a:rPr lang="en-US" altLang="ko-KR" sz="1300" spc="0" dirty="0"/>
              <a:t> </a:t>
            </a:r>
            <a:r>
              <a:rPr lang="en-US" altLang="ko-KR" sz="1300" b="1" spc="0" dirty="0" err="1">
                <a:solidFill>
                  <a:srgbClr val="0066FF"/>
                </a:solidFill>
              </a:rPr>
              <a:t>UrgentState</a:t>
            </a:r>
            <a:r>
              <a:rPr lang="ko-KR" altLang="en-US" sz="1300" spc="0" dirty="0"/>
              <a:t>를 추가하여 다음 기능 추가 </a:t>
            </a:r>
          </a:p>
          <a:p>
            <a:pPr marL="361338" lvl="1" indent="0">
              <a:buNone/>
            </a:pPr>
            <a:r>
              <a:rPr lang="en-US" altLang="ko-KR" sz="1300" spc="0" dirty="0"/>
              <a:t>(1) </a:t>
            </a:r>
            <a:r>
              <a:rPr lang="en-US" altLang="ko-KR" sz="1300" u="sng" spc="0" dirty="0">
                <a:solidFill>
                  <a:srgbClr val="4156BD"/>
                </a:solidFill>
              </a:rPr>
              <a:t>[</a:t>
            </a:r>
            <a:r>
              <a:rPr lang="en-US" altLang="ko-KR" sz="1300" b="1" u="sng" spc="0" dirty="0">
                <a:solidFill>
                  <a:srgbClr val="4156BD"/>
                </a:solidFill>
              </a:rPr>
              <a:t>Alarm</a:t>
            </a:r>
            <a:r>
              <a:rPr lang="en-US" altLang="ko-KR" sz="1300" u="sng" spc="0" dirty="0">
                <a:solidFill>
                  <a:srgbClr val="4156BD"/>
                </a:solidFill>
              </a:rPr>
              <a:t>]</a:t>
            </a:r>
            <a:r>
              <a:rPr lang="ko-KR" altLang="en-US" sz="1300" spc="0" dirty="0"/>
              <a:t>버튼을 누르면 </a:t>
            </a:r>
            <a:r>
              <a:rPr lang="en-US" altLang="ko-KR" sz="1300" b="1" spc="0" dirty="0" err="1">
                <a:solidFill>
                  <a:srgbClr val="0066FF"/>
                </a:solidFill>
              </a:rPr>
              <a:t>UrgentState</a:t>
            </a:r>
            <a:r>
              <a:rPr lang="en-US" altLang="ko-KR" sz="1300" b="1" spc="0" dirty="0">
                <a:solidFill>
                  <a:srgbClr val="0066FF"/>
                </a:solidFill>
              </a:rPr>
              <a:t> </a:t>
            </a:r>
            <a:r>
              <a:rPr lang="ko-KR" altLang="en-US" sz="1300" spc="0" dirty="0"/>
              <a:t>로</a:t>
            </a:r>
            <a:r>
              <a:rPr lang="ko-KR" altLang="en-US" sz="1300" spc="0" dirty="0">
                <a:solidFill>
                  <a:srgbClr val="FF0000"/>
                </a:solidFill>
              </a:rPr>
              <a:t> </a:t>
            </a:r>
            <a:r>
              <a:rPr lang="ko-KR" altLang="en-US" sz="1300" spc="0" dirty="0"/>
              <a:t>전환</a:t>
            </a:r>
          </a:p>
          <a:p>
            <a:pPr marL="361338" lvl="1" indent="0">
              <a:buNone/>
            </a:pPr>
            <a:r>
              <a:rPr lang="en-US" altLang="ko-KR" sz="1300" spc="0" dirty="0"/>
              <a:t>(2) </a:t>
            </a:r>
            <a:r>
              <a:rPr lang="en-US" altLang="ko-KR" sz="1300" b="1" spc="0" dirty="0" err="1">
                <a:solidFill>
                  <a:srgbClr val="0066FF"/>
                </a:solidFill>
              </a:rPr>
              <a:t>UrgentState</a:t>
            </a:r>
            <a:r>
              <a:rPr lang="ko-KR" altLang="en-US" sz="1300" spc="0" dirty="0"/>
              <a:t>에서</a:t>
            </a:r>
            <a:endParaRPr lang="en-US" altLang="ko-KR" sz="1300" spc="0" dirty="0"/>
          </a:p>
          <a:p>
            <a:pPr lvl="2"/>
            <a:r>
              <a:rPr lang="en-US" altLang="ko-KR" sz="1000" u="sng" spc="0" dirty="0">
                <a:solidFill>
                  <a:srgbClr val="4156BD"/>
                </a:solidFill>
              </a:rPr>
              <a:t>[</a:t>
            </a:r>
            <a:r>
              <a:rPr lang="en-US" altLang="ko-KR" sz="1000" b="1" u="sng" spc="0" dirty="0">
                <a:solidFill>
                  <a:srgbClr val="4156BD"/>
                </a:solidFill>
              </a:rPr>
              <a:t>Use</a:t>
            </a:r>
            <a:r>
              <a:rPr lang="en-US" altLang="ko-KR" sz="1000" u="sng" spc="0" dirty="0">
                <a:solidFill>
                  <a:srgbClr val="4156BD"/>
                </a:solidFill>
              </a:rPr>
              <a:t>]</a:t>
            </a:r>
            <a:r>
              <a:rPr lang="ko-KR" altLang="en-US" sz="1000" spc="0" dirty="0"/>
              <a:t>버튼을 누르면</a:t>
            </a:r>
            <a:endParaRPr lang="en-US" altLang="ko-KR" sz="1000" spc="0" dirty="0"/>
          </a:p>
          <a:p>
            <a:pPr lvl="3"/>
            <a:r>
              <a:rPr lang="ko-KR" altLang="en-US" sz="1000" spc="0" dirty="0"/>
              <a:t>시간에 관계 없이</a:t>
            </a:r>
            <a:r>
              <a:rPr lang="en-US" altLang="ko-KR" sz="1000" spc="0" dirty="0"/>
              <a:t>,</a:t>
            </a:r>
            <a:r>
              <a:rPr lang="ko-KR" altLang="en-US" sz="1000" spc="0" dirty="0"/>
              <a:t> </a:t>
            </a:r>
            <a:r>
              <a:rPr lang="en-US" altLang="ko-KR" sz="1000" spc="0" dirty="0"/>
              <a:t>Context </a:t>
            </a:r>
            <a:r>
              <a:rPr lang="ko-KR" altLang="en-US" sz="1000" spc="0" dirty="0"/>
              <a:t>인터페이스의 </a:t>
            </a:r>
            <a:r>
              <a:rPr lang="en-US" altLang="ko-KR" sz="1000" b="1" spc="0" dirty="0" err="1"/>
              <a:t>callSecurityCenter</a:t>
            </a:r>
            <a:r>
              <a:rPr lang="en-US" altLang="ko-KR" sz="1000" b="1" spc="0" dirty="0"/>
              <a:t>()</a:t>
            </a:r>
            <a:r>
              <a:rPr lang="ko-KR" altLang="en-US" sz="1000" spc="0" dirty="0"/>
              <a:t>를 이용해서 </a:t>
            </a:r>
            <a:r>
              <a:rPr lang="ko-KR" altLang="en-US" sz="1000" b="1" spc="0" dirty="0">
                <a:solidFill>
                  <a:srgbClr val="0066FF"/>
                </a:solidFill>
              </a:rPr>
              <a:t>“</a:t>
            </a:r>
            <a:r>
              <a:rPr lang="en-US" altLang="ko-KR" sz="1000" b="1" spc="0" dirty="0">
                <a:solidFill>
                  <a:srgbClr val="0066FF"/>
                </a:solidFill>
              </a:rPr>
              <a:t>Use(</a:t>
            </a:r>
            <a:r>
              <a:rPr lang="en-US" altLang="ko-KR" sz="1000" b="1" spc="0" dirty="0" err="1">
                <a:solidFill>
                  <a:srgbClr val="0066FF"/>
                </a:solidFill>
              </a:rPr>
              <a:t>UrgentState</a:t>
            </a:r>
            <a:r>
              <a:rPr lang="en-US" altLang="ko-KR" sz="1000" b="1" spc="0" dirty="0">
                <a:solidFill>
                  <a:srgbClr val="0066FF"/>
                </a:solidFill>
              </a:rPr>
              <a:t>)!!!!”</a:t>
            </a:r>
            <a:r>
              <a:rPr lang="en-US" altLang="ko-KR" sz="1300" b="1" spc="0" dirty="0">
                <a:solidFill>
                  <a:srgbClr val="0066FF"/>
                </a:solidFill>
              </a:rPr>
              <a:t> </a:t>
            </a:r>
            <a:r>
              <a:rPr lang="ko-KR" altLang="en-US" sz="1000" spc="0" dirty="0"/>
              <a:t>을 통보</a:t>
            </a:r>
          </a:p>
          <a:p>
            <a:pPr lvl="2"/>
            <a:r>
              <a:rPr lang="en-US" altLang="ko-KR" sz="1000" u="sng" spc="0" dirty="0">
                <a:solidFill>
                  <a:srgbClr val="4156BD"/>
                </a:solidFill>
              </a:rPr>
              <a:t>[</a:t>
            </a:r>
            <a:r>
              <a:rPr lang="en-US" altLang="ko-KR" sz="1000" b="1" u="sng" spc="0" dirty="0">
                <a:solidFill>
                  <a:srgbClr val="4156BD"/>
                </a:solidFill>
              </a:rPr>
              <a:t>Alarm</a:t>
            </a:r>
            <a:r>
              <a:rPr lang="en-US" altLang="ko-KR" sz="1000" u="sng" spc="0" dirty="0">
                <a:solidFill>
                  <a:srgbClr val="4156BD"/>
                </a:solidFill>
              </a:rPr>
              <a:t>]</a:t>
            </a:r>
            <a:r>
              <a:rPr lang="ko-KR" altLang="en-US" sz="1000" spc="0" dirty="0"/>
              <a:t>버튼을 누르면 </a:t>
            </a:r>
            <a:endParaRPr lang="en-US" altLang="ko-KR" sz="1000" spc="0" dirty="0"/>
          </a:p>
          <a:p>
            <a:pPr lvl="3"/>
            <a:r>
              <a:rPr lang="ko-KR" altLang="en-US" sz="1000" spc="0" dirty="0"/>
              <a:t>시간에 관계 없이</a:t>
            </a:r>
            <a:r>
              <a:rPr lang="en-US" altLang="ko-KR" sz="1000" spc="0" dirty="0"/>
              <a:t>,</a:t>
            </a:r>
            <a:r>
              <a:rPr lang="ko-KR" altLang="en-US" sz="1000" spc="0" dirty="0"/>
              <a:t> </a:t>
            </a:r>
            <a:r>
              <a:rPr lang="en-US" altLang="ko-KR" sz="1000" spc="0" dirty="0"/>
              <a:t>Context </a:t>
            </a:r>
            <a:r>
              <a:rPr lang="ko-KR" altLang="en-US" sz="1000" spc="0" dirty="0"/>
              <a:t>인터페이스의 </a:t>
            </a:r>
            <a:r>
              <a:rPr lang="en-US" altLang="ko-KR" sz="1000" b="1" spc="0" dirty="0" err="1"/>
              <a:t>callSecurityCenter</a:t>
            </a:r>
            <a:r>
              <a:rPr lang="en-US" altLang="ko-KR" sz="1000" b="1" spc="0" dirty="0"/>
              <a:t>()</a:t>
            </a:r>
            <a:r>
              <a:rPr lang="ko-KR" altLang="en-US" sz="1000" spc="0" dirty="0"/>
              <a:t>를 이용해서 </a:t>
            </a:r>
            <a:r>
              <a:rPr lang="ko-KR" altLang="en-US" sz="1000" b="1" spc="0" dirty="0">
                <a:solidFill>
                  <a:srgbClr val="0066FF"/>
                </a:solidFill>
              </a:rPr>
              <a:t>“</a:t>
            </a:r>
            <a:r>
              <a:rPr lang="en-US" altLang="ko-KR" sz="1000" b="1" spc="0" dirty="0">
                <a:solidFill>
                  <a:srgbClr val="0066FF"/>
                </a:solidFill>
              </a:rPr>
              <a:t>Alarm(</a:t>
            </a:r>
            <a:r>
              <a:rPr lang="en-US" altLang="ko-KR" sz="1000" b="1" spc="0" dirty="0" err="1">
                <a:solidFill>
                  <a:srgbClr val="0066FF"/>
                </a:solidFill>
              </a:rPr>
              <a:t>UrgentState</a:t>
            </a:r>
            <a:r>
              <a:rPr lang="en-US" altLang="ko-KR" sz="1000" b="1" spc="0" dirty="0">
                <a:solidFill>
                  <a:srgbClr val="0066FF"/>
                </a:solidFill>
              </a:rPr>
              <a:t>)”</a:t>
            </a:r>
            <a:r>
              <a:rPr lang="en-US" altLang="ko-KR" sz="1000" spc="0" dirty="0"/>
              <a:t> </a:t>
            </a:r>
            <a:r>
              <a:rPr lang="ko-KR" altLang="en-US" sz="1000" spc="0" dirty="0"/>
              <a:t>을 통보</a:t>
            </a:r>
          </a:p>
          <a:p>
            <a:pPr lvl="2"/>
            <a:r>
              <a:rPr lang="en-US" altLang="ko-KR" sz="1000" u="sng" spc="0" dirty="0">
                <a:solidFill>
                  <a:srgbClr val="4156BD"/>
                </a:solidFill>
              </a:rPr>
              <a:t>[</a:t>
            </a:r>
            <a:r>
              <a:rPr lang="en-US" altLang="ko-KR" sz="1000" b="1" u="sng" spc="0" dirty="0">
                <a:solidFill>
                  <a:srgbClr val="4156BD"/>
                </a:solidFill>
              </a:rPr>
              <a:t>Phone</a:t>
            </a:r>
            <a:r>
              <a:rPr lang="en-US" altLang="ko-KR" sz="1000" u="sng" spc="0" dirty="0">
                <a:solidFill>
                  <a:srgbClr val="4156BD"/>
                </a:solidFill>
              </a:rPr>
              <a:t>]</a:t>
            </a:r>
            <a:r>
              <a:rPr lang="ko-KR" altLang="en-US" sz="1000" spc="0" dirty="0"/>
              <a:t>버튼을 누르면 </a:t>
            </a:r>
            <a:endParaRPr lang="en-US" altLang="ko-KR" sz="1000" spc="0" dirty="0"/>
          </a:p>
          <a:p>
            <a:pPr lvl="3"/>
            <a:r>
              <a:rPr lang="ko-KR" altLang="en-US" sz="1000" spc="0" dirty="0"/>
              <a:t>시간에 관계 없이</a:t>
            </a:r>
            <a:r>
              <a:rPr lang="en-US" altLang="ko-KR" sz="1000" spc="0" dirty="0"/>
              <a:t>,</a:t>
            </a:r>
            <a:r>
              <a:rPr lang="ko-KR" altLang="en-US" sz="1000" spc="0" dirty="0"/>
              <a:t> </a:t>
            </a:r>
            <a:r>
              <a:rPr lang="en-US" altLang="ko-KR" sz="1000" spc="0" dirty="0"/>
              <a:t>Context </a:t>
            </a:r>
            <a:r>
              <a:rPr lang="ko-KR" altLang="en-US" sz="1000" spc="0" dirty="0"/>
              <a:t>인터페이스의 </a:t>
            </a:r>
            <a:r>
              <a:rPr lang="en-US" altLang="ko-KR" sz="1000" b="1" spc="0" dirty="0" err="1"/>
              <a:t>callSecurityCenter</a:t>
            </a:r>
            <a:r>
              <a:rPr lang="en-US" altLang="ko-KR" sz="1000" b="1" spc="0" dirty="0"/>
              <a:t>()</a:t>
            </a:r>
            <a:r>
              <a:rPr lang="ko-KR" altLang="en-US" sz="1000" spc="0" dirty="0"/>
              <a:t>를 이용해서 </a:t>
            </a:r>
            <a:r>
              <a:rPr lang="ko-KR" altLang="en-US" sz="1000" b="1" spc="0" dirty="0">
                <a:solidFill>
                  <a:srgbClr val="0066FF"/>
                </a:solidFill>
              </a:rPr>
              <a:t>“</a:t>
            </a:r>
            <a:r>
              <a:rPr lang="en-US" altLang="ko-KR" sz="1000" b="1" spc="0" dirty="0">
                <a:solidFill>
                  <a:srgbClr val="0066FF"/>
                </a:solidFill>
              </a:rPr>
              <a:t>Phone(</a:t>
            </a:r>
            <a:r>
              <a:rPr lang="en-US" altLang="ko-KR" sz="1000" b="1" spc="0" dirty="0" err="1">
                <a:solidFill>
                  <a:srgbClr val="0066FF"/>
                </a:solidFill>
              </a:rPr>
              <a:t>UrgentState</a:t>
            </a:r>
            <a:r>
              <a:rPr lang="en-US" altLang="ko-KR" sz="1000" b="1" spc="0" dirty="0">
                <a:solidFill>
                  <a:srgbClr val="0066FF"/>
                </a:solidFill>
              </a:rPr>
              <a:t>)”</a:t>
            </a:r>
            <a:r>
              <a:rPr lang="en-US" altLang="ko-KR" sz="1000" spc="0" dirty="0"/>
              <a:t> </a:t>
            </a:r>
            <a:r>
              <a:rPr lang="ko-KR" altLang="en-US" sz="1000" spc="0" dirty="0"/>
              <a:t>을 통보</a:t>
            </a:r>
          </a:p>
        </p:txBody>
      </p:sp>
      <p:sp>
        <p:nvSpPr>
          <p:cNvPr id="6" name="직사각형 5"/>
          <p:cNvSpPr/>
          <p:nvPr/>
        </p:nvSpPr>
        <p:spPr>
          <a:xfrm>
            <a:off x="251520" y="752386"/>
            <a:ext cx="3384376" cy="307777"/>
          </a:xfrm>
          <a:prstGeom prst="rect">
            <a:avLst/>
          </a:prstGeom>
          <a:solidFill>
            <a:schemeClr val="accent1">
              <a:lumMod val="20000"/>
              <a:lumOff val="80000"/>
            </a:schemeClr>
          </a:solidFill>
        </p:spPr>
        <p:txBody>
          <a:bodyPr wrap="square">
            <a:spAutoFit/>
          </a:bodyPr>
          <a:lstStyle/>
          <a:p>
            <a:r>
              <a:rPr lang="en-US" altLang="ko-KR" sz="1400" b="1" dirty="0"/>
              <a:t>[</a:t>
            </a:r>
            <a:r>
              <a:rPr lang="ko-KR" altLang="en-US" sz="1400" b="1" dirty="0"/>
              <a:t>실습 코드</a:t>
            </a:r>
            <a:r>
              <a:rPr lang="en-US" altLang="ko-KR" sz="1400" b="1" dirty="0"/>
              <a:t>] </a:t>
            </a:r>
            <a:r>
              <a:rPr lang="en-US" altLang="ko-KR" sz="1400" dirty="0"/>
              <a:t>4_hiroshi.State.Problem</a:t>
            </a:r>
          </a:p>
        </p:txBody>
      </p:sp>
      <p:pic>
        <p:nvPicPr>
          <p:cNvPr id="2" name="그림 1"/>
          <p:cNvPicPr>
            <a:picLocks noChangeAspect="1"/>
          </p:cNvPicPr>
          <p:nvPr/>
        </p:nvPicPr>
        <p:blipFill>
          <a:blip r:embed="rId2"/>
          <a:stretch>
            <a:fillRect/>
          </a:stretch>
        </p:blipFill>
        <p:spPr>
          <a:xfrm>
            <a:off x="5580112" y="752386"/>
            <a:ext cx="3117633" cy="1844713"/>
          </a:xfrm>
          <a:prstGeom prst="rect">
            <a:avLst/>
          </a:prstGeom>
        </p:spPr>
      </p:pic>
    </p:spTree>
    <p:extLst>
      <p:ext uri="{BB962C8B-B14F-4D97-AF65-F5344CB8AC3E}">
        <p14:creationId xmlns:p14="http://schemas.microsoft.com/office/powerpoint/2010/main" val="14009767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4] State Pattern (solution)</a:t>
            </a:r>
            <a:endParaRPr lang="ko-KR" altLang="en-US" spc="0" dirty="0"/>
          </a:p>
        </p:txBody>
      </p:sp>
      <p:pic>
        <p:nvPicPr>
          <p:cNvPr id="4" name="그림 3"/>
          <p:cNvPicPr>
            <a:picLocks noChangeAspect="1"/>
          </p:cNvPicPr>
          <p:nvPr/>
        </p:nvPicPr>
        <p:blipFill rotWithShape="1">
          <a:blip r:embed="rId2"/>
          <a:srcRect l="1408" t="1825"/>
          <a:stretch/>
        </p:blipFill>
        <p:spPr>
          <a:xfrm>
            <a:off x="3723506" y="1707654"/>
            <a:ext cx="5384998" cy="3384376"/>
          </a:xfrm>
          <a:prstGeom prst="rect">
            <a:avLst/>
          </a:prstGeom>
        </p:spPr>
      </p:pic>
      <p:pic>
        <p:nvPicPr>
          <p:cNvPr id="5" name="그림 4"/>
          <p:cNvPicPr>
            <a:picLocks noChangeAspect="1"/>
          </p:cNvPicPr>
          <p:nvPr/>
        </p:nvPicPr>
        <p:blipFill>
          <a:blip r:embed="rId3"/>
          <a:stretch>
            <a:fillRect/>
          </a:stretch>
        </p:blipFill>
        <p:spPr>
          <a:xfrm>
            <a:off x="0" y="1742965"/>
            <a:ext cx="3667053" cy="2800148"/>
          </a:xfrm>
          <a:prstGeom prst="rect">
            <a:avLst/>
          </a:prstGeom>
        </p:spPr>
      </p:pic>
      <p:sp>
        <p:nvSpPr>
          <p:cNvPr id="6" name="직사각형 5"/>
          <p:cNvSpPr/>
          <p:nvPr/>
        </p:nvSpPr>
        <p:spPr>
          <a:xfrm>
            <a:off x="7632498" y="4078752"/>
            <a:ext cx="1476006" cy="100811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내용 개체 틀 1"/>
          <p:cNvSpPr>
            <a:spLocks noGrp="1"/>
          </p:cNvSpPr>
          <p:nvPr>
            <p:ph idx="1"/>
          </p:nvPr>
        </p:nvSpPr>
        <p:spPr>
          <a:xfrm>
            <a:off x="250825" y="699542"/>
            <a:ext cx="5472608" cy="936104"/>
          </a:xfrm>
        </p:spPr>
        <p:txBody>
          <a:bodyPr>
            <a:normAutofit/>
          </a:bodyPr>
          <a:lstStyle/>
          <a:p>
            <a:pPr marL="177800" lvl="1" indent="-177800"/>
            <a:r>
              <a:rPr lang="en-US" altLang="ko-KR" dirty="0"/>
              <a:t>Class Diagram</a:t>
            </a:r>
            <a:r>
              <a:rPr lang="ko-KR" altLang="en-US" dirty="0"/>
              <a:t>에서는 </a:t>
            </a:r>
            <a:r>
              <a:rPr lang="en-US" altLang="ko-KR" dirty="0"/>
              <a:t>State</a:t>
            </a:r>
            <a:r>
              <a:rPr lang="ko-KR" altLang="en-US" dirty="0"/>
              <a:t>와 </a:t>
            </a:r>
            <a:r>
              <a:rPr lang="en-US" altLang="ko-KR" dirty="0"/>
              <a:t>Action</a:t>
            </a:r>
            <a:r>
              <a:rPr lang="ko-KR" altLang="en-US" dirty="0"/>
              <a:t>의</a:t>
            </a:r>
            <a:r>
              <a:rPr lang="en-US" altLang="ko-KR" dirty="0"/>
              <a:t> </a:t>
            </a:r>
            <a:r>
              <a:rPr lang="ko-KR" altLang="en-US" dirty="0"/>
              <a:t>추가</a:t>
            </a:r>
            <a:r>
              <a:rPr lang="en-US" altLang="ko-KR" dirty="0"/>
              <a:t>/</a:t>
            </a:r>
            <a:r>
              <a:rPr lang="ko-KR" altLang="en-US" dirty="0"/>
              <a:t>삭제 정도는 확인 가능</a:t>
            </a:r>
            <a:endParaRPr lang="en-US" altLang="ko-KR" dirty="0"/>
          </a:p>
          <a:p>
            <a:pPr marL="177800" lvl="1" indent="-177800"/>
            <a:r>
              <a:rPr lang="ko-KR" altLang="en-US" dirty="0"/>
              <a:t>구체적인 동작을 확인하기 위해서는 반드시 </a:t>
            </a:r>
            <a:r>
              <a:rPr lang="en-US" altLang="ko-KR" dirty="0"/>
              <a:t>State Diagram </a:t>
            </a:r>
            <a:r>
              <a:rPr lang="ko-KR" altLang="en-US" dirty="0"/>
              <a:t>필요</a:t>
            </a:r>
          </a:p>
        </p:txBody>
      </p:sp>
      <p:cxnSp>
        <p:nvCxnSpPr>
          <p:cNvPr id="8" name="직선 연결선 7"/>
          <p:cNvCxnSpPr/>
          <p:nvPr/>
        </p:nvCxnSpPr>
        <p:spPr>
          <a:xfrm>
            <a:off x="1136912" y="3066791"/>
            <a:ext cx="612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971600" y="1465966"/>
            <a:ext cx="882806" cy="276999"/>
          </a:xfrm>
          <a:prstGeom prst="rect">
            <a:avLst/>
          </a:prstGeom>
          <a:noFill/>
        </p:spPr>
        <p:txBody>
          <a:bodyPr wrap="none" rtlCol="0">
            <a:spAutoFit/>
          </a:bodyPr>
          <a:lstStyle/>
          <a:p>
            <a:r>
              <a:rPr lang="en-US" altLang="ko-KR" sz="1200" b="1" dirty="0"/>
              <a:t>[ Before ]</a:t>
            </a:r>
            <a:endParaRPr lang="ko-KR" altLang="en-US" sz="1200" b="1" dirty="0"/>
          </a:p>
        </p:txBody>
      </p:sp>
      <p:sp>
        <p:nvSpPr>
          <p:cNvPr id="10" name="TextBox 9"/>
          <p:cNvSpPr txBox="1"/>
          <p:nvPr/>
        </p:nvSpPr>
        <p:spPr>
          <a:xfrm>
            <a:off x="5095817" y="1465966"/>
            <a:ext cx="777072" cy="276999"/>
          </a:xfrm>
          <a:prstGeom prst="rect">
            <a:avLst/>
          </a:prstGeom>
          <a:noFill/>
        </p:spPr>
        <p:txBody>
          <a:bodyPr wrap="none" rtlCol="0">
            <a:spAutoFit/>
          </a:bodyPr>
          <a:lstStyle/>
          <a:p>
            <a:r>
              <a:rPr lang="en-US" altLang="ko-KR" sz="1200" b="1" dirty="0"/>
              <a:t>[ After ]</a:t>
            </a:r>
            <a:endParaRPr lang="ko-KR" altLang="en-US" sz="1200" b="1" dirty="0"/>
          </a:p>
        </p:txBody>
      </p:sp>
    </p:spTree>
    <p:extLst>
      <p:ext uri="{BB962C8B-B14F-4D97-AF65-F5344CB8AC3E}">
        <p14:creationId xmlns:p14="http://schemas.microsoft.com/office/powerpoint/2010/main" val="28740689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744D5-F5F2-8605-0A33-6368BB48ACFB}"/>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999D3AC9-E5C0-DAA3-3A10-6FA40D4E1DA6}"/>
              </a:ext>
            </a:extLst>
          </p:cNvPr>
          <p:cNvSpPr>
            <a:spLocks noGrp="1"/>
          </p:cNvSpPr>
          <p:nvPr>
            <p:ph type="title"/>
          </p:nvPr>
        </p:nvSpPr>
        <p:spPr/>
        <p:txBody>
          <a:bodyPr vert="horz" lIns="75927" tIns="37964" rIns="75927" bIns="37964" rtlCol="0" anchor="ctr">
            <a:normAutofit/>
          </a:bodyPr>
          <a:lstStyle/>
          <a:p>
            <a:r>
              <a:rPr lang="en-US" altLang="ko-KR" spc="0" dirty="0"/>
              <a:t>[Practice 4] State Pattern (solution)</a:t>
            </a:r>
            <a:endParaRPr lang="ko-KR" altLang="en-US" spc="0" dirty="0"/>
          </a:p>
        </p:txBody>
      </p:sp>
      <p:sp>
        <p:nvSpPr>
          <p:cNvPr id="7" name="내용 개체 틀 1">
            <a:extLst>
              <a:ext uri="{FF2B5EF4-FFF2-40B4-BE49-F238E27FC236}">
                <a16:creationId xmlns:a16="http://schemas.microsoft.com/office/drawing/2014/main" id="{CBE29254-70D9-800C-EC15-6CB91EB013DC}"/>
              </a:ext>
            </a:extLst>
          </p:cNvPr>
          <p:cNvSpPr>
            <a:spLocks noGrp="1"/>
          </p:cNvSpPr>
          <p:nvPr>
            <p:ph idx="1"/>
          </p:nvPr>
        </p:nvSpPr>
        <p:spPr>
          <a:xfrm>
            <a:off x="35496" y="662356"/>
            <a:ext cx="5472608" cy="936104"/>
          </a:xfrm>
        </p:spPr>
        <p:txBody>
          <a:bodyPr>
            <a:normAutofit/>
          </a:bodyPr>
          <a:lstStyle/>
          <a:p>
            <a:pPr lvl="1"/>
            <a:r>
              <a:rPr lang="en-US" altLang="ko-KR" sz="1300" dirty="0"/>
              <a:t>State diagram</a:t>
            </a:r>
          </a:p>
        </p:txBody>
      </p:sp>
      <p:pic>
        <p:nvPicPr>
          <p:cNvPr id="10" name="그림 9">
            <a:extLst>
              <a:ext uri="{FF2B5EF4-FFF2-40B4-BE49-F238E27FC236}">
                <a16:creationId xmlns:a16="http://schemas.microsoft.com/office/drawing/2014/main" id="{0CA80FE3-E9A7-1311-AFC5-41A380570A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987574"/>
            <a:ext cx="6192688" cy="3817985"/>
          </a:xfrm>
          <a:prstGeom prst="rect">
            <a:avLst/>
          </a:prstGeom>
        </p:spPr>
      </p:pic>
    </p:spTree>
    <p:extLst>
      <p:ext uri="{BB962C8B-B14F-4D97-AF65-F5344CB8AC3E}">
        <p14:creationId xmlns:p14="http://schemas.microsoft.com/office/powerpoint/2010/main" val="10568511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E13E4-5ACB-5EB9-4CB0-2F7C2E15B9C0}"/>
            </a:ext>
          </a:extLst>
        </p:cNvPr>
        <p:cNvGrpSpPr/>
        <p:nvPr/>
      </p:nvGrpSpPr>
      <p:grpSpPr>
        <a:xfrm>
          <a:off x="0" y="0"/>
          <a:ext cx="0" cy="0"/>
          <a:chOff x="0" y="0"/>
          <a:chExt cx="0" cy="0"/>
        </a:xfrm>
      </p:grpSpPr>
      <p:sp>
        <p:nvSpPr>
          <p:cNvPr id="4" name="제목 3">
            <a:extLst>
              <a:ext uri="{FF2B5EF4-FFF2-40B4-BE49-F238E27FC236}">
                <a16:creationId xmlns:a16="http://schemas.microsoft.com/office/drawing/2014/main" id="{7F12A0DE-E83A-3896-FBFC-48F0F1E29A28}"/>
              </a:ext>
            </a:extLst>
          </p:cNvPr>
          <p:cNvSpPr>
            <a:spLocks noGrp="1"/>
          </p:cNvSpPr>
          <p:nvPr>
            <p:ph type="title"/>
          </p:nvPr>
        </p:nvSpPr>
        <p:spPr>
          <a:xfrm>
            <a:off x="2928428" y="1476711"/>
            <a:ext cx="5604012" cy="2190079"/>
          </a:xfrm>
        </p:spPr>
        <p:txBody>
          <a:bodyPr>
            <a:noAutofit/>
          </a:bodyPr>
          <a:lstStyle/>
          <a:p>
            <a:pPr lvl="0">
              <a:defRPr/>
            </a:pPr>
            <a:r>
              <a:rPr lang="en-US" altLang="ko-KR" sz="6000" dirty="0"/>
              <a:t>2</a:t>
            </a:r>
            <a:r>
              <a:rPr lang="ko-KR" altLang="en-US" sz="6000" dirty="0"/>
              <a:t>일차</a:t>
            </a:r>
          </a:p>
        </p:txBody>
      </p:sp>
    </p:spTree>
    <p:extLst>
      <p:ext uri="{BB962C8B-B14F-4D97-AF65-F5344CB8AC3E}">
        <p14:creationId xmlns:p14="http://schemas.microsoft.com/office/powerpoint/2010/main" val="1039528755"/>
      </p:ext>
    </p:extLst>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B60D08F6-3C65-B5C2-5144-2C7CD6FF07E4}"/>
              </a:ext>
            </a:extLst>
          </p:cNvPr>
          <p:cNvSpPr>
            <a:spLocks noGrp="1"/>
          </p:cNvSpPr>
          <p:nvPr>
            <p:ph type="title"/>
          </p:nvPr>
        </p:nvSpPr>
        <p:spPr/>
        <p:txBody>
          <a:bodyPr vert="horz" lIns="75927" tIns="37964" rIns="75927" bIns="37964" rtlCol="0" anchor="ctr">
            <a:normAutofit/>
          </a:bodyPr>
          <a:lstStyle/>
          <a:p>
            <a:r>
              <a:rPr lang="ko-KR" altLang="en-US" spc="0" dirty="0"/>
              <a:t>일정표</a:t>
            </a:r>
            <a:endParaRPr lang="ko-Kore-KR" altLang="en-US" spc="0" dirty="0"/>
          </a:p>
        </p:txBody>
      </p:sp>
      <p:sp>
        <p:nvSpPr>
          <p:cNvPr id="2" name="내용 개체 틀 1"/>
          <p:cNvSpPr>
            <a:spLocks noGrp="1"/>
          </p:cNvSpPr>
          <p:nvPr>
            <p:ph idx="1"/>
          </p:nvPr>
        </p:nvSpPr>
        <p:spPr>
          <a:xfrm>
            <a:off x="251520" y="771550"/>
            <a:ext cx="8712968" cy="3751262"/>
          </a:xfrm>
        </p:spPr>
        <p:txBody>
          <a:bodyPr>
            <a:normAutofit/>
          </a:bodyPr>
          <a:lstStyle/>
          <a:p>
            <a:r>
              <a:rPr lang="en-US" altLang="ko-KR" sz="1200" dirty="0">
                <a:solidFill>
                  <a:srgbClr val="000000"/>
                </a:solidFill>
                <a:latin typeface="맑은 고딕"/>
                <a:ea typeface="맑은 고딕"/>
                <a:cs typeface="맑은 고딕"/>
              </a:rPr>
              <a:t>Day #2</a:t>
            </a:r>
          </a:p>
          <a:p>
            <a:endParaRPr lang="ko-KR" altLang="en-US" sz="1200" dirty="0"/>
          </a:p>
        </p:txBody>
      </p:sp>
      <p:pic>
        <p:nvPicPr>
          <p:cNvPr id="6" name="그림 5">
            <a:extLst>
              <a:ext uri="{FF2B5EF4-FFF2-40B4-BE49-F238E27FC236}">
                <a16:creationId xmlns:a16="http://schemas.microsoft.com/office/drawing/2014/main" id="{90BFB955-CAAC-4C9B-AD64-98EF6500239C}"/>
              </a:ext>
            </a:extLst>
          </p:cNvPr>
          <p:cNvPicPr>
            <a:picLocks noChangeAspect="1"/>
          </p:cNvPicPr>
          <p:nvPr/>
        </p:nvPicPr>
        <p:blipFill>
          <a:blip r:embed="rId2"/>
          <a:stretch>
            <a:fillRect/>
          </a:stretch>
        </p:blipFill>
        <p:spPr>
          <a:xfrm>
            <a:off x="1691680" y="1435042"/>
            <a:ext cx="5029969" cy="3152932"/>
          </a:xfrm>
          <a:prstGeom prst="rect">
            <a:avLst/>
          </a:prstGeom>
        </p:spPr>
      </p:pic>
    </p:spTree>
    <p:extLst>
      <p:ext uri="{BB962C8B-B14F-4D97-AF65-F5344CB8AC3E}">
        <p14:creationId xmlns:p14="http://schemas.microsoft.com/office/powerpoint/2010/main" val="1334953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Pattern Review – 1</a:t>
            </a:r>
            <a:r>
              <a:rPr lang="ko-KR" altLang="en-US" spc="0" dirty="0"/>
              <a:t>일차 </a:t>
            </a:r>
          </a:p>
        </p:txBody>
      </p:sp>
      <p:graphicFrame>
        <p:nvGraphicFramePr>
          <p:cNvPr id="6" name="표 5"/>
          <p:cNvGraphicFramePr>
            <a:graphicFrameLocks noGrp="1"/>
          </p:cNvGraphicFramePr>
          <p:nvPr/>
        </p:nvGraphicFramePr>
        <p:xfrm>
          <a:off x="107504" y="584101"/>
          <a:ext cx="8927614" cy="4306952"/>
        </p:xfrm>
        <a:graphic>
          <a:graphicData uri="http://schemas.openxmlformats.org/drawingml/2006/table">
            <a:tbl>
              <a:tblPr firstRow="1" bandRow="1"/>
              <a:tblGrid>
                <a:gridCol w="648072">
                  <a:extLst>
                    <a:ext uri="{9D8B030D-6E8A-4147-A177-3AD203B41FA5}">
                      <a16:colId xmlns:a16="http://schemas.microsoft.com/office/drawing/2014/main" val="20000"/>
                    </a:ext>
                  </a:extLst>
                </a:gridCol>
                <a:gridCol w="1512168">
                  <a:extLst>
                    <a:ext uri="{9D8B030D-6E8A-4147-A177-3AD203B41FA5}">
                      <a16:colId xmlns:a16="http://schemas.microsoft.com/office/drawing/2014/main" val="20001"/>
                    </a:ext>
                  </a:extLst>
                </a:gridCol>
                <a:gridCol w="1656184">
                  <a:extLst>
                    <a:ext uri="{9D8B030D-6E8A-4147-A177-3AD203B41FA5}">
                      <a16:colId xmlns:a16="http://schemas.microsoft.com/office/drawing/2014/main" val="2965765470"/>
                    </a:ext>
                  </a:extLst>
                </a:gridCol>
                <a:gridCol w="1728192">
                  <a:extLst>
                    <a:ext uri="{9D8B030D-6E8A-4147-A177-3AD203B41FA5}">
                      <a16:colId xmlns:a16="http://schemas.microsoft.com/office/drawing/2014/main" val="20002"/>
                    </a:ext>
                  </a:extLst>
                </a:gridCol>
                <a:gridCol w="1728192">
                  <a:extLst>
                    <a:ext uri="{9D8B030D-6E8A-4147-A177-3AD203B41FA5}">
                      <a16:colId xmlns:a16="http://schemas.microsoft.com/office/drawing/2014/main" val="20003"/>
                    </a:ext>
                  </a:extLst>
                </a:gridCol>
                <a:gridCol w="1654806">
                  <a:extLst>
                    <a:ext uri="{9D8B030D-6E8A-4147-A177-3AD203B41FA5}">
                      <a16:colId xmlns:a16="http://schemas.microsoft.com/office/drawing/2014/main" val="20004"/>
                    </a:ext>
                  </a:extLst>
                </a:gridCol>
              </a:tblGrid>
              <a:tr h="454472">
                <a:tc>
                  <a:txBody>
                    <a:bodyPr/>
                    <a:lstStyle/>
                    <a:p>
                      <a:pPr algn="ctr">
                        <a:defRPr/>
                      </a:pPr>
                      <a:r>
                        <a:rPr lang="ko-KR" altLang="en-US" sz="1200" b="1" kern="1200" spc="-120" baseline="0" dirty="0">
                          <a:solidFill>
                            <a:schemeClr val="tx1"/>
                          </a:solidFill>
                          <a:latin typeface="맑은 고딕" panose="020B0503020000020004" pitchFamily="50" charset="-127"/>
                          <a:ea typeface="맑은 고딕" panose="020B0503020000020004" pitchFamily="50" charset="-127"/>
                          <a:cs typeface="+mn-cs"/>
                        </a:rPr>
                        <a:t>패턴</a:t>
                      </a:r>
                    </a:p>
                  </a:txBody>
                  <a:tcPr marL="0" marR="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algn="ctr">
                        <a:defRPr/>
                      </a:pPr>
                      <a:r>
                        <a:rPr lang="en-US" altLang="ko-KR" sz="1200" b="1" kern="1200" spc="-120" baseline="0" dirty="0">
                          <a:solidFill>
                            <a:schemeClr val="tx1"/>
                          </a:solidFill>
                          <a:latin typeface="맑은 고딕" panose="020B0503020000020004" pitchFamily="50" charset="-127"/>
                          <a:ea typeface="맑은 고딕" panose="020B0503020000020004" pitchFamily="50" charset="-127"/>
                          <a:cs typeface="+mn-cs"/>
                        </a:rPr>
                        <a:t>Strategy</a:t>
                      </a:r>
                    </a:p>
                  </a:txBody>
                  <a:tcPr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algn="ctr">
                        <a:defRPr/>
                      </a:pPr>
                      <a:r>
                        <a:rPr lang="en-US" altLang="ko-KR" sz="1200" b="1" kern="1200" spc="-120" baseline="0" dirty="0">
                          <a:solidFill>
                            <a:schemeClr val="tx1"/>
                          </a:solidFill>
                          <a:latin typeface="맑은 고딕" panose="020B0503020000020004" pitchFamily="50" charset="-127"/>
                          <a:ea typeface="맑은 고딕" panose="020B0503020000020004" pitchFamily="50" charset="-127"/>
                          <a:cs typeface="+mn-cs"/>
                        </a:rPr>
                        <a:t>Observer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w="med" len="med"/>
                      <a:tailEnd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algn="ctr">
                        <a:defRPr/>
                      </a:pPr>
                      <a:r>
                        <a:rPr lang="en-US" altLang="ko-KR" sz="1200" b="1" kern="1200" spc="-120" baseline="0" dirty="0">
                          <a:solidFill>
                            <a:schemeClr val="tx1"/>
                          </a:solidFill>
                          <a:latin typeface="맑은 고딕" panose="020B0503020000020004" pitchFamily="50" charset="-127"/>
                          <a:ea typeface="맑은 고딕" panose="020B0503020000020004" pitchFamily="50" charset="-127"/>
                          <a:cs typeface="+mn-cs"/>
                        </a:rPr>
                        <a:t>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algn="ctr">
                        <a:defRPr/>
                      </a:pPr>
                      <a:r>
                        <a:rPr lang="en-US" altLang="ko-KR" sz="1200" b="1" kern="1200" spc="-120" baseline="0" dirty="0">
                          <a:solidFill>
                            <a:schemeClr val="tx1"/>
                          </a:solidFill>
                          <a:latin typeface="맑은 고딕" panose="020B0503020000020004" pitchFamily="50" charset="-127"/>
                          <a:ea typeface="맑은 고딕" panose="020B0503020000020004" pitchFamily="50" charset="-127"/>
                          <a:cs typeface="+mn-cs"/>
                        </a:rPr>
                        <a:t>Iterator</a:t>
                      </a:r>
                    </a:p>
                  </a:txBody>
                  <a:tcPr anchor="ct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algn="ctr">
                        <a:defRPr/>
                      </a:pPr>
                      <a:r>
                        <a:rPr lang="en-US" altLang="ko-KR" sz="1200" b="1" kern="1200" spc="-120" baseline="0" dirty="0">
                          <a:solidFill>
                            <a:schemeClr val="tx1"/>
                          </a:solidFill>
                          <a:latin typeface="맑은 고딕" panose="020B0503020000020004" pitchFamily="50" charset="-127"/>
                          <a:ea typeface="맑은 고딕" panose="020B0503020000020004" pitchFamily="50" charset="-127"/>
                          <a:cs typeface="+mn-cs"/>
                        </a:rPr>
                        <a:t>Mediator</a:t>
                      </a:r>
                    </a:p>
                  </a:txBody>
                  <a:tcPr anchor="ct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extLst>
                  <a:ext uri="{0D108BD9-81ED-4DB2-BD59-A6C34878D82A}">
                    <a16:rowId xmlns:a16="http://schemas.microsoft.com/office/drawing/2014/main" val="10000"/>
                  </a:ext>
                </a:extLst>
              </a:tr>
              <a:tr h="2196274">
                <a:tc>
                  <a:txBody>
                    <a:bodyPr/>
                    <a:lstStyle/>
                    <a:p>
                      <a:pPr algn="ctr">
                        <a:defRPr/>
                      </a:pPr>
                      <a:r>
                        <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rPr>
                        <a:t>구조</a:t>
                      </a:r>
                    </a:p>
                  </a:txBody>
                  <a:tcPr marL="0" marR="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a:defRPr/>
                      </a:pPr>
                      <a:endPar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endParaRPr>
                    </a:p>
                  </a:txBody>
                  <a:tcP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type="none" w="med" len="med"/>
                      <a:tailEnd type="none" w="med" len="med"/>
                    </a:lnB>
                    <a:solidFill>
                      <a:schemeClr val="lt1"/>
                    </a:solidFill>
                  </a:tcPr>
                </a:tc>
                <a:tc>
                  <a:txBody>
                    <a:bodyPr/>
                    <a:lstStyle/>
                    <a:p>
                      <a:pPr>
                        <a:defRPr/>
                      </a:pPr>
                      <a:endPar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w="med" len="med"/>
                      <a:tailEnd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a:defRPr/>
                      </a:pPr>
                      <a:endPar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a:defRPr/>
                      </a:pPr>
                      <a:endPar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endParaRP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type="none" w="med" len="med"/>
                      <a:tailEnd type="none" w="med" len="med"/>
                    </a:lnB>
                    <a:solidFill>
                      <a:schemeClr val="lt1"/>
                    </a:solidFill>
                  </a:tcPr>
                </a:tc>
                <a:tc>
                  <a:txBody>
                    <a:bodyPr/>
                    <a:lstStyle/>
                    <a:p>
                      <a:pPr>
                        <a:defRPr/>
                      </a:pPr>
                      <a:endPar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endParaRP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type="none" w="med" len="med"/>
                      <a:tailEnd type="none" w="med" len="med"/>
                    </a:lnB>
                    <a:solidFill>
                      <a:schemeClr val="lt1"/>
                    </a:solidFill>
                  </a:tcPr>
                </a:tc>
                <a:extLst>
                  <a:ext uri="{0D108BD9-81ED-4DB2-BD59-A6C34878D82A}">
                    <a16:rowId xmlns:a16="http://schemas.microsoft.com/office/drawing/2014/main" val="10001"/>
                  </a:ext>
                </a:extLst>
              </a:tr>
              <a:tr h="828103">
                <a:tc>
                  <a:txBody>
                    <a:bodyPr/>
                    <a:lstStyle/>
                    <a:p>
                      <a:pPr algn="ctr">
                        <a:defRPr/>
                      </a:pPr>
                      <a:r>
                        <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rPr>
                        <a:t>설명</a:t>
                      </a:r>
                    </a:p>
                  </a:txBody>
                  <a:tcPr marL="0" marR="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전략을 클래스화하여</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실행 시점에 전략을</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생성</a:t>
                      </a: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교체</a:t>
                      </a:r>
                    </a:p>
                  </a:txBody>
                  <a:tcPr marL="36000" marR="3600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상태 변화에 대한 </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알림 수신이</a:t>
                      </a: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 </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필요할 때</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w="med" len="med"/>
                      <a:tailEnd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객체의 상태에 따라</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다른 동작을 </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해야 하는 경우</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sym typeface="Wingdings" panose="05000000000000000000" pitchFamily="2" charset="2"/>
                        </a:rPr>
                        <a:t>자료구조에 </a:t>
                      </a:r>
                      <a:r>
                        <a:rPr lang="ko-KR" altLang="en-US" sz="1000" kern="1200" spc="-120" baseline="0" dirty="0">
                          <a:solidFill>
                            <a:srgbClr val="2A2D72"/>
                          </a:solidFill>
                          <a:latin typeface="맑은 고딕" panose="020B0503020000020004" pitchFamily="50" charset="-127"/>
                          <a:ea typeface="+mn-ea"/>
                          <a:cs typeface="+mn-cs"/>
                          <a:sym typeface="Wingdings" panose="05000000000000000000" pitchFamily="2" charset="2"/>
                        </a:rPr>
                        <a:t>순차적인 </a:t>
                      </a:r>
                      <a:endParaRPr lang="en-US" altLang="ko-KR" sz="1000" kern="1200" spc="-120" baseline="0" dirty="0">
                        <a:solidFill>
                          <a:srgbClr val="2A2D72"/>
                        </a:solidFill>
                        <a:latin typeface="맑은 고딕" panose="020B0503020000020004" pitchFamily="50" charset="-127"/>
                        <a:ea typeface="+mn-ea"/>
                        <a:cs typeface="+mn-cs"/>
                        <a:sym typeface="Wingdings" panose="05000000000000000000" pitchFamily="2" charset="2"/>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mn-ea"/>
                          <a:cs typeface="+mn-cs"/>
                          <a:sym typeface="Wingdings" panose="05000000000000000000" pitchFamily="2" charset="2"/>
                        </a:rPr>
                        <a:t>접근</a:t>
                      </a:r>
                      <a:r>
                        <a:rPr lang="en-US" altLang="ko-KR" sz="1000" kern="1200" spc="-120" baseline="0" dirty="0">
                          <a:solidFill>
                            <a:srgbClr val="2A2D72"/>
                          </a:solidFill>
                          <a:latin typeface="맑은 고딕" panose="020B0503020000020004" pitchFamily="50" charset="-127"/>
                          <a:ea typeface="+mn-ea"/>
                          <a:cs typeface="+mn-cs"/>
                          <a:sym typeface="Wingdings" panose="05000000000000000000" pitchFamily="2" charset="2"/>
                        </a:rPr>
                        <a:t>(</a:t>
                      </a:r>
                      <a:r>
                        <a:rPr lang="ko-KR" altLang="en-US" sz="1000" kern="1200" spc="-120" baseline="0" dirty="0">
                          <a:solidFill>
                            <a:srgbClr val="2A2D72"/>
                          </a:solidFill>
                          <a:latin typeface="맑은 고딕" panose="020B0503020000020004" pitchFamily="50" charset="-127"/>
                          <a:ea typeface="+mn-ea"/>
                          <a:cs typeface="+mn-cs"/>
                          <a:sym typeface="Wingdings" panose="05000000000000000000" pitchFamily="2" charset="2"/>
                        </a:rPr>
                        <a:t>순회</a:t>
                      </a:r>
                      <a:r>
                        <a:rPr lang="en-US" altLang="ko-KR" sz="1000" kern="1200" spc="-120" baseline="0" dirty="0">
                          <a:solidFill>
                            <a:srgbClr val="2A2D72"/>
                          </a:solidFill>
                          <a:latin typeface="맑은 고딕" panose="020B0503020000020004" pitchFamily="50" charset="-127"/>
                          <a:ea typeface="+mn-ea"/>
                          <a:cs typeface="+mn-cs"/>
                          <a:sym typeface="Wingdings" panose="05000000000000000000" pitchFamily="2" charset="2"/>
                        </a:rPr>
                        <a:t>)</a:t>
                      </a:r>
                      <a:r>
                        <a:rPr lang="ko-KR" altLang="en-US" sz="1000" kern="1200" spc="-120" baseline="0" dirty="0">
                          <a:solidFill>
                            <a:srgbClr val="2A2D72"/>
                          </a:solidFill>
                          <a:latin typeface="맑은 고딕" panose="020B0503020000020004" pitchFamily="50" charset="-127"/>
                          <a:ea typeface="+mn-ea"/>
                          <a:cs typeface="+mn-cs"/>
                          <a:sym typeface="Wingdings" panose="05000000000000000000" pitchFamily="2" charset="2"/>
                        </a:rPr>
                        <a:t>을 지원</a:t>
                      </a:r>
                      <a:endPar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endParaRPr>
                    </a:p>
                  </a:txBody>
                  <a:tcPr marL="36000" marR="3600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buFont typeface="Arial"/>
                        <a:buNone/>
                        <a:defRPr/>
                      </a:pPr>
                      <a:r>
                        <a:rPr lang="ko-KR" altLang="en-US" sz="1000" kern="1200" spc="-120" baseline="0" dirty="0">
                          <a:solidFill>
                            <a:srgbClr val="2A2D72"/>
                          </a:solidFill>
                          <a:latin typeface="맑은 고딕" panose="020B0503020000020004" pitchFamily="50" charset="-127"/>
                          <a:ea typeface="+mn-ea"/>
                          <a:cs typeface="+mn-cs"/>
                        </a:rPr>
                        <a:t>클래스 간 상호작용을 </a:t>
                      </a:r>
                      <a:endParaRPr lang="en-US" altLang="ko-KR" sz="1000" kern="1200" spc="-120" baseline="0" dirty="0">
                        <a:solidFill>
                          <a:srgbClr val="2A2D72"/>
                        </a:solidFill>
                        <a:latin typeface="맑은 고딕" panose="020B0503020000020004" pitchFamily="50" charset="-127"/>
                        <a:ea typeface="+mn-ea"/>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mn-ea"/>
                          <a:cs typeface="+mn-cs"/>
                        </a:rPr>
                        <a:t>별도 클래스에 위임 처리</a:t>
                      </a:r>
                      <a:endParaRPr lang="en-US" altLang="ko-KR" sz="1000" kern="1200" spc="-120" baseline="0" dirty="0">
                        <a:solidFill>
                          <a:srgbClr val="2A2D72"/>
                        </a:solidFill>
                        <a:latin typeface="맑은 고딕" panose="020B0503020000020004" pitchFamily="50" charset="-127"/>
                        <a:ea typeface="+mn-ea"/>
                        <a:cs typeface="+mn-cs"/>
                      </a:endParaRPr>
                    </a:p>
                    <a:p>
                      <a:pPr marL="0" indent="0" algn="ctr">
                        <a:buFont typeface="Arial"/>
                        <a:buNone/>
                        <a:defRPr/>
                      </a:pP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Coupling </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 </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extLst>
                  <a:ext uri="{0D108BD9-81ED-4DB2-BD59-A6C34878D82A}">
                    <a16:rowId xmlns:a16="http://schemas.microsoft.com/office/drawing/2014/main" val="10002"/>
                  </a:ext>
                </a:extLst>
              </a:tr>
              <a:tr h="828103">
                <a:tc>
                  <a:txBody>
                    <a:bodyPr/>
                    <a:lstStyle/>
                    <a:p>
                      <a:pPr algn="ctr">
                        <a:defRPr/>
                      </a:pPr>
                      <a:r>
                        <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rPr>
                        <a:t>활용</a:t>
                      </a:r>
                    </a:p>
                  </a:txBody>
                  <a:tcPr marL="0" marR="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lnSpc>
                          <a:spcPct val="100000"/>
                        </a:lnSpc>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신규 전략 추가 및</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lnSpc>
                          <a:spcPct val="100000"/>
                        </a:lnSpc>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변경 용이</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lnSpc>
                          <a:spcPct val="150000"/>
                        </a:lnSpc>
                        <a:buFont typeface="Arial"/>
                        <a:buNone/>
                        <a:defRPr/>
                      </a:pP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 Ex) </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게임 캐릭터 별 행동</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txBody>
                  <a:tcPr marL="36000" marR="3600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lnSpc>
                          <a:spcPct val="100000"/>
                        </a:lnSpc>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데이터의 변화를 </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lnSpc>
                          <a:spcPct val="100000"/>
                        </a:lnSpc>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표시하는 장치</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lnSpc>
                          <a:spcPct val="150000"/>
                        </a:lnSpc>
                        <a:buFont typeface="Arial"/>
                        <a:buNone/>
                        <a:defRPr/>
                      </a:pP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Ex ) </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날씨 정보</a:t>
                      </a: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 </a:t>
                      </a:r>
                      <a:r>
                        <a:rPr lang="en-US" altLang="ko-KR" sz="1000" kern="1200" spc="-120" baseline="0" dirty="0" err="1">
                          <a:solidFill>
                            <a:srgbClr val="2A2D72"/>
                          </a:solidFill>
                          <a:latin typeface="맑은 고딕" panose="020B0503020000020004" pitchFamily="50" charset="-127"/>
                          <a:ea typeface="맑은 고딕" panose="020B0503020000020004" pitchFamily="50" charset="-127"/>
                          <a:cs typeface="+mn-cs"/>
                        </a:rPr>
                        <a:t>Wi-fi</a:t>
                      </a: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 </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감도</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w="med" len="med"/>
                      <a:tailEnd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indent="0" algn="ctr">
                        <a:lnSpc>
                          <a:spcPct val="100000"/>
                        </a:lnSpc>
                        <a:buFont typeface="Arial"/>
                        <a:buNone/>
                        <a:defRPr/>
                      </a:pPr>
                      <a:r>
                        <a:rPr lang="ko-KR" altLang="en-US" sz="1000" kern="1200" spc="-120" baseline="0" dirty="0">
                          <a:solidFill>
                            <a:srgbClr val="2A2D72"/>
                          </a:solidFill>
                          <a:latin typeface="맑은 고딕" panose="020B0503020000020004" pitchFamily="50" charset="-127"/>
                          <a:ea typeface="+mn-ea"/>
                          <a:cs typeface="+mn-cs"/>
                        </a:rPr>
                        <a:t>상태에 따른 </a:t>
                      </a:r>
                      <a:endParaRPr lang="en-US" altLang="ko-KR" sz="1000" kern="1200" spc="-120" baseline="0" dirty="0">
                        <a:solidFill>
                          <a:srgbClr val="2A2D72"/>
                        </a:solidFill>
                        <a:latin typeface="맑은 고딕" panose="020B0503020000020004" pitchFamily="50" charset="-127"/>
                        <a:ea typeface="+mn-ea"/>
                        <a:cs typeface="+mn-cs"/>
                      </a:endParaRPr>
                    </a:p>
                    <a:p>
                      <a:pPr marL="0" indent="0" algn="ctr">
                        <a:lnSpc>
                          <a:spcPct val="100000"/>
                        </a:lnSpc>
                        <a:buFont typeface="Arial"/>
                        <a:buNone/>
                        <a:defRPr/>
                      </a:pPr>
                      <a:r>
                        <a:rPr lang="ko-KR" altLang="en-US" sz="1000" kern="1200" spc="-120" baseline="0" dirty="0" err="1">
                          <a:solidFill>
                            <a:srgbClr val="2A2D72"/>
                          </a:solidFill>
                          <a:latin typeface="맑은 고딕" panose="020B0503020000020004" pitchFamily="50" charset="-127"/>
                          <a:ea typeface="+mn-ea"/>
                          <a:cs typeface="+mn-cs"/>
                        </a:rPr>
                        <a:t>조건문</a:t>
                      </a:r>
                      <a:r>
                        <a:rPr lang="en-US" altLang="ko-KR" sz="1000" kern="1200" spc="-120" baseline="0" dirty="0">
                          <a:solidFill>
                            <a:srgbClr val="2A2D72"/>
                          </a:solidFill>
                          <a:latin typeface="맑은 고딕" panose="020B0503020000020004" pitchFamily="50" charset="-127"/>
                          <a:ea typeface="+mn-ea"/>
                          <a:cs typeface="+mn-cs"/>
                        </a:rPr>
                        <a:t> </a:t>
                      </a:r>
                      <a:r>
                        <a:rPr lang="ko-KR" altLang="en-US" sz="1000" kern="1200" spc="-120" baseline="0" dirty="0">
                          <a:solidFill>
                            <a:srgbClr val="2A2D72"/>
                          </a:solidFill>
                          <a:latin typeface="맑은 고딕" panose="020B0503020000020004" pitchFamily="50" charset="-127"/>
                          <a:ea typeface="+mn-ea"/>
                          <a:cs typeface="+mn-cs"/>
                        </a:rPr>
                        <a:t>제거</a:t>
                      </a:r>
                      <a:endParaRPr lang="en-US" altLang="ko-KR" sz="1000" kern="1200" spc="-120" baseline="0" dirty="0">
                        <a:solidFill>
                          <a:srgbClr val="2A2D72"/>
                        </a:solidFill>
                        <a:latin typeface="맑은 고딕" panose="020B0503020000020004" pitchFamily="50" charset="-127"/>
                        <a:ea typeface="+mn-ea"/>
                        <a:cs typeface="+mn-cs"/>
                      </a:endParaRPr>
                    </a:p>
                    <a:p>
                      <a:pPr algn="ctr">
                        <a:lnSpc>
                          <a:spcPct val="150000"/>
                        </a:lnSpc>
                        <a:defRPr/>
                      </a:pP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 Ex) Airplane mode On/Off</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lnSpc>
                          <a:spcPct val="100000"/>
                        </a:lnSpc>
                        <a:buFont typeface="Arial"/>
                        <a:buNone/>
                        <a:defRPr/>
                      </a:pPr>
                      <a:r>
                        <a:rPr lang="en-US" altLang="ko-KR" sz="1000" kern="1200" spc="-120" baseline="0" dirty="0">
                          <a:solidFill>
                            <a:srgbClr val="2A2D72"/>
                          </a:solidFill>
                          <a:latin typeface="맑은 고딕" panose="020B0503020000020004" pitchFamily="50" charset="-127"/>
                          <a:ea typeface="+mn-ea"/>
                          <a:cs typeface="+mn-cs"/>
                        </a:rPr>
                        <a:t>List, Tree, Graph, Table, Array</a:t>
                      </a:r>
                      <a:r>
                        <a:rPr lang="ko-KR" altLang="en-US" sz="1000" kern="1200" spc="-120" baseline="0" dirty="0">
                          <a:solidFill>
                            <a:srgbClr val="2A2D72"/>
                          </a:solidFill>
                          <a:latin typeface="맑은 고딕" panose="020B0503020000020004" pitchFamily="50" charset="-127"/>
                          <a:ea typeface="+mn-ea"/>
                          <a:cs typeface="+mn-cs"/>
                        </a:rPr>
                        <a:t>등에 동</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일한 방법으로 접근 </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lnSpc>
                          <a:spcPct val="150000"/>
                        </a:lnSpc>
                        <a:buFont typeface="Arial"/>
                        <a:buNone/>
                        <a:defRPr/>
                      </a:pP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Ex) Menu Item </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조회</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txBody>
                  <a:tcPr marL="36000" marR="3600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lnSpc>
                          <a:spcPct val="100000"/>
                        </a:lnSpc>
                        <a:buFont typeface="Arial"/>
                        <a:buNone/>
                        <a:defRPr/>
                      </a:pPr>
                      <a:r>
                        <a:rPr lang="en-US" altLang="ko-KR" sz="1000" kern="1200" spc="-120" baseline="0" dirty="0">
                          <a:solidFill>
                            <a:srgbClr val="2A2D72"/>
                          </a:solidFill>
                          <a:latin typeface="맑은 고딕" panose="020B0503020000020004" pitchFamily="50" charset="-127"/>
                          <a:ea typeface="+mn-ea"/>
                          <a:cs typeface="+mn-cs"/>
                        </a:rPr>
                        <a:t>N:M</a:t>
                      </a:r>
                      <a:r>
                        <a:rPr lang="ko-KR" altLang="en-US" sz="1000" kern="1200" spc="-120" baseline="0" dirty="0">
                          <a:solidFill>
                            <a:srgbClr val="2A2D72"/>
                          </a:solidFill>
                          <a:latin typeface="맑은 고딕" panose="020B0503020000020004" pitchFamily="50" charset="-127"/>
                          <a:ea typeface="+mn-ea"/>
                          <a:cs typeface="+mn-cs"/>
                        </a:rPr>
                        <a:t> 관계를 </a:t>
                      </a:r>
                      <a:r>
                        <a:rPr lang="en-US" altLang="ko-KR" sz="1000" kern="1200" spc="-120" baseline="0" dirty="0">
                          <a:solidFill>
                            <a:srgbClr val="2A2D72"/>
                          </a:solidFill>
                          <a:latin typeface="맑은 고딕" panose="020B0503020000020004" pitchFamily="50" charset="-127"/>
                          <a:ea typeface="+mn-ea"/>
                          <a:cs typeface="+mn-cs"/>
                        </a:rPr>
                        <a:t>N:1</a:t>
                      </a:r>
                      <a:r>
                        <a:rPr lang="ko-KR" altLang="en-US" sz="1000" kern="1200" spc="-120" baseline="0" dirty="0">
                          <a:solidFill>
                            <a:srgbClr val="2A2D72"/>
                          </a:solidFill>
                          <a:latin typeface="맑은 고딕" panose="020B0503020000020004" pitchFamily="50" charset="-127"/>
                          <a:ea typeface="+mn-ea"/>
                          <a:cs typeface="+mn-cs"/>
                        </a:rPr>
                        <a:t> 관계로</a:t>
                      </a:r>
                      <a:endParaRPr lang="en-US" altLang="ko-KR" sz="1000" kern="1200" spc="-120" baseline="0" dirty="0">
                        <a:solidFill>
                          <a:srgbClr val="2A2D72"/>
                        </a:solidFill>
                        <a:latin typeface="맑은 고딕" panose="020B0503020000020004" pitchFamily="50" charset="-127"/>
                        <a:ea typeface="+mn-ea"/>
                        <a:cs typeface="+mn-cs"/>
                      </a:endParaRPr>
                    </a:p>
                    <a:p>
                      <a:pPr marL="0" indent="0" algn="ctr">
                        <a:lnSpc>
                          <a:spcPct val="150000"/>
                        </a:lnSpc>
                        <a:buFont typeface="Arial"/>
                        <a:buNone/>
                        <a:defRPr/>
                      </a:pPr>
                      <a:r>
                        <a:rPr lang="ko-KR" altLang="en-US" sz="1000" kern="1200" spc="-120" baseline="0" dirty="0">
                          <a:solidFill>
                            <a:srgbClr val="2A2D72"/>
                          </a:solidFill>
                          <a:latin typeface="맑은 고딕" panose="020B0503020000020004" pitchFamily="50" charset="-127"/>
                          <a:ea typeface="+mn-ea"/>
                          <a:cs typeface="+mn-cs"/>
                        </a:rPr>
                        <a:t>바꾸어 유지보수에 유리</a:t>
                      </a:r>
                      <a:endParaRPr lang="en-US" altLang="ko-KR" sz="1000" kern="1200" spc="-120" baseline="0" dirty="0">
                        <a:solidFill>
                          <a:srgbClr val="2A2D72"/>
                        </a:solidFill>
                        <a:latin typeface="맑은 고딕" panose="020B0503020000020004" pitchFamily="50" charset="-127"/>
                        <a:ea typeface="+mn-ea"/>
                        <a:cs typeface="+mn-cs"/>
                      </a:endParaRPr>
                    </a:p>
                    <a:p>
                      <a:pPr marL="0" indent="0" algn="ctr">
                        <a:lnSpc>
                          <a:spcPct val="150000"/>
                        </a:lnSpc>
                        <a:buFont typeface="Arial"/>
                        <a:buNone/>
                        <a:defRPr/>
                      </a:pP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Ex) </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항공기</a:t>
                      </a: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관제탑</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extLst>
                  <a:ext uri="{0D108BD9-81ED-4DB2-BD59-A6C34878D82A}">
                    <a16:rowId xmlns:a16="http://schemas.microsoft.com/office/drawing/2014/main" val="10003"/>
                  </a:ext>
                </a:extLst>
              </a:tr>
            </a:tbl>
          </a:graphicData>
        </a:graphic>
      </p:graphicFrame>
      <p:pic>
        <p:nvPicPr>
          <p:cNvPr id="11" name="내용 개체 틀 7"/>
          <p:cNvPicPr>
            <a:picLocks noChangeAspect="1"/>
          </p:cNvPicPr>
          <p:nvPr/>
        </p:nvPicPr>
        <p:blipFill>
          <a:blip r:embed="rId2"/>
          <a:stretch>
            <a:fillRect/>
          </a:stretch>
        </p:blipFill>
        <p:spPr>
          <a:xfrm>
            <a:off x="5697537" y="1563638"/>
            <a:ext cx="1660830" cy="792088"/>
          </a:xfrm>
          <a:prstGeom prst="rect">
            <a:avLst/>
          </a:prstGeom>
        </p:spPr>
      </p:pic>
      <p:pic>
        <p:nvPicPr>
          <p:cNvPr id="12" name="내용 개체 틀 3"/>
          <p:cNvPicPr>
            <a:picLocks noGrp="1" noChangeAspect="1"/>
          </p:cNvPicPr>
          <p:nvPr>
            <p:ph idx="1"/>
          </p:nvPr>
        </p:nvPicPr>
        <p:blipFill>
          <a:blip r:embed="rId3"/>
          <a:stretch>
            <a:fillRect/>
          </a:stretch>
        </p:blipFill>
        <p:spPr>
          <a:xfrm>
            <a:off x="827584" y="1645277"/>
            <a:ext cx="1425852" cy="638441"/>
          </a:xfrm>
          <a:prstGeom prst="rect">
            <a:avLst/>
          </a:prstGeom>
        </p:spPr>
      </p:pic>
      <p:pic>
        <p:nvPicPr>
          <p:cNvPr id="13" name="내용 개체 틀 3">
            <a:extLst>
              <a:ext uri="{FF2B5EF4-FFF2-40B4-BE49-F238E27FC236}">
                <a16:creationId xmlns:a16="http://schemas.microsoft.com/office/drawing/2014/main" id="{EE585B98-365E-097F-CD30-0885887E1DED}"/>
              </a:ext>
            </a:extLst>
          </p:cNvPr>
          <p:cNvPicPr>
            <a:picLocks noChangeAspect="1"/>
          </p:cNvPicPr>
          <p:nvPr/>
        </p:nvPicPr>
        <p:blipFill>
          <a:blip r:embed="rId4"/>
          <a:stretch>
            <a:fillRect/>
          </a:stretch>
        </p:blipFill>
        <p:spPr>
          <a:xfrm>
            <a:off x="2317331" y="1419622"/>
            <a:ext cx="1556111" cy="1008112"/>
          </a:xfrm>
          <a:prstGeom prst="rect">
            <a:avLst/>
          </a:prstGeom>
        </p:spPr>
      </p:pic>
      <p:pic>
        <p:nvPicPr>
          <p:cNvPr id="14" name="내용 개체 틀 4">
            <a:extLst>
              <a:ext uri="{FF2B5EF4-FFF2-40B4-BE49-F238E27FC236}">
                <a16:creationId xmlns:a16="http://schemas.microsoft.com/office/drawing/2014/main" id="{4F93797C-EDB3-A9DE-4D77-8BF5E3716088}"/>
              </a:ext>
            </a:extLst>
          </p:cNvPr>
          <p:cNvPicPr>
            <a:picLocks noChangeAspect="1"/>
          </p:cNvPicPr>
          <p:nvPr/>
        </p:nvPicPr>
        <p:blipFill>
          <a:blip r:embed="rId5"/>
          <a:stretch>
            <a:fillRect/>
          </a:stretch>
        </p:blipFill>
        <p:spPr>
          <a:xfrm>
            <a:off x="4005463" y="1491630"/>
            <a:ext cx="1584176" cy="688772"/>
          </a:xfrm>
          <a:prstGeom prst="rect">
            <a:avLst/>
          </a:prstGeom>
        </p:spPr>
      </p:pic>
      <p:pic>
        <p:nvPicPr>
          <p:cNvPr id="15" name="그림 14"/>
          <p:cNvPicPr>
            <a:picLocks noChangeAspect="1"/>
          </p:cNvPicPr>
          <p:nvPr/>
        </p:nvPicPr>
        <p:blipFill rotWithShape="1">
          <a:blip r:embed="rId6"/>
          <a:srcRect l="5263" t="25087" r="3508"/>
          <a:stretch/>
        </p:blipFill>
        <p:spPr>
          <a:xfrm>
            <a:off x="7466265" y="1568143"/>
            <a:ext cx="1515172" cy="783078"/>
          </a:xfrm>
          <a:prstGeom prst="rect">
            <a:avLst/>
          </a:prstGeom>
        </p:spPr>
      </p:pic>
    </p:spTree>
    <p:extLst>
      <p:ext uri="{BB962C8B-B14F-4D97-AF65-F5344CB8AC3E}">
        <p14:creationId xmlns:p14="http://schemas.microsoft.com/office/powerpoint/2010/main" val="107496373"/>
      </p:ext>
    </p:extLst>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2928428" y="1821831"/>
            <a:ext cx="5748028" cy="2190079"/>
          </a:xfrm>
        </p:spPr>
        <p:txBody>
          <a:bodyPr>
            <a:noAutofit/>
          </a:bodyPr>
          <a:lstStyle/>
          <a:p>
            <a:r>
              <a:rPr lang="en-US" altLang="ko-KR" sz="3600" dirty="0"/>
              <a:t>Iterator, Mediator Patterns</a:t>
            </a:r>
          </a:p>
        </p:txBody>
      </p:sp>
      <p:sp>
        <p:nvSpPr>
          <p:cNvPr id="5" name="제목 1"/>
          <p:cNvSpPr txBox="1">
            <a:spLocks/>
          </p:cNvSpPr>
          <p:nvPr/>
        </p:nvSpPr>
        <p:spPr>
          <a:xfrm>
            <a:off x="2915816" y="1203598"/>
            <a:ext cx="2376264" cy="533895"/>
          </a:xfrm>
          <a:prstGeom prst="rect">
            <a:avLst/>
          </a:prstGeom>
        </p:spPr>
        <p:txBody>
          <a:bodyPr vert="horz" lIns="75927" tIns="37964" rIns="75927" bIns="37964" rtlCol="0" anchor="ctr">
            <a:noAutofit/>
          </a:bodyPr>
          <a:lstStyle>
            <a:lvl1pPr algn="l" defTabSz="914400" rtl="0" eaLnBrk="1" latinLnBrk="1" hangingPunct="1">
              <a:spcBef>
                <a:spcPct val="0"/>
              </a:spcBef>
              <a:buNone/>
              <a:defRPr lang="ko-KR" altLang="en-US" sz="2400" b="1" kern="1200" spc="-100" baseline="0" dirty="0">
                <a:ln>
                  <a:solidFill>
                    <a:srgbClr val="2A2D72">
                      <a:alpha val="5000"/>
                    </a:srgbClr>
                  </a:solidFill>
                </a:ln>
                <a:solidFill>
                  <a:srgbClr val="5974BF"/>
                </a:solidFill>
                <a:latin typeface="+mj-ea"/>
                <a:ea typeface="+mj-ea"/>
                <a:cs typeface="Arial" panose="020B0604020202020204" pitchFamily="34" charset="0"/>
              </a:defRPr>
            </a:lvl1pPr>
          </a:lstStyle>
          <a:p>
            <a:pPr defTabSz="759272"/>
            <a:r>
              <a:rPr lang="en-US" altLang="ko-KR" sz="2800" spc="-150" dirty="0">
                <a:ln>
                  <a:noFill/>
                </a:ln>
                <a:solidFill>
                  <a:srgbClr val="B2CCEC"/>
                </a:solidFill>
                <a:latin typeface="+mn-ea"/>
                <a:ea typeface="+mn-ea"/>
              </a:rPr>
              <a:t>05 06</a:t>
            </a:r>
            <a:endParaRPr lang="ko-KR" altLang="en-US" sz="2800" spc="-150" dirty="0">
              <a:ln>
                <a:noFill/>
              </a:ln>
              <a:solidFill>
                <a:srgbClr val="B2CCEC"/>
              </a:solidFill>
              <a:latin typeface="+mn-ea"/>
              <a:ea typeface="+mn-ea"/>
            </a:endParaRPr>
          </a:p>
        </p:txBody>
      </p:sp>
      <p:sp>
        <p:nvSpPr>
          <p:cNvPr id="6" name="직사각형 5"/>
          <p:cNvSpPr/>
          <p:nvPr/>
        </p:nvSpPr>
        <p:spPr>
          <a:xfrm>
            <a:off x="758872" y="1419622"/>
            <a:ext cx="1957587" cy="954107"/>
          </a:xfrm>
          <a:prstGeom prst="rect">
            <a:avLst/>
          </a:prstGeom>
        </p:spPr>
        <p:txBody>
          <a:bodyPr wrap="none">
            <a:spAutoFit/>
          </a:bodyPr>
          <a:lstStyle/>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Behavioral </a:t>
            </a:r>
          </a:p>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Patterns</a:t>
            </a:r>
            <a:endParaRPr lang="ko-KR" altLang="en-US" sz="2800" b="1" spc="-100" dirty="0">
              <a:ln>
                <a:solidFill>
                  <a:srgbClr val="2A2D72">
                    <a:alpha val="5000"/>
                  </a:srgbClr>
                </a:solidFill>
              </a:ln>
              <a:solidFill>
                <a:srgbClr val="5974BF"/>
              </a:solidFill>
              <a:latin typeface="+mj-ea"/>
              <a:ea typeface="+mj-ea"/>
              <a:cs typeface="Arial" panose="020B0604020202020204" pitchFamily="34" charset="0"/>
            </a:endParaRPr>
          </a:p>
        </p:txBody>
      </p:sp>
    </p:spTree>
    <p:extLst>
      <p:ext uri="{BB962C8B-B14F-4D97-AF65-F5344CB8AC3E}">
        <p14:creationId xmlns:p14="http://schemas.microsoft.com/office/powerpoint/2010/main" val="29834318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3D11EB0F-1F78-92FB-8376-F073F06455AD}"/>
              </a:ext>
            </a:extLst>
          </p:cNvPr>
          <p:cNvSpPr>
            <a:spLocks noGrp="1"/>
          </p:cNvSpPr>
          <p:nvPr>
            <p:ph type="title"/>
          </p:nvPr>
        </p:nvSpPr>
        <p:spPr/>
        <p:txBody>
          <a:bodyPr vert="horz" lIns="75927" tIns="37964" rIns="75927" bIns="37964" rtlCol="0" anchor="ctr">
            <a:normAutofit/>
          </a:bodyPr>
          <a:lstStyle/>
          <a:p>
            <a:r>
              <a:rPr lang="en-US" altLang="ko-Kore-KR" spc="0" dirty="0"/>
              <a:t>Iterator Pattern – Class Diagram</a:t>
            </a:r>
            <a:endParaRPr lang="ko-Kore-KR" altLang="en-US" spc="0" dirty="0"/>
          </a:p>
        </p:txBody>
      </p:sp>
      <p:sp>
        <p:nvSpPr>
          <p:cNvPr id="6" name="TextBox 5">
            <a:extLst>
              <a:ext uri="{FF2B5EF4-FFF2-40B4-BE49-F238E27FC236}">
                <a16:creationId xmlns:a16="http://schemas.microsoft.com/office/drawing/2014/main" id="{9A804FB3-1F41-1DEB-8C9E-138824084B3A}"/>
              </a:ext>
            </a:extLst>
          </p:cNvPr>
          <p:cNvSpPr txBox="1"/>
          <p:nvPr/>
        </p:nvSpPr>
        <p:spPr>
          <a:xfrm>
            <a:off x="155395" y="699542"/>
            <a:ext cx="1341643" cy="369332"/>
          </a:xfrm>
          <a:prstGeom prst="rect">
            <a:avLst/>
          </a:prstGeom>
          <a:noFill/>
        </p:spPr>
        <p:txBody>
          <a:bodyPr wrap="square">
            <a:spAutoFit/>
          </a:bodyPr>
          <a:lstStyle/>
          <a:p>
            <a:r>
              <a:rPr lang="en-US" altLang="ko-KR" sz="1800" b="1" dirty="0"/>
              <a:t>[</a:t>
            </a:r>
            <a:r>
              <a:rPr lang="ko-KR" altLang="en-US" sz="1800" b="1" dirty="0"/>
              <a:t>문제점</a:t>
            </a:r>
            <a:r>
              <a:rPr lang="en-US" altLang="ko-KR" sz="1800" b="1" dirty="0"/>
              <a:t>] </a:t>
            </a:r>
            <a:endParaRPr lang="ko-KR" altLang="en-US" b="1" dirty="0"/>
          </a:p>
        </p:txBody>
      </p:sp>
      <p:pic>
        <p:nvPicPr>
          <p:cNvPr id="2" name="그림 1"/>
          <p:cNvPicPr>
            <a:picLocks noChangeAspect="1"/>
          </p:cNvPicPr>
          <p:nvPr/>
        </p:nvPicPr>
        <p:blipFill>
          <a:blip r:embed="rId3"/>
          <a:stretch>
            <a:fillRect/>
          </a:stretch>
        </p:blipFill>
        <p:spPr>
          <a:xfrm>
            <a:off x="1979712" y="884208"/>
            <a:ext cx="5544616" cy="4042767"/>
          </a:xfrm>
          <a:prstGeom prst="rect">
            <a:avLst/>
          </a:prstGeom>
        </p:spPr>
      </p:pic>
      <p:sp>
        <p:nvSpPr>
          <p:cNvPr id="7" name="직사각형 6"/>
          <p:cNvSpPr/>
          <p:nvPr/>
        </p:nvSpPr>
        <p:spPr>
          <a:xfrm>
            <a:off x="378662" y="4083918"/>
            <a:ext cx="2520280" cy="577081"/>
          </a:xfrm>
          <a:prstGeom prst="rect">
            <a:avLst/>
          </a:prstGeom>
        </p:spPr>
        <p:txBody>
          <a:bodyPr wrap="square">
            <a:spAutoFit/>
          </a:bodyPr>
          <a:lstStyle/>
          <a:p>
            <a:pPr>
              <a:lnSpc>
                <a:spcPct val="150000"/>
              </a:lnSpc>
            </a:pPr>
            <a:r>
              <a:rPr lang="en-US" altLang="ko-KR" sz="1050" dirty="0">
                <a:solidFill>
                  <a:srgbClr val="0066FF"/>
                </a:solidFill>
                <a:latin typeface="+mj-lt"/>
              </a:rPr>
              <a:t>※ </a:t>
            </a:r>
            <a:r>
              <a:rPr lang="ko-KR" altLang="en-US" sz="1050" dirty="0">
                <a:solidFill>
                  <a:srgbClr val="0066FF"/>
                </a:solidFill>
                <a:latin typeface="+mj-lt"/>
              </a:rPr>
              <a:t>데이터 제공 모듈이 제공하는 </a:t>
            </a:r>
            <a:endParaRPr lang="en-US" altLang="ko-KR" sz="1050" dirty="0">
              <a:solidFill>
                <a:srgbClr val="0066FF"/>
              </a:solidFill>
              <a:latin typeface="+mj-lt"/>
            </a:endParaRPr>
          </a:p>
          <a:p>
            <a:pPr>
              <a:lnSpc>
                <a:spcPct val="150000"/>
              </a:lnSpc>
            </a:pPr>
            <a:r>
              <a:rPr lang="en-US" altLang="ko-KR" sz="1050" dirty="0">
                <a:solidFill>
                  <a:srgbClr val="0066FF"/>
                </a:solidFill>
                <a:latin typeface="+mj-lt"/>
              </a:rPr>
              <a:t>   </a:t>
            </a:r>
            <a:r>
              <a:rPr lang="ko-KR" altLang="en-US" sz="1050" dirty="0">
                <a:solidFill>
                  <a:srgbClr val="0066FF"/>
                </a:solidFill>
                <a:latin typeface="+mj-lt"/>
              </a:rPr>
              <a:t>데이터 타입에 의존적으로 작성됨</a:t>
            </a:r>
            <a:endParaRPr lang="en-US" altLang="ko-KR" sz="1050" dirty="0">
              <a:solidFill>
                <a:srgbClr val="0066FF"/>
              </a:solidFill>
              <a:latin typeface="+mj-lt"/>
            </a:endParaRPr>
          </a:p>
        </p:txBody>
      </p:sp>
    </p:spTree>
    <p:extLst>
      <p:ext uri="{BB962C8B-B14F-4D97-AF65-F5344CB8AC3E}">
        <p14:creationId xmlns:p14="http://schemas.microsoft.com/office/powerpoint/2010/main" val="26620340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3D11EB0F-1F78-92FB-8376-F073F06455AD}"/>
              </a:ext>
            </a:extLst>
          </p:cNvPr>
          <p:cNvSpPr>
            <a:spLocks noGrp="1"/>
          </p:cNvSpPr>
          <p:nvPr>
            <p:ph type="title"/>
          </p:nvPr>
        </p:nvSpPr>
        <p:spPr/>
        <p:txBody>
          <a:bodyPr vert="horz" lIns="75927" tIns="37964" rIns="75927" bIns="37964" rtlCol="0" anchor="ctr">
            <a:normAutofit/>
          </a:bodyPr>
          <a:lstStyle/>
          <a:p>
            <a:r>
              <a:rPr lang="en-US" altLang="ko-Kore-KR" spc="0" dirty="0"/>
              <a:t>Iterator Pattern – Class Diagram</a:t>
            </a:r>
            <a:endParaRPr lang="ko-Kore-KR" altLang="en-US" spc="0" dirty="0"/>
          </a:p>
        </p:txBody>
      </p:sp>
      <p:sp>
        <p:nvSpPr>
          <p:cNvPr id="6" name="TextBox 5">
            <a:extLst>
              <a:ext uri="{FF2B5EF4-FFF2-40B4-BE49-F238E27FC236}">
                <a16:creationId xmlns:a16="http://schemas.microsoft.com/office/drawing/2014/main" id="{9A804FB3-1F41-1DEB-8C9E-138824084B3A}"/>
              </a:ext>
            </a:extLst>
          </p:cNvPr>
          <p:cNvSpPr txBox="1"/>
          <p:nvPr/>
        </p:nvSpPr>
        <p:spPr>
          <a:xfrm>
            <a:off x="155395" y="699542"/>
            <a:ext cx="1341643" cy="369332"/>
          </a:xfrm>
          <a:prstGeom prst="rect">
            <a:avLst/>
          </a:prstGeom>
          <a:noFill/>
        </p:spPr>
        <p:txBody>
          <a:bodyPr wrap="square">
            <a:spAutoFit/>
          </a:bodyPr>
          <a:lstStyle/>
          <a:p>
            <a:r>
              <a:rPr lang="en-US" altLang="ko-KR" sz="1800" b="1" dirty="0"/>
              <a:t>[</a:t>
            </a:r>
            <a:r>
              <a:rPr lang="ko-KR" altLang="en-US" sz="1800" b="1" dirty="0"/>
              <a:t>문제해결</a:t>
            </a:r>
            <a:r>
              <a:rPr lang="en-US" altLang="ko-KR" sz="1800" b="1" dirty="0"/>
              <a:t>] </a:t>
            </a:r>
            <a:endParaRPr lang="ko-KR" altLang="en-US" b="1" dirty="0"/>
          </a:p>
        </p:txBody>
      </p:sp>
      <p:sp>
        <p:nvSpPr>
          <p:cNvPr id="7" name="직사각형 6"/>
          <p:cNvSpPr/>
          <p:nvPr/>
        </p:nvSpPr>
        <p:spPr>
          <a:xfrm>
            <a:off x="378662" y="4083918"/>
            <a:ext cx="2825186" cy="334707"/>
          </a:xfrm>
          <a:prstGeom prst="rect">
            <a:avLst/>
          </a:prstGeom>
        </p:spPr>
        <p:txBody>
          <a:bodyPr wrap="square">
            <a:spAutoFit/>
          </a:bodyPr>
          <a:lstStyle/>
          <a:p>
            <a:pPr>
              <a:lnSpc>
                <a:spcPct val="150000"/>
              </a:lnSpc>
            </a:pPr>
            <a:r>
              <a:rPr lang="en-US" altLang="ko-KR" sz="1050" dirty="0">
                <a:solidFill>
                  <a:srgbClr val="0066FF"/>
                </a:solidFill>
                <a:latin typeface="+mj-lt"/>
              </a:rPr>
              <a:t>※ DIP (Dependency Inversion Principle)</a:t>
            </a:r>
          </a:p>
        </p:txBody>
      </p:sp>
      <p:pic>
        <p:nvPicPr>
          <p:cNvPr id="5" name="그림 4"/>
          <p:cNvPicPr>
            <a:picLocks noChangeAspect="1"/>
          </p:cNvPicPr>
          <p:nvPr/>
        </p:nvPicPr>
        <p:blipFill>
          <a:blip r:embed="rId3"/>
          <a:stretch>
            <a:fillRect/>
          </a:stretch>
        </p:blipFill>
        <p:spPr>
          <a:xfrm>
            <a:off x="2231250" y="872397"/>
            <a:ext cx="4789022" cy="3876428"/>
          </a:xfrm>
          <a:prstGeom prst="rect">
            <a:avLst/>
          </a:prstGeom>
        </p:spPr>
      </p:pic>
    </p:spTree>
    <p:extLst>
      <p:ext uri="{BB962C8B-B14F-4D97-AF65-F5344CB8AC3E}">
        <p14:creationId xmlns:p14="http://schemas.microsoft.com/office/powerpoint/2010/main" val="23534267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3D11EB0F-1F78-92FB-8376-F073F06455AD}"/>
              </a:ext>
            </a:extLst>
          </p:cNvPr>
          <p:cNvSpPr>
            <a:spLocks noGrp="1"/>
          </p:cNvSpPr>
          <p:nvPr>
            <p:ph type="title"/>
          </p:nvPr>
        </p:nvSpPr>
        <p:spPr/>
        <p:txBody>
          <a:bodyPr vert="horz" lIns="75927" tIns="37964" rIns="75927" bIns="37964" rtlCol="0" anchor="ctr">
            <a:normAutofit/>
          </a:bodyPr>
          <a:lstStyle/>
          <a:p>
            <a:r>
              <a:rPr lang="en-US" altLang="ko-Kore-KR" spc="0" dirty="0"/>
              <a:t>Iterator Pattern – Class Diagram</a:t>
            </a:r>
            <a:endParaRPr lang="ko-Kore-KR" altLang="en-US" spc="0" dirty="0"/>
          </a:p>
        </p:txBody>
      </p:sp>
      <p:pic>
        <p:nvPicPr>
          <p:cNvPr id="5" name="그림 4">
            <a:extLst>
              <a:ext uri="{FF2B5EF4-FFF2-40B4-BE49-F238E27FC236}">
                <a16:creationId xmlns:a16="http://schemas.microsoft.com/office/drawing/2014/main" id="{5BEE2003-F6BD-CA3C-A202-FDA8D6ECEA7E}"/>
              </a:ext>
            </a:extLst>
          </p:cNvPr>
          <p:cNvPicPr>
            <a:picLocks noChangeAspect="1"/>
          </p:cNvPicPr>
          <p:nvPr/>
        </p:nvPicPr>
        <p:blipFill>
          <a:blip r:embed="rId3"/>
          <a:stretch>
            <a:fillRect/>
          </a:stretch>
        </p:blipFill>
        <p:spPr>
          <a:xfrm>
            <a:off x="1547664" y="1563638"/>
            <a:ext cx="5717297" cy="2562221"/>
          </a:xfrm>
          <a:prstGeom prst="rect">
            <a:avLst/>
          </a:prstGeom>
        </p:spPr>
      </p:pic>
    </p:spTree>
    <p:extLst>
      <p:ext uri="{BB962C8B-B14F-4D97-AF65-F5344CB8AC3E}">
        <p14:creationId xmlns:p14="http://schemas.microsoft.com/office/powerpoint/2010/main" val="12922819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그림 11">
            <a:extLst>
              <a:ext uri="{FF2B5EF4-FFF2-40B4-BE49-F238E27FC236}">
                <a16:creationId xmlns:a16="http://schemas.microsoft.com/office/drawing/2014/main" id="{986551D3-D57A-42FB-B263-C30C0876777B}"/>
              </a:ext>
            </a:extLst>
          </p:cNvPr>
          <p:cNvPicPr>
            <a:picLocks noChangeAspect="1"/>
          </p:cNvPicPr>
          <p:nvPr/>
        </p:nvPicPr>
        <p:blipFill>
          <a:blip r:embed="rId2"/>
          <a:stretch>
            <a:fillRect/>
          </a:stretch>
        </p:blipFill>
        <p:spPr>
          <a:xfrm>
            <a:off x="6670352" y="2592288"/>
            <a:ext cx="2326464" cy="2427734"/>
          </a:xfrm>
          <a:prstGeom prst="rect">
            <a:avLst/>
          </a:prstGeom>
        </p:spPr>
      </p:pic>
      <p:sp>
        <p:nvSpPr>
          <p:cNvPr id="3" name="제목 2"/>
          <p:cNvSpPr>
            <a:spLocks noGrp="1"/>
          </p:cNvSpPr>
          <p:nvPr>
            <p:ph type="title"/>
          </p:nvPr>
        </p:nvSpPr>
        <p:spPr/>
        <p:txBody>
          <a:bodyPr>
            <a:normAutofit/>
          </a:bodyPr>
          <a:lstStyle/>
          <a:p>
            <a:r>
              <a:rPr lang="en-US" altLang="ko-KR" spc="0" dirty="0"/>
              <a:t>[Practice 5-1] Iterator Pattern: Java Iterator </a:t>
            </a:r>
            <a:r>
              <a:rPr lang="ko-KR" altLang="en-US" spc="0" dirty="0"/>
              <a:t>실습</a:t>
            </a:r>
          </a:p>
        </p:txBody>
      </p:sp>
      <p:sp>
        <p:nvSpPr>
          <p:cNvPr id="4" name="내용 개체 틀 1"/>
          <p:cNvSpPr>
            <a:spLocks noGrp="1"/>
          </p:cNvSpPr>
          <p:nvPr>
            <p:ph idx="1"/>
          </p:nvPr>
        </p:nvSpPr>
        <p:spPr>
          <a:xfrm>
            <a:off x="251520" y="1059582"/>
            <a:ext cx="8712968" cy="3960440"/>
          </a:xfrm>
        </p:spPr>
        <p:txBody>
          <a:bodyPr>
            <a:noAutofit/>
          </a:bodyPr>
          <a:lstStyle/>
          <a:p>
            <a:pPr lvl="1">
              <a:lnSpc>
                <a:spcPct val="80000"/>
              </a:lnSpc>
            </a:pPr>
            <a:r>
              <a:rPr lang="en-US" altLang="ko-KR" sz="1300" b="1" spc="0" dirty="0"/>
              <a:t>Iterator </a:t>
            </a:r>
            <a:r>
              <a:rPr lang="ko-KR" altLang="en-US" sz="1300" b="1" spc="0" dirty="0"/>
              <a:t>적용 사례 분석</a:t>
            </a:r>
            <a:endParaRPr lang="en-US" altLang="ko-KR" sz="1300" b="1" spc="0" dirty="0"/>
          </a:p>
          <a:p>
            <a:pPr marL="624863" lvl="2" indent="0">
              <a:lnSpc>
                <a:spcPct val="80000"/>
              </a:lnSpc>
              <a:buNone/>
            </a:pPr>
            <a:r>
              <a:rPr lang="en-US" altLang="ko-KR" sz="1300" spc="0" dirty="0"/>
              <a:t>(1) </a:t>
            </a:r>
            <a:r>
              <a:rPr lang="en-US" altLang="ko-KR" sz="1300" b="1" spc="0" dirty="0"/>
              <a:t>MenuTestDrive.java</a:t>
            </a:r>
            <a:r>
              <a:rPr lang="ko-KR" altLang="en-US" sz="1300" spc="0" dirty="0"/>
              <a:t>의 </a:t>
            </a:r>
            <a:r>
              <a:rPr lang="en-US" altLang="ko-KR" sz="1300" b="1" spc="0" dirty="0" err="1"/>
              <a:t>printMenu</a:t>
            </a:r>
            <a:r>
              <a:rPr lang="en-US" altLang="ko-KR" sz="1300" b="1" spc="0" dirty="0"/>
              <a:t>()</a:t>
            </a:r>
            <a:r>
              <a:rPr lang="en-US" altLang="ko-KR" sz="1300" spc="0" dirty="0"/>
              <a:t> </a:t>
            </a:r>
            <a:r>
              <a:rPr lang="ko-KR" altLang="en-US" sz="1300" spc="0" dirty="0"/>
              <a:t>소스 분석 및 실행 </a:t>
            </a:r>
            <a:r>
              <a:rPr lang="en-US" altLang="ko-KR" sz="1300" spc="0" dirty="0"/>
              <a:t>(Iterator </a:t>
            </a:r>
            <a:r>
              <a:rPr lang="ko-KR" altLang="en-US" sz="1300" spc="0" dirty="0" err="1"/>
              <a:t>미활용</a:t>
            </a:r>
            <a:r>
              <a:rPr lang="en-US" altLang="ko-KR" sz="1300" spc="0" dirty="0"/>
              <a:t>)</a:t>
            </a:r>
          </a:p>
          <a:p>
            <a:pPr marL="624863" lvl="2" indent="0">
              <a:lnSpc>
                <a:spcPct val="80000"/>
              </a:lnSpc>
              <a:buNone/>
            </a:pPr>
            <a:r>
              <a:rPr lang="en-US" altLang="ko-KR" sz="1300" spc="0" dirty="0"/>
              <a:t>(2) </a:t>
            </a:r>
            <a:r>
              <a:rPr lang="en-US" altLang="ko-KR" sz="1300" b="1" spc="0" dirty="0"/>
              <a:t>MenuTestDrive.java</a:t>
            </a:r>
            <a:r>
              <a:rPr lang="ko-KR" altLang="en-US" sz="1300" spc="0" dirty="0"/>
              <a:t>의 </a:t>
            </a:r>
            <a:r>
              <a:rPr lang="en-US" altLang="ko-KR" sz="1300" b="1" spc="0" dirty="0" err="1"/>
              <a:t>iteratorPrintMenu</a:t>
            </a:r>
            <a:r>
              <a:rPr lang="en-US" altLang="ko-KR" sz="1300" b="1" spc="0" dirty="0"/>
              <a:t>()</a:t>
            </a:r>
            <a:r>
              <a:rPr lang="en-US" altLang="ko-KR" sz="1300" spc="0" dirty="0"/>
              <a:t> </a:t>
            </a:r>
            <a:r>
              <a:rPr lang="ko-KR" altLang="en-US" sz="1300" spc="0" dirty="0"/>
              <a:t>분석 및 실행</a:t>
            </a:r>
            <a:endParaRPr lang="en-US" altLang="ko-KR" sz="1300" spc="0" dirty="0"/>
          </a:p>
          <a:p>
            <a:pPr marL="624863" lvl="2" indent="0">
              <a:lnSpc>
                <a:spcPct val="80000"/>
              </a:lnSpc>
              <a:buNone/>
            </a:pPr>
            <a:r>
              <a:rPr lang="en-US" altLang="ko-KR" sz="1300" spc="0" dirty="0"/>
              <a:t>      - Waitress.java</a:t>
            </a:r>
            <a:r>
              <a:rPr lang="ko-KR" altLang="en-US" sz="1300" spc="0" dirty="0"/>
              <a:t>의 </a:t>
            </a:r>
            <a:r>
              <a:rPr lang="en-US" altLang="ko-KR" sz="1300" b="1" spc="0" dirty="0" err="1"/>
              <a:t>printMenu</a:t>
            </a:r>
            <a:r>
              <a:rPr lang="en-US" altLang="ko-KR" sz="1300" spc="0" dirty="0"/>
              <a:t>() </a:t>
            </a:r>
            <a:r>
              <a:rPr lang="ko-KR" altLang="en-US" sz="1300" spc="0" dirty="0"/>
              <a:t>를 호출하고 있음 </a:t>
            </a:r>
            <a:r>
              <a:rPr lang="en-US" altLang="ko-KR" sz="1300" spc="0" dirty="0"/>
              <a:t>(Iterator</a:t>
            </a:r>
            <a:r>
              <a:rPr lang="ko-KR" altLang="en-US" sz="1300" spc="0" dirty="0"/>
              <a:t> 활용</a:t>
            </a:r>
            <a:r>
              <a:rPr lang="en-US" altLang="ko-KR" sz="1300" spc="0" dirty="0"/>
              <a:t>)</a:t>
            </a:r>
          </a:p>
          <a:p>
            <a:pPr marL="624863" lvl="2" indent="0">
              <a:lnSpc>
                <a:spcPct val="80000"/>
              </a:lnSpc>
              <a:buNone/>
            </a:pPr>
            <a:endParaRPr lang="en-US" altLang="ko-KR" sz="1300" spc="0" dirty="0"/>
          </a:p>
          <a:p>
            <a:pPr lvl="1">
              <a:lnSpc>
                <a:spcPct val="80000"/>
              </a:lnSpc>
            </a:pPr>
            <a:r>
              <a:rPr lang="ko-KR" altLang="en-US" sz="1300" b="1" spc="0" dirty="0"/>
              <a:t>동일한 인터페이스의 다른 구현</a:t>
            </a:r>
            <a:r>
              <a:rPr lang="en-US" altLang="ko-KR" sz="1300" b="1" spc="0" dirty="0"/>
              <a:t>/ </a:t>
            </a:r>
            <a:r>
              <a:rPr lang="ko-KR" altLang="en-US" sz="1300" b="1" spc="0" dirty="0"/>
              <a:t>다른 방식의 </a:t>
            </a:r>
            <a:r>
              <a:rPr lang="en-US" altLang="ko-KR" sz="1300" b="1" spc="0" dirty="0"/>
              <a:t>Iterator </a:t>
            </a:r>
            <a:r>
              <a:rPr lang="ko-KR" altLang="en-US" sz="1300" b="1" spc="0" dirty="0"/>
              <a:t>적용 해보기</a:t>
            </a:r>
            <a:endParaRPr lang="en-US" altLang="ko-KR" sz="1300" b="1" spc="0" dirty="0"/>
          </a:p>
          <a:p>
            <a:pPr marL="624863" lvl="2" indent="0">
              <a:lnSpc>
                <a:spcPct val="80000"/>
              </a:lnSpc>
              <a:buNone/>
            </a:pPr>
            <a:r>
              <a:rPr lang="en-US" altLang="ko-KR" sz="1300" spc="0" dirty="0"/>
              <a:t>(1) </a:t>
            </a:r>
            <a:r>
              <a:rPr lang="en-US" altLang="ko-KR" sz="1300" spc="0" dirty="0" err="1"/>
              <a:t>dinermerger</a:t>
            </a:r>
            <a:r>
              <a:rPr lang="en-US" altLang="ko-KR" sz="1300" spc="0" dirty="0"/>
              <a:t> </a:t>
            </a:r>
            <a:r>
              <a:rPr lang="ko-KR" altLang="en-US" sz="1300" spc="0" dirty="0"/>
              <a:t>패키지의</a:t>
            </a:r>
            <a:r>
              <a:rPr lang="en-US" altLang="ko-KR" sz="1300" spc="0" dirty="0"/>
              <a:t> </a:t>
            </a:r>
            <a:r>
              <a:rPr lang="ko-KR" altLang="en-US" sz="1300" spc="0" dirty="0"/>
              <a:t>소스를 분석</a:t>
            </a:r>
            <a:endParaRPr lang="en-US" altLang="ko-KR" sz="1300" spc="0" dirty="0"/>
          </a:p>
          <a:p>
            <a:pPr marL="624863" lvl="2" indent="0">
              <a:lnSpc>
                <a:spcPct val="80000"/>
              </a:lnSpc>
              <a:buNone/>
            </a:pPr>
            <a:r>
              <a:rPr lang="en-US" altLang="ko-KR" sz="1300" spc="0" dirty="0"/>
              <a:t>(2) </a:t>
            </a:r>
            <a:r>
              <a:rPr lang="en-US" altLang="ko-KR" sz="1300" b="1" spc="0" dirty="0" err="1">
                <a:solidFill>
                  <a:srgbClr val="0066FF"/>
                </a:solidFill>
              </a:rPr>
              <a:t>DinerMenu</a:t>
            </a:r>
            <a:r>
              <a:rPr lang="ko-KR" altLang="en-US" sz="1300" spc="0" dirty="0"/>
              <a:t>의 </a:t>
            </a:r>
            <a:r>
              <a:rPr lang="en-US" altLang="ko-KR" sz="1300" b="1" spc="0" dirty="0" err="1">
                <a:solidFill>
                  <a:srgbClr val="0066FF"/>
                </a:solidFill>
              </a:rPr>
              <a:t>createIterator</a:t>
            </a:r>
            <a:r>
              <a:rPr lang="en-US" altLang="ko-KR" sz="1300" b="1" spc="0" dirty="0">
                <a:solidFill>
                  <a:srgbClr val="0066FF"/>
                </a:solidFill>
              </a:rPr>
              <a:t>()</a:t>
            </a:r>
            <a:r>
              <a:rPr lang="en-US" altLang="ko-KR" sz="1300" spc="0" dirty="0"/>
              <a:t> </a:t>
            </a:r>
            <a:r>
              <a:rPr lang="ko-KR" altLang="en-US" sz="1300" spc="0" dirty="0"/>
              <a:t>에서 </a:t>
            </a:r>
            <a:br>
              <a:rPr lang="en-US" altLang="ko-KR" sz="1300" spc="0" dirty="0"/>
            </a:br>
            <a:r>
              <a:rPr lang="en-US" altLang="ko-KR" sz="1300" spc="0" dirty="0"/>
              <a:t>    </a:t>
            </a:r>
            <a:r>
              <a:rPr lang="en-US" altLang="ko-KR" sz="1300" b="1" spc="0" dirty="0" err="1"/>
              <a:t>DinerMenuIterator</a:t>
            </a:r>
            <a:r>
              <a:rPr lang="ko-KR" altLang="en-US" sz="1300" spc="0" dirty="0"/>
              <a:t>대신 </a:t>
            </a:r>
            <a:r>
              <a:rPr lang="en-US" altLang="ko-KR" sz="1300" b="1" spc="0" dirty="0" err="1">
                <a:solidFill>
                  <a:srgbClr val="0066FF"/>
                </a:solidFill>
              </a:rPr>
              <a:t>AlternatingDinerMenuIterator</a:t>
            </a:r>
            <a:r>
              <a:rPr lang="ko-KR" altLang="en-US" sz="1300" spc="0" dirty="0"/>
              <a:t> 반환하도록 변경</a:t>
            </a:r>
            <a:endParaRPr lang="en-US" altLang="ko-KR" sz="1300" spc="0" dirty="0"/>
          </a:p>
          <a:p>
            <a:pPr marL="624863" lvl="2" indent="0">
              <a:lnSpc>
                <a:spcPct val="100000"/>
              </a:lnSpc>
              <a:buNone/>
            </a:pPr>
            <a:r>
              <a:rPr lang="en-US" altLang="ko-KR" sz="1300" spc="0" dirty="0"/>
              <a:t>(3) </a:t>
            </a:r>
            <a:r>
              <a:rPr lang="en-US" altLang="ko-KR" sz="1300" b="1" spc="0" dirty="0" err="1">
                <a:solidFill>
                  <a:srgbClr val="0066FF"/>
                </a:solidFill>
              </a:rPr>
              <a:t>PancakeHouseMenu</a:t>
            </a:r>
            <a:r>
              <a:rPr lang="ko-KR" altLang="en-US" sz="1300" spc="0" dirty="0"/>
              <a:t>의 </a:t>
            </a:r>
            <a:r>
              <a:rPr lang="en-US" altLang="ko-KR" sz="1300" b="1" spc="0" dirty="0" err="1">
                <a:solidFill>
                  <a:srgbClr val="0066FF"/>
                </a:solidFill>
              </a:rPr>
              <a:t>createIterator</a:t>
            </a:r>
            <a:r>
              <a:rPr lang="en-US" altLang="ko-KR" sz="1300" b="1" spc="0" dirty="0">
                <a:solidFill>
                  <a:srgbClr val="0066FF"/>
                </a:solidFill>
              </a:rPr>
              <a:t>()</a:t>
            </a:r>
            <a:r>
              <a:rPr lang="en-US" altLang="ko-KR" sz="1300" spc="0" dirty="0"/>
              <a:t> </a:t>
            </a:r>
            <a:r>
              <a:rPr lang="ko-KR" altLang="en-US" sz="1300" spc="0" dirty="0"/>
              <a:t>에서 </a:t>
            </a:r>
            <a:br>
              <a:rPr lang="en-US" altLang="ko-KR" sz="1300" spc="0" dirty="0"/>
            </a:br>
            <a:r>
              <a:rPr lang="en-US" altLang="ko-KR" sz="1300" spc="0" dirty="0"/>
              <a:t>    </a:t>
            </a:r>
            <a:r>
              <a:rPr lang="en-US" altLang="ko-KR" sz="1300" b="1" spc="0" dirty="0" err="1"/>
              <a:t>PancakeHouseMenuIterator</a:t>
            </a:r>
            <a:r>
              <a:rPr lang="en-US" altLang="ko-KR" sz="1300" spc="0" dirty="0"/>
              <a:t> </a:t>
            </a:r>
            <a:r>
              <a:rPr lang="ko-KR" altLang="en-US" sz="1300" spc="0" dirty="0"/>
              <a:t>대신 </a:t>
            </a:r>
            <a:br>
              <a:rPr lang="en-US" altLang="ko-KR" sz="1300" spc="0" dirty="0"/>
            </a:br>
            <a:r>
              <a:rPr lang="en-US" altLang="ko-KR" sz="1300" spc="0" dirty="0"/>
              <a:t>    </a:t>
            </a:r>
            <a:r>
              <a:rPr lang="en-US" altLang="ko-KR" sz="1300" b="1" spc="0" dirty="0">
                <a:solidFill>
                  <a:srgbClr val="0066FF"/>
                </a:solidFill>
              </a:rPr>
              <a:t>Java </a:t>
            </a:r>
            <a:r>
              <a:rPr lang="ko-KR" altLang="en-US" sz="1300" b="1" spc="0" dirty="0">
                <a:solidFill>
                  <a:srgbClr val="0066FF"/>
                </a:solidFill>
              </a:rPr>
              <a:t>표준 라이브러리 </a:t>
            </a:r>
            <a:r>
              <a:rPr lang="en-US" altLang="ko-KR" sz="1300" b="1" spc="0" dirty="0">
                <a:solidFill>
                  <a:srgbClr val="0066FF"/>
                </a:solidFill>
              </a:rPr>
              <a:t>Array</a:t>
            </a:r>
            <a:r>
              <a:rPr lang="ko-KR" altLang="en-US" sz="1300" b="1" spc="0" dirty="0">
                <a:solidFill>
                  <a:srgbClr val="0066FF"/>
                </a:solidFill>
              </a:rPr>
              <a:t>의 </a:t>
            </a:r>
            <a:r>
              <a:rPr lang="en-US" altLang="ko-KR" sz="1300" b="1" spc="0" dirty="0">
                <a:solidFill>
                  <a:srgbClr val="0066FF"/>
                </a:solidFill>
              </a:rPr>
              <a:t>iterator()</a:t>
            </a:r>
            <a:r>
              <a:rPr lang="ko-KR" altLang="en-US" sz="1300" b="1" spc="0" dirty="0">
                <a:solidFill>
                  <a:srgbClr val="0066FF"/>
                </a:solidFill>
              </a:rPr>
              <a:t> 호출</a:t>
            </a:r>
            <a:r>
              <a:rPr lang="en-US" altLang="ko-KR" sz="1300" b="1" spc="0" dirty="0">
                <a:solidFill>
                  <a:srgbClr val="0066FF"/>
                </a:solidFill>
              </a:rPr>
              <a:t> </a:t>
            </a:r>
            <a:br>
              <a:rPr lang="en-US" altLang="ko-KR" sz="1300" b="1" spc="0" dirty="0">
                <a:solidFill>
                  <a:srgbClr val="0066FF"/>
                </a:solidFill>
              </a:rPr>
            </a:br>
            <a:r>
              <a:rPr lang="en-US" altLang="ko-KR" sz="1200" spc="0" dirty="0">
                <a:solidFill>
                  <a:srgbClr val="FF0000"/>
                </a:solidFill>
              </a:rPr>
              <a:t>    ※ </a:t>
            </a:r>
            <a:r>
              <a:rPr lang="ko-KR" altLang="en-US" sz="1200" spc="0" dirty="0">
                <a:solidFill>
                  <a:srgbClr val="FF0000"/>
                </a:solidFill>
              </a:rPr>
              <a:t>제공된 </a:t>
            </a:r>
            <a:r>
              <a:rPr lang="en-US" altLang="ko-KR" sz="1200" b="1" spc="0" dirty="0">
                <a:solidFill>
                  <a:srgbClr val="FF0000"/>
                </a:solidFill>
              </a:rPr>
              <a:t>Iterator.java </a:t>
            </a:r>
            <a:r>
              <a:rPr lang="ko-KR" altLang="en-US" sz="1200" b="1" spc="0" dirty="0">
                <a:solidFill>
                  <a:srgbClr val="FF0000"/>
                </a:solidFill>
              </a:rPr>
              <a:t>삭제 </a:t>
            </a:r>
            <a:r>
              <a:rPr lang="ko-KR" altLang="en-US" sz="1200" spc="0" dirty="0">
                <a:solidFill>
                  <a:srgbClr val="FF0000"/>
                </a:solidFill>
              </a:rPr>
              <a:t>후</a:t>
            </a:r>
            <a:r>
              <a:rPr lang="en-US" altLang="ko-KR" sz="1200" spc="0" dirty="0">
                <a:solidFill>
                  <a:srgbClr val="FF0000"/>
                </a:solidFill>
              </a:rPr>
              <a:t> compile error </a:t>
            </a:r>
            <a:r>
              <a:rPr lang="ko-KR" altLang="en-US" sz="1200" spc="0" dirty="0">
                <a:solidFill>
                  <a:srgbClr val="FF0000"/>
                </a:solidFill>
              </a:rPr>
              <a:t>가 발생한 곳에 아래의 코드 추가</a:t>
            </a:r>
            <a:endParaRPr lang="en-US" altLang="ko-KR" sz="1200" spc="0" dirty="0">
              <a:solidFill>
                <a:srgbClr val="FF0000"/>
              </a:solidFill>
            </a:endParaRPr>
          </a:p>
          <a:p>
            <a:pPr marL="624863" lvl="2" indent="0">
              <a:lnSpc>
                <a:spcPct val="80000"/>
              </a:lnSpc>
              <a:buNone/>
            </a:pPr>
            <a:endParaRPr lang="en-US" altLang="ko-KR" sz="1300" spc="0" dirty="0"/>
          </a:p>
          <a:p>
            <a:pPr marL="624863" lvl="2" indent="0">
              <a:lnSpc>
                <a:spcPct val="80000"/>
              </a:lnSpc>
              <a:buNone/>
            </a:pPr>
            <a:r>
              <a:rPr lang="en-US" altLang="ko-KR" sz="1300" spc="0" dirty="0"/>
              <a:t>(4) MenuTestDrive.java</a:t>
            </a:r>
            <a:r>
              <a:rPr lang="ko-KR" altLang="en-US" sz="1300" spc="0" dirty="0"/>
              <a:t>에</a:t>
            </a:r>
            <a:r>
              <a:rPr lang="en-US" altLang="ko-KR" sz="1300" spc="0" dirty="0"/>
              <a:t> </a:t>
            </a:r>
            <a:r>
              <a:rPr lang="ko-KR" altLang="en-US" sz="1300" spc="0" dirty="0"/>
              <a:t>주석으로 제공된 </a:t>
            </a:r>
            <a:r>
              <a:rPr lang="en-US" altLang="ko-KR" sz="1300" spc="0" dirty="0" err="1"/>
              <a:t>iteratorPrintMenu</a:t>
            </a:r>
            <a:r>
              <a:rPr lang="en-US" altLang="ko-KR" sz="1300" spc="0" dirty="0"/>
              <a:t>()</a:t>
            </a:r>
            <a:r>
              <a:rPr lang="ko-KR" altLang="en-US" sz="1300" spc="0" dirty="0"/>
              <a:t>을 실행하여 테스트</a:t>
            </a:r>
            <a:endParaRPr lang="en-US" altLang="ko-KR" sz="1300" spc="0" dirty="0"/>
          </a:p>
          <a:p>
            <a:pPr marL="624863" lvl="2" indent="0">
              <a:lnSpc>
                <a:spcPct val="80000"/>
              </a:lnSpc>
              <a:buNone/>
            </a:pPr>
            <a:r>
              <a:rPr lang="en-US" altLang="ko-KR" sz="1300" spc="0" dirty="0"/>
              <a:t>    </a:t>
            </a:r>
            <a:r>
              <a:rPr lang="en-US" altLang="ko-KR" spc="0" dirty="0">
                <a:solidFill>
                  <a:srgbClr val="FF0000"/>
                </a:solidFill>
              </a:rPr>
              <a:t>※ </a:t>
            </a:r>
            <a:r>
              <a:rPr lang="ko-KR" altLang="en-US" spc="0" dirty="0">
                <a:solidFill>
                  <a:srgbClr val="FF0000"/>
                </a:solidFill>
              </a:rPr>
              <a:t>단</a:t>
            </a:r>
            <a:r>
              <a:rPr lang="en-US" altLang="ko-KR" spc="0" dirty="0">
                <a:solidFill>
                  <a:srgbClr val="FF0000"/>
                </a:solidFill>
              </a:rPr>
              <a:t>, 5-1</a:t>
            </a:r>
            <a:r>
              <a:rPr lang="ko-KR" altLang="en-US" spc="0" dirty="0">
                <a:solidFill>
                  <a:srgbClr val="FF0000"/>
                </a:solidFill>
              </a:rPr>
              <a:t>에서는 </a:t>
            </a:r>
            <a:r>
              <a:rPr lang="en-US" altLang="ko-KR" spc="0" dirty="0" err="1">
                <a:solidFill>
                  <a:srgbClr val="FF0000"/>
                </a:solidFill>
              </a:rPr>
              <a:t>CafeMenu</a:t>
            </a:r>
            <a:r>
              <a:rPr lang="en-US" altLang="ko-KR" spc="0" dirty="0">
                <a:solidFill>
                  <a:srgbClr val="FF0000"/>
                </a:solidFill>
              </a:rPr>
              <a:t> </a:t>
            </a:r>
            <a:r>
              <a:rPr lang="ko-KR" altLang="en-US" spc="0" dirty="0">
                <a:solidFill>
                  <a:srgbClr val="FF0000"/>
                </a:solidFill>
              </a:rPr>
              <a:t>관련 코드들은 모두 삭제하고 테스트 진행</a:t>
            </a:r>
            <a:endParaRPr lang="en-US" altLang="ko-KR" sz="1300" spc="0" dirty="0">
              <a:solidFill>
                <a:srgbClr val="FF0000"/>
              </a:solidFill>
            </a:endParaRPr>
          </a:p>
        </p:txBody>
      </p:sp>
      <p:sp>
        <p:nvSpPr>
          <p:cNvPr id="5" name="직사각형 4"/>
          <p:cNvSpPr/>
          <p:nvPr/>
        </p:nvSpPr>
        <p:spPr>
          <a:xfrm>
            <a:off x="251520" y="699542"/>
            <a:ext cx="4176464" cy="307777"/>
          </a:xfrm>
          <a:prstGeom prst="rect">
            <a:avLst/>
          </a:prstGeom>
          <a:solidFill>
            <a:schemeClr val="accent1">
              <a:lumMod val="20000"/>
              <a:lumOff val="80000"/>
            </a:schemeClr>
          </a:solidFill>
        </p:spPr>
        <p:txBody>
          <a:bodyPr wrap="square">
            <a:spAutoFit/>
          </a:bodyPr>
          <a:lstStyle/>
          <a:p>
            <a:r>
              <a:rPr lang="en-US" altLang="ko-KR" sz="1400" b="1" dirty="0"/>
              <a:t>[</a:t>
            </a:r>
            <a:r>
              <a:rPr lang="ko-KR" altLang="en-US" sz="1400" b="1" dirty="0"/>
              <a:t>실습 코드</a:t>
            </a:r>
            <a:r>
              <a:rPr lang="en-US" altLang="ko-KR" sz="1400" b="1" dirty="0"/>
              <a:t>] </a:t>
            </a:r>
            <a:r>
              <a:rPr lang="en-US" altLang="ko-KR" sz="1400" dirty="0"/>
              <a:t>5_headfirst.iterator.dinermerger_pro </a:t>
            </a:r>
          </a:p>
        </p:txBody>
      </p:sp>
      <p:sp>
        <p:nvSpPr>
          <p:cNvPr id="7" name="Rectangle 3"/>
          <p:cNvSpPr>
            <a:spLocks noChangeArrowheads="1"/>
          </p:cNvSpPr>
          <p:nvPr/>
        </p:nvSpPr>
        <p:spPr bwMode="auto">
          <a:xfrm>
            <a:off x="6660232" y="1598915"/>
            <a:ext cx="2304256" cy="684803"/>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r>
              <a:rPr lang="en-US" altLang="ko-KR" sz="1000" dirty="0"/>
              <a:t>public interface Iterator {</a:t>
            </a:r>
          </a:p>
          <a:p>
            <a:r>
              <a:rPr lang="en-US" altLang="ko-KR" sz="1000" dirty="0"/>
              <a:t>    </a:t>
            </a:r>
            <a:r>
              <a:rPr lang="en-US" altLang="ko-KR" sz="1000" dirty="0" err="1"/>
              <a:t>boolean</a:t>
            </a:r>
            <a:r>
              <a:rPr lang="en-US" altLang="ko-KR" sz="1000" dirty="0"/>
              <a:t> </a:t>
            </a:r>
            <a:r>
              <a:rPr lang="en-US" altLang="ko-KR" sz="1000" dirty="0" err="1"/>
              <a:t>hasNext</a:t>
            </a:r>
            <a:r>
              <a:rPr lang="en-US" altLang="ko-KR" sz="1000" dirty="0"/>
              <a:t>();</a:t>
            </a:r>
          </a:p>
          <a:p>
            <a:r>
              <a:rPr lang="en-US" altLang="ko-KR" sz="1000" dirty="0"/>
              <a:t> </a:t>
            </a:r>
            <a:r>
              <a:rPr lang="ko-KR" altLang="en-US" sz="1000" dirty="0"/>
              <a:t>   </a:t>
            </a:r>
            <a:r>
              <a:rPr lang="en-US" altLang="ko-KR" sz="1000" dirty="0"/>
              <a:t>Object next();</a:t>
            </a:r>
          </a:p>
          <a:p>
            <a:r>
              <a:rPr lang="en-US" altLang="ko-KR" sz="1000" dirty="0"/>
              <a:t>}</a:t>
            </a:r>
            <a:endParaRPr lang="ko-KR" altLang="en-US" sz="1000" dirty="0">
              <a:latin typeface="Lucida Console" panose="020B0609040504020204" pitchFamily="49" charset="0"/>
            </a:endParaRPr>
          </a:p>
        </p:txBody>
      </p:sp>
      <p:sp>
        <p:nvSpPr>
          <p:cNvPr id="9" name="TextBox 8"/>
          <p:cNvSpPr txBox="1"/>
          <p:nvPr/>
        </p:nvSpPr>
        <p:spPr>
          <a:xfrm>
            <a:off x="3059832" y="973275"/>
            <a:ext cx="1011815" cy="215444"/>
          </a:xfrm>
          <a:prstGeom prst="rect">
            <a:avLst/>
          </a:prstGeom>
          <a:noFill/>
        </p:spPr>
        <p:txBody>
          <a:bodyPr wrap="none" rtlCol="0">
            <a:spAutoFit/>
          </a:bodyPr>
          <a:lstStyle/>
          <a:p>
            <a:r>
              <a:rPr lang="en-US" altLang="ko-KR" sz="800" dirty="0"/>
              <a:t>※ diner: </a:t>
            </a:r>
            <a:r>
              <a:rPr lang="ko-KR" altLang="en-US" sz="800" dirty="0"/>
              <a:t>간이식당</a:t>
            </a:r>
          </a:p>
        </p:txBody>
      </p:sp>
      <p:sp>
        <p:nvSpPr>
          <p:cNvPr id="10" name="TextBox 9"/>
          <p:cNvSpPr txBox="1"/>
          <p:nvPr/>
        </p:nvSpPr>
        <p:spPr>
          <a:xfrm>
            <a:off x="4518309" y="3219822"/>
            <a:ext cx="1300356" cy="215444"/>
          </a:xfrm>
          <a:prstGeom prst="rect">
            <a:avLst/>
          </a:prstGeom>
          <a:noFill/>
        </p:spPr>
        <p:txBody>
          <a:bodyPr wrap="none" rtlCol="0">
            <a:spAutoFit/>
          </a:bodyPr>
          <a:lstStyle/>
          <a:p>
            <a:r>
              <a:rPr lang="en-US" altLang="ko-KR" sz="800" dirty="0"/>
              <a:t>※ </a:t>
            </a:r>
            <a:r>
              <a:rPr lang="ko-KR" altLang="en-US" sz="800" dirty="0" err="1"/>
              <a:t>짝수번째</a:t>
            </a:r>
            <a:r>
              <a:rPr lang="ko-KR" altLang="en-US" sz="800" dirty="0"/>
              <a:t> </a:t>
            </a:r>
            <a:r>
              <a:rPr lang="en-US" altLang="ko-KR" sz="800" dirty="0"/>
              <a:t>item</a:t>
            </a:r>
            <a:r>
              <a:rPr lang="ko-KR" altLang="en-US" sz="800" dirty="0"/>
              <a:t>만 출력</a:t>
            </a:r>
          </a:p>
        </p:txBody>
      </p:sp>
      <p:sp>
        <p:nvSpPr>
          <p:cNvPr id="11" name="Rectangle 3"/>
          <p:cNvSpPr>
            <a:spLocks noChangeArrowheads="1"/>
          </p:cNvSpPr>
          <p:nvPr/>
        </p:nvSpPr>
        <p:spPr bwMode="auto">
          <a:xfrm>
            <a:off x="1148110" y="4188294"/>
            <a:ext cx="2304256" cy="22313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r>
              <a:rPr lang="en-US" altLang="ko-KR" sz="1000" dirty="0"/>
              <a:t>Import </a:t>
            </a:r>
            <a:r>
              <a:rPr lang="en-US" altLang="ko-KR" sz="1000" dirty="0" err="1"/>
              <a:t>java.util.Iterator</a:t>
            </a:r>
            <a:endParaRPr lang="ko-KR" altLang="en-US" sz="1000" dirty="0">
              <a:latin typeface="Lucida Console" panose="020B0609040504020204" pitchFamily="49" charset="0"/>
            </a:endParaRPr>
          </a:p>
        </p:txBody>
      </p:sp>
      <p:sp>
        <p:nvSpPr>
          <p:cNvPr id="2" name="슬라이드 번호 개체 틀 1">
            <a:extLst>
              <a:ext uri="{FF2B5EF4-FFF2-40B4-BE49-F238E27FC236}">
                <a16:creationId xmlns:a16="http://schemas.microsoft.com/office/drawing/2014/main" id="{14E2C34F-F348-B053-0D5C-93EA029C5AB5}"/>
              </a:ext>
            </a:extLst>
          </p:cNvPr>
          <p:cNvSpPr>
            <a:spLocks noGrp="1"/>
          </p:cNvSpPr>
          <p:nvPr>
            <p:ph type="sldNum" sz="quarter" idx="4"/>
          </p:nvPr>
        </p:nvSpPr>
        <p:spPr/>
        <p:txBody>
          <a:bodyPr/>
          <a:lstStyle/>
          <a:p>
            <a:fld id="{AF33F0E2-3294-4740-8E22-F3EF5A8BEBAB}" type="slidenum">
              <a:rPr lang="en-US" altLang="ko-KR" smtClean="0"/>
              <a:pPr/>
              <a:t>63</a:t>
            </a:fld>
            <a:endParaRPr lang="en-US" altLang="ko-KR" dirty="0"/>
          </a:p>
        </p:txBody>
      </p:sp>
    </p:spTree>
    <p:extLst>
      <p:ext uri="{BB962C8B-B14F-4D97-AF65-F5344CB8AC3E}">
        <p14:creationId xmlns:p14="http://schemas.microsoft.com/office/powerpoint/2010/main" val="5301127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5-1] Iterator Pattern: Java Iterator (solution)</a:t>
            </a:r>
            <a:endParaRPr lang="ko-KR" altLang="en-US" spc="0" dirty="0"/>
          </a:p>
        </p:txBody>
      </p:sp>
      <p:pic>
        <p:nvPicPr>
          <p:cNvPr id="4" name="그림 3"/>
          <p:cNvPicPr>
            <a:picLocks noChangeAspect="1"/>
          </p:cNvPicPr>
          <p:nvPr/>
        </p:nvPicPr>
        <p:blipFill>
          <a:blip r:embed="rId2"/>
          <a:stretch>
            <a:fillRect/>
          </a:stretch>
        </p:blipFill>
        <p:spPr>
          <a:xfrm>
            <a:off x="-26180" y="555526"/>
            <a:ext cx="4829423" cy="3362498"/>
          </a:xfrm>
          <a:prstGeom prst="rect">
            <a:avLst/>
          </a:prstGeom>
        </p:spPr>
      </p:pic>
      <p:pic>
        <p:nvPicPr>
          <p:cNvPr id="5" name="그림 4"/>
          <p:cNvPicPr>
            <a:picLocks noChangeAspect="1"/>
          </p:cNvPicPr>
          <p:nvPr/>
        </p:nvPicPr>
        <p:blipFill>
          <a:blip r:embed="rId3"/>
          <a:stretch>
            <a:fillRect/>
          </a:stretch>
        </p:blipFill>
        <p:spPr>
          <a:xfrm>
            <a:off x="4808688" y="1779662"/>
            <a:ext cx="4318222" cy="3279944"/>
          </a:xfrm>
          <a:prstGeom prst="rect">
            <a:avLst/>
          </a:prstGeom>
        </p:spPr>
      </p:pic>
      <p:sp>
        <p:nvSpPr>
          <p:cNvPr id="7" name="직사각형 6"/>
          <p:cNvSpPr/>
          <p:nvPr/>
        </p:nvSpPr>
        <p:spPr>
          <a:xfrm>
            <a:off x="7956376" y="4171424"/>
            <a:ext cx="251870" cy="14918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직사각형 7"/>
          <p:cNvSpPr/>
          <p:nvPr/>
        </p:nvSpPr>
        <p:spPr>
          <a:xfrm>
            <a:off x="8864708" y="4181756"/>
            <a:ext cx="251870" cy="14918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0" name="직선 연결선 9"/>
          <p:cNvCxnSpPr/>
          <p:nvPr/>
        </p:nvCxnSpPr>
        <p:spPr>
          <a:xfrm>
            <a:off x="6660352" y="5075104"/>
            <a:ext cx="1080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직사각형 11"/>
          <p:cNvSpPr/>
          <p:nvPr/>
        </p:nvSpPr>
        <p:spPr>
          <a:xfrm>
            <a:off x="2987824" y="3188084"/>
            <a:ext cx="792088" cy="5434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5595786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r>
              <a:rPr lang="en-US" altLang="ko-KR" spc="0" dirty="0"/>
              <a:t>[Practice 5-1] Iterator Pattern: Java Iterator </a:t>
            </a:r>
            <a:r>
              <a:rPr lang="ko-KR" altLang="en-US" spc="0" dirty="0"/>
              <a:t>실습 </a:t>
            </a:r>
            <a:r>
              <a:rPr lang="en-US" altLang="ko-KR" sz="1600" spc="0" dirty="0"/>
              <a:t>(solution)</a:t>
            </a:r>
            <a:endParaRPr lang="ko-KR" altLang="en-US" spc="0" dirty="0"/>
          </a:p>
        </p:txBody>
      </p:sp>
      <p:pic>
        <p:nvPicPr>
          <p:cNvPr id="6" name="그림 5">
            <a:extLst>
              <a:ext uri="{FF2B5EF4-FFF2-40B4-BE49-F238E27FC236}">
                <a16:creationId xmlns:a16="http://schemas.microsoft.com/office/drawing/2014/main" id="{632C1D06-C2E9-421A-A084-F47EBBE7A727}"/>
              </a:ext>
            </a:extLst>
          </p:cNvPr>
          <p:cNvPicPr>
            <a:picLocks noChangeAspect="1"/>
          </p:cNvPicPr>
          <p:nvPr/>
        </p:nvPicPr>
        <p:blipFill>
          <a:blip r:embed="rId2"/>
          <a:stretch>
            <a:fillRect/>
          </a:stretch>
        </p:blipFill>
        <p:spPr>
          <a:xfrm>
            <a:off x="176770" y="915566"/>
            <a:ext cx="3913563" cy="4083918"/>
          </a:xfrm>
          <a:prstGeom prst="rect">
            <a:avLst/>
          </a:prstGeom>
        </p:spPr>
      </p:pic>
      <p:pic>
        <p:nvPicPr>
          <p:cNvPr id="7" name="그림 6">
            <a:extLst>
              <a:ext uri="{FF2B5EF4-FFF2-40B4-BE49-F238E27FC236}">
                <a16:creationId xmlns:a16="http://schemas.microsoft.com/office/drawing/2014/main" id="{A6597F58-8953-4DFC-93CB-D490CCD0202C}"/>
              </a:ext>
            </a:extLst>
          </p:cNvPr>
          <p:cNvPicPr>
            <a:picLocks noChangeAspect="1"/>
          </p:cNvPicPr>
          <p:nvPr/>
        </p:nvPicPr>
        <p:blipFill>
          <a:blip r:embed="rId3"/>
          <a:stretch>
            <a:fillRect/>
          </a:stretch>
        </p:blipFill>
        <p:spPr>
          <a:xfrm>
            <a:off x="4832928" y="915566"/>
            <a:ext cx="4126579" cy="4227934"/>
          </a:xfrm>
          <a:prstGeom prst="rect">
            <a:avLst/>
          </a:prstGeom>
        </p:spPr>
      </p:pic>
      <p:sp>
        <p:nvSpPr>
          <p:cNvPr id="22" name="화살표: 오른쪽 21">
            <a:extLst>
              <a:ext uri="{FF2B5EF4-FFF2-40B4-BE49-F238E27FC236}">
                <a16:creationId xmlns:a16="http://schemas.microsoft.com/office/drawing/2014/main" id="{2CE3F8E7-2F2D-4B24-85AE-71E51B94CBDB}"/>
              </a:ext>
            </a:extLst>
          </p:cNvPr>
          <p:cNvSpPr/>
          <p:nvPr/>
        </p:nvSpPr>
        <p:spPr>
          <a:xfrm>
            <a:off x="4270593" y="2139702"/>
            <a:ext cx="432048" cy="648072"/>
          </a:xfrm>
          <a:prstGeom prst="rightArrow">
            <a:avLst>
              <a:gd name="adj1" fmla="val 50000"/>
              <a:gd name="adj2" fmla="val 50000"/>
            </a:avLst>
          </a:prstGeom>
          <a:ln/>
        </p:spPr>
        <p:style>
          <a:lnRef idx="2">
            <a:schemeClr val="accent1"/>
          </a:lnRef>
          <a:fillRef idx="1">
            <a:schemeClr val="lt1"/>
          </a:fillRef>
          <a:effectRef idx="0">
            <a:schemeClr val="accent1"/>
          </a:effectRef>
          <a:fontRef idx="minor">
            <a:schemeClr val="dk1"/>
          </a:fontRef>
        </p:style>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normalizeH="0">
              <a:solidFill>
                <a:srgbClr val="FFFFFF"/>
              </a:solidFill>
              <a:latin typeface="맑은 고딕"/>
              <a:ea typeface="맑은 고딕"/>
              <a:cs typeface="맑은 고딕"/>
            </a:endParaRPr>
          </a:p>
        </p:txBody>
      </p:sp>
      <p:sp>
        <p:nvSpPr>
          <p:cNvPr id="8" name="직사각형 7">
            <a:extLst>
              <a:ext uri="{FF2B5EF4-FFF2-40B4-BE49-F238E27FC236}">
                <a16:creationId xmlns:a16="http://schemas.microsoft.com/office/drawing/2014/main" id="{D0DA0C84-0ECE-4D31-9A08-C648C62FFA03}"/>
              </a:ext>
            </a:extLst>
          </p:cNvPr>
          <p:cNvSpPr/>
          <p:nvPr/>
        </p:nvSpPr>
        <p:spPr>
          <a:xfrm>
            <a:off x="6444208" y="4443958"/>
            <a:ext cx="864096" cy="6480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직사각형 23">
            <a:extLst>
              <a:ext uri="{FF2B5EF4-FFF2-40B4-BE49-F238E27FC236}">
                <a16:creationId xmlns:a16="http://schemas.microsoft.com/office/drawing/2014/main" id="{FDA05586-8B0E-4924-8426-DC2981E37D54}"/>
              </a:ext>
            </a:extLst>
          </p:cNvPr>
          <p:cNvSpPr/>
          <p:nvPr/>
        </p:nvSpPr>
        <p:spPr>
          <a:xfrm>
            <a:off x="5876941" y="2352692"/>
            <a:ext cx="783291" cy="1470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직사각형 25">
            <a:extLst>
              <a:ext uri="{FF2B5EF4-FFF2-40B4-BE49-F238E27FC236}">
                <a16:creationId xmlns:a16="http://schemas.microsoft.com/office/drawing/2014/main" id="{3D06E4D5-9481-488E-80BE-255B3A07F916}"/>
              </a:ext>
            </a:extLst>
          </p:cNvPr>
          <p:cNvSpPr/>
          <p:nvPr/>
        </p:nvSpPr>
        <p:spPr>
          <a:xfrm>
            <a:off x="6948264" y="2430162"/>
            <a:ext cx="783291" cy="1470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819124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r>
              <a:rPr lang="en-US" altLang="ko-KR" spc="0" dirty="0">
                <a:latin typeface="+mn-ea"/>
              </a:rPr>
              <a:t>[Practice 5-2] Iterator Pattern: </a:t>
            </a:r>
            <a:r>
              <a:rPr lang="en-US" altLang="ko-KR" spc="0" dirty="0" err="1">
                <a:latin typeface="+mn-ea"/>
              </a:rPr>
              <a:t>Hashtable</a:t>
            </a:r>
            <a:r>
              <a:rPr lang="en-US" altLang="ko-KR" spc="0" dirty="0">
                <a:latin typeface="+mn-ea"/>
              </a:rPr>
              <a:t> Iterator</a:t>
            </a:r>
            <a:endParaRPr lang="ko-KR" altLang="en-US" spc="0" dirty="0"/>
          </a:p>
        </p:txBody>
      </p:sp>
      <p:sp>
        <p:nvSpPr>
          <p:cNvPr id="4" name="내용 개체 틀 1"/>
          <p:cNvSpPr>
            <a:spLocks noGrp="1"/>
          </p:cNvSpPr>
          <p:nvPr>
            <p:ph idx="1"/>
          </p:nvPr>
        </p:nvSpPr>
        <p:spPr>
          <a:xfrm>
            <a:off x="251520" y="1059582"/>
            <a:ext cx="8712968" cy="3960440"/>
          </a:xfrm>
        </p:spPr>
        <p:txBody>
          <a:bodyPr>
            <a:noAutofit/>
          </a:bodyPr>
          <a:lstStyle/>
          <a:p>
            <a:pPr lvl="1">
              <a:lnSpc>
                <a:spcPct val="100000"/>
              </a:lnSpc>
            </a:pPr>
            <a:endParaRPr lang="en-US" altLang="ko-KR" sz="1300" spc="0" dirty="0">
              <a:latin typeface="+mn-ea"/>
            </a:endParaRPr>
          </a:p>
          <a:p>
            <a:pPr lvl="1">
              <a:lnSpc>
                <a:spcPct val="100000"/>
              </a:lnSpc>
            </a:pPr>
            <a:r>
              <a:rPr lang="en-US" altLang="ko-KR" sz="1300" spc="0" dirty="0" err="1">
                <a:latin typeface="+mn-ea"/>
              </a:rPr>
              <a:t>Hashtable</a:t>
            </a:r>
            <a:r>
              <a:rPr lang="ko-KR" altLang="en-US" sz="1300" spc="0" dirty="0">
                <a:latin typeface="+mn-ea"/>
              </a:rPr>
              <a:t>기반의</a:t>
            </a:r>
            <a:r>
              <a:rPr lang="en-US" altLang="ko-KR" sz="1300" spc="0" dirty="0">
                <a:latin typeface="+mn-ea"/>
              </a:rPr>
              <a:t> Iterator </a:t>
            </a:r>
            <a:r>
              <a:rPr lang="ko-KR" altLang="en-US" sz="1300" spc="0" dirty="0">
                <a:latin typeface="+mn-ea"/>
              </a:rPr>
              <a:t>실습 </a:t>
            </a:r>
            <a:r>
              <a:rPr lang="en-US" altLang="ko-KR" sz="1300" spc="0" dirty="0">
                <a:latin typeface="+mn-ea"/>
              </a:rPr>
              <a:t>(Café menu) </a:t>
            </a:r>
          </a:p>
          <a:p>
            <a:pPr marL="361338" lvl="1" indent="0">
              <a:lnSpc>
                <a:spcPct val="100000"/>
              </a:lnSpc>
              <a:buNone/>
            </a:pPr>
            <a:r>
              <a:rPr lang="en-US" altLang="ko-KR" sz="1300" spc="0" dirty="0">
                <a:latin typeface="+mn-ea"/>
              </a:rPr>
              <a:t>    (1) Café </a:t>
            </a:r>
            <a:r>
              <a:rPr lang="ko-KR" altLang="en-US" sz="1300" spc="0" dirty="0">
                <a:latin typeface="+mn-ea"/>
              </a:rPr>
              <a:t>메뉴 클래스 추가 </a:t>
            </a:r>
            <a:r>
              <a:rPr lang="en-US" altLang="ko-KR" sz="1300" spc="0" dirty="0">
                <a:latin typeface="+mn-ea"/>
              </a:rPr>
              <a:t>(</a:t>
            </a:r>
            <a:r>
              <a:rPr lang="en-US" altLang="ko-KR" sz="1300" b="1" spc="0" dirty="0">
                <a:solidFill>
                  <a:srgbClr val="0066FF"/>
                </a:solidFill>
                <a:latin typeface="+mn-ea"/>
              </a:rPr>
              <a:t>CafeMenu.java</a:t>
            </a:r>
            <a:r>
              <a:rPr lang="en-US" altLang="ko-KR" sz="1300" spc="0" dirty="0">
                <a:latin typeface="+mn-ea"/>
              </a:rPr>
              <a:t> </a:t>
            </a:r>
            <a:r>
              <a:rPr lang="ko-KR" altLang="en-US" sz="1300" spc="0" dirty="0">
                <a:latin typeface="+mn-ea"/>
              </a:rPr>
              <a:t>사용 </a:t>
            </a:r>
            <a:r>
              <a:rPr lang="en-US" altLang="ko-KR" sz="1300" spc="0" dirty="0">
                <a:latin typeface="+mn-ea"/>
              </a:rPr>
              <a:t>)</a:t>
            </a:r>
          </a:p>
          <a:p>
            <a:pPr marL="624863" lvl="2" indent="0">
              <a:lnSpc>
                <a:spcPct val="110000"/>
              </a:lnSpc>
              <a:buNone/>
            </a:pPr>
            <a:r>
              <a:rPr lang="en-US" altLang="ko-KR" sz="1300" spc="0" dirty="0">
                <a:latin typeface="+mn-ea"/>
              </a:rPr>
              <a:t>(2) CafeMenu.java </a:t>
            </a:r>
            <a:r>
              <a:rPr lang="ko-KR" altLang="en-US" sz="1300" spc="0" dirty="0">
                <a:latin typeface="+mn-ea"/>
              </a:rPr>
              <a:t>클래스에서는 </a:t>
            </a:r>
            <a:r>
              <a:rPr lang="en-US" altLang="ko-KR" sz="1300" b="1" spc="0" dirty="0" err="1">
                <a:solidFill>
                  <a:srgbClr val="0066FF"/>
                </a:solidFill>
                <a:latin typeface="+mn-ea"/>
              </a:rPr>
              <a:t>java.util.Hashtable</a:t>
            </a:r>
            <a:r>
              <a:rPr lang="ko-KR" altLang="en-US" sz="1300" spc="0" dirty="0">
                <a:latin typeface="+mn-ea"/>
              </a:rPr>
              <a:t>을 </a:t>
            </a:r>
            <a:r>
              <a:rPr lang="en-US" altLang="ko-KR" sz="1300" spc="0" dirty="0">
                <a:latin typeface="+mn-ea"/>
              </a:rPr>
              <a:t>Aggregate </a:t>
            </a:r>
            <a:r>
              <a:rPr lang="ko-KR" altLang="en-US" sz="1300" spc="0" dirty="0">
                <a:latin typeface="+mn-ea"/>
              </a:rPr>
              <a:t>오브젝트로 사용</a:t>
            </a:r>
            <a:endParaRPr lang="en-US" altLang="ko-KR" sz="1300" spc="0" dirty="0">
              <a:latin typeface="+mn-ea"/>
            </a:endParaRPr>
          </a:p>
          <a:p>
            <a:pPr marL="624863" lvl="2" indent="0">
              <a:lnSpc>
                <a:spcPct val="110000"/>
              </a:lnSpc>
              <a:buNone/>
            </a:pPr>
            <a:endParaRPr lang="en-US" altLang="ko-KR" sz="1300" spc="0" dirty="0">
              <a:latin typeface="+mn-ea"/>
            </a:endParaRPr>
          </a:p>
          <a:p>
            <a:pPr marL="624863" lvl="2" indent="0">
              <a:lnSpc>
                <a:spcPct val="110000"/>
              </a:lnSpc>
              <a:buNone/>
            </a:pPr>
            <a:r>
              <a:rPr lang="en-US" altLang="ko-KR" sz="1300" spc="0" dirty="0">
                <a:latin typeface="+mn-ea"/>
              </a:rPr>
              <a:t>(3) </a:t>
            </a:r>
            <a:r>
              <a:rPr lang="en-US" altLang="ko-KR" sz="1300" b="1" spc="0" dirty="0" err="1">
                <a:solidFill>
                  <a:srgbClr val="0066FF"/>
                </a:solidFill>
                <a:latin typeface="+mn-ea"/>
              </a:rPr>
              <a:t>addItem</a:t>
            </a:r>
            <a:r>
              <a:rPr lang="en-US" altLang="ko-KR" sz="1300" b="1" spc="0" dirty="0">
                <a:solidFill>
                  <a:srgbClr val="0066FF"/>
                </a:solidFill>
                <a:latin typeface="+mn-ea"/>
              </a:rPr>
              <a:t>()</a:t>
            </a:r>
            <a:r>
              <a:rPr lang="en-US" altLang="ko-KR" sz="1300" spc="0" dirty="0">
                <a:latin typeface="+mn-ea"/>
              </a:rPr>
              <a:t> </a:t>
            </a:r>
            <a:r>
              <a:rPr lang="ko-KR" altLang="en-US" sz="1300" spc="0" dirty="0">
                <a:latin typeface="+mn-ea"/>
              </a:rPr>
              <a:t>메소드 구현</a:t>
            </a:r>
            <a:endParaRPr lang="en-US" altLang="ko-KR" sz="1300" spc="0" dirty="0">
              <a:latin typeface="+mn-ea"/>
            </a:endParaRPr>
          </a:p>
          <a:p>
            <a:pPr marL="624863" lvl="2" indent="0">
              <a:lnSpc>
                <a:spcPct val="110000"/>
              </a:lnSpc>
              <a:buNone/>
            </a:pPr>
            <a:endParaRPr lang="en-US" altLang="ko-KR" sz="1300" spc="0" dirty="0">
              <a:latin typeface="+mn-ea"/>
            </a:endParaRPr>
          </a:p>
          <a:p>
            <a:pPr marL="624863" lvl="2" indent="0">
              <a:lnSpc>
                <a:spcPct val="110000"/>
              </a:lnSpc>
              <a:buNone/>
            </a:pPr>
            <a:r>
              <a:rPr lang="en-US" altLang="ko-KR" sz="1300" spc="0" dirty="0">
                <a:latin typeface="+mn-ea"/>
              </a:rPr>
              <a:t>(4) </a:t>
            </a:r>
            <a:r>
              <a:rPr lang="en-US" altLang="ko-KR" sz="1300" b="1" spc="0" dirty="0" err="1">
                <a:solidFill>
                  <a:srgbClr val="0066FF"/>
                </a:solidFill>
                <a:latin typeface="+mn-ea"/>
              </a:rPr>
              <a:t>CafeMenu</a:t>
            </a:r>
            <a:r>
              <a:rPr lang="en-US" altLang="ko-KR" sz="1300" spc="0" dirty="0">
                <a:latin typeface="+mn-ea"/>
              </a:rPr>
              <a:t> </a:t>
            </a:r>
            <a:r>
              <a:rPr lang="ko-KR" altLang="en-US" sz="1300" spc="0" dirty="0">
                <a:latin typeface="+mn-ea"/>
              </a:rPr>
              <a:t>클래스에서 </a:t>
            </a:r>
            <a:r>
              <a:rPr lang="en-US" altLang="ko-KR" sz="1300" b="1" spc="0" dirty="0">
                <a:solidFill>
                  <a:srgbClr val="0066FF"/>
                </a:solidFill>
                <a:latin typeface="+mn-ea"/>
              </a:rPr>
              <a:t>Menu </a:t>
            </a:r>
            <a:r>
              <a:rPr lang="ko-KR" altLang="en-US" sz="1300" b="1" spc="0" dirty="0">
                <a:solidFill>
                  <a:srgbClr val="0066FF"/>
                </a:solidFill>
                <a:latin typeface="+mn-ea"/>
              </a:rPr>
              <a:t>인터페이스 </a:t>
            </a:r>
            <a:r>
              <a:rPr lang="ko-KR" altLang="en-US" sz="1300" spc="0" dirty="0">
                <a:latin typeface="+mn-ea"/>
              </a:rPr>
              <a:t>구현</a:t>
            </a:r>
            <a:br>
              <a:rPr lang="en-US" altLang="ko-KR" sz="1300" spc="0" dirty="0">
                <a:latin typeface="+mn-ea"/>
              </a:rPr>
            </a:br>
            <a:r>
              <a:rPr lang="en-US" altLang="ko-KR" sz="1300" spc="0" dirty="0">
                <a:latin typeface="+mn-ea"/>
              </a:rPr>
              <a:t>    - Café </a:t>
            </a:r>
            <a:r>
              <a:rPr lang="ko-KR" altLang="en-US" sz="1300" spc="0" dirty="0">
                <a:latin typeface="+mn-ea"/>
              </a:rPr>
              <a:t>메뉴 </a:t>
            </a:r>
            <a:r>
              <a:rPr lang="en-US" altLang="ko-KR" sz="1300" spc="0" dirty="0">
                <a:latin typeface="+mn-ea"/>
              </a:rPr>
              <a:t>iterator</a:t>
            </a:r>
            <a:r>
              <a:rPr lang="ko-KR" altLang="en-US" sz="1300" spc="0" dirty="0">
                <a:latin typeface="+mn-ea"/>
              </a:rPr>
              <a:t>는 </a:t>
            </a:r>
            <a:r>
              <a:rPr lang="en-US" altLang="ko-KR" sz="1300" spc="0" dirty="0" err="1">
                <a:latin typeface="+mn-ea"/>
              </a:rPr>
              <a:t>Hashtable</a:t>
            </a:r>
            <a:r>
              <a:rPr lang="ko-KR" altLang="en-US" sz="1300" spc="0" dirty="0">
                <a:latin typeface="+mn-ea"/>
              </a:rPr>
              <a:t>에서 제공하는 </a:t>
            </a:r>
            <a:r>
              <a:rPr lang="en-US" altLang="ko-KR" sz="1300" b="1" spc="0" dirty="0">
                <a:solidFill>
                  <a:srgbClr val="0066FF"/>
                </a:solidFill>
                <a:latin typeface="+mn-ea"/>
              </a:rPr>
              <a:t>iterator()</a:t>
            </a:r>
            <a:r>
              <a:rPr lang="ko-KR" altLang="en-US" sz="1300" spc="0" dirty="0">
                <a:latin typeface="+mn-ea"/>
              </a:rPr>
              <a:t>를 사용</a:t>
            </a:r>
            <a:endParaRPr lang="en-US" altLang="ko-KR" sz="1300" spc="0" dirty="0">
              <a:latin typeface="+mn-ea"/>
            </a:endParaRPr>
          </a:p>
          <a:p>
            <a:pPr marL="624863" lvl="2" indent="0">
              <a:lnSpc>
                <a:spcPct val="110000"/>
              </a:lnSpc>
              <a:buNone/>
            </a:pPr>
            <a:r>
              <a:rPr lang="en-US" altLang="ko-KR" sz="1300" spc="0" dirty="0">
                <a:latin typeface="+mn-ea"/>
              </a:rPr>
              <a:t> </a:t>
            </a:r>
          </a:p>
          <a:p>
            <a:pPr marL="624863" lvl="2" indent="0">
              <a:lnSpc>
                <a:spcPct val="100000"/>
              </a:lnSpc>
              <a:buNone/>
            </a:pPr>
            <a:r>
              <a:rPr lang="en-US" altLang="ko-KR" sz="1300" spc="0" dirty="0">
                <a:latin typeface="+mn-ea"/>
              </a:rPr>
              <a:t>(5) </a:t>
            </a:r>
            <a:r>
              <a:rPr lang="en-US" altLang="ko-KR" sz="1300" b="1" spc="0" dirty="0">
                <a:solidFill>
                  <a:srgbClr val="0066FF"/>
                </a:solidFill>
                <a:latin typeface="+mn-ea"/>
              </a:rPr>
              <a:t>Waitress.java</a:t>
            </a:r>
            <a:r>
              <a:rPr lang="en-US" altLang="ko-KR" sz="1300" spc="0" dirty="0">
                <a:latin typeface="+mn-ea"/>
              </a:rPr>
              <a:t> </a:t>
            </a:r>
            <a:r>
              <a:rPr lang="ko-KR" altLang="en-US" sz="1300" spc="0" dirty="0">
                <a:latin typeface="+mn-ea"/>
              </a:rPr>
              <a:t>클래스에서 </a:t>
            </a:r>
            <a:r>
              <a:rPr lang="en-US" altLang="ko-KR" sz="1300" spc="0" dirty="0">
                <a:latin typeface="+mn-ea"/>
              </a:rPr>
              <a:t>Café </a:t>
            </a:r>
            <a:r>
              <a:rPr lang="ko-KR" altLang="en-US" sz="1300" spc="0" dirty="0">
                <a:latin typeface="+mn-ea"/>
              </a:rPr>
              <a:t>메뉴도 출력하도록 수정</a:t>
            </a:r>
            <a:endParaRPr lang="en-US" altLang="ko-KR" sz="1300" spc="0" dirty="0">
              <a:latin typeface="+mn-ea"/>
            </a:endParaRPr>
          </a:p>
          <a:p>
            <a:pPr marL="624863" lvl="2" indent="0">
              <a:lnSpc>
                <a:spcPct val="100000"/>
              </a:lnSpc>
              <a:buNone/>
            </a:pPr>
            <a:r>
              <a:rPr lang="en-US" altLang="ko-KR" sz="1300" spc="0" dirty="0">
                <a:latin typeface="+mn-ea"/>
              </a:rPr>
              <a:t>(6) MenuTestDrive.java</a:t>
            </a:r>
            <a:r>
              <a:rPr lang="ko-KR" altLang="en-US" sz="1300" spc="0" dirty="0">
                <a:latin typeface="+mn-ea"/>
              </a:rPr>
              <a:t>에 주석으로 제공된 </a:t>
            </a:r>
            <a:r>
              <a:rPr lang="en-US" altLang="ko-KR" sz="1300" b="1" spc="0" dirty="0" err="1">
                <a:latin typeface="+mn-ea"/>
              </a:rPr>
              <a:t>iteratorPrintMenu</a:t>
            </a:r>
            <a:r>
              <a:rPr lang="en-US" altLang="ko-KR" sz="1300" b="1" spc="0" dirty="0">
                <a:latin typeface="+mn-ea"/>
              </a:rPr>
              <a:t>()</a:t>
            </a:r>
            <a:r>
              <a:rPr lang="ko-KR" altLang="en-US" sz="1300" spc="0" dirty="0">
                <a:latin typeface="+mn-ea"/>
              </a:rPr>
              <a:t>을 실행하여 테스트</a:t>
            </a:r>
            <a:endParaRPr lang="en-US" altLang="ko-KR" sz="1300" spc="0" dirty="0">
              <a:latin typeface="+mn-ea"/>
            </a:endParaRPr>
          </a:p>
          <a:p>
            <a:pPr marL="624863" lvl="2" indent="0">
              <a:lnSpc>
                <a:spcPct val="100000"/>
              </a:lnSpc>
              <a:buNone/>
            </a:pPr>
            <a:r>
              <a:rPr lang="en-US" altLang="ko-KR" sz="1100" spc="0" dirty="0">
                <a:solidFill>
                  <a:srgbClr val="FF0000"/>
                </a:solidFill>
              </a:rPr>
              <a:t>	※ 5-2</a:t>
            </a:r>
            <a:r>
              <a:rPr lang="ko-KR" altLang="en-US" sz="1100" spc="0" dirty="0">
                <a:solidFill>
                  <a:srgbClr val="FF0000"/>
                </a:solidFill>
              </a:rPr>
              <a:t>에서는 </a:t>
            </a:r>
            <a:r>
              <a:rPr lang="en-US" altLang="ko-KR" sz="1100" spc="0" dirty="0" err="1">
                <a:solidFill>
                  <a:srgbClr val="FF0000"/>
                </a:solidFill>
              </a:rPr>
              <a:t>CafeMenu</a:t>
            </a:r>
            <a:r>
              <a:rPr lang="en-US" altLang="ko-KR" sz="1100" spc="0" dirty="0">
                <a:solidFill>
                  <a:srgbClr val="FF0000"/>
                </a:solidFill>
              </a:rPr>
              <a:t> </a:t>
            </a:r>
            <a:r>
              <a:rPr lang="ko-KR" altLang="en-US" sz="1100" spc="0" dirty="0">
                <a:solidFill>
                  <a:srgbClr val="FF0000"/>
                </a:solidFill>
              </a:rPr>
              <a:t>관련 코드들도 모두 포함해서 테스트 진행</a:t>
            </a:r>
            <a:endParaRPr lang="ko-KR" altLang="en-US" sz="1300" spc="0" dirty="0">
              <a:latin typeface="+mn-ea"/>
            </a:endParaRPr>
          </a:p>
        </p:txBody>
      </p:sp>
      <p:sp>
        <p:nvSpPr>
          <p:cNvPr id="5" name="직사각형 4"/>
          <p:cNvSpPr/>
          <p:nvPr/>
        </p:nvSpPr>
        <p:spPr>
          <a:xfrm>
            <a:off x="251520" y="699542"/>
            <a:ext cx="4176464" cy="307777"/>
          </a:xfrm>
          <a:prstGeom prst="rect">
            <a:avLst/>
          </a:prstGeom>
          <a:solidFill>
            <a:schemeClr val="accent1">
              <a:lumMod val="20000"/>
              <a:lumOff val="80000"/>
            </a:schemeClr>
          </a:solidFill>
        </p:spPr>
        <p:txBody>
          <a:bodyPr wrap="square">
            <a:spAutoFit/>
          </a:bodyPr>
          <a:lstStyle/>
          <a:p>
            <a:r>
              <a:rPr lang="en-US" altLang="ko-KR" sz="1400" b="1" dirty="0"/>
              <a:t>[</a:t>
            </a:r>
            <a:r>
              <a:rPr lang="ko-KR" altLang="en-US" sz="1400" b="1" dirty="0"/>
              <a:t>실습 코드</a:t>
            </a:r>
            <a:r>
              <a:rPr lang="en-US" altLang="ko-KR" sz="1400" b="1" dirty="0"/>
              <a:t>] </a:t>
            </a:r>
            <a:r>
              <a:rPr lang="en-US" altLang="ko-KR" sz="1400" dirty="0"/>
              <a:t>5_headfirst.iterator.dinermerger_pro </a:t>
            </a:r>
          </a:p>
        </p:txBody>
      </p:sp>
      <p:sp>
        <p:nvSpPr>
          <p:cNvPr id="9" name="TextBox 8"/>
          <p:cNvSpPr txBox="1"/>
          <p:nvPr/>
        </p:nvSpPr>
        <p:spPr>
          <a:xfrm>
            <a:off x="3059832" y="973275"/>
            <a:ext cx="1011815" cy="215444"/>
          </a:xfrm>
          <a:prstGeom prst="rect">
            <a:avLst/>
          </a:prstGeom>
          <a:noFill/>
        </p:spPr>
        <p:txBody>
          <a:bodyPr wrap="none" rtlCol="0">
            <a:spAutoFit/>
          </a:bodyPr>
          <a:lstStyle/>
          <a:p>
            <a:r>
              <a:rPr lang="en-US" altLang="ko-KR" sz="800" dirty="0"/>
              <a:t>※ diner: </a:t>
            </a:r>
            <a:r>
              <a:rPr lang="ko-KR" altLang="en-US" sz="800" dirty="0"/>
              <a:t>간이식당</a:t>
            </a:r>
          </a:p>
        </p:txBody>
      </p:sp>
      <p:sp>
        <p:nvSpPr>
          <p:cNvPr id="12" name="Rectangle 3"/>
          <p:cNvSpPr>
            <a:spLocks noChangeArrowheads="1"/>
          </p:cNvSpPr>
          <p:nvPr/>
        </p:nvSpPr>
        <p:spPr bwMode="auto">
          <a:xfrm>
            <a:off x="1403648" y="3795886"/>
            <a:ext cx="5472608" cy="22313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r>
              <a:rPr lang="en-US" altLang="ko-KR" sz="1000" dirty="0" err="1"/>
              <a:t>menuIterms.values</a:t>
            </a:r>
            <a:r>
              <a:rPr lang="en-US" altLang="ko-KR" sz="1000" dirty="0"/>
              <a:t>().iterator();    // key</a:t>
            </a:r>
            <a:r>
              <a:rPr lang="ko-KR" altLang="en-US" sz="1000" dirty="0"/>
              <a:t>는 제외하고 </a:t>
            </a:r>
            <a:r>
              <a:rPr lang="en-US" altLang="ko-KR" sz="1000" dirty="0"/>
              <a:t>value </a:t>
            </a:r>
            <a:r>
              <a:rPr lang="ko-KR" altLang="en-US" sz="1000" dirty="0"/>
              <a:t>에 대해서만 </a:t>
            </a:r>
            <a:r>
              <a:rPr lang="en-US" altLang="ko-KR" sz="1000" dirty="0"/>
              <a:t>iterator </a:t>
            </a:r>
            <a:r>
              <a:rPr lang="ko-KR" altLang="en-US" sz="1000" dirty="0"/>
              <a:t>생성</a:t>
            </a:r>
            <a:endParaRPr lang="ko-KR" altLang="en-US" sz="1000" dirty="0">
              <a:latin typeface="Lucida Console" panose="020B0609040504020204" pitchFamily="49" charset="0"/>
            </a:endParaRPr>
          </a:p>
        </p:txBody>
      </p:sp>
      <p:sp>
        <p:nvSpPr>
          <p:cNvPr id="13" name="Rectangle 3"/>
          <p:cNvSpPr>
            <a:spLocks noChangeArrowheads="1"/>
          </p:cNvSpPr>
          <p:nvPr/>
        </p:nvSpPr>
        <p:spPr bwMode="auto">
          <a:xfrm>
            <a:off x="1403648" y="2935716"/>
            <a:ext cx="5472608" cy="22313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r>
              <a:rPr lang="en-US" altLang="ko-KR" sz="1000" dirty="0" err="1"/>
              <a:t>menuItems.put</a:t>
            </a:r>
            <a:r>
              <a:rPr lang="en-US" altLang="ko-KR" sz="1000" dirty="0"/>
              <a:t>(</a:t>
            </a:r>
            <a:r>
              <a:rPr lang="en-US" altLang="ko-KR" sz="1000" dirty="0" err="1"/>
              <a:t>menuItem.getName</a:t>
            </a:r>
            <a:r>
              <a:rPr lang="en-US" altLang="ko-KR" sz="1000" dirty="0"/>
              <a:t>(), </a:t>
            </a:r>
            <a:r>
              <a:rPr lang="en-US" altLang="ko-KR" sz="1000" dirty="0" err="1"/>
              <a:t>menuItem</a:t>
            </a:r>
            <a:r>
              <a:rPr lang="en-US" altLang="ko-KR" sz="1000" dirty="0"/>
              <a:t>) ;</a:t>
            </a:r>
          </a:p>
        </p:txBody>
      </p:sp>
      <p:sp>
        <p:nvSpPr>
          <p:cNvPr id="14" name="Rectangle 3"/>
          <p:cNvSpPr>
            <a:spLocks noChangeArrowheads="1"/>
          </p:cNvSpPr>
          <p:nvPr/>
        </p:nvSpPr>
        <p:spPr bwMode="auto">
          <a:xfrm>
            <a:off x="1403648" y="2302028"/>
            <a:ext cx="5472608" cy="22313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r>
              <a:rPr lang="en-US" altLang="ko-KR" sz="1000" dirty="0"/>
              <a:t>Private </a:t>
            </a:r>
            <a:r>
              <a:rPr lang="en-US" altLang="ko-KR" sz="1000" dirty="0" err="1"/>
              <a:t>Hashtable</a:t>
            </a:r>
            <a:r>
              <a:rPr lang="en-US" altLang="ko-KR" sz="1000" dirty="0"/>
              <a:t> </a:t>
            </a:r>
            <a:r>
              <a:rPr lang="en-US" altLang="ko-KR" sz="1000" dirty="0" err="1"/>
              <a:t>menuItems</a:t>
            </a:r>
            <a:r>
              <a:rPr lang="en-US" altLang="ko-KR" sz="1000" dirty="0"/>
              <a:t> = new </a:t>
            </a:r>
            <a:r>
              <a:rPr lang="en-US" altLang="ko-KR" sz="1000" dirty="0" err="1"/>
              <a:t>Hashtable</a:t>
            </a:r>
            <a:r>
              <a:rPr lang="en-US" altLang="ko-KR" sz="1000" dirty="0"/>
              <a:t>();</a:t>
            </a:r>
          </a:p>
        </p:txBody>
      </p:sp>
      <p:sp>
        <p:nvSpPr>
          <p:cNvPr id="2" name="슬라이드 번호 개체 틀 1">
            <a:extLst>
              <a:ext uri="{FF2B5EF4-FFF2-40B4-BE49-F238E27FC236}">
                <a16:creationId xmlns:a16="http://schemas.microsoft.com/office/drawing/2014/main" id="{80653035-879E-852E-97BC-BB974D9D363C}"/>
              </a:ext>
            </a:extLst>
          </p:cNvPr>
          <p:cNvSpPr>
            <a:spLocks noGrp="1"/>
          </p:cNvSpPr>
          <p:nvPr>
            <p:ph type="sldNum" sz="quarter" idx="4"/>
          </p:nvPr>
        </p:nvSpPr>
        <p:spPr/>
        <p:txBody>
          <a:bodyPr/>
          <a:lstStyle/>
          <a:p>
            <a:fld id="{AF33F0E2-3294-4740-8E22-F3EF5A8BEBAB}" type="slidenum">
              <a:rPr lang="en-US" altLang="ko-KR" smtClean="0"/>
              <a:pPr/>
              <a:t>66</a:t>
            </a:fld>
            <a:endParaRPr lang="en-US" altLang="ko-KR" dirty="0"/>
          </a:p>
        </p:txBody>
      </p:sp>
    </p:spTree>
    <p:extLst>
      <p:ext uri="{BB962C8B-B14F-4D97-AF65-F5344CB8AC3E}">
        <p14:creationId xmlns:p14="http://schemas.microsoft.com/office/powerpoint/2010/main" val="25117960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5-2] Iterator Pattern: </a:t>
            </a:r>
            <a:r>
              <a:rPr lang="en-US" altLang="ko-KR" spc="0" dirty="0" err="1"/>
              <a:t>HashTable</a:t>
            </a:r>
            <a:r>
              <a:rPr lang="en-US" altLang="ko-KR" spc="0" dirty="0"/>
              <a:t> Iterator (solution)</a:t>
            </a:r>
            <a:endParaRPr lang="ko-KR" altLang="en-US" spc="0" dirty="0"/>
          </a:p>
        </p:txBody>
      </p:sp>
      <p:pic>
        <p:nvPicPr>
          <p:cNvPr id="5" name="그림 4"/>
          <p:cNvPicPr>
            <a:picLocks noChangeAspect="1"/>
          </p:cNvPicPr>
          <p:nvPr/>
        </p:nvPicPr>
        <p:blipFill>
          <a:blip r:embed="rId2"/>
          <a:stretch>
            <a:fillRect/>
          </a:stretch>
        </p:blipFill>
        <p:spPr>
          <a:xfrm>
            <a:off x="37754" y="1851670"/>
            <a:ext cx="4318222" cy="3279944"/>
          </a:xfrm>
          <a:prstGeom prst="rect">
            <a:avLst/>
          </a:prstGeom>
        </p:spPr>
      </p:pic>
      <p:pic>
        <p:nvPicPr>
          <p:cNvPr id="4" name="그림 3"/>
          <p:cNvPicPr>
            <a:picLocks noChangeAspect="1"/>
          </p:cNvPicPr>
          <p:nvPr/>
        </p:nvPicPr>
        <p:blipFill rotWithShape="1">
          <a:blip r:embed="rId3"/>
          <a:srcRect t="3474"/>
          <a:stretch/>
        </p:blipFill>
        <p:spPr>
          <a:xfrm>
            <a:off x="3478939" y="555526"/>
            <a:ext cx="5629565" cy="3211971"/>
          </a:xfrm>
          <a:prstGeom prst="rect">
            <a:avLst/>
          </a:prstGeom>
        </p:spPr>
      </p:pic>
      <p:sp>
        <p:nvSpPr>
          <p:cNvPr id="6" name="직사각형 5"/>
          <p:cNvSpPr/>
          <p:nvPr/>
        </p:nvSpPr>
        <p:spPr>
          <a:xfrm>
            <a:off x="3444364" y="2180522"/>
            <a:ext cx="1296144" cy="6480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7400341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r>
              <a:rPr lang="en-US" altLang="ko-KR" spc="0" dirty="0"/>
              <a:t>[Practice 5-2] Iterator Pattern: </a:t>
            </a:r>
            <a:r>
              <a:rPr lang="en-US" altLang="ko-KR" spc="0" dirty="0" err="1"/>
              <a:t>Hashtable</a:t>
            </a:r>
            <a:r>
              <a:rPr lang="en-US" altLang="ko-KR" spc="0" dirty="0"/>
              <a:t> Iterator </a:t>
            </a:r>
            <a:r>
              <a:rPr lang="en-US" altLang="ko-KR" sz="1400" spc="0" dirty="0"/>
              <a:t>(solution)</a:t>
            </a:r>
            <a:endParaRPr lang="ko-KR" altLang="en-US" sz="1400" spc="0" dirty="0"/>
          </a:p>
        </p:txBody>
      </p:sp>
      <p:pic>
        <p:nvPicPr>
          <p:cNvPr id="2" name="그림 1">
            <a:extLst>
              <a:ext uri="{FF2B5EF4-FFF2-40B4-BE49-F238E27FC236}">
                <a16:creationId xmlns:a16="http://schemas.microsoft.com/office/drawing/2014/main" id="{038BB71D-C016-4DB7-8E35-BA25E5BDB070}"/>
              </a:ext>
            </a:extLst>
          </p:cNvPr>
          <p:cNvPicPr>
            <a:picLocks noChangeAspect="1"/>
          </p:cNvPicPr>
          <p:nvPr/>
        </p:nvPicPr>
        <p:blipFill>
          <a:blip r:embed="rId2"/>
          <a:stretch>
            <a:fillRect/>
          </a:stretch>
        </p:blipFill>
        <p:spPr>
          <a:xfrm>
            <a:off x="35496" y="699542"/>
            <a:ext cx="4320480" cy="4376131"/>
          </a:xfrm>
          <a:prstGeom prst="rect">
            <a:avLst/>
          </a:prstGeom>
        </p:spPr>
      </p:pic>
      <p:sp>
        <p:nvSpPr>
          <p:cNvPr id="9" name="직사각형 8">
            <a:extLst>
              <a:ext uri="{FF2B5EF4-FFF2-40B4-BE49-F238E27FC236}">
                <a16:creationId xmlns:a16="http://schemas.microsoft.com/office/drawing/2014/main" id="{5EB24F56-9E9F-4BCD-AB06-F1DAC234A95A}"/>
              </a:ext>
            </a:extLst>
          </p:cNvPr>
          <p:cNvSpPr/>
          <p:nvPr/>
        </p:nvSpPr>
        <p:spPr>
          <a:xfrm>
            <a:off x="3275856" y="1694912"/>
            <a:ext cx="787937" cy="55722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5EE50B91-74FB-4133-83E5-1E77CE00DC7F}"/>
              </a:ext>
            </a:extLst>
          </p:cNvPr>
          <p:cNvSpPr/>
          <p:nvPr/>
        </p:nvSpPr>
        <p:spPr>
          <a:xfrm>
            <a:off x="2267744" y="2270977"/>
            <a:ext cx="783291" cy="1470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Rectangle 1">
            <a:extLst>
              <a:ext uri="{FF2B5EF4-FFF2-40B4-BE49-F238E27FC236}">
                <a16:creationId xmlns:a16="http://schemas.microsoft.com/office/drawing/2014/main" id="{FABEE25F-0037-4D07-9266-344318392B33}"/>
              </a:ext>
            </a:extLst>
          </p:cNvPr>
          <p:cNvSpPr>
            <a:spLocks noChangeArrowheads="1"/>
          </p:cNvSpPr>
          <p:nvPr/>
        </p:nvSpPr>
        <p:spPr bwMode="auto">
          <a:xfrm>
            <a:off x="4406552" y="915566"/>
            <a:ext cx="4699372" cy="331236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900" b="0" i="0" u="none" strike="noStrike" cap="none" spc="-40" normalizeH="0" baseline="0" dirty="0" err="1">
                <a:ln>
                  <a:noFill/>
                </a:ln>
                <a:solidFill>
                  <a:srgbClr val="0033B3"/>
                </a:solidFill>
                <a:effectLst/>
                <a:latin typeface="Consolas" panose="020B0609020204030204" pitchFamily="49" charset="0"/>
                <a:ea typeface="JetBrains Mono"/>
              </a:rPr>
              <a:t>public</a:t>
            </a:r>
            <a:r>
              <a:rPr kumimoji="0" lang="ko-KR" altLang="ko-KR" sz="900" b="0" i="0" u="none" strike="noStrike" cap="none" spc="-40" normalizeH="0" baseline="0" dirty="0">
                <a:ln>
                  <a:noFill/>
                </a:ln>
                <a:solidFill>
                  <a:srgbClr val="0033B3"/>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33B3"/>
                </a:solidFill>
                <a:effectLst/>
                <a:latin typeface="Consolas" panose="020B0609020204030204" pitchFamily="49" charset="0"/>
                <a:ea typeface="JetBrains Mono"/>
              </a:rPr>
              <a:t>class</a:t>
            </a:r>
            <a:r>
              <a:rPr kumimoji="0" lang="ko-KR" altLang="ko-KR" sz="900" b="0" i="0" u="none" strike="noStrike" cap="none" spc="-40" normalizeH="0" baseline="0" dirty="0">
                <a:ln>
                  <a:noFill/>
                </a:ln>
                <a:solidFill>
                  <a:srgbClr val="0033B3"/>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CafeMenu</a:t>
            </a:r>
            <a:r>
              <a:rPr kumimoji="0" lang="ko-KR" altLang="ko-KR" sz="900" b="0" i="0" u="none" strike="noStrike" cap="none" spc="-40" normalizeH="0" baseline="0" dirty="0">
                <a:ln>
                  <a:noFill/>
                </a:ln>
                <a:solidFill>
                  <a:srgbClr val="000000"/>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33B3"/>
                </a:solidFill>
                <a:effectLst/>
                <a:latin typeface="Consolas" panose="020B0609020204030204" pitchFamily="49" charset="0"/>
                <a:ea typeface="JetBrains Mono"/>
              </a:rPr>
              <a:t>implements</a:t>
            </a:r>
            <a:r>
              <a:rPr kumimoji="0" lang="ko-KR" altLang="ko-KR" sz="900" b="0" i="0" u="none" strike="noStrike" cap="none" spc="-40" normalizeH="0" baseline="0" dirty="0">
                <a:ln>
                  <a:noFill/>
                </a:ln>
                <a:solidFill>
                  <a:srgbClr val="0033B3"/>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Menu</a:t>
            </a:r>
            <a:r>
              <a:rPr kumimoji="0" lang="ko-KR" altLang="ko-KR" sz="900" b="0" i="0" u="none" strike="noStrike" cap="none" spc="-40" normalizeH="0" baseline="0" dirty="0">
                <a:ln>
                  <a:noFill/>
                </a:ln>
                <a:solidFill>
                  <a:srgbClr val="000000"/>
                </a:solidFill>
                <a:effectLst/>
                <a:latin typeface="Consolas" panose="020B0609020204030204" pitchFamily="49" charset="0"/>
                <a:ea typeface="JetBrains Mono"/>
              </a:rPr>
              <a:t> </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a:t>
            </a:r>
            <a:b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br>
            <a:b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b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1" u="none" strike="noStrike" cap="none" spc="-40" normalizeH="0" baseline="0" dirty="0">
                <a:ln>
                  <a:noFill/>
                </a:ln>
                <a:solidFill>
                  <a:srgbClr val="8C8C8C"/>
                </a:solidFill>
                <a:effectLst/>
                <a:latin typeface="Consolas" panose="020B0609020204030204" pitchFamily="49" charset="0"/>
                <a:ea typeface="JetBrains Mono"/>
              </a:rPr>
              <a:t>// </a:t>
            </a:r>
            <a:r>
              <a:rPr kumimoji="0" lang="ko-KR" altLang="ko-KR" sz="900" b="0" i="1" u="none" strike="noStrike" cap="none" spc="-40" normalizeH="0" baseline="0" dirty="0" err="1">
                <a:ln>
                  <a:noFill/>
                </a:ln>
                <a:solidFill>
                  <a:srgbClr val="8C8C8C"/>
                </a:solidFill>
                <a:effectLst/>
                <a:latin typeface="Consolas" panose="020B0609020204030204" pitchFamily="49" charset="0"/>
                <a:ea typeface="JetBrains Mono"/>
              </a:rPr>
              <a:t>Practice</a:t>
            </a:r>
            <a:r>
              <a:rPr kumimoji="0" lang="ko-KR" altLang="ko-KR" sz="900" b="0" i="1" u="none" strike="noStrike" cap="none" spc="-40" normalizeH="0" baseline="0" dirty="0">
                <a:ln>
                  <a:noFill/>
                </a:ln>
                <a:solidFill>
                  <a:srgbClr val="8C8C8C"/>
                </a:solidFill>
                <a:effectLst/>
                <a:latin typeface="Consolas" panose="020B0609020204030204" pitchFamily="49" charset="0"/>
                <a:ea typeface="JetBrains Mono"/>
              </a:rPr>
              <a:t> 5-2</a:t>
            </a:r>
            <a:br>
              <a:rPr kumimoji="0" lang="ko-KR" altLang="ko-KR" sz="900" b="0" i="1" u="none" strike="noStrike" cap="none" spc="-40" normalizeH="0" baseline="0" dirty="0">
                <a:ln>
                  <a:noFill/>
                </a:ln>
                <a:solidFill>
                  <a:srgbClr val="8C8C8C"/>
                </a:solidFill>
                <a:effectLst/>
                <a:latin typeface="Consolas" panose="020B0609020204030204" pitchFamily="49" charset="0"/>
                <a:ea typeface="JetBrains Mono"/>
              </a:rPr>
            </a:br>
            <a:r>
              <a:rPr kumimoji="0" lang="ko-KR" altLang="ko-KR" sz="900" b="0" i="1" u="none" strike="noStrike" cap="none" spc="-40" normalizeH="0" baseline="0" dirty="0">
                <a:ln>
                  <a:noFill/>
                </a:ln>
                <a:solidFill>
                  <a:srgbClr val="8C8C8C"/>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33B3"/>
                </a:solidFill>
                <a:effectLst/>
                <a:latin typeface="Consolas" panose="020B0609020204030204" pitchFamily="49" charset="0"/>
                <a:ea typeface="JetBrains Mono"/>
              </a:rPr>
              <a:t>private</a:t>
            </a:r>
            <a:r>
              <a:rPr kumimoji="0" lang="ko-KR" altLang="ko-KR" sz="900" b="0" i="0" u="none" strike="noStrike" cap="none" spc="-40" normalizeH="0" baseline="0" dirty="0">
                <a:ln>
                  <a:noFill/>
                </a:ln>
                <a:solidFill>
                  <a:srgbClr val="0033B3"/>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33B3"/>
                </a:solidFill>
                <a:effectLst/>
                <a:latin typeface="Consolas" panose="020B0609020204030204" pitchFamily="49" charset="0"/>
                <a:ea typeface="JetBrains Mono"/>
              </a:rPr>
              <a:t>final</a:t>
            </a:r>
            <a:r>
              <a:rPr kumimoji="0" lang="ko-KR" altLang="ko-KR" sz="900" b="0" i="0" u="none" strike="noStrike" cap="none" spc="-40" normalizeH="0" baseline="0" dirty="0">
                <a:ln>
                  <a:noFill/>
                </a:ln>
                <a:solidFill>
                  <a:srgbClr val="0033B3"/>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Hashtable</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&lt;</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String</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MenuItem</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&gt; </a:t>
            </a:r>
            <a:r>
              <a:rPr kumimoji="0" lang="ko-KR" altLang="ko-KR" sz="900" b="0" i="0" u="none" strike="noStrike" cap="none" spc="-40" normalizeH="0" baseline="0" dirty="0" err="1">
                <a:ln>
                  <a:noFill/>
                </a:ln>
                <a:solidFill>
                  <a:srgbClr val="871094"/>
                </a:solidFill>
                <a:effectLst/>
                <a:latin typeface="Consolas" panose="020B0609020204030204" pitchFamily="49" charset="0"/>
                <a:ea typeface="JetBrains Mono"/>
              </a:rPr>
              <a:t>menuItems</a:t>
            </a:r>
            <a:r>
              <a:rPr kumimoji="0" lang="ko-KR" altLang="ko-KR" sz="900" b="0" i="0" u="none" strike="noStrike" cap="none" spc="-40" normalizeH="0" baseline="0" dirty="0">
                <a:ln>
                  <a:noFill/>
                </a:ln>
                <a:solidFill>
                  <a:srgbClr val="871094"/>
                </a:solidFill>
                <a:effectLst/>
                <a:latin typeface="Consolas" panose="020B0609020204030204" pitchFamily="49" charset="0"/>
                <a:ea typeface="JetBrains Mono"/>
              </a:rPr>
              <a:t> </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33B3"/>
                </a:solidFill>
                <a:effectLst/>
                <a:latin typeface="Consolas" panose="020B0609020204030204" pitchFamily="49" charset="0"/>
                <a:ea typeface="JetBrains Mono"/>
              </a:rPr>
              <a:t>new</a:t>
            </a:r>
            <a:r>
              <a:rPr kumimoji="0" lang="ko-KR" altLang="ko-KR" sz="900" b="0" i="0" u="none" strike="noStrike" cap="none" spc="-40" normalizeH="0" baseline="0" dirty="0">
                <a:ln>
                  <a:noFill/>
                </a:ln>
                <a:solidFill>
                  <a:srgbClr val="0033B3"/>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80808"/>
                </a:solidFill>
                <a:effectLst/>
                <a:latin typeface="Consolas" panose="020B0609020204030204" pitchFamily="49" charset="0"/>
                <a:ea typeface="JetBrains Mono"/>
              </a:rPr>
              <a:t>Hashtable</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&lt;&gt;();</a:t>
            </a:r>
            <a:b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br>
            <a:b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b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33B3"/>
                </a:solidFill>
                <a:effectLst/>
                <a:latin typeface="Consolas" panose="020B0609020204030204" pitchFamily="49" charset="0"/>
                <a:ea typeface="JetBrains Mono"/>
              </a:rPr>
              <a:t>public</a:t>
            </a:r>
            <a:r>
              <a:rPr kumimoji="0" lang="ko-KR" altLang="ko-KR" sz="900" b="0" i="0" u="none" strike="noStrike" cap="none" spc="-40" normalizeH="0" baseline="0" dirty="0">
                <a:ln>
                  <a:noFill/>
                </a:ln>
                <a:solidFill>
                  <a:srgbClr val="0033B3"/>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627A"/>
                </a:solidFill>
                <a:effectLst/>
                <a:latin typeface="Consolas" panose="020B0609020204030204" pitchFamily="49" charset="0"/>
                <a:ea typeface="JetBrains Mono"/>
              </a:rPr>
              <a:t>CafeMenu</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b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b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80808"/>
                </a:solidFill>
                <a:effectLst/>
                <a:latin typeface="Consolas" panose="020B0609020204030204" pitchFamily="49" charset="0"/>
                <a:ea typeface="JetBrains Mono"/>
              </a:rPr>
              <a:t>addItem</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a:t>
            </a:r>
            <a:r>
              <a:rPr kumimoji="0" lang="ko-KR" altLang="ko-KR" sz="900" b="0" i="0" u="none" strike="noStrike" cap="none" spc="-40" normalizeH="0" baseline="0" dirty="0">
                <a:ln>
                  <a:noFill/>
                </a:ln>
                <a:solidFill>
                  <a:srgbClr val="067D17"/>
                </a:solidFill>
                <a:effectLst/>
                <a:latin typeface="Consolas" panose="020B0609020204030204" pitchFamily="49" charset="0"/>
                <a:ea typeface="JetBrains Mono"/>
              </a:rPr>
              <a:t>"</a:t>
            </a:r>
            <a:r>
              <a:rPr kumimoji="0" lang="ko-KR" altLang="ko-KR" sz="900" b="0" i="0" u="none" strike="noStrike" cap="none" spc="-40" normalizeH="0" baseline="0" dirty="0" err="1">
                <a:ln>
                  <a:noFill/>
                </a:ln>
                <a:solidFill>
                  <a:srgbClr val="067D17"/>
                </a:solidFill>
                <a:effectLst/>
                <a:latin typeface="Consolas" panose="020B0609020204030204" pitchFamily="49" charset="0"/>
                <a:ea typeface="JetBrains Mono"/>
              </a:rPr>
              <a:t>Veggie</a:t>
            </a:r>
            <a:r>
              <a:rPr kumimoji="0" lang="ko-KR" altLang="ko-KR" sz="900" b="0" i="0" u="none" strike="noStrike" cap="none" spc="-40" normalizeH="0" baseline="0" dirty="0">
                <a:ln>
                  <a:noFill/>
                </a:ln>
                <a:solidFill>
                  <a:srgbClr val="067D17"/>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67D17"/>
                </a:solidFill>
                <a:effectLst/>
                <a:latin typeface="Consolas" panose="020B0609020204030204" pitchFamily="49" charset="0"/>
                <a:ea typeface="JetBrains Mono"/>
              </a:rPr>
              <a:t>Burger</a:t>
            </a:r>
            <a:r>
              <a:rPr kumimoji="0" lang="ko-KR" altLang="ko-KR" sz="900" b="0" i="0" u="none" strike="noStrike" cap="none" spc="-40" normalizeH="0" baseline="0" dirty="0">
                <a:ln>
                  <a:noFill/>
                </a:ln>
                <a:solidFill>
                  <a:srgbClr val="067D17"/>
                </a:solidFill>
                <a:effectLst/>
                <a:latin typeface="Consolas" panose="020B0609020204030204" pitchFamily="49" charset="0"/>
                <a:ea typeface="JetBrains Mono"/>
              </a:rPr>
              <a:t> and Air </a:t>
            </a:r>
            <a:r>
              <a:rPr kumimoji="0" lang="ko-KR" altLang="ko-KR" sz="900" b="0" i="0" u="none" strike="noStrike" cap="none" spc="-40" normalizeH="0" baseline="0" dirty="0" err="1">
                <a:ln>
                  <a:noFill/>
                </a:ln>
                <a:solidFill>
                  <a:srgbClr val="067D17"/>
                </a:solidFill>
                <a:effectLst/>
                <a:latin typeface="Consolas" panose="020B0609020204030204" pitchFamily="49" charset="0"/>
                <a:ea typeface="JetBrains Mono"/>
              </a:rPr>
              <a:t>Fries</a:t>
            </a:r>
            <a:r>
              <a:rPr kumimoji="0" lang="ko-KR" altLang="ko-KR" sz="900" b="0" i="0" u="none" strike="noStrike" cap="none" spc="-40" normalizeH="0" baseline="0" dirty="0">
                <a:ln>
                  <a:noFill/>
                </a:ln>
                <a:solidFill>
                  <a:srgbClr val="067D17"/>
                </a:solidFill>
                <a:effectLst/>
                <a:latin typeface="Consolas" panose="020B0609020204030204" pitchFamily="49" charset="0"/>
                <a:ea typeface="JetBrains Mono"/>
              </a:rPr>
              <a:t>"</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a:t>
            </a:r>
            <a:b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b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a:ln>
                  <a:noFill/>
                </a:ln>
                <a:solidFill>
                  <a:srgbClr val="067D17"/>
                </a:solidFill>
                <a:effectLst/>
                <a:latin typeface="Consolas" panose="020B0609020204030204" pitchFamily="49" charset="0"/>
                <a:ea typeface="JetBrains Mono"/>
              </a:rPr>
              <a:t>"</a:t>
            </a:r>
            <a:r>
              <a:rPr kumimoji="0" lang="ko-KR" altLang="ko-KR" sz="900" b="0" i="0" u="none" strike="noStrike" cap="none" spc="-40" normalizeH="0" baseline="0" dirty="0" err="1">
                <a:ln>
                  <a:noFill/>
                </a:ln>
                <a:solidFill>
                  <a:srgbClr val="067D17"/>
                </a:solidFill>
                <a:effectLst/>
                <a:latin typeface="Consolas" panose="020B0609020204030204" pitchFamily="49" charset="0"/>
                <a:ea typeface="JetBrains Mono"/>
              </a:rPr>
              <a:t>Veggie</a:t>
            </a:r>
            <a:r>
              <a:rPr kumimoji="0" lang="ko-KR" altLang="ko-KR" sz="900" b="0" i="0" u="none" strike="noStrike" cap="none" spc="-40" normalizeH="0" baseline="0" dirty="0">
                <a:ln>
                  <a:noFill/>
                </a:ln>
                <a:solidFill>
                  <a:srgbClr val="067D17"/>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67D17"/>
                </a:solidFill>
                <a:effectLst/>
                <a:latin typeface="Consolas" panose="020B0609020204030204" pitchFamily="49" charset="0"/>
                <a:ea typeface="JetBrains Mono"/>
              </a:rPr>
              <a:t>burger</a:t>
            </a:r>
            <a:r>
              <a:rPr kumimoji="0" lang="ko-KR" altLang="ko-KR" sz="900" b="0" i="0" u="none" strike="noStrike" cap="none" spc="-40" normalizeH="0" baseline="0" dirty="0">
                <a:ln>
                  <a:noFill/>
                </a:ln>
                <a:solidFill>
                  <a:srgbClr val="067D17"/>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67D17"/>
                </a:solidFill>
                <a:effectLst/>
                <a:latin typeface="Consolas" panose="020B0609020204030204" pitchFamily="49" charset="0"/>
                <a:ea typeface="JetBrains Mono"/>
              </a:rPr>
              <a:t>on</a:t>
            </a:r>
            <a:r>
              <a:rPr kumimoji="0" lang="ko-KR" altLang="ko-KR" sz="900" b="0" i="0" u="none" strike="noStrike" cap="none" spc="-40" normalizeH="0" baseline="0" dirty="0">
                <a:ln>
                  <a:noFill/>
                </a:ln>
                <a:solidFill>
                  <a:srgbClr val="067D17"/>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67D17"/>
                </a:solidFill>
                <a:effectLst/>
                <a:latin typeface="Consolas" panose="020B0609020204030204" pitchFamily="49" charset="0"/>
                <a:ea typeface="JetBrains Mono"/>
              </a:rPr>
              <a:t>a</a:t>
            </a:r>
            <a:r>
              <a:rPr kumimoji="0" lang="ko-KR" altLang="ko-KR" sz="900" b="0" i="0" u="none" strike="noStrike" cap="none" spc="-40" normalizeH="0" baseline="0" dirty="0">
                <a:ln>
                  <a:noFill/>
                </a:ln>
                <a:solidFill>
                  <a:srgbClr val="067D17"/>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67D17"/>
                </a:solidFill>
                <a:effectLst/>
                <a:latin typeface="Consolas" panose="020B0609020204030204" pitchFamily="49" charset="0"/>
                <a:ea typeface="JetBrains Mono"/>
              </a:rPr>
              <a:t>whole</a:t>
            </a:r>
            <a:r>
              <a:rPr kumimoji="0" lang="ko-KR" altLang="ko-KR" sz="900" b="0" i="0" u="none" strike="noStrike" cap="none" spc="-40" normalizeH="0" baseline="0" dirty="0">
                <a:ln>
                  <a:noFill/>
                </a:ln>
                <a:solidFill>
                  <a:srgbClr val="067D17"/>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67D17"/>
                </a:solidFill>
                <a:effectLst/>
                <a:latin typeface="Consolas" panose="020B0609020204030204" pitchFamily="49" charset="0"/>
                <a:ea typeface="JetBrains Mono"/>
              </a:rPr>
              <a:t>wheat</a:t>
            </a:r>
            <a:r>
              <a:rPr kumimoji="0" lang="ko-KR" altLang="ko-KR" sz="900" b="0" i="0" u="none" strike="noStrike" cap="none" spc="-40" normalizeH="0" baseline="0" dirty="0">
                <a:ln>
                  <a:noFill/>
                </a:ln>
                <a:solidFill>
                  <a:srgbClr val="067D17"/>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67D17"/>
                </a:solidFill>
                <a:effectLst/>
                <a:latin typeface="Consolas" panose="020B0609020204030204" pitchFamily="49" charset="0"/>
                <a:ea typeface="JetBrains Mono"/>
              </a:rPr>
              <a:t>bun</a:t>
            </a:r>
            <a:r>
              <a:rPr kumimoji="0" lang="ko-KR" altLang="ko-KR" sz="900" b="0" i="0" u="none" strike="noStrike" cap="none" spc="-40" normalizeH="0" baseline="0" dirty="0">
                <a:ln>
                  <a:noFill/>
                </a:ln>
                <a:solidFill>
                  <a:srgbClr val="067D17"/>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67D17"/>
                </a:solidFill>
                <a:effectLst/>
                <a:latin typeface="Consolas" panose="020B0609020204030204" pitchFamily="49" charset="0"/>
                <a:ea typeface="JetBrains Mono"/>
              </a:rPr>
              <a:t>lettuce</a:t>
            </a:r>
            <a:r>
              <a:rPr kumimoji="0" lang="ko-KR" altLang="ko-KR" sz="900" b="0" i="0" u="none" strike="noStrike" cap="none" spc="-40" normalizeH="0" baseline="0" dirty="0">
                <a:ln>
                  <a:noFill/>
                </a:ln>
                <a:solidFill>
                  <a:srgbClr val="067D17"/>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67D17"/>
                </a:solidFill>
                <a:effectLst/>
                <a:latin typeface="Consolas" panose="020B0609020204030204" pitchFamily="49" charset="0"/>
                <a:ea typeface="JetBrains Mono"/>
              </a:rPr>
              <a:t>tomato</a:t>
            </a:r>
            <a:r>
              <a:rPr kumimoji="0" lang="ko-KR" altLang="ko-KR" sz="900" b="0" i="0" u="none" strike="noStrike" cap="none" spc="-40" normalizeH="0" baseline="0" dirty="0">
                <a:ln>
                  <a:noFill/>
                </a:ln>
                <a:solidFill>
                  <a:srgbClr val="067D17"/>
                </a:solidFill>
                <a:effectLst/>
                <a:latin typeface="Consolas" panose="020B0609020204030204" pitchFamily="49" charset="0"/>
                <a:ea typeface="JetBrains Mono"/>
              </a:rPr>
              <a:t>, and </a:t>
            </a:r>
            <a:r>
              <a:rPr kumimoji="0" lang="ko-KR" altLang="ko-KR" sz="900" b="0" i="0" u="none" strike="noStrike" cap="none" spc="-40" normalizeH="0" baseline="0" dirty="0" err="1">
                <a:ln>
                  <a:noFill/>
                </a:ln>
                <a:solidFill>
                  <a:srgbClr val="067D17"/>
                </a:solidFill>
                <a:effectLst/>
                <a:latin typeface="Consolas" panose="020B0609020204030204" pitchFamily="49" charset="0"/>
                <a:ea typeface="JetBrains Mono"/>
              </a:rPr>
              <a:t>fries</a:t>
            </a:r>
            <a:r>
              <a:rPr kumimoji="0" lang="ko-KR" altLang="ko-KR" sz="900" b="0" i="0" u="none" strike="noStrike" cap="none" spc="-40" normalizeH="0" baseline="0" dirty="0">
                <a:ln>
                  <a:noFill/>
                </a:ln>
                <a:solidFill>
                  <a:srgbClr val="067D17"/>
                </a:solidFill>
                <a:effectLst/>
                <a:latin typeface="Consolas" panose="020B0609020204030204" pitchFamily="49" charset="0"/>
                <a:ea typeface="JetBrains Mono"/>
              </a:rPr>
              <a:t>"</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a:t>
            </a:r>
            <a:b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b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33B3"/>
                </a:solidFill>
                <a:effectLst/>
                <a:latin typeface="Consolas" panose="020B0609020204030204" pitchFamily="49" charset="0"/>
                <a:ea typeface="JetBrains Mono"/>
              </a:rPr>
              <a:t>true</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a:ln>
                  <a:noFill/>
                </a:ln>
                <a:solidFill>
                  <a:srgbClr val="1750EB"/>
                </a:solidFill>
                <a:effectLst/>
                <a:latin typeface="Consolas" panose="020B0609020204030204" pitchFamily="49" charset="0"/>
                <a:ea typeface="JetBrains Mono"/>
              </a:rPr>
              <a:t>3.99</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a:t>
            </a:r>
            <a:b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b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en-US" altLang="ko-KR" sz="900" b="0" i="0" u="none" strike="noStrike" cap="none" spc="-40" normalizeH="0" baseline="0" dirty="0">
                <a:ln>
                  <a:noFill/>
                </a:ln>
                <a:solidFill>
                  <a:srgbClr val="080808"/>
                </a:solidFill>
                <a:effectLst/>
                <a:latin typeface="Consolas" panose="020B0609020204030204" pitchFamily="49" charset="0"/>
                <a:ea typeface="JetBrains Mono"/>
              </a:rPr>
              <a:t>//</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en-US" altLang="ko-KR" sz="900" b="0" i="0" u="none" strike="noStrike" cap="none" spc="-40" normalizeH="0" baseline="0" dirty="0">
                <a:ln>
                  <a:noFill/>
                </a:ln>
                <a:solidFill>
                  <a:srgbClr val="080808"/>
                </a:solidFill>
                <a:effectLst/>
                <a:latin typeface="Consolas" panose="020B0609020204030204" pitchFamily="49" charset="0"/>
                <a:ea typeface="JetBrains Mono"/>
              </a:rPr>
              <a:t>……</a:t>
            </a:r>
            <a:b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b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b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br>
            <a:b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b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33B3"/>
                </a:solidFill>
                <a:effectLst/>
                <a:latin typeface="Consolas" panose="020B0609020204030204" pitchFamily="49" charset="0"/>
                <a:ea typeface="JetBrains Mono"/>
              </a:rPr>
              <a:t>private</a:t>
            </a:r>
            <a:r>
              <a:rPr kumimoji="0" lang="ko-KR" altLang="ko-KR" sz="900" b="0" i="0" u="none" strike="noStrike" cap="none" spc="-40" normalizeH="0" baseline="0" dirty="0">
                <a:ln>
                  <a:noFill/>
                </a:ln>
                <a:solidFill>
                  <a:srgbClr val="0033B3"/>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33B3"/>
                </a:solidFill>
                <a:effectLst/>
                <a:latin typeface="Consolas" panose="020B0609020204030204" pitchFamily="49" charset="0"/>
                <a:ea typeface="JetBrains Mono"/>
              </a:rPr>
              <a:t>void</a:t>
            </a:r>
            <a:r>
              <a:rPr kumimoji="0" lang="ko-KR" altLang="ko-KR" sz="900" b="0" i="0" u="none" strike="noStrike" cap="none" spc="-40" normalizeH="0" baseline="0" dirty="0">
                <a:ln>
                  <a:noFill/>
                </a:ln>
                <a:solidFill>
                  <a:srgbClr val="0033B3"/>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627A"/>
                </a:solidFill>
                <a:effectLst/>
                <a:latin typeface="Consolas" panose="020B0609020204030204" pitchFamily="49" charset="0"/>
                <a:ea typeface="JetBrains Mono"/>
              </a:rPr>
              <a:t>addItem</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a:t>
            </a:r>
            <a:endParaRPr kumimoji="0" lang="en-US" altLang="ko-KR" sz="900" b="0" i="0" u="none" strike="noStrike" cap="none" spc="-40" normalizeH="0" baseline="0" dirty="0">
              <a:ln>
                <a:noFill/>
              </a:ln>
              <a:solidFill>
                <a:srgbClr val="080808"/>
              </a:solidFill>
              <a:effectLst/>
              <a:latin typeface="Consolas" panose="020B0609020204030204" pitchFamily="49" charset="0"/>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900" spc="-40" dirty="0">
                <a:solidFill>
                  <a:srgbClr val="080808"/>
                </a:solidFill>
                <a:latin typeface="Consolas" panose="020B0609020204030204" pitchFamily="49" charset="0"/>
                <a:ea typeface="JetBrains Mono"/>
              </a:rPr>
              <a:t>       </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String</a:t>
            </a:r>
            <a:r>
              <a:rPr kumimoji="0" lang="ko-KR" altLang="ko-KR" sz="900" b="0" i="0" u="none" strike="noStrike" cap="none" spc="-40" normalizeH="0" baseline="0" dirty="0">
                <a:ln>
                  <a:noFill/>
                </a:ln>
                <a:solidFill>
                  <a:srgbClr val="000000"/>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name</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String</a:t>
            </a:r>
            <a:r>
              <a:rPr kumimoji="0" lang="ko-KR" altLang="ko-KR" sz="900" b="0" i="0" u="none" strike="noStrike" cap="none" spc="-40" normalizeH="0" baseline="0" dirty="0">
                <a:ln>
                  <a:noFill/>
                </a:ln>
                <a:solidFill>
                  <a:srgbClr val="000000"/>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description</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33B3"/>
                </a:solidFill>
                <a:effectLst/>
                <a:latin typeface="Consolas" panose="020B0609020204030204" pitchFamily="49" charset="0"/>
                <a:ea typeface="JetBrains Mono"/>
              </a:rPr>
              <a:t>boolean</a:t>
            </a:r>
            <a:r>
              <a:rPr kumimoji="0" lang="ko-KR" altLang="ko-KR" sz="900" b="0" i="0" u="none" strike="noStrike" cap="none" spc="-40" normalizeH="0" baseline="0" dirty="0">
                <a:ln>
                  <a:noFill/>
                </a:ln>
                <a:solidFill>
                  <a:srgbClr val="0033B3"/>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vegetarian</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33B3"/>
                </a:solidFill>
                <a:effectLst/>
                <a:latin typeface="Consolas" panose="020B0609020204030204" pitchFamily="49" charset="0"/>
                <a:ea typeface="JetBrains Mono"/>
              </a:rPr>
              <a:t>double</a:t>
            </a:r>
            <a:r>
              <a:rPr kumimoji="0" lang="ko-KR" altLang="ko-KR" sz="900" b="0" i="0" u="none" strike="noStrike" cap="none" spc="-40" normalizeH="0" baseline="0" dirty="0">
                <a:ln>
                  <a:noFill/>
                </a:ln>
                <a:solidFill>
                  <a:srgbClr val="0033B3"/>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price</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b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b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MenuItem</a:t>
            </a:r>
            <a:r>
              <a:rPr kumimoji="0" lang="ko-KR" altLang="ko-KR" sz="900" b="0" i="0" u="none" strike="noStrike" cap="none" spc="-40" normalizeH="0" baseline="0" dirty="0">
                <a:ln>
                  <a:noFill/>
                </a:ln>
                <a:solidFill>
                  <a:srgbClr val="000000"/>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item</a:t>
            </a:r>
            <a:r>
              <a:rPr kumimoji="0" lang="ko-KR" altLang="ko-KR" sz="900" b="0" i="0" u="none" strike="noStrike" cap="none" spc="-40" normalizeH="0" baseline="0" dirty="0">
                <a:ln>
                  <a:noFill/>
                </a:ln>
                <a:solidFill>
                  <a:srgbClr val="000000"/>
                </a:solidFill>
                <a:effectLst/>
                <a:latin typeface="Consolas" panose="020B0609020204030204" pitchFamily="49" charset="0"/>
                <a:ea typeface="JetBrains Mono"/>
              </a:rPr>
              <a:t> </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33B3"/>
                </a:solidFill>
                <a:effectLst/>
                <a:latin typeface="Consolas" panose="020B0609020204030204" pitchFamily="49" charset="0"/>
                <a:ea typeface="JetBrains Mono"/>
              </a:rPr>
              <a:t>new</a:t>
            </a:r>
            <a:r>
              <a:rPr kumimoji="0" lang="ko-KR" altLang="ko-KR" sz="900" b="0" i="0" u="none" strike="noStrike" cap="none" spc="-40" normalizeH="0" baseline="0" dirty="0">
                <a:ln>
                  <a:noFill/>
                </a:ln>
                <a:solidFill>
                  <a:srgbClr val="0033B3"/>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80808"/>
                </a:solidFill>
                <a:effectLst/>
                <a:latin typeface="Consolas" panose="020B0609020204030204" pitchFamily="49" charset="0"/>
                <a:ea typeface="JetBrains Mono"/>
              </a:rPr>
              <a:t>MenuItem</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name</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description</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vegetarian</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price</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a:t>
            </a:r>
            <a:b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b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871094"/>
                </a:solidFill>
                <a:effectLst/>
                <a:latin typeface="Consolas" panose="020B0609020204030204" pitchFamily="49" charset="0"/>
                <a:ea typeface="JetBrains Mono"/>
              </a:rPr>
              <a:t>menuItems</a:t>
            </a:r>
            <a:r>
              <a:rPr kumimoji="0" lang="ko-KR" altLang="ko-KR" sz="900" b="0" i="0" u="none" strike="noStrike" cap="none" spc="-40" normalizeH="0" baseline="0" dirty="0" err="1">
                <a:ln>
                  <a:noFill/>
                </a:ln>
                <a:solidFill>
                  <a:srgbClr val="080808"/>
                </a:solidFill>
                <a:effectLst/>
                <a:latin typeface="Consolas" panose="020B0609020204030204" pitchFamily="49" charset="0"/>
                <a:ea typeface="JetBrains Mono"/>
              </a:rPr>
              <a:t>.put</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item</a:t>
            </a:r>
            <a:r>
              <a:rPr kumimoji="0" lang="ko-KR" altLang="ko-KR" sz="900" b="0" i="0" u="none" strike="noStrike" cap="none" spc="-40" normalizeH="0" baseline="0" dirty="0" err="1">
                <a:ln>
                  <a:noFill/>
                </a:ln>
                <a:solidFill>
                  <a:srgbClr val="080808"/>
                </a:solidFill>
                <a:effectLst/>
                <a:latin typeface="Consolas" panose="020B0609020204030204" pitchFamily="49" charset="0"/>
                <a:ea typeface="JetBrains Mono"/>
              </a:rPr>
              <a:t>.getName</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item</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a:t>
            </a:r>
            <a:b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b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b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br>
            <a:b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b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a:ln>
                  <a:noFill/>
                </a:ln>
                <a:solidFill>
                  <a:srgbClr val="9E880D"/>
                </a:solidFill>
                <a:effectLst/>
                <a:latin typeface="Consolas" panose="020B0609020204030204" pitchFamily="49" charset="0"/>
                <a:ea typeface="JetBrains Mono"/>
              </a:rPr>
              <a:t>@</a:t>
            </a:r>
            <a:r>
              <a:rPr kumimoji="0" lang="ko-KR" altLang="ko-KR" sz="900" b="0" i="0" u="none" strike="noStrike" cap="none" spc="-40" normalizeH="0" baseline="0" dirty="0" err="1">
                <a:ln>
                  <a:noFill/>
                </a:ln>
                <a:solidFill>
                  <a:srgbClr val="9E880D"/>
                </a:solidFill>
                <a:effectLst/>
                <a:latin typeface="Consolas" panose="020B0609020204030204" pitchFamily="49" charset="0"/>
                <a:ea typeface="JetBrains Mono"/>
              </a:rPr>
              <a:t>Override</a:t>
            </a:r>
            <a:br>
              <a:rPr kumimoji="0" lang="ko-KR" altLang="ko-KR" sz="900" b="0" i="0" u="none" strike="noStrike" cap="none" spc="-40" normalizeH="0" baseline="0" dirty="0">
                <a:ln>
                  <a:noFill/>
                </a:ln>
                <a:solidFill>
                  <a:srgbClr val="9E880D"/>
                </a:solidFill>
                <a:effectLst/>
                <a:latin typeface="Consolas" panose="020B0609020204030204" pitchFamily="49" charset="0"/>
                <a:ea typeface="JetBrains Mono"/>
              </a:rPr>
            </a:br>
            <a:r>
              <a:rPr kumimoji="0" lang="ko-KR" altLang="ko-KR" sz="900" b="0" i="0" u="none" strike="noStrike" cap="none" spc="-40" normalizeH="0" baseline="0" dirty="0">
                <a:ln>
                  <a:noFill/>
                </a:ln>
                <a:solidFill>
                  <a:srgbClr val="9E880D"/>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33B3"/>
                </a:solidFill>
                <a:effectLst/>
                <a:latin typeface="Consolas" panose="020B0609020204030204" pitchFamily="49" charset="0"/>
                <a:ea typeface="JetBrains Mono"/>
              </a:rPr>
              <a:t>public</a:t>
            </a:r>
            <a:r>
              <a:rPr kumimoji="0" lang="ko-KR" altLang="ko-KR" sz="900" b="0" i="0" u="none" strike="noStrike" cap="none" spc="-40" normalizeH="0" baseline="0" dirty="0">
                <a:ln>
                  <a:noFill/>
                </a:ln>
                <a:solidFill>
                  <a:srgbClr val="0033B3"/>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0000"/>
                </a:solidFill>
                <a:effectLst/>
                <a:latin typeface="Consolas" panose="020B0609020204030204" pitchFamily="49" charset="0"/>
                <a:ea typeface="JetBrains Mono"/>
              </a:rPr>
              <a:t>Iterator</a:t>
            </a:r>
            <a:r>
              <a:rPr kumimoji="0" lang="ko-KR" altLang="ko-KR" sz="900" b="0" i="0" u="none" strike="noStrike" cap="none" spc="-40" normalizeH="0" baseline="0" dirty="0">
                <a:ln>
                  <a:noFill/>
                </a:ln>
                <a:solidFill>
                  <a:srgbClr val="000000"/>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627A"/>
                </a:solidFill>
                <a:effectLst/>
                <a:latin typeface="Consolas" panose="020B0609020204030204" pitchFamily="49" charset="0"/>
                <a:ea typeface="JetBrains Mono"/>
              </a:rPr>
              <a:t>createIterator</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b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b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0033B3"/>
                </a:solidFill>
                <a:effectLst/>
                <a:latin typeface="Consolas" panose="020B0609020204030204" pitchFamily="49" charset="0"/>
                <a:ea typeface="JetBrains Mono"/>
              </a:rPr>
              <a:t>return</a:t>
            </a:r>
            <a:r>
              <a:rPr kumimoji="0" lang="ko-KR" altLang="ko-KR" sz="900" b="0" i="0" u="none" strike="noStrike" cap="none" spc="-40" normalizeH="0" baseline="0" dirty="0">
                <a:ln>
                  <a:noFill/>
                </a:ln>
                <a:solidFill>
                  <a:srgbClr val="0033B3"/>
                </a:solidFill>
                <a:effectLst/>
                <a:latin typeface="Consolas" panose="020B0609020204030204" pitchFamily="49" charset="0"/>
                <a:ea typeface="JetBrains Mono"/>
              </a:rPr>
              <a:t> </a:t>
            </a:r>
            <a:r>
              <a:rPr kumimoji="0" lang="ko-KR" altLang="ko-KR" sz="900" b="0" i="0" u="none" strike="noStrike" cap="none" spc="-40" normalizeH="0" baseline="0" dirty="0" err="1">
                <a:ln>
                  <a:noFill/>
                </a:ln>
                <a:solidFill>
                  <a:srgbClr val="871094"/>
                </a:solidFill>
                <a:effectLst/>
                <a:latin typeface="Consolas" panose="020B0609020204030204" pitchFamily="49" charset="0"/>
                <a:ea typeface="JetBrains Mono"/>
              </a:rPr>
              <a:t>menuItems</a:t>
            </a:r>
            <a:r>
              <a:rPr kumimoji="0" lang="ko-KR" altLang="ko-KR" sz="900" b="0" i="0" u="none" strike="noStrike" cap="none" spc="-40" normalizeH="0" baseline="0" dirty="0" err="1">
                <a:ln>
                  <a:noFill/>
                </a:ln>
                <a:solidFill>
                  <a:srgbClr val="080808"/>
                </a:solidFill>
                <a:effectLst/>
                <a:latin typeface="Consolas" panose="020B0609020204030204" pitchFamily="49" charset="0"/>
                <a:ea typeface="JetBrains Mono"/>
              </a:rPr>
              <a:t>.values</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a:t>
            </a:r>
            <a:r>
              <a:rPr kumimoji="0" lang="ko-KR" altLang="ko-KR" sz="900" b="0" i="0" u="none" strike="noStrike" cap="none" spc="-40" normalizeH="0" baseline="0" dirty="0" err="1">
                <a:ln>
                  <a:noFill/>
                </a:ln>
                <a:solidFill>
                  <a:srgbClr val="080808"/>
                </a:solidFill>
                <a:effectLst/>
                <a:latin typeface="Consolas" panose="020B0609020204030204" pitchFamily="49" charset="0"/>
                <a:ea typeface="JetBrains Mono"/>
              </a:rPr>
              <a:t>iterator</a:t>
            </a: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a:t>
            </a:r>
            <a:b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b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    }</a:t>
            </a:r>
            <a:b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br>
            <a:r>
              <a:rPr kumimoji="0" lang="ko-KR" altLang="ko-KR" sz="900" b="0" i="0" u="none" strike="noStrike" cap="none" spc="-40" normalizeH="0" baseline="0" dirty="0">
                <a:ln>
                  <a:noFill/>
                </a:ln>
                <a:solidFill>
                  <a:srgbClr val="080808"/>
                </a:solidFill>
                <a:effectLst/>
                <a:latin typeface="Consolas" panose="020B0609020204030204" pitchFamily="49" charset="0"/>
                <a:ea typeface="JetBrains Mono"/>
              </a:rPr>
              <a:t>}</a:t>
            </a:r>
            <a:endParaRPr kumimoji="0" lang="ko-KR" altLang="ko-KR" sz="1800" b="0" i="0" u="none" strike="noStrike" cap="none" spc="-40" normalizeH="0" baseline="0" dirty="0">
              <a:ln>
                <a:noFill/>
              </a:ln>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4118057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6BC9CEE1-A1D3-FF5F-058B-6C938FBE2BBD}"/>
              </a:ext>
            </a:extLst>
          </p:cNvPr>
          <p:cNvSpPr>
            <a:spLocks noGrp="1"/>
          </p:cNvSpPr>
          <p:nvPr>
            <p:ph type="title"/>
          </p:nvPr>
        </p:nvSpPr>
        <p:spPr/>
        <p:txBody>
          <a:bodyPr vert="horz" lIns="75927" tIns="37964" rIns="75927" bIns="37964" rtlCol="0" anchor="ctr">
            <a:normAutofit/>
          </a:bodyPr>
          <a:lstStyle/>
          <a:p>
            <a:r>
              <a:rPr lang="en-US" altLang="ko-Kore-KR" spc="0" dirty="0"/>
              <a:t>Mediator Pattern – Class Diagram</a:t>
            </a:r>
            <a:endParaRPr lang="ko-Kore-KR" altLang="en-US" spc="0" dirty="0"/>
          </a:p>
        </p:txBody>
      </p:sp>
      <p:pic>
        <p:nvPicPr>
          <p:cNvPr id="5" name="그림 4"/>
          <p:cNvPicPr>
            <a:picLocks noChangeAspect="1"/>
          </p:cNvPicPr>
          <p:nvPr/>
        </p:nvPicPr>
        <p:blipFill>
          <a:blip r:embed="rId2"/>
          <a:stretch>
            <a:fillRect/>
          </a:stretch>
        </p:blipFill>
        <p:spPr>
          <a:xfrm>
            <a:off x="4819827" y="1046986"/>
            <a:ext cx="4072653" cy="2612510"/>
          </a:xfrm>
          <a:prstGeom prst="rect">
            <a:avLst/>
          </a:prstGeom>
        </p:spPr>
      </p:pic>
      <p:pic>
        <p:nvPicPr>
          <p:cNvPr id="6" name="그림 5"/>
          <p:cNvPicPr>
            <a:picLocks noChangeAspect="1"/>
          </p:cNvPicPr>
          <p:nvPr/>
        </p:nvPicPr>
        <p:blipFill>
          <a:blip r:embed="rId3"/>
          <a:stretch>
            <a:fillRect/>
          </a:stretch>
        </p:blipFill>
        <p:spPr>
          <a:xfrm>
            <a:off x="107504" y="1059583"/>
            <a:ext cx="4104456" cy="2583278"/>
          </a:xfrm>
          <a:prstGeom prst="rect">
            <a:avLst/>
          </a:prstGeom>
        </p:spPr>
      </p:pic>
    </p:spTree>
    <p:extLst>
      <p:ext uri="{BB962C8B-B14F-4D97-AF65-F5344CB8AC3E}">
        <p14:creationId xmlns:p14="http://schemas.microsoft.com/office/powerpoint/2010/main" val="41548042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p:txBody>
          <a:bodyPr>
            <a:normAutofit/>
          </a:bodyPr>
          <a:lstStyle/>
          <a:p>
            <a:pPr marL="91463" indent="0">
              <a:buNone/>
            </a:pPr>
            <a:endParaRPr lang="en-US" altLang="ko-KR" sz="1200" dirty="0"/>
          </a:p>
          <a:p>
            <a:r>
              <a:rPr lang="ko-KR" altLang="en-US" sz="1200" b="1" dirty="0">
                <a:solidFill>
                  <a:srgbClr val="2A2D72"/>
                </a:solidFill>
              </a:rPr>
              <a:t>로그인 조건 변경 </a:t>
            </a:r>
            <a:endParaRPr lang="en-US" altLang="ko-KR" sz="1200" b="1" dirty="0">
              <a:solidFill>
                <a:srgbClr val="2A2D72"/>
              </a:solidFill>
            </a:endParaRPr>
          </a:p>
          <a:p>
            <a:pPr lvl="1"/>
            <a:r>
              <a:rPr lang="ko-KR" altLang="en-US" sz="1200" dirty="0"/>
              <a:t>현재 조건</a:t>
            </a:r>
            <a:br>
              <a:rPr lang="en-US" altLang="ko-KR" sz="1200" dirty="0"/>
            </a:br>
            <a:r>
              <a:rPr lang="en-US" altLang="ko-KR" sz="1200" dirty="0"/>
              <a:t>1) Login </a:t>
            </a:r>
            <a:r>
              <a:rPr lang="ko-KR" altLang="en-US" sz="1200" dirty="0"/>
              <a:t>체크</a:t>
            </a:r>
            <a:br>
              <a:rPr lang="en-US" altLang="ko-KR" sz="1200" dirty="0"/>
            </a:br>
            <a:r>
              <a:rPr lang="en-US" altLang="ko-KR" sz="1200" dirty="0"/>
              <a:t>2) Username</a:t>
            </a:r>
            <a:r>
              <a:rPr lang="ko-KR" altLang="en-US" sz="1200" dirty="0"/>
              <a:t>에 </a:t>
            </a:r>
            <a:r>
              <a:rPr lang="en-US" altLang="ko-KR" sz="1200" dirty="0"/>
              <a:t>1</a:t>
            </a:r>
            <a:r>
              <a:rPr lang="ko-KR" altLang="en-US" sz="1200" dirty="0"/>
              <a:t>자 이상 입력</a:t>
            </a:r>
            <a:endParaRPr lang="en-US" altLang="ko-KR" sz="1200" dirty="0"/>
          </a:p>
          <a:p>
            <a:pPr lvl="1"/>
            <a:r>
              <a:rPr lang="ko-KR" altLang="en-US" sz="1200" dirty="0"/>
              <a:t>이중 두번째 조건을 아래와 같이 </a:t>
            </a:r>
            <a:r>
              <a:rPr lang="ko-KR" altLang="en-US" sz="1200" dirty="0" err="1"/>
              <a:t>변경하시오</a:t>
            </a:r>
            <a:r>
              <a:rPr lang="en-US" altLang="ko-KR" sz="1200" dirty="0"/>
              <a:t>.</a:t>
            </a:r>
            <a:br>
              <a:rPr lang="en-US" altLang="ko-KR" sz="1200" dirty="0"/>
            </a:br>
            <a:r>
              <a:rPr lang="en-US" altLang="ko-KR" sz="1200" dirty="0"/>
              <a:t>2) Username, Password </a:t>
            </a:r>
            <a:r>
              <a:rPr lang="ko-KR" altLang="en-US" sz="1200" dirty="0"/>
              <a:t>필드에 각각 </a:t>
            </a:r>
            <a:r>
              <a:rPr lang="en-US" altLang="ko-KR" sz="1200" dirty="0"/>
              <a:t>4</a:t>
            </a:r>
            <a:r>
              <a:rPr lang="ko-KR" altLang="en-US" sz="1200" dirty="0"/>
              <a:t>자 이상 입력</a:t>
            </a:r>
            <a:br>
              <a:rPr lang="en-US" altLang="ko-KR" sz="1200" dirty="0"/>
            </a:br>
            <a:r>
              <a:rPr lang="en-US" altLang="ko-KR" sz="1200" dirty="0"/>
              <a:t> </a:t>
            </a:r>
            <a:r>
              <a:rPr lang="en-US" altLang="ko-KR" sz="1200" dirty="0">
                <a:solidFill>
                  <a:srgbClr val="0000FF"/>
                </a:solidFill>
              </a:rPr>
              <a:t>( </a:t>
            </a:r>
            <a:r>
              <a:rPr lang="en-US" altLang="ko-KR" sz="1200" dirty="0" err="1">
                <a:solidFill>
                  <a:srgbClr val="0000FF"/>
                </a:solidFill>
              </a:rPr>
              <a:t>LoginFrame</a:t>
            </a:r>
            <a:r>
              <a:rPr lang="en-US" altLang="ko-KR" sz="1200" dirty="0">
                <a:solidFill>
                  <a:srgbClr val="0000FF"/>
                </a:solidFill>
              </a:rPr>
              <a:t> ( Mediator ) </a:t>
            </a:r>
            <a:r>
              <a:rPr lang="ko-KR" altLang="en-US" sz="1200" dirty="0">
                <a:solidFill>
                  <a:srgbClr val="0000FF"/>
                </a:solidFill>
              </a:rPr>
              <a:t>에 </a:t>
            </a:r>
            <a:r>
              <a:rPr lang="en-US" altLang="ko-KR" sz="1200" dirty="0" err="1">
                <a:solidFill>
                  <a:srgbClr val="0000FF"/>
                </a:solidFill>
              </a:rPr>
              <a:t>userpassChanged</a:t>
            </a:r>
            <a:r>
              <a:rPr lang="en-US" altLang="ko-KR" sz="1200" dirty="0">
                <a:solidFill>
                  <a:srgbClr val="0000FF"/>
                </a:solidFill>
              </a:rPr>
              <a:t> </a:t>
            </a:r>
            <a:r>
              <a:rPr lang="ko-KR" altLang="en-US" sz="1200" dirty="0">
                <a:solidFill>
                  <a:srgbClr val="0000FF"/>
                </a:solidFill>
              </a:rPr>
              <a:t>조건 변경 </a:t>
            </a:r>
            <a:r>
              <a:rPr lang="en-US" altLang="ko-KR" sz="1200" dirty="0">
                <a:solidFill>
                  <a:srgbClr val="0000FF"/>
                </a:solidFill>
              </a:rPr>
              <a:t>)</a:t>
            </a:r>
            <a:endParaRPr lang="ko-KR" altLang="en-US" sz="1200" dirty="0">
              <a:solidFill>
                <a:srgbClr val="0000FF"/>
              </a:solidFill>
            </a:endParaRPr>
          </a:p>
        </p:txBody>
      </p:sp>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6] Mediator Pattern</a:t>
            </a:r>
            <a:endParaRPr lang="ko-KR" altLang="en-US" spc="0" dirty="0"/>
          </a:p>
        </p:txBody>
      </p:sp>
      <p:sp>
        <p:nvSpPr>
          <p:cNvPr id="4" name="직사각형 3"/>
          <p:cNvSpPr/>
          <p:nvPr/>
        </p:nvSpPr>
        <p:spPr>
          <a:xfrm>
            <a:off x="251520" y="771550"/>
            <a:ext cx="3960440" cy="276999"/>
          </a:xfrm>
          <a:prstGeom prst="rect">
            <a:avLst/>
          </a:prstGeom>
          <a:solidFill>
            <a:schemeClr val="accent1">
              <a:lumMod val="20000"/>
              <a:lumOff val="80000"/>
            </a:schemeClr>
          </a:solidFill>
        </p:spPr>
        <p:txBody>
          <a:bodyPr wrap="square">
            <a:spAutoFit/>
          </a:bodyPr>
          <a:lstStyle/>
          <a:p>
            <a:r>
              <a:rPr lang="en-US" altLang="ko-KR" sz="1200" b="1" dirty="0"/>
              <a:t>[</a:t>
            </a:r>
            <a:r>
              <a:rPr lang="ko-KR" altLang="en-US" sz="1200" b="1" dirty="0"/>
              <a:t>실습 코드</a:t>
            </a:r>
            <a:r>
              <a:rPr lang="en-US" altLang="ko-KR" sz="1200" b="1" dirty="0"/>
              <a:t>] </a:t>
            </a:r>
            <a:r>
              <a:rPr lang="en-US" altLang="ko-KR" sz="1200" dirty="0"/>
              <a:t>6_hiroshi.mediatorProblem</a:t>
            </a:r>
          </a:p>
        </p:txBody>
      </p:sp>
      <p:pic>
        <p:nvPicPr>
          <p:cNvPr id="5" name="그림 4"/>
          <p:cNvPicPr>
            <a:picLocks noChangeAspect="1"/>
          </p:cNvPicPr>
          <p:nvPr/>
        </p:nvPicPr>
        <p:blipFill>
          <a:blip r:embed="rId2"/>
          <a:stretch>
            <a:fillRect/>
          </a:stretch>
        </p:blipFill>
        <p:spPr>
          <a:xfrm>
            <a:off x="4932040" y="1419622"/>
            <a:ext cx="2736304" cy="1785798"/>
          </a:xfrm>
          <a:prstGeom prst="rect">
            <a:avLst/>
          </a:prstGeom>
        </p:spPr>
      </p:pic>
    </p:spTree>
    <p:extLst>
      <p:ext uri="{BB962C8B-B14F-4D97-AF65-F5344CB8AC3E}">
        <p14:creationId xmlns:p14="http://schemas.microsoft.com/office/powerpoint/2010/main" val="19376534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6] Mediator Pattern (solution)</a:t>
            </a:r>
            <a:endParaRPr lang="ko-KR" altLang="en-US" spc="0" dirty="0"/>
          </a:p>
        </p:txBody>
      </p:sp>
      <p:pic>
        <p:nvPicPr>
          <p:cNvPr id="4" name="그림 3"/>
          <p:cNvPicPr>
            <a:picLocks noChangeAspect="1"/>
          </p:cNvPicPr>
          <p:nvPr/>
        </p:nvPicPr>
        <p:blipFill rotWithShape="1">
          <a:blip r:embed="rId3"/>
          <a:srcRect l="2106" t="1789"/>
          <a:stretch/>
        </p:blipFill>
        <p:spPr>
          <a:xfrm>
            <a:off x="764400" y="627534"/>
            <a:ext cx="7624024" cy="2567034"/>
          </a:xfrm>
          <a:prstGeom prst="rect">
            <a:avLst/>
          </a:prstGeom>
        </p:spPr>
      </p:pic>
      <p:cxnSp>
        <p:nvCxnSpPr>
          <p:cNvPr id="5" name="직선 연결선 4"/>
          <p:cNvCxnSpPr/>
          <p:nvPr/>
        </p:nvCxnSpPr>
        <p:spPr>
          <a:xfrm>
            <a:off x="1844008" y="2931790"/>
            <a:ext cx="900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pic>
        <p:nvPicPr>
          <p:cNvPr id="6" name="그림 5"/>
          <p:cNvPicPr>
            <a:picLocks noChangeAspect="1"/>
          </p:cNvPicPr>
          <p:nvPr/>
        </p:nvPicPr>
        <p:blipFill rotWithShape="1">
          <a:blip r:embed="rId4"/>
          <a:srcRect t="13166"/>
          <a:stretch/>
        </p:blipFill>
        <p:spPr>
          <a:xfrm>
            <a:off x="1547664" y="3363838"/>
            <a:ext cx="5879132" cy="1442524"/>
          </a:xfrm>
          <a:prstGeom prst="rect">
            <a:avLst/>
          </a:prstGeom>
        </p:spPr>
      </p:pic>
    </p:spTree>
    <p:extLst>
      <p:ext uri="{BB962C8B-B14F-4D97-AF65-F5344CB8AC3E}">
        <p14:creationId xmlns:p14="http://schemas.microsoft.com/office/powerpoint/2010/main" val="26509520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2915816" y="1821832"/>
            <a:ext cx="5976664" cy="2190079"/>
          </a:xfrm>
        </p:spPr>
        <p:txBody>
          <a:bodyPr>
            <a:noAutofit/>
          </a:bodyPr>
          <a:lstStyle/>
          <a:p>
            <a:r>
              <a:rPr lang="en-US" altLang="ko-KR" sz="1600" dirty="0"/>
              <a:t>[</a:t>
            </a:r>
            <a:r>
              <a:rPr lang="ko-KR" altLang="en-US" sz="1600" dirty="0"/>
              <a:t>필수</a:t>
            </a:r>
            <a:r>
              <a:rPr lang="en-US" altLang="ko-KR" sz="1600" dirty="0"/>
              <a:t>]</a:t>
            </a:r>
            <a:br>
              <a:rPr lang="en-US" altLang="ko-KR" b="0" dirty="0"/>
            </a:br>
            <a:r>
              <a:rPr lang="en-US" altLang="ko-KR" sz="2000" b="0" dirty="0"/>
              <a:t>11. Factory Method &amp; Abstract Factory Patterns </a:t>
            </a:r>
            <a:r>
              <a:rPr lang="en-US" altLang="ko-KR" sz="1600" b="0" dirty="0"/>
              <a:t>(55min)</a:t>
            </a:r>
            <a:br>
              <a:rPr lang="en-US" altLang="ko-KR" sz="2000" b="0" dirty="0"/>
            </a:br>
            <a:r>
              <a:rPr lang="en-US" altLang="ko-KR" sz="2000" b="0" dirty="0"/>
              <a:t>12. Builder </a:t>
            </a:r>
            <a:r>
              <a:rPr lang="en-US" altLang="ko-KR" sz="1600" b="0" dirty="0"/>
              <a:t>(20min)</a:t>
            </a:r>
            <a:br>
              <a:rPr lang="en-US" altLang="ko-KR" sz="1600" b="0" dirty="0">
                <a:solidFill>
                  <a:schemeClr val="tx2">
                    <a:lumMod val="40000"/>
                    <a:lumOff val="60000"/>
                  </a:schemeClr>
                </a:solidFill>
              </a:rPr>
            </a:br>
            <a:r>
              <a:rPr lang="en-US" altLang="ko-KR" sz="2000" b="0" dirty="0"/>
              <a:t>03. Prototype Pattern </a:t>
            </a:r>
            <a:r>
              <a:rPr lang="en-US" altLang="ko-KR" sz="1600" b="0" dirty="0"/>
              <a:t>(38min)</a:t>
            </a:r>
            <a:br>
              <a:rPr lang="en-US" altLang="ko-KR" sz="1600" b="0" dirty="0"/>
            </a:br>
            <a:r>
              <a:rPr lang="en-US" altLang="ko-KR" sz="1600" b="0" dirty="0"/>
              <a:t> - 2.2 Design Patterns </a:t>
            </a:r>
            <a:r>
              <a:rPr lang="ko-KR" altLang="en-US" sz="1600" b="0" dirty="0"/>
              <a:t>이론</a:t>
            </a:r>
            <a:r>
              <a:rPr lang="en-US" altLang="ko-KR" sz="1600" b="0" dirty="0"/>
              <a:t>(</a:t>
            </a:r>
            <a:r>
              <a:rPr lang="ko-KR" altLang="en-US" sz="1600" b="0" dirty="0" err="1"/>
              <a:t>추가패턴</a:t>
            </a:r>
            <a:r>
              <a:rPr lang="en-US" altLang="ko-KR" sz="1600" b="0" dirty="0"/>
              <a:t>).pdf</a:t>
            </a:r>
            <a:br>
              <a:rPr lang="en-US" altLang="ko-KR" b="0" dirty="0"/>
            </a:br>
            <a:br>
              <a:rPr lang="en-US" altLang="ko-KR" sz="2000" b="0" dirty="0"/>
            </a:br>
            <a:r>
              <a:rPr lang="en-US" altLang="ko-KR" sz="1600" spc="-150" dirty="0">
                <a:ln>
                  <a:noFill/>
                </a:ln>
                <a:solidFill>
                  <a:srgbClr val="B2CCEC"/>
                </a:solidFill>
                <a:latin typeface="+mn-ea"/>
                <a:ea typeface="+mn-ea"/>
              </a:rPr>
              <a:t>[</a:t>
            </a:r>
            <a:r>
              <a:rPr lang="ko-KR" altLang="en-US" sz="1600" spc="-150" dirty="0">
                <a:ln>
                  <a:noFill/>
                </a:ln>
                <a:solidFill>
                  <a:srgbClr val="B2CCEC"/>
                </a:solidFill>
                <a:latin typeface="+mn-ea"/>
                <a:ea typeface="+mn-ea"/>
              </a:rPr>
              <a:t>추가 학습</a:t>
            </a:r>
            <a:r>
              <a:rPr lang="en-US" altLang="ko-KR" sz="1600" spc="-150" dirty="0">
                <a:ln>
                  <a:noFill/>
                </a:ln>
                <a:solidFill>
                  <a:srgbClr val="B2CCEC"/>
                </a:solidFill>
                <a:latin typeface="+mn-ea"/>
                <a:ea typeface="+mn-ea"/>
              </a:rPr>
              <a:t>]</a:t>
            </a:r>
            <a:br>
              <a:rPr lang="en-US" altLang="ko-KR" sz="4000" b="0" spc="-150" dirty="0">
                <a:ln>
                  <a:noFill/>
                </a:ln>
                <a:solidFill>
                  <a:srgbClr val="B2CCEC"/>
                </a:solidFill>
                <a:latin typeface="+mn-ea"/>
                <a:ea typeface="+mn-ea"/>
              </a:rPr>
            </a:br>
            <a:r>
              <a:rPr lang="en-US" altLang="ko-KR" sz="2000" b="0" spc="-150" dirty="0">
                <a:ln>
                  <a:noFill/>
                </a:ln>
                <a:solidFill>
                  <a:srgbClr val="B2CCEC"/>
                </a:solidFill>
                <a:latin typeface="+mn-ea"/>
                <a:ea typeface="+mn-ea"/>
              </a:rPr>
              <a:t>13. Singleton </a:t>
            </a:r>
            <a:r>
              <a:rPr lang="en-US" altLang="ko-KR" sz="1600" b="0" spc="-150" dirty="0">
                <a:ln>
                  <a:noFill/>
                </a:ln>
                <a:solidFill>
                  <a:srgbClr val="B2CCEC"/>
                </a:solidFill>
                <a:latin typeface="+mn-ea"/>
                <a:ea typeface="+mn-ea"/>
              </a:rPr>
              <a:t>(58min)</a:t>
            </a:r>
            <a:br>
              <a:rPr lang="en-US" altLang="ko-KR" sz="1600" b="0" dirty="0"/>
            </a:br>
            <a:br>
              <a:rPr lang="en-US" altLang="ko-KR" b="0" dirty="0"/>
            </a:br>
            <a:r>
              <a:rPr lang="en-US" altLang="ko-KR" sz="1600" b="0" dirty="0"/>
              <a:t>* </a:t>
            </a:r>
            <a:r>
              <a:rPr lang="ko-KR" altLang="en-US" sz="1600" b="0" dirty="0"/>
              <a:t>사전 학습 등 </a:t>
            </a:r>
            <a:r>
              <a:rPr lang="en-US" altLang="ko-KR" sz="1600" b="0" dirty="0"/>
              <a:t>DP</a:t>
            </a:r>
            <a:r>
              <a:rPr lang="ko-KR" altLang="en-US" sz="1600" b="0" dirty="0"/>
              <a:t>에 익숙한 분은 영상 시청 없이 바로 </a:t>
            </a:r>
            <a:r>
              <a:rPr lang="en-US" altLang="ko-KR" sz="1600" b="0" dirty="0"/>
              <a:t>Practice </a:t>
            </a:r>
            <a:r>
              <a:rPr lang="ko-KR" altLang="en-US" sz="1600" b="0" dirty="0"/>
              <a:t> 도전</a:t>
            </a:r>
            <a:r>
              <a:rPr lang="en-US" altLang="ko-KR" sz="1600" b="0" dirty="0"/>
              <a:t>!</a:t>
            </a:r>
            <a:br>
              <a:rPr lang="ko-KR" altLang="en-US" b="0" dirty="0"/>
            </a:br>
            <a:endParaRPr lang="en-US" altLang="ko-KR" sz="1600" b="0" dirty="0"/>
          </a:p>
        </p:txBody>
      </p:sp>
      <p:sp>
        <p:nvSpPr>
          <p:cNvPr id="5" name="제목 1"/>
          <p:cNvSpPr txBox="1">
            <a:spLocks/>
          </p:cNvSpPr>
          <p:nvPr/>
        </p:nvSpPr>
        <p:spPr>
          <a:xfrm>
            <a:off x="2915816" y="483518"/>
            <a:ext cx="4752528" cy="533895"/>
          </a:xfrm>
          <a:prstGeom prst="rect">
            <a:avLst/>
          </a:prstGeom>
        </p:spPr>
        <p:txBody>
          <a:bodyPr vert="horz" lIns="75927" tIns="37964" rIns="75927" bIns="37964" rtlCol="0" anchor="ctr">
            <a:noAutofit/>
          </a:bodyPr>
          <a:lstStyle>
            <a:lvl1pPr algn="l" defTabSz="914400" rtl="0" eaLnBrk="1" latinLnBrk="1" hangingPunct="1">
              <a:spcBef>
                <a:spcPct val="0"/>
              </a:spcBef>
              <a:buNone/>
              <a:defRPr lang="ko-KR" altLang="en-US" sz="2400" b="1" kern="1200" spc="-100" baseline="0" dirty="0">
                <a:ln>
                  <a:solidFill>
                    <a:srgbClr val="2A2D72">
                      <a:alpha val="5000"/>
                    </a:srgbClr>
                  </a:solidFill>
                </a:ln>
                <a:solidFill>
                  <a:srgbClr val="5974BF"/>
                </a:solidFill>
                <a:latin typeface="+mj-ea"/>
                <a:ea typeface="+mj-ea"/>
                <a:cs typeface="Arial" panose="020B0604020202020204" pitchFamily="34" charset="0"/>
              </a:defRPr>
            </a:lvl1pPr>
          </a:lstStyle>
          <a:p>
            <a:pPr defTabSz="759253"/>
            <a:r>
              <a:rPr lang="en-US" altLang="ko-KR" sz="2800" spc="-150" dirty="0">
                <a:ln>
                  <a:noFill/>
                </a:ln>
                <a:solidFill>
                  <a:srgbClr val="B2CCEC"/>
                </a:solidFill>
                <a:latin typeface="+mn-ea"/>
                <a:ea typeface="+mn-ea"/>
              </a:rPr>
              <a:t>[</a:t>
            </a:r>
            <a:r>
              <a:rPr lang="ko-KR" altLang="en-US" sz="2800" spc="-150" dirty="0">
                <a:ln>
                  <a:noFill/>
                </a:ln>
                <a:solidFill>
                  <a:srgbClr val="B2CCEC"/>
                </a:solidFill>
                <a:latin typeface="+mn-ea"/>
                <a:ea typeface="+mn-ea"/>
              </a:rPr>
              <a:t>온라인 영상 학습</a:t>
            </a:r>
            <a:r>
              <a:rPr lang="en-US" altLang="ko-KR" sz="2800" spc="-150" dirty="0">
                <a:ln>
                  <a:noFill/>
                </a:ln>
                <a:solidFill>
                  <a:srgbClr val="B2CCEC"/>
                </a:solidFill>
                <a:latin typeface="+mn-ea"/>
                <a:ea typeface="+mn-ea"/>
              </a:rPr>
              <a:t>]</a:t>
            </a:r>
            <a:endParaRPr lang="ko-KR" altLang="en-US" sz="2800" spc="-150" dirty="0">
              <a:ln>
                <a:noFill/>
              </a:ln>
              <a:solidFill>
                <a:srgbClr val="B2CCEC"/>
              </a:solidFill>
              <a:latin typeface="+mn-ea"/>
              <a:ea typeface="+mn-ea"/>
            </a:endParaRPr>
          </a:p>
        </p:txBody>
      </p:sp>
      <p:sp>
        <p:nvSpPr>
          <p:cNvPr id="7" name="직사각형 6"/>
          <p:cNvSpPr/>
          <p:nvPr/>
        </p:nvSpPr>
        <p:spPr>
          <a:xfrm>
            <a:off x="395536" y="2283718"/>
            <a:ext cx="1787541" cy="954107"/>
          </a:xfrm>
          <a:prstGeom prst="rect">
            <a:avLst/>
          </a:prstGeom>
        </p:spPr>
        <p:txBody>
          <a:bodyPr wrap="none">
            <a:spAutoFit/>
          </a:bodyPr>
          <a:lstStyle/>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Creational</a:t>
            </a:r>
          </a:p>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Patterns</a:t>
            </a:r>
            <a:endParaRPr lang="ko-KR" altLang="en-US" sz="2800" b="1" spc="-100" dirty="0">
              <a:ln>
                <a:solidFill>
                  <a:srgbClr val="2A2D72">
                    <a:alpha val="5000"/>
                  </a:srgbClr>
                </a:solidFill>
              </a:ln>
              <a:solidFill>
                <a:srgbClr val="5974BF"/>
              </a:solidFill>
              <a:latin typeface="+mj-ea"/>
              <a:ea typeface="+mj-ea"/>
              <a:cs typeface="Arial" panose="020B0604020202020204" pitchFamily="34" charset="0"/>
            </a:endParaRPr>
          </a:p>
        </p:txBody>
      </p:sp>
    </p:spTree>
    <p:extLst>
      <p:ext uri="{BB962C8B-B14F-4D97-AF65-F5344CB8AC3E}">
        <p14:creationId xmlns:p14="http://schemas.microsoft.com/office/powerpoint/2010/main" val="21062947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2928428" y="1821831"/>
            <a:ext cx="5748028" cy="2190079"/>
          </a:xfrm>
        </p:spPr>
        <p:txBody>
          <a:bodyPr>
            <a:noAutofit/>
          </a:bodyPr>
          <a:lstStyle/>
          <a:p>
            <a:r>
              <a:rPr lang="en-US" altLang="ko-KR" sz="3600" dirty="0"/>
              <a:t>Abstract Factory,</a:t>
            </a:r>
            <a:br>
              <a:rPr lang="en-US" altLang="ko-KR" sz="3600" dirty="0"/>
            </a:br>
            <a:r>
              <a:rPr lang="en-US" altLang="ko-KR" sz="3600" dirty="0"/>
              <a:t>Factory Method</a:t>
            </a:r>
          </a:p>
        </p:txBody>
      </p:sp>
      <p:sp>
        <p:nvSpPr>
          <p:cNvPr id="5" name="제목 1"/>
          <p:cNvSpPr txBox="1">
            <a:spLocks/>
          </p:cNvSpPr>
          <p:nvPr/>
        </p:nvSpPr>
        <p:spPr>
          <a:xfrm>
            <a:off x="2915816" y="1203598"/>
            <a:ext cx="2376264" cy="533895"/>
          </a:xfrm>
          <a:prstGeom prst="rect">
            <a:avLst/>
          </a:prstGeom>
        </p:spPr>
        <p:txBody>
          <a:bodyPr vert="horz" lIns="75927" tIns="37964" rIns="75927" bIns="37964" rtlCol="0" anchor="ctr">
            <a:noAutofit/>
          </a:bodyPr>
          <a:lstStyle>
            <a:lvl1pPr algn="l" defTabSz="914400" rtl="0" eaLnBrk="1" latinLnBrk="1" hangingPunct="1">
              <a:spcBef>
                <a:spcPct val="0"/>
              </a:spcBef>
              <a:buNone/>
              <a:defRPr lang="ko-KR" altLang="en-US" sz="2400" b="1" kern="1200" spc="-100" baseline="0" dirty="0">
                <a:ln>
                  <a:solidFill>
                    <a:srgbClr val="2A2D72">
                      <a:alpha val="5000"/>
                    </a:srgbClr>
                  </a:solidFill>
                </a:ln>
                <a:solidFill>
                  <a:srgbClr val="5974BF"/>
                </a:solidFill>
                <a:latin typeface="+mj-ea"/>
                <a:ea typeface="+mj-ea"/>
                <a:cs typeface="Arial" panose="020B0604020202020204" pitchFamily="34" charset="0"/>
              </a:defRPr>
            </a:lvl1pPr>
          </a:lstStyle>
          <a:p>
            <a:pPr defTabSz="759272"/>
            <a:r>
              <a:rPr lang="en-US" altLang="ko-KR" sz="2800" spc="-150" dirty="0">
                <a:ln>
                  <a:noFill/>
                </a:ln>
                <a:solidFill>
                  <a:srgbClr val="B2CCEC"/>
                </a:solidFill>
                <a:latin typeface="+mn-ea"/>
                <a:ea typeface="+mn-ea"/>
              </a:rPr>
              <a:t>07</a:t>
            </a:r>
            <a:endParaRPr lang="ko-KR" altLang="en-US" sz="2800" spc="-150" dirty="0">
              <a:ln>
                <a:noFill/>
              </a:ln>
              <a:solidFill>
                <a:srgbClr val="B2CCEC"/>
              </a:solidFill>
              <a:latin typeface="+mn-ea"/>
              <a:ea typeface="+mn-ea"/>
            </a:endParaRPr>
          </a:p>
        </p:txBody>
      </p:sp>
      <p:sp>
        <p:nvSpPr>
          <p:cNvPr id="7" name="직사각형 6"/>
          <p:cNvSpPr/>
          <p:nvPr/>
        </p:nvSpPr>
        <p:spPr>
          <a:xfrm>
            <a:off x="395536" y="2283718"/>
            <a:ext cx="1787541" cy="954107"/>
          </a:xfrm>
          <a:prstGeom prst="rect">
            <a:avLst/>
          </a:prstGeom>
        </p:spPr>
        <p:txBody>
          <a:bodyPr wrap="none">
            <a:spAutoFit/>
          </a:bodyPr>
          <a:lstStyle/>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Creational</a:t>
            </a:r>
          </a:p>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Patterns</a:t>
            </a:r>
            <a:endParaRPr lang="ko-KR" altLang="en-US" sz="2800" b="1" spc="-100" dirty="0">
              <a:ln>
                <a:solidFill>
                  <a:srgbClr val="2A2D72">
                    <a:alpha val="5000"/>
                  </a:srgbClr>
                </a:solidFill>
              </a:ln>
              <a:solidFill>
                <a:srgbClr val="5974BF"/>
              </a:solidFill>
              <a:latin typeface="+mj-ea"/>
              <a:ea typeface="+mj-ea"/>
              <a:cs typeface="Arial" panose="020B0604020202020204" pitchFamily="34" charset="0"/>
            </a:endParaRPr>
          </a:p>
        </p:txBody>
      </p:sp>
    </p:spTree>
    <p:extLst>
      <p:ext uri="{BB962C8B-B14F-4D97-AF65-F5344CB8AC3E}">
        <p14:creationId xmlns:p14="http://schemas.microsoft.com/office/powerpoint/2010/main" val="1496061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r>
              <a:rPr lang="en-US" altLang="ko-KR" spc="0" dirty="0"/>
              <a:t>Factory Method, Abstract Factory </a:t>
            </a:r>
            <a:r>
              <a:rPr lang="ko-KR" altLang="en-US" spc="0" dirty="0"/>
              <a:t>실습 개요</a:t>
            </a:r>
          </a:p>
        </p:txBody>
      </p:sp>
      <p:sp>
        <p:nvSpPr>
          <p:cNvPr id="4" name="TextBox 3">
            <a:extLst>
              <a:ext uri="{FF2B5EF4-FFF2-40B4-BE49-F238E27FC236}">
                <a16:creationId xmlns:a16="http://schemas.microsoft.com/office/drawing/2014/main" id="{EE02B1AE-65A2-4E7C-3AB5-F23FBC8DD244}"/>
              </a:ext>
            </a:extLst>
          </p:cNvPr>
          <p:cNvSpPr txBox="1"/>
          <p:nvPr/>
        </p:nvSpPr>
        <p:spPr>
          <a:xfrm>
            <a:off x="755576" y="654388"/>
            <a:ext cx="1849032" cy="369332"/>
          </a:xfrm>
          <a:prstGeom prst="rect">
            <a:avLst/>
          </a:prstGeom>
          <a:noFill/>
        </p:spPr>
        <p:txBody>
          <a:bodyPr wrap="none" rtlCol="0">
            <a:spAutoFit/>
          </a:bodyPr>
          <a:lstStyle/>
          <a:p>
            <a:r>
              <a:rPr lang="en-US" altLang="ko-KR" dirty="0"/>
              <a:t>Factory Method</a:t>
            </a:r>
            <a:endParaRPr lang="ko-KR" altLang="en-US" dirty="0"/>
          </a:p>
        </p:txBody>
      </p:sp>
      <p:sp>
        <p:nvSpPr>
          <p:cNvPr id="5" name="TextBox 4">
            <a:extLst>
              <a:ext uri="{FF2B5EF4-FFF2-40B4-BE49-F238E27FC236}">
                <a16:creationId xmlns:a16="http://schemas.microsoft.com/office/drawing/2014/main" id="{BA38693B-E29C-2AD6-DA8A-8AE50E7CCEEE}"/>
              </a:ext>
            </a:extLst>
          </p:cNvPr>
          <p:cNvSpPr txBox="1"/>
          <p:nvPr/>
        </p:nvSpPr>
        <p:spPr>
          <a:xfrm>
            <a:off x="5897231" y="739459"/>
            <a:ext cx="1884298" cy="369332"/>
          </a:xfrm>
          <a:prstGeom prst="rect">
            <a:avLst/>
          </a:prstGeom>
          <a:noFill/>
        </p:spPr>
        <p:txBody>
          <a:bodyPr wrap="none" rtlCol="0">
            <a:spAutoFit/>
          </a:bodyPr>
          <a:lstStyle/>
          <a:p>
            <a:r>
              <a:rPr lang="en-US" altLang="ko-KR" dirty="0"/>
              <a:t>Abstract Factory</a:t>
            </a:r>
            <a:endParaRPr lang="ko-KR" altLang="en-US" dirty="0"/>
          </a:p>
        </p:txBody>
      </p:sp>
      <p:pic>
        <p:nvPicPr>
          <p:cNvPr id="1032" name="Picture 8" descr="추상 팩토리 패턴 예시의 클래스 다이어그램">
            <a:extLst>
              <a:ext uri="{FF2B5EF4-FFF2-40B4-BE49-F238E27FC236}">
                <a16:creationId xmlns:a16="http://schemas.microsoft.com/office/drawing/2014/main" id="{5E3CF932-0922-3326-8BAF-550FEA7B81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7105" y="2998612"/>
            <a:ext cx="3150411" cy="221513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팩토리 메서드 패턴 구조 예시">
            <a:extLst>
              <a:ext uri="{FF2B5EF4-FFF2-40B4-BE49-F238E27FC236}">
                <a16:creationId xmlns:a16="http://schemas.microsoft.com/office/drawing/2014/main" id="{B9FA3A8B-4B04-94FE-4622-0C4D004003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2859722"/>
            <a:ext cx="3544213" cy="221513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enter image description here">
            <a:extLst>
              <a:ext uri="{FF2B5EF4-FFF2-40B4-BE49-F238E27FC236}">
                <a16:creationId xmlns:a16="http://schemas.microsoft.com/office/drawing/2014/main" id="{3729A2F2-E797-D0B4-CF0D-9AB2E6EEF00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3568" y="1347614"/>
            <a:ext cx="2393851" cy="1106445"/>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5EE6B7A1-FC25-0C04-AD1C-37E9A2984E4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19568" y="1069437"/>
            <a:ext cx="3866153" cy="1822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71323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a:xfrm>
            <a:off x="251520" y="1131590"/>
            <a:ext cx="8712968" cy="3528392"/>
          </a:xfrm>
        </p:spPr>
        <p:txBody>
          <a:bodyPr>
            <a:normAutofit/>
          </a:bodyPr>
          <a:lstStyle/>
          <a:p>
            <a:r>
              <a:rPr lang="en-US" altLang="ko-KR" sz="1400" dirty="0">
                <a:solidFill>
                  <a:srgbClr val="2A2D72"/>
                </a:solidFill>
              </a:rPr>
              <a:t>SimpleMazeGame.java </a:t>
            </a:r>
            <a:r>
              <a:rPr lang="ko-KR" altLang="en-US" sz="1400" dirty="0">
                <a:solidFill>
                  <a:srgbClr val="2A2D72"/>
                </a:solidFill>
              </a:rPr>
              <a:t>선택 후 </a:t>
            </a:r>
            <a:r>
              <a:rPr lang="en-US" altLang="ko-KR" sz="1400" dirty="0">
                <a:solidFill>
                  <a:srgbClr val="2A2D72"/>
                </a:solidFill>
              </a:rPr>
              <a:t>main() </a:t>
            </a:r>
            <a:r>
              <a:rPr lang="ko-KR" altLang="en-US" sz="1400" dirty="0">
                <a:solidFill>
                  <a:srgbClr val="2A2D72"/>
                </a:solidFill>
              </a:rPr>
              <a:t>함수 실행</a:t>
            </a:r>
          </a:p>
          <a:p>
            <a:endParaRPr lang="ko-KR" altLang="en-US" sz="1400" dirty="0"/>
          </a:p>
        </p:txBody>
      </p:sp>
      <p:sp>
        <p:nvSpPr>
          <p:cNvPr id="3" name="제목 2"/>
          <p:cNvSpPr>
            <a:spLocks noGrp="1"/>
          </p:cNvSpPr>
          <p:nvPr>
            <p:ph type="title"/>
          </p:nvPr>
        </p:nvSpPr>
        <p:spPr/>
        <p:txBody>
          <a:bodyPr vert="horz" lIns="75927" tIns="37964" rIns="75927" bIns="37964" rtlCol="0" anchor="ctr">
            <a:normAutofit/>
          </a:bodyPr>
          <a:lstStyle/>
          <a:p>
            <a:r>
              <a:rPr lang="en-US" altLang="ko-KR" spc="0" dirty="0" err="1"/>
              <a:t>SimpleMazeGame</a:t>
            </a:r>
            <a:r>
              <a:rPr lang="en-US" altLang="ko-KR" spc="0" dirty="0"/>
              <a:t> </a:t>
            </a:r>
            <a:r>
              <a:rPr lang="ko-KR" altLang="en-US" spc="0" dirty="0"/>
              <a:t>실행</a:t>
            </a:r>
          </a:p>
        </p:txBody>
      </p:sp>
      <p:sp>
        <p:nvSpPr>
          <p:cNvPr id="6" name="직사각형 5"/>
          <p:cNvSpPr/>
          <p:nvPr/>
        </p:nvSpPr>
        <p:spPr>
          <a:xfrm>
            <a:off x="1063868" y="3156434"/>
            <a:ext cx="3978973" cy="461665"/>
          </a:xfrm>
          <a:prstGeom prst="rect">
            <a:avLst/>
          </a:prstGeom>
        </p:spPr>
        <p:txBody>
          <a:bodyPr wrap="none">
            <a:spAutoFit/>
          </a:bodyPr>
          <a:lstStyle/>
          <a:p>
            <a:pPr algn="ctr"/>
            <a:r>
              <a:rPr lang="ko-KR" altLang="en-US" sz="1200" dirty="0"/>
              <a:t>실행화면</a:t>
            </a:r>
            <a:endParaRPr lang="en-US" altLang="ko-KR" sz="1200" dirty="0"/>
          </a:p>
          <a:p>
            <a:pPr algn="ctr"/>
            <a:r>
              <a:rPr lang="en-US" altLang="ko-KR" sz="1200" dirty="0">
                <a:solidFill>
                  <a:srgbClr val="4156BD"/>
                </a:solidFill>
              </a:rPr>
              <a:t>(</a:t>
            </a:r>
            <a:r>
              <a:rPr lang="ko-KR" altLang="en-US" sz="1200" dirty="0">
                <a:solidFill>
                  <a:srgbClr val="4156BD"/>
                </a:solidFill>
              </a:rPr>
              <a:t>커서키로 이동 가능</a:t>
            </a:r>
            <a:r>
              <a:rPr lang="en-US" altLang="ko-KR" sz="1200" dirty="0">
                <a:solidFill>
                  <a:srgbClr val="4156BD"/>
                </a:solidFill>
              </a:rPr>
              <a:t>, </a:t>
            </a:r>
            <a:r>
              <a:rPr lang="ko-KR" altLang="en-US" sz="1200" dirty="0">
                <a:solidFill>
                  <a:srgbClr val="4156BD"/>
                </a:solidFill>
              </a:rPr>
              <a:t>문이 막혀 있어 이동은 하지 않음</a:t>
            </a:r>
            <a:r>
              <a:rPr lang="en-US" altLang="ko-KR" sz="1200" dirty="0">
                <a:solidFill>
                  <a:srgbClr val="4156BD"/>
                </a:solidFill>
              </a:rPr>
              <a:t>)</a:t>
            </a:r>
          </a:p>
        </p:txBody>
      </p:sp>
      <p:pic>
        <p:nvPicPr>
          <p:cNvPr id="9" name="그림 8"/>
          <p:cNvPicPr>
            <a:picLocks noChangeAspect="1"/>
          </p:cNvPicPr>
          <p:nvPr/>
        </p:nvPicPr>
        <p:blipFill>
          <a:blip r:embed="rId2"/>
          <a:stretch>
            <a:fillRect/>
          </a:stretch>
        </p:blipFill>
        <p:spPr>
          <a:xfrm>
            <a:off x="2555776" y="1854187"/>
            <a:ext cx="1162050" cy="1066800"/>
          </a:xfrm>
          <a:prstGeom prst="rect">
            <a:avLst/>
          </a:prstGeom>
        </p:spPr>
      </p:pic>
      <p:sp>
        <p:nvSpPr>
          <p:cNvPr id="7" name="직사각형 6"/>
          <p:cNvSpPr/>
          <p:nvPr/>
        </p:nvSpPr>
        <p:spPr>
          <a:xfrm>
            <a:off x="250825" y="771550"/>
            <a:ext cx="4176464" cy="307777"/>
          </a:xfrm>
          <a:prstGeom prst="rect">
            <a:avLst/>
          </a:prstGeom>
          <a:solidFill>
            <a:schemeClr val="accent1">
              <a:lumMod val="20000"/>
              <a:lumOff val="80000"/>
            </a:schemeClr>
          </a:solidFill>
        </p:spPr>
        <p:txBody>
          <a:bodyPr wrap="square">
            <a:spAutoFit/>
          </a:bodyPr>
          <a:lstStyle/>
          <a:p>
            <a:r>
              <a:rPr lang="en-US" altLang="ko-KR" sz="1400" b="1" dirty="0"/>
              <a:t>[</a:t>
            </a:r>
            <a:r>
              <a:rPr lang="ko-KR" altLang="en-US" sz="1400" b="1" dirty="0"/>
              <a:t>실습 코드</a:t>
            </a:r>
            <a:r>
              <a:rPr lang="en-US" altLang="ko-KR" sz="1400" b="1" dirty="0"/>
              <a:t>] </a:t>
            </a:r>
            <a:r>
              <a:rPr lang="en-US" altLang="ko-KR" sz="1400" dirty="0"/>
              <a:t>7_factorymethod_mazeProblem </a:t>
            </a:r>
          </a:p>
        </p:txBody>
      </p:sp>
    </p:spTree>
    <p:extLst>
      <p:ext uri="{BB962C8B-B14F-4D97-AF65-F5344CB8AC3E}">
        <p14:creationId xmlns:p14="http://schemas.microsoft.com/office/powerpoint/2010/main" val="24244814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p:txBody>
          <a:bodyPr>
            <a:normAutofit/>
          </a:bodyPr>
          <a:lstStyle/>
          <a:p>
            <a:r>
              <a:rPr lang="ko-KR" altLang="en-US" sz="1600" spc="0" dirty="0">
                <a:latin typeface="+mn-ea"/>
                <a:ea typeface="+mn-ea"/>
              </a:rPr>
              <a:t>메뉴의 </a:t>
            </a:r>
            <a:r>
              <a:rPr lang="en-US" altLang="ko-KR" sz="1600" spc="0" dirty="0">
                <a:latin typeface="+mn-ea"/>
                <a:ea typeface="+mn-ea"/>
              </a:rPr>
              <a:t> </a:t>
            </a:r>
            <a:r>
              <a:rPr lang="en-US" altLang="ko-KR" sz="1600" b="1" spc="0" dirty="0">
                <a:latin typeface="+mn-ea"/>
                <a:ea typeface="+mn-ea"/>
              </a:rPr>
              <a:t>Run</a:t>
            </a:r>
            <a:r>
              <a:rPr lang="en-US" altLang="ko-KR" sz="1600" spc="0" dirty="0">
                <a:latin typeface="+mn-ea"/>
                <a:ea typeface="+mn-ea"/>
              </a:rPr>
              <a:t> &gt; </a:t>
            </a:r>
            <a:r>
              <a:rPr lang="en-US" altLang="ko-KR" sz="1600" b="1" spc="0" dirty="0">
                <a:latin typeface="+mn-ea"/>
                <a:ea typeface="+mn-ea"/>
              </a:rPr>
              <a:t>Edit Configurations... </a:t>
            </a:r>
            <a:r>
              <a:rPr lang="ko-KR" altLang="en-US" sz="1600" spc="0" dirty="0">
                <a:latin typeface="+mn-ea"/>
                <a:ea typeface="+mn-ea"/>
              </a:rPr>
              <a:t>선택</a:t>
            </a:r>
            <a:br>
              <a:rPr lang="en-US" altLang="ko-KR" sz="1600" spc="0" dirty="0">
                <a:latin typeface="+mn-ea"/>
                <a:ea typeface="+mn-ea"/>
              </a:rPr>
            </a:br>
            <a:r>
              <a:rPr lang="ko-KR" altLang="en-US" sz="1600" spc="0" dirty="0">
                <a:latin typeface="+mn-ea"/>
                <a:ea typeface="+mn-ea"/>
              </a:rPr>
              <a:t> </a:t>
            </a:r>
            <a:r>
              <a:rPr lang="en-US" altLang="ko-KR" sz="1600" spc="0" dirty="0">
                <a:latin typeface="+mn-ea"/>
                <a:ea typeface="+mn-ea"/>
              </a:rPr>
              <a:t>(</a:t>
            </a:r>
            <a:r>
              <a:rPr lang="ko-KR" altLang="en-US" sz="1600" spc="0" dirty="0">
                <a:latin typeface="+mn-ea"/>
                <a:ea typeface="+mn-ea"/>
              </a:rPr>
              <a:t>또는 소스코드 클래스</a:t>
            </a:r>
            <a:r>
              <a:rPr lang="en-US" altLang="ko-KR" sz="1600" spc="0" dirty="0">
                <a:latin typeface="+mn-ea"/>
                <a:ea typeface="+mn-ea"/>
              </a:rPr>
              <a:t>/</a:t>
            </a:r>
            <a:r>
              <a:rPr lang="ko-KR" altLang="en-US" sz="1600" spc="0" dirty="0" err="1">
                <a:latin typeface="+mn-ea"/>
                <a:ea typeface="+mn-ea"/>
              </a:rPr>
              <a:t>메소드에서</a:t>
            </a:r>
            <a:r>
              <a:rPr lang="ko-KR" altLang="en-US" sz="1600" spc="0" dirty="0">
                <a:latin typeface="+mn-ea"/>
                <a:ea typeface="+mn-ea"/>
              </a:rPr>
              <a:t> </a:t>
            </a:r>
            <a:r>
              <a:rPr lang="en-US" altLang="ko-KR" sz="1600" b="1" spc="0" dirty="0">
                <a:latin typeface="+mn-ea"/>
                <a:ea typeface="+mn-ea"/>
              </a:rPr>
              <a:t>Modify Run Configuration…</a:t>
            </a:r>
            <a:r>
              <a:rPr lang="en-US" altLang="ko-KR" sz="1600" spc="0" dirty="0">
                <a:latin typeface="+mn-ea"/>
                <a:ea typeface="+mn-ea"/>
              </a:rPr>
              <a:t>)</a:t>
            </a:r>
          </a:p>
          <a:p>
            <a:r>
              <a:rPr lang="en-US" altLang="ko-KR" sz="1600" b="1" spc="0" dirty="0">
                <a:latin typeface="+mn-ea"/>
                <a:ea typeface="+mn-ea"/>
              </a:rPr>
              <a:t>Build and run </a:t>
            </a:r>
            <a:r>
              <a:rPr lang="ko-KR" altLang="en-US" sz="1600" spc="0" dirty="0">
                <a:latin typeface="+mn-ea"/>
                <a:ea typeface="+mn-ea"/>
              </a:rPr>
              <a:t>의</a:t>
            </a:r>
            <a:r>
              <a:rPr lang="en-US" altLang="ko-KR" sz="1600" spc="0" dirty="0">
                <a:latin typeface="+mn-ea"/>
                <a:ea typeface="+mn-ea"/>
              </a:rPr>
              <a:t> Program arguments </a:t>
            </a:r>
            <a:r>
              <a:rPr lang="ko-KR" altLang="en-US" sz="1600" spc="0" dirty="0">
                <a:latin typeface="+mn-ea"/>
                <a:ea typeface="+mn-ea"/>
              </a:rPr>
              <a:t>에 </a:t>
            </a:r>
            <a:r>
              <a:rPr lang="en-US" altLang="ko-KR" sz="1600" b="1" spc="0" dirty="0">
                <a:solidFill>
                  <a:srgbClr val="0066FF"/>
                </a:solidFill>
                <a:latin typeface="+mn-ea"/>
                <a:ea typeface="+mn-ea"/>
              </a:rPr>
              <a:t>"Large"</a:t>
            </a:r>
            <a:r>
              <a:rPr lang="en-US" altLang="ko-KR" sz="1600" spc="0" dirty="0">
                <a:latin typeface="+mn-ea"/>
                <a:ea typeface="+mn-ea"/>
              </a:rPr>
              <a:t> </a:t>
            </a:r>
            <a:r>
              <a:rPr lang="ko-KR" altLang="en-US" sz="1600" spc="0" dirty="0">
                <a:latin typeface="+mn-ea"/>
                <a:ea typeface="+mn-ea"/>
              </a:rPr>
              <a:t>입력 후 실행</a:t>
            </a:r>
          </a:p>
          <a:p>
            <a:endParaRPr lang="ko-KR" altLang="en-US" sz="1600" spc="0" dirty="0">
              <a:latin typeface="+mn-ea"/>
              <a:ea typeface="+mn-ea"/>
            </a:endParaRPr>
          </a:p>
        </p:txBody>
      </p:sp>
      <p:sp>
        <p:nvSpPr>
          <p:cNvPr id="3" name="제목 2"/>
          <p:cNvSpPr>
            <a:spLocks noGrp="1"/>
          </p:cNvSpPr>
          <p:nvPr>
            <p:ph type="title"/>
          </p:nvPr>
        </p:nvSpPr>
        <p:spPr/>
        <p:txBody>
          <a:bodyPr/>
          <a:lstStyle/>
          <a:p>
            <a:r>
              <a:rPr lang="en-US" altLang="ko-KR" spc="0" dirty="0" err="1">
                <a:latin typeface="+mn-ea"/>
                <a:ea typeface="+mn-ea"/>
              </a:rPr>
              <a:t>SimpleMazeGame</a:t>
            </a:r>
            <a:r>
              <a:rPr lang="en-US" altLang="ko-KR" spc="0" dirty="0">
                <a:latin typeface="+mn-ea"/>
                <a:ea typeface="+mn-ea"/>
              </a:rPr>
              <a:t> </a:t>
            </a:r>
            <a:r>
              <a:rPr lang="ko-KR" altLang="en-US" spc="0" dirty="0">
                <a:latin typeface="+mn-ea"/>
                <a:ea typeface="+mn-ea"/>
              </a:rPr>
              <a:t>실행 </a:t>
            </a:r>
            <a:r>
              <a:rPr lang="en-US" altLang="ko-KR" spc="0" dirty="0">
                <a:latin typeface="+mn-ea"/>
                <a:ea typeface="+mn-ea"/>
              </a:rPr>
              <a:t>– arguments </a:t>
            </a:r>
            <a:r>
              <a:rPr lang="ko-KR" altLang="en-US" spc="0" dirty="0">
                <a:latin typeface="+mn-ea"/>
                <a:ea typeface="+mn-ea"/>
              </a:rPr>
              <a:t> </a:t>
            </a:r>
            <a:r>
              <a:rPr lang="en-US" altLang="ko-KR" spc="0" dirty="0">
                <a:latin typeface="+mn-ea"/>
                <a:ea typeface="+mn-ea"/>
              </a:rPr>
              <a:t>(IntelliJ)</a:t>
            </a:r>
            <a:endParaRPr lang="ko-KR" altLang="en-US" spc="0" dirty="0">
              <a:latin typeface="+mn-ea"/>
              <a:ea typeface="+mn-ea"/>
            </a:endParaRPr>
          </a:p>
        </p:txBody>
      </p:sp>
      <p:sp>
        <p:nvSpPr>
          <p:cNvPr id="9" name="TextBox 8">
            <a:extLst>
              <a:ext uri="{FF2B5EF4-FFF2-40B4-BE49-F238E27FC236}">
                <a16:creationId xmlns:a16="http://schemas.microsoft.com/office/drawing/2014/main" id="{8F0449DC-075A-4C12-BAE6-73C69EEF4B51}"/>
              </a:ext>
            </a:extLst>
          </p:cNvPr>
          <p:cNvSpPr txBox="1"/>
          <p:nvPr/>
        </p:nvSpPr>
        <p:spPr>
          <a:xfrm>
            <a:off x="5548705" y="4031672"/>
            <a:ext cx="2632700" cy="584775"/>
          </a:xfrm>
          <a:prstGeom prst="rect">
            <a:avLst/>
          </a:prstGeom>
          <a:noFill/>
        </p:spPr>
        <p:txBody>
          <a:bodyPr wrap="square">
            <a:spAutoFit/>
          </a:bodyPr>
          <a:lstStyle/>
          <a:p>
            <a:r>
              <a:rPr lang="ko-KR" altLang="en-US" sz="1400" dirty="0">
                <a:latin typeface="+mn-ea"/>
              </a:rPr>
              <a:t> </a:t>
            </a:r>
            <a:r>
              <a:rPr lang="ko-KR" altLang="en-US" sz="1400" dirty="0" err="1">
                <a:latin typeface="+mn-ea"/>
              </a:rPr>
              <a:t>실행화면</a:t>
            </a:r>
            <a:r>
              <a:rPr lang="ko-KR" altLang="en-US" sz="1400" dirty="0">
                <a:latin typeface="+mn-ea"/>
              </a:rPr>
              <a:t> </a:t>
            </a:r>
            <a:r>
              <a:rPr lang="en-US" altLang="ko-KR" sz="1400" dirty="0">
                <a:latin typeface="+mn-ea"/>
              </a:rPr>
              <a:t>(</a:t>
            </a:r>
            <a:r>
              <a:rPr lang="ko-KR" altLang="en-US" sz="1400" dirty="0">
                <a:latin typeface="+mn-ea"/>
              </a:rPr>
              <a:t>커서키로 이동 가능</a:t>
            </a:r>
            <a:r>
              <a:rPr lang="en-US" altLang="ko-KR" sz="1400" dirty="0">
                <a:latin typeface="+mn-ea"/>
              </a:rPr>
              <a:t>)</a:t>
            </a:r>
          </a:p>
          <a:p>
            <a:endParaRPr lang="ko-KR" altLang="en-US" dirty="0">
              <a:latin typeface="+mn-ea"/>
            </a:endParaRPr>
          </a:p>
        </p:txBody>
      </p:sp>
      <p:pic>
        <p:nvPicPr>
          <p:cNvPr id="10" name="그림 9"/>
          <p:cNvPicPr>
            <a:picLocks noChangeAspect="1"/>
          </p:cNvPicPr>
          <p:nvPr/>
        </p:nvPicPr>
        <p:blipFill>
          <a:blip r:embed="rId2"/>
          <a:stretch>
            <a:fillRect/>
          </a:stretch>
        </p:blipFill>
        <p:spPr>
          <a:xfrm>
            <a:off x="634506" y="2139702"/>
            <a:ext cx="4097850" cy="2698462"/>
          </a:xfrm>
          <a:prstGeom prst="rect">
            <a:avLst/>
          </a:prstGeom>
        </p:spPr>
      </p:pic>
      <p:pic>
        <p:nvPicPr>
          <p:cNvPr id="11" name="그림 10"/>
          <p:cNvPicPr>
            <a:picLocks noChangeAspect="1"/>
          </p:cNvPicPr>
          <p:nvPr/>
        </p:nvPicPr>
        <p:blipFill>
          <a:blip r:embed="rId3"/>
          <a:stretch>
            <a:fillRect/>
          </a:stretch>
        </p:blipFill>
        <p:spPr>
          <a:xfrm>
            <a:off x="5984904" y="2139702"/>
            <a:ext cx="1543050" cy="1828800"/>
          </a:xfrm>
          <a:prstGeom prst="rect">
            <a:avLst/>
          </a:prstGeom>
        </p:spPr>
      </p:pic>
    </p:spTree>
    <p:extLst>
      <p:ext uri="{BB962C8B-B14F-4D97-AF65-F5344CB8AC3E}">
        <p14:creationId xmlns:p14="http://schemas.microsoft.com/office/powerpoint/2010/main" val="1219815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p:txBody>
          <a:bodyPr>
            <a:normAutofit/>
          </a:bodyPr>
          <a:lstStyle/>
          <a:p>
            <a:r>
              <a:rPr lang="ko-KR" altLang="en-US" sz="1600" spc="0" dirty="0"/>
              <a:t>메뉴의 </a:t>
            </a:r>
            <a:r>
              <a:rPr lang="en-US" altLang="ko-KR" sz="1600" spc="0" dirty="0"/>
              <a:t> </a:t>
            </a:r>
            <a:r>
              <a:rPr lang="en-US" altLang="ko-KR" sz="1600" b="1" spc="0" dirty="0"/>
              <a:t>Run</a:t>
            </a:r>
            <a:r>
              <a:rPr lang="en-US" altLang="ko-KR" sz="1600" spc="0" dirty="0"/>
              <a:t> &gt; </a:t>
            </a:r>
            <a:r>
              <a:rPr lang="en-US" altLang="ko-KR" sz="1600" b="1" spc="0" dirty="0"/>
              <a:t>Add Configurations </a:t>
            </a:r>
            <a:r>
              <a:rPr lang="ko-KR" altLang="en-US" sz="1600" spc="0" dirty="0"/>
              <a:t>선택</a:t>
            </a:r>
            <a:endParaRPr lang="en-US" altLang="ko-KR" sz="1600" spc="0" dirty="0"/>
          </a:p>
          <a:p>
            <a:r>
              <a:rPr lang="en-US" altLang="ko-KR" sz="1600" b="1" spc="0" dirty="0" err="1"/>
              <a:t>launch.json</a:t>
            </a:r>
            <a:r>
              <a:rPr lang="en-US" altLang="ko-KR" sz="1600" b="1" spc="0" dirty="0"/>
              <a:t> </a:t>
            </a:r>
            <a:r>
              <a:rPr lang="ko-KR" altLang="en-US" sz="1600" spc="0" dirty="0"/>
              <a:t>내에 </a:t>
            </a:r>
            <a:r>
              <a:rPr lang="en-US" altLang="ko-KR" sz="1600" b="1" spc="0" dirty="0">
                <a:solidFill>
                  <a:srgbClr val="0066FF"/>
                </a:solidFill>
              </a:rPr>
              <a:t>“</a:t>
            </a:r>
            <a:r>
              <a:rPr lang="en-US" altLang="ko-KR" sz="1600" b="1" spc="0" dirty="0" err="1">
                <a:solidFill>
                  <a:srgbClr val="0066FF"/>
                </a:solidFill>
              </a:rPr>
              <a:t>args</a:t>
            </a:r>
            <a:r>
              <a:rPr lang="en-US" altLang="ko-KR" sz="1600" b="1" spc="0" dirty="0">
                <a:solidFill>
                  <a:srgbClr val="0066FF"/>
                </a:solidFill>
              </a:rPr>
              <a:t>” : ”Large” </a:t>
            </a:r>
            <a:r>
              <a:rPr lang="ko-KR" altLang="en-US" sz="1600" spc="0" dirty="0"/>
              <a:t>추가 </a:t>
            </a:r>
            <a:endParaRPr lang="en-US" altLang="ko-KR" sz="1600" spc="0" dirty="0"/>
          </a:p>
          <a:p>
            <a:r>
              <a:rPr lang="en-US" altLang="ko-KR" sz="1600" spc="0" dirty="0">
                <a:solidFill>
                  <a:srgbClr val="FF0000"/>
                </a:solidFill>
              </a:rPr>
              <a:t>Run and Debug Active bar </a:t>
            </a:r>
            <a:r>
              <a:rPr lang="ko-KR" altLang="en-US" sz="1600" spc="0" dirty="0">
                <a:solidFill>
                  <a:srgbClr val="FF0000"/>
                </a:solidFill>
              </a:rPr>
              <a:t>에서 해당 클래스 선택 후 실행</a:t>
            </a:r>
            <a:r>
              <a:rPr lang="en-US" altLang="ko-KR" sz="1600" spc="0" dirty="0">
                <a:solidFill>
                  <a:srgbClr val="FF0000"/>
                </a:solidFill>
              </a:rPr>
              <a:t>(</a:t>
            </a:r>
            <a:r>
              <a:rPr lang="ko-KR" altLang="en-US" sz="1600" spc="0" dirty="0">
                <a:solidFill>
                  <a:srgbClr val="FF0000"/>
                </a:solidFill>
              </a:rPr>
              <a:t>▶</a:t>
            </a:r>
            <a:r>
              <a:rPr lang="en-US" altLang="ko-KR" sz="1600" spc="0" dirty="0">
                <a:solidFill>
                  <a:srgbClr val="FF0000"/>
                </a:solidFill>
              </a:rPr>
              <a:t>)</a:t>
            </a:r>
            <a:endParaRPr lang="ko-KR" altLang="en-US" sz="1600" spc="0" dirty="0">
              <a:solidFill>
                <a:srgbClr val="FF0000"/>
              </a:solidFill>
            </a:endParaRPr>
          </a:p>
        </p:txBody>
      </p:sp>
      <p:sp>
        <p:nvSpPr>
          <p:cNvPr id="3" name="제목 2"/>
          <p:cNvSpPr>
            <a:spLocks noGrp="1"/>
          </p:cNvSpPr>
          <p:nvPr>
            <p:ph type="title"/>
          </p:nvPr>
        </p:nvSpPr>
        <p:spPr/>
        <p:txBody>
          <a:bodyPr/>
          <a:lstStyle/>
          <a:p>
            <a:r>
              <a:rPr lang="en-US" altLang="ko-KR" spc="0" dirty="0" err="1"/>
              <a:t>SimpleMazeGame</a:t>
            </a:r>
            <a:r>
              <a:rPr lang="en-US" altLang="ko-KR" spc="0" dirty="0"/>
              <a:t> </a:t>
            </a:r>
            <a:r>
              <a:rPr lang="ko-KR" altLang="en-US" spc="0" dirty="0"/>
              <a:t>실행 </a:t>
            </a:r>
            <a:r>
              <a:rPr lang="en-US" altLang="ko-KR" spc="0" dirty="0"/>
              <a:t>– arguments (</a:t>
            </a:r>
            <a:r>
              <a:rPr lang="en-US" altLang="ko-KR" spc="0" dirty="0" err="1"/>
              <a:t>vscode</a:t>
            </a:r>
            <a:r>
              <a:rPr lang="en-US" altLang="ko-KR" spc="0" dirty="0"/>
              <a:t>)</a:t>
            </a:r>
            <a:endParaRPr lang="ko-KR" altLang="en-US" spc="0" dirty="0"/>
          </a:p>
        </p:txBody>
      </p:sp>
      <p:sp>
        <p:nvSpPr>
          <p:cNvPr id="9" name="TextBox 8">
            <a:extLst>
              <a:ext uri="{FF2B5EF4-FFF2-40B4-BE49-F238E27FC236}">
                <a16:creationId xmlns:a16="http://schemas.microsoft.com/office/drawing/2014/main" id="{8F0449DC-075A-4C12-BAE6-73C69EEF4B51}"/>
              </a:ext>
            </a:extLst>
          </p:cNvPr>
          <p:cNvSpPr txBox="1"/>
          <p:nvPr/>
        </p:nvSpPr>
        <p:spPr>
          <a:xfrm>
            <a:off x="5984904" y="4081016"/>
            <a:ext cx="2632700" cy="584775"/>
          </a:xfrm>
          <a:prstGeom prst="rect">
            <a:avLst/>
          </a:prstGeom>
          <a:noFill/>
        </p:spPr>
        <p:txBody>
          <a:bodyPr wrap="square">
            <a:spAutoFit/>
          </a:bodyPr>
          <a:lstStyle/>
          <a:p>
            <a:r>
              <a:rPr lang="ko-KR" altLang="en-US" sz="1400" dirty="0"/>
              <a:t> </a:t>
            </a:r>
            <a:r>
              <a:rPr lang="ko-KR" altLang="en-US" sz="1400" dirty="0" err="1"/>
              <a:t>실행화면</a:t>
            </a:r>
            <a:r>
              <a:rPr lang="ko-KR" altLang="en-US" sz="1400" dirty="0"/>
              <a:t> </a:t>
            </a:r>
            <a:r>
              <a:rPr lang="en-US" altLang="ko-KR" sz="1400" dirty="0"/>
              <a:t>(</a:t>
            </a:r>
            <a:r>
              <a:rPr lang="ko-KR" altLang="en-US" sz="1400" dirty="0"/>
              <a:t>커서키로 이동 가능</a:t>
            </a:r>
            <a:r>
              <a:rPr lang="en-US" altLang="ko-KR" sz="1400" dirty="0"/>
              <a:t>)</a:t>
            </a:r>
          </a:p>
          <a:p>
            <a:endParaRPr lang="ko-KR" altLang="en-US" dirty="0"/>
          </a:p>
        </p:txBody>
      </p:sp>
      <p:pic>
        <p:nvPicPr>
          <p:cNvPr id="11" name="그림 10"/>
          <p:cNvPicPr>
            <a:picLocks noChangeAspect="1"/>
          </p:cNvPicPr>
          <p:nvPr/>
        </p:nvPicPr>
        <p:blipFill>
          <a:blip r:embed="rId2"/>
          <a:stretch>
            <a:fillRect/>
          </a:stretch>
        </p:blipFill>
        <p:spPr>
          <a:xfrm>
            <a:off x="6590361" y="2211710"/>
            <a:ext cx="1543050" cy="1828800"/>
          </a:xfrm>
          <a:prstGeom prst="rect">
            <a:avLst/>
          </a:prstGeom>
        </p:spPr>
      </p:pic>
      <p:pic>
        <p:nvPicPr>
          <p:cNvPr id="6" name="그림 5"/>
          <p:cNvPicPr>
            <a:picLocks noChangeAspect="1"/>
          </p:cNvPicPr>
          <p:nvPr/>
        </p:nvPicPr>
        <p:blipFill>
          <a:blip r:embed="rId3"/>
          <a:stretch>
            <a:fillRect/>
          </a:stretch>
        </p:blipFill>
        <p:spPr>
          <a:xfrm>
            <a:off x="251520" y="2355726"/>
            <a:ext cx="5507764" cy="2122971"/>
          </a:xfrm>
          <a:prstGeom prst="rect">
            <a:avLst/>
          </a:prstGeom>
        </p:spPr>
      </p:pic>
    </p:spTree>
    <p:extLst>
      <p:ext uri="{BB962C8B-B14F-4D97-AF65-F5344CB8AC3E}">
        <p14:creationId xmlns:p14="http://schemas.microsoft.com/office/powerpoint/2010/main" val="36779326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Abstract Factory – Class Diagram</a:t>
            </a:r>
            <a:endParaRPr lang="ko-KR" altLang="en-US" spc="0" dirty="0"/>
          </a:p>
        </p:txBody>
      </p:sp>
      <p:pic>
        <p:nvPicPr>
          <p:cNvPr id="4" name="내용 개체 틀 3"/>
          <p:cNvPicPr>
            <a:picLocks noGrp="1" noChangeAspect="1"/>
          </p:cNvPicPr>
          <p:nvPr>
            <p:ph idx="1"/>
          </p:nvPr>
        </p:nvPicPr>
        <p:blipFill>
          <a:blip r:embed="rId2"/>
          <a:stretch>
            <a:fillRect/>
          </a:stretch>
        </p:blipFill>
        <p:spPr>
          <a:xfrm>
            <a:off x="1238786" y="908050"/>
            <a:ext cx="6737866" cy="3751263"/>
          </a:xfrm>
          <a:prstGeom prst="rect">
            <a:avLst/>
          </a:prstGeom>
        </p:spPr>
      </p:pic>
    </p:spTree>
    <p:extLst>
      <p:ext uri="{BB962C8B-B14F-4D97-AF65-F5344CB8AC3E}">
        <p14:creationId xmlns:p14="http://schemas.microsoft.com/office/powerpoint/2010/main" val="20100922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6FA8AEC-3CB1-4922-AD61-72A93B6E6A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5216" y="1342101"/>
            <a:ext cx="4067944" cy="3775433"/>
          </a:xfrm>
          <a:prstGeom prst="rect">
            <a:avLst/>
          </a:prstGeom>
          <a:noFill/>
          <a:extLst>
            <a:ext uri="{909E8E84-426E-40DD-AFC4-6F175D3DCCD1}">
              <a14:hiddenFill xmlns:a14="http://schemas.microsoft.com/office/drawing/2010/main">
                <a:solidFill>
                  <a:srgbClr val="FFFFFF"/>
                </a:solidFill>
              </a14:hiddenFill>
            </a:ext>
          </a:extLst>
        </p:spPr>
      </p:pic>
      <p:sp>
        <p:nvSpPr>
          <p:cNvPr id="2" name="내용 개체 틀 1"/>
          <p:cNvSpPr>
            <a:spLocks noGrp="1"/>
          </p:cNvSpPr>
          <p:nvPr>
            <p:ph idx="1"/>
          </p:nvPr>
        </p:nvSpPr>
        <p:spPr>
          <a:xfrm>
            <a:off x="70992" y="1564650"/>
            <a:ext cx="5365104" cy="3383363"/>
          </a:xfrm>
        </p:spPr>
        <p:txBody>
          <a:bodyPr>
            <a:normAutofit/>
          </a:bodyPr>
          <a:lstStyle/>
          <a:p>
            <a:pPr marL="91463" indent="0">
              <a:lnSpc>
                <a:spcPct val="80000"/>
              </a:lnSpc>
              <a:buNone/>
            </a:pPr>
            <a:r>
              <a:rPr lang="en-US" altLang="ko-KR" sz="1400" b="1" spc="0" dirty="0" err="1"/>
              <a:t>SnowWhite</a:t>
            </a:r>
            <a:r>
              <a:rPr lang="en-US" altLang="ko-KR" sz="1400" b="1" spc="0" dirty="0"/>
              <a:t> </a:t>
            </a:r>
            <a:r>
              <a:rPr lang="ko-KR" altLang="en-US" sz="1400" b="1" spc="0" dirty="0"/>
              <a:t>테마의 </a:t>
            </a:r>
            <a:r>
              <a:rPr lang="en-US" altLang="ko-KR" sz="1400" b="1" spc="0" dirty="0"/>
              <a:t>Maze </a:t>
            </a:r>
            <a:r>
              <a:rPr lang="ko-KR" altLang="en-US" sz="1400" b="1" spc="0" dirty="0"/>
              <a:t>생성</a:t>
            </a:r>
            <a:endParaRPr lang="en-US" altLang="ko-KR" sz="1400" b="1" spc="0" dirty="0"/>
          </a:p>
          <a:p>
            <a:pPr marL="91463" indent="0">
              <a:lnSpc>
                <a:spcPct val="80000"/>
              </a:lnSpc>
              <a:buNone/>
            </a:pPr>
            <a:r>
              <a:rPr lang="en-US" altLang="ko-KR" sz="1400" spc="0" dirty="0"/>
              <a:t>(1) </a:t>
            </a:r>
            <a:r>
              <a:rPr lang="en-US" altLang="ko-KR" sz="1400" b="1" spc="0" dirty="0" err="1">
                <a:solidFill>
                  <a:srgbClr val="0066FF"/>
                </a:solidFill>
              </a:rPr>
              <a:t>harry.HarryPotterMazeFactory</a:t>
            </a:r>
            <a:r>
              <a:rPr lang="en-US" altLang="ko-KR" sz="1400" spc="0" dirty="0"/>
              <a:t> </a:t>
            </a:r>
            <a:r>
              <a:rPr lang="ko-KR" altLang="en-US" sz="1400" spc="0" dirty="0"/>
              <a:t>클래스의 소스코드 분석</a:t>
            </a:r>
          </a:p>
          <a:p>
            <a:pPr marL="91463" indent="0">
              <a:lnSpc>
                <a:spcPct val="80000"/>
              </a:lnSpc>
              <a:buNone/>
            </a:pPr>
            <a:r>
              <a:rPr lang="en-US" altLang="ko-KR" sz="1400" spc="0" dirty="0"/>
              <a:t>(2)</a:t>
            </a:r>
            <a:r>
              <a:rPr lang="en-US" altLang="ko-KR" sz="1400" spc="0" dirty="0">
                <a:solidFill>
                  <a:srgbClr val="FF0000"/>
                </a:solidFill>
              </a:rPr>
              <a:t> </a:t>
            </a:r>
            <a:r>
              <a:rPr lang="en-US" altLang="ko-KR" sz="1400" b="1" spc="0" dirty="0" err="1">
                <a:solidFill>
                  <a:srgbClr val="0066FF"/>
                </a:solidFill>
              </a:rPr>
              <a:t>snow.SnowWhiteMazeFactory</a:t>
            </a:r>
            <a:r>
              <a:rPr lang="en-US" altLang="ko-KR" sz="1400" spc="0" dirty="0">
                <a:solidFill>
                  <a:srgbClr val="FF0000"/>
                </a:solidFill>
              </a:rPr>
              <a:t> </a:t>
            </a:r>
            <a:r>
              <a:rPr lang="ko-KR" altLang="en-US" sz="1400" spc="0" dirty="0"/>
              <a:t>클래스 수정</a:t>
            </a:r>
            <a:endParaRPr lang="en-US" altLang="ko-KR" sz="1400" spc="0" dirty="0"/>
          </a:p>
          <a:p>
            <a:pPr marL="91463" indent="0">
              <a:lnSpc>
                <a:spcPct val="80000"/>
              </a:lnSpc>
              <a:buNone/>
            </a:pPr>
            <a:r>
              <a:rPr lang="en-US" altLang="ko-KR" sz="1400" spc="0" dirty="0"/>
              <a:t>(3) </a:t>
            </a:r>
            <a:r>
              <a:rPr lang="en-US" altLang="ko-KR" sz="1400" b="1" spc="0" dirty="0" err="1">
                <a:solidFill>
                  <a:srgbClr val="0066FF"/>
                </a:solidFill>
              </a:rPr>
              <a:t>snow.SnowWhiteDoor</a:t>
            </a:r>
            <a:r>
              <a:rPr lang="en-US" altLang="ko-KR" sz="1400" spc="0" dirty="0">
                <a:solidFill>
                  <a:srgbClr val="FF0000"/>
                </a:solidFill>
              </a:rPr>
              <a:t> </a:t>
            </a:r>
            <a:r>
              <a:rPr lang="ko-KR" altLang="en-US" sz="1400" spc="0" dirty="0"/>
              <a:t>클래스 수정</a:t>
            </a:r>
          </a:p>
          <a:p>
            <a:pPr marL="91463" indent="0">
              <a:lnSpc>
                <a:spcPct val="80000"/>
              </a:lnSpc>
              <a:buNone/>
            </a:pPr>
            <a:r>
              <a:rPr lang="en-US" altLang="ko-KR" sz="1400" spc="0" dirty="0"/>
              <a:t>(4) </a:t>
            </a:r>
            <a:r>
              <a:rPr lang="en-US" altLang="ko-KR" sz="1400" b="1" spc="0" dirty="0" err="1">
                <a:solidFill>
                  <a:srgbClr val="0066FF"/>
                </a:solidFill>
              </a:rPr>
              <a:t>MazeGameAbstractFactory</a:t>
            </a:r>
            <a:r>
              <a:rPr lang="en-US" altLang="ko-KR" sz="1400" b="1" spc="0" dirty="0">
                <a:solidFill>
                  <a:srgbClr val="0066FF"/>
                </a:solidFill>
              </a:rPr>
              <a:t> </a:t>
            </a:r>
            <a:r>
              <a:rPr lang="ko-KR" altLang="en-US" sz="1400" spc="0" dirty="0"/>
              <a:t>클래스 수정 </a:t>
            </a:r>
            <a:r>
              <a:rPr lang="en-US" altLang="ko-KR" sz="1400" spc="0" dirty="0"/>
              <a:t>(</a:t>
            </a:r>
            <a:r>
              <a:rPr lang="ko-KR" altLang="en-US" sz="1400" b="1" spc="0" dirty="0">
                <a:solidFill>
                  <a:srgbClr val="0066FF"/>
                </a:solidFill>
              </a:rPr>
              <a:t>주석 삭제</a:t>
            </a:r>
            <a:r>
              <a:rPr lang="en-US" altLang="ko-KR" sz="1400" b="1" spc="0" dirty="0">
                <a:solidFill>
                  <a:srgbClr val="0066FF"/>
                </a:solidFill>
              </a:rPr>
              <a:t>)</a:t>
            </a:r>
          </a:p>
          <a:p>
            <a:pPr marL="91463" indent="0">
              <a:lnSpc>
                <a:spcPct val="80000"/>
              </a:lnSpc>
              <a:buNone/>
            </a:pPr>
            <a:endParaRPr lang="en-US" altLang="ko-KR" sz="1400" b="1" spc="0" dirty="0">
              <a:solidFill>
                <a:srgbClr val="0066FF"/>
              </a:solidFill>
            </a:endParaRPr>
          </a:p>
          <a:p>
            <a:pPr marL="91463" indent="0">
              <a:lnSpc>
                <a:spcPct val="80000"/>
              </a:lnSpc>
              <a:buNone/>
            </a:pPr>
            <a:endParaRPr lang="en-US" altLang="ko-KR" sz="1400" b="1" spc="0" dirty="0">
              <a:solidFill>
                <a:srgbClr val="0066FF"/>
              </a:solidFill>
            </a:endParaRPr>
          </a:p>
          <a:p>
            <a:pPr marL="91463" indent="0">
              <a:lnSpc>
                <a:spcPct val="80000"/>
              </a:lnSpc>
              <a:buNone/>
            </a:pPr>
            <a:endParaRPr lang="en-US" altLang="ko-KR" sz="1400" b="1" spc="0" dirty="0">
              <a:solidFill>
                <a:srgbClr val="0066FF"/>
              </a:solidFill>
            </a:endParaRPr>
          </a:p>
          <a:p>
            <a:pPr marL="91463" indent="0">
              <a:lnSpc>
                <a:spcPct val="80000"/>
              </a:lnSpc>
              <a:buNone/>
            </a:pPr>
            <a:endParaRPr lang="en-US" altLang="ko-KR" sz="1400" b="1" spc="0" dirty="0">
              <a:solidFill>
                <a:srgbClr val="0066FF"/>
              </a:solidFill>
            </a:endParaRPr>
          </a:p>
          <a:p>
            <a:pPr marL="91463" lvl="0" indent="0">
              <a:lnSpc>
                <a:spcPct val="100000"/>
              </a:lnSpc>
              <a:buClr>
                <a:prstClr val="black">
                  <a:lumMod val="75000"/>
                  <a:lumOff val="25000"/>
                </a:prstClr>
              </a:buClr>
              <a:buNone/>
            </a:pPr>
            <a:r>
              <a:rPr lang="en-US" altLang="ko-KR" sz="1400" spc="0" dirty="0">
                <a:solidFill>
                  <a:prstClr val="black"/>
                </a:solidFill>
              </a:rPr>
              <a:t>(5) </a:t>
            </a:r>
            <a:r>
              <a:rPr lang="en-US" altLang="ko-KR" sz="1400" b="1" spc="0" dirty="0">
                <a:solidFill>
                  <a:prstClr val="black"/>
                </a:solidFill>
              </a:rPr>
              <a:t>Build and run </a:t>
            </a:r>
            <a:r>
              <a:rPr lang="ko-KR" altLang="en-US" sz="1400" spc="0" dirty="0">
                <a:solidFill>
                  <a:prstClr val="black"/>
                </a:solidFill>
              </a:rPr>
              <a:t>의</a:t>
            </a:r>
            <a:r>
              <a:rPr lang="en-US" altLang="ko-KR" sz="1400" spc="0" dirty="0">
                <a:solidFill>
                  <a:prstClr val="black"/>
                </a:solidFill>
              </a:rPr>
              <a:t> Program arguments </a:t>
            </a:r>
            <a:r>
              <a:rPr lang="ko-KR" altLang="en-US" sz="1400" spc="0" dirty="0">
                <a:solidFill>
                  <a:prstClr val="black"/>
                </a:solidFill>
              </a:rPr>
              <a:t>에 </a:t>
            </a:r>
            <a:br>
              <a:rPr lang="en-US" altLang="ko-KR" sz="1400" spc="0" dirty="0">
                <a:solidFill>
                  <a:prstClr val="black"/>
                </a:solidFill>
              </a:rPr>
            </a:br>
            <a:r>
              <a:rPr lang="en-US" altLang="ko-KR" sz="1400" spc="0" dirty="0">
                <a:solidFill>
                  <a:prstClr val="black"/>
                </a:solidFill>
              </a:rPr>
              <a:t>    </a:t>
            </a:r>
            <a:r>
              <a:rPr lang="en-US" altLang="ko-KR" sz="1400" b="1" spc="0" dirty="0">
                <a:solidFill>
                  <a:srgbClr val="0066FF"/>
                </a:solidFill>
              </a:rPr>
              <a:t>“Snow” </a:t>
            </a:r>
            <a:r>
              <a:rPr lang="ko-KR" altLang="en-US" sz="1400" spc="0" dirty="0">
                <a:solidFill>
                  <a:prstClr val="black"/>
                </a:solidFill>
              </a:rPr>
              <a:t>입력 후 실행</a:t>
            </a:r>
          </a:p>
          <a:p>
            <a:pPr marL="91463" indent="0">
              <a:lnSpc>
                <a:spcPct val="80000"/>
              </a:lnSpc>
              <a:buNone/>
            </a:pPr>
            <a:endParaRPr lang="ko-KR" altLang="en-US" sz="1400" b="1" spc="0" dirty="0">
              <a:solidFill>
                <a:srgbClr val="0066FF"/>
              </a:solidFill>
            </a:endParaRPr>
          </a:p>
        </p:txBody>
      </p:sp>
      <p:sp>
        <p:nvSpPr>
          <p:cNvPr id="3" name="제목 2"/>
          <p:cNvSpPr>
            <a:spLocks noGrp="1"/>
          </p:cNvSpPr>
          <p:nvPr>
            <p:ph type="title"/>
          </p:nvPr>
        </p:nvSpPr>
        <p:spPr/>
        <p:txBody>
          <a:bodyPr/>
          <a:lstStyle/>
          <a:p>
            <a:r>
              <a:rPr lang="en-US" altLang="ko-KR" spc="0" dirty="0"/>
              <a:t>[Practice 7-1] Abstract Factory </a:t>
            </a:r>
            <a:r>
              <a:rPr lang="ko-KR" altLang="en-US" spc="0" dirty="0"/>
              <a:t>기반 </a:t>
            </a:r>
            <a:r>
              <a:rPr lang="en-US" altLang="ko-KR" spc="0" dirty="0"/>
              <a:t>Maze Game</a:t>
            </a:r>
            <a:endParaRPr lang="ko-KR" altLang="en-US" spc="0" dirty="0"/>
          </a:p>
        </p:txBody>
      </p:sp>
      <p:sp>
        <p:nvSpPr>
          <p:cNvPr id="6" name="직사각형 5"/>
          <p:cNvSpPr/>
          <p:nvPr/>
        </p:nvSpPr>
        <p:spPr>
          <a:xfrm>
            <a:off x="251520" y="644032"/>
            <a:ext cx="8532440" cy="609398"/>
          </a:xfrm>
          <a:prstGeom prst="rect">
            <a:avLst/>
          </a:prstGeom>
          <a:solidFill>
            <a:schemeClr val="accent1">
              <a:lumMod val="20000"/>
              <a:lumOff val="80000"/>
            </a:schemeClr>
          </a:solidFill>
        </p:spPr>
        <p:txBody>
          <a:bodyPr wrap="square">
            <a:spAutoFit/>
          </a:bodyPr>
          <a:lstStyle/>
          <a:p>
            <a:pPr>
              <a:lnSpc>
                <a:spcPct val="80000"/>
              </a:lnSpc>
            </a:pPr>
            <a:r>
              <a:rPr lang="en-US" altLang="ko-KR" sz="1400" b="1" dirty="0"/>
              <a:t>[</a:t>
            </a:r>
            <a:r>
              <a:rPr lang="ko-KR" altLang="en-US" sz="1400" b="1" dirty="0"/>
              <a:t>실습 코드</a:t>
            </a:r>
            <a:r>
              <a:rPr lang="en-US" altLang="ko-KR" sz="1400" b="1" dirty="0"/>
              <a:t>] </a:t>
            </a:r>
            <a:r>
              <a:rPr lang="en-US" altLang="ko-KR" sz="1400" dirty="0"/>
              <a:t>7_factorymethod_mazeProblem</a:t>
            </a:r>
          </a:p>
          <a:p>
            <a:pPr>
              <a:lnSpc>
                <a:spcPct val="80000"/>
              </a:lnSpc>
            </a:pPr>
            <a:endParaRPr lang="en-US" altLang="ko-KR" sz="1400" dirty="0"/>
          </a:p>
          <a:p>
            <a:pPr>
              <a:lnSpc>
                <a:spcPct val="80000"/>
              </a:lnSpc>
            </a:pPr>
            <a:r>
              <a:rPr lang="en-US" altLang="ko-KR" sz="1400" b="1" dirty="0">
                <a:solidFill>
                  <a:srgbClr val="FF0000"/>
                </a:solidFill>
              </a:rPr>
              <a:t>/maze/MazeGameAbstractFactory.java</a:t>
            </a:r>
          </a:p>
        </p:txBody>
      </p:sp>
      <p:sp>
        <p:nvSpPr>
          <p:cNvPr id="8" name="Rectangle 3"/>
          <p:cNvSpPr>
            <a:spLocks noChangeArrowheads="1"/>
          </p:cNvSpPr>
          <p:nvPr/>
        </p:nvSpPr>
        <p:spPr bwMode="auto">
          <a:xfrm>
            <a:off x="474872" y="3003798"/>
            <a:ext cx="4176464" cy="99257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r>
              <a:rPr lang="en-US" altLang="ko-KR" sz="1000" dirty="0"/>
              <a:t>  if ("</a:t>
            </a:r>
            <a:r>
              <a:rPr lang="en-US" altLang="ko-KR" sz="1000" dirty="0" err="1"/>
              <a:t>Harry".equals</a:t>
            </a:r>
            <a:r>
              <a:rPr lang="en-US" altLang="ko-KR" sz="1000" dirty="0"/>
              <a:t>(</a:t>
            </a:r>
            <a:r>
              <a:rPr lang="en-US" altLang="ko-KR" sz="1000" dirty="0" err="1"/>
              <a:t>args</a:t>
            </a:r>
            <a:r>
              <a:rPr lang="en-US" altLang="ko-KR" sz="1000" dirty="0"/>
              <a:t>[0])) { </a:t>
            </a:r>
          </a:p>
          <a:p>
            <a:r>
              <a:rPr lang="en-US" altLang="ko-KR" sz="1000" dirty="0"/>
              <a:t>    factory = new </a:t>
            </a:r>
            <a:r>
              <a:rPr lang="en-US" altLang="ko-KR" sz="1000" dirty="0" err="1"/>
              <a:t>maze.harry.HarryPotterMazeFactory</a:t>
            </a:r>
            <a:r>
              <a:rPr lang="en-US" altLang="ko-KR" sz="1000" dirty="0"/>
              <a:t>(); </a:t>
            </a:r>
          </a:p>
          <a:p>
            <a:r>
              <a:rPr lang="en-US" altLang="ko-KR" sz="1000" dirty="0"/>
              <a:t>  } </a:t>
            </a:r>
          </a:p>
          <a:p>
            <a:r>
              <a:rPr lang="en-US" altLang="ko-KR" sz="1000" i="1" dirty="0">
                <a:solidFill>
                  <a:srgbClr val="00B050"/>
                </a:solidFill>
              </a:rPr>
              <a:t>//   else if ("</a:t>
            </a:r>
            <a:r>
              <a:rPr lang="en-US" altLang="ko-KR" sz="1000" i="1" dirty="0" err="1">
                <a:solidFill>
                  <a:srgbClr val="00B050"/>
                </a:solidFill>
              </a:rPr>
              <a:t>Snow".equals</a:t>
            </a:r>
            <a:r>
              <a:rPr lang="en-US" altLang="ko-KR" sz="1000" i="1" dirty="0">
                <a:solidFill>
                  <a:srgbClr val="00B050"/>
                </a:solidFill>
              </a:rPr>
              <a:t>(</a:t>
            </a:r>
            <a:r>
              <a:rPr lang="en-US" altLang="ko-KR" sz="1000" i="1" dirty="0" err="1">
                <a:solidFill>
                  <a:srgbClr val="00B050"/>
                </a:solidFill>
              </a:rPr>
              <a:t>args</a:t>
            </a:r>
            <a:r>
              <a:rPr lang="en-US" altLang="ko-KR" sz="1000" i="1" dirty="0">
                <a:solidFill>
                  <a:srgbClr val="00B050"/>
                </a:solidFill>
              </a:rPr>
              <a:t>[0])) { </a:t>
            </a:r>
          </a:p>
          <a:p>
            <a:r>
              <a:rPr lang="en-US" altLang="ko-KR" sz="1000" i="1" dirty="0">
                <a:solidFill>
                  <a:srgbClr val="00B050"/>
                </a:solidFill>
              </a:rPr>
              <a:t>//     factory = new </a:t>
            </a:r>
            <a:r>
              <a:rPr lang="en-US" altLang="ko-KR" sz="1000" i="1" dirty="0" err="1">
                <a:solidFill>
                  <a:srgbClr val="00B050"/>
                </a:solidFill>
              </a:rPr>
              <a:t>maze.snow.SnowWhiteMazeFactory</a:t>
            </a:r>
            <a:r>
              <a:rPr lang="en-US" altLang="ko-KR" sz="1000" i="1" dirty="0">
                <a:solidFill>
                  <a:srgbClr val="00B050"/>
                </a:solidFill>
              </a:rPr>
              <a:t>(); </a:t>
            </a:r>
          </a:p>
          <a:p>
            <a:r>
              <a:rPr lang="en-US" altLang="ko-KR" sz="1000" i="1" dirty="0">
                <a:solidFill>
                  <a:srgbClr val="00B050"/>
                </a:solidFill>
              </a:rPr>
              <a:t>//   }</a:t>
            </a:r>
          </a:p>
        </p:txBody>
      </p:sp>
    </p:spTree>
    <p:extLst>
      <p:ext uri="{BB962C8B-B14F-4D97-AF65-F5344CB8AC3E}">
        <p14:creationId xmlns:p14="http://schemas.microsoft.com/office/powerpoint/2010/main" val="2977824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7-1] Abstract Factory </a:t>
            </a:r>
            <a:r>
              <a:rPr lang="ko-KR" altLang="en-US" spc="0" dirty="0"/>
              <a:t>기반 </a:t>
            </a:r>
            <a:r>
              <a:rPr lang="en-US" altLang="ko-KR" spc="0" dirty="0"/>
              <a:t>Maze Game (solution)</a:t>
            </a:r>
            <a:endParaRPr lang="ko-KR" altLang="en-US" spc="0" dirty="0"/>
          </a:p>
        </p:txBody>
      </p:sp>
      <p:pic>
        <p:nvPicPr>
          <p:cNvPr id="4" name="Picture 4">
            <a:extLst>
              <a:ext uri="{FF2B5EF4-FFF2-40B4-BE49-F238E27FC236}">
                <a16:creationId xmlns:a16="http://schemas.microsoft.com/office/drawing/2014/main" id="{F6FA8AEC-3CB1-4922-AD61-72A93B6E6A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699542"/>
            <a:ext cx="4067944" cy="3775433"/>
          </a:xfrm>
          <a:prstGeom prst="rect">
            <a:avLst/>
          </a:prstGeom>
          <a:noFill/>
          <a:extLst>
            <a:ext uri="{909E8E84-426E-40DD-AFC4-6F175D3DCCD1}">
              <a14:hiddenFill xmlns:a14="http://schemas.microsoft.com/office/drawing/2010/main">
                <a:solidFill>
                  <a:srgbClr val="FFFFFF"/>
                </a:solidFill>
              </a14:hiddenFill>
            </a:ext>
          </a:extLst>
        </p:spPr>
      </p:pic>
      <p:sp>
        <p:nvSpPr>
          <p:cNvPr id="6" name="직사각형 5"/>
          <p:cNvSpPr/>
          <p:nvPr/>
        </p:nvSpPr>
        <p:spPr>
          <a:xfrm>
            <a:off x="2419924" y="3822821"/>
            <a:ext cx="1800200" cy="7200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ko-KR" sz="1200" b="1" dirty="0">
                <a:solidFill>
                  <a:srgbClr val="2A2D72"/>
                </a:solidFill>
              </a:rPr>
              <a:t>Client</a:t>
            </a:r>
            <a:endParaRPr lang="ko-KR" altLang="en-US" sz="1200" b="1" dirty="0">
              <a:solidFill>
                <a:srgbClr val="2A2D72"/>
              </a:solidFill>
            </a:endParaRPr>
          </a:p>
        </p:txBody>
      </p:sp>
      <p:cxnSp>
        <p:nvCxnSpPr>
          <p:cNvPr id="7" name="직선 연결선 6"/>
          <p:cNvCxnSpPr/>
          <p:nvPr/>
        </p:nvCxnSpPr>
        <p:spPr>
          <a:xfrm>
            <a:off x="4283968" y="4439705"/>
            <a:ext cx="828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직선 연결선 7"/>
          <p:cNvCxnSpPr/>
          <p:nvPr/>
        </p:nvCxnSpPr>
        <p:spPr>
          <a:xfrm>
            <a:off x="5123572" y="2409767"/>
            <a:ext cx="0" cy="198000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설명선 2 10"/>
          <p:cNvSpPr/>
          <p:nvPr/>
        </p:nvSpPr>
        <p:spPr>
          <a:xfrm>
            <a:off x="5508104" y="4449599"/>
            <a:ext cx="3600400" cy="642431"/>
          </a:xfrm>
          <a:prstGeom prst="borderCallout2">
            <a:avLst>
              <a:gd name="adj1" fmla="val 19560"/>
              <a:gd name="adj2" fmla="val -851"/>
              <a:gd name="adj3" fmla="val 19829"/>
              <a:gd name="adj4" fmla="val -25651"/>
              <a:gd name="adj5" fmla="val 2078"/>
              <a:gd name="adj6" fmla="val -40579"/>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b="1" dirty="0">
                <a:solidFill>
                  <a:srgbClr val="2A2D72"/>
                </a:solidFill>
              </a:rPr>
              <a:t>Client </a:t>
            </a:r>
            <a:r>
              <a:rPr lang="ko-KR" altLang="en-US" sz="900" b="1" dirty="0">
                <a:solidFill>
                  <a:srgbClr val="2A2D72"/>
                </a:solidFill>
              </a:rPr>
              <a:t>코드에 </a:t>
            </a:r>
            <a:r>
              <a:rPr lang="en-US" altLang="ko-KR" sz="900" b="1" dirty="0">
                <a:solidFill>
                  <a:srgbClr val="2A2D72"/>
                </a:solidFill>
              </a:rPr>
              <a:t>Object Composition &amp; Delegation </a:t>
            </a:r>
            <a:r>
              <a:rPr lang="ko-KR" altLang="en-US" sz="900" b="1" dirty="0">
                <a:solidFill>
                  <a:srgbClr val="2A2D72"/>
                </a:solidFill>
              </a:rPr>
              <a:t>가 관찰됨</a:t>
            </a:r>
            <a:endParaRPr lang="en-US" altLang="ko-KR" sz="900" b="1" dirty="0">
              <a:solidFill>
                <a:srgbClr val="2A2D72"/>
              </a:solidFill>
            </a:endParaRPr>
          </a:p>
          <a:p>
            <a:r>
              <a:rPr lang="en-US" altLang="ko-KR" sz="900" dirty="0">
                <a:solidFill>
                  <a:srgbClr val="2A2D72"/>
                </a:solidFill>
              </a:rPr>
              <a:t>`maze = </a:t>
            </a:r>
            <a:r>
              <a:rPr lang="en-US" altLang="ko-KR" sz="900" dirty="0" err="1">
                <a:solidFill>
                  <a:srgbClr val="2A2D72"/>
                </a:solidFill>
              </a:rPr>
              <a:t>createMaze</a:t>
            </a:r>
            <a:r>
              <a:rPr lang="en-US" altLang="ko-KR" sz="900" dirty="0">
                <a:solidFill>
                  <a:srgbClr val="2A2D72"/>
                </a:solidFill>
              </a:rPr>
              <a:t>(</a:t>
            </a:r>
            <a:r>
              <a:rPr lang="en-US" altLang="ko-KR" sz="900" b="1" dirty="0">
                <a:solidFill>
                  <a:srgbClr val="2A2D72"/>
                </a:solidFill>
              </a:rPr>
              <a:t>factory</a:t>
            </a:r>
            <a:r>
              <a:rPr lang="en-US" altLang="ko-KR" sz="900" dirty="0">
                <a:solidFill>
                  <a:srgbClr val="2A2D72"/>
                </a:solidFill>
              </a:rPr>
              <a:t>);`</a:t>
            </a:r>
          </a:p>
          <a:p>
            <a:r>
              <a:rPr lang="en-US" altLang="ko-KR" sz="900" dirty="0">
                <a:solidFill>
                  <a:srgbClr val="2A2D72"/>
                </a:solidFill>
              </a:rPr>
              <a:t>…</a:t>
            </a:r>
          </a:p>
          <a:p>
            <a:r>
              <a:rPr lang="en-US" altLang="ko-KR" sz="900" dirty="0">
                <a:solidFill>
                  <a:srgbClr val="2A2D72"/>
                </a:solidFill>
              </a:rPr>
              <a:t>`</a:t>
            </a:r>
            <a:r>
              <a:rPr lang="en-US" altLang="ko-KR" sz="900" dirty="0" err="1">
                <a:solidFill>
                  <a:srgbClr val="2A2D72"/>
                </a:solidFill>
              </a:rPr>
              <a:t>factory.makeWall</a:t>
            </a:r>
            <a:r>
              <a:rPr lang="en-US" altLang="ko-KR" sz="900" dirty="0">
                <a:solidFill>
                  <a:srgbClr val="2A2D72"/>
                </a:solidFill>
              </a:rPr>
              <a:t>()`</a:t>
            </a:r>
            <a:endParaRPr lang="ko-KR" altLang="en-US" sz="900" dirty="0">
              <a:solidFill>
                <a:srgbClr val="2A2D72"/>
              </a:solidFill>
            </a:endParaRPr>
          </a:p>
        </p:txBody>
      </p:sp>
      <p:sp>
        <p:nvSpPr>
          <p:cNvPr id="10" name="직사각형 9">
            <a:extLst>
              <a:ext uri="{FF2B5EF4-FFF2-40B4-BE49-F238E27FC236}">
                <a16:creationId xmlns:a16="http://schemas.microsoft.com/office/drawing/2014/main" id="{7EE2290C-8937-E118-6E09-13D0E984A32A}"/>
              </a:ext>
            </a:extLst>
          </p:cNvPr>
          <p:cNvSpPr>
            <a:spLocks/>
          </p:cNvSpPr>
          <p:nvPr/>
        </p:nvSpPr>
        <p:spPr>
          <a:xfrm>
            <a:off x="2698691" y="2396637"/>
            <a:ext cx="936104" cy="5195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ko-KR" altLang="en-US" sz="1400" dirty="0">
              <a:solidFill>
                <a:srgbClr val="2A2D72"/>
              </a:solidFill>
            </a:endParaRPr>
          </a:p>
        </p:txBody>
      </p:sp>
      <p:sp>
        <p:nvSpPr>
          <p:cNvPr id="12" name="TextBox 11">
            <a:extLst>
              <a:ext uri="{FF2B5EF4-FFF2-40B4-BE49-F238E27FC236}">
                <a16:creationId xmlns:a16="http://schemas.microsoft.com/office/drawing/2014/main" id="{71A80D54-4629-2135-A4B1-B8B9DFA76FA8}"/>
              </a:ext>
            </a:extLst>
          </p:cNvPr>
          <p:cNvSpPr txBox="1"/>
          <p:nvPr/>
        </p:nvSpPr>
        <p:spPr>
          <a:xfrm>
            <a:off x="3562787" y="2523788"/>
            <a:ext cx="1608133" cy="253916"/>
          </a:xfrm>
          <a:prstGeom prst="rect">
            <a:avLst/>
          </a:prstGeom>
          <a:noFill/>
        </p:spPr>
        <p:txBody>
          <a:bodyPr wrap="none" rtlCol="0">
            <a:spAutoFit/>
          </a:bodyPr>
          <a:lstStyle/>
          <a:p>
            <a:r>
              <a:rPr lang="en-US" altLang="ko-KR" sz="1050" dirty="0" err="1">
                <a:solidFill>
                  <a:srgbClr val="2A2D72"/>
                </a:solidFill>
              </a:rPr>
              <a:t>createProduct</a:t>
            </a:r>
            <a:r>
              <a:rPr lang="en-US" altLang="ko-KR" sz="1050" dirty="0">
                <a:solidFill>
                  <a:srgbClr val="2A2D72"/>
                </a:solidFill>
              </a:rPr>
              <a:t> method </a:t>
            </a:r>
            <a:endParaRPr lang="ko-KR" altLang="en-US" sz="1050" dirty="0">
              <a:solidFill>
                <a:srgbClr val="2A2D72"/>
              </a:solidFill>
            </a:endParaRPr>
          </a:p>
        </p:txBody>
      </p:sp>
      <p:sp>
        <p:nvSpPr>
          <p:cNvPr id="13" name="TextBox 12">
            <a:extLst>
              <a:ext uri="{FF2B5EF4-FFF2-40B4-BE49-F238E27FC236}">
                <a16:creationId xmlns:a16="http://schemas.microsoft.com/office/drawing/2014/main" id="{43A4EE43-0E04-08D8-76BF-70D01BA79A14}"/>
              </a:ext>
            </a:extLst>
          </p:cNvPr>
          <p:cNvSpPr txBox="1"/>
          <p:nvPr/>
        </p:nvSpPr>
        <p:spPr>
          <a:xfrm>
            <a:off x="1558475" y="2396637"/>
            <a:ext cx="1173719" cy="261610"/>
          </a:xfrm>
          <a:prstGeom prst="rect">
            <a:avLst/>
          </a:prstGeom>
          <a:noFill/>
        </p:spPr>
        <p:txBody>
          <a:bodyPr wrap="none" rtlCol="0">
            <a:spAutoFit/>
          </a:bodyPr>
          <a:lstStyle/>
          <a:p>
            <a:r>
              <a:rPr lang="en-US" altLang="ko-KR" sz="1100" dirty="0" err="1">
                <a:solidFill>
                  <a:srgbClr val="2A2D72"/>
                </a:solidFill>
              </a:rPr>
              <a:t>AbstractFactory</a:t>
            </a:r>
            <a:endParaRPr lang="ko-KR" altLang="en-US" sz="1100" dirty="0">
              <a:solidFill>
                <a:srgbClr val="2A2D72"/>
              </a:solidFill>
            </a:endParaRPr>
          </a:p>
        </p:txBody>
      </p:sp>
      <p:sp>
        <p:nvSpPr>
          <p:cNvPr id="14" name="TextBox 13">
            <a:extLst>
              <a:ext uri="{FF2B5EF4-FFF2-40B4-BE49-F238E27FC236}">
                <a16:creationId xmlns:a16="http://schemas.microsoft.com/office/drawing/2014/main" id="{1CC753EC-96A0-A6A3-6904-70E14CA8D42E}"/>
              </a:ext>
            </a:extLst>
          </p:cNvPr>
          <p:cNvSpPr txBox="1"/>
          <p:nvPr/>
        </p:nvSpPr>
        <p:spPr>
          <a:xfrm>
            <a:off x="474872" y="3277171"/>
            <a:ext cx="1220206" cy="261610"/>
          </a:xfrm>
          <a:prstGeom prst="rect">
            <a:avLst/>
          </a:prstGeom>
          <a:noFill/>
        </p:spPr>
        <p:txBody>
          <a:bodyPr wrap="none" rtlCol="0">
            <a:spAutoFit/>
          </a:bodyPr>
          <a:lstStyle/>
          <a:p>
            <a:r>
              <a:rPr lang="en-US" altLang="ko-KR" sz="1100" dirty="0" err="1">
                <a:solidFill>
                  <a:srgbClr val="2A2D72"/>
                </a:solidFill>
              </a:rPr>
              <a:t>ConcreteFactory</a:t>
            </a:r>
            <a:endParaRPr lang="ko-KR" altLang="en-US" sz="1100" dirty="0">
              <a:solidFill>
                <a:srgbClr val="2A2D72"/>
              </a:solidFill>
            </a:endParaRPr>
          </a:p>
        </p:txBody>
      </p:sp>
    </p:spTree>
    <p:extLst>
      <p:ext uri="{BB962C8B-B14F-4D97-AF65-F5344CB8AC3E}">
        <p14:creationId xmlns:p14="http://schemas.microsoft.com/office/powerpoint/2010/main" val="422592064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Factory Method – Class Diagram</a:t>
            </a:r>
            <a:endParaRPr lang="ko-KR" altLang="en-US" spc="0" dirty="0"/>
          </a:p>
        </p:txBody>
      </p:sp>
      <p:pic>
        <p:nvPicPr>
          <p:cNvPr id="7" name="내용 개체 틀 6"/>
          <p:cNvPicPr>
            <a:picLocks noGrp="1" noChangeAspect="1"/>
          </p:cNvPicPr>
          <p:nvPr>
            <p:ph idx="1"/>
          </p:nvPr>
        </p:nvPicPr>
        <p:blipFill>
          <a:blip r:embed="rId2"/>
          <a:stretch>
            <a:fillRect/>
          </a:stretch>
        </p:blipFill>
        <p:spPr>
          <a:xfrm>
            <a:off x="1475656" y="1419622"/>
            <a:ext cx="6049367" cy="2025629"/>
          </a:xfrm>
          <a:prstGeom prst="rect">
            <a:avLst/>
          </a:prstGeom>
        </p:spPr>
      </p:pic>
    </p:spTree>
    <p:extLst>
      <p:ext uri="{BB962C8B-B14F-4D97-AF65-F5344CB8AC3E}">
        <p14:creationId xmlns:p14="http://schemas.microsoft.com/office/powerpoint/2010/main" val="253827348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Factory Method – Class Diagram</a:t>
            </a:r>
            <a:endParaRPr lang="ko-KR" altLang="en-US" spc="0" dirty="0"/>
          </a:p>
        </p:txBody>
      </p:sp>
      <p:pic>
        <p:nvPicPr>
          <p:cNvPr id="5" name="그림 4"/>
          <p:cNvPicPr>
            <a:picLocks noChangeAspect="1"/>
          </p:cNvPicPr>
          <p:nvPr/>
        </p:nvPicPr>
        <p:blipFill>
          <a:blip r:embed="rId2"/>
          <a:stretch>
            <a:fillRect/>
          </a:stretch>
        </p:blipFill>
        <p:spPr>
          <a:xfrm>
            <a:off x="46587" y="2067694"/>
            <a:ext cx="4225878" cy="2390721"/>
          </a:xfrm>
          <a:prstGeom prst="rect">
            <a:avLst/>
          </a:prstGeom>
        </p:spPr>
      </p:pic>
      <p:pic>
        <p:nvPicPr>
          <p:cNvPr id="4" name="그림 3"/>
          <p:cNvPicPr>
            <a:picLocks noChangeAspect="1"/>
          </p:cNvPicPr>
          <p:nvPr/>
        </p:nvPicPr>
        <p:blipFill>
          <a:blip r:embed="rId3"/>
          <a:stretch>
            <a:fillRect/>
          </a:stretch>
        </p:blipFill>
        <p:spPr>
          <a:xfrm>
            <a:off x="4061041" y="1769711"/>
            <a:ext cx="4844051" cy="2688704"/>
          </a:xfrm>
          <a:prstGeom prst="rect">
            <a:avLst/>
          </a:prstGeom>
        </p:spPr>
      </p:pic>
      <p:sp>
        <p:nvSpPr>
          <p:cNvPr id="10" name="내용 개체 틀 1"/>
          <p:cNvSpPr>
            <a:spLocks noGrp="1"/>
          </p:cNvSpPr>
          <p:nvPr>
            <p:ph idx="1"/>
          </p:nvPr>
        </p:nvSpPr>
        <p:spPr>
          <a:xfrm>
            <a:off x="251520" y="771550"/>
            <a:ext cx="8712968" cy="860991"/>
          </a:xfrm>
        </p:spPr>
        <p:txBody>
          <a:bodyPr>
            <a:normAutofit/>
          </a:bodyPr>
          <a:lstStyle/>
          <a:p>
            <a:r>
              <a:rPr lang="en-US" altLang="ko-KR" sz="1200" dirty="0"/>
              <a:t>Factory Method pattern encapsulates object creation by letting subclasses decide what objects to create</a:t>
            </a:r>
            <a:endParaRPr lang="ko-KR" altLang="en-US" sz="1200" dirty="0"/>
          </a:p>
        </p:txBody>
      </p:sp>
    </p:spTree>
    <p:extLst>
      <p:ext uri="{BB962C8B-B14F-4D97-AF65-F5344CB8AC3E}">
        <p14:creationId xmlns:p14="http://schemas.microsoft.com/office/powerpoint/2010/main" val="390446561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그룹 8"/>
          <p:cNvGrpSpPr/>
          <p:nvPr/>
        </p:nvGrpSpPr>
        <p:grpSpPr>
          <a:xfrm>
            <a:off x="5137224" y="1383301"/>
            <a:ext cx="3765759" cy="3096344"/>
            <a:chOff x="4491945" y="1275606"/>
            <a:chExt cx="4472543" cy="3552606"/>
          </a:xfrm>
        </p:grpSpPr>
        <p:pic>
          <p:nvPicPr>
            <p:cNvPr id="10" name="Picture 2">
              <a:extLst>
                <a:ext uri="{FF2B5EF4-FFF2-40B4-BE49-F238E27FC236}">
                  <a16:creationId xmlns:a16="http://schemas.microsoft.com/office/drawing/2014/main" id="{DE43354C-57C1-472D-9527-0620462CE0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1945" y="1275606"/>
              <a:ext cx="4472543" cy="3552606"/>
            </a:xfrm>
            <a:prstGeom prst="rect">
              <a:avLst/>
            </a:prstGeom>
            <a:noFill/>
            <a:extLst>
              <a:ext uri="{909E8E84-426E-40DD-AFC4-6F175D3DCCD1}">
                <a14:hiddenFill xmlns:a14="http://schemas.microsoft.com/office/drawing/2010/main">
                  <a:solidFill>
                    <a:srgbClr val="FFFFFF"/>
                  </a:solidFill>
                </a14:hiddenFill>
              </a:ext>
            </a:extLst>
          </p:spPr>
        </p:pic>
        <p:sp>
          <p:nvSpPr>
            <p:cNvPr id="13" name="직사각형 12"/>
            <p:cNvSpPr/>
            <p:nvPr/>
          </p:nvSpPr>
          <p:spPr>
            <a:xfrm>
              <a:off x="5812464" y="4083918"/>
              <a:ext cx="396000" cy="12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Creator</a:t>
              </a:r>
              <a:endParaRPr lang="ko-KR" altLang="en-US" sz="900" dirty="0">
                <a:solidFill>
                  <a:schemeClr val="tx1"/>
                </a:solidFill>
              </a:endParaRPr>
            </a:p>
          </p:txBody>
        </p:sp>
        <p:sp>
          <p:nvSpPr>
            <p:cNvPr id="15" name="직사각형 14"/>
            <p:cNvSpPr/>
            <p:nvPr/>
          </p:nvSpPr>
          <p:spPr>
            <a:xfrm>
              <a:off x="7569230" y="4083918"/>
              <a:ext cx="432000" cy="12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ko-KR" sz="900" dirty="0">
                  <a:solidFill>
                    <a:schemeClr val="tx1"/>
                  </a:solidFill>
                </a:rPr>
                <a:t>Creator</a:t>
              </a:r>
              <a:endParaRPr lang="ko-KR" altLang="en-US" sz="900" dirty="0">
                <a:solidFill>
                  <a:schemeClr val="tx1"/>
                </a:solidFill>
              </a:endParaRPr>
            </a:p>
          </p:txBody>
        </p:sp>
      </p:grpSp>
      <p:sp>
        <p:nvSpPr>
          <p:cNvPr id="3" name="제목 2"/>
          <p:cNvSpPr>
            <a:spLocks noGrp="1"/>
          </p:cNvSpPr>
          <p:nvPr>
            <p:ph type="title"/>
          </p:nvPr>
        </p:nvSpPr>
        <p:spPr/>
        <p:txBody>
          <a:bodyPr/>
          <a:lstStyle/>
          <a:p>
            <a:r>
              <a:rPr lang="en-US" altLang="ko-KR" spc="0" dirty="0"/>
              <a:t>[Practice 7-2] Factory Method </a:t>
            </a:r>
            <a:r>
              <a:rPr lang="ko-KR" altLang="en-US" spc="0" dirty="0"/>
              <a:t>기반 </a:t>
            </a:r>
            <a:r>
              <a:rPr lang="en-US" altLang="ko-KR" spc="0" dirty="0"/>
              <a:t>Maze Game</a:t>
            </a:r>
            <a:endParaRPr lang="ko-KR" altLang="en-US" spc="0" dirty="0"/>
          </a:p>
        </p:txBody>
      </p:sp>
      <p:sp>
        <p:nvSpPr>
          <p:cNvPr id="8" name="내용 개체 틀 1"/>
          <p:cNvSpPr>
            <a:spLocks noGrp="1"/>
          </p:cNvSpPr>
          <p:nvPr>
            <p:ph idx="1"/>
          </p:nvPr>
        </p:nvSpPr>
        <p:spPr>
          <a:xfrm>
            <a:off x="251520" y="1383300"/>
            <a:ext cx="8712968" cy="3276681"/>
          </a:xfrm>
        </p:spPr>
        <p:txBody>
          <a:bodyPr>
            <a:normAutofit lnSpcReduction="10000"/>
          </a:bodyPr>
          <a:lstStyle/>
          <a:p>
            <a:pPr>
              <a:lnSpc>
                <a:spcPct val="80000"/>
              </a:lnSpc>
            </a:pPr>
            <a:endParaRPr lang="en-US" altLang="ko-KR" sz="1400" spc="0" dirty="0"/>
          </a:p>
          <a:p>
            <a:pPr marL="91463" indent="0">
              <a:lnSpc>
                <a:spcPct val="80000"/>
              </a:lnSpc>
              <a:buNone/>
            </a:pPr>
            <a:r>
              <a:rPr lang="en-US" altLang="ko-KR" sz="1400" b="1" spc="0" dirty="0" err="1"/>
              <a:t>SnowWhite</a:t>
            </a:r>
            <a:r>
              <a:rPr lang="en-US" altLang="ko-KR" sz="1400" b="1" spc="0" dirty="0"/>
              <a:t> </a:t>
            </a:r>
            <a:r>
              <a:rPr lang="ko-KR" altLang="en-US" sz="1400" b="1" spc="0" dirty="0"/>
              <a:t>테마의 </a:t>
            </a:r>
            <a:r>
              <a:rPr lang="en-US" altLang="ko-KR" sz="1400" b="1" spc="0" dirty="0"/>
              <a:t>Maze </a:t>
            </a:r>
            <a:r>
              <a:rPr lang="ko-KR" altLang="en-US" sz="1400" b="1" spc="0" dirty="0"/>
              <a:t>생성</a:t>
            </a:r>
            <a:endParaRPr lang="en-US" altLang="ko-KR" sz="1400" spc="0" dirty="0"/>
          </a:p>
          <a:p>
            <a:pPr marL="91463" indent="0">
              <a:lnSpc>
                <a:spcPct val="80000"/>
              </a:lnSpc>
              <a:buNone/>
            </a:pPr>
            <a:r>
              <a:rPr lang="en-US" altLang="ko-KR" sz="1400" spc="0" dirty="0"/>
              <a:t>(1) </a:t>
            </a:r>
            <a:r>
              <a:rPr lang="en-US" altLang="ko-KR" sz="1400" b="1" spc="0" dirty="0" err="1">
                <a:solidFill>
                  <a:srgbClr val="0066FF"/>
                </a:solidFill>
              </a:rPr>
              <a:t>harry.HarryPotterMazeGameCreator</a:t>
            </a:r>
            <a:r>
              <a:rPr lang="en-US" altLang="ko-KR" sz="1400" spc="0" dirty="0"/>
              <a:t> </a:t>
            </a:r>
            <a:r>
              <a:rPr lang="ko-KR" altLang="en-US" sz="1400" spc="0" dirty="0"/>
              <a:t>클래스 소스 분석</a:t>
            </a:r>
          </a:p>
          <a:p>
            <a:pPr marL="91463" indent="0">
              <a:lnSpc>
                <a:spcPct val="80000"/>
              </a:lnSpc>
              <a:buNone/>
            </a:pPr>
            <a:r>
              <a:rPr lang="en-US" altLang="ko-KR" sz="1400" spc="0" dirty="0"/>
              <a:t>(2) </a:t>
            </a:r>
            <a:r>
              <a:rPr lang="en-US" altLang="ko-KR" sz="1400" b="1" spc="0" dirty="0" err="1">
                <a:solidFill>
                  <a:srgbClr val="0066FF"/>
                </a:solidFill>
              </a:rPr>
              <a:t>snow.SnowWhiteMazeGameCreator</a:t>
            </a:r>
            <a:r>
              <a:rPr lang="en-US" altLang="ko-KR" sz="1400" spc="0" dirty="0"/>
              <a:t> </a:t>
            </a:r>
            <a:r>
              <a:rPr lang="ko-KR" altLang="en-US" sz="1400" spc="0" dirty="0"/>
              <a:t>클래스 수정</a:t>
            </a:r>
            <a:endParaRPr lang="en-US" altLang="ko-KR" sz="1400" spc="0" dirty="0"/>
          </a:p>
          <a:p>
            <a:pPr marL="91463" indent="0">
              <a:lnSpc>
                <a:spcPct val="80000"/>
              </a:lnSpc>
              <a:buNone/>
            </a:pPr>
            <a:r>
              <a:rPr lang="en-US" altLang="ko-KR" sz="1400" spc="0" dirty="0"/>
              <a:t>(3) </a:t>
            </a:r>
            <a:r>
              <a:rPr lang="en-US" altLang="ko-KR" sz="1400" b="1" spc="0" dirty="0" err="1">
                <a:solidFill>
                  <a:srgbClr val="0066FF"/>
                </a:solidFill>
              </a:rPr>
              <a:t>MazeGameCreator</a:t>
            </a:r>
            <a:r>
              <a:rPr lang="en-US" altLang="ko-KR" sz="1400" spc="0" dirty="0"/>
              <a:t> </a:t>
            </a:r>
            <a:r>
              <a:rPr lang="ko-KR" altLang="en-US" sz="1400" spc="0" dirty="0"/>
              <a:t>클래스 수정 </a:t>
            </a:r>
            <a:r>
              <a:rPr lang="en-US" altLang="ko-KR" sz="1400" spc="0" dirty="0"/>
              <a:t>(</a:t>
            </a:r>
            <a:r>
              <a:rPr lang="ko-KR" altLang="en-US" sz="1400" spc="0" dirty="0">
                <a:solidFill>
                  <a:srgbClr val="0066FF"/>
                </a:solidFill>
              </a:rPr>
              <a:t>주석 삭제</a:t>
            </a:r>
            <a:r>
              <a:rPr lang="en-US" altLang="ko-KR" sz="1400" spc="0" dirty="0"/>
              <a:t>)</a:t>
            </a:r>
          </a:p>
          <a:p>
            <a:pPr marL="91463" indent="0">
              <a:lnSpc>
                <a:spcPct val="80000"/>
              </a:lnSpc>
              <a:buNone/>
            </a:pPr>
            <a:endParaRPr lang="en-US" altLang="ko-KR" sz="1400" spc="0" dirty="0"/>
          </a:p>
          <a:p>
            <a:pPr marL="91463" indent="0">
              <a:lnSpc>
                <a:spcPct val="80000"/>
              </a:lnSpc>
              <a:buNone/>
            </a:pPr>
            <a:endParaRPr lang="en-US" altLang="ko-KR" sz="1400" spc="0" dirty="0"/>
          </a:p>
          <a:p>
            <a:pPr marL="91463" indent="0">
              <a:lnSpc>
                <a:spcPct val="80000"/>
              </a:lnSpc>
              <a:buNone/>
            </a:pPr>
            <a:endParaRPr lang="en-US" altLang="ko-KR" sz="1400" spc="0" dirty="0"/>
          </a:p>
          <a:p>
            <a:pPr marL="91463" indent="0">
              <a:lnSpc>
                <a:spcPct val="80000"/>
              </a:lnSpc>
              <a:buNone/>
            </a:pPr>
            <a:endParaRPr lang="en-US" altLang="ko-KR" sz="1400" spc="0" dirty="0"/>
          </a:p>
          <a:p>
            <a:pPr marL="91463" indent="0">
              <a:lnSpc>
                <a:spcPct val="80000"/>
              </a:lnSpc>
              <a:buNone/>
            </a:pPr>
            <a:endParaRPr lang="en-US" altLang="ko-KR" sz="1400" spc="0" dirty="0"/>
          </a:p>
          <a:p>
            <a:pPr marL="91463" indent="0">
              <a:lnSpc>
                <a:spcPct val="100000"/>
              </a:lnSpc>
              <a:buNone/>
            </a:pPr>
            <a:r>
              <a:rPr lang="en-US" altLang="ko-KR" sz="1400" spc="0" dirty="0"/>
              <a:t>(4) </a:t>
            </a:r>
            <a:r>
              <a:rPr lang="en-US" altLang="ko-KR" sz="1400" b="1" spc="0" dirty="0">
                <a:latin typeface="+mn-ea"/>
              </a:rPr>
              <a:t>Build and run </a:t>
            </a:r>
            <a:r>
              <a:rPr lang="ko-KR" altLang="en-US" sz="1400" spc="0" dirty="0">
                <a:latin typeface="+mn-ea"/>
              </a:rPr>
              <a:t>의</a:t>
            </a:r>
            <a:r>
              <a:rPr lang="en-US" altLang="ko-KR" sz="1400" spc="0" dirty="0">
                <a:latin typeface="+mn-ea"/>
              </a:rPr>
              <a:t> Program arguments </a:t>
            </a:r>
            <a:r>
              <a:rPr lang="ko-KR" altLang="en-US" sz="1400" spc="0" dirty="0">
                <a:latin typeface="+mn-ea"/>
              </a:rPr>
              <a:t>에 </a:t>
            </a:r>
            <a:br>
              <a:rPr lang="en-US" altLang="ko-KR" sz="1400" spc="0" dirty="0">
                <a:latin typeface="+mn-ea"/>
              </a:rPr>
            </a:br>
            <a:r>
              <a:rPr lang="en-US" altLang="ko-KR" sz="1400" spc="0" dirty="0">
                <a:latin typeface="+mn-ea"/>
              </a:rPr>
              <a:t>    </a:t>
            </a:r>
            <a:r>
              <a:rPr lang="en-US" altLang="ko-KR" sz="1400" b="1" spc="0" dirty="0">
                <a:solidFill>
                  <a:srgbClr val="0066FF"/>
                </a:solidFill>
                <a:latin typeface="+mn-ea"/>
              </a:rPr>
              <a:t>“Snow” </a:t>
            </a:r>
            <a:r>
              <a:rPr lang="ko-KR" altLang="en-US" sz="1400" spc="0" dirty="0">
                <a:latin typeface="+mn-ea"/>
              </a:rPr>
              <a:t>입력 후 실행</a:t>
            </a:r>
          </a:p>
          <a:p>
            <a:pPr marL="91463" indent="0">
              <a:lnSpc>
                <a:spcPct val="80000"/>
              </a:lnSpc>
              <a:buNone/>
            </a:pPr>
            <a:endParaRPr lang="ko-KR" altLang="en-US" sz="1400" spc="0" dirty="0"/>
          </a:p>
          <a:p>
            <a:pPr>
              <a:lnSpc>
                <a:spcPct val="80000"/>
              </a:lnSpc>
            </a:pPr>
            <a:endParaRPr lang="ko-KR" altLang="en-US" sz="1400" spc="0" dirty="0"/>
          </a:p>
        </p:txBody>
      </p:sp>
      <p:sp>
        <p:nvSpPr>
          <p:cNvPr id="12" name="직사각형 11"/>
          <p:cNvSpPr/>
          <p:nvPr/>
        </p:nvSpPr>
        <p:spPr>
          <a:xfrm>
            <a:off x="251520" y="553162"/>
            <a:ext cx="8532440" cy="609398"/>
          </a:xfrm>
          <a:prstGeom prst="rect">
            <a:avLst/>
          </a:prstGeom>
          <a:solidFill>
            <a:schemeClr val="accent1">
              <a:lumMod val="20000"/>
              <a:lumOff val="80000"/>
            </a:schemeClr>
          </a:solidFill>
        </p:spPr>
        <p:txBody>
          <a:bodyPr wrap="square">
            <a:spAutoFit/>
          </a:bodyPr>
          <a:lstStyle/>
          <a:p>
            <a:pPr>
              <a:lnSpc>
                <a:spcPct val="80000"/>
              </a:lnSpc>
            </a:pPr>
            <a:r>
              <a:rPr lang="en-US" altLang="ko-KR" sz="1400" b="1" dirty="0"/>
              <a:t>[</a:t>
            </a:r>
            <a:r>
              <a:rPr lang="ko-KR" altLang="en-US" sz="1400" b="1" dirty="0"/>
              <a:t>실습 코드</a:t>
            </a:r>
            <a:r>
              <a:rPr lang="en-US" altLang="ko-KR" sz="1400" b="1" dirty="0"/>
              <a:t>] </a:t>
            </a:r>
            <a:r>
              <a:rPr lang="en-US" altLang="ko-KR" sz="1400" dirty="0"/>
              <a:t>7_factorymethod_mazeProblem</a:t>
            </a:r>
          </a:p>
          <a:p>
            <a:pPr>
              <a:lnSpc>
                <a:spcPct val="80000"/>
              </a:lnSpc>
            </a:pPr>
            <a:endParaRPr lang="en-US" altLang="ko-KR" sz="1400" dirty="0"/>
          </a:p>
          <a:p>
            <a:pPr>
              <a:lnSpc>
                <a:spcPct val="80000"/>
              </a:lnSpc>
            </a:pPr>
            <a:r>
              <a:rPr lang="en-US" altLang="ko-KR" sz="1400" b="1" dirty="0">
                <a:solidFill>
                  <a:srgbClr val="FF0000"/>
                </a:solidFill>
              </a:rPr>
              <a:t>/maze/MazeGameCreator.java</a:t>
            </a:r>
          </a:p>
        </p:txBody>
      </p:sp>
      <p:sp>
        <p:nvSpPr>
          <p:cNvPr id="11" name="Rectangle 3"/>
          <p:cNvSpPr>
            <a:spLocks noChangeArrowheads="1"/>
          </p:cNvSpPr>
          <p:nvPr/>
        </p:nvSpPr>
        <p:spPr bwMode="auto">
          <a:xfrm>
            <a:off x="611560" y="2715766"/>
            <a:ext cx="4680520" cy="99257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r>
              <a:rPr lang="en-US" altLang="ko-KR" sz="1000" dirty="0"/>
              <a:t> if ("</a:t>
            </a:r>
            <a:r>
              <a:rPr lang="en-US" altLang="ko-KR" sz="1000" dirty="0" err="1"/>
              <a:t>Harry".equals</a:t>
            </a:r>
            <a:r>
              <a:rPr lang="en-US" altLang="ko-KR" sz="1000" dirty="0"/>
              <a:t>(</a:t>
            </a:r>
            <a:r>
              <a:rPr lang="en-US" altLang="ko-KR" sz="1000" dirty="0" err="1"/>
              <a:t>args</a:t>
            </a:r>
            <a:r>
              <a:rPr lang="en-US" altLang="ko-KR" sz="1000" dirty="0"/>
              <a:t>[0])) {</a:t>
            </a:r>
          </a:p>
          <a:p>
            <a:r>
              <a:rPr lang="en-US" altLang="ko-KR" sz="1000" dirty="0"/>
              <a:t>        creator = new </a:t>
            </a:r>
            <a:r>
              <a:rPr lang="en-US" altLang="ko-KR" sz="1000" dirty="0" err="1"/>
              <a:t>maze.harry.HarryPotterMazeGameCreator</a:t>
            </a:r>
            <a:r>
              <a:rPr lang="en-US" altLang="ko-KR" sz="1000" dirty="0"/>
              <a:t>();</a:t>
            </a:r>
          </a:p>
          <a:p>
            <a:r>
              <a:rPr lang="en-US" altLang="ko-KR" sz="1000" dirty="0"/>
              <a:t>      }</a:t>
            </a:r>
          </a:p>
          <a:p>
            <a:r>
              <a:rPr lang="en-US" altLang="ko-KR" sz="1000" i="1" dirty="0">
                <a:solidFill>
                  <a:srgbClr val="00B050"/>
                </a:solidFill>
              </a:rPr>
              <a:t>//      else if ("</a:t>
            </a:r>
            <a:r>
              <a:rPr lang="en-US" altLang="ko-KR" sz="1000" i="1" dirty="0" err="1">
                <a:solidFill>
                  <a:srgbClr val="00B050"/>
                </a:solidFill>
              </a:rPr>
              <a:t>Snow".equals</a:t>
            </a:r>
            <a:r>
              <a:rPr lang="en-US" altLang="ko-KR" sz="1000" i="1" dirty="0">
                <a:solidFill>
                  <a:srgbClr val="00B050"/>
                </a:solidFill>
              </a:rPr>
              <a:t>(</a:t>
            </a:r>
            <a:r>
              <a:rPr lang="en-US" altLang="ko-KR" sz="1000" i="1" dirty="0" err="1">
                <a:solidFill>
                  <a:srgbClr val="00B050"/>
                </a:solidFill>
              </a:rPr>
              <a:t>args</a:t>
            </a:r>
            <a:r>
              <a:rPr lang="en-US" altLang="ko-KR" sz="1000" i="1" dirty="0">
                <a:solidFill>
                  <a:srgbClr val="00B050"/>
                </a:solidFill>
              </a:rPr>
              <a:t>[0])) {</a:t>
            </a:r>
          </a:p>
          <a:p>
            <a:r>
              <a:rPr lang="en-US" altLang="ko-KR" sz="1000" i="1" dirty="0">
                <a:solidFill>
                  <a:srgbClr val="00B050"/>
                </a:solidFill>
              </a:rPr>
              <a:t>//	    creator = new </a:t>
            </a:r>
            <a:r>
              <a:rPr lang="en-US" altLang="ko-KR" sz="1000" i="1" dirty="0" err="1">
                <a:solidFill>
                  <a:srgbClr val="00B050"/>
                </a:solidFill>
              </a:rPr>
              <a:t>maze.snow.SnowWhiteMazeGameCreator</a:t>
            </a:r>
            <a:r>
              <a:rPr lang="en-US" altLang="ko-KR" sz="1000" i="1" dirty="0">
                <a:solidFill>
                  <a:srgbClr val="00B050"/>
                </a:solidFill>
              </a:rPr>
              <a:t>();</a:t>
            </a:r>
          </a:p>
          <a:p>
            <a:r>
              <a:rPr lang="en-US" altLang="ko-KR" sz="1000" i="1" dirty="0">
                <a:solidFill>
                  <a:srgbClr val="00B050"/>
                </a:solidFill>
              </a:rPr>
              <a:t>//      }</a:t>
            </a:r>
            <a:endParaRPr lang="ko-KR" altLang="en-US" sz="1000" i="1" dirty="0">
              <a:solidFill>
                <a:srgbClr val="00B050"/>
              </a:solidFill>
              <a:latin typeface="Lucida Console" panose="020B0609040504020204" pitchFamily="49" charset="0"/>
            </a:endParaRPr>
          </a:p>
        </p:txBody>
      </p:sp>
    </p:spTree>
    <p:extLst>
      <p:ext uri="{BB962C8B-B14F-4D97-AF65-F5344CB8AC3E}">
        <p14:creationId xmlns:p14="http://schemas.microsoft.com/office/powerpoint/2010/main" val="31800978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7-2] Factory Method </a:t>
            </a:r>
            <a:r>
              <a:rPr lang="ko-KR" altLang="en-US" spc="0" dirty="0"/>
              <a:t>기반 </a:t>
            </a:r>
            <a:r>
              <a:rPr lang="en-US" altLang="ko-KR" spc="0" dirty="0"/>
              <a:t>Maze Game (solution)</a:t>
            </a:r>
            <a:endParaRPr lang="ko-KR" altLang="en-US" spc="0" dirty="0"/>
          </a:p>
        </p:txBody>
      </p:sp>
      <p:grpSp>
        <p:nvGrpSpPr>
          <p:cNvPr id="15" name="그룹 14"/>
          <p:cNvGrpSpPr/>
          <p:nvPr/>
        </p:nvGrpSpPr>
        <p:grpSpPr>
          <a:xfrm>
            <a:off x="967575" y="987574"/>
            <a:ext cx="4472543" cy="3786542"/>
            <a:chOff x="4491945" y="1275606"/>
            <a:chExt cx="4472543" cy="3786542"/>
          </a:xfrm>
        </p:grpSpPr>
        <p:pic>
          <p:nvPicPr>
            <p:cNvPr id="4" name="Picture 2">
              <a:extLst>
                <a:ext uri="{FF2B5EF4-FFF2-40B4-BE49-F238E27FC236}">
                  <a16:creationId xmlns:a16="http://schemas.microsoft.com/office/drawing/2014/main" id="{DE43354C-57C1-472D-9527-0620462CE0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1945" y="1275606"/>
              <a:ext cx="4472543" cy="3552606"/>
            </a:xfrm>
            <a:prstGeom prst="rect">
              <a:avLst/>
            </a:prstGeom>
            <a:noFill/>
            <a:extLst>
              <a:ext uri="{909E8E84-426E-40DD-AFC4-6F175D3DCCD1}">
                <a14:hiddenFill xmlns:a14="http://schemas.microsoft.com/office/drawing/2010/main">
                  <a:solidFill>
                    <a:srgbClr val="FFFFFF"/>
                  </a:solidFill>
                </a14:hiddenFill>
              </a:ext>
            </a:extLst>
          </p:spPr>
        </p:pic>
        <p:sp>
          <p:nvSpPr>
            <p:cNvPr id="6" name="직사각형 5"/>
            <p:cNvSpPr/>
            <p:nvPr/>
          </p:nvSpPr>
          <p:spPr>
            <a:xfrm>
              <a:off x="5812464" y="4083918"/>
              <a:ext cx="396000" cy="12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Creator</a:t>
              </a:r>
              <a:endParaRPr lang="ko-KR" altLang="en-US" sz="900" dirty="0">
                <a:solidFill>
                  <a:schemeClr val="tx1"/>
                </a:solidFill>
              </a:endParaRPr>
            </a:p>
          </p:txBody>
        </p:sp>
        <p:sp>
          <p:nvSpPr>
            <p:cNvPr id="7" name="직사각형 6"/>
            <p:cNvSpPr/>
            <p:nvPr/>
          </p:nvSpPr>
          <p:spPr>
            <a:xfrm>
              <a:off x="7569230" y="4083918"/>
              <a:ext cx="432000" cy="12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ko-KR" sz="900" dirty="0">
                  <a:solidFill>
                    <a:schemeClr val="tx1"/>
                  </a:solidFill>
                </a:rPr>
                <a:t>Creator</a:t>
              </a:r>
              <a:endParaRPr lang="ko-KR" altLang="en-US" sz="900" dirty="0">
                <a:solidFill>
                  <a:schemeClr val="tx1"/>
                </a:solidFill>
              </a:endParaRPr>
            </a:p>
          </p:txBody>
        </p:sp>
        <p:sp>
          <p:nvSpPr>
            <p:cNvPr id="10" name="설명선 3 9"/>
            <p:cNvSpPr/>
            <p:nvPr/>
          </p:nvSpPr>
          <p:spPr>
            <a:xfrm>
              <a:off x="7316388" y="3544512"/>
              <a:ext cx="1152128" cy="203917"/>
            </a:xfrm>
            <a:prstGeom prst="borderCallout3">
              <a:avLst>
                <a:gd name="adj1" fmla="val 18750"/>
                <a:gd name="adj2" fmla="val -2664"/>
                <a:gd name="adj3" fmla="val 6491"/>
                <a:gd name="adj4" fmla="val -17859"/>
                <a:gd name="adj5" fmla="val -70531"/>
                <a:gd name="adj6" fmla="val -27393"/>
                <a:gd name="adj7" fmla="val -81077"/>
                <a:gd name="adj8" fmla="val -46836"/>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dirty="0">
                  <a:solidFill>
                    <a:srgbClr val="2A2D72"/>
                  </a:solidFill>
                </a:rPr>
                <a:t>return new Wall();</a:t>
              </a:r>
            </a:p>
          </p:txBody>
        </p:sp>
        <p:sp>
          <p:nvSpPr>
            <p:cNvPr id="11" name="설명선 3 10"/>
            <p:cNvSpPr/>
            <p:nvPr/>
          </p:nvSpPr>
          <p:spPr>
            <a:xfrm>
              <a:off x="5508104" y="4858231"/>
              <a:ext cx="1728192" cy="203917"/>
            </a:xfrm>
            <a:prstGeom prst="borderCallout3">
              <a:avLst>
                <a:gd name="adj1" fmla="val 44774"/>
                <a:gd name="adj2" fmla="val -1955"/>
                <a:gd name="adj3" fmla="val 70551"/>
                <a:gd name="adj4" fmla="val -20339"/>
                <a:gd name="adj5" fmla="val -80540"/>
                <a:gd name="adj6" fmla="val -41920"/>
                <a:gd name="adj7" fmla="val -169159"/>
                <a:gd name="adj8" fmla="val -28647"/>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dirty="0">
                  <a:solidFill>
                    <a:srgbClr val="2A2D72"/>
                  </a:solidFill>
                </a:rPr>
                <a:t>return new </a:t>
              </a:r>
              <a:r>
                <a:rPr lang="en-US" altLang="ko-KR" sz="900" dirty="0" err="1">
                  <a:solidFill>
                    <a:srgbClr val="2A2D72"/>
                  </a:solidFill>
                </a:rPr>
                <a:t>HarryPotterWall</a:t>
              </a:r>
              <a:r>
                <a:rPr lang="en-US" altLang="ko-KR" sz="900" dirty="0">
                  <a:solidFill>
                    <a:srgbClr val="2A2D72"/>
                  </a:solidFill>
                </a:rPr>
                <a:t>();</a:t>
              </a:r>
            </a:p>
          </p:txBody>
        </p:sp>
        <p:sp>
          <p:nvSpPr>
            <p:cNvPr id="13" name="직사각형 12"/>
            <p:cNvSpPr/>
            <p:nvPr/>
          </p:nvSpPr>
          <p:spPr>
            <a:xfrm>
              <a:off x="5800218" y="2715767"/>
              <a:ext cx="1440160" cy="11642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ko-KR" sz="1200" b="1" dirty="0">
                  <a:solidFill>
                    <a:srgbClr val="2A2D72"/>
                  </a:solidFill>
                </a:rPr>
                <a:t>Creator &amp; Client</a:t>
              </a:r>
              <a:endParaRPr lang="ko-KR" altLang="en-US" sz="1200" b="1" dirty="0">
                <a:solidFill>
                  <a:srgbClr val="2A2D72"/>
                </a:solidFill>
              </a:endParaRPr>
            </a:p>
          </p:txBody>
        </p:sp>
      </p:grpSp>
      <p:sp>
        <p:nvSpPr>
          <p:cNvPr id="14" name="설명선 2 13"/>
          <p:cNvSpPr/>
          <p:nvPr/>
        </p:nvSpPr>
        <p:spPr>
          <a:xfrm>
            <a:off x="4769657" y="3737331"/>
            <a:ext cx="3728148" cy="634619"/>
          </a:xfrm>
          <a:prstGeom prst="borderCallout2">
            <a:avLst>
              <a:gd name="adj1" fmla="val 19560"/>
              <a:gd name="adj2" fmla="val -851"/>
              <a:gd name="adj3" fmla="val 18751"/>
              <a:gd name="adj4" fmla="val -9297"/>
              <a:gd name="adj5" fmla="val -25622"/>
              <a:gd name="adj6" fmla="val -27307"/>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b="1" dirty="0">
                <a:solidFill>
                  <a:srgbClr val="2A2D72"/>
                </a:solidFill>
              </a:rPr>
              <a:t>Creator</a:t>
            </a:r>
            <a:r>
              <a:rPr lang="ko-KR" altLang="en-US" sz="900" b="1" dirty="0">
                <a:solidFill>
                  <a:srgbClr val="2A2D72"/>
                </a:solidFill>
              </a:rPr>
              <a:t>코드에 </a:t>
            </a:r>
            <a:r>
              <a:rPr lang="en-US" altLang="ko-KR" sz="900" b="1" dirty="0">
                <a:solidFill>
                  <a:srgbClr val="2A2D72"/>
                </a:solidFill>
              </a:rPr>
              <a:t>Inheritance</a:t>
            </a:r>
            <a:r>
              <a:rPr lang="ko-KR" altLang="en-US" sz="900" b="1" dirty="0">
                <a:solidFill>
                  <a:srgbClr val="2A2D72"/>
                </a:solidFill>
              </a:rPr>
              <a:t> 관찰됨 </a:t>
            </a:r>
            <a:r>
              <a:rPr lang="en-US" altLang="ko-KR" sz="900" b="1" dirty="0">
                <a:solidFill>
                  <a:srgbClr val="2A2D72"/>
                </a:solidFill>
              </a:rPr>
              <a:t>(composition, delegation </a:t>
            </a:r>
            <a:r>
              <a:rPr lang="ko-KR" altLang="en-US" sz="900" b="1" dirty="0">
                <a:solidFill>
                  <a:srgbClr val="2A2D72"/>
                </a:solidFill>
              </a:rPr>
              <a:t>없음</a:t>
            </a:r>
            <a:r>
              <a:rPr lang="en-US" altLang="ko-KR" sz="900" b="1" dirty="0">
                <a:solidFill>
                  <a:srgbClr val="2A2D72"/>
                </a:solidFill>
              </a:rPr>
              <a:t>)</a:t>
            </a:r>
          </a:p>
          <a:p>
            <a:r>
              <a:rPr lang="en-US" altLang="ko-KR" sz="900" dirty="0">
                <a:solidFill>
                  <a:srgbClr val="2A2D72"/>
                </a:solidFill>
              </a:rPr>
              <a:t>`</a:t>
            </a:r>
            <a:r>
              <a:rPr lang="en-US" altLang="ko-KR" sz="900" dirty="0" err="1">
                <a:solidFill>
                  <a:srgbClr val="2A2D72"/>
                </a:solidFill>
              </a:rPr>
              <a:t>MazeGameCreator</a:t>
            </a:r>
            <a:r>
              <a:rPr lang="en-US" altLang="ko-KR" sz="900" dirty="0">
                <a:solidFill>
                  <a:srgbClr val="2A2D72"/>
                </a:solidFill>
              </a:rPr>
              <a:t> creator = new </a:t>
            </a:r>
            <a:r>
              <a:rPr lang="en-US" altLang="ko-KR" sz="900" dirty="0" err="1">
                <a:solidFill>
                  <a:srgbClr val="2A2D72"/>
                </a:solidFill>
              </a:rPr>
              <a:t>HarryPotterMazeGameCreator</a:t>
            </a:r>
            <a:r>
              <a:rPr lang="en-US" altLang="ko-KR" sz="900" dirty="0">
                <a:solidFill>
                  <a:srgbClr val="2A2D72"/>
                </a:solidFill>
              </a:rPr>
              <a:t>();`</a:t>
            </a:r>
          </a:p>
          <a:p>
            <a:r>
              <a:rPr lang="en-US" altLang="ko-KR" sz="900" dirty="0">
                <a:solidFill>
                  <a:srgbClr val="2A2D72"/>
                </a:solidFill>
              </a:rPr>
              <a:t>`maze = </a:t>
            </a:r>
            <a:r>
              <a:rPr lang="en-US" altLang="ko-KR" sz="900" b="1" dirty="0" err="1">
                <a:solidFill>
                  <a:srgbClr val="2A2D72"/>
                </a:solidFill>
              </a:rPr>
              <a:t>creator</a:t>
            </a:r>
            <a:r>
              <a:rPr lang="en-US" altLang="ko-KR" sz="900" dirty="0" err="1">
                <a:solidFill>
                  <a:srgbClr val="2A2D72"/>
                </a:solidFill>
              </a:rPr>
              <a:t>.createMaze</a:t>
            </a:r>
            <a:r>
              <a:rPr lang="en-US" altLang="ko-KR" sz="900" dirty="0">
                <a:solidFill>
                  <a:srgbClr val="2A2D72"/>
                </a:solidFill>
              </a:rPr>
              <a:t>();`</a:t>
            </a:r>
          </a:p>
          <a:p>
            <a:r>
              <a:rPr lang="en-US" altLang="ko-KR" sz="900" dirty="0">
                <a:solidFill>
                  <a:srgbClr val="2A2D72"/>
                </a:solidFill>
              </a:rPr>
              <a:t>‘</a:t>
            </a:r>
            <a:r>
              <a:rPr lang="en-US" altLang="ko-KR" sz="900" dirty="0" err="1">
                <a:solidFill>
                  <a:srgbClr val="2A2D72"/>
                </a:solidFill>
              </a:rPr>
              <a:t>makeWall</a:t>
            </a:r>
            <a:r>
              <a:rPr lang="en-US" altLang="ko-KR" sz="900" dirty="0">
                <a:solidFill>
                  <a:srgbClr val="2A2D72"/>
                </a:solidFill>
              </a:rPr>
              <a:t>()’</a:t>
            </a:r>
            <a:endParaRPr lang="ko-KR" altLang="en-US" sz="900" dirty="0">
              <a:solidFill>
                <a:srgbClr val="2A2D72"/>
              </a:solidFill>
            </a:endParaRPr>
          </a:p>
        </p:txBody>
      </p:sp>
      <p:sp>
        <p:nvSpPr>
          <p:cNvPr id="16" name="TextBox 15">
            <a:extLst>
              <a:ext uri="{FF2B5EF4-FFF2-40B4-BE49-F238E27FC236}">
                <a16:creationId xmlns:a16="http://schemas.microsoft.com/office/drawing/2014/main" id="{36827855-4815-A9AB-E926-80907E0DA568}"/>
              </a:ext>
            </a:extLst>
          </p:cNvPr>
          <p:cNvSpPr txBox="1"/>
          <p:nvPr/>
        </p:nvSpPr>
        <p:spPr>
          <a:xfrm>
            <a:off x="1271413" y="2799907"/>
            <a:ext cx="822661" cy="253916"/>
          </a:xfrm>
          <a:prstGeom prst="rect">
            <a:avLst/>
          </a:prstGeom>
          <a:noFill/>
        </p:spPr>
        <p:txBody>
          <a:bodyPr wrap="none" rtlCol="0">
            <a:spAutoFit/>
          </a:bodyPr>
          <a:lstStyle/>
          <a:p>
            <a:r>
              <a:rPr lang="en-US" altLang="ko-KR" sz="1050" dirty="0">
                <a:solidFill>
                  <a:srgbClr val="2A2D72"/>
                </a:solidFill>
              </a:rPr>
              <a:t>operation </a:t>
            </a:r>
            <a:endParaRPr lang="ko-KR" altLang="en-US" sz="1050" dirty="0">
              <a:solidFill>
                <a:srgbClr val="2A2D72"/>
              </a:solidFill>
            </a:endParaRPr>
          </a:p>
        </p:txBody>
      </p:sp>
      <p:cxnSp>
        <p:nvCxnSpPr>
          <p:cNvPr id="17" name="직선 연결선 16">
            <a:extLst>
              <a:ext uri="{FF2B5EF4-FFF2-40B4-BE49-F238E27FC236}">
                <a16:creationId xmlns:a16="http://schemas.microsoft.com/office/drawing/2014/main" id="{9574568C-0345-AC08-A7B6-3145885DCA52}"/>
              </a:ext>
            </a:extLst>
          </p:cNvPr>
          <p:cNvCxnSpPr>
            <a:cxnSpLocks/>
          </p:cNvCxnSpPr>
          <p:nvPr/>
        </p:nvCxnSpPr>
        <p:spPr>
          <a:xfrm>
            <a:off x="1996673" y="2950799"/>
            <a:ext cx="482834" cy="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8" name="TextBox 17">
            <a:extLst>
              <a:ext uri="{FF2B5EF4-FFF2-40B4-BE49-F238E27FC236}">
                <a16:creationId xmlns:a16="http://schemas.microsoft.com/office/drawing/2014/main" id="{268EF471-A332-18B7-CFF8-4369ABAC829F}"/>
              </a:ext>
            </a:extLst>
          </p:cNvPr>
          <p:cNvSpPr txBox="1"/>
          <p:nvPr/>
        </p:nvSpPr>
        <p:spPr>
          <a:xfrm>
            <a:off x="1133973" y="3114120"/>
            <a:ext cx="1205779" cy="253916"/>
          </a:xfrm>
          <a:prstGeom prst="rect">
            <a:avLst/>
          </a:prstGeom>
          <a:noFill/>
        </p:spPr>
        <p:txBody>
          <a:bodyPr wrap="none" rtlCol="0">
            <a:spAutoFit/>
          </a:bodyPr>
          <a:lstStyle/>
          <a:p>
            <a:r>
              <a:rPr lang="en-US" altLang="ko-KR" sz="1050" dirty="0">
                <a:solidFill>
                  <a:srgbClr val="2A2D72"/>
                </a:solidFill>
              </a:rPr>
              <a:t>Factory Method </a:t>
            </a:r>
            <a:endParaRPr lang="ko-KR" altLang="en-US" sz="1050" dirty="0">
              <a:solidFill>
                <a:srgbClr val="2A2D72"/>
              </a:solidFill>
            </a:endParaRPr>
          </a:p>
        </p:txBody>
      </p:sp>
      <p:sp>
        <p:nvSpPr>
          <p:cNvPr id="19" name="TextBox 18">
            <a:extLst>
              <a:ext uri="{FF2B5EF4-FFF2-40B4-BE49-F238E27FC236}">
                <a16:creationId xmlns:a16="http://schemas.microsoft.com/office/drawing/2014/main" id="{39CCAF81-6411-E5FF-3D93-0EED7F0E9FAF}"/>
              </a:ext>
            </a:extLst>
          </p:cNvPr>
          <p:cNvSpPr txBox="1"/>
          <p:nvPr/>
        </p:nvSpPr>
        <p:spPr>
          <a:xfrm>
            <a:off x="179512" y="3750300"/>
            <a:ext cx="1277914" cy="261610"/>
          </a:xfrm>
          <a:prstGeom prst="rect">
            <a:avLst/>
          </a:prstGeom>
          <a:noFill/>
        </p:spPr>
        <p:txBody>
          <a:bodyPr wrap="none" rtlCol="0">
            <a:spAutoFit/>
          </a:bodyPr>
          <a:lstStyle/>
          <a:p>
            <a:r>
              <a:rPr lang="en-US" altLang="ko-KR" sz="1100" dirty="0">
                <a:solidFill>
                  <a:srgbClr val="2A2D72"/>
                </a:solidFill>
              </a:rPr>
              <a:t>Concrete Creator</a:t>
            </a:r>
            <a:endParaRPr lang="ko-KR" altLang="en-US" sz="1100" dirty="0">
              <a:solidFill>
                <a:srgbClr val="2A2D72"/>
              </a:solidFill>
            </a:endParaRPr>
          </a:p>
        </p:txBody>
      </p:sp>
      <p:sp>
        <p:nvSpPr>
          <p:cNvPr id="20" name="직사각형 19">
            <a:extLst>
              <a:ext uri="{FF2B5EF4-FFF2-40B4-BE49-F238E27FC236}">
                <a16:creationId xmlns:a16="http://schemas.microsoft.com/office/drawing/2014/main" id="{4FEE2C44-7835-7B52-5D4F-8CD4109EA6F4}"/>
              </a:ext>
            </a:extLst>
          </p:cNvPr>
          <p:cNvSpPr/>
          <p:nvPr/>
        </p:nvSpPr>
        <p:spPr>
          <a:xfrm>
            <a:off x="2483768" y="2903651"/>
            <a:ext cx="792088" cy="119695"/>
          </a:xfrm>
          <a:prstGeom prst="rect">
            <a:avLst/>
          </a:prstGeom>
          <a:noFill/>
          <a:ln w="952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ko-KR" altLang="en-US">
              <a:solidFill>
                <a:srgbClr val="2A2D72"/>
              </a:solidFill>
            </a:endParaRPr>
          </a:p>
        </p:txBody>
      </p:sp>
      <p:sp>
        <p:nvSpPr>
          <p:cNvPr id="21" name="왼쪽 중괄호 20">
            <a:extLst>
              <a:ext uri="{FF2B5EF4-FFF2-40B4-BE49-F238E27FC236}">
                <a16:creationId xmlns:a16="http://schemas.microsoft.com/office/drawing/2014/main" id="{EC1563C1-5397-CE8D-7ECE-8F4155D5F668}"/>
              </a:ext>
            </a:extLst>
          </p:cNvPr>
          <p:cNvSpPr/>
          <p:nvPr/>
        </p:nvSpPr>
        <p:spPr>
          <a:xfrm>
            <a:off x="2319695" y="3047699"/>
            <a:ext cx="144016" cy="392874"/>
          </a:xfrm>
          <a:prstGeom prst="leftBrace">
            <a:avLst/>
          </a:prstGeom>
          <a:ln>
            <a:solidFill>
              <a:srgbClr val="FF000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ko-KR" altLang="en-US">
              <a:solidFill>
                <a:srgbClr val="2A2D72"/>
              </a:solidFill>
            </a:endParaRPr>
          </a:p>
        </p:txBody>
      </p:sp>
    </p:spTree>
    <p:extLst>
      <p:ext uri="{BB962C8B-B14F-4D97-AF65-F5344CB8AC3E}">
        <p14:creationId xmlns:p14="http://schemas.microsoft.com/office/powerpoint/2010/main" val="34776635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Prototype Pattern – Class Diagram</a:t>
            </a:r>
            <a:endParaRPr lang="ko-KR" altLang="en-US" spc="0" dirty="0"/>
          </a:p>
        </p:txBody>
      </p:sp>
      <p:grpSp>
        <p:nvGrpSpPr>
          <p:cNvPr id="6" name="그룹 5"/>
          <p:cNvGrpSpPr/>
          <p:nvPr/>
        </p:nvGrpSpPr>
        <p:grpSpPr>
          <a:xfrm>
            <a:off x="874456" y="938359"/>
            <a:ext cx="7631051" cy="3502477"/>
            <a:chOff x="874456" y="938359"/>
            <a:chExt cx="7631051" cy="3502477"/>
          </a:xfrm>
        </p:grpSpPr>
        <p:grpSp>
          <p:nvGrpSpPr>
            <p:cNvPr id="5" name="그룹 4"/>
            <p:cNvGrpSpPr/>
            <p:nvPr/>
          </p:nvGrpSpPr>
          <p:grpSpPr>
            <a:xfrm>
              <a:off x="874456" y="938359"/>
              <a:ext cx="7631051" cy="3502477"/>
              <a:chOff x="1230849" y="938359"/>
              <a:chExt cx="7631051" cy="3502477"/>
            </a:xfrm>
          </p:grpSpPr>
          <p:pic>
            <p:nvPicPr>
              <p:cNvPr id="3080" name="Picture 8" descr="5. 프로토타입 패턴(Prototype Patte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1108224"/>
                <a:ext cx="6842964" cy="333261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5. 프로토타입 패턴(Prototype Pattern)"/>
              <p:cNvPicPr>
                <a:picLocks noChangeAspect="1" noChangeArrowheads="1"/>
              </p:cNvPicPr>
              <p:nvPr/>
            </p:nvPicPr>
            <p:blipFill rotWithShape="1">
              <a:blip r:embed="rId2">
                <a:extLst>
                  <a:ext uri="{28A0092B-C50C-407E-A947-70E740481C1C}">
                    <a14:useLocalDpi xmlns:a14="http://schemas.microsoft.com/office/drawing/2010/main" val="0"/>
                  </a:ext>
                </a:extLst>
              </a:blip>
              <a:srcRect l="53544" r="31724" b="77943"/>
              <a:stretch/>
            </p:blipFill>
            <p:spPr bwMode="auto">
              <a:xfrm>
                <a:off x="6420068" y="938359"/>
                <a:ext cx="2441832" cy="204170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5. 프로토타입 패턴(Prototype Pattern)"/>
              <p:cNvPicPr>
                <a:picLocks noChangeAspect="1" noChangeArrowheads="1"/>
              </p:cNvPicPr>
              <p:nvPr/>
            </p:nvPicPr>
            <p:blipFill rotWithShape="1">
              <a:blip r:embed="rId2">
                <a:extLst>
                  <a:ext uri="{28A0092B-C50C-407E-A947-70E740481C1C}">
                    <a14:useLocalDpi xmlns:a14="http://schemas.microsoft.com/office/drawing/2010/main" val="0"/>
                  </a:ext>
                </a:extLst>
              </a:blip>
              <a:srcRect t="1066" r="54752" b="43821"/>
              <a:stretch/>
            </p:blipFill>
            <p:spPr bwMode="auto">
              <a:xfrm>
                <a:off x="5010398" y="1143388"/>
                <a:ext cx="3096344" cy="18366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8" descr="5. 프로토타입 패턴(Prototype Pattern)"/>
              <p:cNvPicPr>
                <a:picLocks noChangeAspect="1" noChangeArrowheads="1"/>
              </p:cNvPicPr>
              <p:nvPr/>
            </p:nvPicPr>
            <p:blipFill rotWithShape="1">
              <a:blip r:embed="rId2">
                <a:extLst>
                  <a:ext uri="{28A0092B-C50C-407E-A947-70E740481C1C}">
                    <a14:useLocalDpi xmlns:a14="http://schemas.microsoft.com/office/drawing/2010/main" val="0"/>
                  </a:ext>
                </a:extLst>
              </a:blip>
              <a:srcRect l="53544" r="31724" b="77943"/>
              <a:stretch/>
            </p:blipFill>
            <p:spPr bwMode="auto">
              <a:xfrm>
                <a:off x="6666582" y="2924171"/>
                <a:ext cx="1722012" cy="39313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5. 프로토타입 패턴(Prototype Pattern)"/>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3544" r="31724" b="77943"/>
              <a:stretch/>
            </p:blipFill>
            <p:spPr bwMode="auto">
              <a:xfrm flipH="1">
                <a:off x="8084897" y="1765022"/>
                <a:ext cx="211879" cy="39313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8" descr="5. 프로토타입 패턴(Prototype Pattern)"/>
              <p:cNvPicPr>
                <a:picLocks noChangeAspect="1" noChangeArrowheads="1"/>
              </p:cNvPicPr>
              <p:nvPr/>
            </p:nvPicPr>
            <p:blipFill rotWithShape="1">
              <a:blip r:embed="rId2">
                <a:extLst>
                  <a:ext uri="{28A0092B-C50C-407E-A947-70E740481C1C}">
                    <a14:useLocalDpi xmlns:a14="http://schemas.microsoft.com/office/drawing/2010/main" val="0"/>
                  </a:ext>
                </a:extLst>
              </a:blip>
              <a:srcRect l="53544" r="31724" b="77943"/>
              <a:stretch/>
            </p:blipFill>
            <p:spPr bwMode="auto">
              <a:xfrm>
                <a:off x="1230849" y="1298672"/>
                <a:ext cx="3963397" cy="16775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descr="5. 프로토타입 패턴(Prototype Pattern)"/>
              <p:cNvPicPr>
                <a:picLocks noChangeAspect="1" noChangeArrowheads="1"/>
              </p:cNvPicPr>
              <p:nvPr/>
            </p:nvPicPr>
            <p:blipFill rotWithShape="1">
              <a:blip r:embed="rId2">
                <a:extLst>
                  <a:ext uri="{28A0092B-C50C-407E-A947-70E740481C1C}">
                    <a14:useLocalDpi xmlns:a14="http://schemas.microsoft.com/office/drawing/2010/main" val="0"/>
                  </a:ext>
                </a:extLst>
              </a:blip>
              <a:srcRect l="70504" b="55562"/>
              <a:stretch/>
            </p:blipFill>
            <p:spPr bwMode="auto">
              <a:xfrm>
                <a:off x="1380379" y="1143388"/>
                <a:ext cx="2018428" cy="148094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5. 프로토타입 패턴(Prototype Pattern)"/>
              <p:cNvPicPr>
                <a:picLocks noChangeAspect="1" noChangeArrowheads="1"/>
              </p:cNvPicPr>
              <p:nvPr/>
            </p:nvPicPr>
            <p:blipFill rotWithShape="1">
              <a:blip r:embed="rId2">
                <a:extLst>
                  <a:ext uri="{28A0092B-C50C-407E-A947-70E740481C1C}">
                    <a14:useLocalDpi xmlns:a14="http://schemas.microsoft.com/office/drawing/2010/main" val="0"/>
                  </a:ext>
                </a:extLst>
              </a:blip>
              <a:srcRect l="45247" t="6482" r="38127" b="63268"/>
              <a:stretch/>
            </p:blipFill>
            <p:spPr bwMode="auto">
              <a:xfrm rot="10800000">
                <a:off x="4050526" y="1730019"/>
                <a:ext cx="1137766" cy="1008112"/>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8" descr="5. 프로토타입 패턴(Prototype Pattern)"/>
            <p:cNvPicPr>
              <a:picLocks noChangeAspect="1" noChangeArrowheads="1"/>
            </p:cNvPicPr>
            <p:nvPr/>
          </p:nvPicPr>
          <p:blipFill rotWithShape="1">
            <a:blip r:embed="rId2">
              <a:extLst>
                <a:ext uri="{28A0092B-C50C-407E-A947-70E740481C1C}">
                  <a14:useLocalDpi xmlns:a14="http://schemas.microsoft.com/office/drawing/2010/main" val="0"/>
                </a:ext>
              </a:extLst>
            </a:blip>
            <a:srcRect l="48609" t="6482" r="38127" b="63268"/>
            <a:stretch/>
          </p:blipFill>
          <p:spPr bwMode="auto">
            <a:xfrm rot="10800000">
              <a:off x="2835100" y="1730020"/>
              <a:ext cx="907689" cy="100811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233567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a:xfrm>
            <a:off x="272322" y="1435567"/>
            <a:ext cx="5040560" cy="3456384"/>
          </a:xfrm>
        </p:spPr>
        <p:txBody>
          <a:bodyPr>
            <a:noAutofit/>
          </a:bodyPr>
          <a:lstStyle/>
          <a:p>
            <a:pPr marL="91463" indent="0">
              <a:lnSpc>
                <a:spcPct val="100000"/>
              </a:lnSpc>
              <a:buNone/>
            </a:pPr>
            <a:r>
              <a:rPr lang="en-US" altLang="ko-KR" sz="1400" spc="0" dirty="0"/>
              <a:t>(1) </a:t>
            </a:r>
            <a:r>
              <a:rPr lang="en-US" altLang="ko-KR" sz="1400" b="1" spc="0" dirty="0" err="1"/>
              <a:t>MazePrototypeFactory</a:t>
            </a:r>
            <a:r>
              <a:rPr lang="en-US" altLang="ko-KR" sz="1400" spc="0" dirty="0"/>
              <a:t> </a:t>
            </a:r>
            <a:r>
              <a:rPr lang="ko-KR" altLang="en-US" sz="1400" spc="0" dirty="0"/>
              <a:t>클래스 소스코드 분석</a:t>
            </a:r>
            <a:endParaRPr lang="en-US" altLang="ko-KR" sz="1400" spc="0" dirty="0"/>
          </a:p>
          <a:p>
            <a:pPr marL="91463" indent="0">
              <a:lnSpc>
                <a:spcPct val="100000"/>
              </a:lnSpc>
              <a:buNone/>
            </a:pPr>
            <a:r>
              <a:rPr lang="en-US" altLang="ko-KR" sz="1400" spc="0" dirty="0"/>
              <a:t>(2) </a:t>
            </a:r>
            <a:r>
              <a:rPr lang="en-US" altLang="ko-KR" sz="1400" b="1" spc="0" dirty="0" err="1"/>
              <a:t>MazePrototypeFactory</a:t>
            </a:r>
            <a:r>
              <a:rPr lang="en-US" altLang="ko-KR" sz="1400" spc="0" dirty="0"/>
              <a:t> </a:t>
            </a:r>
            <a:r>
              <a:rPr lang="ko-KR" altLang="en-US" sz="1400" spc="0" dirty="0"/>
              <a:t>클래스의 </a:t>
            </a:r>
            <a:r>
              <a:rPr lang="en-US" altLang="ko-KR" sz="1400" spc="0" dirty="0"/>
              <a:t>main </a:t>
            </a:r>
            <a:r>
              <a:rPr lang="ko-KR" altLang="en-US" sz="1400" spc="0" dirty="0" err="1"/>
              <a:t>메쏘드</a:t>
            </a:r>
            <a:r>
              <a:rPr lang="ko-KR" altLang="en-US" sz="1400" spc="0" dirty="0"/>
              <a:t> 실행 시</a:t>
            </a:r>
            <a:br>
              <a:rPr lang="en-US" altLang="ko-KR" sz="1400" spc="0" dirty="0"/>
            </a:br>
            <a:r>
              <a:rPr lang="en-US" altLang="ko-KR" sz="1400" spc="0" dirty="0"/>
              <a:t>    Argument</a:t>
            </a:r>
            <a:r>
              <a:rPr lang="ko-KR" altLang="en-US" sz="1400" spc="0" dirty="0"/>
              <a:t>에 따라 다음과 같이 동작하도록 수정</a:t>
            </a:r>
            <a:endParaRPr lang="en-US" altLang="ko-KR" sz="1400" spc="0" dirty="0"/>
          </a:p>
        </p:txBody>
      </p:sp>
      <p:sp>
        <p:nvSpPr>
          <p:cNvPr id="3" name="제목 2"/>
          <p:cNvSpPr>
            <a:spLocks noGrp="1"/>
          </p:cNvSpPr>
          <p:nvPr>
            <p:ph type="title"/>
          </p:nvPr>
        </p:nvSpPr>
        <p:spPr/>
        <p:txBody>
          <a:bodyPr/>
          <a:lstStyle/>
          <a:p>
            <a:r>
              <a:rPr lang="en-US" altLang="ko-KR" spc="0" dirty="0"/>
              <a:t>[Practice 7-3] Prototype </a:t>
            </a:r>
            <a:r>
              <a:rPr lang="ko-KR" altLang="en-US" spc="0" dirty="0"/>
              <a:t>기반 </a:t>
            </a:r>
            <a:r>
              <a:rPr lang="en-US" altLang="ko-KR" spc="0" dirty="0"/>
              <a:t>Maze Game</a:t>
            </a:r>
            <a:endParaRPr lang="ko-KR" altLang="en-US" spc="0" dirty="0"/>
          </a:p>
        </p:txBody>
      </p:sp>
      <p:sp>
        <p:nvSpPr>
          <p:cNvPr id="7" name="직사각형 6"/>
          <p:cNvSpPr/>
          <p:nvPr/>
        </p:nvSpPr>
        <p:spPr>
          <a:xfrm>
            <a:off x="272322" y="553162"/>
            <a:ext cx="8532440" cy="609398"/>
          </a:xfrm>
          <a:prstGeom prst="rect">
            <a:avLst/>
          </a:prstGeom>
          <a:solidFill>
            <a:schemeClr val="accent1">
              <a:lumMod val="20000"/>
              <a:lumOff val="80000"/>
            </a:schemeClr>
          </a:solidFill>
        </p:spPr>
        <p:txBody>
          <a:bodyPr wrap="square">
            <a:spAutoFit/>
          </a:bodyPr>
          <a:lstStyle/>
          <a:p>
            <a:pPr>
              <a:lnSpc>
                <a:spcPct val="80000"/>
              </a:lnSpc>
            </a:pPr>
            <a:r>
              <a:rPr lang="en-US" altLang="ko-KR" sz="1400" b="1" dirty="0"/>
              <a:t>[</a:t>
            </a:r>
            <a:r>
              <a:rPr lang="ko-KR" altLang="en-US" sz="1400" b="1" dirty="0"/>
              <a:t>실습 코드</a:t>
            </a:r>
            <a:r>
              <a:rPr lang="en-US" altLang="ko-KR" sz="1400" b="1" dirty="0"/>
              <a:t>] </a:t>
            </a:r>
            <a:r>
              <a:rPr lang="en-US" altLang="ko-KR" sz="1400" dirty="0"/>
              <a:t>7_factorymethod_mazeProblem</a:t>
            </a:r>
          </a:p>
          <a:p>
            <a:pPr>
              <a:lnSpc>
                <a:spcPct val="80000"/>
              </a:lnSpc>
            </a:pPr>
            <a:endParaRPr lang="en-US" altLang="ko-KR" sz="1400" dirty="0"/>
          </a:p>
          <a:p>
            <a:pPr>
              <a:lnSpc>
                <a:spcPct val="80000"/>
              </a:lnSpc>
            </a:pPr>
            <a:r>
              <a:rPr lang="en-US" altLang="ko-KR" sz="1400" b="1" dirty="0">
                <a:solidFill>
                  <a:srgbClr val="FF0000"/>
                </a:solidFill>
              </a:rPr>
              <a:t>/maze/MazePrototypeFactory.java</a:t>
            </a:r>
          </a:p>
        </p:txBody>
      </p:sp>
      <p:grpSp>
        <p:nvGrpSpPr>
          <p:cNvPr id="10" name="그룹 9"/>
          <p:cNvGrpSpPr/>
          <p:nvPr/>
        </p:nvGrpSpPr>
        <p:grpSpPr>
          <a:xfrm>
            <a:off x="5434601" y="1325980"/>
            <a:ext cx="3477461" cy="3675558"/>
            <a:chOff x="5364088" y="1272456"/>
            <a:chExt cx="3477461" cy="3675558"/>
          </a:xfrm>
        </p:grpSpPr>
        <p:pic>
          <p:nvPicPr>
            <p:cNvPr id="5" name="Picture 2">
              <a:extLst>
                <a:ext uri="{FF2B5EF4-FFF2-40B4-BE49-F238E27FC236}">
                  <a16:creationId xmlns:a16="http://schemas.microsoft.com/office/drawing/2014/main" id="{02DEC4B2-3B9C-42F5-A0A2-E341E71F36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301913"/>
              <a:ext cx="3477461" cy="364610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C8DA84D-B1DF-CF49-71FE-44EAC71CB48B}"/>
                </a:ext>
              </a:extLst>
            </p:cNvPr>
            <p:cNvSpPr txBox="1"/>
            <p:nvPr/>
          </p:nvSpPr>
          <p:spPr>
            <a:xfrm>
              <a:off x="6756447" y="1272456"/>
              <a:ext cx="590871" cy="184666"/>
            </a:xfrm>
            <a:prstGeom prst="rect">
              <a:avLst/>
            </a:prstGeom>
            <a:solidFill>
              <a:schemeClr val="bg1"/>
            </a:solidFill>
            <a:ln w="3175">
              <a:solidFill>
                <a:schemeClr val="tx1"/>
              </a:solidFill>
            </a:ln>
          </p:spPr>
          <p:txBody>
            <a:bodyPr wrap="square" rtlCol="0">
              <a:spAutoFit/>
            </a:bodyPr>
            <a:lstStyle/>
            <a:p>
              <a:pPr algn="ctr"/>
              <a:r>
                <a:rPr lang="en-US" altLang="ko-KR" sz="600" b="1" i="1" dirty="0"/>
                <a:t>Cloneable</a:t>
              </a:r>
              <a:endParaRPr lang="ko-KR" altLang="en-US" sz="600" b="1" i="1" dirty="0"/>
            </a:p>
          </p:txBody>
        </p:sp>
        <p:sp>
          <p:nvSpPr>
            <p:cNvPr id="8" name="이등변 삼각형 7">
              <a:extLst>
                <a:ext uri="{FF2B5EF4-FFF2-40B4-BE49-F238E27FC236}">
                  <a16:creationId xmlns:a16="http://schemas.microsoft.com/office/drawing/2014/main" id="{28DF040E-EF41-A1BC-A6B3-87767C45AB78}"/>
                </a:ext>
              </a:extLst>
            </p:cNvPr>
            <p:cNvSpPr/>
            <p:nvPr/>
          </p:nvSpPr>
          <p:spPr>
            <a:xfrm rot="16200000">
              <a:off x="7339058" y="1307891"/>
              <a:ext cx="112917" cy="76350"/>
            </a:xfrm>
            <a:prstGeom prst="triangle">
              <a:avLst/>
            </a:prstGeom>
            <a:ln w="3175"/>
          </p:spPr>
          <p:style>
            <a:lnRef idx="2">
              <a:schemeClr val="dk1"/>
            </a:lnRef>
            <a:fillRef idx="1">
              <a:schemeClr val="lt1"/>
            </a:fillRef>
            <a:effectRef idx="0">
              <a:schemeClr val="dk1"/>
            </a:effectRef>
            <a:fontRef idx="minor">
              <a:schemeClr val="dk1"/>
            </a:fontRef>
          </p:style>
          <p:txBody>
            <a:bodyPr rtlCol="0" anchor="ctr"/>
            <a:lstStyle/>
            <a:p>
              <a:pPr algn="ctr"/>
              <a:endParaRPr lang="ko-KR" altLang="en-US"/>
            </a:p>
          </p:txBody>
        </p:sp>
        <p:cxnSp>
          <p:nvCxnSpPr>
            <p:cNvPr id="9" name="직선 연결선 8">
              <a:extLst>
                <a:ext uri="{FF2B5EF4-FFF2-40B4-BE49-F238E27FC236}">
                  <a16:creationId xmlns:a16="http://schemas.microsoft.com/office/drawing/2014/main" id="{98ED8CCD-19A3-F32C-4A3F-D37415B79C83}"/>
                </a:ext>
              </a:extLst>
            </p:cNvPr>
            <p:cNvCxnSpPr/>
            <p:nvPr/>
          </p:nvCxnSpPr>
          <p:spPr>
            <a:xfrm flipH="1">
              <a:off x="7433692" y="1342171"/>
              <a:ext cx="1103362" cy="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직선 연결선 10">
              <a:extLst>
                <a:ext uri="{FF2B5EF4-FFF2-40B4-BE49-F238E27FC236}">
                  <a16:creationId xmlns:a16="http://schemas.microsoft.com/office/drawing/2014/main" id="{98ED8CCD-19A3-F32C-4A3F-D37415B79C83}"/>
                </a:ext>
              </a:extLst>
            </p:cNvPr>
            <p:cNvCxnSpPr/>
            <p:nvPr/>
          </p:nvCxnSpPr>
          <p:spPr>
            <a:xfrm>
              <a:off x="8537054" y="1342171"/>
              <a:ext cx="0" cy="1759942"/>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aphicFrame>
        <p:nvGraphicFramePr>
          <p:cNvPr id="4" name="표 3"/>
          <p:cNvGraphicFramePr>
            <a:graphicFrameLocks noGrp="1"/>
          </p:cNvGraphicFramePr>
          <p:nvPr/>
        </p:nvGraphicFramePr>
        <p:xfrm>
          <a:off x="660447" y="2427734"/>
          <a:ext cx="4487617" cy="1036320"/>
        </p:xfrm>
        <a:graphic>
          <a:graphicData uri="http://schemas.openxmlformats.org/drawingml/2006/table">
            <a:tbl>
              <a:tblPr firstRow="1" bandRow="1">
                <a:tableStyleId>{5940675A-B579-460E-94D1-54222C63F5DA}</a:tableStyleId>
              </a:tblPr>
              <a:tblGrid>
                <a:gridCol w="1103241">
                  <a:extLst>
                    <a:ext uri="{9D8B030D-6E8A-4147-A177-3AD203B41FA5}">
                      <a16:colId xmlns:a16="http://schemas.microsoft.com/office/drawing/2014/main" val="2940371022"/>
                    </a:ext>
                  </a:extLst>
                </a:gridCol>
                <a:gridCol w="3384376">
                  <a:extLst>
                    <a:ext uri="{9D8B030D-6E8A-4147-A177-3AD203B41FA5}">
                      <a16:colId xmlns:a16="http://schemas.microsoft.com/office/drawing/2014/main" val="3384301118"/>
                    </a:ext>
                  </a:extLst>
                </a:gridCol>
              </a:tblGrid>
              <a:tr h="0">
                <a:tc>
                  <a:txBody>
                    <a:bodyPr/>
                    <a:lstStyle/>
                    <a:p>
                      <a:pPr algn="ctr" latinLnBrk="1"/>
                      <a:r>
                        <a:rPr lang="en-US" altLang="ko-KR" sz="1100" b="1" dirty="0"/>
                        <a:t>Argument</a:t>
                      </a:r>
                      <a:endParaRPr lang="ko-KR" altLang="en-US" sz="1100" b="1" dirty="0"/>
                    </a:p>
                  </a:txBody>
                  <a:tcPr anchor="ctr">
                    <a:solidFill>
                      <a:schemeClr val="tx2">
                        <a:lumMod val="20000"/>
                        <a:lumOff val="80000"/>
                      </a:schemeClr>
                    </a:solidFill>
                  </a:tcPr>
                </a:tc>
                <a:tc>
                  <a:txBody>
                    <a:bodyPr/>
                    <a:lstStyle/>
                    <a:p>
                      <a:pPr algn="ctr" latinLnBrk="1"/>
                      <a:r>
                        <a:rPr lang="en-US" altLang="ko-KR" sz="1100" b="1" dirty="0"/>
                        <a:t>Maze</a:t>
                      </a:r>
                      <a:r>
                        <a:rPr lang="en-US" altLang="ko-KR" sz="1100" b="1" baseline="0" dirty="0"/>
                        <a:t> </a:t>
                      </a:r>
                      <a:r>
                        <a:rPr lang="ko-KR" altLang="en-US" sz="1100" b="1" baseline="0" dirty="0"/>
                        <a:t>생성 방법</a:t>
                      </a:r>
                      <a:endParaRPr lang="ko-KR" altLang="en-US" sz="1100" b="1" dirty="0"/>
                    </a:p>
                  </a:txBody>
                  <a:tcPr anchor="ctr">
                    <a:solidFill>
                      <a:schemeClr val="tx2">
                        <a:lumMod val="20000"/>
                        <a:lumOff val="80000"/>
                      </a:schemeClr>
                    </a:solidFill>
                  </a:tcPr>
                </a:tc>
                <a:extLst>
                  <a:ext uri="{0D108BD9-81ED-4DB2-BD59-A6C34878D82A}">
                    <a16:rowId xmlns:a16="http://schemas.microsoft.com/office/drawing/2014/main" val="2456194422"/>
                  </a:ext>
                </a:extLst>
              </a:tr>
              <a:tr h="0">
                <a:tc>
                  <a:txBody>
                    <a:bodyPr/>
                    <a:lstStyle/>
                    <a:p>
                      <a:pPr latinLnBrk="1"/>
                      <a:r>
                        <a:rPr lang="en-US" altLang="ko-KR" sz="1100" dirty="0"/>
                        <a:t>(No</a:t>
                      </a:r>
                      <a:r>
                        <a:rPr lang="en-US" altLang="ko-KR" sz="1100" baseline="0" dirty="0"/>
                        <a:t> Argument)</a:t>
                      </a:r>
                      <a:endParaRPr lang="ko-KR" altLang="en-US" sz="1100" dirty="0"/>
                    </a:p>
                  </a:txBody>
                  <a:tcPr anchor="ct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100" spc="0" dirty="0"/>
                        <a:t>기본 </a:t>
                      </a:r>
                      <a:r>
                        <a:rPr lang="en-US" altLang="ko-KR" sz="1100" spc="0" dirty="0"/>
                        <a:t>(default) Door, Room, Wall </a:t>
                      </a:r>
                      <a:r>
                        <a:rPr lang="ko-KR" altLang="en-US" sz="1100" spc="0" dirty="0"/>
                        <a:t>사용</a:t>
                      </a:r>
                      <a:endParaRPr lang="ko-KR" altLang="en-US" sz="1100" dirty="0"/>
                    </a:p>
                  </a:txBody>
                  <a:tcPr anchor="ctr"/>
                </a:tc>
                <a:extLst>
                  <a:ext uri="{0D108BD9-81ED-4DB2-BD59-A6C34878D82A}">
                    <a16:rowId xmlns:a16="http://schemas.microsoft.com/office/drawing/2014/main" val="2001691797"/>
                  </a:ext>
                </a:extLst>
              </a:tr>
              <a:tr h="0">
                <a:tc>
                  <a:txBody>
                    <a:bodyPr/>
                    <a:lstStyle/>
                    <a:p>
                      <a:pPr latinLnBrk="1"/>
                      <a:r>
                        <a:rPr lang="en-US" altLang="ko-KR" sz="1100" dirty="0"/>
                        <a:t>“Harry”</a:t>
                      </a:r>
                      <a:endParaRPr lang="ko-KR" altLang="en-US" sz="1100" dirty="0"/>
                    </a:p>
                  </a:txBody>
                  <a:tcPr anchor="ct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100" spc="0" dirty="0" err="1"/>
                        <a:t>HarryPotter</a:t>
                      </a:r>
                      <a:r>
                        <a:rPr lang="en-US" altLang="ko-KR" sz="1100" spc="0" dirty="0"/>
                        <a:t> </a:t>
                      </a:r>
                      <a:r>
                        <a:rPr lang="ko-KR" altLang="en-US" sz="1100" spc="0" dirty="0"/>
                        <a:t>테마의 </a:t>
                      </a:r>
                      <a:r>
                        <a:rPr lang="en-US" altLang="ko-KR" sz="1100" spc="0" dirty="0"/>
                        <a:t>Door, Room, Wall </a:t>
                      </a:r>
                      <a:r>
                        <a:rPr lang="ko-KR" altLang="en-US" sz="1100" spc="0" dirty="0"/>
                        <a:t>사용</a:t>
                      </a:r>
                      <a:endParaRPr lang="ko-KR" altLang="en-US" sz="1100" dirty="0"/>
                    </a:p>
                  </a:txBody>
                  <a:tcPr anchor="ctr"/>
                </a:tc>
                <a:extLst>
                  <a:ext uri="{0D108BD9-81ED-4DB2-BD59-A6C34878D82A}">
                    <a16:rowId xmlns:a16="http://schemas.microsoft.com/office/drawing/2014/main" val="3642374804"/>
                  </a:ext>
                </a:extLst>
              </a:tr>
              <a:tr h="0">
                <a:tc>
                  <a:txBody>
                    <a:bodyPr/>
                    <a:lstStyle/>
                    <a:p>
                      <a:pPr latinLnBrk="1"/>
                      <a:r>
                        <a:rPr lang="en-US" altLang="ko-KR" sz="1100" dirty="0"/>
                        <a:t>“Snow”</a:t>
                      </a:r>
                      <a:endParaRPr lang="ko-KR" altLang="en-US" sz="1100" dirty="0"/>
                    </a:p>
                  </a:txBody>
                  <a:tcPr anchor="ct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100" spc="0" dirty="0" err="1"/>
                        <a:t>SnowWhite</a:t>
                      </a:r>
                      <a:r>
                        <a:rPr lang="en-US" altLang="ko-KR" sz="1100" spc="0" dirty="0"/>
                        <a:t> </a:t>
                      </a:r>
                      <a:r>
                        <a:rPr lang="ko-KR" altLang="en-US" sz="1100" spc="0" dirty="0"/>
                        <a:t>테마의 </a:t>
                      </a:r>
                      <a:r>
                        <a:rPr lang="en-US" altLang="ko-KR" sz="1100" spc="0" dirty="0"/>
                        <a:t>Door, Room, Wall </a:t>
                      </a:r>
                      <a:r>
                        <a:rPr lang="ko-KR" altLang="en-US" sz="1100" spc="0" dirty="0"/>
                        <a:t>사용</a:t>
                      </a:r>
                      <a:endParaRPr lang="ko-KR" altLang="en-US" sz="1100" dirty="0"/>
                    </a:p>
                  </a:txBody>
                  <a:tcPr anchor="ctr"/>
                </a:tc>
                <a:extLst>
                  <a:ext uri="{0D108BD9-81ED-4DB2-BD59-A6C34878D82A}">
                    <a16:rowId xmlns:a16="http://schemas.microsoft.com/office/drawing/2014/main" val="3613821522"/>
                  </a:ext>
                </a:extLst>
              </a:tr>
            </a:tbl>
          </a:graphicData>
        </a:graphic>
      </p:graphicFrame>
    </p:spTree>
    <p:extLst>
      <p:ext uri="{BB962C8B-B14F-4D97-AF65-F5344CB8AC3E}">
        <p14:creationId xmlns:p14="http://schemas.microsoft.com/office/powerpoint/2010/main" val="299626402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7-3] Prototype </a:t>
            </a:r>
            <a:r>
              <a:rPr lang="ko-KR" altLang="en-US" spc="0" dirty="0"/>
              <a:t>기반 </a:t>
            </a:r>
            <a:r>
              <a:rPr lang="en-US" altLang="ko-KR" spc="0" dirty="0"/>
              <a:t>Maze Game </a:t>
            </a:r>
            <a:r>
              <a:rPr lang="ko-KR" altLang="en-US" spc="0" dirty="0"/>
              <a:t>코딩 </a:t>
            </a:r>
            <a:r>
              <a:rPr lang="en-US" altLang="ko-KR" spc="0" dirty="0"/>
              <a:t>(solution)</a:t>
            </a:r>
            <a:endParaRPr lang="ko-KR" altLang="en-US" spc="0" dirty="0"/>
          </a:p>
        </p:txBody>
      </p:sp>
      <p:pic>
        <p:nvPicPr>
          <p:cNvPr id="4" name="Picture 2">
            <a:extLst>
              <a:ext uri="{FF2B5EF4-FFF2-40B4-BE49-F238E27FC236}">
                <a16:creationId xmlns:a16="http://schemas.microsoft.com/office/drawing/2014/main" id="{02DEC4B2-3B9C-42F5-A0A2-E341E71F361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483768" y="771550"/>
            <a:ext cx="3961012" cy="4153102"/>
          </a:xfrm>
          <a:prstGeom prst="rect">
            <a:avLst/>
          </a:prstGeom>
          <a:noFill/>
          <a:extLst>
            <a:ext uri="{909E8E84-426E-40DD-AFC4-6F175D3DCCD1}">
              <a14:hiddenFill xmlns:a14="http://schemas.microsoft.com/office/drawing/2010/main">
                <a:solidFill>
                  <a:srgbClr val="FFFFFF"/>
                </a:solidFill>
              </a14:hiddenFill>
            </a:ext>
          </a:extLst>
        </p:spPr>
      </p:pic>
      <p:sp>
        <p:nvSpPr>
          <p:cNvPr id="10" name="직사각형 9"/>
          <p:cNvSpPr/>
          <p:nvPr/>
        </p:nvSpPr>
        <p:spPr>
          <a:xfrm>
            <a:off x="2700363" y="3809025"/>
            <a:ext cx="1440160" cy="1176371"/>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ko-KR" altLang="en-US" sz="800" b="1" dirty="0">
              <a:solidFill>
                <a:srgbClr val="2A2D72"/>
              </a:solidFill>
            </a:endParaRPr>
          </a:p>
        </p:txBody>
      </p:sp>
      <p:sp>
        <p:nvSpPr>
          <p:cNvPr id="12" name="설명선 3 11"/>
          <p:cNvSpPr/>
          <p:nvPr/>
        </p:nvSpPr>
        <p:spPr>
          <a:xfrm>
            <a:off x="4393459" y="4560659"/>
            <a:ext cx="3381417" cy="424737"/>
          </a:xfrm>
          <a:prstGeom prst="borderCallout3">
            <a:avLst>
              <a:gd name="adj1" fmla="val 11329"/>
              <a:gd name="adj2" fmla="val -139"/>
              <a:gd name="adj3" fmla="val 12496"/>
              <a:gd name="adj4" fmla="val -9859"/>
              <a:gd name="adj5" fmla="val 11544"/>
              <a:gd name="adj6" fmla="val -12641"/>
              <a:gd name="adj7" fmla="val 33129"/>
              <a:gd name="adj8" fmla="val -20504"/>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b="1" dirty="0">
                <a:solidFill>
                  <a:srgbClr val="2A2D72"/>
                </a:solidFill>
              </a:rPr>
              <a:t>Client </a:t>
            </a:r>
            <a:r>
              <a:rPr lang="ko-KR" altLang="en-US" sz="900" b="1" dirty="0">
                <a:solidFill>
                  <a:srgbClr val="2A2D72"/>
                </a:solidFill>
              </a:rPr>
              <a:t>코드에 </a:t>
            </a:r>
            <a:r>
              <a:rPr lang="en-US" altLang="ko-KR" sz="900" b="1" dirty="0">
                <a:solidFill>
                  <a:srgbClr val="2A2D72"/>
                </a:solidFill>
              </a:rPr>
              <a:t>Object Composition &amp; Delegation</a:t>
            </a:r>
            <a:r>
              <a:rPr lang="ko-KR" altLang="en-US" sz="900" b="1" dirty="0">
                <a:solidFill>
                  <a:srgbClr val="2A2D72"/>
                </a:solidFill>
              </a:rPr>
              <a:t>이 관찰됨</a:t>
            </a:r>
            <a:endParaRPr lang="en-US" altLang="ko-KR" sz="900" dirty="0">
              <a:solidFill>
                <a:srgbClr val="2A2D72"/>
              </a:solidFill>
            </a:endParaRPr>
          </a:p>
          <a:p>
            <a:r>
              <a:rPr lang="en-US" altLang="ko-KR" sz="900" dirty="0">
                <a:solidFill>
                  <a:srgbClr val="2A2D72"/>
                </a:solidFill>
              </a:rPr>
              <a:t>return a copy of itself e.g. `</a:t>
            </a:r>
            <a:r>
              <a:rPr lang="en-US" altLang="ko-KR" sz="900" dirty="0" err="1">
                <a:solidFill>
                  <a:srgbClr val="2A2D72"/>
                </a:solidFill>
              </a:rPr>
              <a:t>mazePrototype.clone</a:t>
            </a:r>
            <a:r>
              <a:rPr lang="en-US" altLang="ko-KR" sz="900" dirty="0">
                <a:solidFill>
                  <a:srgbClr val="2A2D72"/>
                </a:solidFill>
              </a:rPr>
              <a:t>()`</a:t>
            </a:r>
          </a:p>
        </p:txBody>
      </p:sp>
      <p:sp>
        <p:nvSpPr>
          <p:cNvPr id="13" name="오른쪽 중괄호 12"/>
          <p:cNvSpPr/>
          <p:nvPr/>
        </p:nvSpPr>
        <p:spPr>
          <a:xfrm>
            <a:off x="3564459" y="4515966"/>
            <a:ext cx="144016" cy="360040"/>
          </a:xfrm>
          <a:prstGeom prst="righ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solidFill>
                <a:srgbClr val="2A2D72"/>
              </a:solidFill>
            </a:endParaRPr>
          </a:p>
        </p:txBody>
      </p:sp>
      <p:sp>
        <p:nvSpPr>
          <p:cNvPr id="17" name="TextBox 16">
            <a:extLst>
              <a:ext uri="{FF2B5EF4-FFF2-40B4-BE49-F238E27FC236}">
                <a16:creationId xmlns:a16="http://schemas.microsoft.com/office/drawing/2014/main" id="{DC8DA84D-B1DF-CF49-71FE-44EAC71CB48B}"/>
              </a:ext>
            </a:extLst>
          </p:cNvPr>
          <p:cNvSpPr txBox="1"/>
          <p:nvPr/>
        </p:nvSpPr>
        <p:spPr>
          <a:xfrm>
            <a:off x="4067944" y="744676"/>
            <a:ext cx="676350" cy="184666"/>
          </a:xfrm>
          <a:prstGeom prst="rect">
            <a:avLst/>
          </a:prstGeom>
          <a:solidFill>
            <a:schemeClr val="bg1"/>
          </a:solidFill>
          <a:ln w="3175">
            <a:solidFill>
              <a:schemeClr val="tx1"/>
            </a:solidFill>
          </a:ln>
        </p:spPr>
        <p:txBody>
          <a:bodyPr wrap="square" rtlCol="0">
            <a:spAutoFit/>
          </a:bodyPr>
          <a:lstStyle/>
          <a:p>
            <a:pPr algn="ctr"/>
            <a:r>
              <a:rPr lang="en-US" altLang="ko-KR" sz="600" b="1" i="1" dirty="0">
                <a:solidFill>
                  <a:srgbClr val="2A2D72"/>
                </a:solidFill>
              </a:rPr>
              <a:t>Cloneable</a:t>
            </a:r>
            <a:endParaRPr lang="ko-KR" altLang="en-US" sz="600" b="1" i="1" dirty="0">
              <a:solidFill>
                <a:srgbClr val="2A2D72"/>
              </a:solidFill>
            </a:endParaRPr>
          </a:p>
        </p:txBody>
      </p:sp>
      <p:sp>
        <p:nvSpPr>
          <p:cNvPr id="18" name="이등변 삼각형 17">
            <a:extLst>
              <a:ext uri="{FF2B5EF4-FFF2-40B4-BE49-F238E27FC236}">
                <a16:creationId xmlns:a16="http://schemas.microsoft.com/office/drawing/2014/main" id="{28DF040E-EF41-A1BC-A6B3-87767C45AB78}"/>
              </a:ext>
            </a:extLst>
          </p:cNvPr>
          <p:cNvSpPr/>
          <p:nvPr/>
        </p:nvSpPr>
        <p:spPr>
          <a:xfrm rot="16200000">
            <a:off x="4750884" y="791228"/>
            <a:ext cx="112917" cy="76350"/>
          </a:xfrm>
          <a:prstGeom prst="triangle">
            <a:avLst/>
          </a:prstGeom>
          <a:ln w="3175"/>
        </p:spPr>
        <p:style>
          <a:lnRef idx="2">
            <a:schemeClr val="dk1"/>
          </a:lnRef>
          <a:fillRef idx="1">
            <a:schemeClr val="lt1"/>
          </a:fillRef>
          <a:effectRef idx="0">
            <a:schemeClr val="dk1"/>
          </a:effectRef>
          <a:fontRef idx="minor">
            <a:schemeClr val="dk1"/>
          </a:fontRef>
        </p:style>
        <p:txBody>
          <a:bodyPr rtlCol="0" anchor="ctr"/>
          <a:lstStyle/>
          <a:p>
            <a:pPr algn="ctr"/>
            <a:endParaRPr lang="ko-KR" altLang="en-US">
              <a:solidFill>
                <a:srgbClr val="2A2D72"/>
              </a:solidFill>
            </a:endParaRPr>
          </a:p>
        </p:txBody>
      </p:sp>
      <p:cxnSp>
        <p:nvCxnSpPr>
          <p:cNvPr id="19" name="직선 연결선 18">
            <a:extLst>
              <a:ext uri="{FF2B5EF4-FFF2-40B4-BE49-F238E27FC236}">
                <a16:creationId xmlns:a16="http://schemas.microsoft.com/office/drawing/2014/main" id="{98ED8CCD-19A3-F32C-4A3F-D37415B79C83}"/>
              </a:ext>
            </a:extLst>
          </p:cNvPr>
          <p:cNvCxnSpPr/>
          <p:nvPr/>
        </p:nvCxnSpPr>
        <p:spPr>
          <a:xfrm flipH="1">
            <a:off x="4878399" y="825508"/>
            <a:ext cx="1205769" cy="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98ED8CCD-19A3-F32C-4A3F-D37415B79C83}"/>
              </a:ext>
            </a:extLst>
          </p:cNvPr>
          <p:cNvCxnSpPr/>
          <p:nvPr/>
        </p:nvCxnSpPr>
        <p:spPr>
          <a:xfrm>
            <a:off x="6084168" y="825508"/>
            <a:ext cx="0" cy="1962266"/>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E86FEE0-8126-EFC5-CE4B-B5655A02B869}"/>
              </a:ext>
            </a:extLst>
          </p:cNvPr>
          <p:cNvSpPr txBox="1"/>
          <p:nvPr/>
        </p:nvSpPr>
        <p:spPr>
          <a:xfrm>
            <a:off x="3055998" y="697249"/>
            <a:ext cx="829073" cy="253916"/>
          </a:xfrm>
          <a:prstGeom prst="rect">
            <a:avLst/>
          </a:prstGeom>
          <a:noFill/>
        </p:spPr>
        <p:txBody>
          <a:bodyPr wrap="none" rtlCol="0">
            <a:spAutoFit/>
          </a:bodyPr>
          <a:lstStyle/>
          <a:p>
            <a:r>
              <a:rPr lang="en-US" altLang="ko-KR" sz="1050" dirty="0">
                <a:solidFill>
                  <a:srgbClr val="2A2D72"/>
                </a:solidFill>
              </a:rPr>
              <a:t>Prototype </a:t>
            </a:r>
            <a:endParaRPr lang="ko-KR" altLang="en-US" sz="1050" dirty="0">
              <a:solidFill>
                <a:srgbClr val="2A2D72"/>
              </a:solidFill>
            </a:endParaRPr>
          </a:p>
        </p:txBody>
      </p:sp>
      <p:sp>
        <p:nvSpPr>
          <p:cNvPr id="23" name="TextBox 22">
            <a:extLst>
              <a:ext uri="{FF2B5EF4-FFF2-40B4-BE49-F238E27FC236}">
                <a16:creationId xmlns:a16="http://schemas.microsoft.com/office/drawing/2014/main" id="{24DC79B0-EDEB-2F42-331A-F9E99896291C}"/>
              </a:ext>
            </a:extLst>
          </p:cNvPr>
          <p:cNvSpPr txBox="1"/>
          <p:nvPr/>
        </p:nvSpPr>
        <p:spPr>
          <a:xfrm>
            <a:off x="827584" y="1814433"/>
            <a:ext cx="1423788" cy="253916"/>
          </a:xfrm>
          <a:prstGeom prst="rect">
            <a:avLst/>
          </a:prstGeom>
          <a:noFill/>
        </p:spPr>
        <p:txBody>
          <a:bodyPr wrap="none" rtlCol="0">
            <a:spAutoFit/>
          </a:bodyPr>
          <a:lstStyle/>
          <a:p>
            <a:r>
              <a:rPr lang="en-US" altLang="ko-KR" sz="1050" dirty="0">
                <a:solidFill>
                  <a:srgbClr val="2A2D72"/>
                </a:solidFill>
              </a:rPr>
              <a:t>Concrete Prototype </a:t>
            </a:r>
            <a:endParaRPr lang="ko-KR" altLang="en-US" sz="1050" dirty="0">
              <a:solidFill>
                <a:srgbClr val="2A2D72"/>
              </a:solidFill>
            </a:endParaRPr>
          </a:p>
        </p:txBody>
      </p:sp>
      <p:sp>
        <p:nvSpPr>
          <p:cNvPr id="24" name="직사각형 23">
            <a:extLst>
              <a:ext uri="{FF2B5EF4-FFF2-40B4-BE49-F238E27FC236}">
                <a16:creationId xmlns:a16="http://schemas.microsoft.com/office/drawing/2014/main" id="{D1AB98F2-E6A0-BD66-A695-E83FB2582623}"/>
              </a:ext>
            </a:extLst>
          </p:cNvPr>
          <p:cNvSpPr/>
          <p:nvPr/>
        </p:nvSpPr>
        <p:spPr>
          <a:xfrm>
            <a:off x="2156340" y="1599088"/>
            <a:ext cx="4359875" cy="1407074"/>
          </a:xfrm>
          <a:prstGeom prst="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2A2D72"/>
              </a:solidFill>
            </a:endParaRPr>
          </a:p>
        </p:txBody>
      </p:sp>
      <p:sp>
        <p:nvSpPr>
          <p:cNvPr id="25" name="TextBox 24">
            <a:extLst>
              <a:ext uri="{FF2B5EF4-FFF2-40B4-BE49-F238E27FC236}">
                <a16:creationId xmlns:a16="http://schemas.microsoft.com/office/drawing/2014/main" id="{5057A91A-96F5-0DFF-08D0-269D5694D1B8}"/>
              </a:ext>
            </a:extLst>
          </p:cNvPr>
          <p:cNvSpPr txBox="1"/>
          <p:nvPr/>
        </p:nvSpPr>
        <p:spPr>
          <a:xfrm>
            <a:off x="1762809" y="3153677"/>
            <a:ext cx="1225015" cy="253916"/>
          </a:xfrm>
          <a:prstGeom prst="rect">
            <a:avLst/>
          </a:prstGeom>
          <a:noFill/>
        </p:spPr>
        <p:txBody>
          <a:bodyPr wrap="none" rtlCol="0">
            <a:spAutoFit/>
          </a:bodyPr>
          <a:lstStyle/>
          <a:p>
            <a:r>
              <a:rPr lang="en-US" altLang="ko-KR" sz="1050" dirty="0">
                <a:solidFill>
                  <a:srgbClr val="2A2D72"/>
                </a:solidFill>
              </a:rPr>
              <a:t>Abstract Factory </a:t>
            </a:r>
            <a:endParaRPr lang="ko-KR" altLang="en-US" sz="1050" dirty="0">
              <a:solidFill>
                <a:srgbClr val="2A2D72"/>
              </a:solidFill>
            </a:endParaRPr>
          </a:p>
        </p:txBody>
      </p:sp>
      <p:sp>
        <p:nvSpPr>
          <p:cNvPr id="26" name="TextBox 25">
            <a:extLst>
              <a:ext uri="{FF2B5EF4-FFF2-40B4-BE49-F238E27FC236}">
                <a16:creationId xmlns:a16="http://schemas.microsoft.com/office/drawing/2014/main" id="{B40D377E-1686-2F5E-2E87-3D6E4FE2D2DD}"/>
              </a:ext>
            </a:extLst>
          </p:cNvPr>
          <p:cNvSpPr txBox="1"/>
          <p:nvPr/>
        </p:nvSpPr>
        <p:spPr>
          <a:xfrm>
            <a:off x="967282" y="4171432"/>
            <a:ext cx="1826141" cy="253916"/>
          </a:xfrm>
          <a:prstGeom prst="rect">
            <a:avLst/>
          </a:prstGeom>
          <a:noFill/>
        </p:spPr>
        <p:txBody>
          <a:bodyPr wrap="none" rtlCol="0">
            <a:spAutoFit/>
          </a:bodyPr>
          <a:lstStyle/>
          <a:p>
            <a:r>
              <a:rPr lang="en-US" altLang="ko-KR" sz="1050" dirty="0">
                <a:solidFill>
                  <a:srgbClr val="2A2D72"/>
                </a:solidFill>
              </a:rPr>
              <a:t>Client &amp; Concrete Factory </a:t>
            </a:r>
            <a:endParaRPr lang="ko-KR" altLang="en-US" sz="1050" dirty="0">
              <a:solidFill>
                <a:srgbClr val="2A2D72"/>
              </a:solidFill>
            </a:endParaRPr>
          </a:p>
        </p:txBody>
      </p:sp>
      <p:sp>
        <p:nvSpPr>
          <p:cNvPr id="27" name="직사각형 26">
            <a:extLst>
              <a:ext uri="{FF2B5EF4-FFF2-40B4-BE49-F238E27FC236}">
                <a16:creationId xmlns:a16="http://schemas.microsoft.com/office/drawing/2014/main" id="{D1AB98F2-E6A0-BD66-A695-E83FB2582623}"/>
              </a:ext>
            </a:extLst>
          </p:cNvPr>
          <p:cNvSpPr/>
          <p:nvPr/>
        </p:nvSpPr>
        <p:spPr>
          <a:xfrm>
            <a:off x="2915816" y="2859782"/>
            <a:ext cx="969255" cy="867564"/>
          </a:xfrm>
          <a:prstGeom prst="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2A2D72"/>
              </a:solidFill>
            </a:endParaRPr>
          </a:p>
        </p:txBody>
      </p:sp>
    </p:spTree>
    <p:extLst>
      <p:ext uri="{BB962C8B-B14F-4D97-AF65-F5344CB8AC3E}">
        <p14:creationId xmlns:p14="http://schemas.microsoft.com/office/powerpoint/2010/main" val="209471726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2699791" y="1707653"/>
            <a:ext cx="6444209" cy="2880321"/>
          </a:xfrm>
        </p:spPr>
        <p:txBody>
          <a:bodyPr>
            <a:noAutofit/>
          </a:bodyPr>
          <a:lstStyle/>
          <a:p>
            <a:r>
              <a:rPr lang="en-US" altLang="ko-KR" sz="1600" dirty="0"/>
              <a:t>[</a:t>
            </a:r>
            <a:r>
              <a:rPr lang="ko-KR" altLang="en-US" sz="1600" dirty="0"/>
              <a:t>필수</a:t>
            </a:r>
            <a:r>
              <a:rPr lang="en-US" altLang="ko-KR" sz="1600" dirty="0"/>
              <a:t>]</a:t>
            </a:r>
            <a:br>
              <a:rPr lang="en-US" altLang="ko-KR" sz="2000" b="0" dirty="0"/>
            </a:br>
            <a:r>
              <a:rPr lang="en-US" altLang="ko-KR" sz="2000" b="0" dirty="0"/>
              <a:t>14. Decorator </a:t>
            </a:r>
            <a:r>
              <a:rPr lang="en-US" altLang="ko-KR" sz="1600" b="0" dirty="0"/>
              <a:t>(43min)</a:t>
            </a:r>
            <a:br>
              <a:rPr lang="en-US" altLang="ko-KR" sz="1600" b="0" dirty="0"/>
            </a:br>
            <a:r>
              <a:rPr lang="en-US" altLang="ko-KR" sz="2000" b="0" dirty="0"/>
              <a:t>15. Adapter </a:t>
            </a:r>
            <a:r>
              <a:rPr lang="en-US" altLang="ko-KR" sz="1600" b="0" dirty="0"/>
              <a:t>(17min)</a:t>
            </a:r>
            <a:br>
              <a:rPr lang="en-US" altLang="ko-KR" sz="1600" b="0" dirty="0"/>
            </a:br>
            <a:r>
              <a:rPr lang="en-US" altLang="ko-KR" sz="2000" b="0" dirty="0"/>
              <a:t>16. Composite </a:t>
            </a:r>
            <a:r>
              <a:rPr lang="en-US" altLang="ko-KR" sz="1600" b="0" dirty="0"/>
              <a:t>(41min)</a:t>
            </a:r>
            <a:br>
              <a:rPr lang="en-US" altLang="ko-KR" sz="1600" b="0" dirty="0"/>
            </a:br>
            <a:br>
              <a:rPr lang="en-US" altLang="ko-KR" sz="2000" b="0" dirty="0"/>
            </a:br>
            <a:r>
              <a:rPr lang="en-US" altLang="ko-KR" sz="1600" spc="-150" dirty="0">
                <a:ln>
                  <a:noFill/>
                </a:ln>
                <a:solidFill>
                  <a:srgbClr val="B2CCEC"/>
                </a:solidFill>
                <a:latin typeface="+mn-ea"/>
                <a:ea typeface="+mn-ea"/>
              </a:rPr>
              <a:t>[</a:t>
            </a:r>
            <a:r>
              <a:rPr lang="ko-KR" altLang="en-US" sz="1600" spc="-150" dirty="0">
                <a:ln>
                  <a:noFill/>
                </a:ln>
                <a:solidFill>
                  <a:srgbClr val="B2CCEC"/>
                </a:solidFill>
                <a:latin typeface="+mn-ea"/>
                <a:ea typeface="+mn-ea"/>
              </a:rPr>
              <a:t>추가 학습</a:t>
            </a:r>
            <a:r>
              <a:rPr lang="en-US" altLang="ko-KR" sz="1600" spc="-150" dirty="0">
                <a:ln>
                  <a:noFill/>
                </a:ln>
                <a:solidFill>
                  <a:srgbClr val="B2CCEC"/>
                </a:solidFill>
                <a:latin typeface="+mn-ea"/>
                <a:ea typeface="+mn-ea"/>
              </a:rPr>
              <a:t>]</a:t>
            </a:r>
            <a:br>
              <a:rPr lang="en-US" altLang="ko-KR" sz="2000" b="0" spc="-150" dirty="0">
                <a:ln>
                  <a:noFill/>
                </a:ln>
                <a:solidFill>
                  <a:srgbClr val="B2CCEC"/>
                </a:solidFill>
                <a:latin typeface="+mn-ea"/>
                <a:ea typeface="+mn-ea"/>
              </a:rPr>
            </a:br>
            <a:r>
              <a:rPr lang="en-US" altLang="ko-KR" sz="2000" b="0" spc="-150" dirty="0">
                <a:ln>
                  <a:noFill/>
                </a:ln>
                <a:solidFill>
                  <a:srgbClr val="B2CCEC"/>
                </a:solidFill>
                <a:latin typeface="+mn-ea"/>
                <a:ea typeface="+mn-ea"/>
              </a:rPr>
              <a:t>17. Bridge </a:t>
            </a:r>
            <a:r>
              <a:rPr lang="en-US" altLang="ko-KR" sz="1600" b="0" spc="-150" dirty="0">
                <a:ln>
                  <a:noFill/>
                </a:ln>
                <a:solidFill>
                  <a:srgbClr val="B2CCEC"/>
                </a:solidFill>
                <a:latin typeface="+mn-ea"/>
                <a:ea typeface="+mn-ea"/>
              </a:rPr>
              <a:t>(51min)</a:t>
            </a:r>
            <a:br>
              <a:rPr lang="en-US" altLang="ko-KR" sz="1600" b="0" dirty="0"/>
            </a:br>
            <a:br>
              <a:rPr lang="en-US" altLang="ko-KR" b="0" dirty="0"/>
            </a:br>
            <a:r>
              <a:rPr lang="en-US" altLang="ko-KR" sz="1600" b="0" dirty="0"/>
              <a:t>* </a:t>
            </a:r>
            <a:r>
              <a:rPr lang="ko-KR" altLang="en-US" sz="1600" b="0" dirty="0"/>
              <a:t>사전 학습 등 </a:t>
            </a:r>
            <a:r>
              <a:rPr lang="en-US" altLang="ko-KR" sz="1600" b="0" dirty="0"/>
              <a:t>DP</a:t>
            </a:r>
            <a:r>
              <a:rPr lang="ko-KR" altLang="en-US" sz="1600" b="0" dirty="0"/>
              <a:t>에 익숙한 분은 영상 시청 없이 바로 </a:t>
            </a:r>
            <a:r>
              <a:rPr lang="en-US" altLang="ko-KR" sz="1600" b="0" dirty="0"/>
              <a:t>Practice </a:t>
            </a:r>
            <a:r>
              <a:rPr lang="ko-KR" altLang="en-US" sz="1600" b="0" dirty="0"/>
              <a:t> 도전</a:t>
            </a:r>
            <a:r>
              <a:rPr lang="en-US" altLang="ko-KR" sz="1600" b="0" dirty="0"/>
              <a:t>!</a:t>
            </a:r>
            <a:br>
              <a:rPr lang="ko-KR" altLang="en-US" b="0" dirty="0"/>
            </a:br>
            <a:endParaRPr lang="en-US" altLang="ko-KR" sz="1600" b="0" dirty="0"/>
          </a:p>
        </p:txBody>
      </p:sp>
      <p:sp>
        <p:nvSpPr>
          <p:cNvPr id="5" name="제목 1"/>
          <p:cNvSpPr txBox="1">
            <a:spLocks/>
          </p:cNvSpPr>
          <p:nvPr/>
        </p:nvSpPr>
        <p:spPr>
          <a:xfrm>
            <a:off x="2915816" y="483518"/>
            <a:ext cx="4752528" cy="533895"/>
          </a:xfrm>
          <a:prstGeom prst="rect">
            <a:avLst/>
          </a:prstGeom>
        </p:spPr>
        <p:txBody>
          <a:bodyPr vert="horz" lIns="75927" tIns="37964" rIns="75927" bIns="37964" rtlCol="0" anchor="ctr">
            <a:noAutofit/>
          </a:bodyPr>
          <a:lstStyle>
            <a:lvl1pPr algn="l" defTabSz="914400" rtl="0" eaLnBrk="1" latinLnBrk="1" hangingPunct="1">
              <a:spcBef>
                <a:spcPct val="0"/>
              </a:spcBef>
              <a:buNone/>
              <a:defRPr lang="ko-KR" altLang="en-US" sz="2400" b="1" kern="1200" spc="-100" baseline="0" dirty="0">
                <a:ln>
                  <a:solidFill>
                    <a:srgbClr val="2A2D72">
                      <a:alpha val="5000"/>
                    </a:srgbClr>
                  </a:solidFill>
                </a:ln>
                <a:solidFill>
                  <a:srgbClr val="5974BF"/>
                </a:solidFill>
                <a:latin typeface="+mj-ea"/>
                <a:ea typeface="+mj-ea"/>
                <a:cs typeface="Arial" panose="020B0604020202020204" pitchFamily="34" charset="0"/>
              </a:defRPr>
            </a:lvl1pPr>
          </a:lstStyle>
          <a:p>
            <a:pPr defTabSz="759253"/>
            <a:r>
              <a:rPr lang="en-US" altLang="ko-KR" sz="2800" spc="-150" dirty="0">
                <a:ln>
                  <a:noFill/>
                </a:ln>
                <a:solidFill>
                  <a:srgbClr val="B2CCEC"/>
                </a:solidFill>
                <a:latin typeface="+mn-ea"/>
                <a:ea typeface="+mn-ea"/>
              </a:rPr>
              <a:t>[</a:t>
            </a:r>
            <a:r>
              <a:rPr lang="ko-KR" altLang="en-US" sz="2800" spc="-150" dirty="0">
                <a:ln>
                  <a:noFill/>
                </a:ln>
                <a:solidFill>
                  <a:srgbClr val="B2CCEC"/>
                </a:solidFill>
                <a:latin typeface="+mn-ea"/>
                <a:ea typeface="+mn-ea"/>
              </a:rPr>
              <a:t>온라인 영상 학습</a:t>
            </a:r>
            <a:r>
              <a:rPr lang="en-US" altLang="ko-KR" sz="2800" spc="-150" dirty="0">
                <a:ln>
                  <a:noFill/>
                </a:ln>
                <a:solidFill>
                  <a:srgbClr val="B2CCEC"/>
                </a:solidFill>
                <a:latin typeface="+mn-ea"/>
                <a:ea typeface="+mn-ea"/>
              </a:rPr>
              <a:t>]</a:t>
            </a:r>
            <a:endParaRPr lang="ko-KR" altLang="en-US" sz="2800" spc="-150" dirty="0">
              <a:ln>
                <a:noFill/>
              </a:ln>
              <a:solidFill>
                <a:srgbClr val="B2CCEC"/>
              </a:solidFill>
              <a:latin typeface="+mn-ea"/>
              <a:ea typeface="+mn-ea"/>
            </a:endParaRPr>
          </a:p>
        </p:txBody>
      </p:sp>
      <p:sp>
        <p:nvSpPr>
          <p:cNvPr id="7" name="직사각형 6"/>
          <p:cNvSpPr/>
          <p:nvPr/>
        </p:nvSpPr>
        <p:spPr>
          <a:xfrm>
            <a:off x="395536" y="2283718"/>
            <a:ext cx="1712841" cy="954107"/>
          </a:xfrm>
          <a:prstGeom prst="rect">
            <a:avLst/>
          </a:prstGeom>
        </p:spPr>
        <p:txBody>
          <a:bodyPr wrap="none">
            <a:spAutoFit/>
          </a:bodyPr>
          <a:lstStyle/>
          <a:p>
            <a:r>
              <a:rPr lang="en-US" altLang="ko-KR" sz="2800" b="1" spc="-100" dirty="0">
                <a:ln>
                  <a:solidFill>
                    <a:srgbClr val="2A2D72">
                      <a:alpha val="5000"/>
                    </a:srgbClr>
                  </a:solidFill>
                </a:ln>
                <a:solidFill>
                  <a:srgbClr val="5974BF"/>
                </a:solidFill>
                <a:latin typeface="+mj-ea"/>
                <a:cs typeface="Arial" panose="020B0604020202020204" pitchFamily="34" charset="0"/>
              </a:rPr>
              <a:t>Structural</a:t>
            </a:r>
          </a:p>
          <a:p>
            <a:r>
              <a:rPr lang="en-US" altLang="ko-KR" sz="2800" b="1" spc="-100" dirty="0">
                <a:ln>
                  <a:solidFill>
                    <a:srgbClr val="2A2D72">
                      <a:alpha val="5000"/>
                    </a:srgbClr>
                  </a:solidFill>
                </a:ln>
                <a:solidFill>
                  <a:srgbClr val="5974BF"/>
                </a:solidFill>
                <a:latin typeface="+mj-ea"/>
                <a:cs typeface="Arial" panose="020B0604020202020204" pitchFamily="34" charset="0"/>
              </a:rPr>
              <a:t>Patterns</a:t>
            </a:r>
            <a:endParaRPr lang="ko-KR" altLang="en-US" sz="2800" b="1" spc="-100" dirty="0">
              <a:ln>
                <a:solidFill>
                  <a:srgbClr val="2A2D72">
                    <a:alpha val="5000"/>
                  </a:srgbClr>
                </a:solidFill>
              </a:ln>
              <a:solidFill>
                <a:srgbClr val="5974BF"/>
              </a:solidFill>
              <a:latin typeface="+mj-ea"/>
              <a:cs typeface="Arial" panose="020B0604020202020204" pitchFamily="34" charset="0"/>
            </a:endParaRPr>
          </a:p>
        </p:txBody>
      </p:sp>
    </p:spTree>
    <p:extLst>
      <p:ext uri="{BB962C8B-B14F-4D97-AF65-F5344CB8AC3E}">
        <p14:creationId xmlns:p14="http://schemas.microsoft.com/office/powerpoint/2010/main" val="294617829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2928428" y="1821831"/>
            <a:ext cx="5748028" cy="2190079"/>
          </a:xfrm>
        </p:spPr>
        <p:txBody>
          <a:bodyPr>
            <a:noAutofit/>
          </a:bodyPr>
          <a:lstStyle/>
          <a:p>
            <a:r>
              <a:rPr lang="en-US" altLang="ko-KR" sz="3600" dirty="0"/>
              <a:t>Decorator,</a:t>
            </a:r>
            <a:br>
              <a:rPr lang="en-US" altLang="ko-KR" sz="3600" dirty="0"/>
            </a:br>
            <a:r>
              <a:rPr lang="en-US" altLang="ko-KR" sz="3600" dirty="0"/>
              <a:t>Composite Patterns</a:t>
            </a:r>
          </a:p>
        </p:txBody>
      </p:sp>
      <p:sp>
        <p:nvSpPr>
          <p:cNvPr id="5" name="제목 1"/>
          <p:cNvSpPr txBox="1">
            <a:spLocks/>
          </p:cNvSpPr>
          <p:nvPr/>
        </p:nvSpPr>
        <p:spPr>
          <a:xfrm>
            <a:off x="2915816" y="1203598"/>
            <a:ext cx="2376264" cy="533895"/>
          </a:xfrm>
          <a:prstGeom prst="rect">
            <a:avLst/>
          </a:prstGeom>
        </p:spPr>
        <p:txBody>
          <a:bodyPr vert="horz" lIns="75927" tIns="37964" rIns="75927" bIns="37964" rtlCol="0" anchor="ctr">
            <a:noAutofit/>
          </a:bodyPr>
          <a:lstStyle>
            <a:lvl1pPr algn="l" defTabSz="914400" rtl="0" eaLnBrk="1" latinLnBrk="1" hangingPunct="1">
              <a:spcBef>
                <a:spcPct val="0"/>
              </a:spcBef>
              <a:buNone/>
              <a:defRPr lang="ko-KR" altLang="en-US" sz="2400" b="1" kern="1200" spc="-100" baseline="0" dirty="0">
                <a:ln>
                  <a:solidFill>
                    <a:srgbClr val="2A2D72">
                      <a:alpha val="5000"/>
                    </a:srgbClr>
                  </a:solidFill>
                </a:ln>
                <a:solidFill>
                  <a:srgbClr val="5974BF"/>
                </a:solidFill>
                <a:latin typeface="+mj-ea"/>
                <a:ea typeface="+mj-ea"/>
                <a:cs typeface="Arial" panose="020B0604020202020204" pitchFamily="34" charset="0"/>
              </a:defRPr>
            </a:lvl1pPr>
          </a:lstStyle>
          <a:p>
            <a:pPr defTabSz="759272"/>
            <a:r>
              <a:rPr lang="en-US" altLang="ko-KR" sz="2800" spc="-150" dirty="0">
                <a:ln>
                  <a:noFill/>
                </a:ln>
                <a:solidFill>
                  <a:srgbClr val="B2CCEC"/>
                </a:solidFill>
                <a:latin typeface="+mn-ea"/>
                <a:ea typeface="+mn-ea"/>
              </a:rPr>
              <a:t>08 09</a:t>
            </a:r>
            <a:endParaRPr lang="ko-KR" altLang="en-US" sz="2800" spc="-150" dirty="0">
              <a:ln>
                <a:noFill/>
              </a:ln>
              <a:solidFill>
                <a:srgbClr val="B2CCEC"/>
              </a:solidFill>
              <a:latin typeface="+mn-ea"/>
              <a:ea typeface="+mn-ea"/>
            </a:endParaRPr>
          </a:p>
        </p:txBody>
      </p:sp>
      <p:sp>
        <p:nvSpPr>
          <p:cNvPr id="7" name="직사각형 6"/>
          <p:cNvSpPr/>
          <p:nvPr/>
        </p:nvSpPr>
        <p:spPr>
          <a:xfrm>
            <a:off x="395536" y="2283718"/>
            <a:ext cx="1712841" cy="954107"/>
          </a:xfrm>
          <a:prstGeom prst="rect">
            <a:avLst/>
          </a:prstGeom>
        </p:spPr>
        <p:txBody>
          <a:bodyPr wrap="none">
            <a:spAutoFit/>
          </a:bodyPr>
          <a:lstStyle/>
          <a:p>
            <a:r>
              <a:rPr lang="en-US" altLang="ko-KR" sz="2800" b="1" spc="-100" dirty="0">
                <a:ln>
                  <a:solidFill>
                    <a:srgbClr val="2A2D72">
                      <a:alpha val="5000"/>
                    </a:srgbClr>
                  </a:solidFill>
                </a:ln>
                <a:solidFill>
                  <a:srgbClr val="5974BF"/>
                </a:solidFill>
                <a:latin typeface="+mj-ea"/>
                <a:cs typeface="Arial" panose="020B0604020202020204" pitchFamily="34" charset="0"/>
              </a:rPr>
              <a:t>Structural</a:t>
            </a:r>
          </a:p>
          <a:p>
            <a:r>
              <a:rPr lang="en-US" altLang="ko-KR" sz="2800" b="1" spc="-100" dirty="0">
                <a:ln>
                  <a:solidFill>
                    <a:srgbClr val="2A2D72">
                      <a:alpha val="5000"/>
                    </a:srgbClr>
                  </a:solidFill>
                </a:ln>
                <a:solidFill>
                  <a:srgbClr val="5974BF"/>
                </a:solidFill>
                <a:latin typeface="+mj-ea"/>
                <a:cs typeface="Arial" panose="020B0604020202020204" pitchFamily="34" charset="0"/>
              </a:rPr>
              <a:t>Patterns</a:t>
            </a:r>
            <a:endParaRPr lang="ko-KR" altLang="en-US" sz="2800" b="1" spc="-100" dirty="0">
              <a:ln>
                <a:solidFill>
                  <a:srgbClr val="2A2D72">
                    <a:alpha val="5000"/>
                  </a:srgbClr>
                </a:solidFill>
              </a:ln>
              <a:solidFill>
                <a:srgbClr val="5974BF"/>
              </a:solidFill>
              <a:latin typeface="+mj-ea"/>
              <a:cs typeface="Arial" panose="020B0604020202020204" pitchFamily="34" charset="0"/>
            </a:endParaRPr>
          </a:p>
        </p:txBody>
      </p:sp>
    </p:spTree>
    <p:extLst>
      <p:ext uri="{BB962C8B-B14F-4D97-AF65-F5344CB8AC3E}">
        <p14:creationId xmlns:p14="http://schemas.microsoft.com/office/powerpoint/2010/main" val="201138851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en-US" altLang="ko-KR" spc="0" dirty="0"/>
              <a:t>Avoiding Sub-classing for function extension</a:t>
            </a:r>
            <a:endParaRPr lang="ko-KR" altLang="en-US" spc="0" dirty="0"/>
          </a:p>
        </p:txBody>
      </p:sp>
      <p:sp>
        <p:nvSpPr>
          <p:cNvPr id="2" name="내용 개체 틀 1"/>
          <p:cNvSpPr>
            <a:spLocks noGrp="1"/>
          </p:cNvSpPr>
          <p:nvPr>
            <p:ph idx="1"/>
          </p:nvPr>
        </p:nvSpPr>
        <p:spPr/>
        <p:txBody>
          <a:bodyPr/>
          <a:lstStyle/>
          <a:p>
            <a:r>
              <a:rPr lang="en-US" altLang="ko-KR" sz="1600" spc="0" dirty="0" err="1"/>
              <a:t>Subclassing</a:t>
            </a:r>
            <a:r>
              <a:rPr lang="en-US" altLang="ko-KR" sz="1600" spc="0" dirty="0"/>
              <a:t> can lead to </a:t>
            </a:r>
            <a:r>
              <a:rPr lang="en-US" altLang="ko-KR" sz="1600" b="1" spc="0" dirty="0">
                <a:solidFill>
                  <a:srgbClr val="FF0000"/>
                </a:solidFill>
              </a:rPr>
              <a:t>explosion of subclasses</a:t>
            </a:r>
            <a:r>
              <a:rPr lang="en-US" altLang="ko-KR" sz="1600" spc="0" dirty="0">
                <a:solidFill>
                  <a:srgbClr val="FF0000"/>
                </a:solidFill>
              </a:rPr>
              <a:t>.</a:t>
            </a:r>
          </a:p>
          <a:p>
            <a:r>
              <a:rPr lang="en-US" altLang="ko-KR" sz="1600" spc="0" dirty="0"/>
              <a:t>Object composition and delegation provide </a:t>
            </a:r>
            <a:r>
              <a:rPr lang="en-US" altLang="ko-KR" sz="1600" b="1" spc="0" dirty="0">
                <a:solidFill>
                  <a:srgbClr val="0066FF"/>
                </a:solidFill>
              </a:rPr>
              <a:t>flexible alternatives.</a:t>
            </a:r>
          </a:p>
          <a:p>
            <a:endParaRPr lang="ko-KR" altLang="en-US" spc="0" dirty="0"/>
          </a:p>
        </p:txBody>
      </p:sp>
    </p:spTree>
    <p:extLst>
      <p:ext uri="{BB962C8B-B14F-4D97-AF65-F5344CB8AC3E}">
        <p14:creationId xmlns:p14="http://schemas.microsoft.com/office/powerpoint/2010/main" val="298557119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Decorator Pattern – Class Diagram</a:t>
            </a:r>
            <a:endParaRPr lang="ko-KR" altLang="en-US" spc="0" dirty="0"/>
          </a:p>
        </p:txBody>
      </p:sp>
      <p:pic>
        <p:nvPicPr>
          <p:cNvPr id="6" name="내용 개체 틀 3"/>
          <p:cNvPicPr>
            <a:picLocks noGrp="1" noChangeAspect="1"/>
          </p:cNvPicPr>
          <p:nvPr>
            <p:ph idx="1"/>
          </p:nvPr>
        </p:nvPicPr>
        <p:blipFill rotWithShape="1">
          <a:blip r:embed="rId2"/>
          <a:srcRect l="-457" t="3985" r="457" b="10291"/>
          <a:stretch/>
        </p:blipFill>
        <p:spPr>
          <a:xfrm>
            <a:off x="2626534" y="908050"/>
            <a:ext cx="3962369" cy="3751263"/>
          </a:xfrm>
          <a:prstGeom prst="rect">
            <a:avLst/>
          </a:prstGeom>
        </p:spPr>
      </p:pic>
    </p:spTree>
    <p:extLst>
      <p:ext uri="{BB962C8B-B14F-4D97-AF65-F5344CB8AC3E}">
        <p14:creationId xmlns:p14="http://schemas.microsoft.com/office/powerpoint/2010/main" val="203108833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CE8DAA3F-3E66-4497-8418-6ABB9522ED91}"/>
              </a:ext>
            </a:extLst>
          </p:cNvPr>
          <p:cNvPicPr>
            <a:picLocks noChangeAspect="1"/>
          </p:cNvPicPr>
          <p:nvPr/>
        </p:nvPicPr>
        <p:blipFill>
          <a:blip r:embed="rId3"/>
          <a:stretch>
            <a:fillRect/>
          </a:stretch>
        </p:blipFill>
        <p:spPr>
          <a:xfrm>
            <a:off x="5076056" y="3219822"/>
            <a:ext cx="3959424" cy="1822353"/>
          </a:xfrm>
          <a:prstGeom prst="rect">
            <a:avLst/>
          </a:prstGeom>
        </p:spPr>
      </p:pic>
      <p:sp>
        <p:nvSpPr>
          <p:cNvPr id="2" name="내용 개체 틀 1"/>
          <p:cNvSpPr>
            <a:spLocks noGrp="1"/>
          </p:cNvSpPr>
          <p:nvPr>
            <p:ph idx="1"/>
          </p:nvPr>
        </p:nvSpPr>
        <p:spPr>
          <a:xfrm>
            <a:off x="251520" y="1041064"/>
            <a:ext cx="8712968" cy="3618918"/>
          </a:xfrm>
        </p:spPr>
        <p:txBody>
          <a:bodyPr>
            <a:normAutofit/>
          </a:bodyPr>
          <a:lstStyle/>
          <a:p>
            <a:endParaRPr lang="en-US" altLang="ko-KR" sz="1600" spc="0" dirty="0"/>
          </a:p>
          <a:p>
            <a:pPr marL="361338" lvl="1" indent="0">
              <a:buNone/>
            </a:pPr>
            <a:r>
              <a:rPr lang="en-US" altLang="ko-KR" sz="1400" b="1" spc="0" dirty="0" err="1"/>
              <a:t>StarbuzzCoffee</a:t>
            </a:r>
            <a:r>
              <a:rPr lang="en-US" altLang="ko-KR" sz="1400" spc="0" dirty="0"/>
              <a:t> </a:t>
            </a:r>
            <a:r>
              <a:rPr lang="ko-KR" altLang="en-US" sz="1400" spc="0" dirty="0"/>
              <a:t>클래스</a:t>
            </a:r>
            <a:r>
              <a:rPr lang="en-US" altLang="ko-KR" spc="0" dirty="0"/>
              <a:t>(StarbuzzCoffee.java)</a:t>
            </a:r>
            <a:r>
              <a:rPr lang="ko-KR" altLang="en-US" sz="1400" spc="0" dirty="0"/>
              <a:t>의 </a:t>
            </a:r>
            <a:r>
              <a:rPr lang="en-US" altLang="ko-KR" sz="1400" u="sng" spc="0" dirty="0"/>
              <a:t>beverage2</a:t>
            </a:r>
            <a:r>
              <a:rPr lang="ko-KR" altLang="en-US" sz="1400" spc="0" dirty="0"/>
              <a:t>와 </a:t>
            </a:r>
            <a:r>
              <a:rPr lang="en-US" altLang="ko-KR" sz="1400" u="sng" spc="0" dirty="0"/>
              <a:t>beverage3</a:t>
            </a:r>
            <a:r>
              <a:rPr lang="ko-KR" altLang="en-US" sz="1400" spc="0" dirty="0"/>
              <a:t>의 생성 방식을 참고하여</a:t>
            </a:r>
            <a:endParaRPr lang="en-US" altLang="ko-KR" sz="1400" spc="0" dirty="0"/>
          </a:p>
          <a:p>
            <a:pPr marL="361338" lvl="1" indent="0">
              <a:buNone/>
            </a:pPr>
            <a:r>
              <a:rPr lang="en-US" altLang="ko-KR" sz="1400" spc="0" dirty="0"/>
              <a:t>main() </a:t>
            </a:r>
            <a:r>
              <a:rPr lang="ko-KR" altLang="en-US" sz="1400" spc="0" dirty="0"/>
              <a:t>함수에 아래의 코드 추가</a:t>
            </a:r>
            <a:r>
              <a:rPr lang="en-US" altLang="ko-KR" sz="1400" spc="0" dirty="0"/>
              <a:t> </a:t>
            </a:r>
          </a:p>
          <a:p>
            <a:pPr marL="361338" lvl="1" indent="0">
              <a:buNone/>
            </a:pPr>
            <a:r>
              <a:rPr lang="en-US" altLang="ko-KR" sz="1400" spc="0" dirty="0"/>
              <a:t> (1) </a:t>
            </a:r>
            <a:r>
              <a:rPr lang="en-US" altLang="ko-KR" sz="1400" b="1" spc="0" dirty="0" err="1"/>
              <a:t>HouseBlend</a:t>
            </a:r>
            <a:r>
              <a:rPr lang="en-US" altLang="ko-KR" sz="1400" spc="0" dirty="0"/>
              <a:t> </a:t>
            </a:r>
            <a:r>
              <a:rPr lang="ko-KR" altLang="en-US" sz="1400" spc="0" dirty="0"/>
              <a:t>커피에 </a:t>
            </a:r>
            <a:r>
              <a:rPr lang="en-US" altLang="ko-KR" sz="1400" b="1" spc="0" dirty="0"/>
              <a:t>Soy</a:t>
            </a:r>
            <a:r>
              <a:rPr lang="en-US" altLang="ko-KR" sz="1400" spc="0" dirty="0"/>
              <a:t> 1</a:t>
            </a:r>
            <a:r>
              <a:rPr lang="ko-KR" altLang="en-US" sz="1400" spc="0" dirty="0"/>
              <a:t>번</a:t>
            </a:r>
            <a:r>
              <a:rPr lang="en-US" altLang="ko-KR" sz="1400" spc="0" dirty="0"/>
              <a:t>, </a:t>
            </a:r>
            <a:r>
              <a:rPr lang="en-US" altLang="ko-KR" sz="1400" b="1" spc="0" dirty="0"/>
              <a:t>Mocha</a:t>
            </a:r>
            <a:r>
              <a:rPr lang="en-US" altLang="ko-KR" sz="1400" spc="0" dirty="0"/>
              <a:t> 2</a:t>
            </a:r>
            <a:r>
              <a:rPr lang="ko-KR" altLang="en-US" sz="1400" spc="0" dirty="0"/>
              <a:t>번</a:t>
            </a:r>
            <a:r>
              <a:rPr lang="en-US" altLang="ko-KR" sz="1400" spc="0" dirty="0"/>
              <a:t>, </a:t>
            </a:r>
            <a:r>
              <a:rPr lang="en-US" altLang="ko-KR" sz="1400" b="1" spc="0" dirty="0"/>
              <a:t>Whip</a:t>
            </a:r>
            <a:r>
              <a:rPr lang="en-US" altLang="ko-KR" sz="1400" spc="0" dirty="0"/>
              <a:t> 2</a:t>
            </a:r>
            <a:r>
              <a:rPr lang="ko-KR" altLang="en-US" sz="1400" spc="0" dirty="0"/>
              <a:t>번의 순서로 추가하여 가격 계산</a:t>
            </a:r>
          </a:p>
          <a:p>
            <a:pPr marL="361338" lvl="1" indent="0">
              <a:buNone/>
            </a:pPr>
            <a:r>
              <a:rPr lang="ko-KR" altLang="en-US" sz="1400" spc="0" dirty="0"/>
              <a:t> </a:t>
            </a:r>
            <a:r>
              <a:rPr lang="en-US" altLang="ko-KR" sz="1400" spc="0" dirty="0"/>
              <a:t>(2) </a:t>
            </a:r>
            <a:r>
              <a:rPr lang="en-US" altLang="ko-KR" sz="1400" b="1" spc="0" dirty="0" err="1"/>
              <a:t>HouseBlend</a:t>
            </a:r>
            <a:r>
              <a:rPr lang="en-US" altLang="ko-KR" sz="1400" spc="0" dirty="0"/>
              <a:t> </a:t>
            </a:r>
            <a:r>
              <a:rPr lang="ko-KR" altLang="en-US" sz="1400" spc="0" dirty="0"/>
              <a:t>커피에 위의 역순으로 추가하여 가격 계산</a:t>
            </a:r>
          </a:p>
          <a:p>
            <a:pPr marL="361338" lvl="1" indent="0">
              <a:buNone/>
            </a:pPr>
            <a:r>
              <a:rPr lang="ko-KR" altLang="en-US" sz="1400" spc="0" dirty="0"/>
              <a:t> </a:t>
            </a:r>
            <a:r>
              <a:rPr lang="en-US" altLang="ko-KR" sz="1400" spc="0" dirty="0"/>
              <a:t>(3) </a:t>
            </a:r>
            <a:r>
              <a:rPr lang="en-US" altLang="ko-KR" sz="1400" b="1" spc="0" dirty="0" err="1"/>
              <a:t>HouseBlend</a:t>
            </a:r>
            <a:r>
              <a:rPr lang="en-US" altLang="ko-KR" sz="1400" spc="0" dirty="0"/>
              <a:t> </a:t>
            </a:r>
            <a:r>
              <a:rPr lang="ko-KR" altLang="en-US" sz="1400" spc="0" dirty="0"/>
              <a:t>커피를 </a:t>
            </a:r>
            <a:r>
              <a:rPr lang="en-US" altLang="ko-KR" sz="1400" b="1" spc="0" dirty="0" err="1"/>
              <a:t>DarkRoast</a:t>
            </a:r>
            <a:r>
              <a:rPr lang="ko-KR" altLang="en-US" sz="1400" spc="0" dirty="0"/>
              <a:t>로 꾸미기 시도</a:t>
            </a:r>
          </a:p>
          <a:p>
            <a:pPr marL="361338" lvl="1" indent="0">
              <a:buNone/>
            </a:pPr>
            <a:r>
              <a:rPr lang="ko-KR" altLang="en-US" sz="1400" spc="0" dirty="0"/>
              <a:t> </a:t>
            </a:r>
            <a:r>
              <a:rPr lang="en-US" altLang="ko-KR" sz="1400" spc="0" dirty="0"/>
              <a:t>(4) </a:t>
            </a:r>
            <a:r>
              <a:rPr lang="en-US" altLang="ko-KR" sz="1400" b="1" spc="0" dirty="0"/>
              <a:t>Mocha</a:t>
            </a:r>
            <a:r>
              <a:rPr lang="ko-KR" altLang="en-US" sz="1400" spc="0" dirty="0"/>
              <a:t>를 </a:t>
            </a:r>
            <a:r>
              <a:rPr lang="en-US" altLang="ko-KR" sz="1400" spc="0" dirty="0"/>
              <a:t>Beverage</a:t>
            </a:r>
            <a:r>
              <a:rPr lang="ko-KR" altLang="en-US" sz="1400" spc="0" dirty="0"/>
              <a:t>로 하여 </a:t>
            </a:r>
            <a:r>
              <a:rPr lang="en-US" altLang="ko-KR" sz="1400" b="1" spc="0" dirty="0"/>
              <a:t>Whip</a:t>
            </a:r>
            <a:r>
              <a:rPr lang="en-US" altLang="ko-KR" sz="1400" spc="0" dirty="0"/>
              <a:t> </a:t>
            </a:r>
            <a:r>
              <a:rPr lang="ko-KR" altLang="en-US" sz="1400" spc="0" dirty="0"/>
              <a:t>추가 시도 후 가격 계산</a:t>
            </a:r>
            <a:endParaRPr lang="en-US" altLang="ko-KR" sz="1400" spc="0" dirty="0"/>
          </a:p>
          <a:p>
            <a:pPr marL="361338" lvl="1" indent="0">
              <a:buNone/>
            </a:pPr>
            <a:r>
              <a:rPr lang="en-US" altLang="ko-KR" sz="1400" spc="0" dirty="0"/>
              <a:t>    </a:t>
            </a:r>
            <a:r>
              <a:rPr lang="ko-KR" altLang="en-US" sz="1400" spc="0" dirty="0"/>
              <a:t> </a:t>
            </a:r>
            <a:r>
              <a:rPr lang="en-US" altLang="ko-KR" sz="1400" spc="0" dirty="0"/>
              <a:t>– Mocha </a:t>
            </a:r>
            <a:r>
              <a:rPr lang="ko-KR" altLang="en-US" sz="1400" spc="0" dirty="0" err="1"/>
              <a:t>생성자에</a:t>
            </a:r>
            <a:r>
              <a:rPr lang="ko-KR" altLang="en-US" sz="1400" spc="0" dirty="0"/>
              <a:t> </a:t>
            </a:r>
            <a:r>
              <a:rPr lang="en-US" altLang="ko-KR" sz="1400" spc="0" dirty="0"/>
              <a:t>null </a:t>
            </a:r>
            <a:r>
              <a:rPr lang="ko-KR" altLang="en-US" sz="1400" spc="0" dirty="0"/>
              <a:t>전달</a:t>
            </a:r>
          </a:p>
        </p:txBody>
      </p:sp>
      <p:sp>
        <p:nvSpPr>
          <p:cNvPr id="3" name="제목 2"/>
          <p:cNvSpPr>
            <a:spLocks noGrp="1"/>
          </p:cNvSpPr>
          <p:nvPr>
            <p:ph type="title"/>
          </p:nvPr>
        </p:nvSpPr>
        <p:spPr/>
        <p:txBody>
          <a:bodyPr/>
          <a:lstStyle/>
          <a:p>
            <a:r>
              <a:rPr lang="en-US" altLang="ko-KR" spc="0" dirty="0"/>
              <a:t>[Practice 8-1] Decorator : </a:t>
            </a:r>
            <a:r>
              <a:rPr lang="en-US" altLang="ko-KR" spc="0" dirty="0" err="1"/>
              <a:t>StarbuzzCoffee</a:t>
            </a:r>
            <a:endParaRPr lang="ko-KR" altLang="en-US" spc="0" dirty="0"/>
          </a:p>
        </p:txBody>
      </p:sp>
      <p:sp>
        <p:nvSpPr>
          <p:cNvPr id="5" name="직사각형 4"/>
          <p:cNvSpPr/>
          <p:nvPr/>
        </p:nvSpPr>
        <p:spPr>
          <a:xfrm>
            <a:off x="251520" y="776376"/>
            <a:ext cx="4392488" cy="264688"/>
          </a:xfrm>
          <a:prstGeom prst="rect">
            <a:avLst/>
          </a:prstGeom>
          <a:solidFill>
            <a:schemeClr val="accent1">
              <a:lumMod val="20000"/>
              <a:lumOff val="80000"/>
            </a:schemeClr>
          </a:solidFill>
        </p:spPr>
        <p:txBody>
          <a:bodyPr wrap="square">
            <a:spAutoFit/>
          </a:bodyPr>
          <a:lstStyle/>
          <a:p>
            <a:pPr>
              <a:lnSpc>
                <a:spcPct val="80000"/>
              </a:lnSpc>
            </a:pPr>
            <a:r>
              <a:rPr lang="en-US" altLang="ko-KR" sz="1400" b="1" dirty="0"/>
              <a:t>[</a:t>
            </a:r>
            <a:r>
              <a:rPr lang="ko-KR" altLang="en-US" sz="1400" b="1" dirty="0"/>
              <a:t>실습 코드</a:t>
            </a:r>
            <a:r>
              <a:rPr lang="en-US" altLang="ko-KR" sz="1400" b="1" dirty="0"/>
              <a:t>] </a:t>
            </a:r>
            <a:r>
              <a:rPr lang="en-US" altLang="ko-KR" sz="1400" dirty="0"/>
              <a:t>8-1_headfirst.decorator.starbuzzProblem</a:t>
            </a:r>
          </a:p>
        </p:txBody>
      </p:sp>
      <p:sp>
        <p:nvSpPr>
          <p:cNvPr id="7" name="직사각형 6">
            <a:extLst>
              <a:ext uri="{FF2B5EF4-FFF2-40B4-BE49-F238E27FC236}">
                <a16:creationId xmlns:a16="http://schemas.microsoft.com/office/drawing/2014/main" id="{5BB44D0A-E773-4544-BD15-A45B89B7CBB5}"/>
              </a:ext>
            </a:extLst>
          </p:cNvPr>
          <p:cNvSpPr/>
          <p:nvPr/>
        </p:nvSpPr>
        <p:spPr>
          <a:xfrm>
            <a:off x="2843808" y="3109922"/>
            <a:ext cx="3583032" cy="253916"/>
          </a:xfrm>
          <a:prstGeom prst="rect">
            <a:avLst/>
          </a:prstGeom>
        </p:spPr>
        <p:txBody>
          <a:bodyPr wrap="none">
            <a:spAutoFit/>
          </a:bodyPr>
          <a:lstStyle/>
          <a:p>
            <a:r>
              <a:rPr lang="en-US" altLang="ko-KR" sz="1050" dirty="0">
                <a:ln>
                  <a:solidFill>
                    <a:srgbClr val="5B9BD5">
                      <a:alpha val="0"/>
                    </a:srgbClr>
                  </a:solidFill>
                </a:ln>
                <a:solidFill>
                  <a:srgbClr val="4156BD"/>
                </a:solidFill>
                <a:cs typeface="Arial" panose="020B0604020202020204" pitchFamily="34" charset="0"/>
              </a:rPr>
              <a:t>* Concrete</a:t>
            </a:r>
            <a:r>
              <a:rPr lang="ko-KR" altLang="en-US" sz="1050" dirty="0">
                <a:ln>
                  <a:solidFill>
                    <a:srgbClr val="5B9BD5">
                      <a:alpha val="0"/>
                    </a:srgbClr>
                  </a:solidFill>
                </a:ln>
                <a:solidFill>
                  <a:srgbClr val="4156BD"/>
                </a:solidFill>
                <a:cs typeface="Arial" panose="020B0604020202020204" pitchFamily="34" charset="0"/>
              </a:rPr>
              <a:t> </a:t>
            </a:r>
            <a:r>
              <a:rPr lang="en-US" altLang="ko-KR" sz="1050" dirty="0">
                <a:ln>
                  <a:solidFill>
                    <a:srgbClr val="5B9BD5">
                      <a:alpha val="0"/>
                    </a:srgbClr>
                  </a:solidFill>
                </a:ln>
                <a:solidFill>
                  <a:srgbClr val="4156BD"/>
                </a:solidFill>
                <a:cs typeface="Arial" panose="020B0604020202020204" pitchFamily="34" charset="0"/>
              </a:rPr>
              <a:t>Component</a:t>
            </a:r>
            <a:r>
              <a:rPr lang="ko-KR" altLang="en-US" sz="1050" dirty="0">
                <a:ln>
                  <a:solidFill>
                    <a:srgbClr val="5B9BD5">
                      <a:alpha val="0"/>
                    </a:srgbClr>
                  </a:solidFill>
                </a:ln>
                <a:solidFill>
                  <a:srgbClr val="4156BD"/>
                </a:solidFill>
                <a:cs typeface="Arial" panose="020B0604020202020204" pitchFamily="34" charset="0"/>
              </a:rPr>
              <a:t>가 </a:t>
            </a:r>
            <a:r>
              <a:rPr lang="en-US" altLang="ko-KR" sz="1050" dirty="0">
                <a:ln>
                  <a:solidFill>
                    <a:srgbClr val="5B9BD5">
                      <a:alpha val="0"/>
                    </a:srgbClr>
                  </a:solidFill>
                </a:ln>
                <a:solidFill>
                  <a:srgbClr val="4156BD"/>
                </a:solidFill>
                <a:cs typeface="Arial" panose="020B0604020202020204" pitchFamily="34" charset="0"/>
              </a:rPr>
              <a:t>Concrete Component</a:t>
            </a:r>
            <a:r>
              <a:rPr lang="ko-KR" altLang="en-US" sz="1050" dirty="0">
                <a:ln>
                  <a:solidFill>
                    <a:srgbClr val="5B9BD5">
                      <a:alpha val="0"/>
                    </a:srgbClr>
                  </a:solidFill>
                </a:ln>
                <a:solidFill>
                  <a:srgbClr val="4156BD"/>
                </a:solidFill>
                <a:cs typeface="Arial" panose="020B0604020202020204" pitchFamily="34" charset="0"/>
              </a:rPr>
              <a:t>를 </a:t>
            </a:r>
            <a:r>
              <a:rPr lang="en-US" altLang="ko-KR" sz="1050" dirty="0">
                <a:ln>
                  <a:solidFill>
                    <a:srgbClr val="5B9BD5">
                      <a:alpha val="0"/>
                    </a:srgbClr>
                  </a:solidFill>
                </a:ln>
                <a:solidFill>
                  <a:srgbClr val="4156BD"/>
                </a:solidFill>
                <a:cs typeface="Arial" panose="020B0604020202020204" pitchFamily="34" charset="0"/>
              </a:rPr>
              <a:t>wrap</a:t>
            </a:r>
            <a:endParaRPr lang="ko-KR" altLang="en-US" sz="1050" dirty="0"/>
          </a:p>
        </p:txBody>
      </p:sp>
      <p:sp>
        <p:nvSpPr>
          <p:cNvPr id="9" name="직사각형 8">
            <a:extLst>
              <a:ext uri="{FF2B5EF4-FFF2-40B4-BE49-F238E27FC236}">
                <a16:creationId xmlns:a16="http://schemas.microsoft.com/office/drawing/2014/main" id="{0A89AD6B-1F1C-4018-B8BB-0C1D95B3CF4B}"/>
              </a:ext>
            </a:extLst>
          </p:cNvPr>
          <p:cNvSpPr/>
          <p:nvPr/>
        </p:nvSpPr>
        <p:spPr>
          <a:xfrm>
            <a:off x="2842829" y="3469962"/>
            <a:ext cx="3097323" cy="253916"/>
          </a:xfrm>
          <a:prstGeom prst="rect">
            <a:avLst/>
          </a:prstGeom>
        </p:spPr>
        <p:txBody>
          <a:bodyPr wrap="none">
            <a:spAutoFit/>
          </a:bodyPr>
          <a:lstStyle/>
          <a:p>
            <a:r>
              <a:rPr lang="en-US" altLang="ko-KR" sz="1050" dirty="0">
                <a:ln>
                  <a:solidFill>
                    <a:srgbClr val="5B9BD5">
                      <a:alpha val="0"/>
                    </a:srgbClr>
                  </a:solidFill>
                </a:ln>
                <a:solidFill>
                  <a:srgbClr val="4156BD"/>
                </a:solidFill>
                <a:cs typeface="Arial" panose="020B0604020202020204" pitchFamily="34" charset="0"/>
              </a:rPr>
              <a:t>* Decorator Component</a:t>
            </a:r>
            <a:r>
              <a:rPr lang="ko-KR" altLang="en-US" sz="1050" dirty="0">
                <a:ln>
                  <a:solidFill>
                    <a:srgbClr val="5B9BD5">
                      <a:alpha val="0"/>
                    </a:srgbClr>
                  </a:solidFill>
                </a:ln>
                <a:solidFill>
                  <a:srgbClr val="4156BD"/>
                </a:solidFill>
                <a:cs typeface="Arial" panose="020B0604020202020204" pitchFamily="34" charset="0"/>
              </a:rPr>
              <a:t>가 </a:t>
            </a:r>
            <a:r>
              <a:rPr lang="en-US" altLang="ko-KR" sz="1050" dirty="0">
                <a:ln>
                  <a:solidFill>
                    <a:srgbClr val="5B9BD5">
                      <a:alpha val="0"/>
                    </a:srgbClr>
                  </a:solidFill>
                </a:ln>
                <a:solidFill>
                  <a:srgbClr val="4156BD"/>
                </a:solidFill>
                <a:cs typeface="Arial" panose="020B0604020202020204" pitchFamily="34" charset="0"/>
              </a:rPr>
              <a:t>wrap </a:t>
            </a:r>
            <a:r>
              <a:rPr lang="ko-KR" altLang="en-US" sz="1050" dirty="0">
                <a:ln>
                  <a:solidFill>
                    <a:srgbClr val="5B9BD5">
                      <a:alpha val="0"/>
                    </a:srgbClr>
                  </a:solidFill>
                </a:ln>
                <a:solidFill>
                  <a:srgbClr val="4156BD"/>
                </a:solidFill>
                <a:cs typeface="Arial" panose="020B0604020202020204" pitchFamily="34" charset="0"/>
              </a:rPr>
              <a:t>하는 것이 없음</a:t>
            </a:r>
            <a:endParaRPr lang="ko-KR" altLang="en-US" sz="1050" dirty="0"/>
          </a:p>
        </p:txBody>
      </p:sp>
      <p:sp>
        <p:nvSpPr>
          <p:cNvPr id="6" name="슬라이드 번호 개체 틀 5">
            <a:extLst>
              <a:ext uri="{FF2B5EF4-FFF2-40B4-BE49-F238E27FC236}">
                <a16:creationId xmlns:a16="http://schemas.microsoft.com/office/drawing/2014/main" id="{194C6EEF-7750-9513-22D2-38A41B3EB9FC}"/>
              </a:ext>
            </a:extLst>
          </p:cNvPr>
          <p:cNvSpPr>
            <a:spLocks noGrp="1"/>
          </p:cNvSpPr>
          <p:nvPr>
            <p:ph type="sldNum" sz="quarter" idx="4"/>
          </p:nvPr>
        </p:nvSpPr>
        <p:spPr/>
        <p:txBody>
          <a:bodyPr/>
          <a:lstStyle/>
          <a:p>
            <a:fld id="{AF33F0E2-3294-4740-8E22-F3EF5A8BEBAB}" type="slidenum">
              <a:rPr lang="en-US" altLang="ko-KR" smtClean="0"/>
              <a:pPr/>
              <a:t>92</a:t>
            </a:fld>
            <a:endParaRPr lang="en-US" altLang="ko-KR" dirty="0"/>
          </a:p>
        </p:txBody>
      </p:sp>
    </p:spTree>
    <p:extLst>
      <p:ext uri="{BB962C8B-B14F-4D97-AF65-F5344CB8AC3E}">
        <p14:creationId xmlns:p14="http://schemas.microsoft.com/office/powerpoint/2010/main" val="224769896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8AF1F-96E5-8AB0-2CF5-51B44BE820CC}"/>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8B38F87C-4EDE-DE82-9FDD-5FD0A31DB51E}"/>
              </a:ext>
            </a:extLst>
          </p:cNvPr>
          <p:cNvSpPr>
            <a:spLocks noGrp="1"/>
          </p:cNvSpPr>
          <p:nvPr>
            <p:ph type="title"/>
          </p:nvPr>
        </p:nvSpPr>
        <p:spPr/>
        <p:txBody>
          <a:bodyPr vert="horz" lIns="75927" tIns="37964" rIns="75927" bIns="37964" rtlCol="0" anchor="ctr">
            <a:normAutofit/>
          </a:bodyPr>
          <a:lstStyle/>
          <a:p>
            <a:r>
              <a:rPr lang="en-US" altLang="ko-KR" spc="0" dirty="0"/>
              <a:t>[Practice 8-1] Decorator : </a:t>
            </a:r>
            <a:r>
              <a:rPr lang="en-US" altLang="ko-KR" spc="0" dirty="0" err="1"/>
              <a:t>StarbuzzCoffee</a:t>
            </a:r>
            <a:endParaRPr lang="ko-KR" altLang="en-US" spc="0" dirty="0"/>
          </a:p>
        </p:txBody>
      </p:sp>
      <p:sp>
        <p:nvSpPr>
          <p:cNvPr id="5" name="직사각형 4">
            <a:extLst>
              <a:ext uri="{FF2B5EF4-FFF2-40B4-BE49-F238E27FC236}">
                <a16:creationId xmlns:a16="http://schemas.microsoft.com/office/drawing/2014/main" id="{6BAFEC02-6C41-149C-3668-207E6B991BF3}"/>
              </a:ext>
            </a:extLst>
          </p:cNvPr>
          <p:cNvSpPr/>
          <p:nvPr/>
        </p:nvSpPr>
        <p:spPr>
          <a:xfrm>
            <a:off x="251520" y="776376"/>
            <a:ext cx="4248472" cy="240066"/>
          </a:xfrm>
          <a:prstGeom prst="rect">
            <a:avLst/>
          </a:prstGeom>
          <a:solidFill>
            <a:schemeClr val="accent1">
              <a:lumMod val="20000"/>
              <a:lumOff val="80000"/>
            </a:schemeClr>
          </a:solidFill>
        </p:spPr>
        <p:txBody>
          <a:bodyPr wrap="square">
            <a:spAutoFit/>
          </a:bodyPr>
          <a:lstStyle/>
          <a:p>
            <a:pPr>
              <a:lnSpc>
                <a:spcPct val="80000"/>
              </a:lnSpc>
            </a:pPr>
            <a:r>
              <a:rPr lang="en-US" altLang="ko-KR" sz="1200" b="1" dirty="0"/>
              <a:t>[</a:t>
            </a:r>
            <a:r>
              <a:rPr lang="ko-KR" altLang="en-US" sz="1200" b="1" dirty="0"/>
              <a:t>실습 코드</a:t>
            </a:r>
            <a:r>
              <a:rPr lang="en-US" altLang="ko-KR" sz="1200" b="1" dirty="0"/>
              <a:t>] </a:t>
            </a:r>
            <a:r>
              <a:rPr lang="en-US" altLang="ko-KR" sz="1200" dirty="0"/>
              <a:t>8-1_headfirst.decorator.starbuzzProblem</a:t>
            </a:r>
          </a:p>
        </p:txBody>
      </p:sp>
      <p:pic>
        <p:nvPicPr>
          <p:cNvPr id="4" name="그림 3">
            <a:extLst>
              <a:ext uri="{FF2B5EF4-FFF2-40B4-BE49-F238E27FC236}">
                <a16:creationId xmlns:a16="http://schemas.microsoft.com/office/drawing/2014/main" id="{1FCA03D2-2B69-EEC4-5A64-A5670F84756F}"/>
              </a:ext>
            </a:extLst>
          </p:cNvPr>
          <p:cNvPicPr>
            <a:picLocks noChangeAspect="1"/>
          </p:cNvPicPr>
          <p:nvPr/>
        </p:nvPicPr>
        <p:blipFill>
          <a:blip r:embed="rId3"/>
          <a:stretch>
            <a:fillRect/>
          </a:stretch>
        </p:blipFill>
        <p:spPr>
          <a:xfrm>
            <a:off x="683568" y="1131590"/>
            <a:ext cx="7524328" cy="3396540"/>
          </a:xfrm>
          <a:prstGeom prst="rect">
            <a:avLst/>
          </a:prstGeom>
        </p:spPr>
      </p:pic>
    </p:spTree>
    <p:extLst>
      <p:ext uri="{BB962C8B-B14F-4D97-AF65-F5344CB8AC3E}">
        <p14:creationId xmlns:p14="http://schemas.microsoft.com/office/powerpoint/2010/main" val="59944377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en-US" altLang="ko-KR" spc="0" dirty="0"/>
              <a:t>[Practice 8-1] Decorator : </a:t>
            </a:r>
            <a:r>
              <a:rPr lang="en-US" altLang="ko-KR" spc="0" dirty="0" err="1"/>
              <a:t>StarbuzzCoffee</a:t>
            </a:r>
            <a:r>
              <a:rPr lang="en-US" altLang="ko-KR" spc="0" dirty="0"/>
              <a:t> (solution)</a:t>
            </a:r>
            <a:endParaRPr lang="ko-KR" altLang="en-US" spc="0" dirty="0"/>
          </a:p>
        </p:txBody>
      </p:sp>
      <p:sp>
        <p:nvSpPr>
          <p:cNvPr id="6" name="직사각형 5"/>
          <p:cNvSpPr/>
          <p:nvPr/>
        </p:nvSpPr>
        <p:spPr>
          <a:xfrm>
            <a:off x="417772" y="4221286"/>
            <a:ext cx="7538604" cy="861774"/>
          </a:xfrm>
          <a:prstGeom prst="rect">
            <a:avLst/>
          </a:prstGeom>
          <a:ln>
            <a:solidFill>
              <a:schemeClr val="tx1"/>
            </a:solidFill>
          </a:ln>
        </p:spPr>
        <p:txBody>
          <a:bodyPr wrap="square">
            <a:spAutoFit/>
          </a:bodyPr>
          <a:lstStyle/>
          <a:p>
            <a:r>
              <a:rPr lang="en-US" altLang="ko-KR" sz="1000" dirty="0">
                <a:solidFill>
                  <a:srgbClr val="FF0000"/>
                </a:solidFill>
                <a:latin typeface="Consolas" panose="020B0609020204030204" pitchFamily="49" charset="0"/>
              </a:rPr>
              <a:t>Exception in thread "main" </a:t>
            </a:r>
            <a:r>
              <a:rPr lang="en-US" altLang="ko-KR" sz="1000" dirty="0" err="1">
                <a:solidFill>
                  <a:srgbClr val="FF0000"/>
                </a:solidFill>
                <a:latin typeface="Consolas" panose="020B0609020204030204" pitchFamily="49" charset="0"/>
              </a:rPr>
              <a:t>java.lang.NullPointerException</a:t>
            </a:r>
            <a:r>
              <a:rPr lang="en-US" altLang="ko-KR" sz="1000" dirty="0">
                <a:solidFill>
                  <a:srgbClr val="FF0000"/>
                </a:solidFill>
                <a:latin typeface="Consolas" panose="020B0609020204030204" pitchFamily="49" charset="0"/>
              </a:rPr>
              <a:t>: Cannot invoke "</a:t>
            </a:r>
            <a:r>
              <a:rPr lang="en-US" altLang="ko-KR" sz="1000" dirty="0" err="1">
                <a:solidFill>
                  <a:srgbClr val="FF0000"/>
                </a:solidFill>
                <a:latin typeface="Consolas" panose="020B0609020204030204" pitchFamily="49" charset="0"/>
              </a:rPr>
              <a:t>headfirst.decorator.starbuzz.Beverage.getDescription</a:t>
            </a:r>
            <a:r>
              <a:rPr lang="en-US" altLang="ko-KR" sz="1000" dirty="0">
                <a:solidFill>
                  <a:srgbClr val="FF0000"/>
                </a:solidFill>
                <a:latin typeface="Consolas" panose="020B0609020204030204" pitchFamily="49" charset="0"/>
              </a:rPr>
              <a:t>()" because "</a:t>
            </a:r>
            <a:r>
              <a:rPr lang="en-US" altLang="ko-KR" sz="1000" dirty="0" err="1">
                <a:solidFill>
                  <a:srgbClr val="FF0000"/>
                </a:solidFill>
                <a:latin typeface="Consolas" panose="020B0609020204030204" pitchFamily="49" charset="0"/>
              </a:rPr>
              <a:t>this.beverage</a:t>
            </a:r>
            <a:r>
              <a:rPr lang="en-US" altLang="ko-KR" sz="1000" dirty="0">
                <a:solidFill>
                  <a:srgbClr val="FF0000"/>
                </a:solidFill>
                <a:latin typeface="Consolas" panose="020B0609020204030204" pitchFamily="49" charset="0"/>
              </a:rPr>
              <a:t>" is null</a:t>
            </a:r>
          </a:p>
          <a:p>
            <a:r>
              <a:rPr lang="en-US" altLang="ko-KR" sz="1000" dirty="0">
                <a:solidFill>
                  <a:srgbClr val="FF0000"/>
                </a:solidFill>
                <a:latin typeface="Consolas" panose="020B0609020204030204" pitchFamily="49" charset="0"/>
              </a:rPr>
              <a:t>	at </a:t>
            </a:r>
            <a:r>
              <a:rPr lang="en-US" altLang="ko-KR" sz="1000" dirty="0" err="1">
                <a:solidFill>
                  <a:srgbClr val="FF0000"/>
                </a:solidFill>
                <a:latin typeface="Consolas" panose="020B0609020204030204" pitchFamily="49" charset="0"/>
              </a:rPr>
              <a:t>headfirst.decorator.starbuzz.Mocha.getDescription</a:t>
            </a:r>
            <a:r>
              <a:rPr lang="en-US" altLang="ko-KR" sz="1000" dirty="0">
                <a:solidFill>
                  <a:srgbClr val="FF0000"/>
                </a:solidFill>
                <a:latin typeface="Consolas" panose="020B0609020204030204" pitchFamily="49" charset="0"/>
              </a:rPr>
              <a:t>(Mocha.java:11)</a:t>
            </a:r>
          </a:p>
          <a:p>
            <a:r>
              <a:rPr lang="en-US" altLang="ko-KR" sz="1000" dirty="0">
                <a:solidFill>
                  <a:srgbClr val="FF0000"/>
                </a:solidFill>
                <a:latin typeface="Consolas" panose="020B0609020204030204" pitchFamily="49" charset="0"/>
              </a:rPr>
              <a:t>	at </a:t>
            </a:r>
            <a:r>
              <a:rPr lang="en-US" altLang="ko-KR" sz="1000" dirty="0" err="1">
                <a:solidFill>
                  <a:srgbClr val="FF0000"/>
                </a:solidFill>
                <a:latin typeface="Consolas" panose="020B0609020204030204" pitchFamily="49" charset="0"/>
              </a:rPr>
              <a:t>headfirst.decorator.starbuzz.Whip.getDescription</a:t>
            </a:r>
            <a:r>
              <a:rPr lang="en-US" altLang="ko-KR" sz="1000" dirty="0">
                <a:solidFill>
                  <a:srgbClr val="FF0000"/>
                </a:solidFill>
                <a:latin typeface="Consolas" panose="020B0609020204030204" pitchFamily="49" charset="0"/>
              </a:rPr>
              <a:t>(Whip.java:11)</a:t>
            </a:r>
          </a:p>
          <a:p>
            <a:r>
              <a:rPr lang="en-US" altLang="ko-KR" sz="1000" dirty="0">
                <a:solidFill>
                  <a:srgbClr val="FF0000"/>
                </a:solidFill>
                <a:latin typeface="Consolas" panose="020B0609020204030204" pitchFamily="49" charset="0"/>
              </a:rPr>
              <a:t>	at </a:t>
            </a:r>
            <a:r>
              <a:rPr lang="en-US" altLang="ko-KR" sz="1000" dirty="0" err="1">
                <a:solidFill>
                  <a:srgbClr val="FF0000"/>
                </a:solidFill>
                <a:latin typeface="Consolas" panose="020B0609020204030204" pitchFamily="49" charset="0"/>
              </a:rPr>
              <a:t>headfirst.decorator.starbuzz.StarbuzzCoffeeAnswer.main</a:t>
            </a:r>
            <a:r>
              <a:rPr lang="en-US" altLang="ko-KR" sz="1000" dirty="0">
                <a:solidFill>
                  <a:srgbClr val="FF0000"/>
                </a:solidFill>
                <a:latin typeface="Consolas" panose="020B0609020204030204" pitchFamily="49" charset="0"/>
              </a:rPr>
              <a:t>(StarbuzzCoffeeAnswer.java:35)</a:t>
            </a:r>
            <a:endParaRPr lang="ko-KR" altLang="en-US" sz="1000" dirty="0">
              <a:solidFill>
                <a:srgbClr val="FF0000"/>
              </a:solidFill>
              <a:latin typeface="Consolas" panose="020B0609020204030204" pitchFamily="49" charset="0"/>
            </a:endParaRPr>
          </a:p>
        </p:txBody>
      </p:sp>
      <p:sp>
        <p:nvSpPr>
          <p:cNvPr id="7" name="직사각형 6"/>
          <p:cNvSpPr/>
          <p:nvPr/>
        </p:nvSpPr>
        <p:spPr>
          <a:xfrm>
            <a:off x="417772" y="3303862"/>
            <a:ext cx="7538604" cy="861774"/>
          </a:xfrm>
          <a:prstGeom prst="rect">
            <a:avLst/>
          </a:prstGeom>
          <a:ln>
            <a:solidFill>
              <a:schemeClr val="tx1"/>
            </a:solidFill>
          </a:ln>
        </p:spPr>
        <p:txBody>
          <a:bodyPr wrap="square">
            <a:spAutoFit/>
          </a:bodyPr>
          <a:lstStyle/>
          <a:p>
            <a:r>
              <a:rPr lang="ko-KR" altLang="en-US" sz="1000" dirty="0" err="1">
                <a:solidFill>
                  <a:srgbClr val="FF0000"/>
                </a:solidFill>
                <a:latin typeface="Consolas" panose="020B0609020204030204" pitchFamily="49" charset="0"/>
              </a:rPr>
              <a:t>java</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constructor</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DarkRoast</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in</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class</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headfirst.decorator.starbuzz.DarkRoast</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cannot</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be</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applied</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to</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given</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types</a:t>
            </a:r>
            <a:r>
              <a:rPr lang="ko-KR" altLang="en-US" sz="1000" dirty="0">
                <a:solidFill>
                  <a:srgbClr val="FF0000"/>
                </a:solidFill>
                <a:latin typeface="Consolas" panose="020B0609020204030204" pitchFamily="49" charset="0"/>
              </a:rPr>
              <a:t>;</a:t>
            </a:r>
          </a:p>
          <a:p>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required</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no</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arguments</a:t>
            </a:r>
            <a:endParaRPr lang="ko-KR" altLang="en-US" sz="1000" dirty="0">
              <a:solidFill>
                <a:srgbClr val="FF0000"/>
              </a:solidFill>
              <a:latin typeface="Consolas" panose="020B0609020204030204" pitchFamily="49" charset="0"/>
            </a:endParaRPr>
          </a:p>
          <a:p>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found</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headfirst.decorator.starbuzz.HouseBlend</a:t>
            </a:r>
            <a:endParaRPr lang="ko-KR" altLang="en-US" sz="1000" dirty="0">
              <a:solidFill>
                <a:srgbClr val="FF0000"/>
              </a:solidFill>
              <a:latin typeface="Consolas" panose="020B0609020204030204" pitchFamily="49" charset="0"/>
            </a:endParaRPr>
          </a:p>
          <a:p>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reason</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actual</a:t>
            </a:r>
            <a:r>
              <a:rPr lang="ko-KR" altLang="en-US" sz="1000" dirty="0">
                <a:solidFill>
                  <a:srgbClr val="FF0000"/>
                </a:solidFill>
                <a:latin typeface="Consolas" panose="020B0609020204030204" pitchFamily="49" charset="0"/>
              </a:rPr>
              <a:t> and </a:t>
            </a:r>
            <a:r>
              <a:rPr lang="ko-KR" altLang="en-US" sz="1000" dirty="0" err="1">
                <a:solidFill>
                  <a:srgbClr val="FF0000"/>
                </a:solidFill>
                <a:latin typeface="Consolas" panose="020B0609020204030204" pitchFamily="49" charset="0"/>
              </a:rPr>
              <a:t>formal</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argument</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lists</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differ</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in</a:t>
            </a:r>
            <a:r>
              <a:rPr lang="ko-KR" altLang="en-US" sz="1000" dirty="0">
                <a:solidFill>
                  <a:srgbClr val="FF0000"/>
                </a:solidFill>
                <a:latin typeface="Consolas" panose="020B0609020204030204" pitchFamily="49" charset="0"/>
              </a:rPr>
              <a:t> </a:t>
            </a:r>
            <a:r>
              <a:rPr lang="ko-KR" altLang="en-US" sz="1000" dirty="0" err="1">
                <a:solidFill>
                  <a:srgbClr val="FF0000"/>
                </a:solidFill>
                <a:latin typeface="Consolas" panose="020B0609020204030204" pitchFamily="49" charset="0"/>
              </a:rPr>
              <a:t>length</a:t>
            </a:r>
            <a:endParaRPr lang="ko-KR" altLang="en-US" sz="1000" dirty="0">
              <a:solidFill>
                <a:srgbClr val="FF0000"/>
              </a:solidFill>
              <a:latin typeface="Consolas" panose="020B0609020204030204" pitchFamily="49" charset="0"/>
            </a:endParaRPr>
          </a:p>
        </p:txBody>
      </p:sp>
      <p:sp>
        <p:nvSpPr>
          <p:cNvPr id="8" name="직사각형 7"/>
          <p:cNvSpPr/>
          <p:nvPr/>
        </p:nvSpPr>
        <p:spPr>
          <a:xfrm>
            <a:off x="394086" y="2643188"/>
            <a:ext cx="792088" cy="246221"/>
          </a:xfrm>
          <a:prstGeom prst="rect">
            <a:avLst/>
          </a:prstGeom>
          <a:ln>
            <a:noFill/>
          </a:ln>
        </p:spPr>
        <p:txBody>
          <a:bodyPr wrap="square">
            <a:spAutoFit/>
          </a:bodyPr>
          <a:lstStyle/>
          <a:p>
            <a:r>
              <a:rPr lang="ko-KR" altLang="en-US" sz="1000" dirty="0"/>
              <a:t>실행 결과</a:t>
            </a:r>
          </a:p>
        </p:txBody>
      </p:sp>
      <p:sp>
        <p:nvSpPr>
          <p:cNvPr id="9" name="직사각형 8"/>
          <p:cNvSpPr/>
          <p:nvPr/>
        </p:nvSpPr>
        <p:spPr>
          <a:xfrm>
            <a:off x="417772" y="2859782"/>
            <a:ext cx="7538604" cy="400110"/>
          </a:xfrm>
          <a:prstGeom prst="rect">
            <a:avLst/>
          </a:prstGeom>
          <a:ln>
            <a:solidFill>
              <a:schemeClr val="tx1"/>
            </a:solidFill>
          </a:ln>
        </p:spPr>
        <p:txBody>
          <a:bodyPr wrap="square">
            <a:spAutoFit/>
          </a:bodyPr>
          <a:lstStyle/>
          <a:p>
            <a:r>
              <a:rPr lang="en-US" altLang="ko-KR" sz="1000" dirty="0">
                <a:latin typeface="Consolas" panose="020B0609020204030204" pitchFamily="49" charset="0"/>
              </a:rPr>
              <a:t>House Blend Coffee, Whip, Whip, Mocha, Mocha, Soy $1.64</a:t>
            </a:r>
          </a:p>
          <a:p>
            <a:r>
              <a:rPr lang="en-US" altLang="ko-KR" sz="1000" dirty="0">
                <a:latin typeface="Consolas" panose="020B0609020204030204" pitchFamily="49" charset="0"/>
              </a:rPr>
              <a:t>House Blend Coffee, Soy, Mocha, Mocha, Whip, Whip $1.6400000000000001</a:t>
            </a:r>
          </a:p>
        </p:txBody>
      </p:sp>
      <p:sp>
        <p:nvSpPr>
          <p:cNvPr id="10" name="TextBox 9"/>
          <p:cNvSpPr txBox="1"/>
          <p:nvPr/>
        </p:nvSpPr>
        <p:spPr>
          <a:xfrm>
            <a:off x="7914115" y="3315542"/>
            <a:ext cx="830677" cy="215444"/>
          </a:xfrm>
          <a:prstGeom prst="rect">
            <a:avLst/>
          </a:prstGeom>
          <a:noFill/>
        </p:spPr>
        <p:txBody>
          <a:bodyPr wrap="none" rtlCol="0">
            <a:spAutoFit/>
          </a:bodyPr>
          <a:lstStyle/>
          <a:p>
            <a:r>
              <a:rPr lang="en-US" altLang="ko-KR" sz="800" dirty="0">
                <a:solidFill>
                  <a:srgbClr val="FF0000"/>
                </a:solidFill>
              </a:rPr>
              <a:t>Compile error</a:t>
            </a:r>
            <a:endParaRPr lang="ko-KR" altLang="en-US" sz="800" dirty="0">
              <a:solidFill>
                <a:srgbClr val="FF0000"/>
              </a:solidFill>
            </a:endParaRPr>
          </a:p>
        </p:txBody>
      </p:sp>
      <p:sp>
        <p:nvSpPr>
          <p:cNvPr id="11" name="TextBox 10"/>
          <p:cNvSpPr txBox="1"/>
          <p:nvPr/>
        </p:nvSpPr>
        <p:spPr>
          <a:xfrm>
            <a:off x="7914115" y="4209606"/>
            <a:ext cx="1055097" cy="215444"/>
          </a:xfrm>
          <a:prstGeom prst="rect">
            <a:avLst/>
          </a:prstGeom>
          <a:noFill/>
        </p:spPr>
        <p:txBody>
          <a:bodyPr wrap="none" rtlCol="0">
            <a:spAutoFit/>
          </a:bodyPr>
          <a:lstStyle/>
          <a:p>
            <a:r>
              <a:rPr lang="en-US" altLang="ko-KR" sz="800" dirty="0">
                <a:solidFill>
                  <a:srgbClr val="FF0000"/>
                </a:solidFill>
              </a:rPr>
              <a:t>Runtime exception</a:t>
            </a:r>
            <a:endParaRPr lang="ko-KR" altLang="en-US" sz="800" dirty="0">
              <a:solidFill>
                <a:srgbClr val="FF0000"/>
              </a:solidFill>
            </a:endParaRPr>
          </a:p>
        </p:txBody>
      </p:sp>
      <p:sp>
        <p:nvSpPr>
          <p:cNvPr id="12" name="Rectangle 3"/>
          <p:cNvSpPr>
            <a:spLocks noChangeArrowheads="1"/>
          </p:cNvSpPr>
          <p:nvPr/>
        </p:nvSpPr>
        <p:spPr bwMode="auto">
          <a:xfrm>
            <a:off x="420848" y="550307"/>
            <a:ext cx="7535528" cy="2092881"/>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dirty="0" err="1">
                <a:ln>
                  <a:noFill/>
                </a:ln>
                <a:solidFill>
                  <a:srgbClr val="000000"/>
                </a:solidFill>
                <a:effectLst/>
                <a:latin typeface="Consolas" panose="020B0609020204030204" pitchFamily="49" charset="0"/>
                <a:ea typeface="JetBrains Mono"/>
              </a:rPr>
              <a:t>Beverage</a:t>
            </a:r>
            <a:r>
              <a:rPr kumimoji="0" lang="ko-KR" altLang="ko-KR" sz="1000" b="0" i="0" u="none" strike="noStrike" cap="none" normalizeH="0" baseline="0" dirty="0">
                <a:ln>
                  <a:noFill/>
                </a:ln>
                <a:solidFill>
                  <a:srgbClr val="000000"/>
                </a:solidFill>
                <a:effectLst/>
                <a:latin typeface="Consolas" panose="020B0609020204030204" pitchFamily="49" charset="0"/>
                <a:ea typeface="JetBrains Mono"/>
              </a:rPr>
              <a:t> beverage4 </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 </a:t>
            </a:r>
            <a:r>
              <a:rPr kumimoji="0" lang="ko-KR" altLang="ko-KR" sz="1000" b="0" i="0" u="none" strike="noStrike" cap="none" normalizeH="0" baseline="0" dirty="0" err="1">
                <a:ln>
                  <a:noFill/>
                </a:ln>
                <a:solidFill>
                  <a:srgbClr val="0033B3"/>
                </a:solidFill>
                <a:effectLst/>
                <a:latin typeface="Consolas" panose="020B0609020204030204" pitchFamily="49" charset="0"/>
                <a:ea typeface="JetBrains Mono"/>
              </a:rPr>
              <a:t>new</a:t>
            </a:r>
            <a:r>
              <a:rPr kumimoji="0" lang="ko-KR" altLang="ko-KR" sz="1000" b="0" i="0" u="none" strike="noStrike" cap="none" normalizeH="0" baseline="0" dirty="0">
                <a:ln>
                  <a:noFill/>
                </a:ln>
                <a:solidFill>
                  <a:srgbClr val="0033B3"/>
                </a:solidFill>
                <a:effectLst/>
                <a:latin typeface="Consolas" panose="020B0609020204030204" pitchFamily="49" charset="0"/>
                <a:ea typeface="JetBrains Mono"/>
              </a:rPr>
              <a:t> </a:t>
            </a:r>
            <a:r>
              <a:rPr kumimoji="0" lang="ko-KR" altLang="ko-KR" sz="1000" b="0" i="0" u="none" strike="noStrike" cap="none" normalizeH="0" baseline="0" dirty="0" err="1">
                <a:ln>
                  <a:noFill/>
                </a:ln>
                <a:solidFill>
                  <a:srgbClr val="080808"/>
                </a:solidFill>
                <a:effectLst/>
                <a:latin typeface="Consolas" panose="020B0609020204030204" pitchFamily="49" charset="0"/>
                <a:ea typeface="JetBrains Mono"/>
              </a:rPr>
              <a:t>HouseBlend</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a:t>
            </a:r>
            <a:b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br>
            <a:r>
              <a:rPr kumimoji="0" lang="ko-KR" altLang="ko-KR" sz="1000" b="0" i="0" u="none" strike="noStrike" cap="none" normalizeH="0" baseline="0" dirty="0">
                <a:ln>
                  <a:noFill/>
                </a:ln>
                <a:solidFill>
                  <a:srgbClr val="000000"/>
                </a:solidFill>
                <a:effectLst/>
                <a:latin typeface="Consolas" panose="020B0609020204030204" pitchFamily="49" charset="0"/>
                <a:ea typeface="JetBrains Mono"/>
              </a:rPr>
              <a:t>beverage4 </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 </a:t>
            </a:r>
            <a:r>
              <a:rPr kumimoji="0" lang="ko-KR" altLang="ko-KR" sz="1000" b="0" i="0" u="none" strike="noStrike" cap="none" normalizeH="0" baseline="0" dirty="0" err="1">
                <a:ln>
                  <a:noFill/>
                </a:ln>
                <a:solidFill>
                  <a:srgbClr val="0033B3"/>
                </a:solidFill>
                <a:effectLst/>
                <a:latin typeface="Consolas" panose="020B0609020204030204" pitchFamily="49" charset="0"/>
                <a:ea typeface="JetBrains Mono"/>
              </a:rPr>
              <a:t>new</a:t>
            </a:r>
            <a:r>
              <a:rPr kumimoji="0" lang="ko-KR" altLang="ko-KR" sz="1000" b="0" i="0" u="none" strike="noStrike" cap="none" normalizeH="0" baseline="0" dirty="0">
                <a:ln>
                  <a:noFill/>
                </a:ln>
                <a:solidFill>
                  <a:srgbClr val="0033B3"/>
                </a:solidFill>
                <a:effectLst/>
                <a:latin typeface="Consolas" panose="020B0609020204030204" pitchFamily="49" charset="0"/>
                <a:ea typeface="JetBrains Mono"/>
              </a:rPr>
              <a:t> </a:t>
            </a:r>
            <a:r>
              <a:rPr kumimoji="0" lang="ko-KR" altLang="ko-KR" sz="1000" b="0" i="0" u="none" strike="noStrike" cap="none" normalizeH="0" baseline="0" dirty="0" err="1">
                <a:ln>
                  <a:noFill/>
                </a:ln>
                <a:solidFill>
                  <a:srgbClr val="080808"/>
                </a:solidFill>
                <a:effectLst/>
                <a:latin typeface="Consolas" panose="020B0609020204030204" pitchFamily="49" charset="0"/>
                <a:ea typeface="JetBrains Mono"/>
              </a:rPr>
              <a:t>Soy</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a:t>
            </a:r>
            <a:r>
              <a:rPr kumimoji="0" lang="ko-KR" altLang="ko-KR" sz="1000" b="0" i="0" u="none" strike="noStrike" cap="none" normalizeH="0" baseline="0" dirty="0" err="1">
                <a:ln>
                  <a:noFill/>
                </a:ln>
                <a:solidFill>
                  <a:srgbClr val="0033B3"/>
                </a:solidFill>
                <a:effectLst/>
                <a:latin typeface="Consolas" panose="020B0609020204030204" pitchFamily="49" charset="0"/>
                <a:ea typeface="JetBrains Mono"/>
              </a:rPr>
              <a:t>new</a:t>
            </a:r>
            <a:r>
              <a:rPr kumimoji="0" lang="ko-KR" altLang="ko-KR" sz="1000" b="0" i="0" u="none" strike="noStrike" cap="none" normalizeH="0" baseline="0" dirty="0">
                <a:ln>
                  <a:noFill/>
                </a:ln>
                <a:solidFill>
                  <a:srgbClr val="0033B3"/>
                </a:solidFill>
                <a:effectLst/>
                <a:latin typeface="Consolas" panose="020B0609020204030204" pitchFamily="49" charset="0"/>
                <a:ea typeface="JetBrains Mono"/>
              </a:rPr>
              <a:t> </a:t>
            </a:r>
            <a:r>
              <a:rPr kumimoji="0" lang="ko-KR" altLang="ko-KR" sz="1000" b="0" i="0" u="none" strike="noStrike" cap="none" normalizeH="0" baseline="0" dirty="0" err="1">
                <a:ln>
                  <a:noFill/>
                </a:ln>
                <a:solidFill>
                  <a:srgbClr val="080808"/>
                </a:solidFill>
                <a:effectLst/>
                <a:latin typeface="Consolas" panose="020B0609020204030204" pitchFamily="49" charset="0"/>
                <a:ea typeface="JetBrains Mono"/>
              </a:rPr>
              <a:t>Mocha</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 </a:t>
            </a:r>
            <a:r>
              <a:rPr kumimoji="0" lang="ko-KR" altLang="ko-KR" sz="1000" b="0" i="0" u="none" strike="noStrike" cap="none" normalizeH="0" baseline="0" dirty="0" err="1">
                <a:ln>
                  <a:noFill/>
                </a:ln>
                <a:solidFill>
                  <a:srgbClr val="0033B3"/>
                </a:solidFill>
                <a:effectLst/>
                <a:latin typeface="Consolas" panose="020B0609020204030204" pitchFamily="49" charset="0"/>
                <a:ea typeface="JetBrains Mono"/>
              </a:rPr>
              <a:t>new</a:t>
            </a:r>
            <a:r>
              <a:rPr kumimoji="0" lang="ko-KR" altLang="ko-KR" sz="1000" b="0" i="0" u="none" strike="noStrike" cap="none" normalizeH="0" baseline="0" dirty="0">
                <a:ln>
                  <a:noFill/>
                </a:ln>
                <a:solidFill>
                  <a:srgbClr val="0033B3"/>
                </a:solidFill>
                <a:effectLst/>
                <a:latin typeface="Consolas" panose="020B0609020204030204" pitchFamily="49" charset="0"/>
                <a:ea typeface="JetBrains Mono"/>
              </a:rPr>
              <a:t> </a:t>
            </a:r>
            <a:r>
              <a:rPr kumimoji="0" lang="ko-KR" altLang="ko-KR" sz="1000" b="0" i="0" u="none" strike="noStrike" cap="none" normalizeH="0" baseline="0" dirty="0" err="1">
                <a:ln>
                  <a:noFill/>
                </a:ln>
                <a:solidFill>
                  <a:srgbClr val="080808"/>
                </a:solidFill>
                <a:effectLst/>
                <a:latin typeface="Consolas" panose="020B0609020204030204" pitchFamily="49" charset="0"/>
                <a:ea typeface="JetBrains Mono"/>
              </a:rPr>
              <a:t>Mocha</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 ( </a:t>
            </a:r>
            <a:r>
              <a:rPr kumimoji="0" lang="ko-KR" altLang="ko-KR" sz="1000" b="0" i="0" u="none" strike="noStrike" cap="none" normalizeH="0" baseline="0" dirty="0" err="1">
                <a:ln>
                  <a:noFill/>
                </a:ln>
                <a:solidFill>
                  <a:srgbClr val="0033B3"/>
                </a:solidFill>
                <a:effectLst/>
                <a:latin typeface="Consolas" panose="020B0609020204030204" pitchFamily="49" charset="0"/>
                <a:ea typeface="JetBrains Mono"/>
              </a:rPr>
              <a:t>new</a:t>
            </a:r>
            <a:r>
              <a:rPr kumimoji="0" lang="ko-KR" altLang="ko-KR" sz="1000" b="0" i="0" u="none" strike="noStrike" cap="none" normalizeH="0" baseline="0" dirty="0">
                <a:ln>
                  <a:noFill/>
                </a:ln>
                <a:solidFill>
                  <a:srgbClr val="0033B3"/>
                </a:solidFill>
                <a:effectLst/>
                <a:latin typeface="Consolas" panose="020B0609020204030204" pitchFamily="49" charset="0"/>
                <a:ea typeface="JetBrains Mono"/>
              </a:rPr>
              <a:t> </a:t>
            </a:r>
            <a:r>
              <a:rPr kumimoji="0" lang="ko-KR" altLang="ko-KR" sz="1000" b="0" i="0" u="none" strike="noStrike" cap="none" normalizeH="0" baseline="0" dirty="0" err="1">
                <a:ln>
                  <a:noFill/>
                </a:ln>
                <a:solidFill>
                  <a:srgbClr val="080808"/>
                </a:solidFill>
                <a:effectLst/>
                <a:latin typeface="Consolas" panose="020B0609020204030204" pitchFamily="49" charset="0"/>
                <a:ea typeface="JetBrains Mono"/>
              </a:rPr>
              <a:t>Whip</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 ( </a:t>
            </a:r>
            <a:r>
              <a:rPr kumimoji="0" lang="ko-KR" altLang="ko-KR" sz="1000" b="0" i="0" u="none" strike="noStrike" cap="none" normalizeH="0" baseline="0" dirty="0" err="1">
                <a:ln>
                  <a:noFill/>
                </a:ln>
                <a:solidFill>
                  <a:srgbClr val="0033B3"/>
                </a:solidFill>
                <a:effectLst/>
                <a:latin typeface="Consolas" panose="020B0609020204030204" pitchFamily="49" charset="0"/>
                <a:ea typeface="JetBrains Mono"/>
              </a:rPr>
              <a:t>new</a:t>
            </a:r>
            <a:r>
              <a:rPr kumimoji="0" lang="ko-KR" altLang="ko-KR" sz="1000" b="0" i="0" u="none" strike="noStrike" cap="none" normalizeH="0" baseline="0" dirty="0">
                <a:ln>
                  <a:noFill/>
                </a:ln>
                <a:solidFill>
                  <a:srgbClr val="0033B3"/>
                </a:solidFill>
                <a:effectLst/>
                <a:latin typeface="Consolas" panose="020B0609020204030204" pitchFamily="49" charset="0"/>
                <a:ea typeface="JetBrains Mono"/>
              </a:rPr>
              <a:t> </a:t>
            </a:r>
            <a:r>
              <a:rPr kumimoji="0" lang="ko-KR" altLang="ko-KR" sz="1000" b="0" i="0" u="none" strike="noStrike" cap="none" normalizeH="0" baseline="0" dirty="0" err="1">
                <a:ln>
                  <a:noFill/>
                </a:ln>
                <a:solidFill>
                  <a:srgbClr val="080808"/>
                </a:solidFill>
                <a:effectLst/>
                <a:latin typeface="Consolas" panose="020B0609020204030204" pitchFamily="49" charset="0"/>
                <a:ea typeface="JetBrains Mono"/>
              </a:rPr>
              <a:t>Whip</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 (</a:t>
            </a:r>
            <a:r>
              <a:rPr kumimoji="0" lang="ko-KR" altLang="ko-KR" sz="1000" b="0" i="0" u="none" strike="noStrike" cap="none" normalizeH="0" baseline="0" dirty="0">
                <a:ln>
                  <a:noFill/>
                </a:ln>
                <a:solidFill>
                  <a:srgbClr val="000000"/>
                </a:solidFill>
                <a:effectLst/>
                <a:latin typeface="Consolas" panose="020B0609020204030204" pitchFamily="49" charset="0"/>
                <a:ea typeface="JetBrains Mono"/>
              </a:rPr>
              <a:t>beverage4</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a:t>
            </a:r>
            <a:b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br>
            <a:r>
              <a:rPr kumimoji="0" lang="ko-KR" altLang="ko-KR" sz="1000" b="0" i="0" u="none" strike="noStrike" cap="none" normalizeH="0" baseline="0" dirty="0" err="1">
                <a:ln>
                  <a:noFill/>
                </a:ln>
                <a:solidFill>
                  <a:srgbClr val="000000"/>
                </a:solidFill>
                <a:effectLst/>
                <a:latin typeface="Consolas" panose="020B0609020204030204" pitchFamily="49" charset="0"/>
                <a:ea typeface="JetBrains Mono"/>
              </a:rPr>
              <a:t>System</a:t>
            </a:r>
            <a:r>
              <a:rPr kumimoji="0" lang="ko-KR" altLang="ko-KR" sz="1000" b="0" i="0" u="none" strike="noStrike" cap="none" normalizeH="0" baseline="0" dirty="0" err="1">
                <a:ln>
                  <a:noFill/>
                </a:ln>
                <a:solidFill>
                  <a:srgbClr val="080808"/>
                </a:solidFill>
                <a:effectLst/>
                <a:latin typeface="Consolas" panose="020B0609020204030204" pitchFamily="49" charset="0"/>
                <a:ea typeface="JetBrains Mono"/>
              </a:rPr>
              <a:t>.</a:t>
            </a:r>
            <a:r>
              <a:rPr kumimoji="0" lang="ko-KR" altLang="ko-KR" sz="1000" b="0" i="1" u="none" strike="noStrike" cap="none" normalizeH="0" baseline="0" dirty="0" err="1">
                <a:ln>
                  <a:noFill/>
                </a:ln>
                <a:solidFill>
                  <a:srgbClr val="871094"/>
                </a:solidFill>
                <a:effectLst/>
                <a:latin typeface="Consolas" panose="020B0609020204030204" pitchFamily="49" charset="0"/>
                <a:ea typeface="JetBrains Mono"/>
              </a:rPr>
              <a:t>out</a:t>
            </a:r>
            <a:r>
              <a:rPr kumimoji="0" lang="ko-KR" altLang="ko-KR" sz="1000" b="0" i="0" u="none" strike="noStrike" cap="none" normalizeH="0" baseline="0" dirty="0" err="1">
                <a:ln>
                  <a:noFill/>
                </a:ln>
                <a:solidFill>
                  <a:srgbClr val="080808"/>
                </a:solidFill>
                <a:effectLst/>
                <a:latin typeface="Consolas" panose="020B0609020204030204" pitchFamily="49" charset="0"/>
                <a:ea typeface="JetBrains Mono"/>
              </a:rPr>
              <a:t>.println</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a:t>
            </a:r>
            <a:r>
              <a:rPr kumimoji="0" lang="ko-KR" altLang="ko-KR" sz="1000" b="0" i="0" u="none" strike="noStrike" cap="none" normalizeH="0" baseline="0" dirty="0">
                <a:ln>
                  <a:noFill/>
                </a:ln>
                <a:solidFill>
                  <a:srgbClr val="000000"/>
                </a:solidFill>
                <a:effectLst/>
                <a:latin typeface="Consolas" panose="020B0609020204030204" pitchFamily="49" charset="0"/>
                <a:ea typeface="JetBrains Mono"/>
              </a:rPr>
              <a:t>beverage4</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.getDescription() </a:t>
            </a:r>
            <a:b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b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       + </a:t>
            </a:r>
            <a:r>
              <a:rPr kumimoji="0" lang="ko-KR" altLang="ko-KR" sz="1000" b="0" i="0" u="none" strike="noStrike" cap="none" normalizeH="0" baseline="0" dirty="0">
                <a:ln>
                  <a:noFill/>
                </a:ln>
                <a:solidFill>
                  <a:srgbClr val="067D17"/>
                </a:solidFill>
                <a:effectLst/>
                <a:latin typeface="Consolas" panose="020B0609020204030204" pitchFamily="49" charset="0"/>
                <a:ea typeface="JetBrains Mono"/>
              </a:rPr>
              <a:t>" $" </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 </a:t>
            </a:r>
            <a:r>
              <a:rPr kumimoji="0" lang="ko-KR" altLang="ko-KR" sz="1000" b="0" i="0" u="none" strike="noStrike" cap="none" normalizeH="0" baseline="0" dirty="0">
                <a:ln>
                  <a:noFill/>
                </a:ln>
                <a:solidFill>
                  <a:srgbClr val="000000"/>
                </a:solidFill>
                <a:effectLst/>
                <a:latin typeface="Consolas" panose="020B0609020204030204" pitchFamily="49" charset="0"/>
                <a:ea typeface="JetBrains Mono"/>
              </a:rPr>
              <a:t>beverage4</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.cost());</a:t>
            </a:r>
            <a:b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br>
            <a:b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br>
            <a:r>
              <a:rPr kumimoji="0" lang="ko-KR" altLang="ko-KR" sz="1000" b="0" i="0" u="none" strike="noStrike" cap="none" normalizeH="0" baseline="0" dirty="0">
                <a:ln>
                  <a:noFill/>
                </a:ln>
                <a:solidFill>
                  <a:srgbClr val="000000"/>
                </a:solidFill>
                <a:effectLst/>
                <a:latin typeface="Consolas" panose="020B0609020204030204" pitchFamily="49" charset="0"/>
                <a:ea typeface="JetBrains Mono"/>
              </a:rPr>
              <a:t>beverage4 </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 </a:t>
            </a:r>
            <a:r>
              <a:rPr kumimoji="0" lang="ko-KR" altLang="ko-KR" sz="1000" b="0" i="0" u="none" strike="noStrike" cap="none" normalizeH="0" baseline="0" dirty="0" err="1">
                <a:ln>
                  <a:noFill/>
                </a:ln>
                <a:solidFill>
                  <a:srgbClr val="0033B3"/>
                </a:solidFill>
                <a:effectLst/>
                <a:latin typeface="Consolas" panose="020B0609020204030204" pitchFamily="49" charset="0"/>
                <a:ea typeface="JetBrains Mono"/>
              </a:rPr>
              <a:t>new</a:t>
            </a:r>
            <a:r>
              <a:rPr kumimoji="0" lang="ko-KR" altLang="ko-KR" sz="1000" b="0" i="0" u="none" strike="noStrike" cap="none" normalizeH="0" baseline="0" dirty="0">
                <a:ln>
                  <a:noFill/>
                </a:ln>
                <a:solidFill>
                  <a:srgbClr val="0033B3"/>
                </a:solidFill>
                <a:effectLst/>
                <a:latin typeface="Consolas" panose="020B0609020204030204" pitchFamily="49" charset="0"/>
                <a:ea typeface="JetBrains Mono"/>
              </a:rPr>
              <a:t> </a:t>
            </a:r>
            <a:r>
              <a:rPr kumimoji="0" lang="ko-KR" altLang="ko-KR" sz="1000" b="0" i="0" u="none" strike="noStrike" cap="none" normalizeH="0" baseline="0" dirty="0" err="1">
                <a:ln>
                  <a:noFill/>
                </a:ln>
                <a:solidFill>
                  <a:srgbClr val="080808"/>
                </a:solidFill>
                <a:effectLst/>
                <a:latin typeface="Consolas" panose="020B0609020204030204" pitchFamily="49" charset="0"/>
                <a:ea typeface="JetBrains Mono"/>
              </a:rPr>
              <a:t>Whip</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a:t>
            </a:r>
            <a:r>
              <a:rPr kumimoji="0" lang="ko-KR" altLang="ko-KR" sz="1000" b="0" i="0" u="none" strike="noStrike" cap="none" normalizeH="0" baseline="0" dirty="0" err="1">
                <a:ln>
                  <a:noFill/>
                </a:ln>
                <a:solidFill>
                  <a:srgbClr val="0033B3"/>
                </a:solidFill>
                <a:effectLst/>
                <a:latin typeface="Consolas" panose="020B0609020204030204" pitchFamily="49" charset="0"/>
                <a:ea typeface="JetBrains Mono"/>
              </a:rPr>
              <a:t>new</a:t>
            </a:r>
            <a:r>
              <a:rPr kumimoji="0" lang="ko-KR" altLang="ko-KR" sz="1000" b="0" i="0" u="none" strike="noStrike" cap="none" normalizeH="0" baseline="0" dirty="0">
                <a:ln>
                  <a:noFill/>
                </a:ln>
                <a:solidFill>
                  <a:srgbClr val="0033B3"/>
                </a:solidFill>
                <a:effectLst/>
                <a:latin typeface="Consolas" panose="020B0609020204030204" pitchFamily="49" charset="0"/>
                <a:ea typeface="JetBrains Mono"/>
              </a:rPr>
              <a:t> </a:t>
            </a:r>
            <a:r>
              <a:rPr kumimoji="0" lang="ko-KR" altLang="ko-KR" sz="1000" b="0" i="0" u="none" strike="noStrike" cap="none" normalizeH="0" baseline="0" dirty="0" err="1">
                <a:ln>
                  <a:noFill/>
                </a:ln>
                <a:solidFill>
                  <a:srgbClr val="080808"/>
                </a:solidFill>
                <a:effectLst/>
                <a:latin typeface="Consolas" panose="020B0609020204030204" pitchFamily="49" charset="0"/>
                <a:ea typeface="JetBrains Mono"/>
              </a:rPr>
              <a:t>Whip</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 </a:t>
            </a:r>
            <a:r>
              <a:rPr kumimoji="0" lang="ko-KR" altLang="ko-KR" sz="1000" b="0" i="0" u="none" strike="noStrike" cap="none" normalizeH="0" baseline="0" dirty="0" err="1">
                <a:ln>
                  <a:noFill/>
                </a:ln>
                <a:solidFill>
                  <a:srgbClr val="0033B3"/>
                </a:solidFill>
                <a:effectLst/>
                <a:latin typeface="Consolas" panose="020B0609020204030204" pitchFamily="49" charset="0"/>
                <a:ea typeface="JetBrains Mono"/>
              </a:rPr>
              <a:t>new</a:t>
            </a:r>
            <a:r>
              <a:rPr kumimoji="0" lang="ko-KR" altLang="ko-KR" sz="1000" b="0" i="0" u="none" strike="noStrike" cap="none" normalizeH="0" baseline="0" dirty="0">
                <a:ln>
                  <a:noFill/>
                </a:ln>
                <a:solidFill>
                  <a:srgbClr val="0033B3"/>
                </a:solidFill>
                <a:effectLst/>
                <a:latin typeface="Consolas" panose="020B0609020204030204" pitchFamily="49" charset="0"/>
                <a:ea typeface="JetBrains Mono"/>
              </a:rPr>
              <a:t> </a:t>
            </a:r>
            <a:r>
              <a:rPr kumimoji="0" lang="ko-KR" altLang="ko-KR" sz="1000" b="0" i="0" u="none" strike="noStrike" cap="none" normalizeH="0" baseline="0" dirty="0" err="1">
                <a:ln>
                  <a:noFill/>
                </a:ln>
                <a:solidFill>
                  <a:srgbClr val="080808"/>
                </a:solidFill>
                <a:effectLst/>
                <a:latin typeface="Consolas" panose="020B0609020204030204" pitchFamily="49" charset="0"/>
                <a:ea typeface="JetBrains Mono"/>
              </a:rPr>
              <a:t>Mocha</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 ( </a:t>
            </a:r>
            <a:r>
              <a:rPr kumimoji="0" lang="ko-KR" altLang="ko-KR" sz="1000" b="0" i="0" u="none" strike="noStrike" cap="none" normalizeH="0" baseline="0" dirty="0" err="1">
                <a:ln>
                  <a:noFill/>
                </a:ln>
                <a:solidFill>
                  <a:srgbClr val="0033B3"/>
                </a:solidFill>
                <a:effectLst/>
                <a:latin typeface="Consolas" panose="020B0609020204030204" pitchFamily="49" charset="0"/>
                <a:ea typeface="JetBrains Mono"/>
              </a:rPr>
              <a:t>new</a:t>
            </a:r>
            <a:r>
              <a:rPr kumimoji="0" lang="ko-KR" altLang="ko-KR" sz="1000" b="0" i="0" u="none" strike="noStrike" cap="none" normalizeH="0" baseline="0" dirty="0">
                <a:ln>
                  <a:noFill/>
                </a:ln>
                <a:solidFill>
                  <a:srgbClr val="0033B3"/>
                </a:solidFill>
                <a:effectLst/>
                <a:latin typeface="Consolas" panose="020B0609020204030204" pitchFamily="49" charset="0"/>
                <a:ea typeface="JetBrains Mono"/>
              </a:rPr>
              <a:t> </a:t>
            </a:r>
            <a:r>
              <a:rPr kumimoji="0" lang="ko-KR" altLang="ko-KR" sz="1000" b="0" i="0" u="none" strike="noStrike" cap="none" normalizeH="0" baseline="0" dirty="0" err="1">
                <a:ln>
                  <a:noFill/>
                </a:ln>
                <a:solidFill>
                  <a:srgbClr val="080808"/>
                </a:solidFill>
                <a:effectLst/>
                <a:latin typeface="Consolas" panose="020B0609020204030204" pitchFamily="49" charset="0"/>
                <a:ea typeface="JetBrains Mono"/>
              </a:rPr>
              <a:t>Mocha</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 ( </a:t>
            </a:r>
            <a:r>
              <a:rPr kumimoji="0" lang="ko-KR" altLang="ko-KR" sz="1000" b="0" i="0" u="none" strike="noStrike" cap="none" normalizeH="0" baseline="0" dirty="0" err="1">
                <a:ln>
                  <a:noFill/>
                </a:ln>
                <a:solidFill>
                  <a:srgbClr val="0033B3"/>
                </a:solidFill>
                <a:effectLst/>
                <a:latin typeface="Consolas" panose="020B0609020204030204" pitchFamily="49" charset="0"/>
                <a:ea typeface="JetBrains Mono"/>
              </a:rPr>
              <a:t>new</a:t>
            </a:r>
            <a:r>
              <a:rPr kumimoji="0" lang="ko-KR" altLang="ko-KR" sz="1000" b="0" i="0" u="none" strike="noStrike" cap="none" normalizeH="0" baseline="0" dirty="0">
                <a:ln>
                  <a:noFill/>
                </a:ln>
                <a:solidFill>
                  <a:srgbClr val="0033B3"/>
                </a:solidFill>
                <a:effectLst/>
                <a:latin typeface="Consolas" panose="020B0609020204030204" pitchFamily="49" charset="0"/>
                <a:ea typeface="JetBrains Mono"/>
              </a:rPr>
              <a:t> </a:t>
            </a:r>
            <a:r>
              <a:rPr kumimoji="0" lang="ko-KR" altLang="ko-KR" sz="1000" b="0" i="0" u="none" strike="noStrike" cap="none" normalizeH="0" baseline="0" dirty="0" err="1">
                <a:ln>
                  <a:noFill/>
                </a:ln>
                <a:solidFill>
                  <a:srgbClr val="080808"/>
                </a:solidFill>
                <a:effectLst/>
                <a:latin typeface="Consolas" panose="020B0609020204030204" pitchFamily="49" charset="0"/>
                <a:ea typeface="JetBrains Mono"/>
              </a:rPr>
              <a:t>Soy</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 (</a:t>
            </a:r>
            <a:r>
              <a:rPr kumimoji="0" lang="ko-KR" altLang="ko-KR" sz="1000" b="0" i="0" u="none" strike="noStrike" cap="none" normalizeH="0" baseline="0" dirty="0" err="1">
                <a:ln>
                  <a:noFill/>
                </a:ln>
                <a:solidFill>
                  <a:srgbClr val="0033B3"/>
                </a:solidFill>
                <a:effectLst/>
                <a:latin typeface="Consolas" panose="020B0609020204030204" pitchFamily="49" charset="0"/>
                <a:ea typeface="JetBrains Mono"/>
              </a:rPr>
              <a:t>new</a:t>
            </a:r>
            <a:r>
              <a:rPr kumimoji="0" lang="ko-KR" altLang="ko-KR" sz="1000" b="0" i="0" u="none" strike="noStrike" cap="none" normalizeH="0" baseline="0" dirty="0">
                <a:ln>
                  <a:noFill/>
                </a:ln>
                <a:solidFill>
                  <a:srgbClr val="0033B3"/>
                </a:solidFill>
                <a:effectLst/>
                <a:latin typeface="Consolas" panose="020B0609020204030204" pitchFamily="49" charset="0"/>
                <a:ea typeface="JetBrains Mono"/>
              </a:rPr>
              <a:t> </a:t>
            </a:r>
            <a:r>
              <a:rPr kumimoji="0" lang="ko-KR" altLang="ko-KR" sz="1000" b="0" i="0" u="none" strike="noStrike" cap="none" normalizeH="0" baseline="0" dirty="0" err="1">
                <a:ln>
                  <a:noFill/>
                </a:ln>
                <a:solidFill>
                  <a:srgbClr val="080808"/>
                </a:solidFill>
                <a:effectLst/>
                <a:latin typeface="Consolas" panose="020B0609020204030204" pitchFamily="49" charset="0"/>
                <a:ea typeface="JetBrains Mono"/>
              </a:rPr>
              <a:t>HouseBlend</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a:t>
            </a:r>
            <a:b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br>
            <a:r>
              <a:rPr kumimoji="0" lang="ko-KR" altLang="ko-KR" sz="1000" b="0" i="0" u="none" strike="noStrike" cap="none" normalizeH="0" baseline="0" dirty="0" err="1">
                <a:ln>
                  <a:noFill/>
                </a:ln>
                <a:solidFill>
                  <a:srgbClr val="000000"/>
                </a:solidFill>
                <a:effectLst/>
                <a:latin typeface="Consolas" panose="020B0609020204030204" pitchFamily="49" charset="0"/>
                <a:ea typeface="JetBrains Mono"/>
              </a:rPr>
              <a:t>System</a:t>
            </a:r>
            <a:r>
              <a:rPr kumimoji="0" lang="ko-KR" altLang="ko-KR" sz="1000" b="0" i="0" u="none" strike="noStrike" cap="none" normalizeH="0" baseline="0" dirty="0" err="1">
                <a:ln>
                  <a:noFill/>
                </a:ln>
                <a:solidFill>
                  <a:srgbClr val="080808"/>
                </a:solidFill>
                <a:effectLst/>
                <a:latin typeface="Consolas" panose="020B0609020204030204" pitchFamily="49" charset="0"/>
                <a:ea typeface="JetBrains Mono"/>
              </a:rPr>
              <a:t>.</a:t>
            </a:r>
            <a:r>
              <a:rPr kumimoji="0" lang="ko-KR" altLang="ko-KR" sz="1000" b="0" i="1" u="none" strike="noStrike" cap="none" normalizeH="0" baseline="0" dirty="0" err="1">
                <a:ln>
                  <a:noFill/>
                </a:ln>
                <a:solidFill>
                  <a:srgbClr val="871094"/>
                </a:solidFill>
                <a:effectLst/>
                <a:latin typeface="Consolas" panose="020B0609020204030204" pitchFamily="49" charset="0"/>
                <a:ea typeface="JetBrains Mono"/>
              </a:rPr>
              <a:t>out</a:t>
            </a:r>
            <a:r>
              <a:rPr kumimoji="0" lang="ko-KR" altLang="ko-KR" sz="1000" b="0" i="0" u="none" strike="noStrike" cap="none" normalizeH="0" baseline="0" dirty="0" err="1">
                <a:ln>
                  <a:noFill/>
                </a:ln>
                <a:solidFill>
                  <a:srgbClr val="080808"/>
                </a:solidFill>
                <a:effectLst/>
                <a:latin typeface="Consolas" panose="020B0609020204030204" pitchFamily="49" charset="0"/>
                <a:ea typeface="JetBrains Mono"/>
              </a:rPr>
              <a:t>.println</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a:t>
            </a:r>
            <a:r>
              <a:rPr kumimoji="0" lang="ko-KR" altLang="ko-KR" sz="1000" b="0" i="0" u="none" strike="noStrike" cap="none" normalizeH="0" baseline="0" dirty="0">
                <a:ln>
                  <a:noFill/>
                </a:ln>
                <a:solidFill>
                  <a:srgbClr val="000000"/>
                </a:solidFill>
                <a:effectLst/>
                <a:latin typeface="Consolas" panose="020B0609020204030204" pitchFamily="49" charset="0"/>
                <a:ea typeface="JetBrains Mono"/>
              </a:rPr>
              <a:t>beverage4</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.getDescription() </a:t>
            </a:r>
            <a:b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b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       + </a:t>
            </a:r>
            <a:r>
              <a:rPr kumimoji="0" lang="ko-KR" altLang="ko-KR" sz="1000" b="0" i="0" u="none" strike="noStrike" cap="none" normalizeH="0" baseline="0" dirty="0">
                <a:ln>
                  <a:noFill/>
                </a:ln>
                <a:solidFill>
                  <a:srgbClr val="067D17"/>
                </a:solidFill>
                <a:effectLst/>
                <a:latin typeface="Consolas" panose="020B0609020204030204" pitchFamily="49" charset="0"/>
                <a:ea typeface="JetBrains Mono"/>
              </a:rPr>
              <a:t>" $" </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 </a:t>
            </a:r>
            <a:r>
              <a:rPr kumimoji="0" lang="ko-KR" altLang="ko-KR" sz="1000" b="0" i="0" u="none" strike="noStrike" cap="none" normalizeH="0" baseline="0" dirty="0">
                <a:ln>
                  <a:noFill/>
                </a:ln>
                <a:solidFill>
                  <a:srgbClr val="000000"/>
                </a:solidFill>
                <a:effectLst/>
                <a:latin typeface="Consolas" panose="020B0609020204030204" pitchFamily="49" charset="0"/>
                <a:ea typeface="JetBrains Mono"/>
              </a:rPr>
              <a:t>beverage4</a:t>
            </a:r>
            <a: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t>.cost());</a:t>
            </a:r>
            <a:b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br>
            <a:b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br>
            <a:br>
              <a:rPr kumimoji="0" lang="ko-KR" altLang="ko-KR" sz="1000" b="0" i="0" u="none" strike="noStrike" cap="none" normalizeH="0" baseline="0" dirty="0">
                <a:ln>
                  <a:noFill/>
                </a:ln>
                <a:solidFill>
                  <a:srgbClr val="080808"/>
                </a:solidFill>
                <a:effectLst/>
                <a:latin typeface="Consolas" panose="020B0609020204030204" pitchFamily="49" charset="0"/>
                <a:ea typeface="JetBrains Mono"/>
              </a:rPr>
            </a:br>
            <a:r>
              <a:rPr kumimoji="0" lang="ko-KR" altLang="ko-KR" sz="1000" b="0" i="1" u="none" strike="noStrike" cap="none" normalizeH="0" baseline="0" dirty="0">
                <a:ln>
                  <a:noFill/>
                </a:ln>
                <a:solidFill>
                  <a:srgbClr val="8C8C8C"/>
                </a:solidFill>
                <a:effectLst/>
                <a:latin typeface="Consolas" panose="020B0609020204030204" pitchFamily="49" charset="0"/>
                <a:ea typeface="JetBrains Mono"/>
              </a:rPr>
              <a:t>// </a:t>
            </a:r>
            <a:r>
              <a:rPr kumimoji="0" lang="ko-KR" altLang="ko-KR" sz="1000" b="0" i="1" u="none" strike="noStrike" cap="none" normalizeH="0" baseline="0" dirty="0" err="1">
                <a:ln>
                  <a:noFill/>
                </a:ln>
                <a:solidFill>
                  <a:srgbClr val="8C8C8C"/>
                </a:solidFill>
                <a:effectLst/>
                <a:latin typeface="Consolas" panose="020B0609020204030204" pitchFamily="49" charset="0"/>
                <a:ea typeface="JetBrains Mono"/>
              </a:rPr>
              <a:t>Beverage</a:t>
            </a:r>
            <a:r>
              <a:rPr kumimoji="0" lang="ko-KR" altLang="ko-KR" sz="1000" b="0" i="1" u="none" strike="noStrike" cap="none" normalizeH="0" baseline="0" dirty="0">
                <a:ln>
                  <a:noFill/>
                </a:ln>
                <a:solidFill>
                  <a:srgbClr val="8C8C8C"/>
                </a:solidFill>
                <a:effectLst/>
                <a:latin typeface="Consolas" panose="020B0609020204030204" pitchFamily="49" charset="0"/>
                <a:ea typeface="JetBrains Mono"/>
              </a:rPr>
              <a:t> beverage5 = </a:t>
            </a:r>
            <a:r>
              <a:rPr kumimoji="0" lang="ko-KR" altLang="ko-KR" sz="1000" b="0" i="1" u="none" strike="noStrike" cap="none" normalizeH="0" baseline="0" dirty="0" err="1">
                <a:ln>
                  <a:noFill/>
                </a:ln>
                <a:solidFill>
                  <a:srgbClr val="8C8C8C"/>
                </a:solidFill>
                <a:effectLst/>
                <a:latin typeface="Consolas" panose="020B0609020204030204" pitchFamily="49" charset="0"/>
                <a:ea typeface="JetBrains Mono"/>
              </a:rPr>
              <a:t>new</a:t>
            </a:r>
            <a:r>
              <a:rPr kumimoji="0" lang="ko-KR" altLang="ko-KR" sz="1000" b="0" i="1" u="none" strike="noStrike" cap="none" normalizeH="0" baseline="0" dirty="0">
                <a:ln>
                  <a:noFill/>
                </a:ln>
                <a:solidFill>
                  <a:srgbClr val="8C8C8C"/>
                </a:solidFill>
                <a:effectLst/>
                <a:latin typeface="Consolas" panose="020B0609020204030204" pitchFamily="49" charset="0"/>
                <a:ea typeface="JetBrains Mono"/>
              </a:rPr>
              <a:t> </a:t>
            </a:r>
            <a:r>
              <a:rPr kumimoji="0" lang="ko-KR" altLang="ko-KR" sz="1000" b="0" i="1" u="none" strike="noStrike" cap="none" normalizeH="0" baseline="0" dirty="0" err="1">
                <a:ln>
                  <a:noFill/>
                </a:ln>
                <a:solidFill>
                  <a:srgbClr val="8C8C8C"/>
                </a:solidFill>
                <a:effectLst/>
                <a:latin typeface="Consolas" panose="020B0609020204030204" pitchFamily="49" charset="0"/>
                <a:ea typeface="JetBrains Mono"/>
              </a:rPr>
              <a:t>DarkRoast</a:t>
            </a:r>
            <a:r>
              <a:rPr kumimoji="0" lang="ko-KR" altLang="ko-KR" sz="1000" b="0" i="1" u="none" strike="noStrike" cap="none" normalizeH="0" baseline="0" dirty="0">
                <a:ln>
                  <a:noFill/>
                </a:ln>
                <a:solidFill>
                  <a:srgbClr val="8C8C8C"/>
                </a:solidFill>
                <a:effectLst/>
                <a:latin typeface="Consolas" panose="020B0609020204030204" pitchFamily="49" charset="0"/>
                <a:ea typeface="JetBrains Mono"/>
              </a:rPr>
              <a:t>(</a:t>
            </a:r>
            <a:r>
              <a:rPr kumimoji="0" lang="ko-KR" altLang="ko-KR" sz="1000" b="0" i="1" u="none" strike="noStrike" cap="none" normalizeH="0" baseline="0" dirty="0" err="1">
                <a:ln>
                  <a:noFill/>
                </a:ln>
                <a:solidFill>
                  <a:srgbClr val="8C8C8C"/>
                </a:solidFill>
                <a:effectLst/>
                <a:latin typeface="Consolas" panose="020B0609020204030204" pitchFamily="49" charset="0"/>
                <a:ea typeface="JetBrains Mono"/>
              </a:rPr>
              <a:t>new</a:t>
            </a:r>
            <a:r>
              <a:rPr kumimoji="0" lang="ko-KR" altLang="ko-KR" sz="1000" b="0" i="1" u="none" strike="noStrike" cap="none" normalizeH="0" baseline="0" dirty="0">
                <a:ln>
                  <a:noFill/>
                </a:ln>
                <a:solidFill>
                  <a:srgbClr val="8C8C8C"/>
                </a:solidFill>
                <a:effectLst/>
                <a:latin typeface="Consolas" panose="020B0609020204030204" pitchFamily="49" charset="0"/>
                <a:ea typeface="JetBrains Mono"/>
              </a:rPr>
              <a:t> </a:t>
            </a:r>
            <a:r>
              <a:rPr kumimoji="0" lang="ko-KR" altLang="ko-KR" sz="1000" b="0" i="1" u="none" strike="noStrike" cap="none" normalizeH="0" baseline="0" dirty="0" err="1">
                <a:ln>
                  <a:noFill/>
                </a:ln>
                <a:solidFill>
                  <a:srgbClr val="8C8C8C"/>
                </a:solidFill>
                <a:effectLst/>
                <a:latin typeface="Consolas" panose="020B0609020204030204" pitchFamily="49" charset="0"/>
                <a:ea typeface="JetBrains Mono"/>
              </a:rPr>
              <a:t>HouseBlend</a:t>
            </a:r>
            <a:r>
              <a:rPr kumimoji="0" lang="ko-KR" altLang="ko-KR" sz="1000" b="0" i="1" u="none" strike="noStrike" cap="none" normalizeH="0" baseline="0" dirty="0">
                <a:ln>
                  <a:noFill/>
                </a:ln>
                <a:solidFill>
                  <a:srgbClr val="8C8C8C"/>
                </a:solidFill>
                <a:effectLst/>
                <a:latin typeface="Consolas" panose="020B0609020204030204" pitchFamily="49" charset="0"/>
                <a:ea typeface="JetBrains Mono"/>
              </a:rPr>
              <a:t>());</a:t>
            </a:r>
            <a:br>
              <a:rPr kumimoji="0" lang="ko-KR" altLang="ko-KR" sz="1000" b="0" i="1" u="none" strike="noStrike" cap="none" normalizeH="0" baseline="0" dirty="0">
                <a:ln>
                  <a:noFill/>
                </a:ln>
                <a:solidFill>
                  <a:srgbClr val="8C8C8C"/>
                </a:solidFill>
                <a:effectLst/>
                <a:latin typeface="Consolas" panose="020B0609020204030204" pitchFamily="49" charset="0"/>
                <a:ea typeface="JetBrains Mono"/>
              </a:rPr>
            </a:br>
            <a:r>
              <a:rPr kumimoji="0" lang="ko-KR" altLang="ko-KR" sz="1000" b="0" i="1" u="none" strike="noStrike" cap="none" normalizeH="0" baseline="0" dirty="0">
                <a:ln>
                  <a:noFill/>
                </a:ln>
                <a:solidFill>
                  <a:srgbClr val="8C8C8C"/>
                </a:solidFill>
                <a:effectLst/>
                <a:latin typeface="Consolas" panose="020B0609020204030204" pitchFamily="49" charset="0"/>
                <a:ea typeface="JetBrains Mono"/>
              </a:rPr>
              <a:t>// </a:t>
            </a:r>
            <a:r>
              <a:rPr kumimoji="0" lang="ko-KR" altLang="ko-KR" sz="1000" b="0" i="1" u="none" strike="noStrike" cap="none" normalizeH="0" baseline="0" dirty="0" err="1">
                <a:ln>
                  <a:noFill/>
                </a:ln>
                <a:solidFill>
                  <a:srgbClr val="8C8C8C"/>
                </a:solidFill>
                <a:effectLst/>
                <a:latin typeface="Consolas" panose="020B0609020204030204" pitchFamily="49" charset="0"/>
                <a:ea typeface="JetBrains Mono"/>
              </a:rPr>
              <a:t>Beverage</a:t>
            </a:r>
            <a:r>
              <a:rPr kumimoji="0" lang="ko-KR" altLang="ko-KR" sz="1000" b="0" i="1" u="none" strike="noStrike" cap="none" normalizeH="0" baseline="0" dirty="0">
                <a:ln>
                  <a:noFill/>
                </a:ln>
                <a:solidFill>
                  <a:srgbClr val="8C8C8C"/>
                </a:solidFill>
                <a:effectLst/>
                <a:latin typeface="Consolas" panose="020B0609020204030204" pitchFamily="49" charset="0"/>
                <a:ea typeface="JetBrains Mono"/>
              </a:rPr>
              <a:t> beverage6 = </a:t>
            </a:r>
            <a:r>
              <a:rPr kumimoji="0" lang="ko-KR" altLang="ko-KR" sz="1000" b="0" i="1" u="none" strike="noStrike" cap="none" normalizeH="0" baseline="0" dirty="0" err="1">
                <a:ln>
                  <a:noFill/>
                </a:ln>
                <a:solidFill>
                  <a:srgbClr val="8C8C8C"/>
                </a:solidFill>
                <a:effectLst/>
                <a:latin typeface="Consolas" panose="020B0609020204030204" pitchFamily="49" charset="0"/>
                <a:ea typeface="JetBrains Mono"/>
              </a:rPr>
              <a:t>new</a:t>
            </a:r>
            <a:r>
              <a:rPr kumimoji="0" lang="ko-KR" altLang="ko-KR" sz="1000" b="0" i="1" u="none" strike="noStrike" cap="none" normalizeH="0" baseline="0" dirty="0">
                <a:ln>
                  <a:noFill/>
                </a:ln>
                <a:solidFill>
                  <a:srgbClr val="8C8C8C"/>
                </a:solidFill>
                <a:effectLst/>
                <a:latin typeface="Consolas" panose="020B0609020204030204" pitchFamily="49" charset="0"/>
                <a:ea typeface="JetBrains Mono"/>
              </a:rPr>
              <a:t> </a:t>
            </a:r>
            <a:r>
              <a:rPr kumimoji="0" lang="ko-KR" altLang="ko-KR" sz="1000" b="0" i="1" u="none" strike="noStrike" cap="none" normalizeH="0" baseline="0" dirty="0" err="1">
                <a:ln>
                  <a:noFill/>
                </a:ln>
                <a:solidFill>
                  <a:srgbClr val="8C8C8C"/>
                </a:solidFill>
                <a:effectLst/>
                <a:latin typeface="Consolas" panose="020B0609020204030204" pitchFamily="49" charset="0"/>
                <a:ea typeface="JetBrains Mono"/>
              </a:rPr>
              <a:t>Whip</a:t>
            </a:r>
            <a:r>
              <a:rPr kumimoji="0" lang="ko-KR" altLang="ko-KR" sz="1000" b="0" i="1" u="none" strike="noStrike" cap="none" normalizeH="0" baseline="0" dirty="0">
                <a:ln>
                  <a:noFill/>
                </a:ln>
                <a:solidFill>
                  <a:srgbClr val="8C8C8C"/>
                </a:solidFill>
                <a:effectLst/>
                <a:latin typeface="Consolas" panose="020B0609020204030204" pitchFamily="49" charset="0"/>
                <a:ea typeface="JetBrains Mono"/>
              </a:rPr>
              <a:t>(</a:t>
            </a:r>
            <a:r>
              <a:rPr kumimoji="0" lang="ko-KR" altLang="ko-KR" sz="1000" b="0" i="1" u="none" strike="noStrike" cap="none" normalizeH="0" baseline="0" dirty="0" err="1">
                <a:ln>
                  <a:noFill/>
                </a:ln>
                <a:solidFill>
                  <a:srgbClr val="8C8C8C"/>
                </a:solidFill>
                <a:effectLst/>
                <a:latin typeface="Consolas" panose="020B0609020204030204" pitchFamily="49" charset="0"/>
                <a:ea typeface="JetBrains Mono"/>
              </a:rPr>
              <a:t>new</a:t>
            </a:r>
            <a:r>
              <a:rPr kumimoji="0" lang="ko-KR" altLang="ko-KR" sz="1000" b="0" i="1" u="none" strike="noStrike" cap="none" normalizeH="0" baseline="0" dirty="0">
                <a:ln>
                  <a:noFill/>
                </a:ln>
                <a:solidFill>
                  <a:srgbClr val="8C8C8C"/>
                </a:solidFill>
                <a:effectLst/>
                <a:latin typeface="Consolas" panose="020B0609020204030204" pitchFamily="49" charset="0"/>
                <a:ea typeface="JetBrains Mono"/>
              </a:rPr>
              <a:t> </a:t>
            </a:r>
            <a:r>
              <a:rPr kumimoji="0" lang="ko-KR" altLang="ko-KR" sz="1000" b="0" i="1" u="none" strike="noStrike" cap="none" normalizeH="0" baseline="0" dirty="0" err="1">
                <a:ln>
                  <a:noFill/>
                </a:ln>
                <a:solidFill>
                  <a:srgbClr val="8C8C8C"/>
                </a:solidFill>
                <a:effectLst/>
                <a:latin typeface="Consolas" panose="020B0609020204030204" pitchFamily="49" charset="0"/>
                <a:ea typeface="JetBrains Mono"/>
              </a:rPr>
              <a:t>Mocha</a:t>
            </a:r>
            <a:r>
              <a:rPr kumimoji="0" lang="ko-KR" altLang="ko-KR" sz="1000" b="0" i="1" u="none" strike="noStrike" cap="none" normalizeH="0" baseline="0" dirty="0">
                <a:ln>
                  <a:noFill/>
                </a:ln>
                <a:solidFill>
                  <a:srgbClr val="8C8C8C"/>
                </a:solidFill>
                <a:effectLst/>
                <a:latin typeface="Consolas" panose="020B0609020204030204" pitchFamily="49" charset="0"/>
                <a:ea typeface="JetBrains Mono"/>
              </a:rPr>
              <a:t>(</a:t>
            </a:r>
            <a:r>
              <a:rPr kumimoji="0" lang="ko-KR" altLang="ko-KR" sz="1000" b="0" i="1" u="none" strike="noStrike" cap="none" normalizeH="0" baseline="0" dirty="0" err="1">
                <a:ln>
                  <a:noFill/>
                </a:ln>
                <a:solidFill>
                  <a:srgbClr val="8C8C8C"/>
                </a:solidFill>
                <a:effectLst/>
                <a:latin typeface="Consolas" panose="020B0609020204030204" pitchFamily="49" charset="0"/>
                <a:ea typeface="JetBrains Mono"/>
              </a:rPr>
              <a:t>null</a:t>
            </a:r>
            <a:r>
              <a:rPr kumimoji="0" lang="ko-KR" altLang="ko-KR" sz="1000" b="0" i="1" u="none" strike="noStrike" cap="none" normalizeH="0" baseline="0" dirty="0">
                <a:ln>
                  <a:noFill/>
                </a:ln>
                <a:solidFill>
                  <a:srgbClr val="8C8C8C"/>
                </a:solidFill>
                <a:effectLst/>
                <a:latin typeface="Consolas" panose="020B0609020204030204" pitchFamily="49" charset="0"/>
                <a:ea typeface="JetBrains Mono"/>
              </a:rPr>
              <a:t>));</a:t>
            </a:r>
            <a:br>
              <a:rPr kumimoji="0" lang="ko-KR" altLang="ko-KR" sz="1000" b="0" i="1" u="none" strike="noStrike" cap="none" normalizeH="0" baseline="0" dirty="0">
                <a:ln>
                  <a:noFill/>
                </a:ln>
                <a:solidFill>
                  <a:srgbClr val="8C8C8C"/>
                </a:solidFill>
                <a:effectLst/>
                <a:latin typeface="Consolas" panose="020B0609020204030204" pitchFamily="49" charset="0"/>
                <a:ea typeface="JetBrains Mono"/>
              </a:rPr>
            </a:br>
            <a:r>
              <a:rPr kumimoji="0" lang="ko-KR" altLang="ko-KR" sz="1000" b="0" i="1" u="none" strike="noStrike" cap="none" normalizeH="0" baseline="0" dirty="0">
                <a:ln>
                  <a:noFill/>
                </a:ln>
                <a:solidFill>
                  <a:srgbClr val="8C8C8C"/>
                </a:solidFill>
                <a:effectLst/>
                <a:latin typeface="Consolas" panose="020B0609020204030204" pitchFamily="49" charset="0"/>
                <a:ea typeface="JetBrains Mono"/>
              </a:rPr>
              <a:t>// </a:t>
            </a:r>
            <a:r>
              <a:rPr kumimoji="0" lang="ko-KR" altLang="ko-KR" sz="1000" b="0" i="1" u="none" strike="noStrike" cap="none" normalizeH="0" baseline="0" dirty="0" err="1">
                <a:ln>
                  <a:noFill/>
                </a:ln>
                <a:solidFill>
                  <a:srgbClr val="8C8C8C"/>
                </a:solidFill>
                <a:effectLst/>
                <a:latin typeface="Consolas" panose="020B0609020204030204" pitchFamily="49" charset="0"/>
                <a:ea typeface="JetBrains Mono"/>
              </a:rPr>
              <a:t>System.out.println</a:t>
            </a:r>
            <a:r>
              <a:rPr kumimoji="0" lang="ko-KR" altLang="ko-KR" sz="1000" b="0" i="1" u="none" strike="noStrike" cap="none" normalizeH="0" baseline="0" dirty="0">
                <a:ln>
                  <a:noFill/>
                </a:ln>
                <a:solidFill>
                  <a:srgbClr val="8C8C8C"/>
                </a:solidFill>
                <a:effectLst/>
                <a:latin typeface="Consolas" panose="020B0609020204030204" pitchFamily="49" charset="0"/>
                <a:ea typeface="JetBrains Mono"/>
              </a:rPr>
              <a:t>(beverage6.getDescription() + " $" + beverage6.cost());</a:t>
            </a:r>
            <a:endParaRPr kumimoji="0" lang="ko-KR" altLang="ko-KR" sz="1200" b="0" i="0" u="none" strike="noStrike" cap="none" normalizeH="0" baseline="0" dirty="0">
              <a:ln>
                <a:noFill/>
              </a:ln>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28049891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A5B6F10D-2B03-4D90-A72D-F29B951DE7EF}"/>
              </a:ext>
            </a:extLst>
          </p:cNvPr>
          <p:cNvPicPr>
            <a:picLocks noChangeAspect="1"/>
          </p:cNvPicPr>
          <p:nvPr/>
        </p:nvPicPr>
        <p:blipFill>
          <a:blip r:embed="rId2"/>
          <a:stretch>
            <a:fillRect/>
          </a:stretch>
        </p:blipFill>
        <p:spPr>
          <a:xfrm>
            <a:off x="1751112" y="3151188"/>
            <a:ext cx="5413176" cy="1868834"/>
          </a:xfrm>
          <a:prstGeom prst="rect">
            <a:avLst/>
          </a:prstGeom>
        </p:spPr>
      </p:pic>
      <p:sp>
        <p:nvSpPr>
          <p:cNvPr id="2" name="내용 개체 틀 1"/>
          <p:cNvSpPr>
            <a:spLocks noGrp="1"/>
          </p:cNvSpPr>
          <p:nvPr>
            <p:ph idx="1"/>
          </p:nvPr>
        </p:nvSpPr>
        <p:spPr>
          <a:xfrm>
            <a:off x="251520" y="627534"/>
            <a:ext cx="8712968" cy="3751262"/>
          </a:xfrm>
        </p:spPr>
        <p:txBody>
          <a:bodyPr>
            <a:normAutofit/>
          </a:bodyPr>
          <a:lstStyle/>
          <a:p>
            <a:endParaRPr lang="en-US" altLang="ko-KR" sz="1600" spc="0" dirty="0"/>
          </a:p>
          <a:p>
            <a:endParaRPr lang="en-US" altLang="ko-KR" sz="1000" spc="0" dirty="0"/>
          </a:p>
          <a:p>
            <a:r>
              <a:rPr lang="ko-KR" altLang="en-US" sz="1400" spc="0" dirty="0"/>
              <a:t>문자열</a:t>
            </a:r>
            <a:r>
              <a:rPr lang="en-US" altLang="ko-KR" sz="1400" spc="0" dirty="0"/>
              <a:t>[</a:t>
            </a:r>
            <a:r>
              <a:rPr lang="en-US" altLang="ko-KR" sz="1400" spc="0" dirty="0" err="1"/>
              <a:t>a-z|A-Z</a:t>
            </a:r>
            <a:r>
              <a:rPr lang="en-US" altLang="ko-KR" sz="1400" spc="0" dirty="0"/>
              <a:t>]+</a:t>
            </a:r>
            <a:r>
              <a:rPr lang="ko-KR" altLang="en-US" sz="1400" spc="0" dirty="0"/>
              <a:t>에 대해 </a:t>
            </a:r>
            <a:r>
              <a:rPr lang="ko-KR" altLang="en-US" sz="1400" u="sng" spc="0" dirty="0"/>
              <a:t>각 문자를 주어진 </a:t>
            </a:r>
            <a:r>
              <a:rPr lang="en-US" altLang="ko-KR" sz="1400" u="sng" spc="0" dirty="0"/>
              <a:t>offset </a:t>
            </a:r>
            <a:r>
              <a:rPr lang="ko-KR" altLang="en-US" sz="1400" u="sng" spc="0" dirty="0"/>
              <a:t>만큼 </a:t>
            </a:r>
            <a:r>
              <a:rPr lang="en-US" altLang="ko-KR" sz="1400" u="sng" spc="0" dirty="0"/>
              <a:t>shift</a:t>
            </a:r>
            <a:r>
              <a:rPr lang="ko-KR" altLang="en-US" sz="1400" spc="0" dirty="0"/>
              <a:t>하는 </a:t>
            </a:r>
            <a:r>
              <a:rPr lang="en-US" altLang="ko-KR" sz="1400" b="1" spc="0" dirty="0" err="1">
                <a:solidFill>
                  <a:srgbClr val="0066FF"/>
                </a:solidFill>
              </a:rPr>
              <a:t>ShiftInputStream</a:t>
            </a:r>
            <a:r>
              <a:rPr lang="en-US" altLang="ko-KR" sz="1400" spc="0" dirty="0"/>
              <a:t> </a:t>
            </a:r>
            <a:r>
              <a:rPr lang="ko-KR" altLang="en-US" sz="1400" spc="0" dirty="0"/>
              <a:t>클래스 구현 후</a:t>
            </a:r>
            <a:br>
              <a:rPr lang="en-US" altLang="ko-KR" sz="1400" spc="0" dirty="0"/>
            </a:br>
            <a:r>
              <a:rPr lang="ko-KR" altLang="en-US" sz="1400" spc="0" dirty="0"/>
              <a:t>기존 스트림 필터와 조합 테스트 </a:t>
            </a:r>
            <a:r>
              <a:rPr lang="en-US" altLang="ko-KR" sz="1400" spc="0" dirty="0"/>
              <a:t>(</a:t>
            </a:r>
            <a:r>
              <a:rPr lang="en-US" altLang="ko-KR" sz="1400" spc="0" dirty="0" err="1"/>
              <a:t>FilterInputStream</a:t>
            </a:r>
            <a:r>
              <a:rPr lang="ko-KR" altLang="en-US" sz="1400" spc="0" dirty="0"/>
              <a:t>을 상속</a:t>
            </a:r>
            <a:r>
              <a:rPr lang="en-US" altLang="ko-KR" sz="1400" spc="0" dirty="0"/>
              <a:t>)</a:t>
            </a:r>
            <a:endParaRPr lang="ko-KR" altLang="en-US" sz="1400" spc="0" dirty="0"/>
          </a:p>
          <a:p>
            <a:pPr marL="361338" lvl="1" indent="0">
              <a:buNone/>
            </a:pPr>
            <a:r>
              <a:rPr lang="en-US" altLang="ko-KR" sz="1200" b="1" spc="0" dirty="0" err="1"/>
              <a:t>ShiftInputStream</a:t>
            </a:r>
            <a:r>
              <a:rPr lang="en-US" altLang="ko-KR" sz="1200" b="1" spc="0" dirty="0"/>
              <a:t>(</a:t>
            </a:r>
            <a:r>
              <a:rPr lang="en-US" altLang="ko-KR" sz="1200" b="1" spc="0" dirty="0" err="1"/>
              <a:t>InputStream</a:t>
            </a:r>
            <a:r>
              <a:rPr lang="en-US" altLang="ko-KR" sz="1200" b="1" spc="0" dirty="0"/>
              <a:t> in, </a:t>
            </a:r>
            <a:r>
              <a:rPr lang="en-US" altLang="ko-KR" sz="1200" b="1" spc="0" dirty="0" err="1"/>
              <a:t>int</a:t>
            </a:r>
            <a:r>
              <a:rPr lang="en-US" altLang="ko-KR" sz="1200" b="1" spc="0" dirty="0"/>
              <a:t> offset)</a:t>
            </a:r>
            <a:br>
              <a:rPr lang="en-US" altLang="ko-KR" sz="1200" b="1" spc="0" dirty="0"/>
            </a:br>
            <a:r>
              <a:rPr lang="en-US" altLang="ko-KR" sz="1200" b="1" spc="0" dirty="0" err="1"/>
              <a:t>ShiftInputStream</a:t>
            </a:r>
            <a:r>
              <a:rPr lang="en-US" altLang="ko-KR" sz="1200" b="1" spc="0" dirty="0"/>
              <a:t>(</a:t>
            </a:r>
            <a:r>
              <a:rPr lang="en-US" altLang="ko-KR" sz="1200" b="1" spc="0" dirty="0" err="1"/>
              <a:t>InputStream</a:t>
            </a:r>
            <a:r>
              <a:rPr lang="en-US" altLang="ko-KR" sz="1200" b="1" spc="0" dirty="0"/>
              <a:t> in)                        // offset = 0 </a:t>
            </a:r>
            <a:r>
              <a:rPr lang="ko-KR" altLang="en-US" sz="1200" b="1" spc="0" dirty="0"/>
              <a:t>버전</a:t>
            </a:r>
          </a:p>
          <a:p>
            <a:pPr marL="361338" lvl="1" indent="0">
              <a:buNone/>
            </a:pPr>
            <a:r>
              <a:rPr lang="en-US" altLang="ko-KR" sz="1200" spc="0" dirty="0"/>
              <a:t>Ex) offset = 1</a:t>
            </a:r>
            <a:r>
              <a:rPr lang="ko-KR" altLang="en-US" sz="1200" spc="0" dirty="0"/>
              <a:t>에 대해</a:t>
            </a:r>
            <a:r>
              <a:rPr lang="en-US" altLang="ko-KR" sz="1200" spc="0" dirty="0"/>
              <a:t>,  input: Software</a:t>
            </a:r>
            <a:r>
              <a:rPr lang="ko-KR" altLang="en-US" sz="1200" spc="0" dirty="0"/>
              <a:t>이면 </a:t>
            </a:r>
            <a:r>
              <a:rPr lang="en-US" altLang="ko-KR" sz="1200" spc="0" dirty="0"/>
              <a:t>result: </a:t>
            </a:r>
            <a:r>
              <a:rPr lang="en-US" altLang="ko-KR" sz="1200" spc="0" dirty="0" err="1"/>
              <a:t>Tpguxbsf</a:t>
            </a:r>
            <a:r>
              <a:rPr lang="en-US" altLang="ko-KR" sz="1200" spc="0" dirty="0"/>
              <a:t> (S </a:t>
            </a:r>
            <a:r>
              <a:rPr lang="ko-KR" altLang="en-US" sz="1200" spc="0" dirty="0"/>
              <a:t>→</a:t>
            </a:r>
            <a:r>
              <a:rPr lang="en-US" altLang="ko-KR" sz="1200" spc="0" dirty="0"/>
              <a:t> T, o </a:t>
            </a:r>
            <a:r>
              <a:rPr lang="ko-KR" altLang="en-US" sz="1200" spc="0" dirty="0"/>
              <a:t>→</a:t>
            </a:r>
            <a:r>
              <a:rPr lang="en-US" altLang="ko-KR" sz="1200" spc="0" dirty="0"/>
              <a:t> p</a:t>
            </a:r>
            <a:r>
              <a:rPr lang="ko-KR" altLang="en-US" sz="1200" spc="0" dirty="0"/>
              <a:t>로 변환</a:t>
            </a:r>
            <a:r>
              <a:rPr lang="en-US" altLang="ko-KR" sz="1200" spc="0" dirty="0"/>
              <a:t>)</a:t>
            </a:r>
          </a:p>
          <a:p>
            <a:pPr marL="361338" lvl="1" indent="0">
              <a:lnSpc>
                <a:spcPct val="70000"/>
              </a:lnSpc>
              <a:buNone/>
            </a:pPr>
            <a:r>
              <a:rPr lang="en-US" altLang="ko-KR" sz="1200" spc="0" dirty="0"/>
              <a:t>     offset = -1</a:t>
            </a:r>
            <a:r>
              <a:rPr lang="ko-KR" altLang="en-US" sz="1200" spc="0" dirty="0"/>
              <a:t>에 대해</a:t>
            </a:r>
            <a:r>
              <a:rPr lang="en-US" altLang="ko-KR" sz="1200" spc="0" dirty="0"/>
              <a:t>,  input: A12ZXa# </a:t>
            </a:r>
            <a:r>
              <a:rPr lang="ko-KR" altLang="en-US" sz="1200" spc="0" dirty="0"/>
              <a:t>이면 </a:t>
            </a:r>
            <a:r>
              <a:rPr lang="en-US" altLang="ko-KR" sz="1200" spc="0" dirty="0"/>
              <a:t>result: Z12YWz# (A </a:t>
            </a:r>
            <a:r>
              <a:rPr lang="ko-KR" altLang="en-US" sz="1200" spc="0" dirty="0"/>
              <a:t>→</a:t>
            </a:r>
            <a:r>
              <a:rPr lang="en-US" altLang="ko-KR" sz="1200" spc="0" dirty="0"/>
              <a:t> Z</a:t>
            </a:r>
            <a:r>
              <a:rPr lang="ko-KR" altLang="en-US" sz="1200" spc="0" dirty="0"/>
              <a:t>로 변환</a:t>
            </a:r>
            <a:r>
              <a:rPr lang="en-US" altLang="ko-KR" sz="1200" spc="0" dirty="0"/>
              <a:t>, </a:t>
            </a:r>
            <a:r>
              <a:rPr lang="ko-KR" altLang="en-US" sz="1200" b="1" spc="0" dirty="0">
                <a:solidFill>
                  <a:srgbClr val="0070C0"/>
                </a:solidFill>
              </a:rPr>
              <a:t>숫자</a:t>
            </a:r>
            <a:r>
              <a:rPr lang="en-US" altLang="ko-KR" sz="1200" b="1" spc="0" dirty="0">
                <a:solidFill>
                  <a:srgbClr val="0070C0"/>
                </a:solidFill>
              </a:rPr>
              <a:t>, </a:t>
            </a:r>
            <a:r>
              <a:rPr lang="ko-KR" altLang="en-US" sz="1200" b="1" spc="0" dirty="0">
                <a:solidFill>
                  <a:srgbClr val="0070C0"/>
                </a:solidFill>
              </a:rPr>
              <a:t>특수문자 제외</a:t>
            </a:r>
            <a:r>
              <a:rPr lang="en-US" altLang="ko-KR" sz="1200" spc="0" dirty="0"/>
              <a:t>)</a:t>
            </a:r>
          </a:p>
          <a:p>
            <a:pPr marL="361338" lvl="1" indent="0">
              <a:lnSpc>
                <a:spcPct val="70000"/>
              </a:lnSpc>
              <a:buNone/>
            </a:pPr>
            <a:r>
              <a:rPr lang="en-US" altLang="ko-KR" sz="1200" spc="0" dirty="0"/>
              <a:t>Hint) </a:t>
            </a:r>
            <a:r>
              <a:rPr lang="en-US" altLang="ko-KR" sz="1200" spc="0" dirty="0">
                <a:highlight>
                  <a:srgbClr val="CCFFCC"/>
                </a:highlight>
              </a:rPr>
              <a:t>private static final int A = 65, Z = 90, a = 97, z = 122;</a:t>
            </a:r>
            <a:r>
              <a:rPr lang="en-US" altLang="ko-KR" sz="1200" spc="0" dirty="0"/>
              <a:t> </a:t>
            </a:r>
            <a:r>
              <a:rPr lang="ko-KR" altLang="en-US" sz="1200" spc="0" dirty="0"/>
              <a:t>이렇게 정의해서 사용</a:t>
            </a:r>
            <a:endParaRPr lang="en-US" altLang="ko-KR" sz="1200" spc="0" dirty="0"/>
          </a:p>
        </p:txBody>
      </p:sp>
      <p:sp>
        <p:nvSpPr>
          <p:cNvPr id="3" name="제목 2"/>
          <p:cNvSpPr>
            <a:spLocks noGrp="1"/>
          </p:cNvSpPr>
          <p:nvPr>
            <p:ph type="title"/>
          </p:nvPr>
        </p:nvSpPr>
        <p:spPr/>
        <p:txBody>
          <a:bodyPr/>
          <a:lstStyle/>
          <a:p>
            <a:r>
              <a:rPr lang="en-US" altLang="ko-KR" spc="0" dirty="0"/>
              <a:t>[Practice 8-2] Decorator : </a:t>
            </a:r>
            <a:r>
              <a:rPr lang="ko-KR" altLang="en-US" spc="0" dirty="0"/>
              <a:t>새로운 </a:t>
            </a:r>
            <a:r>
              <a:rPr lang="en-US" altLang="ko-KR" spc="0" dirty="0"/>
              <a:t>Stream</a:t>
            </a:r>
            <a:r>
              <a:rPr lang="ko-KR" altLang="en-US" spc="0" dirty="0"/>
              <a:t> </a:t>
            </a:r>
            <a:r>
              <a:rPr lang="en-US" altLang="ko-KR" spc="0" dirty="0"/>
              <a:t>Filter </a:t>
            </a:r>
            <a:r>
              <a:rPr lang="ko-KR" altLang="en-US" spc="0" dirty="0"/>
              <a:t>개발 </a:t>
            </a:r>
          </a:p>
        </p:txBody>
      </p:sp>
      <p:sp>
        <p:nvSpPr>
          <p:cNvPr id="6" name="직사각형 5"/>
          <p:cNvSpPr/>
          <p:nvPr/>
        </p:nvSpPr>
        <p:spPr>
          <a:xfrm>
            <a:off x="251520" y="776376"/>
            <a:ext cx="4248472" cy="264688"/>
          </a:xfrm>
          <a:prstGeom prst="rect">
            <a:avLst/>
          </a:prstGeom>
          <a:solidFill>
            <a:schemeClr val="accent1">
              <a:lumMod val="20000"/>
              <a:lumOff val="80000"/>
            </a:schemeClr>
          </a:solidFill>
        </p:spPr>
        <p:txBody>
          <a:bodyPr wrap="square">
            <a:spAutoFit/>
          </a:bodyPr>
          <a:lstStyle/>
          <a:p>
            <a:pPr>
              <a:lnSpc>
                <a:spcPct val="80000"/>
              </a:lnSpc>
            </a:pPr>
            <a:r>
              <a:rPr lang="en-US" altLang="ko-KR" sz="1400" b="1" dirty="0"/>
              <a:t>[</a:t>
            </a:r>
            <a:r>
              <a:rPr lang="ko-KR" altLang="en-US" sz="1400" b="1" dirty="0"/>
              <a:t>실습 코드</a:t>
            </a:r>
            <a:r>
              <a:rPr lang="en-US" altLang="ko-KR" sz="1400" b="1" dirty="0"/>
              <a:t>] </a:t>
            </a:r>
            <a:r>
              <a:rPr lang="en-US" altLang="ko-KR" sz="1400" dirty="0"/>
              <a:t>8-2_headfirst.decorator.io.skeleton</a:t>
            </a:r>
          </a:p>
        </p:txBody>
      </p:sp>
      <p:sp>
        <p:nvSpPr>
          <p:cNvPr id="10" name="직사각형 9">
            <a:extLst>
              <a:ext uri="{FF2B5EF4-FFF2-40B4-BE49-F238E27FC236}">
                <a16:creationId xmlns:a16="http://schemas.microsoft.com/office/drawing/2014/main" id="{BFB61029-BE79-F23A-E40E-6E133037FCDF}"/>
              </a:ext>
            </a:extLst>
          </p:cNvPr>
          <p:cNvSpPr/>
          <p:nvPr/>
        </p:nvSpPr>
        <p:spPr>
          <a:xfrm>
            <a:off x="7164288" y="4659982"/>
            <a:ext cx="1296144" cy="260166"/>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100" dirty="0" err="1">
                <a:solidFill>
                  <a:srgbClr val="FF0000"/>
                </a:solidFill>
                <a:latin typeface="+mn-ea"/>
              </a:rPr>
              <a:t>ShiftInputStream</a:t>
            </a:r>
            <a:endParaRPr lang="ko-KR" altLang="en-US" sz="1100" dirty="0">
              <a:solidFill>
                <a:srgbClr val="FF0000"/>
              </a:solidFill>
              <a:latin typeface="+mn-ea"/>
            </a:endParaRPr>
          </a:p>
        </p:txBody>
      </p:sp>
      <p:grpSp>
        <p:nvGrpSpPr>
          <p:cNvPr id="11" name="그룹 10">
            <a:extLst>
              <a:ext uri="{FF2B5EF4-FFF2-40B4-BE49-F238E27FC236}">
                <a16:creationId xmlns:a16="http://schemas.microsoft.com/office/drawing/2014/main" id="{3EAEB7F2-D794-4469-C3A4-1CEAFED32F3F}"/>
              </a:ext>
            </a:extLst>
          </p:cNvPr>
          <p:cNvGrpSpPr/>
          <p:nvPr/>
        </p:nvGrpSpPr>
        <p:grpSpPr>
          <a:xfrm flipH="1">
            <a:off x="5893246" y="4129747"/>
            <a:ext cx="1415058" cy="530235"/>
            <a:chOff x="827579" y="1994842"/>
            <a:chExt cx="1028816" cy="792936"/>
          </a:xfrm>
        </p:grpSpPr>
        <p:cxnSp>
          <p:nvCxnSpPr>
            <p:cNvPr id="12" name="직선 화살표 연결선 11">
              <a:extLst>
                <a:ext uri="{FF2B5EF4-FFF2-40B4-BE49-F238E27FC236}">
                  <a16:creationId xmlns:a16="http://schemas.microsoft.com/office/drawing/2014/main" id="{F165BDD0-523B-F425-C4BE-A3C493C25C36}"/>
                </a:ext>
              </a:extLst>
            </p:cNvPr>
            <p:cNvCxnSpPr>
              <a:endCxn id="13" idx="3"/>
            </p:cNvCxnSpPr>
            <p:nvPr/>
          </p:nvCxnSpPr>
          <p:spPr>
            <a:xfrm flipV="1">
              <a:off x="827579" y="2106269"/>
              <a:ext cx="905733" cy="681509"/>
            </a:xfrm>
            <a:prstGeom prst="straightConnector1">
              <a:avLst/>
            </a:prstGeom>
            <a:ln>
              <a:solidFill>
                <a:srgbClr val="FF0000"/>
              </a:solidFill>
              <a:prstDash val="dash"/>
              <a:tailEnd type="none" w="lg" len="lg"/>
            </a:ln>
          </p:spPr>
          <p:style>
            <a:lnRef idx="1">
              <a:schemeClr val="accent1"/>
            </a:lnRef>
            <a:fillRef idx="0">
              <a:schemeClr val="accent1"/>
            </a:fillRef>
            <a:effectRef idx="0">
              <a:schemeClr val="accent1"/>
            </a:effectRef>
            <a:fontRef idx="minor">
              <a:schemeClr val="tx1"/>
            </a:fontRef>
          </p:style>
        </p:cxnSp>
        <p:sp>
          <p:nvSpPr>
            <p:cNvPr id="13" name="이등변 삼각형 12">
              <a:extLst>
                <a:ext uri="{FF2B5EF4-FFF2-40B4-BE49-F238E27FC236}">
                  <a16:creationId xmlns:a16="http://schemas.microsoft.com/office/drawing/2014/main" id="{4301039E-691C-676B-C725-AF7CC0F7670F}"/>
                </a:ext>
              </a:extLst>
            </p:cNvPr>
            <p:cNvSpPr/>
            <p:nvPr/>
          </p:nvSpPr>
          <p:spPr>
            <a:xfrm rot="3968599">
              <a:off x="1728326" y="1994335"/>
              <a:ext cx="127561" cy="128576"/>
            </a:xfrm>
            <a:prstGeom prst="triangl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grpSp>
      <p:sp>
        <p:nvSpPr>
          <p:cNvPr id="5" name="슬라이드 번호 개체 틀 4">
            <a:extLst>
              <a:ext uri="{FF2B5EF4-FFF2-40B4-BE49-F238E27FC236}">
                <a16:creationId xmlns:a16="http://schemas.microsoft.com/office/drawing/2014/main" id="{D2BC989A-140B-238E-A2C2-FFACD9A86EC4}"/>
              </a:ext>
            </a:extLst>
          </p:cNvPr>
          <p:cNvSpPr>
            <a:spLocks noGrp="1"/>
          </p:cNvSpPr>
          <p:nvPr>
            <p:ph type="sldNum" sz="quarter" idx="4"/>
          </p:nvPr>
        </p:nvSpPr>
        <p:spPr/>
        <p:txBody>
          <a:bodyPr/>
          <a:lstStyle/>
          <a:p>
            <a:fld id="{AF33F0E2-3294-4740-8E22-F3EF5A8BEBAB}" type="slidenum">
              <a:rPr lang="en-US" altLang="ko-KR" smtClean="0"/>
              <a:pPr/>
              <a:t>95</a:t>
            </a:fld>
            <a:endParaRPr lang="en-US" altLang="ko-KR" dirty="0"/>
          </a:p>
        </p:txBody>
      </p:sp>
      <p:sp>
        <p:nvSpPr>
          <p:cNvPr id="8" name="TextBox 7">
            <a:extLst>
              <a:ext uri="{FF2B5EF4-FFF2-40B4-BE49-F238E27FC236}">
                <a16:creationId xmlns:a16="http://schemas.microsoft.com/office/drawing/2014/main" id="{BA9BA727-61FC-65F3-EEE3-190FEFC34A20}"/>
              </a:ext>
            </a:extLst>
          </p:cNvPr>
          <p:cNvSpPr txBox="1"/>
          <p:nvPr/>
        </p:nvSpPr>
        <p:spPr>
          <a:xfrm>
            <a:off x="6525474" y="3014831"/>
            <a:ext cx="1646926" cy="276999"/>
          </a:xfrm>
          <a:prstGeom prst="rect">
            <a:avLst/>
          </a:prstGeom>
          <a:noFill/>
        </p:spPr>
        <p:txBody>
          <a:bodyPr wrap="none" rtlCol="0">
            <a:spAutoFit/>
          </a:bodyPr>
          <a:lstStyle/>
          <a:p>
            <a:r>
              <a:rPr lang="en-US" altLang="ko-KR" sz="1200" dirty="0">
                <a:highlight>
                  <a:srgbClr val="CCFFCC"/>
                </a:highlight>
              </a:rPr>
              <a:t>private int shift(int c)</a:t>
            </a:r>
            <a:endParaRPr lang="ko-KR" altLang="en-US" sz="1200" dirty="0">
              <a:highlight>
                <a:srgbClr val="CCFFCC"/>
              </a:highlight>
            </a:endParaRPr>
          </a:p>
        </p:txBody>
      </p:sp>
    </p:spTree>
    <p:extLst>
      <p:ext uri="{BB962C8B-B14F-4D97-AF65-F5344CB8AC3E}">
        <p14:creationId xmlns:p14="http://schemas.microsoft.com/office/powerpoint/2010/main" val="50293318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a:xfrm>
            <a:off x="251520" y="908720"/>
            <a:ext cx="8712968" cy="3895278"/>
          </a:xfrm>
        </p:spPr>
        <p:txBody>
          <a:bodyPr>
            <a:noAutofit/>
          </a:bodyPr>
          <a:lstStyle/>
          <a:p>
            <a:pPr marL="91463" indent="0">
              <a:lnSpc>
                <a:spcPct val="70000"/>
              </a:lnSpc>
              <a:buNone/>
            </a:pPr>
            <a:r>
              <a:rPr lang="en-US" altLang="ko-KR" sz="1100" dirty="0">
                <a:latin typeface="Consolas" panose="020B0609020204030204" pitchFamily="49" charset="0"/>
              </a:rPr>
              <a:t>Public class </a:t>
            </a:r>
            <a:r>
              <a:rPr lang="en-US" altLang="ko-KR" sz="1100" dirty="0" err="1">
                <a:latin typeface="Consolas" panose="020B0609020204030204" pitchFamily="49" charset="0"/>
              </a:rPr>
              <a:t>LowerCaseInputStream</a:t>
            </a:r>
            <a:r>
              <a:rPr lang="en-US" altLang="ko-KR" sz="1100" dirty="0">
                <a:latin typeface="Consolas" panose="020B0609020204030204" pitchFamily="49" charset="0"/>
              </a:rPr>
              <a:t> </a:t>
            </a:r>
            <a:r>
              <a:rPr lang="en-US" altLang="ko-KR" sz="1100" dirty="0">
                <a:solidFill>
                  <a:srgbClr val="FF0000"/>
                </a:solidFill>
                <a:latin typeface="Consolas" panose="020B0609020204030204" pitchFamily="49" charset="0"/>
              </a:rPr>
              <a:t>extends </a:t>
            </a:r>
            <a:r>
              <a:rPr lang="en-US" altLang="ko-KR" sz="1100" dirty="0" err="1">
                <a:solidFill>
                  <a:srgbClr val="FF0000"/>
                </a:solidFill>
                <a:latin typeface="Consolas" panose="020B0609020204030204" pitchFamily="49" charset="0"/>
              </a:rPr>
              <a:t>FilterInputStream</a:t>
            </a:r>
            <a:r>
              <a:rPr lang="en-US" altLang="ko-KR" sz="1100" dirty="0">
                <a:latin typeface="Consolas" panose="020B0609020204030204" pitchFamily="49" charset="0"/>
              </a:rPr>
              <a:t> {</a:t>
            </a:r>
          </a:p>
          <a:p>
            <a:pPr marL="91463" indent="0">
              <a:lnSpc>
                <a:spcPct val="70000"/>
              </a:lnSpc>
              <a:buNone/>
            </a:pPr>
            <a:r>
              <a:rPr lang="en-US" altLang="ko-KR" sz="1100" dirty="0">
                <a:latin typeface="Consolas" panose="020B0609020204030204" pitchFamily="49" charset="0"/>
              </a:rPr>
              <a:t>   public </a:t>
            </a:r>
            <a:r>
              <a:rPr lang="en-US" altLang="ko-KR" sz="1100" dirty="0" err="1">
                <a:latin typeface="Consolas" panose="020B0609020204030204" pitchFamily="49" charset="0"/>
              </a:rPr>
              <a:t>LowerCaseInputStream</a:t>
            </a:r>
            <a:r>
              <a:rPr lang="en-US" altLang="ko-KR" sz="1100" dirty="0">
                <a:latin typeface="Consolas" panose="020B0609020204030204" pitchFamily="49" charset="0"/>
              </a:rPr>
              <a:t>(</a:t>
            </a:r>
            <a:r>
              <a:rPr lang="en-US" altLang="ko-KR" sz="1100" dirty="0" err="1">
                <a:latin typeface="Consolas" panose="020B0609020204030204" pitchFamily="49" charset="0"/>
              </a:rPr>
              <a:t>InputStream</a:t>
            </a:r>
            <a:r>
              <a:rPr lang="en-US" altLang="ko-KR" sz="1100" dirty="0">
                <a:latin typeface="Consolas" panose="020B0609020204030204" pitchFamily="49" charset="0"/>
              </a:rPr>
              <a:t> in) {</a:t>
            </a:r>
          </a:p>
          <a:p>
            <a:pPr marL="91463" indent="0">
              <a:lnSpc>
                <a:spcPct val="70000"/>
              </a:lnSpc>
              <a:buNone/>
            </a:pPr>
            <a:r>
              <a:rPr lang="en-US" altLang="ko-KR" sz="1100" dirty="0">
                <a:latin typeface="Consolas" panose="020B0609020204030204" pitchFamily="49" charset="0"/>
              </a:rPr>
              <a:t>      </a:t>
            </a:r>
            <a:r>
              <a:rPr lang="en-US" altLang="ko-KR" sz="1100" dirty="0">
                <a:solidFill>
                  <a:srgbClr val="FF0000"/>
                </a:solidFill>
                <a:latin typeface="Consolas" panose="020B0609020204030204" pitchFamily="49" charset="0"/>
              </a:rPr>
              <a:t>super(in)</a:t>
            </a:r>
            <a:r>
              <a:rPr lang="en-US" altLang="ko-KR" sz="1100" dirty="0">
                <a:latin typeface="Consolas" panose="020B0609020204030204" pitchFamily="49" charset="0"/>
              </a:rPr>
              <a:t>;</a:t>
            </a:r>
          </a:p>
          <a:p>
            <a:pPr marL="91463" indent="0">
              <a:lnSpc>
                <a:spcPct val="70000"/>
              </a:lnSpc>
              <a:buNone/>
            </a:pPr>
            <a:r>
              <a:rPr lang="en-US" altLang="ko-KR" sz="1100" dirty="0">
                <a:latin typeface="Consolas" panose="020B0609020204030204" pitchFamily="49" charset="0"/>
              </a:rPr>
              <a:t>   }</a:t>
            </a:r>
          </a:p>
          <a:p>
            <a:pPr marL="91463" indent="0">
              <a:lnSpc>
                <a:spcPct val="70000"/>
              </a:lnSpc>
              <a:buNone/>
            </a:pPr>
            <a:endParaRPr lang="en-US" altLang="ko-KR" sz="1100" dirty="0">
              <a:latin typeface="Consolas" panose="020B0609020204030204" pitchFamily="49" charset="0"/>
            </a:endParaRPr>
          </a:p>
          <a:p>
            <a:pPr marL="91463" indent="0">
              <a:lnSpc>
                <a:spcPct val="70000"/>
              </a:lnSpc>
              <a:buNone/>
            </a:pPr>
            <a:r>
              <a:rPr lang="en-US" altLang="ko-KR" sz="1100" dirty="0">
                <a:latin typeface="Consolas" panose="020B0609020204030204" pitchFamily="49" charset="0"/>
              </a:rPr>
              <a:t>   public </a:t>
            </a:r>
            <a:r>
              <a:rPr lang="en-US" altLang="ko-KR" sz="1100" dirty="0" err="1">
                <a:latin typeface="Consolas" panose="020B0609020204030204" pitchFamily="49" charset="0"/>
              </a:rPr>
              <a:t>int</a:t>
            </a:r>
            <a:r>
              <a:rPr lang="en-US" altLang="ko-KR" sz="1100" dirty="0">
                <a:latin typeface="Consolas" panose="020B0609020204030204" pitchFamily="49" charset="0"/>
              </a:rPr>
              <a:t> read() throws </a:t>
            </a:r>
            <a:r>
              <a:rPr lang="en-US" altLang="ko-KR" sz="1100" dirty="0" err="1">
                <a:latin typeface="Consolas" panose="020B0609020204030204" pitchFamily="49" charset="0"/>
              </a:rPr>
              <a:t>IOException</a:t>
            </a:r>
            <a:r>
              <a:rPr lang="en-US" altLang="ko-KR" sz="1100" dirty="0">
                <a:latin typeface="Consolas" panose="020B0609020204030204" pitchFamily="49" charset="0"/>
              </a:rPr>
              <a:t> {</a:t>
            </a:r>
          </a:p>
          <a:p>
            <a:pPr marL="91463" indent="0">
              <a:lnSpc>
                <a:spcPct val="70000"/>
              </a:lnSpc>
              <a:buNone/>
            </a:pPr>
            <a:r>
              <a:rPr lang="en-US" altLang="ko-KR" sz="1100" dirty="0">
                <a:latin typeface="Consolas" panose="020B0609020204030204" pitchFamily="49" charset="0"/>
              </a:rPr>
              <a:t>      </a:t>
            </a:r>
            <a:r>
              <a:rPr lang="en-US" altLang="ko-KR" sz="1100" dirty="0" err="1">
                <a:solidFill>
                  <a:srgbClr val="FF0000"/>
                </a:solidFill>
                <a:latin typeface="Consolas" panose="020B0609020204030204" pitchFamily="49" charset="0"/>
              </a:rPr>
              <a:t>int</a:t>
            </a:r>
            <a:r>
              <a:rPr lang="en-US" altLang="ko-KR" sz="1100" dirty="0">
                <a:solidFill>
                  <a:srgbClr val="FF0000"/>
                </a:solidFill>
                <a:latin typeface="Consolas" panose="020B0609020204030204" pitchFamily="49" charset="0"/>
              </a:rPr>
              <a:t> c = </a:t>
            </a:r>
            <a:r>
              <a:rPr lang="en-US" altLang="ko-KR" sz="1100" dirty="0" err="1">
                <a:solidFill>
                  <a:srgbClr val="FF0000"/>
                </a:solidFill>
                <a:latin typeface="Consolas" panose="020B0609020204030204" pitchFamily="49" charset="0"/>
              </a:rPr>
              <a:t>super.read</a:t>
            </a:r>
            <a:r>
              <a:rPr lang="en-US" altLang="ko-KR" sz="1100" dirty="0">
                <a:solidFill>
                  <a:srgbClr val="FF0000"/>
                </a:solidFill>
                <a:latin typeface="Consolas" panose="020B0609020204030204" pitchFamily="49" charset="0"/>
              </a:rPr>
              <a:t>();</a:t>
            </a:r>
          </a:p>
          <a:p>
            <a:pPr marL="91463" indent="0">
              <a:lnSpc>
                <a:spcPct val="70000"/>
              </a:lnSpc>
              <a:buNone/>
            </a:pPr>
            <a:r>
              <a:rPr lang="en-US" altLang="ko-KR" sz="1100" dirty="0">
                <a:latin typeface="Consolas" panose="020B0609020204030204" pitchFamily="49" charset="0"/>
              </a:rPr>
              <a:t>      return (c == -1 ? c : </a:t>
            </a:r>
            <a:r>
              <a:rPr lang="en-US" altLang="ko-KR" sz="1100" dirty="0" err="1">
                <a:latin typeface="Consolas" panose="020B0609020204030204" pitchFamily="49" charset="0"/>
              </a:rPr>
              <a:t>Character.toLowerCase</a:t>
            </a:r>
            <a:r>
              <a:rPr lang="en-US" altLang="ko-KR" sz="1100" dirty="0">
                <a:latin typeface="Consolas" panose="020B0609020204030204" pitchFamily="49" charset="0"/>
              </a:rPr>
              <a:t>((char)c));</a:t>
            </a:r>
          </a:p>
          <a:p>
            <a:pPr marL="91463" indent="0">
              <a:lnSpc>
                <a:spcPct val="70000"/>
              </a:lnSpc>
              <a:buNone/>
            </a:pPr>
            <a:r>
              <a:rPr lang="en-US" altLang="ko-KR" sz="1100" dirty="0">
                <a:latin typeface="Consolas" panose="020B0609020204030204" pitchFamily="49" charset="0"/>
              </a:rPr>
              <a:t>   }</a:t>
            </a:r>
          </a:p>
          <a:p>
            <a:pPr marL="91463" indent="0">
              <a:lnSpc>
                <a:spcPct val="70000"/>
              </a:lnSpc>
              <a:buNone/>
            </a:pPr>
            <a:endParaRPr lang="en-US" altLang="ko-KR" sz="1100" dirty="0">
              <a:latin typeface="Consolas" panose="020B0609020204030204" pitchFamily="49" charset="0"/>
            </a:endParaRPr>
          </a:p>
          <a:p>
            <a:pPr marL="91463" indent="0">
              <a:lnSpc>
                <a:spcPct val="70000"/>
              </a:lnSpc>
              <a:buNone/>
            </a:pPr>
            <a:r>
              <a:rPr lang="en-US" altLang="ko-KR" sz="1100" dirty="0">
                <a:latin typeface="Consolas" panose="020B0609020204030204" pitchFamily="49" charset="0"/>
              </a:rPr>
              <a:t>   public </a:t>
            </a:r>
            <a:r>
              <a:rPr lang="en-US" altLang="ko-KR" sz="1100" dirty="0" err="1">
                <a:latin typeface="Consolas" panose="020B0609020204030204" pitchFamily="49" charset="0"/>
              </a:rPr>
              <a:t>int</a:t>
            </a:r>
            <a:r>
              <a:rPr lang="en-US" altLang="ko-KR" sz="1100" dirty="0">
                <a:latin typeface="Consolas" panose="020B0609020204030204" pitchFamily="49" charset="0"/>
              </a:rPr>
              <a:t> read(byte[] b, </a:t>
            </a:r>
            <a:r>
              <a:rPr lang="en-US" altLang="ko-KR" sz="1100" dirty="0" err="1">
                <a:latin typeface="Consolas" panose="020B0609020204030204" pitchFamily="49" charset="0"/>
              </a:rPr>
              <a:t>int</a:t>
            </a:r>
            <a:r>
              <a:rPr lang="en-US" altLang="ko-KR" sz="1100" dirty="0">
                <a:latin typeface="Consolas" panose="020B0609020204030204" pitchFamily="49" charset="0"/>
              </a:rPr>
              <a:t> offset, </a:t>
            </a:r>
            <a:r>
              <a:rPr lang="en-US" altLang="ko-KR" sz="1100" dirty="0" err="1">
                <a:latin typeface="Consolas" panose="020B0609020204030204" pitchFamily="49" charset="0"/>
              </a:rPr>
              <a:t>int</a:t>
            </a:r>
            <a:r>
              <a:rPr lang="en-US" altLang="ko-KR" sz="1100" dirty="0">
                <a:latin typeface="Consolas" panose="020B0609020204030204" pitchFamily="49" charset="0"/>
              </a:rPr>
              <a:t> </a:t>
            </a:r>
            <a:r>
              <a:rPr lang="en-US" altLang="ko-KR" sz="1100" dirty="0" err="1">
                <a:latin typeface="Consolas" panose="020B0609020204030204" pitchFamily="49" charset="0"/>
              </a:rPr>
              <a:t>len</a:t>
            </a:r>
            <a:r>
              <a:rPr lang="en-US" altLang="ko-KR" sz="1100" dirty="0">
                <a:latin typeface="Consolas" panose="020B0609020204030204" pitchFamily="49" charset="0"/>
              </a:rPr>
              <a:t>) throws </a:t>
            </a:r>
            <a:r>
              <a:rPr lang="en-US" altLang="ko-KR" sz="1100" dirty="0" err="1">
                <a:latin typeface="Consolas" panose="020B0609020204030204" pitchFamily="49" charset="0"/>
              </a:rPr>
              <a:t>IOException</a:t>
            </a:r>
            <a:r>
              <a:rPr lang="en-US" altLang="ko-KR" sz="1100" dirty="0">
                <a:latin typeface="Consolas" panose="020B0609020204030204" pitchFamily="49" charset="0"/>
              </a:rPr>
              <a:t> {</a:t>
            </a:r>
          </a:p>
          <a:p>
            <a:pPr marL="91463" indent="0">
              <a:lnSpc>
                <a:spcPct val="70000"/>
              </a:lnSpc>
              <a:buNone/>
            </a:pPr>
            <a:r>
              <a:rPr lang="en-US" altLang="ko-KR" sz="1100" dirty="0">
                <a:latin typeface="Consolas" panose="020B0609020204030204" pitchFamily="49" charset="0"/>
              </a:rPr>
              <a:t>      </a:t>
            </a:r>
            <a:r>
              <a:rPr lang="en-US" altLang="ko-KR" sz="1100" dirty="0" err="1">
                <a:latin typeface="Consolas" panose="020B0609020204030204" pitchFamily="49" charset="0"/>
              </a:rPr>
              <a:t>int</a:t>
            </a:r>
            <a:r>
              <a:rPr lang="en-US" altLang="ko-KR" sz="1100" dirty="0">
                <a:latin typeface="Consolas" panose="020B0609020204030204" pitchFamily="49" charset="0"/>
              </a:rPr>
              <a:t> result = </a:t>
            </a:r>
            <a:r>
              <a:rPr lang="en-US" altLang="ko-KR" sz="1100" dirty="0" err="1">
                <a:latin typeface="Consolas" panose="020B0609020204030204" pitchFamily="49" charset="0"/>
              </a:rPr>
              <a:t>super.read</a:t>
            </a:r>
            <a:r>
              <a:rPr lang="en-US" altLang="ko-KR" sz="1100" dirty="0">
                <a:latin typeface="Consolas" panose="020B0609020204030204" pitchFamily="49" charset="0"/>
              </a:rPr>
              <a:t>(b, offset, </a:t>
            </a:r>
            <a:r>
              <a:rPr lang="en-US" altLang="ko-KR" sz="1100" dirty="0" err="1">
                <a:latin typeface="Consolas" panose="020B0609020204030204" pitchFamily="49" charset="0"/>
              </a:rPr>
              <a:t>len</a:t>
            </a:r>
            <a:r>
              <a:rPr lang="en-US" altLang="ko-KR" sz="1100" dirty="0">
                <a:latin typeface="Consolas" panose="020B0609020204030204" pitchFamily="49" charset="0"/>
              </a:rPr>
              <a:t>);</a:t>
            </a:r>
          </a:p>
          <a:p>
            <a:pPr marL="91463" indent="0">
              <a:lnSpc>
                <a:spcPct val="70000"/>
              </a:lnSpc>
              <a:buNone/>
            </a:pPr>
            <a:r>
              <a:rPr lang="en-US" altLang="ko-KR" sz="1100" dirty="0">
                <a:latin typeface="Consolas" panose="020B0609020204030204" pitchFamily="49" charset="0"/>
              </a:rPr>
              <a:t>      for (</a:t>
            </a:r>
            <a:r>
              <a:rPr lang="en-US" altLang="ko-KR" sz="1100" dirty="0" err="1">
                <a:latin typeface="Consolas" panose="020B0609020204030204" pitchFamily="49" charset="0"/>
              </a:rPr>
              <a:t>int</a:t>
            </a:r>
            <a:r>
              <a:rPr lang="en-US" altLang="ko-KR" sz="1100" dirty="0">
                <a:latin typeface="Consolas" panose="020B0609020204030204" pitchFamily="49" charset="0"/>
              </a:rPr>
              <a:t> </a:t>
            </a:r>
            <a:r>
              <a:rPr lang="en-US" altLang="ko-KR" sz="1100" dirty="0" err="1">
                <a:latin typeface="Consolas" panose="020B0609020204030204" pitchFamily="49" charset="0"/>
              </a:rPr>
              <a:t>i</a:t>
            </a:r>
            <a:r>
              <a:rPr lang="en-US" altLang="ko-KR" sz="1100" dirty="0">
                <a:latin typeface="Consolas" panose="020B0609020204030204" pitchFamily="49" charset="0"/>
              </a:rPr>
              <a:t> = offset; </a:t>
            </a:r>
            <a:r>
              <a:rPr lang="en-US" altLang="ko-KR" sz="1100" dirty="0" err="1">
                <a:latin typeface="Consolas" panose="020B0609020204030204" pitchFamily="49" charset="0"/>
              </a:rPr>
              <a:t>i</a:t>
            </a:r>
            <a:r>
              <a:rPr lang="en-US" altLang="ko-KR" sz="1100" dirty="0">
                <a:latin typeface="Consolas" panose="020B0609020204030204" pitchFamily="49" charset="0"/>
              </a:rPr>
              <a:t> &lt; </a:t>
            </a:r>
            <a:r>
              <a:rPr lang="en-US" altLang="ko-KR" sz="1100" dirty="0" err="1">
                <a:latin typeface="Consolas" panose="020B0609020204030204" pitchFamily="49" charset="0"/>
              </a:rPr>
              <a:t>offset+result</a:t>
            </a:r>
            <a:r>
              <a:rPr lang="en-US" altLang="ko-KR" sz="1100" dirty="0">
                <a:latin typeface="Consolas" panose="020B0609020204030204" pitchFamily="49" charset="0"/>
              </a:rPr>
              <a:t>; </a:t>
            </a:r>
            <a:r>
              <a:rPr lang="en-US" altLang="ko-KR" sz="1100" dirty="0" err="1">
                <a:latin typeface="Consolas" panose="020B0609020204030204" pitchFamily="49" charset="0"/>
              </a:rPr>
              <a:t>i</a:t>
            </a:r>
            <a:r>
              <a:rPr lang="en-US" altLang="ko-KR" sz="1100" dirty="0">
                <a:latin typeface="Consolas" panose="020B0609020204030204" pitchFamily="49" charset="0"/>
              </a:rPr>
              <a:t>++) {</a:t>
            </a:r>
          </a:p>
          <a:p>
            <a:pPr marL="91463" indent="0">
              <a:lnSpc>
                <a:spcPct val="70000"/>
              </a:lnSpc>
              <a:buNone/>
            </a:pPr>
            <a:r>
              <a:rPr lang="en-US" altLang="ko-KR" sz="1100" dirty="0">
                <a:latin typeface="Consolas" panose="020B0609020204030204" pitchFamily="49" charset="0"/>
              </a:rPr>
              <a:t>          b[</a:t>
            </a:r>
            <a:r>
              <a:rPr lang="en-US" altLang="ko-KR" sz="1100" dirty="0" err="1">
                <a:latin typeface="Consolas" panose="020B0609020204030204" pitchFamily="49" charset="0"/>
              </a:rPr>
              <a:t>i</a:t>
            </a:r>
            <a:r>
              <a:rPr lang="en-US" altLang="ko-KR" sz="1100" dirty="0">
                <a:latin typeface="Consolas" panose="020B0609020204030204" pitchFamily="49" charset="0"/>
              </a:rPr>
              <a:t>] = (byte)</a:t>
            </a:r>
            <a:r>
              <a:rPr lang="en-US" altLang="ko-KR" sz="1100" dirty="0" err="1">
                <a:latin typeface="Consolas" panose="020B0609020204030204" pitchFamily="49" charset="0"/>
              </a:rPr>
              <a:t>Character.toLowerCase</a:t>
            </a:r>
            <a:r>
              <a:rPr lang="en-US" altLang="ko-KR" sz="1100" dirty="0">
                <a:latin typeface="Consolas" panose="020B0609020204030204" pitchFamily="49" charset="0"/>
              </a:rPr>
              <a:t>((char)b[</a:t>
            </a:r>
            <a:r>
              <a:rPr lang="en-US" altLang="ko-KR" sz="1100" dirty="0" err="1">
                <a:latin typeface="Consolas" panose="020B0609020204030204" pitchFamily="49" charset="0"/>
              </a:rPr>
              <a:t>i</a:t>
            </a:r>
            <a:r>
              <a:rPr lang="en-US" altLang="ko-KR" sz="1100" dirty="0">
                <a:latin typeface="Consolas" panose="020B0609020204030204" pitchFamily="49" charset="0"/>
              </a:rPr>
              <a:t>]);</a:t>
            </a:r>
          </a:p>
          <a:p>
            <a:pPr marL="91463" indent="0">
              <a:lnSpc>
                <a:spcPct val="70000"/>
              </a:lnSpc>
              <a:buNone/>
            </a:pPr>
            <a:r>
              <a:rPr lang="en-US" altLang="ko-KR" sz="1100" dirty="0">
                <a:latin typeface="Consolas" panose="020B0609020204030204" pitchFamily="49" charset="0"/>
              </a:rPr>
              <a:t>      }</a:t>
            </a:r>
          </a:p>
          <a:p>
            <a:pPr marL="91463" indent="0">
              <a:lnSpc>
                <a:spcPct val="70000"/>
              </a:lnSpc>
              <a:buNone/>
            </a:pPr>
            <a:r>
              <a:rPr lang="en-US" altLang="ko-KR" sz="1100" dirty="0">
                <a:latin typeface="Consolas" panose="020B0609020204030204" pitchFamily="49" charset="0"/>
              </a:rPr>
              <a:t>      return result;</a:t>
            </a:r>
          </a:p>
          <a:p>
            <a:pPr marL="91463" indent="0">
              <a:lnSpc>
                <a:spcPct val="70000"/>
              </a:lnSpc>
              <a:buNone/>
            </a:pPr>
            <a:r>
              <a:rPr lang="en-US" altLang="ko-KR" sz="1100" dirty="0">
                <a:latin typeface="Consolas" panose="020B0609020204030204" pitchFamily="49" charset="0"/>
              </a:rPr>
              <a:t>   }</a:t>
            </a:r>
          </a:p>
          <a:p>
            <a:pPr marL="91463" indent="0">
              <a:lnSpc>
                <a:spcPct val="70000"/>
              </a:lnSpc>
              <a:buNone/>
            </a:pPr>
            <a:r>
              <a:rPr lang="en-US" altLang="ko-KR" sz="1100" dirty="0">
                <a:latin typeface="Consolas" panose="020B0609020204030204" pitchFamily="49" charset="0"/>
              </a:rPr>
              <a:t>}</a:t>
            </a:r>
            <a:endParaRPr lang="ko-KR" altLang="en-US" sz="1100" dirty="0">
              <a:latin typeface="Consolas" panose="020B0609020204030204" pitchFamily="49" charset="0"/>
            </a:endParaRPr>
          </a:p>
        </p:txBody>
      </p:sp>
      <p:sp>
        <p:nvSpPr>
          <p:cNvPr id="3" name="제목 2"/>
          <p:cNvSpPr>
            <a:spLocks noGrp="1"/>
          </p:cNvSpPr>
          <p:nvPr>
            <p:ph type="title"/>
          </p:nvPr>
        </p:nvSpPr>
        <p:spPr/>
        <p:txBody>
          <a:bodyPr vert="horz" lIns="75927" tIns="37964" rIns="75927" bIns="37964" rtlCol="0" anchor="ctr">
            <a:normAutofit/>
          </a:bodyPr>
          <a:lstStyle/>
          <a:p>
            <a:r>
              <a:rPr lang="pt-BR" altLang="ko-KR" spc="0" dirty="0"/>
              <a:t>A Sample of Java I/O Decorator</a:t>
            </a:r>
            <a:endParaRPr lang="ko-KR" altLang="en-US" spc="0" dirty="0"/>
          </a:p>
        </p:txBody>
      </p:sp>
    </p:spTree>
    <p:extLst>
      <p:ext uri="{BB962C8B-B14F-4D97-AF65-F5344CB8AC3E}">
        <p14:creationId xmlns:p14="http://schemas.microsoft.com/office/powerpoint/2010/main" val="10272898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a:xfrm>
            <a:off x="251520" y="908720"/>
            <a:ext cx="8712968" cy="3895278"/>
          </a:xfrm>
        </p:spPr>
        <p:txBody>
          <a:bodyPr>
            <a:noAutofit/>
          </a:bodyPr>
          <a:lstStyle/>
          <a:p>
            <a:pPr marL="91463" indent="0">
              <a:lnSpc>
                <a:spcPct val="70000"/>
              </a:lnSpc>
              <a:buNone/>
            </a:pPr>
            <a:r>
              <a:rPr lang="en-US" altLang="ko-KR" sz="1100" dirty="0">
                <a:latin typeface="Consolas" panose="020B0609020204030204" pitchFamily="49" charset="0"/>
              </a:rPr>
              <a:t>public class </a:t>
            </a:r>
            <a:r>
              <a:rPr lang="en-US" altLang="ko-KR" sz="1100" dirty="0" err="1">
                <a:latin typeface="Consolas" panose="020B0609020204030204" pitchFamily="49" charset="0"/>
              </a:rPr>
              <a:t>InputTest</a:t>
            </a:r>
            <a:r>
              <a:rPr lang="en-US" altLang="ko-KR" sz="1100" dirty="0">
                <a:latin typeface="Consolas" panose="020B0609020204030204" pitchFamily="49" charset="0"/>
              </a:rPr>
              <a:t> {</a:t>
            </a:r>
          </a:p>
          <a:p>
            <a:pPr marL="91463" indent="0">
              <a:lnSpc>
                <a:spcPct val="70000"/>
              </a:lnSpc>
              <a:buNone/>
            </a:pPr>
            <a:r>
              <a:rPr lang="en-US" altLang="ko-KR" sz="1100" dirty="0">
                <a:latin typeface="Consolas" panose="020B0609020204030204" pitchFamily="49" charset="0"/>
              </a:rPr>
              <a:t>    public static void main(String[] </a:t>
            </a:r>
            <a:r>
              <a:rPr lang="en-US" altLang="ko-KR" sz="1100" dirty="0" err="1">
                <a:latin typeface="Consolas" panose="020B0609020204030204" pitchFamily="49" charset="0"/>
              </a:rPr>
              <a:t>args</a:t>
            </a:r>
            <a:r>
              <a:rPr lang="en-US" altLang="ko-KR" sz="1100" dirty="0">
                <a:latin typeface="Consolas" panose="020B0609020204030204" pitchFamily="49" charset="0"/>
              </a:rPr>
              <a:t>) throws </a:t>
            </a:r>
            <a:r>
              <a:rPr lang="en-US" altLang="ko-KR" sz="1100" dirty="0" err="1">
                <a:latin typeface="Consolas" panose="020B0609020204030204" pitchFamily="49" charset="0"/>
              </a:rPr>
              <a:t>IOException</a:t>
            </a:r>
            <a:r>
              <a:rPr lang="en-US" altLang="ko-KR" sz="1100" dirty="0">
                <a:latin typeface="Consolas" panose="020B0609020204030204" pitchFamily="49" charset="0"/>
              </a:rPr>
              <a:t> {</a:t>
            </a:r>
          </a:p>
          <a:p>
            <a:pPr marL="91463" indent="0">
              <a:lnSpc>
                <a:spcPct val="70000"/>
              </a:lnSpc>
              <a:buNone/>
            </a:pPr>
            <a:r>
              <a:rPr lang="en-US" altLang="ko-KR" sz="1100" dirty="0">
                <a:latin typeface="Consolas" panose="020B0609020204030204" pitchFamily="49" charset="0"/>
              </a:rPr>
              <a:t>        </a:t>
            </a:r>
            <a:r>
              <a:rPr lang="en-US" altLang="ko-KR" sz="1100" dirty="0" err="1">
                <a:latin typeface="Consolas" panose="020B0609020204030204" pitchFamily="49" charset="0"/>
              </a:rPr>
              <a:t>int</a:t>
            </a:r>
            <a:r>
              <a:rPr lang="en-US" altLang="ko-KR" sz="1100" dirty="0">
                <a:latin typeface="Consolas" panose="020B0609020204030204" pitchFamily="49" charset="0"/>
              </a:rPr>
              <a:t> c;</a:t>
            </a:r>
          </a:p>
          <a:p>
            <a:pPr marL="91463" indent="0">
              <a:lnSpc>
                <a:spcPct val="70000"/>
              </a:lnSpc>
              <a:buNone/>
            </a:pPr>
            <a:r>
              <a:rPr lang="en-US" altLang="ko-KR" sz="1100" dirty="0">
                <a:latin typeface="Consolas" panose="020B0609020204030204" pitchFamily="49" charset="0"/>
              </a:rPr>
              <a:t>        try {</a:t>
            </a:r>
          </a:p>
          <a:p>
            <a:pPr marL="91463" indent="0">
              <a:lnSpc>
                <a:spcPct val="70000"/>
              </a:lnSpc>
              <a:buNone/>
            </a:pPr>
            <a:r>
              <a:rPr lang="en-US" altLang="ko-KR" sz="1100" dirty="0">
                <a:latin typeface="Consolas" panose="020B0609020204030204" pitchFamily="49" charset="0"/>
              </a:rPr>
              <a:t>            </a:t>
            </a:r>
            <a:r>
              <a:rPr lang="en-US" altLang="ko-KR" sz="1100" dirty="0" err="1">
                <a:solidFill>
                  <a:srgbClr val="FF0000"/>
                </a:solidFill>
                <a:latin typeface="Consolas" panose="020B0609020204030204" pitchFamily="49" charset="0"/>
              </a:rPr>
              <a:t>InputStream</a:t>
            </a:r>
            <a:r>
              <a:rPr lang="en-US" altLang="ko-KR" sz="1100" dirty="0">
                <a:solidFill>
                  <a:srgbClr val="FF0000"/>
                </a:solidFill>
                <a:latin typeface="Consolas" panose="020B0609020204030204" pitchFamily="49" charset="0"/>
              </a:rPr>
              <a:t> in = new </a:t>
            </a:r>
            <a:r>
              <a:rPr lang="en-US" altLang="ko-KR" sz="1100" dirty="0" err="1">
                <a:solidFill>
                  <a:srgbClr val="FF0000"/>
                </a:solidFill>
                <a:latin typeface="Consolas" panose="020B0609020204030204" pitchFamily="49" charset="0"/>
              </a:rPr>
              <a:t>LowerCaseInputStream</a:t>
            </a:r>
            <a:r>
              <a:rPr lang="en-US" altLang="ko-KR" sz="1100" dirty="0">
                <a:solidFill>
                  <a:srgbClr val="FF0000"/>
                </a:solidFill>
                <a:latin typeface="Consolas" panose="020B0609020204030204" pitchFamily="49" charset="0"/>
              </a:rPr>
              <a:t>(new </a:t>
            </a:r>
            <a:r>
              <a:rPr lang="en-US" altLang="ko-KR" sz="1100" dirty="0" err="1">
                <a:solidFill>
                  <a:srgbClr val="FF0000"/>
                </a:solidFill>
                <a:latin typeface="Consolas" panose="020B0609020204030204" pitchFamily="49" charset="0"/>
              </a:rPr>
              <a:t>BufferedInputStream</a:t>
            </a:r>
            <a:r>
              <a:rPr lang="en-US" altLang="ko-KR" sz="1100" dirty="0">
                <a:solidFill>
                  <a:srgbClr val="FF0000"/>
                </a:solidFill>
                <a:latin typeface="Consolas" panose="020B0609020204030204" pitchFamily="49" charset="0"/>
              </a:rPr>
              <a:t>(new </a:t>
            </a:r>
            <a:r>
              <a:rPr lang="en-US" altLang="ko-KR" sz="1100" dirty="0" err="1">
                <a:solidFill>
                  <a:srgbClr val="FF0000"/>
                </a:solidFill>
                <a:latin typeface="Consolas" panose="020B0609020204030204" pitchFamily="49" charset="0"/>
              </a:rPr>
              <a:t>FileInputStream</a:t>
            </a:r>
            <a:r>
              <a:rPr lang="en-US" altLang="ko-KR" sz="1100" dirty="0">
                <a:solidFill>
                  <a:srgbClr val="FF0000"/>
                </a:solidFill>
                <a:latin typeface="Consolas" panose="020B0609020204030204" pitchFamily="49" charset="0"/>
              </a:rPr>
              <a:t>(“test.txt”)));</a:t>
            </a:r>
          </a:p>
          <a:p>
            <a:pPr marL="91463" indent="0">
              <a:lnSpc>
                <a:spcPct val="70000"/>
              </a:lnSpc>
              <a:buNone/>
            </a:pPr>
            <a:endParaRPr lang="en-US" altLang="ko-KR" sz="1100" dirty="0">
              <a:latin typeface="Consolas" panose="020B0609020204030204" pitchFamily="49" charset="0"/>
            </a:endParaRPr>
          </a:p>
          <a:p>
            <a:pPr marL="91463" indent="0">
              <a:lnSpc>
                <a:spcPct val="70000"/>
              </a:lnSpc>
              <a:buNone/>
            </a:pPr>
            <a:r>
              <a:rPr lang="en-US" altLang="ko-KR" sz="1100" dirty="0">
                <a:latin typeface="Consolas" panose="020B0609020204030204" pitchFamily="49" charset="0"/>
              </a:rPr>
              <a:t>            while((c = </a:t>
            </a:r>
            <a:r>
              <a:rPr lang="en-US" altLang="ko-KR" sz="1100" dirty="0" err="1">
                <a:latin typeface="Consolas" panose="020B0609020204030204" pitchFamily="49" charset="0"/>
              </a:rPr>
              <a:t>in.read</a:t>
            </a:r>
            <a:r>
              <a:rPr lang="en-US" altLang="ko-KR" sz="1100" dirty="0">
                <a:latin typeface="Consolas" panose="020B0609020204030204" pitchFamily="49" charset="0"/>
              </a:rPr>
              <a:t>()) &gt;= 0) {</a:t>
            </a:r>
          </a:p>
          <a:p>
            <a:pPr marL="91463" indent="0">
              <a:lnSpc>
                <a:spcPct val="70000"/>
              </a:lnSpc>
              <a:buNone/>
            </a:pPr>
            <a:r>
              <a:rPr lang="en-US" altLang="ko-KR" sz="1100" dirty="0">
                <a:latin typeface="Consolas" panose="020B0609020204030204" pitchFamily="49" charset="0"/>
              </a:rPr>
              <a:t>                </a:t>
            </a:r>
            <a:r>
              <a:rPr lang="en-US" altLang="ko-KR" sz="1100" dirty="0" err="1">
                <a:latin typeface="Consolas" panose="020B0609020204030204" pitchFamily="49" charset="0"/>
              </a:rPr>
              <a:t>System.out.println</a:t>
            </a:r>
            <a:r>
              <a:rPr lang="en-US" altLang="ko-KR" sz="1100" dirty="0">
                <a:latin typeface="Consolas" panose="020B0609020204030204" pitchFamily="49" charset="0"/>
              </a:rPr>
              <a:t>((char)c);</a:t>
            </a:r>
          </a:p>
          <a:p>
            <a:pPr marL="91463" indent="0">
              <a:lnSpc>
                <a:spcPct val="70000"/>
              </a:lnSpc>
              <a:buNone/>
            </a:pPr>
            <a:r>
              <a:rPr lang="en-US" altLang="ko-KR" sz="1100" dirty="0">
                <a:latin typeface="Consolas" panose="020B0609020204030204" pitchFamily="49" charset="0"/>
              </a:rPr>
              <a:t>            }         </a:t>
            </a:r>
          </a:p>
          <a:p>
            <a:pPr marL="91463" indent="0">
              <a:lnSpc>
                <a:spcPct val="70000"/>
              </a:lnSpc>
              <a:buNone/>
            </a:pPr>
            <a:r>
              <a:rPr lang="en-US" altLang="ko-KR" sz="1100" dirty="0">
                <a:latin typeface="Consolas" panose="020B0609020204030204" pitchFamily="49" charset="0"/>
              </a:rPr>
              <a:t>            </a:t>
            </a:r>
            <a:r>
              <a:rPr lang="en-US" altLang="ko-KR" sz="1100" dirty="0" err="1">
                <a:latin typeface="Consolas" panose="020B0609020204030204" pitchFamily="49" charset="0"/>
              </a:rPr>
              <a:t>in.close</a:t>
            </a:r>
            <a:r>
              <a:rPr lang="en-US" altLang="ko-KR" sz="1100" dirty="0">
                <a:latin typeface="Consolas" panose="020B0609020204030204" pitchFamily="49" charset="0"/>
              </a:rPr>
              <a:t>();</a:t>
            </a:r>
          </a:p>
          <a:p>
            <a:pPr marL="91463" indent="0">
              <a:lnSpc>
                <a:spcPct val="70000"/>
              </a:lnSpc>
              <a:buNone/>
            </a:pPr>
            <a:r>
              <a:rPr lang="en-US" altLang="ko-KR" sz="1100" dirty="0">
                <a:latin typeface="Consolas" panose="020B0609020204030204" pitchFamily="49" charset="0"/>
              </a:rPr>
              <a:t>        } catch (</a:t>
            </a:r>
            <a:r>
              <a:rPr lang="en-US" altLang="ko-KR" sz="1100" dirty="0" err="1">
                <a:latin typeface="Consolas" panose="020B0609020204030204" pitchFamily="49" charset="0"/>
              </a:rPr>
              <a:t>IOException</a:t>
            </a:r>
            <a:r>
              <a:rPr lang="en-US" altLang="ko-KR" sz="1100" dirty="0">
                <a:latin typeface="Consolas" panose="020B0609020204030204" pitchFamily="49" charset="0"/>
              </a:rPr>
              <a:t> e) {</a:t>
            </a:r>
          </a:p>
          <a:p>
            <a:pPr marL="91463" indent="0">
              <a:lnSpc>
                <a:spcPct val="70000"/>
              </a:lnSpc>
              <a:buNone/>
            </a:pPr>
            <a:r>
              <a:rPr lang="en-US" altLang="ko-KR" sz="1100" dirty="0">
                <a:latin typeface="Consolas" panose="020B0609020204030204" pitchFamily="49" charset="0"/>
              </a:rPr>
              <a:t>            </a:t>
            </a:r>
            <a:r>
              <a:rPr lang="en-US" altLang="ko-KR" sz="1100" dirty="0" err="1">
                <a:latin typeface="Consolas" panose="020B0609020204030204" pitchFamily="49" charset="0"/>
              </a:rPr>
              <a:t>e.printStrackTrace</a:t>
            </a:r>
            <a:r>
              <a:rPr lang="en-US" altLang="ko-KR" sz="1100" dirty="0">
                <a:latin typeface="Consolas" panose="020B0609020204030204" pitchFamily="49" charset="0"/>
              </a:rPr>
              <a:t>();</a:t>
            </a:r>
          </a:p>
          <a:p>
            <a:pPr marL="91463" indent="0">
              <a:lnSpc>
                <a:spcPct val="70000"/>
              </a:lnSpc>
              <a:buNone/>
            </a:pPr>
            <a:r>
              <a:rPr lang="en-US" altLang="ko-KR" sz="1100" dirty="0">
                <a:latin typeface="Consolas" panose="020B0609020204030204" pitchFamily="49" charset="0"/>
              </a:rPr>
              <a:t>        }</a:t>
            </a:r>
          </a:p>
          <a:p>
            <a:pPr marL="91463" indent="0">
              <a:lnSpc>
                <a:spcPct val="70000"/>
              </a:lnSpc>
              <a:buNone/>
            </a:pPr>
            <a:r>
              <a:rPr lang="en-US" altLang="ko-KR" sz="1100" dirty="0">
                <a:latin typeface="Consolas" panose="020B0609020204030204" pitchFamily="49" charset="0"/>
              </a:rPr>
              <a:t>    }</a:t>
            </a:r>
          </a:p>
          <a:p>
            <a:pPr marL="91463" indent="0">
              <a:lnSpc>
                <a:spcPct val="70000"/>
              </a:lnSpc>
              <a:buNone/>
            </a:pPr>
            <a:r>
              <a:rPr lang="en-US" altLang="ko-KR" sz="1100" dirty="0">
                <a:latin typeface="Consolas" panose="020B0609020204030204" pitchFamily="49" charset="0"/>
              </a:rPr>
              <a:t>}</a:t>
            </a:r>
          </a:p>
        </p:txBody>
      </p:sp>
      <p:sp>
        <p:nvSpPr>
          <p:cNvPr id="3" name="제목 2"/>
          <p:cNvSpPr>
            <a:spLocks noGrp="1"/>
          </p:cNvSpPr>
          <p:nvPr>
            <p:ph type="title"/>
          </p:nvPr>
        </p:nvSpPr>
        <p:spPr/>
        <p:txBody>
          <a:bodyPr vert="horz" lIns="75927" tIns="37964" rIns="75927" bIns="37964" rtlCol="0" anchor="ctr">
            <a:normAutofit/>
          </a:bodyPr>
          <a:lstStyle/>
          <a:p>
            <a:r>
              <a:rPr lang="en-US" altLang="ko-KR" spc="0" dirty="0"/>
              <a:t>Run our Java I/O decorator</a:t>
            </a:r>
            <a:endParaRPr lang="ko-KR" altLang="en-US" spc="0" dirty="0"/>
          </a:p>
        </p:txBody>
      </p:sp>
    </p:spTree>
    <p:extLst>
      <p:ext uri="{BB962C8B-B14F-4D97-AF65-F5344CB8AC3E}">
        <p14:creationId xmlns:p14="http://schemas.microsoft.com/office/powerpoint/2010/main" val="333473403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8-2] Decorator : </a:t>
            </a:r>
            <a:r>
              <a:rPr lang="ko-KR" altLang="en-US" spc="0" dirty="0"/>
              <a:t>새로운 </a:t>
            </a:r>
            <a:r>
              <a:rPr lang="en-US" altLang="ko-KR" spc="0" dirty="0"/>
              <a:t>Stream</a:t>
            </a:r>
            <a:r>
              <a:rPr lang="ko-KR" altLang="en-US" spc="0" dirty="0"/>
              <a:t> </a:t>
            </a:r>
            <a:r>
              <a:rPr lang="en-US" altLang="ko-KR" spc="0" dirty="0"/>
              <a:t>Filter </a:t>
            </a:r>
            <a:r>
              <a:rPr lang="ko-KR" altLang="en-US" spc="0" dirty="0"/>
              <a:t>개발</a:t>
            </a:r>
            <a:r>
              <a:rPr lang="en-US" altLang="ko-KR" spc="0" dirty="0"/>
              <a:t> (solution)</a:t>
            </a:r>
            <a:endParaRPr lang="ko-KR" altLang="en-US" spc="0" dirty="0"/>
          </a:p>
        </p:txBody>
      </p:sp>
      <p:grpSp>
        <p:nvGrpSpPr>
          <p:cNvPr id="10" name="그룹 9"/>
          <p:cNvGrpSpPr/>
          <p:nvPr/>
        </p:nvGrpSpPr>
        <p:grpSpPr>
          <a:xfrm>
            <a:off x="1187624" y="1350988"/>
            <a:ext cx="6696744" cy="1868834"/>
            <a:chOff x="899592" y="1563638"/>
            <a:chExt cx="6696744" cy="1868834"/>
          </a:xfrm>
        </p:grpSpPr>
        <p:pic>
          <p:nvPicPr>
            <p:cNvPr id="4" name="그림 3">
              <a:extLst>
                <a:ext uri="{FF2B5EF4-FFF2-40B4-BE49-F238E27FC236}">
                  <a16:creationId xmlns:a16="http://schemas.microsoft.com/office/drawing/2014/main" id="{A5B6F10D-2B03-4D90-A72D-F29B951DE7EF}"/>
                </a:ext>
              </a:extLst>
            </p:cNvPr>
            <p:cNvPicPr>
              <a:picLocks noChangeAspect="1"/>
            </p:cNvPicPr>
            <p:nvPr/>
          </p:nvPicPr>
          <p:blipFill>
            <a:blip r:embed="rId3"/>
            <a:stretch>
              <a:fillRect/>
            </a:stretch>
          </p:blipFill>
          <p:spPr>
            <a:xfrm>
              <a:off x="899592" y="1563638"/>
              <a:ext cx="5413176" cy="1868834"/>
            </a:xfrm>
            <a:prstGeom prst="rect">
              <a:avLst/>
            </a:prstGeom>
          </p:spPr>
        </p:pic>
        <p:sp>
          <p:nvSpPr>
            <p:cNvPr id="5" name="직사각형 4"/>
            <p:cNvSpPr/>
            <p:nvPr/>
          </p:nvSpPr>
          <p:spPr>
            <a:xfrm>
              <a:off x="6300192" y="3028290"/>
              <a:ext cx="1296144" cy="288032"/>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100" dirty="0" err="1">
                  <a:solidFill>
                    <a:srgbClr val="2A2D72"/>
                  </a:solidFill>
                </a:rPr>
                <a:t>ShiftInputStream</a:t>
              </a:r>
              <a:endParaRPr lang="ko-KR" altLang="en-US" sz="1100" dirty="0">
                <a:solidFill>
                  <a:srgbClr val="2A2D72"/>
                </a:solidFill>
              </a:endParaRPr>
            </a:p>
          </p:txBody>
        </p:sp>
      </p:grpSp>
      <p:grpSp>
        <p:nvGrpSpPr>
          <p:cNvPr id="8" name="그룹 7"/>
          <p:cNvGrpSpPr/>
          <p:nvPr/>
        </p:nvGrpSpPr>
        <p:grpSpPr>
          <a:xfrm flipH="1">
            <a:off x="5317182" y="2285405"/>
            <a:ext cx="1415058" cy="530235"/>
            <a:chOff x="827579" y="1994842"/>
            <a:chExt cx="1028816" cy="792936"/>
          </a:xfrm>
        </p:grpSpPr>
        <p:cxnSp>
          <p:nvCxnSpPr>
            <p:cNvPr id="9" name="직선 화살표 연결선 8"/>
            <p:cNvCxnSpPr>
              <a:endCxn id="11" idx="3"/>
            </p:cNvCxnSpPr>
            <p:nvPr/>
          </p:nvCxnSpPr>
          <p:spPr>
            <a:xfrm flipV="1">
              <a:off x="827579" y="2106269"/>
              <a:ext cx="905733" cy="681509"/>
            </a:xfrm>
            <a:prstGeom prst="straightConnector1">
              <a:avLst/>
            </a:prstGeom>
            <a:ln>
              <a:solidFill>
                <a:srgbClr val="FF0000"/>
              </a:solidFill>
              <a:prstDash val="dash"/>
              <a:tailEnd type="none" w="lg" len="lg"/>
            </a:ln>
          </p:spPr>
          <p:style>
            <a:lnRef idx="1">
              <a:schemeClr val="accent1"/>
            </a:lnRef>
            <a:fillRef idx="0">
              <a:schemeClr val="accent1"/>
            </a:fillRef>
            <a:effectRef idx="0">
              <a:schemeClr val="accent1"/>
            </a:effectRef>
            <a:fontRef idx="minor">
              <a:schemeClr val="tx1"/>
            </a:fontRef>
          </p:style>
        </p:cxnSp>
        <p:sp>
          <p:nvSpPr>
            <p:cNvPr id="11" name="이등변 삼각형 10"/>
            <p:cNvSpPr/>
            <p:nvPr/>
          </p:nvSpPr>
          <p:spPr>
            <a:xfrm rot="3968599">
              <a:off x="1728326" y="1994335"/>
              <a:ext cx="127561" cy="128576"/>
            </a:xfrm>
            <a:prstGeom prst="triangl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43903447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Composite Pattern – Class Diagram</a:t>
            </a:r>
            <a:endParaRPr lang="ko-KR" altLang="en-US" spc="0" dirty="0"/>
          </a:p>
        </p:txBody>
      </p:sp>
      <p:pic>
        <p:nvPicPr>
          <p:cNvPr id="5" name="내용 개체 틀 4"/>
          <p:cNvPicPr>
            <a:picLocks noGrp="1" noChangeAspect="1"/>
          </p:cNvPicPr>
          <p:nvPr>
            <p:ph idx="1"/>
          </p:nvPr>
        </p:nvPicPr>
        <p:blipFill>
          <a:blip r:embed="rId2"/>
          <a:stretch>
            <a:fillRect/>
          </a:stretch>
        </p:blipFill>
        <p:spPr>
          <a:xfrm>
            <a:off x="1940719" y="1259681"/>
            <a:ext cx="5334000" cy="3048000"/>
          </a:xfrm>
          <a:prstGeom prst="rect">
            <a:avLst/>
          </a:prstGeom>
        </p:spPr>
      </p:pic>
    </p:spTree>
    <p:extLst>
      <p:ext uri="{BB962C8B-B14F-4D97-AF65-F5344CB8AC3E}">
        <p14:creationId xmlns:p14="http://schemas.microsoft.com/office/powerpoint/2010/main" val="193795988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p:txBody>
          <a:bodyPr>
            <a:normAutofit/>
          </a:bodyPr>
          <a:lstStyle/>
          <a:p>
            <a:pPr marL="91463" indent="0">
              <a:buNone/>
            </a:pPr>
            <a:endParaRPr lang="en-US" altLang="ko-KR" sz="1200" dirty="0"/>
          </a:p>
          <a:p>
            <a:pPr marL="361338" lvl="1" indent="0">
              <a:buNone/>
            </a:pPr>
            <a:r>
              <a:rPr lang="en-US" altLang="ko-KR" sz="1200" dirty="0"/>
              <a:t>(1) </a:t>
            </a:r>
            <a:r>
              <a:rPr lang="en-US" altLang="ko-KR" sz="1200" dirty="0">
                <a:solidFill>
                  <a:srgbClr val="2A2D72"/>
                </a:solidFill>
              </a:rPr>
              <a:t>Main.java</a:t>
            </a:r>
            <a:r>
              <a:rPr lang="ko-KR" altLang="en-US" sz="1200" dirty="0"/>
              <a:t>에 있는 여러 구조를 변경해 보면서 </a:t>
            </a:r>
            <a:r>
              <a:rPr lang="ko-KR" altLang="en-US" sz="1200" dirty="0">
                <a:solidFill>
                  <a:srgbClr val="2A2D72"/>
                </a:solidFill>
              </a:rPr>
              <a:t>임의의 구조를 만들어 보시오</a:t>
            </a:r>
            <a:r>
              <a:rPr lang="en-US" altLang="ko-KR" sz="1200" dirty="0">
                <a:solidFill>
                  <a:srgbClr val="2A2D72"/>
                </a:solidFill>
              </a:rPr>
              <a:t>.</a:t>
            </a:r>
          </a:p>
          <a:p>
            <a:pPr marL="361338" lvl="1" indent="0">
              <a:buNone/>
            </a:pPr>
            <a:r>
              <a:rPr lang="en-US" altLang="ko-KR" sz="1200" dirty="0"/>
              <a:t>(2) </a:t>
            </a:r>
            <a:r>
              <a:rPr lang="en-US" altLang="ko-KR" sz="1200" dirty="0">
                <a:solidFill>
                  <a:srgbClr val="2A2D72"/>
                </a:solidFill>
              </a:rPr>
              <a:t>Entry</a:t>
            </a:r>
            <a:r>
              <a:rPr lang="ko-KR" altLang="en-US" sz="1200" dirty="0">
                <a:solidFill>
                  <a:srgbClr val="2A2D72"/>
                </a:solidFill>
              </a:rPr>
              <a:t>에 새로운 </a:t>
            </a:r>
            <a:r>
              <a:rPr lang="en-US" altLang="ko-KR" sz="1200" dirty="0">
                <a:solidFill>
                  <a:srgbClr val="2A2D72"/>
                </a:solidFill>
              </a:rPr>
              <a:t>method</a:t>
            </a:r>
            <a:r>
              <a:rPr lang="ko-KR" altLang="en-US" sz="1200" dirty="0">
                <a:solidFill>
                  <a:srgbClr val="2A2D72"/>
                </a:solidFill>
              </a:rPr>
              <a:t>인 </a:t>
            </a:r>
            <a:r>
              <a:rPr lang="en-US" altLang="ko-KR" sz="1200" dirty="0" err="1">
                <a:solidFill>
                  <a:srgbClr val="2A2D72"/>
                </a:solidFill>
              </a:rPr>
              <a:t>getFullName</a:t>
            </a:r>
            <a:r>
              <a:rPr lang="en-US" altLang="ko-KR" sz="1200" dirty="0">
                <a:solidFill>
                  <a:srgbClr val="2A2D72"/>
                </a:solidFill>
              </a:rPr>
              <a:t>()</a:t>
            </a:r>
            <a:r>
              <a:rPr lang="ko-KR" altLang="en-US" sz="1200" dirty="0"/>
              <a:t>을 추가하여</a:t>
            </a:r>
            <a:r>
              <a:rPr lang="en-US" altLang="ko-KR" sz="1200" dirty="0"/>
              <a:t>, </a:t>
            </a:r>
            <a:r>
              <a:rPr lang="ko-KR" altLang="en-US" sz="1200" dirty="0">
                <a:solidFill>
                  <a:srgbClr val="2A2D72"/>
                </a:solidFill>
              </a:rPr>
              <a:t>루트로부터의 </a:t>
            </a:r>
            <a:r>
              <a:rPr lang="en-US" altLang="ko-KR" sz="1200" dirty="0">
                <a:solidFill>
                  <a:srgbClr val="2A2D72"/>
                </a:solidFill>
              </a:rPr>
              <a:t>full path </a:t>
            </a:r>
            <a:r>
              <a:rPr lang="ko-KR" altLang="en-US" sz="1200" dirty="0">
                <a:solidFill>
                  <a:srgbClr val="2A2D72"/>
                </a:solidFill>
              </a:rPr>
              <a:t>정보를 돌려주도록 확장 </a:t>
            </a:r>
            <a:r>
              <a:rPr lang="ko-KR" altLang="en-US" sz="1200" dirty="0"/>
              <a:t>하시오</a:t>
            </a:r>
            <a:r>
              <a:rPr lang="en-US" altLang="ko-KR" sz="1200" dirty="0"/>
              <a:t>.</a:t>
            </a:r>
          </a:p>
          <a:p>
            <a:pPr marL="361338" lvl="1" indent="0">
              <a:buNone/>
            </a:pPr>
            <a:endParaRPr lang="en-US" altLang="ko-KR" sz="1200" dirty="0"/>
          </a:p>
          <a:p>
            <a:pPr marL="361338" lvl="1" indent="0">
              <a:buNone/>
            </a:pPr>
            <a:endParaRPr lang="en-US" altLang="ko-KR" sz="1200" dirty="0"/>
          </a:p>
          <a:p>
            <a:pPr marL="361338" lvl="1" indent="0">
              <a:buNone/>
            </a:pPr>
            <a:endParaRPr lang="en-US" altLang="ko-KR" sz="1200" dirty="0"/>
          </a:p>
          <a:p>
            <a:pPr marL="361338" lvl="1" indent="0">
              <a:buNone/>
            </a:pPr>
            <a:endParaRPr lang="en-US" altLang="ko-KR" sz="1200" dirty="0"/>
          </a:p>
          <a:p>
            <a:pPr marL="361338" lvl="1" indent="0">
              <a:buNone/>
            </a:pPr>
            <a:endParaRPr lang="en-US" altLang="ko-KR" sz="1200" dirty="0"/>
          </a:p>
          <a:p>
            <a:pPr marL="361338" lvl="1" indent="0">
              <a:buNone/>
            </a:pPr>
            <a:r>
              <a:rPr lang="en-US" altLang="ko-KR" sz="1200" dirty="0"/>
              <a:t>(3) Main.java</a:t>
            </a:r>
            <a:r>
              <a:rPr lang="ko-KR" altLang="en-US" sz="1200" dirty="0"/>
              <a:t>에 적절한 </a:t>
            </a:r>
            <a:r>
              <a:rPr lang="ko-KR" altLang="en-US" sz="1200" dirty="0">
                <a:solidFill>
                  <a:srgbClr val="2A2D72"/>
                </a:solidFill>
              </a:rPr>
              <a:t>테스트 코드를 </a:t>
            </a:r>
            <a:r>
              <a:rPr lang="ko-KR" altLang="en-US" sz="1200" dirty="0"/>
              <a:t>넣어 검증 하시오</a:t>
            </a:r>
            <a:r>
              <a:rPr lang="en-US" altLang="ko-KR" sz="1200" dirty="0"/>
              <a:t>.</a:t>
            </a:r>
            <a:endParaRPr lang="ko-KR" altLang="en-US" sz="1200" dirty="0"/>
          </a:p>
        </p:txBody>
      </p:sp>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9] Composite Pattern</a:t>
            </a:r>
            <a:endParaRPr lang="ko-KR" altLang="en-US" spc="0" dirty="0"/>
          </a:p>
        </p:txBody>
      </p:sp>
      <p:sp>
        <p:nvSpPr>
          <p:cNvPr id="4" name="직사각형 3"/>
          <p:cNvSpPr/>
          <p:nvPr/>
        </p:nvSpPr>
        <p:spPr>
          <a:xfrm>
            <a:off x="251520" y="771550"/>
            <a:ext cx="5832648" cy="276999"/>
          </a:xfrm>
          <a:prstGeom prst="rect">
            <a:avLst/>
          </a:prstGeom>
          <a:solidFill>
            <a:schemeClr val="accent1">
              <a:lumMod val="20000"/>
              <a:lumOff val="80000"/>
            </a:schemeClr>
          </a:solidFill>
        </p:spPr>
        <p:txBody>
          <a:bodyPr wrap="square">
            <a:spAutoFit/>
          </a:bodyPr>
          <a:lstStyle/>
          <a:p>
            <a:r>
              <a:rPr lang="en-US" altLang="ko-KR" sz="1200" b="1" dirty="0"/>
              <a:t>[</a:t>
            </a:r>
            <a:r>
              <a:rPr lang="ko-KR" altLang="en-US" sz="1200" b="1" dirty="0"/>
              <a:t>실습 코드</a:t>
            </a:r>
            <a:r>
              <a:rPr lang="en-US" altLang="ko-KR" sz="1200" b="1" dirty="0"/>
              <a:t>] </a:t>
            </a:r>
            <a:r>
              <a:rPr lang="en-US" altLang="ko-KR" sz="1200" dirty="0"/>
              <a:t>9_hiroshi.directoryCompositeProblem</a:t>
            </a:r>
          </a:p>
        </p:txBody>
      </p:sp>
      <p:sp>
        <p:nvSpPr>
          <p:cNvPr id="5" name="TextBox 4"/>
          <p:cNvSpPr txBox="1"/>
          <p:nvPr/>
        </p:nvSpPr>
        <p:spPr>
          <a:xfrm>
            <a:off x="899592" y="1995686"/>
            <a:ext cx="7200800" cy="1277273"/>
          </a:xfrm>
          <a:prstGeom prst="rect">
            <a:avLst/>
          </a:prstGeom>
          <a:noFill/>
          <a:ln>
            <a:solidFill>
              <a:schemeClr val="tx1"/>
            </a:solidFill>
          </a:ln>
        </p:spPr>
        <p:txBody>
          <a:bodyPr wrap="square" rtlCol="0">
            <a:spAutoFit/>
          </a:bodyPr>
          <a:lstStyle/>
          <a:p>
            <a:r>
              <a:rPr lang="en-US" altLang="ko-KR" sz="1100" dirty="0">
                <a:solidFill>
                  <a:srgbClr val="0070C0"/>
                </a:solidFill>
              </a:rPr>
              <a:t>Hint : add () </a:t>
            </a:r>
            <a:r>
              <a:rPr lang="ko-KR" altLang="en-US" sz="1100" dirty="0" err="1">
                <a:solidFill>
                  <a:srgbClr val="0070C0"/>
                </a:solidFill>
              </a:rPr>
              <a:t>할때</a:t>
            </a:r>
            <a:r>
              <a:rPr lang="ko-KR" altLang="en-US" sz="1100" dirty="0">
                <a:solidFill>
                  <a:srgbClr val="0070C0"/>
                </a:solidFill>
              </a:rPr>
              <a:t> </a:t>
            </a:r>
            <a:r>
              <a:rPr lang="en-US" altLang="ko-KR" sz="1100" dirty="0">
                <a:solidFill>
                  <a:srgbClr val="0070C0"/>
                </a:solidFill>
              </a:rPr>
              <a:t>parent</a:t>
            </a:r>
            <a:r>
              <a:rPr lang="ko-KR" altLang="en-US" sz="1100" dirty="0">
                <a:solidFill>
                  <a:srgbClr val="0070C0"/>
                </a:solidFill>
              </a:rPr>
              <a:t>를 저장</a:t>
            </a:r>
            <a:endParaRPr lang="en-US" altLang="ko-KR" sz="1100" dirty="0">
              <a:solidFill>
                <a:srgbClr val="0070C0"/>
              </a:solidFill>
            </a:endParaRPr>
          </a:p>
          <a:p>
            <a:r>
              <a:rPr lang="en-US" altLang="ko-KR" sz="1100" dirty="0" err="1">
                <a:solidFill>
                  <a:srgbClr val="FF0000"/>
                </a:solidFill>
              </a:rPr>
              <a:t>getFullName</a:t>
            </a:r>
            <a:r>
              <a:rPr lang="en-US" altLang="ko-KR" sz="1100" dirty="0">
                <a:solidFill>
                  <a:srgbClr val="FF0000"/>
                </a:solidFill>
              </a:rPr>
              <a:t>()</a:t>
            </a:r>
            <a:endParaRPr lang="en-US" altLang="ko-KR" sz="1100" dirty="0">
              <a:solidFill>
                <a:srgbClr val="0070C0"/>
              </a:solidFill>
            </a:endParaRPr>
          </a:p>
          <a:p>
            <a:r>
              <a:rPr lang="en-US" altLang="ko-KR" sz="1100" dirty="0" err="1">
                <a:solidFill>
                  <a:srgbClr val="0070C0"/>
                </a:solidFill>
              </a:rPr>
              <a:t>StringBuffer</a:t>
            </a:r>
            <a:r>
              <a:rPr lang="en-US" altLang="ko-KR" sz="1100" dirty="0">
                <a:solidFill>
                  <a:srgbClr val="0070C0"/>
                </a:solidFill>
              </a:rPr>
              <a:t> </a:t>
            </a:r>
            <a:r>
              <a:rPr lang="en-US" altLang="ko-KR" sz="1100" dirty="0" err="1">
                <a:solidFill>
                  <a:srgbClr val="0070C0"/>
                </a:solidFill>
              </a:rPr>
              <a:t>fullname</a:t>
            </a:r>
            <a:r>
              <a:rPr lang="en-US" altLang="ko-KR" sz="1100" dirty="0">
                <a:solidFill>
                  <a:srgbClr val="0070C0"/>
                </a:solidFill>
              </a:rPr>
              <a:t> = new </a:t>
            </a:r>
            <a:r>
              <a:rPr lang="en-US" altLang="ko-KR" sz="1100" dirty="0" err="1">
                <a:solidFill>
                  <a:srgbClr val="0070C0"/>
                </a:solidFill>
              </a:rPr>
              <a:t>StringBuffer</a:t>
            </a:r>
            <a:r>
              <a:rPr lang="en-US" altLang="ko-KR" sz="1100" dirty="0">
                <a:solidFill>
                  <a:srgbClr val="0070C0"/>
                </a:solidFill>
              </a:rPr>
              <a:t>();</a:t>
            </a:r>
          </a:p>
          <a:p>
            <a:r>
              <a:rPr lang="en-US" altLang="ko-KR" sz="1100" dirty="0">
                <a:solidFill>
                  <a:srgbClr val="0070C0"/>
                </a:solidFill>
              </a:rPr>
              <a:t>…..</a:t>
            </a:r>
          </a:p>
          <a:p>
            <a:r>
              <a:rPr lang="en-US" altLang="ko-KR" sz="1100" dirty="0" err="1">
                <a:solidFill>
                  <a:srgbClr val="0070C0"/>
                </a:solidFill>
              </a:rPr>
              <a:t>fullname.insert</a:t>
            </a:r>
            <a:r>
              <a:rPr lang="en-US" altLang="ko-KR" sz="1100" dirty="0">
                <a:solidFill>
                  <a:srgbClr val="0070C0"/>
                </a:solidFill>
              </a:rPr>
              <a:t>(0, "/" + </a:t>
            </a:r>
            <a:r>
              <a:rPr lang="en-US" altLang="ko-KR" sz="1100" dirty="0" err="1">
                <a:solidFill>
                  <a:srgbClr val="0070C0"/>
                </a:solidFill>
              </a:rPr>
              <a:t>entry.getName</a:t>
            </a:r>
            <a:r>
              <a:rPr lang="en-US" altLang="ko-KR" sz="1100" dirty="0">
                <a:solidFill>
                  <a:srgbClr val="0070C0"/>
                </a:solidFill>
              </a:rPr>
              <a:t>());  (</a:t>
            </a:r>
            <a:r>
              <a:rPr lang="ko-KR" altLang="en-US" sz="1100" dirty="0">
                <a:solidFill>
                  <a:srgbClr val="0070C0"/>
                </a:solidFill>
              </a:rPr>
              <a:t>현재 </a:t>
            </a:r>
            <a:r>
              <a:rPr lang="en-US" altLang="ko-KR" sz="1100" dirty="0">
                <a:solidFill>
                  <a:srgbClr val="0070C0"/>
                </a:solidFill>
              </a:rPr>
              <a:t>entry</a:t>
            </a:r>
            <a:r>
              <a:rPr lang="ko-KR" altLang="en-US" sz="1100" dirty="0">
                <a:solidFill>
                  <a:srgbClr val="0070C0"/>
                </a:solidFill>
              </a:rPr>
              <a:t>에서 부모방향으로 </a:t>
            </a:r>
            <a:r>
              <a:rPr lang="en-US" altLang="ko-KR" sz="1100" dirty="0">
                <a:solidFill>
                  <a:srgbClr val="0070C0"/>
                </a:solidFill>
              </a:rPr>
              <a:t>)</a:t>
            </a:r>
          </a:p>
          <a:p>
            <a:r>
              <a:rPr lang="en-US" altLang="ko-KR" sz="1100" dirty="0">
                <a:solidFill>
                  <a:srgbClr val="0070C0"/>
                </a:solidFill>
              </a:rPr>
              <a:t>…..</a:t>
            </a:r>
          </a:p>
          <a:p>
            <a:r>
              <a:rPr lang="en-US" altLang="ko-KR" sz="1100" dirty="0">
                <a:solidFill>
                  <a:srgbClr val="0070C0"/>
                </a:solidFill>
              </a:rPr>
              <a:t>return </a:t>
            </a:r>
            <a:r>
              <a:rPr lang="en-US" altLang="ko-KR" sz="1100" dirty="0" err="1">
                <a:solidFill>
                  <a:srgbClr val="0070C0"/>
                </a:solidFill>
              </a:rPr>
              <a:t>fullname.toString</a:t>
            </a:r>
            <a:r>
              <a:rPr lang="en-US" altLang="ko-KR" sz="1100" dirty="0">
                <a:solidFill>
                  <a:srgbClr val="0070C0"/>
                </a:solidFill>
              </a:rPr>
              <a:t>();</a:t>
            </a:r>
            <a:endParaRPr lang="en-US" altLang="ko-KR" sz="1100" dirty="0"/>
          </a:p>
        </p:txBody>
      </p:sp>
    </p:spTree>
    <p:extLst>
      <p:ext uri="{BB962C8B-B14F-4D97-AF65-F5344CB8AC3E}">
        <p14:creationId xmlns:p14="http://schemas.microsoft.com/office/powerpoint/2010/main" val="108543541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9] Composite Pattern (solution)</a:t>
            </a:r>
            <a:endParaRPr lang="ko-KR" altLang="en-US" spc="0" dirty="0"/>
          </a:p>
        </p:txBody>
      </p:sp>
      <p:grpSp>
        <p:nvGrpSpPr>
          <p:cNvPr id="17" name="그룹 16"/>
          <p:cNvGrpSpPr/>
          <p:nvPr/>
        </p:nvGrpSpPr>
        <p:grpSpPr>
          <a:xfrm>
            <a:off x="323528" y="813890"/>
            <a:ext cx="8568952" cy="3990108"/>
            <a:chOff x="251520" y="734382"/>
            <a:chExt cx="8568952" cy="3990108"/>
          </a:xfrm>
        </p:grpSpPr>
        <p:pic>
          <p:nvPicPr>
            <p:cNvPr id="5" name="그림 4"/>
            <p:cNvPicPr>
              <a:picLocks noChangeAspect="1"/>
            </p:cNvPicPr>
            <p:nvPr/>
          </p:nvPicPr>
          <p:blipFill rotWithShape="1">
            <a:blip r:embed="rId3"/>
            <a:srcRect l="1890"/>
            <a:stretch/>
          </p:blipFill>
          <p:spPr>
            <a:xfrm>
              <a:off x="251520" y="915566"/>
              <a:ext cx="4581547" cy="3378037"/>
            </a:xfrm>
            <a:prstGeom prst="rect">
              <a:avLst/>
            </a:prstGeom>
          </p:spPr>
        </p:pic>
        <p:sp>
          <p:nvSpPr>
            <p:cNvPr id="6" name="직사각형 5"/>
            <p:cNvSpPr/>
            <p:nvPr/>
          </p:nvSpPr>
          <p:spPr>
            <a:xfrm>
              <a:off x="5076056" y="734382"/>
              <a:ext cx="3744416" cy="1477328"/>
            </a:xfrm>
            <a:prstGeom prst="rect">
              <a:avLst/>
            </a:prstGeom>
            <a:ln>
              <a:solidFill>
                <a:schemeClr val="tx1"/>
              </a:solidFill>
            </a:ln>
          </p:spPr>
          <p:txBody>
            <a:bodyPr wrap="square">
              <a:spAutoFit/>
            </a:bodyPr>
            <a:lstStyle/>
            <a:p>
              <a:r>
                <a:rPr lang="en-US" altLang="ko-KR" sz="1000" dirty="0">
                  <a:latin typeface="Consolas" panose="020B0609020204030204" pitchFamily="49" charset="0"/>
                </a:rPr>
                <a:t>public String </a:t>
              </a:r>
              <a:r>
                <a:rPr lang="en-US" altLang="ko-KR" sz="1000" dirty="0" err="1">
                  <a:latin typeface="Consolas" panose="020B0609020204030204" pitchFamily="49" charset="0"/>
                </a:rPr>
                <a:t>getFullName</a:t>
              </a:r>
              <a:r>
                <a:rPr lang="en-US" altLang="ko-KR" sz="1000" dirty="0">
                  <a:latin typeface="Consolas" panose="020B0609020204030204" pitchFamily="49" charset="0"/>
                </a:rPr>
                <a:t>() {</a:t>
              </a:r>
              <a:br>
                <a:rPr lang="en-US" altLang="ko-KR" sz="1000" dirty="0">
                  <a:latin typeface="Consolas" panose="020B0609020204030204" pitchFamily="49" charset="0"/>
                </a:rPr>
              </a:br>
              <a:r>
                <a:rPr lang="en-US" altLang="ko-KR" sz="1000" dirty="0">
                  <a:latin typeface="Consolas" panose="020B0609020204030204" pitchFamily="49" charset="0"/>
                </a:rPr>
                <a:t>    </a:t>
              </a:r>
              <a:r>
                <a:rPr lang="en-US" altLang="ko-KR" sz="1000" dirty="0" err="1">
                  <a:latin typeface="Consolas" panose="020B0609020204030204" pitchFamily="49" charset="0"/>
                </a:rPr>
                <a:t>StringBuffer</a:t>
              </a:r>
              <a:r>
                <a:rPr lang="en-US" altLang="ko-KR" sz="1000" dirty="0">
                  <a:latin typeface="Consolas" panose="020B0609020204030204" pitchFamily="49" charset="0"/>
                </a:rPr>
                <a:t> </a:t>
              </a:r>
              <a:r>
                <a:rPr lang="en-US" altLang="ko-KR" sz="1000" dirty="0" err="1">
                  <a:latin typeface="Consolas" panose="020B0609020204030204" pitchFamily="49" charset="0"/>
                </a:rPr>
                <a:t>fullname</a:t>
              </a:r>
              <a:r>
                <a:rPr lang="en-US" altLang="ko-KR" sz="1000" dirty="0">
                  <a:latin typeface="Consolas" panose="020B0609020204030204" pitchFamily="49" charset="0"/>
                </a:rPr>
                <a:t> = new </a:t>
              </a:r>
              <a:r>
                <a:rPr lang="en-US" altLang="ko-KR" sz="1000" dirty="0" err="1">
                  <a:latin typeface="Consolas" panose="020B0609020204030204" pitchFamily="49" charset="0"/>
                </a:rPr>
                <a:t>StringBuffer</a:t>
              </a:r>
              <a:r>
                <a:rPr lang="en-US" altLang="ko-KR" sz="1000" dirty="0">
                  <a:latin typeface="Consolas" panose="020B0609020204030204" pitchFamily="49" charset="0"/>
                </a:rPr>
                <a:t>();</a:t>
              </a:r>
              <a:br>
                <a:rPr lang="en-US" altLang="ko-KR" sz="1000" dirty="0">
                  <a:latin typeface="Consolas" panose="020B0609020204030204" pitchFamily="49" charset="0"/>
                </a:rPr>
              </a:br>
              <a:r>
                <a:rPr lang="en-US" altLang="ko-KR" sz="1000" dirty="0">
                  <a:latin typeface="Consolas" panose="020B0609020204030204" pitchFamily="49" charset="0"/>
                </a:rPr>
                <a:t>    Entry </a:t>
              </a:r>
              <a:r>
                <a:rPr lang="en-US" altLang="ko-KR" sz="1000" dirty="0" err="1">
                  <a:latin typeface="Consolas" panose="020B0609020204030204" pitchFamily="49" charset="0"/>
                </a:rPr>
                <a:t>entry</a:t>
              </a:r>
              <a:r>
                <a:rPr lang="en-US" altLang="ko-KR" sz="1000" dirty="0">
                  <a:latin typeface="Consolas" panose="020B0609020204030204" pitchFamily="49" charset="0"/>
                </a:rPr>
                <a:t> = this;</a:t>
              </a:r>
              <a:br>
                <a:rPr lang="en-US" altLang="ko-KR" sz="1000" dirty="0">
                  <a:latin typeface="Consolas" panose="020B0609020204030204" pitchFamily="49" charset="0"/>
                </a:rPr>
              </a:br>
              <a:r>
                <a:rPr lang="en-US" altLang="ko-KR" sz="1000" dirty="0">
                  <a:latin typeface="Consolas" panose="020B0609020204030204" pitchFamily="49" charset="0"/>
                </a:rPr>
                <a:t>    do {</a:t>
              </a:r>
              <a:br>
                <a:rPr lang="en-US" altLang="ko-KR" sz="1000" dirty="0">
                  <a:latin typeface="Consolas" panose="020B0609020204030204" pitchFamily="49" charset="0"/>
                </a:rPr>
              </a:br>
              <a:r>
                <a:rPr lang="en-US" altLang="ko-KR" sz="1000" dirty="0">
                  <a:latin typeface="Consolas" panose="020B0609020204030204" pitchFamily="49" charset="0"/>
                </a:rPr>
                <a:t>        </a:t>
              </a:r>
              <a:r>
                <a:rPr lang="en-US" altLang="ko-KR" sz="1000" dirty="0" err="1">
                  <a:latin typeface="Consolas" panose="020B0609020204030204" pitchFamily="49" charset="0"/>
                </a:rPr>
                <a:t>fullname.insert</a:t>
              </a:r>
              <a:r>
                <a:rPr lang="en-US" altLang="ko-KR" sz="1000" dirty="0">
                  <a:latin typeface="Consolas" panose="020B0609020204030204" pitchFamily="49" charset="0"/>
                </a:rPr>
                <a:t>(0, "/" + </a:t>
              </a:r>
              <a:r>
                <a:rPr lang="en-US" altLang="ko-KR" sz="1000" dirty="0" err="1">
                  <a:latin typeface="Consolas" panose="020B0609020204030204" pitchFamily="49" charset="0"/>
                </a:rPr>
                <a:t>entry.getName</a:t>
              </a:r>
              <a:r>
                <a:rPr lang="en-US" altLang="ko-KR" sz="1000" dirty="0">
                  <a:latin typeface="Consolas" panose="020B0609020204030204" pitchFamily="49" charset="0"/>
                </a:rPr>
                <a:t>());</a:t>
              </a:r>
              <a:br>
                <a:rPr lang="en-US" altLang="ko-KR" sz="1000" dirty="0">
                  <a:latin typeface="Consolas" panose="020B0609020204030204" pitchFamily="49" charset="0"/>
                </a:rPr>
              </a:br>
              <a:r>
                <a:rPr lang="en-US" altLang="ko-KR" sz="1000" dirty="0">
                  <a:latin typeface="Consolas" panose="020B0609020204030204" pitchFamily="49" charset="0"/>
                </a:rPr>
                <a:t>        </a:t>
              </a:r>
              <a:r>
                <a:rPr lang="en-US" altLang="ko-KR" sz="1000" dirty="0">
                  <a:solidFill>
                    <a:srgbClr val="FF0000"/>
                  </a:solidFill>
                  <a:latin typeface="Consolas" panose="020B0609020204030204" pitchFamily="49" charset="0"/>
                </a:rPr>
                <a:t>entry = </a:t>
              </a:r>
              <a:r>
                <a:rPr lang="en-US" altLang="ko-KR" sz="1000" dirty="0" err="1">
                  <a:solidFill>
                    <a:srgbClr val="FF0000"/>
                  </a:solidFill>
                  <a:latin typeface="Consolas" panose="020B0609020204030204" pitchFamily="49" charset="0"/>
                </a:rPr>
                <a:t>entry.parent</a:t>
              </a:r>
              <a:r>
                <a:rPr lang="en-US" altLang="ko-KR" sz="1000" dirty="0">
                  <a:solidFill>
                    <a:srgbClr val="FF0000"/>
                  </a:solidFill>
                  <a:latin typeface="Consolas" panose="020B0609020204030204" pitchFamily="49" charset="0"/>
                </a:rPr>
                <a:t>;</a:t>
              </a:r>
              <a:br>
                <a:rPr lang="en-US" altLang="ko-KR" sz="1000" dirty="0">
                  <a:latin typeface="Consolas" panose="020B0609020204030204" pitchFamily="49" charset="0"/>
                </a:rPr>
              </a:br>
              <a:r>
                <a:rPr lang="en-US" altLang="ko-KR" sz="1000" dirty="0">
                  <a:latin typeface="Consolas" panose="020B0609020204030204" pitchFamily="49" charset="0"/>
                </a:rPr>
                <a:t>    } while (entry != null);</a:t>
              </a:r>
              <a:br>
                <a:rPr lang="en-US" altLang="ko-KR" sz="1000" dirty="0">
                  <a:latin typeface="Consolas" panose="020B0609020204030204" pitchFamily="49" charset="0"/>
                </a:rPr>
              </a:br>
              <a:r>
                <a:rPr lang="en-US" altLang="ko-KR" sz="1000" dirty="0">
                  <a:latin typeface="Consolas" panose="020B0609020204030204" pitchFamily="49" charset="0"/>
                </a:rPr>
                <a:t>    return </a:t>
              </a:r>
              <a:r>
                <a:rPr lang="en-US" altLang="ko-KR" sz="1000" dirty="0" err="1">
                  <a:latin typeface="Consolas" panose="020B0609020204030204" pitchFamily="49" charset="0"/>
                </a:rPr>
                <a:t>fullname.toString</a:t>
              </a:r>
              <a:r>
                <a:rPr lang="en-US" altLang="ko-KR" sz="1000" dirty="0">
                  <a:latin typeface="Consolas" panose="020B0609020204030204" pitchFamily="49" charset="0"/>
                </a:rPr>
                <a:t>();</a:t>
              </a:r>
              <a:br>
                <a:rPr lang="en-US" altLang="ko-KR" sz="1000" dirty="0">
                  <a:latin typeface="Consolas" panose="020B0609020204030204" pitchFamily="49" charset="0"/>
                </a:rPr>
              </a:br>
              <a:r>
                <a:rPr lang="en-US" altLang="ko-KR" sz="1000" dirty="0">
                  <a:latin typeface="Consolas" panose="020B0609020204030204" pitchFamily="49" charset="0"/>
                </a:rPr>
                <a:t>}</a:t>
              </a:r>
            </a:p>
          </p:txBody>
        </p:sp>
        <p:cxnSp>
          <p:nvCxnSpPr>
            <p:cNvPr id="7" name="직선 연결선 6"/>
            <p:cNvCxnSpPr/>
            <p:nvPr/>
          </p:nvCxnSpPr>
          <p:spPr>
            <a:xfrm>
              <a:off x="2140056" y="2166808"/>
              <a:ext cx="1080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직선 연결선 7"/>
            <p:cNvCxnSpPr/>
            <p:nvPr/>
          </p:nvCxnSpPr>
          <p:spPr>
            <a:xfrm>
              <a:off x="2140056" y="1872080"/>
              <a:ext cx="720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직사각형 8"/>
            <p:cNvSpPr/>
            <p:nvPr/>
          </p:nvSpPr>
          <p:spPr>
            <a:xfrm>
              <a:off x="5580112" y="3862716"/>
              <a:ext cx="2448272" cy="861774"/>
            </a:xfrm>
            <a:prstGeom prst="rect">
              <a:avLst/>
            </a:prstGeom>
            <a:ln>
              <a:solidFill>
                <a:schemeClr val="tx1"/>
              </a:solidFill>
            </a:ln>
          </p:spPr>
          <p:txBody>
            <a:bodyPr wrap="square">
              <a:spAutoFit/>
            </a:bodyPr>
            <a:lstStyle/>
            <a:p>
              <a:r>
                <a:rPr lang="en-US" altLang="ko-KR" sz="1000" dirty="0">
                  <a:latin typeface="Consolas" panose="020B0609020204030204" pitchFamily="49" charset="0"/>
                </a:rPr>
                <a:t>public Entry add(Entry entry) {</a:t>
              </a:r>
              <a:br>
                <a:rPr lang="en-US" altLang="ko-KR" sz="1000" dirty="0">
                  <a:latin typeface="Consolas" panose="020B0609020204030204" pitchFamily="49" charset="0"/>
                </a:rPr>
              </a:br>
              <a:r>
                <a:rPr lang="en-US" altLang="ko-KR" sz="1000" dirty="0">
                  <a:latin typeface="Consolas" panose="020B0609020204030204" pitchFamily="49" charset="0"/>
                </a:rPr>
                <a:t>    </a:t>
              </a:r>
              <a:r>
                <a:rPr lang="en-US" altLang="ko-KR" sz="1000" dirty="0" err="1">
                  <a:latin typeface="Consolas" panose="020B0609020204030204" pitchFamily="49" charset="0"/>
                </a:rPr>
                <a:t>directory.add</a:t>
              </a:r>
              <a:r>
                <a:rPr lang="en-US" altLang="ko-KR" sz="1000" dirty="0">
                  <a:latin typeface="Consolas" panose="020B0609020204030204" pitchFamily="49" charset="0"/>
                </a:rPr>
                <a:t>(entry);</a:t>
              </a:r>
              <a:br>
                <a:rPr lang="en-US" altLang="ko-KR" sz="1000" dirty="0">
                  <a:latin typeface="Consolas" panose="020B0609020204030204" pitchFamily="49" charset="0"/>
                </a:rPr>
              </a:br>
              <a:r>
                <a:rPr lang="en-US" altLang="ko-KR" sz="1000" dirty="0">
                  <a:latin typeface="Consolas" panose="020B0609020204030204" pitchFamily="49" charset="0"/>
                </a:rPr>
                <a:t>    </a:t>
              </a:r>
              <a:r>
                <a:rPr lang="en-US" altLang="ko-KR" sz="1000" dirty="0" err="1">
                  <a:solidFill>
                    <a:srgbClr val="FF0000"/>
                  </a:solidFill>
                  <a:latin typeface="Consolas" panose="020B0609020204030204" pitchFamily="49" charset="0"/>
                </a:rPr>
                <a:t>entry.parent</a:t>
              </a:r>
              <a:r>
                <a:rPr lang="en-US" altLang="ko-KR" sz="1000" dirty="0">
                  <a:solidFill>
                    <a:srgbClr val="FF0000"/>
                  </a:solidFill>
                  <a:latin typeface="Consolas" panose="020B0609020204030204" pitchFamily="49" charset="0"/>
                </a:rPr>
                <a:t> = this;</a:t>
              </a:r>
              <a:br>
                <a:rPr lang="en-US" altLang="ko-KR" sz="1000" dirty="0">
                  <a:latin typeface="Consolas" panose="020B0609020204030204" pitchFamily="49" charset="0"/>
                </a:rPr>
              </a:br>
              <a:r>
                <a:rPr lang="en-US" altLang="ko-KR" sz="1000" dirty="0">
                  <a:latin typeface="Consolas" panose="020B0609020204030204" pitchFamily="49" charset="0"/>
                </a:rPr>
                <a:t>    return this;</a:t>
              </a:r>
              <a:br>
                <a:rPr lang="en-US" altLang="ko-KR" sz="1000" dirty="0">
                  <a:latin typeface="Consolas" panose="020B0609020204030204" pitchFamily="49" charset="0"/>
                </a:rPr>
              </a:br>
              <a:r>
                <a:rPr lang="en-US" altLang="ko-KR" sz="1000" dirty="0">
                  <a:latin typeface="Consolas" panose="020B0609020204030204" pitchFamily="49" charset="0"/>
                </a:rPr>
                <a:t>}</a:t>
              </a:r>
            </a:p>
          </p:txBody>
        </p:sp>
        <p:cxnSp>
          <p:nvCxnSpPr>
            <p:cNvPr id="11" name="직선 연결선 10"/>
            <p:cNvCxnSpPr>
              <a:endCxn id="6" idx="1"/>
            </p:cNvCxnSpPr>
            <p:nvPr/>
          </p:nvCxnSpPr>
          <p:spPr>
            <a:xfrm flipV="1">
              <a:off x="3131840" y="1473046"/>
              <a:ext cx="1944216" cy="66665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 name="직선 연결선 12"/>
            <p:cNvCxnSpPr>
              <a:endCxn id="9" idx="1"/>
            </p:cNvCxnSpPr>
            <p:nvPr/>
          </p:nvCxnSpPr>
          <p:spPr>
            <a:xfrm>
              <a:off x="3563888" y="3671615"/>
              <a:ext cx="2016224" cy="6219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 name="직선 연결선 14"/>
            <p:cNvCxnSpPr/>
            <p:nvPr/>
          </p:nvCxnSpPr>
          <p:spPr>
            <a:xfrm>
              <a:off x="2756638" y="3727960"/>
              <a:ext cx="900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6640716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AD5CE-FD6F-8AC2-1218-3FE721F13EDC}"/>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A143E7E1-3E28-4566-E45F-DC0087E61FAE}"/>
              </a:ext>
            </a:extLst>
          </p:cNvPr>
          <p:cNvSpPr>
            <a:spLocks noGrp="1"/>
          </p:cNvSpPr>
          <p:nvPr>
            <p:ph type="title"/>
          </p:nvPr>
        </p:nvSpPr>
        <p:spPr/>
        <p:txBody>
          <a:bodyPr vert="horz" lIns="75927" tIns="37964" rIns="75927" bIns="37964" rtlCol="0" anchor="ctr">
            <a:normAutofit/>
          </a:bodyPr>
          <a:lstStyle/>
          <a:p>
            <a:r>
              <a:rPr lang="en-US" altLang="ko-KR" spc="0" dirty="0"/>
              <a:t>[Practice 9] Composite Pattern (solution)</a:t>
            </a:r>
            <a:endParaRPr lang="ko-KR" altLang="en-US" spc="0" dirty="0"/>
          </a:p>
        </p:txBody>
      </p:sp>
      <p:sp>
        <p:nvSpPr>
          <p:cNvPr id="2" name="TextBox 1">
            <a:extLst>
              <a:ext uri="{FF2B5EF4-FFF2-40B4-BE49-F238E27FC236}">
                <a16:creationId xmlns:a16="http://schemas.microsoft.com/office/drawing/2014/main" id="{45321A61-6D87-5F57-0EE4-2C275304D8EB}"/>
              </a:ext>
            </a:extLst>
          </p:cNvPr>
          <p:cNvSpPr txBox="1"/>
          <p:nvPr/>
        </p:nvSpPr>
        <p:spPr>
          <a:xfrm>
            <a:off x="395536" y="717631"/>
            <a:ext cx="7272808" cy="307777"/>
          </a:xfrm>
          <a:prstGeom prst="rect">
            <a:avLst/>
          </a:prstGeom>
          <a:noFill/>
        </p:spPr>
        <p:txBody>
          <a:bodyPr wrap="square">
            <a:spAutoFit/>
          </a:bodyPr>
          <a:lstStyle/>
          <a:p>
            <a:r>
              <a:rPr lang="en-US" altLang="ko-KR" sz="1400" dirty="0"/>
              <a:t>[</a:t>
            </a:r>
            <a:r>
              <a:rPr lang="ko-KR" altLang="en-US" sz="1400" dirty="0"/>
              <a:t>참고</a:t>
            </a:r>
            <a:r>
              <a:rPr lang="en-US" altLang="ko-KR" sz="1400" dirty="0"/>
              <a:t>] Android UI Framework</a:t>
            </a:r>
            <a:r>
              <a:rPr lang="ko-KR" altLang="en-US" sz="1400" dirty="0"/>
              <a:t>의 </a:t>
            </a:r>
            <a:r>
              <a:rPr lang="en-US" altLang="ko-KR" sz="1400" dirty="0"/>
              <a:t>Composite Pattern </a:t>
            </a:r>
            <a:r>
              <a:rPr lang="ko-KR" altLang="en-US" sz="1400" dirty="0"/>
              <a:t>사용 사례</a:t>
            </a:r>
          </a:p>
        </p:txBody>
      </p:sp>
      <p:pic>
        <p:nvPicPr>
          <p:cNvPr id="4" name="그림 3">
            <a:extLst>
              <a:ext uri="{FF2B5EF4-FFF2-40B4-BE49-F238E27FC236}">
                <a16:creationId xmlns:a16="http://schemas.microsoft.com/office/drawing/2014/main" id="{F9618D3E-3A2F-6682-1A62-5FE097ACA137}"/>
              </a:ext>
            </a:extLst>
          </p:cNvPr>
          <p:cNvPicPr>
            <a:picLocks noChangeAspect="1"/>
          </p:cNvPicPr>
          <p:nvPr/>
        </p:nvPicPr>
        <p:blipFill>
          <a:blip r:embed="rId3"/>
          <a:stretch>
            <a:fillRect/>
          </a:stretch>
        </p:blipFill>
        <p:spPr>
          <a:xfrm>
            <a:off x="2843808" y="1539464"/>
            <a:ext cx="3697042" cy="3370832"/>
          </a:xfrm>
          <a:prstGeom prst="rect">
            <a:avLst/>
          </a:prstGeom>
        </p:spPr>
      </p:pic>
      <p:sp>
        <p:nvSpPr>
          <p:cNvPr id="10" name="직사각형 9">
            <a:extLst>
              <a:ext uri="{FF2B5EF4-FFF2-40B4-BE49-F238E27FC236}">
                <a16:creationId xmlns:a16="http://schemas.microsoft.com/office/drawing/2014/main" id="{0DC4A0ED-4AA6-3BA1-4BD2-6EA85D4757EA}"/>
              </a:ext>
            </a:extLst>
          </p:cNvPr>
          <p:cNvSpPr/>
          <p:nvPr/>
        </p:nvSpPr>
        <p:spPr>
          <a:xfrm>
            <a:off x="3131840" y="3579862"/>
            <a:ext cx="504056" cy="216024"/>
          </a:xfrm>
          <a:prstGeom prst="rect">
            <a:avLst/>
          </a:prstGeom>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600" dirty="0" err="1"/>
              <a:t>TextView</a:t>
            </a:r>
            <a:endParaRPr lang="ko-KR" altLang="en-US" sz="600" dirty="0"/>
          </a:p>
        </p:txBody>
      </p:sp>
      <p:sp>
        <p:nvSpPr>
          <p:cNvPr id="12" name="직사각형 11">
            <a:extLst>
              <a:ext uri="{FF2B5EF4-FFF2-40B4-BE49-F238E27FC236}">
                <a16:creationId xmlns:a16="http://schemas.microsoft.com/office/drawing/2014/main" id="{C836C71A-AE57-EE8C-901F-D87E9B40C432}"/>
              </a:ext>
            </a:extLst>
          </p:cNvPr>
          <p:cNvSpPr/>
          <p:nvPr/>
        </p:nvSpPr>
        <p:spPr>
          <a:xfrm>
            <a:off x="3671900" y="3579862"/>
            <a:ext cx="504056" cy="216024"/>
          </a:xfrm>
          <a:prstGeom prst="rect">
            <a:avLst/>
          </a:prstGeom>
          <a:ln w="9525"/>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600" dirty="0" err="1"/>
              <a:t>ImageView</a:t>
            </a:r>
            <a:endParaRPr lang="ko-KR" altLang="en-US" sz="600" dirty="0"/>
          </a:p>
        </p:txBody>
      </p:sp>
      <p:sp>
        <p:nvSpPr>
          <p:cNvPr id="14" name="직사각형 13">
            <a:extLst>
              <a:ext uri="{FF2B5EF4-FFF2-40B4-BE49-F238E27FC236}">
                <a16:creationId xmlns:a16="http://schemas.microsoft.com/office/drawing/2014/main" id="{B25FDF6E-6D5A-5B34-89F2-3E3E0A88D57D}"/>
              </a:ext>
            </a:extLst>
          </p:cNvPr>
          <p:cNvSpPr/>
          <p:nvPr/>
        </p:nvSpPr>
        <p:spPr>
          <a:xfrm>
            <a:off x="2915816" y="1419622"/>
            <a:ext cx="3528392" cy="266429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ko-KR" sz="1200" b="1" dirty="0">
                <a:solidFill>
                  <a:srgbClr val="FF0000"/>
                </a:solidFill>
              </a:rPr>
              <a:t>Composite</a:t>
            </a:r>
            <a:endParaRPr lang="ko-KR" altLang="en-US" sz="1200" b="1" dirty="0">
              <a:solidFill>
                <a:srgbClr val="FF0000"/>
              </a:solidFill>
            </a:endParaRPr>
          </a:p>
        </p:txBody>
      </p:sp>
    </p:spTree>
    <p:extLst>
      <p:ext uri="{BB962C8B-B14F-4D97-AF65-F5344CB8AC3E}">
        <p14:creationId xmlns:p14="http://schemas.microsoft.com/office/powerpoint/2010/main" val="231837572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Pattern Review – 2~3</a:t>
            </a:r>
            <a:r>
              <a:rPr lang="ko-KR" altLang="en-US" spc="0" dirty="0"/>
              <a:t>일차 </a:t>
            </a:r>
          </a:p>
        </p:txBody>
      </p:sp>
      <p:graphicFrame>
        <p:nvGraphicFramePr>
          <p:cNvPr id="6" name="표 5"/>
          <p:cNvGraphicFramePr>
            <a:graphicFrameLocks noGrp="1"/>
          </p:cNvGraphicFramePr>
          <p:nvPr/>
        </p:nvGraphicFramePr>
        <p:xfrm>
          <a:off x="107504" y="584101"/>
          <a:ext cx="8927613" cy="4306952"/>
        </p:xfrm>
        <a:graphic>
          <a:graphicData uri="http://schemas.openxmlformats.org/drawingml/2006/table">
            <a:tbl>
              <a:tblPr firstRow="1" bandRow="1"/>
              <a:tblGrid>
                <a:gridCol w="648072">
                  <a:extLst>
                    <a:ext uri="{9D8B030D-6E8A-4147-A177-3AD203B41FA5}">
                      <a16:colId xmlns:a16="http://schemas.microsoft.com/office/drawing/2014/main" val="20000"/>
                    </a:ext>
                  </a:extLst>
                </a:gridCol>
                <a:gridCol w="2070237">
                  <a:extLst>
                    <a:ext uri="{9D8B030D-6E8A-4147-A177-3AD203B41FA5}">
                      <a16:colId xmlns:a16="http://schemas.microsoft.com/office/drawing/2014/main" val="20001"/>
                    </a:ext>
                  </a:extLst>
                </a:gridCol>
                <a:gridCol w="2068830">
                  <a:extLst>
                    <a:ext uri="{9D8B030D-6E8A-4147-A177-3AD203B41FA5}">
                      <a16:colId xmlns:a16="http://schemas.microsoft.com/office/drawing/2014/main" val="20002"/>
                    </a:ext>
                  </a:extLst>
                </a:gridCol>
                <a:gridCol w="2070237">
                  <a:extLst>
                    <a:ext uri="{9D8B030D-6E8A-4147-A177-3AD203B41FA5}">
                      <a16:colId xmlns:a16="http://schemas.microsoft.com/office/drawing/2014/main" val="20003"/>
                    </a:ext>
                  </a:extLst>
                </a:gridCol>
                <a:gridCol w="2070237">
                  <a:extLst>
                    <a:ext uri="{9D8B030D-6E8A-4147-A177-3AD203B41FA5}">
                      <a16:colId xmlns:a16="http://schemas.microsoft.com/office/drawing/2014/main" val="20004"/>
                    </a:ext>
                  </a:extLst>
                </a:gridCol>
              </a:tblGrid>
              <a:tr h="454472">
                <a:tc>
                  <a:txBody>
                    <a:bodyPr/>
                    <a:lstStyle/>
                    <a:p>
                      <a:pPr algn="ctr">
                        <a:defRPr/>
                      </a:pPr>
                      <a:r>
                        <a:rPr lang="ko-KR" altLang="en-US" sz="1200" b="1" kern="1200" spc="-120" baseline="0" dirty="0">
                          <a:solidFill>
                            <a:schemeClr val="tx1"/>
                          </a:solidFill>
                          <a:latin typeface="맑은 고딕" panose="020B0503020000020004" pitchFamily="50" charset="-127"/>
                          <a:ea typeface="맑은 고딕" panose="020B0503020000020004" pitchFamily="50" charset="-127"/>
                          <a:cs typeface="+mn-cs"/>
                        </a:rPr>
                        <a:t>패턴</a:t>
                      </a:r>
                    </a:p>
                  </a:txBody>
                  <a:tcPr marL="0" marR="0" anchor="ct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algn="ctr">
                        <a:defRPr/>
                      </a:pPr>
                      <a:r>
                        <a:rPr lang="en-US" altLang="ko-KR" sz="1200" b="1" kern="1200" spc="-120" baseline="0" dirty="0">
                          <a:solidFill>
                            <a:schemeClr val="tx1"/>
                          </a:solidFill>
                          <a:latin typeface="맑은 고딕" panose="020B0503020000020004" pitchFamily="50" charset="-127"/>
                          <a:ea typeface="맑은 고딕" panose="020B0503020000020004" pitchFamily="50" charset="-127"/>
                          <a:cs typeface="+mn-cs"/>
                        </a:rPr>
                        <a:t>Factory Method</a:t>
                      </a:r>
                    </a:p>
                  </a:txBody>
                  <a:tcPr anchor="ct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algn="ctr">
                        <a:defRPr/>
                      </a:pPr>
                      <a:r>
                        <a:rPr lang="en-US" altLang="ko-KR" sz="1200" b="1" kern="1200" spc="-120" baseline="0" dirty="0">
                          <a:solidFill>
                            <a:schemeClr val="tx1"/>
                          </a:solidFill>
                          <a:latin typeface="맑은 고딕" panose="020B0503020000020004" pitchFamily="50" charset="-127"/>
                          <a:ea typeface="맑은 고딕" panose="020B0503020000020004" pitchFamily="50" charset="-127"/>
                          <a:cs typeface="+mn-cs"/>
                        </a:rPr>
                        <a:t>Composite</a:t>
                      </a:r>
                    </a:p>
                  </a:txBody>
                  <a:tcPr anchor="ct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algn="ctr">
                        <a:defRPr/>
                      </a:pPr>
                      <a:r>
                        <a:rPr lang="en-US" altLang="ko-KR" sz="1200" b="1" kern="1200" spc="-120" baseline="0" dirty="0">
                          <a:solidFill>
                            <a:schemeClr val="tx1"/>
                          </a:solidFill>
                          <a:latin typeface="맑은 고딕" panose="020B0503020000020004" pitchFamily="50" charset="-127"/>
                          <a:ea typeface="맑은 고딕" panose="020B0503020000020004" pitchFamily="50" charset="-127"/>
                          <a:cs typeface="+mn-cs"/>
                        </a:rPr>
                        <a:t>Decorator</a:t>
                      </a:r>
                    </a:p>
                  </a:txBody>
                  <a:tcPr anchor="ct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algn="ctr">
                        <a:defRPr/>
                      </a:pPr>
                      <a:r>
                        <a:rPr lang="en-US" altLang="ko-KR" sz="1200" b="1" kern="1200" spc="-120" baseline="0" dirty="0">
                          <a:solidFill>
                            <a:schemeClr val="tx1"/>
                          </a:solidFill>
                          <a:latin typeface="맑은 고딕" panose="020B0503020000020004" pitchFamily="50" charset="-127"/>
                          <a:ea typeface="맑은 고딕" panose="020B0503020000020004" pitchFamily="50" charset="-127"/>
                          <a:cs typeface="+mn-cs"/>
                        </a:rPr>
                        <a:t>Visitor</a:t>
                      </a:r>
                    </a:p>
                  </a:txBody>
                  <a:tcPr anchor="ct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extLst>
                  <a:ext uri="{0D108BD9-81ED-4DB2-BD59-A6C34878D82A}">
                    <a16:rowId xmlns:a16="http://schemas.microsoft.com/office/drawing/2014/main" val="10000"/>
                  </a:ext>
                </a:extLst>
              </a:tr>
              <a:tr h="2196274">
                <a:tc>
                  <a:txBody>
                    <a:bodyPr/>
                    <a:lstStyle/>
                    <a:p>
                      <a:pPr algn="ctr">
                        <a:defRPr/>
                      </a:pPr>
                      <a:r>
                        <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rPr>
                        <a:t>구조</a:t>
                      </a:r>
                    </a:p>
                  </a:txBody>
                  <a:tcPr marL="0" marR="0" anchor="ct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a:defRPr/>
                      </a:pPr>
                      <a:endPar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endParaRP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type="none" w="med" len="med"/>
                      <a:tailEnd type="none" w="med" len="med"/>
                    </a:lnB>
                    <a:solidFill>
                      <a:schemeClr val="lt1"/>
                    </a:solidFill>
                  </a:tcPr>
                </a:tc>
                <a:tc>
                  <a:txBody>
                    <a:bodyPr/>
                    <a:lstStyle/>
                    <a:p>
                      <a:pPr>
                        <a:defRPr/>
                      </a:pPr>
                      <a:endPar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endParaRP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a:defRPr/>
                      </a:pPr>
                      <a:endPar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endParaRP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type="none" w="med" len="med"/>
                      <a:tailEnd type="none" w="med" len="med"/>
                    </a:lnB>
                    <a:solidFill>
                      <a:schemeClr val="lt1"/>
                    </a:solidFill>
                  </a:tcPr>
                </a:tc>
                <a:tc>
                  <a:txBody>
                    <a:bodyPr/>
                    <a:lstStyle/>
                    <a:p>
                      <a:pPr>
                        <a:defRPr/>
                      </a:pPr>
                      <a:endParaRPr lang="ko-KR" altLang="en-US" sz="1200" kern="1200" spc="-120" baseline="0">
                        <a:solidFill>
                          <a:schemeClr val="tx1"/>
                        </a:solidFill>
                        <a:latin typeface="맑은 고딕" panose="020B0503020000020004" pitchFamily="50" charset="-127"/>
                        <a:ea typeface="맑은 고딕" panose="020B0503020000020004" pitchFamily="50" charset="-127"/>
                        <a:cs typeface="+mn-cs"/>
                      </a:endParaRPr>
                    </a:p>
                  </a:txBody>
                  <a:tcP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type="none" w="med" len="med"/>
                      <a:tailEnd type="none" w="med" len="med"/>
                    </a:lnB>
                    <a:solidFill>
                      <a:schemeClr val="lt1"/>
                    </a:solidFill>
                  </a:tcPr>
                </a:tc>
                <a:extLst>
                  <a:ext uri="{0D108BD9-81ED-4DB2-BD59-A6C34878D82A}">
                    <a16:rowId xmlns:a16="http://schemas.microsoft.com/office/drawing/2014/main" val="10001"/>
                  </a:ext>
                </a:extLst>
              </a:tr>
              <a:tr h="828103">
                <a:tc>
                  <a:txBody>
                    <a:bodyPr/>
                    <a:lstStyle/>
                    <a:p>
                      <a:pPr algn="ctr">
                        <a:defRPr/>
                      </a:pPr>
                      <a:r>
                        <a:rPr lang="ko-KR" altLang="en-US" sz="1200" kern="1200" spc="-120" baseline="0">
                          <a:solidFill>
                            <a:schemeClr val="tx1"/>
                          </a:solidFill>
                          <a:latin typeface="맑은 고딕" panose="020B0503020000020004" pitchFamily="50" charset="-127"/>
                          <a:ea typeface="맑은 고딕" panose="020B0503020000020004" pitchFamily="50" charset="-127"/>
                          <a:cs typeface="+mn-cs"/>
                        </a:rPr>
                        <a:t>설명</a:t>
                      </a:r>
                    </a:p>
                  </a:txBody>
                  <a:tcPr marL="0" marR="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객체 생성을 분리</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결합도↓</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buFont typeface="Arial"/>
                        <a:buNone/>
                        <a:defRPr/>
                      </a:pP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 </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재사용성</a:t>
                      </a: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 </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확장성</a:t>
                      </a: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 </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유지보수성↑</a:t>
                      </a:r>
                    </a:p>
                  </a:txBody>
                  <a:tcPr marL="36000" marR="36000" anchor="ct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단일 객체와 집합 객체를 </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같은 타입으로 </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처리  할 수 있도록 함</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sym typeface="Wingdings" panose="05000000000000000000" pitchFamily="2" charset="2"/>
                        </a:rPr>
                        <a:t>상속 없이 객체에 </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sym typeface="Wingdings" panose="05000000000000000000" pitchFamily="2" charset="2"/>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sym typeface="Wingdings" panose="05000000000000000000" pitchFamily="2" charset="2"/>
                        </a:rPr>
                        <a:t>새로운 서비스를 추가</a:t>
                      </a:r>
                      <a:endPar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endParaRPr>
                    </a:p>
                  </a:txBody>
                  <a:tcPr marL="36000" marR="3600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구조 변경없이 </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복합 객체 구조에 </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새로운 기능 추가</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extLst>
                  <a:ext uri="{0D108BD9-81ED-4DB2-BD59-A6C34878D82A}">
                    <a16:rowId xmlns:a16="http://schemas.microsoft.com/office/drawing/2014/main" val="10002"/>
                  </a:ext>
                </a:extLst>
              </a:tr>
              <a:tr h="828103">
                <a:tc>
                  <a:txBody>
                    <a:bodyPr/>
                    <a:lstStyle/>
                    <a:p>
                      <a:pPr algn="ctr">
                        <a:defRPr/>
                      </a:pPr>
                      <a:r>
                        <a:rPr lang="ko-KR" altLang="en-US" sz="1200" kern="1200" spc="-120" baseline="0" dirty="0">
                          <a:solidFill>
                            <a:schemeClr val="tx1"/>
                          </a:solidFill>
                          <a:latin typeface="맑은 고딕" panose="020B0503020000020004" pitchFamily="50" charset="-127"/>
                          <a:ea typeface="맑은 고딕" panose="020B0503020000020004" pitchFamily="50" charset="-127"/>
                          <a:cs typeface="+mn-cs"/>
                        </a:rPr>
                        <a:t>활용</a:t>
                      </a:r>
                    </a:p>
                  </a:txBody>
                  <a:tcPr marL="0" marR="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조건에 따라 다수의 객체 생성이 추가</a:t>
                      </a: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삭제 되는 경우</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lnSpc>
                          <a:spcPct val="150000"/>
                        </a:lnSpc>
                        <a:buFont typeface="Arial"/>
                        <a:buNone/>
                        <a:defRPr/>
                      </a:pP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 Ex) user interface toolkit</a:t>
                      </a:r>
                    </a:p>
                  </a:txBody>
                  <a:tcPr marL="36000" marR="36000" anchor="ctr">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트리 구조를 가진 </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객체들의 집합에 사용</a:t>
                      </a:r>
                    </a:p>
                    <a:p>
                      <a:pPr algn="ctr">
                        <a:lnSpc>
                          <a:spcPct val="150000"/>
                        </a:lnSpc>
                        <a:defRPr/>
                      </a:pP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Ex) File System</a:t>
                      </a: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다수의 다양한 기능 조합이</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사용되는 경우  </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lnSpc>
                          <a:spcPct val="150000"/>
                        </a:lnSpc>
                        <a:buFont typeface="Arial"/>
                        <a:buNone/>
                        <a:defRPr/>
                      </a:pP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Ex) Java I/O</a:t>
                      </a:r>
                    </a:p>
                  </a:txBody>
                  <a:tcPr marL="36000" marR="36000" anchor="ctr">
                    <a:lnL w="12700" cap="flat" cmpd="sng" algn="ctr">
                      <a:solidFill>
                        <a:schemeClr val="tx1"/>
                      </a:solidFill>
                      <a:prstDash val="solid"/>
                      <a:round/>
                      <a:headEnd w="med" len="med"/>
                      <a:tailEnd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a:lstStyle/>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데이터 구조보다 알고리즘이</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buFont typeface="Arial"/>
                        <a:buNone/>
                        <a:defRPr/>
                      </a:pP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더 자주 바뀌는 경우 </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p>
                      <a:pPr marL="0" indent="0" algn="ctr">
                        <a:lnSpc>
                          <a:spcPct val="150000"/>
                        </a:lnSpc>
                        <a:buFont typeface="Arial"/>
                        <a:buNone/>
                        <a:defRPr/>
                      </a:pPr>
                      <a:r>
                        <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rPr>
                        <a:t>Ex) </a:t>
                      </a:r>
                      <a:r>
                        <a:rPr lang="ko-KR" altLang="en-US" sz="1000" kern="1200" spc="-120" baseline="0" dirty="0">
                          <a:solidFill>
                            <a:srgbClr val="2A2D72"/>
                          </a:solidFill>
                          <a:latin typeface="맑은 고딕" panose="020B0503020000020004" pitchFamily="50" charset="-127"/>
                          <a:ea typeface="맑은 고딕" panose="020B0503020000020004" pitchFamily="50" charset="-127"/>
                          <a:cs typeface="+mn-cs"/>
                        </a:rPr>
                        <a:t>자료 구조</a:t>
                      </a:r>
                      <a:endParaRPr lang="en-US" altLang="ko-KR" sz="1000" kern="1200" spc="-120" baseline="0" dirty="0">
                        <a:solidFill>
                          <a:srgbClr val="2A2D72"/>
                        </a:solidFill>
                        <a:latin typeface="맑은 고딕" panose="020B0503020000020004" pitchFamily="50" charset="-127"/>
                        <a:ea typeface="맑은 고딕" panose="020B0503020000020004" pitchFamily="50" charset="-127"/>
                        <a:cs typeface="+mn-cs"/>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extLst>
                  <a:ext uri="{0D108BD9-81ED-4DB2-BD59-A6C34878D82A}">
                    <a16:rowId xmlns:a16="http://schemas.microsoft.com/office/drawing/2014/main" val="10003"/>
                  </a:ext>
                </a:extLst>
              </a:tr>
            </a:tbl>
          </a:graphicData>
        </a:graphic>
      </p:graphicFrame>
      <p:pic>
        <p:nvPicPr>
          <p:cNvPr id="7" name="그림 6"/>
          <p:cNvPicPr>
            <a:picLocks noChangeAspect="1"/>
          </p:cNvPicPr>
          <p:nvPr/>
        </p:nvPicPr>
        <p:blipFill rotWithShape="1">
          <a:blip r:embed="rId2"/>
          <a:stretch>
            <a:fillRect/>
          </a:stretch>
        </p:blipFill>
        <p:spPr>
          <a:xfrm>
            <a:off x="755576" y="1419622"/>
            <a:ext cx="2052256" cy="1139051"/>
          </a:xfrm>
          <a:prstGeom prst="rect">
            <a:avLst/>
          </a:prstGeom>
        </p:spPr>
      </p:pic>
      <p:pic>
        <p:nvPicPr>
          <p:cNvPr id="8" name="그림 7"/>
          <p:cNvPicPr>
            <a:picLocks noChangeAspect="1"/>
          </p:cNvPicPr>
          <p:nvPr/>
        </p:nvPicPr>
        <p:blipFill rotWithShape="1">
          <a:blip r:embed="rId3"/>
          <a:stretch>
            <a:fillRect/>
          </a:stretch>
        </p:blipFill>
        <p:spPr>
          <a:xfrm>
            <a:off x="4914412" y="1059582"/>
            <a:ext cx="2033851" cy="2088232"/>
          </a:xfrm>
          <a:prstGeom prst="rect">
            <a:avLst/>
          </a:prstGeom>
        </p:spPr>
      </p:pic>
      <p:pic>
        <p:nvPicPr>
          <p:cNvPr id="9" name="그림 8"/>
          <p:cNvPicPr>
            <a:picLocks noChangeAspect="1"/>
          </p:cNvPicPr>
          <p:nvPr/>
        </p:nvPicPr>
        <p:blipFill rotWithShape="1">
          <a:blip r:embed="rId4"/>
          <a:stretch>
            <a:fillRect/>
          </a:stretch>
        </p:blipFill>
        <p:spPr>
          <a:xfrm>
            <a:off x="2843808" y="1419621"/>
            <a:ext cx="2016224" cy="1193363"/>
          </a:xfrm>
          <a:prstGeom prst="rect">
            <a:avLst/>
          </a:prstGeom>
        </p:spPr>
      </p:pic>
      <p:pic>
        <p:nvPicPr>
          <p:cNvPr id="10" name="그림 9"/>
          <p:cNvPicPr>
            <a:picLocks noChangeAspect="1"/>
          </p:cNvPicPr>
          <p:nvPr/>
        </p:nvPicPr>
        <p:blipFill rotWithShape="1">
          <a:blip r:embed="rId5"/>
          <a:stretch>
            <a:fillRect/>
          </a:stretch>
        </p:blipFill>
        <p:spPr>
          <a:xfrm>
            <a:off x="7020272" y="1069652"/>
            <a:ext cx="1910020" cy="2150169"/>
          </a:xfrm>
          <a:prstGeom prst="rect">
            <a:avLst/>
          </a:prstGeom>
        </p:spPr>
      </p:pic>
    </p:spTree>
    <p:extLst>
      <p:ext uri="{BB962C8B-B14F-4D97-AF65-F5344CB8AC3E}">
        <p14:creationId xmlns:p14="http://schemas.microsoft.com/office/powerpoint/2010/main" val="3931198820"/>
      </p:ext>
    </p:extLst>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E13E4-5ACB-5EB9-4CB0-2F7C2E15B9C0}"/>
            </a:ext>
          </a:extLst>
        </p:cNvPr>
        <p:cNvGrpSpPr/>
        <p:nvPr/>
      </p:nvGrpSpPr>
      <p:grpSpPr>
        <a:xfrm>
          <a:off x="0" y="0"/>
          <a:ext cx="0" cy="0"/>
          <a:chOff x="0" y="0"/>
          <a:chExt cx="0" cy="0"/>
        </a:xfrm>
      </p:grpSpPr>
      <p:sp>
        <p:nvSpPr>
          <p:cNvPr id="4" name="제목 3">
            <a:extLst>
              <a:ext uri="{FF2B5EF4-FFF2-40B4-BE49-F238E27FC236}">
                <a16:creationId xmlns:a16="http://schemas.microsoft.com/office/drawing/2014/main" id="{7F12A0DE-E83A-3896-FBFC-48F0F1E29A28}"/>
              </a:ext>
            </a:extLst>
          </p:cNvPr>
          <p:cNvSpPr>
            <a:spLocks noGrp="1"/>
          </p:cNvSpPr>
          <p:nvPr>
            <p:ph type="title"/>
          </p:nvPr>
        </p:nvSpPr>
        <p:spPr>
          <a:xfrm>
            <a:off x="2928428" y="1476711"/>
            <a:ext cx="5604012" cy="2190079"/>
          </a:xfrm>
        </p:spPr>
        <p:txBody>
          <a:bodyPr>
            <a:noAutofit/>
          </a:bodyPr>
          <a:lstStyle/>
          <a:p>
            <a:pPr lvl="0">
              <a:defRPr/>
            </a:pPr>
            <a:r>
              <a:rPr lang="en-US" altLang="ko-KR" sz="6000" dirty="0"/>
              <a:t>3</a:t>
            </a:r>
            <a:r>
              <a:rPr lang="ko-KR" altLang="en-US" sz="6000" dirty="0"/>
              <a:t>일차</a:t>
            </a:r>
          </a:p>
        </p:txBody>
      </p:sp>
    </p:spTree>
    <p:extLst>
      <p:ext uri="{BB962C8B-B14F-4D97-AF65-F5344CB8AC3E}">
        <p14:creationId xmlns:p14="http://schemas.microsoft.com/office/powerpoint/2010/main" val="920162213"/>
      </p:ext>
    </p:extLst>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B60D08F6-3C65-B5C2-5144-2C7CD6FF07E4}"/>
              </a:ext>
            </a:extLst>
          </p:cNvPr>
          <p:cNvSpPr>
            <a:spLocks noGrp="1"/>
          </p:cNvSpPr>
          <p:nvPr>
            <p:ph type="title"/>
          </p:nvPr>
        </p:nvSpPr>
        <p:spPr/>
        <p:txBody>
          <a:bodyPr vert="horz" lIns="75927" tIns="37964" rIns="75927" bIns="37964" rtlCol="0" anchor="ctr">
            <a:normAutofit/>
          </a:bodyPr>
          <a:lstStyle/>
          <a:p>
            <a:r>
              <a:rPr lang="ko-KR" altLang="en-US" spc="0" dirty="0"/>
              <a:t>일정표</a:t>
            </a:r>
            <a:endParaRPr lang="ko-Kore-KR" altLang="en-US" spc="0" dirty="0"/>
          </a:p>
        </p:txBody>
      </p:sp>
      <p:sp>
        <p:nvSpPr>
          <p:cNvPr id="2" name="내용 개체 틀 1"/>
          <p:cNvSpPr>
            <a:spLocks noGrp="1"/>
          </p:cNvSpPr>
          <p:nvPr>
            <p:ph idx="1"/>
          </p:nvPr>
        </p:nvSpPr>
        <p:spPr>
          <a:xfrm>
            <a:off x="251520" y="771550"/>
            <a:ext cx="8712968" cy="3751262"/>
          </a:xfrm>
        </p:spPr>
        <p:txBody>
          <a:bodyPr>
            <a:normAutofit/>
          </a:bodyPr>
          <a:lstStyle/>
          <a:p>
            <a:r>
              <a:rPr lang="en-US" altLang="ko-KR" sz="1200" dirty="0">
                <a:solidFill>
                  <a:srgbClr val="000000"/>
                </a:solidFill>
                <a:latin typeface="맑은 고딕"/>
                <a:ea typeface="맑은 고딕"/>
                <a:cs typeface="맑은 고딕"/>
              </a:rPr>
              <a:t>Day #3</a:t>
            </a:r>
          </a:p>
          <a:p>
            <a:endParaRPr lang="ko-KR" altLang="en-US" sz="1200" dirty="0"/>
          </a:p>
        </p:txBody>
      </p:sp>
      <p:pic>
        <p:nvPicPr>
          <p:cNvPr id="6" name="그림 5">
            <a:extLst>
              <a:ext uri="{FF2B5EF4-FFF2-40B4-BE49-F238E27FC236}">
                <a16:creationId xmlns:a16="http://schemas.microsoft.com/office/drawing/2014/main" id="{90BFB955-CAAC-4C9B-AD64-98EF6500239C}"/>
              </a:ext>
            </a:extLst>
          </p:cNvPr>
          <p:cNvPicPr>
            <a:picLocks noChangeAspect="1"/>
          </p:cNvPicPr>
          <p:nvPr/>
        </p:nvPicPr>
        <p:blipFill>
          <a:blip r:embed="rId2"/>
          <a:stretch>
            <a:fillRect/>
          </a:stretch>
        </p:blipFill>
        <p:spPr>
          <a:xfrm>
            <a:off x="1691680" y="1435042"/>
            <a:ext cx="5029969" cy="3152932"/>
          </a:xfrm>
          <a:prstGeom prst="rect">
            <a:avLst/>
          </a:prstGeom>
        </p:spPr>
      </p:pic>
    </p:spTree>
    <p:extLst>
      <p:ext uri="{BB962C8B-B14F-4D97-AF65-F5344CB8AC3E}">
        <p14:creationId xmlns:p14="http://schemas.microsoft.com/office/powerpoint/2010/main" val="161202362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Design Patterns Review</a:t>
            </a:r>
            <a:endParaRPr lang="ko-KR" altLang="en-US" spc="0" dirty="0"/>
          </a:p>
        </p:txBody>
      </p:sp>
      <p:sp>
        <p:nvSpPr>
          <p:cNvPr id="22" name="내용 개체 틀 2"/>
          <p:cNvSpPr txBox="1">
            <a:spLocks/>
          </p:cNvSpPr>
          <p:nvPr/>
        </p:nvSpPr>
        <p:spPr>
          <a:xfrm>
            <a:off x="497284" y="771550"/>
            <a:ext cx="1907061" cy="297710"/>
          </a:xfrm>
          <a:prstGeom prst="rect">
            <a:avLst/>
          </a:prstGeom>
          <a:noFill/>
        </p:spPr>
        <p:txBody>
          <a:bodyPr wrap="none" lIns="0" tIns="0" rIns="0" bIns="0" rtlCol="0" anchor="t">
            <a:spAutoFit/>
          </a:bodyPr>
          <a:lstStyle>
            <a:lvl1pPr marL="247529" indent="-247529" algn="l" defTabSz="660076" rtl="0" eaLnBrk="1" latinLnBrk="1" hangingPunct="1">
              <a:spcBef>
                <a:spcPct val="20000"/>
              </a:spcBef>
              <a:buFont typeface="Arial" pitchFamily="34" charset="0"/>
              <a:buChar char="•"/>
              <a:defRPr sz="2400" kern="1200">
                <a:solidFill>
                  <a:schemeClr val="tx1"/>
                </a:solidFill>
                <a:latin typeface="+mn-lt"/>
                <a:ea typeface="+mn-ea"/>
                <a:cs typeface="+mn-cs"/>
              </a:defRPr>
            </a:lvl1pPr>
            <a:lvl2pPr marL="536312" indent="-206274" algn="l" defTabSz="660076" rtl="0" eaLnBrk="1" latinLnBrk="1" hangingPunct="1">
              <a:spcBef>
                <a:spcPct val="20000"/>
              </a:spcBef>
              <a:buFont typeface="Arial" pitchFamily="34" charset="0"/>
              <a:buChar char="–"/>
              <a:defRPr sz="2025" kern="1200">
                <a:solidFill>
                  <a:schemeClr val="tx1"/>
                </a:solidFill>
                <a:latin typeface="+mn-lt"/>
                <a:ea typeface="+mn-ea"/>
                <a:cs typeface="+mn-cs"/>
              </a:defRPr>
            </a:lvl2pPr>
            <a:lvl3pPr marL="825095" indent="-165020" algn="l" defTabSz="660076" rtl="0" eaLnBrk="1" latinLnBrk="1" hangingPunct="1">
              <a:spcBef>
                <a:spcPct val="20000"/>
              </a:spcBef>
              <a:buFont typeface="Arial" pitchFamily="34" charset="0"/>
              <a:buChar char="•"/>
              <a:defRPr sz="1725" kern="1200">
                <a:solidFill>
                  <a:schemeClr val="tx1"/>
                </a:solidFill>
                <a:latin typeface="+mn-lt"/>
                <a:ea typeface="+mn-ea"/>
                <a:cs typeface="+mn-cs"/>
              </a:defRPr>
            </a:lvl3pPr>
            <a:lvl4pPr marL="115513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4pPr>
            <a:lvl5pPr marL="1485172"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5pPr>
            <a:lvl6pPr marL="1815211"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6pPr>
            <a:lvl7pPr marL="2145248"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7pPr>
            <a:lvl8pPr marL="2475286"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8pPr>
            <a:lvl9pPr marL="280532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9pPr>
          </a:lstStyle>
          <a:p>
            <a:pPr marL="0" indent="0" defTabSz="715082">
              <a:lnSpc>
                <a:spcPct val="160000"/>
              </a:lnSpc>
              <a:buNone/>
            </a:pPr>
            <a:r>
              <a:rPr lang="en-US" altLang="ko-KR" sz="1400" b="1" spc="-100" dirty="0" err="1">
                <a:ln>
                  <a:solidFill>
                    <a:srgbClr val="5B9BD5">
                      <a:alpha val="0"/>
                    </a:srgbClr>
                  </a:solidFill>
                </a:ln>
                <a:solidFill>
                  <a:srgbClr val="4156BD"/>
                </a:solidFill>
                <a:cs typeface="Arial" panose="020B0604020202020204" pitchFamily="34" charset="0"/>
              </a:rPr>
              <a:t>GoF</a:t>
            </a:r>
            <a:r>
              <a:rPr lang="en-US" altLang="ko-KR" sz="1400" b="1" spc="-100" dirty="0">
                <a:ln>
                  <a:solidFill>
                    <a:srgbClr val="5B9BD5">
                      <a:alpha val="0"/>
                    </a:srgbClr>
                  </a:solidFill>
                </a:ln>
                <a:solidFill>
                  <a:srgbClr val="4156BD"/>
                </a:solidFill>
                <a:cs typeface="Arial" panose="020B0604020202020204" pitchFamily="34" charset="0"/>
              </a:rPr>
              <a:t> 23</a:t>
            </a:r>
            <a:r>
              <a:rPr lang="ko-KR" altLang="en-US" sz="1400" b="1" spc="-100" dirty="0">
                <a:ln>
                  <a:solidFill>
                    <a:srgbClr val="5B9BD5">
                      <a:alpha val="0"/>
                    </a:srgbClr>
                  </a:solidFill>
                </a:ln>
                <a:solidFill>
                  <a:srgbClr val="4156BD"/>
                </a:solidFill>
                <a:cs typeface="Arial" panose="020B0604020202020204" pitchFamily="34" charset="0"/>
              </a:rPr>
              <a:t>개 </a:t>
            </a:r>
            <a:r>
              <a:rPr lang="en-US" altLang="ko-KR" sz="1400" b="1" spc="-100" dirty="0">
                <a:ln>
                  <a:solidFill>
                    <a:srgbClr val="5B9BD5">
                      <a:alpha val="0"/>
                    </a:srgbClr>
                  </a:solidFill>
                </a:ln>
                <a:solidFill>
                  <a:srgbClr val="4156BD"/>
                </a:solidFill>
                <a:cs typeface="Arial" panose="020B0604020202020204" pitchFamily="34" charset="0"/>
              </a:rPr>
              <a:t>Design Patterns</a:t>
            </a:r>
          </a:p>
        </p:txBody>
      </p:sp>
      <p:sp>
        <p:nvSpPr>
          <p:cNvPr id="23" name="내용 개체 틀 2"/>
          <p:cNvSpPr txBox="1">
            <a:spLocks/>
          </p:cNvSpPr>
          <p:nvPr/>
        </p:nvSpPr>
        <p:spPr>
          <a:xfrm>
            <a:off x="0" y="1275606"/>
            <a:ext cx="8208912" cy="2573232"/>
          </a:xfrm>
          <a:prstGeom prst="rect">
            <a:avLst/>
          </a:prstGeom>
        </p:spPr>
        <p:txBody>
          <a:bodyPr vert="horz" lIns="91440" tIns="45720" rIns="91440" bIns="45720" rtlCol="0">
            <a:noAutofit/>
          </a:bodyPr>
          <a:lstStyle>
            <a:lvl1pPr marL="361950" indent="-252000">
              <a:lnSpc>
                <a:spcPct val="130000"/>
              </a:lnSpc>
              <a:spcBef>
                <a:spcPct val="20000"/>
              </a:spcBef>
              <a:buSzPct val="100000"/>
              <a:buFont typeface="+mj-lt"/>
              <a:buAutoNum type="arabicPeriod"/>
              <a:defRPr sz="1600" b="1" spc="-120" baseline="0">
                <a:latin typeface="맑은 고딕" panose="020B0503020000020004" pitchFamily="50" charset="-127"/>
                <a:ea typeface="맑은 고딕" panose="020B0503020000020004" pitchFamily="50" charset="-127"/>
              </a:defRPr>
            </a:lvl1pPr>
            <a:lvl2pPr marL="714375" lvl="1" indent="-252000">
              <a:lnSpc>
                <a:spcPct val="130000"/>
              </a:lnSpc>
              <a:spcBef>
                <a:spcPct val="20000"/>
              </a:spcBef>
              <a:buSzPct val="100000"/>
              <a:buFont typeface="+mj-lt"/>
              <a:buAutoNum type="arabicPeriod"/>
              <a:defRPr sz="1200" spc="-120" baseline="0">
                <a:solidFill>
                  <a:srgbClr val="1E1E2A"/>
                </a:solidFill>
                <a:latin typeface="맑은 고딕" panose="020B0503020000020004" pitchFamily="50" charset="-127"/>
                <a:ea typeface="맑은 고딕" panose="020B0503020000020004" pitchFamily="50" charset="-127"/>
              </a:defRPr>
            </a:lvl2pPr>
            <a:lvl3pPr marL="1076325" indent="-252000">
              <a:lnSpc>
                <a:spcPct val="130000"/>
              </a:lnSpc>
              <a:spcBef>
                <a:spcPct val="20000"/>
              </a:spcBef>
              <a:buSzPct val="100000"/>
              <a:buFont typeface="+mj-lt"/>
              <a:buAutoNum type="arabicPeriod"/>
              <a:defRPr sz="1400" spc="-120" baseline="0">
                <a:solidFill>
                  <a:srgbClr val="1E1E2A"/>
                </a:solidFill>
                <a:latin typeface="맑은 고딕" panose="020B0503020000020004" pitchFamily="50" charset="-127"/>
                <a:ea typeface="맑은 고딕" panose="020B0503020000020004" pitchFamily="50" charset="-127"/>
              </a:defRPr>
            </a:lvl3pPr>
            <a:lvl4pPr marL="1343025" indent="-266700">
              <a:lnSpc>
                <a:spcPct val="130000"/>
              </a:lnSpc>
              <a:spcBef>
                <a:spcPct val="20000"/>
              </a:spcBef>
              <a:buFont typeface="+mj-lt"/>
              <a:buAutoNum type="arabicPeriod"/>
              <a:defRPr sz="1200">
                <a:latin typeface="맑은 고딕" panose="020B0503020000020004" pitchFamily="50" charset="-127"/>
                <a:ea typeface="맑은 고딕" panose="020B0503020000020004" pitchFamily="50" charset="-127"/>
              </a:defRPr>
            </a:lvl4pPr>
            <a:lvl5pPr marL="1619250" indent="-276225">
              <a:lnSpc>
                <a:spcPct val="130000"/>
              </a:lnSpc>
              <a:spcBef>
                <a:spcPct val="20000"/>
              </a:spcBef>
              <a:buFont typeface="+mj-lt"/>
              <a:buAutoNum type="arabicPeriod"/>
              <a:defRPr sz="1000">
                <a:latin typeface="맑은 고딕" panose="020B0503020000020004" pitchFamily="50" charset="-127"/>
                <a:ea typeface="맑은 고딕" panose="020B0503020000020004" pitchFamily="50" charset="-127"/>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lvl="2">
              <a:lnSpc>
                <a:spcPct val="200000"/>
              </a:lnSpc>
              <a:buClr>
                <a:schemeClr val="accent1"/>
              </a:buClr>
              <a:buFont typeface="Wingdings" panose="05000000000000000000" pitchFamily="2" charset="2"/>
              <a:buChar char="§"/>
            </a:pPr>
            <a:r>
              <a:rPr lang="en-US" altLang="ko-KR" spc="-110" dirty="0">
                <a:hlinkClick r:id="rId2"/>
              </a:rPr>
              <a:t>https://refactoring.guru/design-patterns</a:t>
            </a:r>
            <a:r>
              <a:rPr lang="en-US" altLang="ko-KR" spc="-110" dirty="0"/>
              <a:t> (</a:t>
            </a:r>
            <a:r>
              <a:rPr lang="ko-KR" altLang="en-US" spc="-110" dirty="0"/>
              <a:t>한국어 선택 가능</a:t>
            </a:r>
            <a:r>
              <a:rPr lang="en-US" altLang="ko-KR" spc="-110" dirty="0"/>
              <a:t>)</a:t>
            </a:r>
          </a:p>
        </p:txBody>
      </p:sp>
      <p:pic>
        <p:nvPicPr>
          <p:cNvPr id="5" name="그림 4">
            <a:extLst>
              <a:ext uri="{FF2B5EF4-FFF2-40B4-BE49-F238E27FC236}">
                <a16:creationId xmlns:a16="http://schemas.microsoft.com/office/drawing/2014/main" id="{96AA28AF-AB9E-45E7-B698-01CFE9AFA054}"/>
              </a:ext>
            </a:extLst>
          </p:cNvPr>
          <p:cNvPicPr>
            <a:picLocks noChangeAspect="1"/>
          </p:cNvPicPr>
          <p:nvPr/>
        </p:nvPicPr>
        <p:blipFill>
          <a:blip r:embed="rId3"/>
          <a:stretch>
            <a:fillRect/>
          </a:stretch>
        </p:blipFill>
        <p:spPr>
          <a:xfrm>
            <a:off x="1559844" y="1850517"/>
            <a:ext cx="5172396" cy="3193708"/>
          </a:xfrm>
          <a:prstGeom prst="rect">
            <a:avLst/>
          </a:prstGeom>
        </p:spPr>
      </p:pic>
    </p:spTree>
    <p:extLst>
      <p:ext uri="{BB962C8B-B14F-4D97-AF65-F5344CB8AC3E}">
        <p14:creationId xmlns:p14="http://schemas.microsoft.com/office/powerpoint/2010/main" val="38522346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2699791" y="1491630"/>
            <a:ext cx="6444209" cy="2880321"/>
          </a:xfrm>
        </p:spPr>
        <p:txBody>
          <a:bodyPr>
            <a:noAutofit/>
          </a:bodyPr>
          <a:lstStyle/>
          <a:p>
            <a:r>
              <a:rPr lang="en-US" altLang="ko-KR" sz="1600" dirty="0"/>
              <a:t>[</a:t>
            </a:r>
            <a:r>
              <a:rPr lang="ko-KR" altLang="en-US" sz="1600" dirty="0"/>
              <a:t>필수</a:t>
            </a:r>
            <a:r>
              <a:rPr lang="en-US" altLang="ko-KR" sz="1600" dirty="0"/>
              <a:t>]</a:t>
            </a:r>
            <a:br>
              <a:rPr lang="en-US" altLang="ko-KR" b="0" dirty="0"/>
            </a:br>
            <a:r>
              <a:rPr lang="en-US" altLang="ko-KR" sz="2000" b="0" dirty="0"/>
              <a:t>05 Visitor Pattern</a:t>
            </a:r>
            <a:r>
              <a:rPr lang="en-US" altLang="ko-KR" sz="1600" b="0" dirty="0"/>
              <a:t> (71min)</a:t>
            </a:r>
            <a:br>
              <a:rPr lang="en-US" altLang="ko-KR" b="0" dirty="0"/>
            </a:br>
            <a:r>
              <a:rPr lang="en-US" altLang="ko-KR" sz="1600" b="0" dirty="0"/>
              <a:t>  - 2.2 Design Patterns </a:t>
            </a:r>
            <a:r>
              <a:rPr lang="ko-KR" altLang="en-US" sz="1600" b="0" dirty="0"/>
              <a:t>이론</a:t>
            </a:r>
            <a:r>
              <a:rPr lang="en-US" altLang="ko-KR" sz="1600" b="0" dirty="0"/>
              <a:t>(</a:t>
            </a:r>
            <a:r>
              <a:rPr lang="ko-KR" altLang="en-US" sz="1600" b="0" dirty="0" err="1"/>
              <a:t>추가패턴</a:t>
            </a:r>
            <a:r>
              <a:rPr lang="en-US" altLang="ko-KR" sz="1600" b="0" dirty="0"/>
              <a:t>).pdf</a:t>
            </a:r>
            <a:br>
              <a:rPr lang="en-US" altLang="ko-KR" b="0" dirty="0"/>
            </a:br>
            <a:br>
              <a:rPr lang="en-US" altLang="ko-KR" b="0" dirty="0"/>
            </a:br>
            <a:r>
              <a:rPr lang="en-US" altLang="ko-KR" sz="1600" spc="-150" dirty="0">
                <a:ln>
                  <a:noFill/>
                </a:ln>
                <a:solidFill>
                  <a:srgbClr val="B2CCEC"/>
                </a:solidFill>
                <a:latin typeface="+mn-ea"/>
              </a:rPr>
              <a:t>[</a:t>
            </a:r>
            <a:r>
              <a:rPr lang="ko-KR" altLang="en-US" sz="1600" spc="-150" dirty="0">
                <a:ln>
                  <a:noFill/>
                </a:ln>
                <a:solidFill>
                  <a:srgbClr val="B2CCEC"/>
                </a:solidFill>
                <a:latin typeface="+mn-ea"/>
              </a:rPr>
              <a:t>추가 학습</a:t>
            </a:r>
            <a:r>
              <a:rPr lang="en-US" altLang="ko-KR" sz="1600" spc="-150" dirty="0">
                <a:ln>
                  <a:noFill/>
                </a:ln>
                <a:solidFill>
                  <a:srgbClr val="B2CCEC"/>
                </a:solidFill>
                <a:latin typeface="+mn-ea"/>
              </a:rPr>
              <a:t>]</a:t>
            </a:r>
            <a:br>
              <a:rPr lang="en-US" altLang="ko-KR" b="0" dirty="0"/>
            </a:br>
            <a:r>
              <a:rPr lang="en-US" altLang="ko-KR" sz="2000" b="0" spc="-150" dirty="0">
                <a:ln>
                  <a:noFill/>
                </a:ln>
                <a:solidFill>
                  <a:srgbClr val="B2CCEC"/>
                </a:solidFill>
                <a:latin typeface="+mn-ea"/>
              </a:rPr>
              <a:t>06. Façade</a:t>
            </a:r>
            <a:br>
              <a:rPr lang="en-US" altLang="ko-KR" sz="2000" b="0" spc="-150" dirty="0">
                <a:ln>
                  <a:noFill/>
                </a:ln>
                <a:solidFill>
                  <a:srgbClr val="B2CCEC"/>
                </a:solidFill>
                <a:latin typeface="+mn-ea"/>
              </a:rPr>
            </a:br>
            <a:r>
              <a:rPr lang="en-US" altLang="ko-KR" sz="2000" b="0" spc="-150" dirty="0">
                <a:ln>
                  <a:noFill/>
                </a:ln>
                <a:solidFill>
                  <a:srgbClr val="B2CCEC"/>
                </a:solidFill>
                <a:latin typeface="+mn-ea"/>
              </a:rPr>
              <a:t> </a:t>
            </a:r>
            <a:r>
              <a:rPr lang="en-US" altLang="ko-KR" sz="1600" b="0" spc="-150" dirty="0">
                <a:ln>
                  <a:noFill/>
                </a:ln>
                <a:solidFill>
                  <a:srgbClr val="B2CCEC"/>
                </a:solidFill>
                <a:latin typeface="+mn-ea"/>
              </a:rPr>
              <a:t> - 2.2 Design Patterns </a:t>
            </a:r>
            <a:r>
              <a:rPr lang="ko-KR" altLang="en-US" sz="1600" b="0" spc="-150" dirty="0">
                <a:ln>
                  <a:noFill/>
                </a:ln>
                <a:solidFill>
                  <a:srgbClr val="B2CCEC"/>
                </a:solidFill>
                <a:latin typeface="+mn-ea"/>
              </a:rPr>
              <a:t>이론</a:t>
            </a:r>
            <a:r>
              <a:rPr lang="en-US" altLang="ko-KR" sz="1600" b="0" spc="-150" dirty="0">
                <a:ln>
                  <a:noFill/>
                </a:ln>
                <a:solidFill>
                  <a:srgbClr val="B2CCEC"/>
                </a:solidFill>
                <a:latin typeface="+mn-ea"/>
              </a:rPr>
              <a:t>(</a:t>
            </a:r>
            <a:r>
              <a:rPr lang="ko-KR" altLang="en-US" sz="1600" b="0" spc="-150" dirty="0" err="1">
                <a:ln>
                  <a:noFill/>
                </a:ln>
                <a:solidFill>
                  <a:srgbClr val="B2CCEC"/>
                </a:solidFill>
                <a:latin typeface="+mn-ea"/>
              </a:rPr>
              <a:t>추가패턴</a:t>
            </a:r>
            <a:r>
              <a:rPr lang="en-US" altLang="ko-KR" sz="1600" b="0" spc="-150" dirty="0">
                <a:ln>
                  <a:noFill/>
                </a:ln>
                <a:solidFill>
                  <a:srgbClr val="B2CCEC"/>
                </a:solidFill>
                <a:latin typeface="+mn-ea"/>
              </a:rPr>
              <a:t>).pdf</a:t>
            </a:r>
            <a:br>
              <a:rPr lang="en-US" altLang="ko-KR" sz="2000" b="0" spc="-150" dirty="0">
                <a:ln>
                  <a:noFill/>
                </a:ln>
                <a:solidFill>
                  <a:srgbClr val="B2CCEC"/>
                </a:solidFill>
                <a:latin typeface="+mn-ea"/>
              </a:rPr>
            </a:br>
            <a:r>
              <a:rPr lang="en-US" altLang="ko-KR" sz="2000" b="0" spc="-150" dirty="0">
                <a:ln>
                  <a:noFill/>
                </a:ln>
                <a:solidFill>
                  <a:srgbClr val="B2CCEC"/>
                </a:solidFill>
                <a:latin typeface="+mn-ea"/>
              </a:rPr>
              <a:t>19. Pattern Summary</a:t>
            </a:r>
            <a:br>
              <a:rPr lang="en-US" altLang="ko-KR" sz="1600" b="0" dirty="0"/>
            </a:br>
            <a:br>
              <a:rPr lang="ko-KR" altLang="en-US" sz="1600" b="0" dirty="0"/>
            </a:br>
            <a:br>
              <a:rPr lang="en-US" altLang="ko-KR" sz="1600" b="0" dirty="0"/>
            </a:br>
            <a:r>
              <a:rPr lang="en-US" altLang="ko-KR" sz="1600" b="0" dirty="0"/>
              <a:t>* </a:t>
            </a:r>
            <a:r>
              <a:rPr lang="ko-KR" altLang="en-US" sz="1600" b="0" dirty="0"/>
              <a:t>사전 학습 등 </a:t>
            </a:r>
            <a:r>
              <a:rPr lang="en-US" altLang="ko-KR" sz="1600" b="0" dirty="0"/>
              <a:t>DP</a:t>
            </a:r>
            <a:r>
              <a:rPr lang="ko-KR" altLang="en-US" sz="1600" b="0" dirty="0"/>
              <a:t>에 익숙한 분은 영상 시청 없이 바로 </a:t>
            </a:r>
            <a:r>
              <a:rPr lang="en-US" altLang="ko-KR" sz="1600" b="0" dirty="0"/>
              <a:t>Practice </a:t>
            </a:r>
            <a:r>
              <a:rPr lang="ko-KR" altLang="en-US" sz="1600" b="0" dirty="0"/>
              <a:t> 도전</a:t>
            </a:r>
            <a:r>
              <a:rPr lang="en-US" altLang="ko-KR" sz="1600" b="0" dirty="0"/>
              <a:t>!</a:t>
            </a:r>
            <a:br>
              <a:rPr lang="ko-KR" altLang="en-US" b="0" dirty="0"/>
            </a:br>
            <a:endParaRPr lang="en-US" altLang="ko-KR" sz="1600" b="0" dirty="0"/>
          </a:p>
        </p:txBody>
      </p:sp>
      <p:sp>
        <p:nvSpPr>
          <p:cNvPr id="5" name="제목 1"/>
          <p:cNvSpPr txBox="1">
            <a:spLocks/>
          </p:cNvSpPr>
          <p:nvPr/>
        </p:nvSpPr>
        <p:spPr>
          <a:xfrm>
            <a:off x="2915816" y="483518"/>
            <a:ext cx="4752528" cy="533895"/>
          </a:xfrm>
          <a:prstGeom prst="rect">
            <a:avLst/>
          </a:prstGeom>
        </p:spPr>
        <p:txBody>
          <a:bodyPr vert="horz" lIns="75927" tIns="37964" rIns="75927" bIns="37964" rtlCol="0" anchor="ctr">
            <a:noAutofit/>
          </a:bodyPr>
          <a:lstStyle>
            <a:lvl1pPr algn="l" defTabSz="914400" rtl="0" eaLnBrk="1" latinLnBrk="1" hangingPunct="1">
              <a:spcBef>
                <a:spcPct val="0"/>
              </a:spcBef>
              <a:buNone/>
              <a:defRPr lang="ko-KR" altLang="en-US" sz="2400" b="1" kern="1200" spc="-100" baseline="0" dirty="0">
                <a:ln>
                  <a:solidFill>
                    <a:srgbClr val="2A2D72">
                      <a:alpha val="5000"/>
                    </a:srgbClr>
                  </a:solidFill>
                </a:ln>
                <a:solidFill>
                  <a:srgbClr val="5974BF"/>
                </a:solidFill>
                <a:latin typeface="+mj-ea"/>
                <a:ea typeface="+mj-ea"/>
                <a:cs typeface="Arial" panose="020B0604020202020204" pitchFamily="34" charset="0"/>
              </a:defRPr>
            </a:lvl1pPr>
          </a:lstStyle>
          <a:p>
            <a:pPr defTabSz="759253"/>
            <a:r>
              <a:rPr lang="en-US" altLang="ko-KR" sz="2800" spc="-150" dirty="0">
                <a:ln>
                  <a:noFill/>
                </a:ln>
                <a:solidFill>
                  <a:srgbClr val="B2CCEC"/>
                </a:solidFill>
                <a:latin typeface="+mn-ea"/>
                <a:ea typeface="+mn-ea"/>
              </a:rPr>
              <a:t>[</a:t>
            </a:r>
            <a:r>
              <a:rPr lang="ko-KR" altLang="en-US" sz="2800" spc="-150" dirty="0">
                <a:ln>
                  <a:noFill/>
                </a:ln>
                <a:solidFill>
                  <a:srgbClr val="B2CCEC"/>
                </a:solidFill>
                <a:latin typeface="+mn-ea"/>
                <a:ea typeface="+mn-ea"/>
              </a:rPr>
              <a:t>온라인 영상 학습</a:t>
            </a:r>
            <a:r>
              <a:rPr lang="en-US" altLang="ko-KR" sz="2800" spc="-150" dirty="0">
                <a:ln>
                  <a:noFill/>
                </a:ln>
                <a:solidFill>
                  <a:srgbClr val="B2CCEC"/>
                </a:solidFill>
                <a:latin typeface="+mn-ea"/>
                <a:ea typeface="+mn-ea"/>
              </a:rPr>
              <a:t>]</a:t>
            </a:r>
            <a:endParaRPr lang="ko-KR" altLang="en-US" sz="2800" spc="-150" dirty="0">
              <a:ln>
                <a:noFill/>
              </a:ln>
              <a:solidFill>
                <a:srgbClr val="B2CCEC"/>
              </a:solidFill>
              <a:latin typeface="+mn-ea"/>
              <a:ea typeface="+mn-ea"/>
            </a:endParaRPr>
          </a:p>
        </p:txBody>
      </p:sp>
      <p:sp>
        <p:nvSpPr>
          <p:cNvPr id="7" name="직사각형 6"/>
          <p:cNvSpPr/>
          <p:nvPr/>
        </p:nvSpPr>
        <p:spPr>
          <a:xfrm>
            <a:off x="395536" y="2283718"/>
            <a:ext cx="1843774" cy="954107"/>
          </a:xfrm>
          <a:prstGeom prst="rect">
            <a:avLst/>
          </a:prstGeom>
        </p:spPr>
        <p:txBody>
          <a:bodyPr wrap="none">
            <a:spAutoFit/>
          </a:bodyPr>
          <a:lstStyle/>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Behavioral</a:t>
            </a:r>
          </a:p>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Patterns</a:t>
            </a:r>
            <a:endParaRPr lang="ko-KR" altLang="en-US" sz="2800" b="1" spc="-100" dirty="0">
              <a:ln>
                <a:solidFill>
                  <a:srgbClr val="2A2D72">
                    <a:alpha val="5000"/>
                  </a:srgbClr>
                </a:solidFill>
              </a:ln>
              <a:solidFill>
                <a:srgbClr val="5974BF"/>
              </a:solidFill>
              <a:latin typeface="+mj-ea"/>
              <a:ea typeface="+mj-ea"/>
              <a:cs typeface="Arial" panose="020B0604020202020204" pitchFamily="34" charset="0"/>
            </a:endParaRPr>
          </a:p>
        </p:txBody>
      </p:sp>
    </p:spTree>
    <p:extLst>
      <p:ext uri="{BB962C8B-B14F-4D97-AF65-F5344CB8AC3E}">
        <p14:creationId xmlns:p14="http://schemas.microsoft.com/office/powerpoint/2010/main" val="113120531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2928428" y="1821831"/>
            <a:ext cx="5748028" cy="2190079"/>
          </a:xfrm>
        </p:spPr>
        <p:txBody>
          <a:bodyPr>
            <a:noAutofit/>
          </a:bodyPr>
          <a:lstStyle/>
          <a:p>
            <a:r>
              <a:rPr lang="en-US" altLang="ko-KR" sz="3600" dirty="0"/>
              <a:t>Visitor Pattern </a:t>
            </a:r>
          </a:p>
        </p:txBody>
      </p:sp>
      <p:sp>
        <p:nvSpPr>
          <p:cNvPr id="5" name="제목 1"/>
          <p:cNvSpPr txBox="1">
            <a:spLocks/>
          </p:cNvSpPr>
          <p:nvPr/>
        </p:nvSpPr>
        <p:spPr>
          <a:xfrm>
            <a:off x="2915816" y="1203598"/>
            <a:ext cx="2376264" cy="533895"/>
          </a:xfrm>
          <a:prstGeom prst="rect">
            <a:avLst/>
          </a:prstGeom>
        </p:spPr>
        <p:txBody>
          <a:bodyPr vert="horz" lIns="75927" tIns="37964" rIns="75927" bIns="37964" rtlCol="0" anchor="ctr">
            <a:noAutofit/>
          </a:bodyPr>
          <a:lstStyle>
            <a:lvl1pPr algn="l" defTabSz="914400" rtl="0" eaLnBrk="1" latinLnBrk="1" hangingPunct="1">
              <a:spcBef>
                <a:spcPct val="0"/>
              </a:spcBef>
              <a:buNone/>
              <a:defRPr lang="ko-KR" altLang="en-US" sz="2400" b="1" kern="1200" spc="-100" baseline="0" dirty="0">
                <a:ln>
                  <a:solidFill>
                    <a:srgbClr val="2A2D72">
                      <a:alpha val="5000"/>
                    </a:srgbClr>
                  </a:solidFill>
                </a:ln>
                <a:solidFill>
                  <a:srgbClr val="5974BF"/>
                </a:solidFill>
                <a:latin typeface="+mj-ea"/>
                <a:ea typeface="+mj-ea"/>
                <a:cs typeface="Arial" panose="020B0604020202020204" pitchFamily="34" charset="0"/>
              </a:defRPr>
            </a:lvl1pPr>
          </a:lstStyle>
          <a:p>
            <a:pPr defTabSz="759272"/>
            <a:r>
              <a:rPr lang="en-US" altLang="ko-KR" sz="2800" spc="-150" dirty="0">
                <a:ln>
                  <a:noFill/>
                </a:ln>
                <a:solidFill>
                  <a:srgbClr val="B2CCEC"/>
                </a:solidFill>
                <a:latin typeface="+mn-ea"/>
                <a:ea typeface="+mn-ea"/>
              </a:rPr>
              <a:t>11</a:t>
            </a:r>
            <a:endParaRPr lang="ko-KR" altLang="en-US" sz="2800" spc="-150" dirty="0">
              <a:ln>
                <a:noFill/>
              </a:ln>
              <a:solidFill>
                <a:srgbClr val="B2CCEC"/>
              </a:solidFill>
              <a:latin typeface="+mn-ea"/>
              <a:ea typeface="+mn-ea"/>
            </a:endParaRPr>
          </a:p>
        </p:txBody>
      </p:sp>
      <p:sp>
        <p:nvSpPr>
          <p:cNvPr id="7" name="직사각형 6"/>
          <p:cNvSpPr/>
          <p:nvPr/>
        </p:nvSpPr>
        <p:spPr>
          <a:xfrm>
            <a:off x="395536" y="2283718"/>
            <a:ext cx="1843774" cy="954107"/>
          </a:xfrm>
          <a:prstGeom prst="rect">
            <a:avLst/>
          </a:prstGeom>
        </p:spPr>
        <p:txBody>
          <a:bodyPr wrap="none">
            <a:spAutoFit/>
          </a:bodyPr>
          <a:lstStyle/>
          <a:p>
            <a:r>
              <a:rPr lang="en-US" altLang="ko-KR" sz="2800" b="1" spc="-100" dirty="0">
                <a:ln>
                  <a:solidFill>
                    <a:srgbClr val="2A2D72">
                      <a:alpha val="5000"/>
                    </a:srgbClr>
                  </a:solidFill>
                </a:ln>
                <a:solidFill>
                  <a:srgbClr val="5974BF"/>
                </a:solidFill>
                <a:latin typeface="+mj-ea"/>
                <a:cs typeface="Arial" panose="020B0604020202020204" pitchFamily="34" charset="0"/>
              </a:rPr>
              <a:t>Behavioral</a:t>
            </a:r>
          </a:p>
          <a:p>
            <a:r>
              <a:rPr lang="en-US" altLang="ko-KR" sz="2800" b="1" spc="-100" dirty="0">
                <a:ln>
                  <a:solidFill>
                    <a:srgbClr val="2A2D72">
                      <a:alpha val="5000"/>
                    </a:srgbClr>
                  </a:solidFill>
                </a:ln>
                <a:solidFill>
                  <a:srgbClr val="5974BF"/>
                </a:solidFill>
                <a:latin typeface="+mj-ea"/>
                <a:cs typeface="Arial" panose="020B0604020202020204" pitchFamily="34" charset="0"/>
              </a:rPr>
              <a:t>Patterns</a:t>
            </a:r>
            <a:endParaRPr lang="ko-KR" altLang="en-US" sz="2800" b="1" spc="-100" dirty="0">
              <a:ln>
                <a:solidFill>
                  <a:srgbClr val="2A2D72">
                    <a:alpha val="5000"/>
                  </a:srgbClr>
                </a:solidFill>
              </a:ln>
              <a:solidFill>
                <a:srgbClr val="5974BF"/>
              </a:solidFill>
              <a:latin typeface="+mj-ea"/>
              <a:cs typeface="Arial" panose="020B0604020202020204" pitchFamily="34" charset="0"/>
            </a:endParaRPr>
          </a:p>
        </p:txBody>
      </p:sp>
    </p:spTree>
    <p:extLst>
      <p:ext uri="{BB962C8B-B14F-4D97-AF65-F5344CB8AC3E}">
        <p14:creationId xmlns:p14="http://schemas.microsoft.com/office/powerpoint/2010/main" val="355584108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Visitor Pattern – Class Diagram</a:t>
            </a:r>
            <a:endParaRPr lang="ko-KR" altLang="en-US" spc="0" dirty="0"/>
          </a:p>
        </p:txBody>
      </p:sp>
      <p:pic>
        <p:nvPicPr>
          <p:cNvPr id="6" name="내용 개체 틀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98657" y="908050"/>
            <a:ext cx="4218123" cy="3751263"/>
          </a:xfrm>
          <a:prstGeom prst="rect">
            <a:avLst/>
          </a:prstGeom>
        </p:spPr>
      </p:pic>
    </p:spTree>
    <p:extLst>
      <p:ext uri="{BB962C8B-B14F-4D97-AF65-F5344CB8AC3E}">
        <p14:creationId xmlns:p14="http://schemas.microsoft.com/office/powerpoint/2010/main" val="92368292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visitor">
            <a:extLst>
              <a:ext uri="{FF2B5EF4-FFF2-40B4-BE49-F238E27FC236}">
                <a16:creationId xmlns:a16="http://schemas.microsoft.com/office/drawing/2014/main" id="{3D11F08C-3D0F-4EA1-8FFE-72DC94EDA2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0271" y="843558"/>
            <a:ext cx="3546225" cy="404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내용 개체 틀 1"/>
          <p:cNvSpPr>
            <a:spLocks noGrp="1"/>
          </p:cNvSpPr>
          <p:nvPr>
            <p:ph idx="1"/>
          </p:nvPr>
        </p:nvSpPr>
        <p:spPr>
          <a:xfrm>
            <a:off x="251520" y="771550"/>
            <a:ext cx="8712968" cy="3751262"/>
          </a:xfrm>
        </p:spPr>
        <p:txBody>
          <a:bodyPr>
            <a:normAutofit/>
          </a:bodyPr>
          <a:lstStyle/>
          <a:p>
            <a:pPr>
              <a:lnSpc>
                <a:spcPct val="80000"/>
              </a:lnSpc>
            </a:pPr>
            <a:r>
              <a:rPr lang="en-US" altLang="ko-KR" sz="1200" dirty="0">
                <a:solidFill>
                  <a:srgbClr val="0070C0"/>
                </a:solidFill>
              </a:rPr>
              <a:t>Separate</a:t>
            </a:r>
            <a:r>
              <a:rPr lang="en-US" altLang="ko-KR" sz="1200" dirty="0"/>
              <a:t> </a:t>
            </a:r>
            <a:r>
              <a:rPr lang="en-US" altLang="ko-KR" sz="1200" dirty="0">
                <a:solidFill>
                  <a:srgbClr val="0070C0"/>
                </a:solidFill>
              </a:rPr>
              <a:t>algorithms </a:t>
            </a:r>
            <a:r>
              <a:rPr lang="en-US" altLang="ko-KR" sz="1200" dirty="0"/>
              <a:t>from the </a:t>
            </a:r>
            <a:r>
              <a:rPr lang="en-US" altLang="ko-KR" sz="1200" dirty="0">
                <a:solidFill>
                  <a:srgbClr val="0070C0"/>
                </a:solidFill>
              </a:rPr>
              <a:t>objects </a:t>
            </a:r>
            <a:r>
              <a:rPr lang="en-US" altLang="ko-KR" sz="1200" dirty="0"/>
              <a:t>on which they operate</a:t>
            </a:r>
          </a:p>
          <a:p>
            <a:pPr marL="361338" lvl="1" indent="0">
              <a:lnSpc>
                <a:spcPct val="80000"/>
              </a:lnSpc>
              <a:buNone/>
            </a:pPr>
            <a:r>
              <a:rPr lang="en-US" altLang="ko-KR" sz="1200" dirty="0"/>
              <a:t>algorithms that are likely to change should be isolated</a:t>
            </a:r>
          </a:p>
          <a:p>
            <a:pPr>
              <a:lnSpc>
                <a:spcPct val="80000"/>
              </a:lnSpc>
            </a:pPr>
            <a:endParaRPr lang="en-US" altLang="ko-KR" sz="1200" dirty="0"/>
          </a:p>
          <a:p>
            <a:pPr>
              <a:lnSpc>
                <a:spcPct val="80000"/>
              </a:lnSpc>
            </a:pPr>
            <a:r>
              <a:rPr lang="en-US" altLang="ko-KR" sz="1200" dirty="0"/>
              <a:t>Design patterns : </a:t>
            </a:r>
          </a:p>
          <a:p>
            <a:pPr marL="91463" indent="0">
              <a:lnSpc>
                <a:spcPct val="80000"/>
              </a:lnSpc>
              <a:buNone/>
            </a:pPr>
            <a:r>
              <a:rPr lang="en-US" altLang="ko-KR" sz="1200" dirty="0"/>
              <a:t>    Builder, Iterator, Strategy, Template Method, Visitor</a:t>
            </a:r>
          </a:p>
          <a:p>
            <a:pPr>
              <a:lnSpc>
                <a:spcPct val="80000"/>
              </a:lnSpc>
            </a:pPr>
            <a:endParaRPr lang="ko-KR" altLang="en-US" sz="1200" dirty="0"/>
          </a:p>
        </p:txBody>
      </p:sp>
      <p:sp>
        <p:nvSpPr>
          <p:cNvPr id="3" name="제목 2"/>
          <p:cNvSpPr>
            <a:spLocks noGrp="1"/>
          </p:cNvSpPr>
          <p:nvPr>
            <p:ph type="title"/>
          </p:nvPr>
        </p:nvSpPr>
        <p:spPr/>
        <p:txBody>
          <a:bodyPr vert="horz" lIns="75927" tIns="37964" rIns="75927" bIns="37964" rtlCol="0" anchor="ctr">
            <a:normAutofit/>
          </a:bodyPr>
          <a:lstStyle/>
          <a:p>
            <a:r>
              <a:rPr lang="en-US" altLang="ko-KR" spc="0" dirty="0"/>
              <a:t>Algorithmic Dependencies</a:t>
            </a:r>
            <a:endParaRPr lang="ko-KR" altLang="en-US" spc="0" dirty="0"/>
          </a:p>
        </p:txBody>
      </p:sp>
      <p:sp>
        <p:nvSpPr>
          <p:cNvPr id="5" name="직사각형 4"/>
          <p:cNvSpPr/>
          <p:nvPr/>
        </p:nvSpPr>
        <p:spPr>
          <a:xfrm>
            <a:off x="6156176" y="553162"/>
            <a:ext cx="2880320" cy="223461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ko-KR" sz="1200" b="1" dirty="0">
                <a:solidFill>
                  <a:srgbClr val="2A2D72"/>
                </a:solidFill>
              </a:rPr>
              <a:t>Algorithms</a:t>
            </a:r>
            <a:endParaRPr lang="ko-KR" altLang="en-US" sz="1200" b="1" dirty="0">
              <a:solidFill>
                <a:srgbClr val="2A2D72"/>
              </a:solidFill>
            </a:endParaRPr>
          </a:p>
        </p:txBody>
      </p:sp>
      <p:sp>
        <p:nvSpPr>
          <p:cNvPr id="6" name="직사각형 5"/>
          <p:cNvSpPr/>
          <p:nvPr/>
        </p:nvSpPr>
        <p:spPr>
          <a:xfrm>
            <a:off x="5490270" y="2852936"/>
            <a:ext cx="3618233" cy="166303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altLang="ko-KR" sz="1200" b="1" dirty="0">
                <a:solidFill>
                  <a:srgbClr val="2A2D72"/>
                </a:solidFill>
              </a:rPr>
              <a:t>Objects</a:t>
            </a:r>
            <a:endParaRPr lang="ko-KR" altLang="en-US" sz="1200" b="1" dirty="0">
              <a:solidFill>
                <a:srgbClr val="2A2D72"/>
              </a:solidFill>
            </a:endParaRPr>
          </a:p>
        </p:txBody>
      </p:sp>
    </p:spTree>
    <p:extLst>
      <p:ext uri="{BB962C8B-B14F-4D97-AF65-F5344CB8AC3E}">
        <p14:creationId xmlns:p14="http://schemas.microsoft.com/office/powerpoint/2010/main" val="238479396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p:txBody>
          <a:bodyPr>
            <a:normAutofit/>
          </a:bodyPr>
          <a:lstStyle/>
          <a:p>
            <a:endParaRPr lang="en-US" altLang="ko-KR" sz="1200" dirty="0"/>
          </a:p>
          <a:p>
            <a:r>
              <a:rPr lang="en-US" altLang="ko-KR" sz="1200" dirty="0" err="1"/>
              <a:t>ConcreteVisitor</a:t>
            </a:r>
            <a:r>
              <a:rPr lang="en-US" altLang="ko-KR" sz="1200" dirty="0"/>
              <a:t> </a:t>
            </a:r>
            <a:r>
              <a:rPr lang="ko-KR" altLang="en-US" sz="1200" dirty="0"/>
              <a:t>추가</a:t>
            </a:r>
          </a:p>
          <a:p>
            <a:pPr marL="361338" lvl="1" indent="0">
              <a:buNone/>
            </a:pPr>
            <a:r>
              <a:rPr lang="en-US" altLang="ko-KR" sz="1200" dirty="0"/>
              <a:t>- </a:t>
            </a:r>
            <a:r>
              <a:rPr lang="en-US" altLang="ko-KR" sz="1200" dirty="0" err="1">
                <a:solidFill>
                  <a:srgbClr val="2A2D72"/>
                </a:solidFill>
              </a:rPr>
              <a:t>CarElementDestroyVisitor</a:t>
            </a:r>
            <a:r>
              <a:rPr lang="en-US" altLang="ko-KR" sz="1200" dirty="0">
                <a:solidFill>
                  <a:srgbClr val="2A2D72"/>
                </a:solidFill>
              </a:rPr>
              <a:t> </a:t>
            </a:r>
            <a:r>
              <a:rPr lang="ko-KR" altLang="en-US" sz="1200" dirty="0">
                <a:solidFill>
                  <a:srgbClr val="2A2D72"/>
                </a:solidFill>
              </a:rPr>
              <a:t>추가</a:t>
            </a:r>
          </a:p>
          <a:p>
            <a:pPr marL="361338" lvl="1" indent="0">
              <a:buNone/>
            </a:pPr>
            <a:r>
              <a:rPr lang="en-US" altLang="ko-KR" sz="1200" dirty="0"/>
              <a:t>- </a:t>
            </a:r>
            <a:r>
              <a:rPr lang="ko-KR" altLang="en-US" sz="1200" dirty="0"/>
              <a:t>수정의 범위 가늠하기</a:t>
            </a:r>
          </a:p>
          <a:p>
            <a:endParaRPr lang="ko-KR" altLang="en-US" sz="1200" dirty="0"/>
          </a:p>
          <a:p>
            <a:endParaRPr lang="ko-KR" altLang="en-US" sz="1200" dirty="0"/>
          </a:p>
        </p:txBody>
      </p:sp>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11-1] Visitor </a:t>
            </a:r>
            <a:r>
              <a:rPr lang="ko-KR" altLang="en-US" spc="0" dirty="0"/>
              <a:t>추가</a:t>
            </a:r>
          </a:p>
        </p:txBody>
      </p:sp>
      <p:sp>
        <p:nvSpPr>
          <p:cNvPr id="4" name="직사각형 3"/>
          <p:cNvSpPr/>
          <p:nvPr/>
        </p:nvSpPr>
        <p:spPr>
          <a:xfrm>
            <a:off x="251520" y="771550"/>
            <a:ext cx="5832648" cy="276999"/>
          </a:xfrm>
          <a:prstGeom prst="rect">
            <a:avLst/>
          </a:prstGeom>
          <a:solidFill>
            <a:schemeClr val="accent1">
              <a:lumMod val="20000"/>
              <a:lumOff val="80000"/>
            </a:schemeClr>
          </a:solidFill>
        </p:spPr>
        <p:txBody>
          <a:bodyPr wrap="square">
            <a:spAutoFit/>
          </a:bodyPr>
          <a:lstStyle/>
          <a:p>
            <a:r>
              <a:rPr lang="en-US" altLang="ko-KR" sz="1200" b="1" dirty="0"/>
              <a:t>[</a:t>
            </a:r>
            <a:r>
              <a:rPr lang="ko-KR" altLang="en-US" sz="1200" b="1" dirty="0"/>
              <a:t>실습 코드</a:t>
            </a:r>
            <a:r>
              <a:rPr lang="en-US" altLang="ko-KR" sz="1200" b="1" dirty="0"/>
              <a:t>] </a:t>
            </a:r>
            <a:r>
              <a:rPr lang="en-US" altLang="ko-KR" sz="1200" dirty="0"/>
              <a:t>11-1_interfaceVisitor</a:t>
            </a:r>
          </a:p>
        </p:txBody>
      </p:sp>
    </p:spTree>
    <p:extLst>
      <p:ext uri="{BB962C8B-B14F-4D97-AF65-F5344CB8AC3E}">
        <p14:creationId xmlns:p14="http://schemas.microsoft.com/office/powerpoint/2010/main" val="146162519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11-1] Visitor </a:t>
            </a:r>
            <a:r>
              <a:rPr lang="ko-KR" altLang="en-US" spc="0" dirty="0"/>
              <a:t>추가 </a:t>
            </a:r>
            <a:r>
              <a:rPr lang="en-US" altLang="ko-KR" spc="0" dirty="0"/>
              <a:t>(solution)</a:t>
            </a:r>
            <a:endParaRPr lang="ko-KR" altLang="en-US" spc="0" dirty="0"/>
          </a:p>
        </p:txBody>
      </p:sp>
      <p:pic>
        <p:nvPicPr>
          <p:cNvPr id="4" name="그림 3"/>
          <p:cNvPicPr>
            <a:picLocks noChangeAspect="1"/>
          </p:cNvPicPr>
          <p:nvPr/>
        </p:nvPicPr>
        <p:blipFill>
          <a:blip r:embed="rId2"/>
          <a:stretch>
            <a:fillRect/>
          </a:stretch>
        </p:blipFill>
        <p:spPr>
          <a:xfrm>
            <a:off x="467544" y="1327989"/>
            <a:ext cx="6594814" cy="2971953"/>
          </a:xfrm>
          <a:prstGeom prst="rect">
            <a:avLst/>
          </a:prstGeom>
        </p:spPr>
      </p:pic>
      <p:sp>
        <p:nvSpPr>
          <p:cNvPr id="5" name="직사각형 4"/>
          <p:cNvSpPr/>
          <p:nvPr/>
        </p:nvSpPr>
        <p:spPr>
          <a:xfrm>
            <a:off x="7192862" y="2738609"/>
            <a:ext cx="1656184" cy="216024"/>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a:solidFill>
                  <a:srgbClr val="2A2D72"/>
                </a:solidFill>
              </a:rPr>
              <a:t>CarElementDestroyVisitor</a:t>
            </a:r>
            <a:endParaRPr lang="ko-KR" altLang="en-US" sz="1000" dirty="0">
              <a:solidFill>
                <a:srgbClr val="2A2D72"/>
              </a:solidFill>
            </a:endParaRPr>
          </a:p>
        </p:txBody>
      </p:sp>
      <p:grpSp>
        <p:nvGrpSpPr>
          <p:cNvPr id="6" name="그룹 5"/>
          <p:cNvGrpSpPr/>
          <p:nvPr/>
        </p:nvGrpSpPr>
        <p:grpSpPr>
          <a:xfrm flipH="1">
            <a:off x="6156176" y="2123245"/>
            <a:ext cx="1944226" cy="605823"/>
            <a:chOff x="827579" y="1994842"/>
            <a:chExt cx="1028816" cy="792936"/>
          </a:xfrm>
        </p:grpSpPr>
        <p:cxnSp>
          <p:nvCxnSpPr>
            <p:cNvPr id="8" name="직선 화살표 연결선 7"/>
            <p:cNvCxnSpPr>
              <a:endCxn id="9" idx="3"/>
            </p:cNvCxnSpPr>
            <p:nvPr/>
          </p:nvCxnSpPr>
          <p:spPr>
            <a:xfrm flipV="1">
              <a:off x="827579" y="2106269"/>
              <a:ext cx="905733" cy="681509"/>
            </a:xfrm>
            <a:prstGeom prst="straightConnector1">
              <a:avLst/>
            </a:prstGeom>
            <a:ln>
              <a:solidFill>
                <a:srgbClr val="FF0000"/>
              </a:solidFill>
              <a:prstDash val="dash"/>
              <a:tailEnd type="none" w="lg" len="lg"/>
            </a:ln>
          </p:spPr>
          <p:style>
            <a:lnRef idx="1">
              <a:schemeClr val="accent1"/>
            </a:lnRef>
            <a:fillRef idx="0">
              <a:schemeClr val="accent1"/>
            </a:fillRef>
            <a:effectRef idx="0">
              <a:schemeClr val="accent1"/>
            </a:effectRef>
            <a:fontRef idx="minor">
              <a:schemeClr val="tx1"/>
            </a:fontRef>
          </p:style>
        </p:cxnSp>
        <p:sp>
          <p:nvSpPr>
            <p:cNvPr id="9" name="이등변 삼각형 8"/>
            <p:cNvSpPr/>
            <p:nvPr/>
          </p:nvSpPr>
          <p:spPr>
            <a:xfrm rot="3968599">
              <a:off x="1728326" y="1994335"/>
              <a:ext cx="127561" cy="128576"/>
            </a:xfrm>
            <a:prstGeom prst="triangl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59165863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p:txBody>
          <a:bodyPr>
            <a:normAutofit/>
          </a:bodyPr>
          <a:lstStyle/>
          <a:p>
            <a:endParaRPr lang="en-US" altLang="ko-KR" sz="1200" dirty="0"/>
          </a:p>
          <a:p>
            <a:r>
              <a:rPr lang="en-US" altLang="ko-KR" sz="1200" dirty="0" err="1"/>
              <a:t>ConcreteElement</a:t>
            </a:r>
            <a:r>
              <a:rPr lang="en-US" altLang="ko-KR" sz="1200" dirty="0"/>
              <a:t> </a:t>
            </a:r>
            <a:r>
              <a:rPr lang="ko-KR" altLang="en-US" sz="1200" dirty="0"/>
              <a:t>추가</a:t>
            </a:r>
          </a:p>
          <a:p>
            <a:pPr marL="361338" lvl="1" indent="0">
              <a:buNone/>
            </a:pPr>
            <a:r>
              <a:rPr lang="en-US" altLang="ko-KR" sz="1200" dirty="0"/>
              <a:t>- </a:t>
            </a:r>
            <a:r>
              <a:rPr lang="en-US" altLang="ko-KR" sz="1200" dirty="0">
                <a:solidFill>
                  <a:srgbClr val="2A2D72"/>
                </a:solidFill>
              </a:rPr>
              <a:t>Trunk </a:t>
            </a:r>
            <a:r>
              <a:rPr lang="ko-KR" altLang="en-US" sz="1200" dirty="0">
                <a:solidFill>
                  <a:srgbClr val="2A2D72"/>
                </a:solidFill>
              </a:rPr>
              <a:t>추가</a:t>
            </a:r>
          </a:p>
          <a:p>
            <a:pPr marL="361338" lvl="1" indent="0">
              <a:buNone/>
            </a:pPr>
            <a:r>
              <a:rPr lang="en-US" altLang="ko-KR" sz="1200" dirty="0"/>
              <a:t>- </a:t>
            </a:r>
            <a:r>
              <a:rPr lang="ko-KR" altLang="en-US" sz="1200" dirty="0"/>
              <a:t>수정의 범위 가늠하기</a:t>
            </a:r>
          </a:p>
          <a:p>
            <a:endParaRPr lang="ko-KR" altLang="en-US" sz="1200" dirty="0"/>
          </a:p>
          <a:p>
            <a:endParaRPr lang="ko-KR" altLang="en-US" sz="1200" dirty="0"/>
          </a:p>
        </p:txBody>
      </p:sp>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11-2] Visitor : Element </a:t>
            </a:r>
            <a:r>
              <a:rPr lang="ko-KR" altLang="en-US" spc="0" dirty="0"/>
              <a:t>추가</a:t>
            </a:r>
          </a:p>
        </p:txBody>
      </p:sp>
      <p:sp>
        <p:nvSpPr>
          <p:cNvPr id="5" name="직사각형 4"/>
          <p:cNvSpPr/>
          <p:nvPr/>
        </p:nvSpPr>
        <p:spPr>
          <a:xfrm>
            <a:off x="251520" y="771550"/>
            <a:ext cx="5832648" cy="276999"/>
          </a:xfrm>
          <a:prstGeom prst="rect">
            <a:avLst/>
          </a:prstGeom>
          <a:solidFill>
            <a:schemeClr val="accent1">
              <a:lumMod val="20000"/>
              <a:lumOff val="80000"/>
            </a:schemeClr>
          </a:solidFill>
        </p:spPr>
        <p:txBody>
          <a:bodyPr wrap="square">
            <a:spAutoFit/>
          </a:bodyPr>
          <a:lstStyle/>
          <a:p>
            <a:r>
              <a:rPr lang="en-US" altLang="ko-KR" sz="1200" b="1" dirty="0"/>
              <a:t>[</a:t>
            </a:r>
            <a:r>
              <a:rPr lang="ko-KR" altLang="en-US" sz="1200" b="1" dirty="0"/>
              <a:t>실습 코드</a:t>
            </a:r>
            <a:r>
              <a:rPr lang="en-US" altLang="ko-KR" sz="1200" b="1" dirty="0"/>
              <a:t>] </a:t>
            </a:r>
            <a:r>
              <a:rPr lang="en-US" altLang="ko-KR" sz="1200" dirty="0"/>
              <a:t>11-1_interfaceVisitor</a:t>
            </a:r>
          </a:p>
        </p:txBody>
      </p:sp>
    </p:spTree>
    <p:extLst>
      <p:ext uri="{BB962C8B-B14F-4D97-AF65-F5344CB8AC3E}">
        <p14:creationId xmlns:p14="http://schemas.microsoft.com/office/powerpoint/2010/main" val="123672356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11-2] Visitor : Element </a:t>
            </a:r>
            <a:r>
              <a:rPr lang="ko-KR" altLang="en-US" spc="0" dirty="0"/>
              <a:t>추가 </a:t>
            </a:r>
            <a:r>
              <a:rPr lang="en-US" altLang="ko-KR" spc="0" dirty="0"/>
              <a:t>(solution)</a:t>
            </a:r>
            <a:endParaRPr lang="ko-KR" altLang="en-US" spc="0" dirty="0"/>
          </a:p>
        </p:txBody>
      </p:sp>
      <p:pic>
        <p:nvPicPr>
          <p:cNvPr id="4" name="그림 3"/>
          <p:cNvPicPr>
            <a:picLocks noChangeAspect="1"/>
          </p:cNvPicPr>
          <p:nvPr/>
        </p:nvPicPr>
        <p:blipFill>
          <a:blip r:embed="rId2"/>
          <a:stretch>
            <a:fillRect/>
          </a:stretch>
        </p:blipFill>
        <p:spPr>
          <a:xfrm>
            <a:off x="467544" y="1327989"/>
            <a:ext cx="6594814" cy="2971953"/>
          </a:xfrm>
          <a:prstGeom prst="rect">
            <a:avLst/>
          </a:prstGeom>
        </p:spPr>
      </p:pic>
      <p:sp>
        <p:nvSpPr>
          <p:cNvPr id="5" name="직사각형 4"/>
          <p:cNvSpPr/>
          <p:nvPr/>
        </p:nvSpPr>
        <p:spPr>
          <a:xfrm>
            <a:off x="7192862" y="2738609"/>
            <a:ext cx="1656184" cy="21602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a:solidFill>
                  <a:srgbClr val="2A2D72"/>
                </a:solidFill>
              </a:rPr>
              <a:t>CarElementDestroyVisitor</a:t>
            </a:r>
            <a:endParaRPr lang="ko-KR" altLang="en-US" sz="1000" dirty="0">
              <a:solidFill>
                <a:srgbClr val="2A2D72"/>
              </a:solidFill>
            </a:endParaRPr>
          </a:p>
        </p:txBody>
      </p:sp>
      <p:sp>
        <p:nvSpPr>
          <p:cNvPr id="7" name="직사각형 6"/>
          <p:cNvSpPr/>
          <p:nvPr/>
        </p:nvSpPr>
        <p:spPr>
          <a:xfrm>
            <a:off x="539552" y="2787774"/>
            <a:ext cx="576064" cy="216024"/>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a:solidFill>
                  <a:srgbClr val="2A2D72"/>
                </a:solidFill>
              </a:rPr>
              <a:t>Trunk</a:t>
            </a:r>
            <a:endParaRPr lang="ko-KR" altLang="en-US" sz="1000" dirty="0">
              <a:solidFill>
                <a:srgbClr val="2A2D72"/>
              </a:solidFill>
            </a:endParaRPr>
          </a:p>
        </p:txBody>
      </p:sp>
      <p:sp>
        <p:nvSpPr>
          <p:cNvPr id="11" name="직사각형 10"/>
          <p:cNvSpPr/>
          <p:nvPr/>
        </p:nvSpPr>
        <p:spPr>
          <a:xfrm>
            <a:off x="4298794" y="2592428"/>
            <a:ext cx="4737702" cy="9210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r>
              <a:rPr lang="en-US" altLang="ko-KR" sz="1000" dirty="0">
                <a:solidFill>
                  <a:srgbClr val="2A2D72"/>
                </a:solidFill>
                <a:latin typeface="Consolas" panose="020B0609020204030204" pitchFamily="49" charset="0"/>
              </a:rPr>
              <a:t>+ public void visit(Trunk trunk) {</a:t>
            </a:r>
            <a:br>
              <a:rPr lang="en-US" altLang="ko-KR" sz="1000" dirty="0">
                <a:solidFill>
                  <a:srgbClr val="2A2D72"/>
                </a:solidFill>
                <a:latin typeface="Consolas" panose="020B0609020204030204" pitchFamily="49" charset="0"/>
              </a:rPr>
            </a:br>
            <a:r>
              <a:rPr lang="en-US" altLang="ko-KR" sz="1000" dirty="0">
                <a:solidFill>
                  <a:srgbClr val="2A2D72"/>
                </a:solidFill>
                <a:latin typeface="Consolas" panose="020B0609020204030204" pitchFamily="49" charset="0"/>
              </a:rPr>
              <a:t>+     </a:t>
            </a:r>
            <a:r>
              <a:rPr lang="en-US" altLang="ko-KR" sz="1000" dirty="0" err="1">
                <a:solidFill>
                  <a:srgbClr val="2A2D72"/>
                </a:solidFill>
                <a:latin typeface="Consolas" panose="020B0609020204030204" pitchFamily="49" charset="0"/>
              </a:rPr>
              <a:t>System.</a:t>
            </a:r>
            <a:r>
              <a:rPr lang="en-US" altLang="ko-KR" sz="1000" i="1" dirty="0" err="1">
                <a:solidFill>
                  <a:srgbClr val="2A2D72"/>
                </a:solidFill>
                <a:latin typeface="Consolas" panose="020B0609020204030204" pitchFamily="49" charset="0"/>
              </a:rPr>
              <a:t>out</a:t>
            </a:r>
            <a:r>
              <a:rPr lang="en-US" altLang="ko-KR" sz="1000" dirty="0" err="1">
                <a:solidFill>
                  <a:srgbClr val="2A2D72"/>
                </a:solidFill>
                <a:latin typeface="Consolas" panose="020B0609020204030204" pitchFamily="49" charset="0"/>
              </a:rPr>
              <a:t>.println</a:t>
            </a:r>
            <a:r>
              <a:rPr lang="en-US" altLang="ko-KR" sz="1000" dirty="0">
                <a:solidFill>
                  <a:srgbClr val="2A2D72"/>
                </a:solidFill>
                <a:latin typeface="Consolas" panose="020B0609020204030204" pitchFamily="49" charset="0"/>
              </a:rPr>
              <a:t>(“</a:t>
            </a:r>
            <a:r>
              <a:rPr lang="en-US" altLang="ko-KR" sz="1000" dirty="0" err="1">
                <a:solidFill>
                  <a:srgbClr val="2A2D72"/>
                </a:solidFill>
                <a:latin typeface="Consolas" panose="020B0609020204030204" pitchFamily="49" charset="0"/>
              </a:rPr>
              <a:t>Xxxing</a:t>
            </a:r>
            <a:r>
              <a:rPr lang="en-US" altLang="ko-KR" sz="1000" dirty="0">
                <a:solidFill>
                  <a:srgbClr val="2A2D72"/>
                </a:solidFill>
                <a:latin typeface="Consolas" panose="020B0609020204030204" pitchFamily="49" charset="0"/>
              </a:rPr>
              <a:t> trunk");</a:t>
            </a:r>
            <a:br>
              <a:rPr lang="en-US" altLang="ko-KR" sz="1000" dirty="0">
                <a:solidFill>
                  <a:srgbClr val="2A2D72"/>
                </a:solidFill>
                <a:latin typeface="Consolas" panose="020B0609020204030204" pitchFamily="49" charset="0"/>
              </a:rPr>
            </a:br>
            <a:r>
              <a:rPr lang="en-US" altLang="ko-KR" sz="1000" dirty="0">
                <a:solidFill>
                  <a:srgbClr val="2A2D72"/>
                </a:solidFill>
                <a:latin typeface="Consolas" panose="020B0609020204030204" pitchFamily="49" charset="0"/>
              </a:rPr>
              <a:t>+ }</a:t>
            </a:r>
            <a:endParaRPr lang="ko-KR" altLang="en-US" sz="1200" b="1" dirty="0">
              <a:solidFill>
                <a:srgbClr val="2A2D72"/>
              </a:solidFill>
            </a:endParaRPr>
          </a:p>
        </p:txBody>
      </p:sp>
      <p:sp>
        <p:nvSpPr>
          <p:cNvPr id="12" name="직사각형 11"/>
          <p:cNvSpPr/>
          <p:nvPr/>
        </p:nvSpPr>
        <p:spPr>
          <a:xfrm>
            <a:off x="6675333" y="3651870"/>
            <a:ext cx="2145139" cy="261610"/>
          </a:xfrm>
          <a:prstGeom prst="rect">
            <a:avLst/>
          </a:prstGeom>
        </p:spPr>
        <p:txBody>
          <a:bodyPr wrap="none">
            <a:spAutoFit/>
          </a:bodyPr>
          <a:lstStyle/>
          <a:p>
            <a:r>
              <a:rPr lang="en-US" altLang="ko-KR" sz="1100" dirty="0">
                <a:solidFill>
                  <a:srgbClr val="2A2D72"/>
                </a:solidFill>
              </a:rPr>
              <a:t>※ element </a:t>
            </a:r>
            <a:r>
              <a:rPr lang="ko-KR" altLang="en-US" sz="1100" dirty="0">
                <a:solidFill>
                  <a:srgbClr val="2A2D72"/>
                </a:solidFill>
              </a:rPr>
              <a:t>추가</a:t>
            </a:r>
            <a:r>
              <a:rPr lang="en-US" altLang="ko-KR" sz="1100" dirty="0">
                <a:solidFill>
                  <a:srgbClr val="2A2D72"/>
                </a:solidFill>
              </a:rPr>
              <a:t>/</a:t>
            </a:r>
            <a:r>
              <a:rPr lang="ko-KR" altLang="en-US" sz="1100" dirty="0">
                <a:solidFill>
                  <a:srgbClr val="2A2D72"/>
                </a:solidFill>
              </a:rPr>
              <a:t>삭제에 취약함</a:t>
            </a:r>
          </a:p>
        </p:txBody>
      </p:sp>
      <p:grpSp>
        <p:nvGrpSpPr>
          <p:cNvPr id="10" name="그룹 9"/>
          <p:cNvGrpSpPr/>
          <p:nvPr/>
        </p:nvGrpSpPr>
        <p:grpSpPr>
          <a:xfrm>
            <a:off x="827584" y="2070607"/>
            <a:ext cx="1050978" cy="717167"/>
            <a:chOff x="827584" y="2070607"/>
            <a:chExt cx="1050978" cy="717167"/>
          </a:xfrm>
        </p:grpSpPr>
        <p:cxnSp>
          <p:nvCxnSpPr>
            <p:cNvPr id="8" name="직선 화살표 연결선 7"/>
            <p:cNvCxnSpPr>
              <a:stCxn id="7" idx="0"/>
              <a:endCxn id="2" idx="3"/>
            </p:cNvCxnSpPr>
            <p:nvPr/>
          </p:nvCxnSpPr>
          <p:spPr>
            <a:xfrm flipV="1">
              <a:off x="827584" y="2195128"/>
              <a:ext cx="889512" cy="592646"/>
            </a:xfrm>
            <a:prstGeom prst="straightConnector1">
              <a:avLst/>
            </a:prstGeom>
            <a:ln>
              <a:solidFill>
                <a:srgbClr val="FF0000"/>
              </a:solidFill>
              <a:prstDash val="dash"/>
              <a:tailEnd type="none" w="lg" len="lg"/>
            </a:ln>
          </p:spPr>
          <p:style>
            <a:lnRef idx="1">
              <a:schemeClr val="accent1"/>
            </a:lnRef>
            <a:fillRef idx="0">
              <a:schemeClr val="accent1"/>
            </a:fillRef>
            <a:effectRef idx="0">
              <a:schemeClr val="accent1"/>
            </a:effectRef>
            <a:fontRef idx="minor">
              <a:schemeClr val="tx1"/>
            </a:fontRef>
          </p:style>
        </p:cxnSp>
        <p:sp>
          <p:nvSpPr>
            <p:cNvPr id="2" name="이등변 삼각형 1"/>
            <p:cNvSpPr/>
            <p:nvPr/>
          </p:nvSpPr>
          <p:spPr>
            <a:xfrm rot="3238098">
              <a:off x="1717282" y="2053342"/>
              <a:ext cx="144016" cy="178545"/>
            </a:xfrm>
            <a:prstGeom prst="triangl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2A2D72"/>
                </a:solidFill>
              </a:endParaRPr>
            </a:p>
          </p:txBody>
        </p:sp>
      </p:grpSp>
      <p:grpSp>
        <p:nvGrpSpPr>
          <p:cNvPr id="19" name="그룹 18"/>
          <p:cNvGrpSpPr/>
          <p:nvPr/>
        </p:nvGrpSpPr>
        <p:grpSpPr>
          <a:xfrm>
            <a:off x="6156177" y="2269426"/>
            <a:ext cx="1864777" cy="469183"/>
            <a:chOff x="6156177" y="2269426"/>
            <a:chExt cx="1864777" cy="469183"/>
          </a:xfrm>
        </p:grpSpPr>
        <p:cxnSp>
          <p:nvCxnSpPr>
            <p:cNvPr id="14" name="직선 화살표 연결선 13"/>
            <p:cNvCxnSpPr>
              <a:stCxn id="5" idx="0"/>
              <a:endCxn id="15" idx="3"/>
            </p:cNvCxnSpPr>
            <p:nvPr/>
          </p:nvCxnSpPr>
          <p:spPr>
            <a:xfrm flipH="1" flipV="1">
              <a:off x="6391729" y="2348225"/>
              <a:ext cx="1629225" cy="390384"/>
            </a:xfrm>
            <a:prstGeom prst="straightConnector1">
              <a:avLst/>
            </a:prstGeom>
            <a:ln>
              <a:solidFill>
                <a:srgbClr val="FF0000"/>
              </a:solidFill>
              <a:prstDash val="dash"/>
              <a:tailEnd type="none" w="lg" len="lg"/>
            </a:ln>
          </p:spPr>
          <p:style>
            <a:lnRef idx="1">
              <a:schemeClr val="accent1"/>
            </a:lnRef>
            <a:fillRef idx="0">
              <a:schemeClr val="accent1"/>
            </a:fillRef>
            <a:effectRef idx="0">
              <a:schemeClr val="accent1"/>
            </a:effectRef>
            <a:fontRef idx="minor">
              <a:schemeClr val="tx1"/>
            </a:fontRef>
          </p:style>
        </p:cxnSp>
        <p:sp>
          <p:nvSpPr>
            <p:cNvPr id="15" name="이등변 삼각형 14"/>
            <p:cNvSpPr/>
            <p:nvPr/>
          </p:nvSpPr>
          <p:spPr>
            <a:xfrm rot="17408280" flipH="1">
              <a:off x="6240695" y="2184908"/>
              <a:ext cx="73943" cy="242979"/>
            </a:xfrm>
            <a:prstGeom prst="triangl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2A2D72"/>
                </a:solidFill>
              </a:endParaRPr>
            </a:p>
          </p:txBody>
        </p:sp>
      </p:grpSp>
    </p:spTree>
    <p:extLst>
      <p:ext uri="{BB962C8B-B14F-4D97-AF65-F5344CB8AC3E}">
        <p14:creationId xmlns:p14="http://schemas.microsoft.com/office/powerpoint/2010/main" val="82595795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p:txBody>
          <a:bodyPr>
            <a:normAutofit/>
          </a:bodyPr>
          <a:lstStyle/>
          <a:p>
            <a:pPr>
              <a:lnSpc>
                <a:spcPct val="150000"/>
              </a:lnSpc>
            </a:pPr>
            <a:endParaRPr lang="en-US" altLang="ko-KR" sz="1200" dirty="0"/>
          </a:p>
          <a:p>
            <a:pPr marL="361338" lvl="1" indent="0">
              <a:lnSpc>
                <a:spcPct val="150000"/>
              </a:lnSpc>
              <a:buNone/>
            </a:pPr>
            <a:r>
              <a:rPr lang="en-US" altLang="ko-KR" sz="1200" dirty="0"/>
              <a:t>1) </a:t>
            </a:r>
            <a:r>
              <a:rPr lang="ko-KR" altLang="en-US" sz="1200" dirty="0"/>
              <a:t>기존 </a:t>
            </a:r>
            <a:r>
              <a:rPr lang="en-US" altLang="ko-KR" sz="1200" dirty="0"/>
              <a:t>Visitor </a:t>
            </a:r>
            <a:r>
              <a:rPr lang="ko-KR" altLang="en-US" sz="1200" dirty="0"/>
              <a:t>코드를 분석하시오</a:t>
            </a:r>
            <a:r>
              <a:rPr lang="en-US" altLang="ko-KR" sz="1200" dirty="0"/>
              <a:t>. </a:t>
            </a:r>
          </a:p>
          <a:p>
            <a:pPr marL="361338" lvl="1" indent="0">
              <a:lnSpc>
                <a:spcPct val="150000"/>
              </a:lnSpc>
              <a:buNone/>
            </a:pPr>
            <a:r>
              <a:rPr lang="en-US" altLang="ko-KR" sz="1200" dirty="0"/>
              <a:t>2) </a:t>
            </a:r>
            <a:r>
              <a:rPr lang="en-US" altLang="ko-KR" sz="1200" dirty="0" err="1"/>
              <a:t>FileFindVisitor</a:t>
            </a:r>
            <a:r>
              <a:rPr lang="ko-KR" altLang="en-US" sz="1200" dirty="0"/>
              <a:t>는 </a:t>
            </a:r>
            <a:r>
              <a:rPr lang="ko-KR" altLang="en-US" sz="1200" dirty="0" err="1"/>
              <a:t>생성자로</a:t>
            </a:r>
            <a:r>
              <a:rPr lang="ko-KR" altLang="en-US" sz="1200" dirty="0"/>
              <a:t> 전해진 확장자</a:t>
            </a:r>
            <a:r>
              <a:rPr lang="en-US" altLang="ko-KR" sz="1200" dirty="0"/>
              <a:t>(extension)</a:t>
            </a:r>
            <a:r>
              <a:rPr lang="ko-KR" altLang="en-US" sz="1200" dirty="0"/>
              <a:t>를 포함한 파일들을 찾아내는 기능을 제공한다</a:t>
            </a:r>
            <a:r>
              <a:rPr lang="en-US" altLang="ko-KR" sz="1200" dirty="0"/>
              <a:t>.</a:t>
            </a:r>
          </a:p>
          <a:p>
            <a:pPr marL="361338" lvl="1" indent="0">
              <a:lnSpc>
                <a:spcPct val="150000"/>
              </a:lnSpc>
              <a:buNone/>
            </a:pPr>
            <a:r>
              <a:rPr lang="en-US" altLang="ko-KR" sz="1200" dirty="0"/>
              <a:t>    </a:t>
            </a:r>
            <a:r>
              <a:rPr lang="ko-KR" altLang="en-US" sz="1200" dirty="0"/>
              <a:t>예</a:t>
            </a:r>
            <a:r>
              <a:rPr lang="en-US" altLang="ko-KR" sz="1200" dirty="0"/>
              <a:t>) “html”</a:t>
            </a:r>
            <a:r>
              <a:rPr lang="ko-KR" altLang="en-US" sz="1200" dirty="0"/>
              <a:t>을 </a:t>
            </a:r>
            <a:r>
              <a:rPr lang="ko-KR" altLang="en-US" sz="1200" dirty="0" err="1"/>
              <a:t>확장자로</a:t>
            </a:r>
            <a:r>
              <a:rPr lang="ko-KR" altLang="en-US" sz="1200" dirty="0"/>
              <a:t> 받으면 </a:t>
            </a:r>
            <a:r>
              <a:rPr lang="en-US" altLang="ko-KR" sz="1200" dirty="0"/>
              <a:t>diary.html </a:t>
            </a:r>
            <a:r>
              <a:rPr lang="ko-KR" altLang="en-US" sz="1200" dirty="0"/>
              <a:t>를 찾아냄</a:t>
            </a:r>
            <a:endParaRPr lang="en-US" altLang="ko-KR" sz="1200" dirty="0"/>
          </a:p>
          <a:p>
            <a:pPr marL="361338" lvl="1" indent="0">
              <a:lnSpc>
                <a:spcPct val="150000"/>
              </a:lnSpc>
              <a:buNone/>
            </a:pPr>
            <a:r>
              <a:rPr lang="en-US" altLang="ko-KR" sz="1200" dirty="0"/>
              <a:t>    </a:t>
            </a:r>
            <a:r>
              <a:rPr lang="ko-KR" altLang="en-US" sz="1200" dirty="0">
                <a:solidFill>
                  <a:srgbClr val="2A2D72"/>
                </a:solidFill>
              </a:rPr>
              <a:t>해당 </a:t>
            </a:r>
            <a:r>
              <a:rPr lang="en-US" altLang="ko-KR" sz="1200" dirty="0">
                <a:solidFill>
                  <a:srgbClr val="2A2D72"/>
                </a:solidFill>
              </a:rPr>
              <a:t>Visitor</a:t>
            </a:r>
            <a:r>
              <a:rPr lang="ko-KR" altLang="en-US" sz="1200" dirty="0">
                <a:solidFill>
                  <a:srgbClr val="2A2D72"/>
                </a:solidFill>
              </a:rPr>
              <a:t>를 새로 만들고 </a:t>
            </a:r>
            <a:r>
              <a:rPr lang="ko-KR" altLang="en-US" sz="1200" dirty="0"/>
              <a:t>기존 디렉토리와 파일에 적용 하시오</a:t>
            </a:r>
            <a:r>
              <a:rPr lang="en-US" altLang="ko-KR" sz="1200" dirty="0"/>
              <a:t>.</a:t>
            </a:r>
          </a:p>
          <a:p>
            <a:pPr marL="361338" lvl="1" indent="0">
              <a:lnSpc>
                <a:spcPct val="150000"/>
              </a:lnSpc>
              <a:buNone/>
            </a:pPr>
            <a:r>
              <a:rPr lang="en-US" altLang="ko-KR" sz="1200" dirty="0"/>
              <a:t>    (</a:t>
            </a:r>
            <a:r>
              <a:rPr lang="en-US" altLang="ko-KR" sz="1200" dirty="0" err="1">
                <a:solidFill>
                  <a:srgbClr val="00B0F0"/>
                </a:solidFill>
              </a:rPr>
              <a:t>FileFindVisitor</a:t>
            </a:r>
            <a:r>
              <a:rPr lang="ko-KR" altLang="en-US" sz="1200" dirty="0">
                <a:solidFill>
                  <a:srgbClr val="00B0F0"/>
                </a:solidFill>
              </a:rPr>
              <a:t>로부터 </a:t>
            </a:r>
            <a:r>
              <a:rPr lang="en-US" altLang="ko-KR" sz="1200" dirty="0">
                <a:solidFill>
                  <a:srgbClr val="00B0F0"/>
                </a:solidFill>
              </a:rPr>
              <a:t>find </a:t>
            </a:r>
            <a:r>
              <a:rPr lang="ko-KR" altLang="en-US" sz="1200" dirty="0">
                <a:solidFill>
                  <a:srgbClr val="00B0F0"/>
                </a:solidFill>
              </a:rPr>
              <a:t>결과를 얻는 </a:t>
            </a:r>
            <a:r>
              <a:rPr lang="en-US" altLang="ko-KR" sz="1200" dirty="0">
                <a:solidFill>
                  <a:srgbClr val="00B0F0"/>
                </a:solidFill>
              </a:rPr>
              <a:t>method </a:t>
            </a:r>
            <a:r>
              <a:rPr lang="ko-KR" altLang="en-US" sz="1200" dirty="0">
                <a:solidFill>
                  <a:srgbClr val="00B0F0"/>
                </a:solidFill>
              </a:rPr>
              <a:t>필요</a:t>
            </a:r>
            <a:r>
              <a:rPr lang="en-US" altLang="ko-KR" sz="1200" dirty="0"/>
              <a:t>)</a:t>
            </a:r>
          </a:p>
          <a:p>
            <a:pPr>
              <a:lnSpc>
                <a:spcPct val="150000"/>
              </a:lnSpc>
            </a:pPr>
            <a:endParaRPr lang="ko-KR" altLang="en-US" sz="1200" dirty="0"/>
          </a:p>
          <a:p>
            <a:pPr>
              <a:lnSpc>
                <a:spcPct val="150000"/>
              </a:lnSpc>
            </a:pPr>
            <a:endParaRPr lang="ko-KR" altLang="en-US" sz="1200" dirty="0"/>
          </a:p>
        </p:txBody>
      </p:sp>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11-3] Visitor : </a:t>
            </a:r>
            <a:r>
              <a:rPr lang="en-US" altLang="ko-KR" spc="0" dirty="0" err="1"/>
              <a:t>FileFindVisitor</a:t>
            </a:r>
            <a:r>
              <a:rPr lang="en-US" altLang="ko-KR" spc="0" dirty="0"/>
              <a:t> </a:t>
            </a:r>
            <a:r>
              <a:rPr lang="ko-KR" altLang="en-US" spc="0" dirty="0"/>
              <a:t>확장</a:t>
            </a:r>
          </a:p>
        </p:txBody>
      </p:sp>
      <p:sp>
        <p:nvSpPr>
          <p:cNvPr id="4" name="직사각형 3"/>
          <p:cNvSpPr/>
          <p:nvPr/>
        </p:nvSpPr>
        <p:spPr>
          <a:xfrm>
            <a:off x="251520" y="771550"/>
            <a:ext cx="5832648" cy="276999"/>
          </a:xfrm>
          <a:prstGeom prst="rect">
            <a:avLst/>
          </a:prstGeom>
          <a:solidFill>
            <a:schemeClr val="accent1">
              <a:lumMod val="20000"/>
              <a:lumOff val="80000"/>
            </a:schemeClr>
          </a:solidFill>
        </p:spPr>
        <p:txBody>
          <a:bodyPr wrap="square">
            <a:spAutoFit/>
          </a:bodyPr>
          <a:lstStyle/>
          <a:p>
            <a:r>
              <a:rPr lang="en-US" altLang="ko-KR" sz="1200" b="1" dirty="0"/>
              <a:t>[</a:t>
            </a:r>
            <a:r>
              <a:rPr lang="ko-KR" altLang="en-US" sz="1200" b="1" dirty="0"/>
              <a:t>실습 코드</a:t>
            </a:r>
            <a:r>
              <a:rPr lang="en-US" altLang="ko-KR" sz="1200" b="1" dirty="0"/>
              <a:t>] </a:t>
            </a:r>
            <a:r>
              <a:rPr lang="en-US" altLang="ko-KR" sz="1200" dirty="0"/>
              <a:t>11-3_hiroshi.VisitorProblem</a:t>
            </a:r>
          </a:p>
        </p:txBody>
      </p:sp>
    </p:spTree>
    <p:extLst>
      <p:ext uri="{BB962C8B-B14F-4D97-AF65-F5344CB8AC3E}">
        <p14:creationId xmlns:p14="http://schemas.microsoft.com/office/powerpoint/2010/main" val="198013398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그림 11"/>
          <p:cNvPicPr>
            <a:picLocks noChangeAspect="1"/>
          </p:cNvPicPr>
          <p:nvPr/>
        </p:nvPicPr>
        <p:blipFill rotWithShape="1">
          <a:blip r:embed="rId3"/>
          <a:srcRect l="3811"/>
          <a:stretch/>
        </p:blipFill>
        <p:spPr>
          <a:xfrm>
            <a:off x="2323424" y="627534"/>
            <a:ext cx="4198856" cy="4160733"/>
          </a:xfrm>
          <a:prstGeom prst="rect">
            <a:avLst/>
          </a:prstGeom>
        </p:spPr>
      </p:pic>
      <p:sp>
        <p:nvSpPr>
          <p:cNvPr id="3" name="제목 2"/>
          <p:cNvSpPr>
            <a:spLocks noGrp="1"/>
          </p:cNvSpPr>
          <p:nvPr>
            <p:ph type="title"/>
          </p:nvPr>
        </p:nvSpPr>
        <p:spPr/>
        <p:txBody>
          <a:bodyPr vert="horz" lIns="75927" tIns="37964" rIns="75927" bIns="37964" rtlCol="0" anchor="ctr">
            <a:normAutofit/>
          </a:bodyPr>
          <a:lstStyle/>
          <a:p>
            <a:r>
              <a:rPr lang="en-US" altLang="ko-KR" spc="0" dirty="0"/>
              <a:t>[Practice 11-3] Visitor : </a:t>
            </a:r>
            <a:r>
              <a:rPr lang="en-US" altLang="ko-KR" spc="0" dirty="0" err="1"/>
              <a:t>FileFindVisitor</a:t>
            </a:r>
            <a:r>
              <a:rPr lang="en-US" altLang="ko-KR" spc="0" dirty="0"/>
              <a:t> </a:t>
            </a:r>
            <a:r>
              <a:rPr lang="ko-KR" altLang="en-US" spc="0" dirty="0"/>
              <a:t>확장 </a:t>
            </a:r>
            <a:r>
              <a:rPr lang="en-US" altLang="ko-KR" spc="0" dirty="0"/>
              <a:t>(solution)</a:t>
            </a:r>
            <a:endParaRPr lang="ko-KR" altLang="en-US" spc="0" dirty="0"/>
          </a:p>
        </p:txBody>
      </p:sp>
      <p:sp>
        <p:nvSpPr>
          <p:cNvPr id="5" name="직사각형 4"/>
          <p:cNvSpPr/>
          <p:nvPr/>
        </p:nvSpPr>
        <p:spPr>
          <a:xfrm>
            <a:off x="2257480" y="2859782"/>
            <a:ext cx="2746568" cy="21602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r>
              <a:rPr lang="en-US" altLang="ko-KR" sz="1200" b="1" dirty="0">
                <a:solidFill>
                  <a:srgbClr val="2A2D72"/>
                </a:solidFill>
              </a:rPr>
              <a:t>Composite</a:t>
            </a:r>
            <a:endParaRPr lang="ko-KR" altLang="en-US" sz="1200" b="1" dirty="0">
              <a:solidFill>
                <a:srgbClr val="2A2D72"/>
              </a:solidFill>
            </a:endParaRPr>
          </a:p>
        </p:txBody>
      </p:sp>
      <p:sp>
        <p:nvSpPr>
          <p:cNvPr id="9" name="직사각형 8"/>
          <p:cNvSpPr/>
          <p:nvPr/>
        </p:nvSpPr>
        <p:spPr>
          <a:xfrm>
            <a:off x="2195736" y="1274424"/>
            <a:ext cx="4392488" cy="381760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r>
              <a:rPr lang="en-US" altLang="ko-KR" sz="1200" b="1" dirty="0">
                <a:solidFill>
                  <a:srgbClr val="2A2D72"/>
                </a:solidFill>
              </a:rPr>
              <a:t>Visitor</a:t>
            </a:r>
            <a:endParaRPr lang="ko-KR" altLang="en-US" sz="1200" b="1" dirty="0">
              <a:solidFill>
                <a:srgbClr val="2A2D72"/>
              </a:solidFill>
            </a:endParaRPr>
          </a:p>
        </p:txBody>
      </p:sp>
      <p:cxnSp>
        <p:nvCxnSpPr>
          <p:cNvPr id="10" name="직선 연결선 9"/>
          <p:cNvCxnSpPr/>
          <p:nvPr/>
        </p:nvCxnSpPr>
        <p:spPr>
          <a:xfrm>
            <a:off x="2343834" y="4264672"/>
            <a:ext cx="828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a:off x="3551642" y="4256508"/>
            <a:ext cx="82800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직사각형 14"/>
          <p:cNvSpPr/>
          <p:nvPr/>
        </p:nvSpPr>
        <p:spPr>
          <a:xfrm>
            <a:off x="2932144" y="1308262"/>
            <a:ext cx="1022078" cy="6154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endParaRPr lang="ko-KR" altLang="en-US" sz="900" dirty="0">
              <a:solidFill>
                <a:srgbClr val="2A2D72"/>
              </a:solidFill>
            </a:endParaRPr>
          </a:p>
        </p:txBody>
      </p:sp>
      <p:sp>
        <p:nvSpPr>
          <p:cNvPr id="2" name="직사각형 1"/>
          <p:cNvSpPr/>
          <p:nvPr/>
        </p:nvSpPr>
        <p:spPr>
          <a:xfrm>
            <a:off x="3923928" y="1707654"/>
            <a:ext cx="1433406" cy="215444"/>
          </a:xfrm>
          <a:prstGeom prst="rect">
            <a:avLst/>
          </a:prstGeom>
        </p:spPr>
        <p:txBody>
          <a:bodyPr wrap="none">
            <a:spAutoFit/>
          </a:bodyPr>
          <a:lstStyle/>
          <a:p>
            <a:r>
              <a:rPr lang="en-US" altLang="ko-KR" sz="800" b="1" dirty="0">
                <a:solidFill>
                  <a:srgbClr val="2A2D72"/>
                </a:solidFill>
              </a:rPr>
              <a:t>Client &amp; Object Structure</a:t>
            </a:r>
            <a:endParaRPr lang="ko-KR" altLang="en-US" sz="800" b="1" dirty="0">
              <a:solidFill>
                <a:srgbClr val="2A2D72"/>
              </a:solidFill>
            </a:endParaRPr>
          </a:p>
        </p:txBody>
      </p:sp>
    </p:spTree>
    <p:extLst>
      <p:ext uri="{BB962C8B-B14F-4D97-AF65-F5344CB8AC3E}">
        <p14:creationId xmlns:p14="http://schemas.microsoft.com/office/powerpoint/2010/main" val="174971653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2928428" y="1821831"/>
            <a:ext cx="5748028" cy="2190079"/>
          </a:xfrm>
        </p:spPr>
        <p:txBody>
          <a:bodyPr>
            <a:noAutofit/>
          </a:bodyPr>
          <a:lstStyle/>
          <a:p>
            <a:r>
              <a:rPr lang="ko-KR" altLang="en-US" sz="3600" dirty="0"/>
              <a:t>조별</a:t>
            </a:r>
            <a:r>
              <a:rPr lang="en-US" altLang="ko-KR" sz="3600" dirty="0"/>
              <a:t> </a:t>
            </a:r>
            <a:r>
              <a:rPr lang="ko-KR" altLang="en-US" sz="3600" dirty="0"/>
              <a:t>과제 </a:t>
            </a:r>
            <a:br>
              <a:rPr lang="ko-KR" altLang="en-US" sz="3600" dirty="0"/>
            </a:br>
            <a:r>
              <a:rPr lang="ko-KR" altLang="en-US" sz="3600" dirty="0"/>
              <a:t>설계패턴 적용</a:t>
            </a:r>
            <a:endParaRPr lang="en-US" altLang="ko-KR" sz="3600" dirty="0"/>
          </a:p>
        </p:txBody>
      </p:sp>
      <p:sp>
        <p:nvSpPr>
          <p:cNvPr id="5" name="제목 1"/>
          <p:cNvSpPr txBox="1">
            <a:spLocks/>
          </p:cNvSpPr>
          <p:nvPr/>
        </p:nvSpPr>
        <p:spPr>
          <a:xfrm>
            <a:off x="2915816" y="1203598"/>
            <a:ext cx="2376264" cy="533895"/>
          </a:xfrm>
          <a:prstGeom prst="rect">
            <a:avLst/>
          </a:prstGeom>
        </p:spPr>
        <p:txBody>
          <a:bodyPr vert="horz" lIns="75927" tIns="37964" rIns="75927" bIns="37964" rtlCol="0" anchor="ctr">
            <a:noAutofit/>
          </a:bodyPr>
          <a:lstStyle>
            <a:lvl1pPr algn="l" defTabSz="914400" rtl="0" eaLnBrk="1" latinLnBrk="1" hangingPunct="1">
              <a:spcBef>
                <a:spcPct val="0"/>
              </a:spcBef>
              <a:buNone/>
              <a:defRPr lang="ko-KR" altLang="en-US" sz="2400" b="1" kern="1200" spc="-100" baseline="0" dirty="0">
                <a:ln>
                  <a:solidFill>
                    <a:srgbClr val="2A2D72">
                      <a:alpha val="5000"/>
                    </a:srgbClr>
                  </a:solidFill>
                </a:ln>
                <a:solidFill>
                  <a:srgbClr val="5974BF"/>
                </a:solidFill>
                <a:latin typeface="+mj-ea"/>
                <a:ea typeface="+mj-ea"/>
                <a:cs typeface="Arial" panose="020B0604020202020204" pitchFamily="34" charset="0"/>
              </a:defRPr>
            </a:lvl1pPr>
          </a:lstStyle>
          <a:p>
            <a:pPr defTabSz="759272"/>
            <a:r>
              <a:rPr lang="en-US" altLang="ko-KR" sz="2800" spc="-150" dirty="0">
                <a:ln>
                  <a:noFill/>
                </a:ln>
                <a:solidFill>
                  <a:srgbClr val="B2CCEC"/>
                </a:solidFill>
                <a:latin typeface="+mn-ea"/>
                <a:ea typeface="+mn-ea"/>
              </a:rPr>
              <a:t>[</a:t>
            </a:r>
            <a:r>
              <a:rPr lang="ko-KR" altLang="en-US" sz="2800" spc="-150" dirty="0">
                <a:ln>
                  <a:noFill/>
                </a:ln>
                <a:solidFill>
                  <a:srgbClr val="B2CCEC"/>
                </a:solidFill>
                <a:latin typeface="+mn-ea"/>
                <a:ea typeface="+mn-ea"/>
              </a:rPr>
              <a:t>과제</a:t>
            </a:r>
            <a:r>
              <a:rPr lang="en-US" altLang="ko-KR" sz="2800" spc="-150" dirty="0">
                <a:ln>
                  <a:noFill/>
                </a:ln>
                <a:solidFill>
                  <a:srgbClr val="B2CCEC"/>
                </a:solidFill>
                <a:latin typeface="+mn-ea"/>
                <a:ea typeface="+mn-ea"/>
              </a:rPr>
              <a:t>]</a:t>
            </a:r>
            <a:endParaRPr lang="ko-KR" altLang="en-US" sz="2800" spc="-150" dirty="0">
              <a:ln>
                <a:noFill/>
              </a:ln>
              <a:solidFill>
                <a:srgbClr val="B2CCEC"/>
              </a:solidFill>
              <a:latin typeface="+mn-ea"/>
              <a:ea typeface="+mn-ea"/>
            </a:endParaRPr>
          </a:p>
        </p:txBody>
      </p:sp>
    </p:spTree>
    <p:extLst>
      <p:ext uri="{BB962C8B-B14F-4D97-AF65-F5344CB8AC3E}">
        <p14:creationId xmlns:p14="http://schemas.microsoft.com/office/powerpoint/2010/main" val="12037172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p:txBody>
          <a:bodyPr>
            <a:normAutofit/>
          </a:bodyPr>
          <a:lstStyle/>
          <a:p>
            <a:r>
              <a:rPr lang="en-US" altLang="ko-KR" sz="1200" b="1" dirty="0" err="1"/>
              <a:t>OOAD</a:t>
            </a:r>
            <a:r>
              <a:rPr lang="ko-KR" altLang="en-US" sz="1200" b="1" dirty="0"/>
              <a:t>과정에서 설계한 </a:t>
            </a:r>
            <a:r>
              <a:rPr lang="en-US" altLang="ko-KR" sz="1200" b="1" dirty="0"/>
              <a:t>Project</a:t>
            </a:r>
            <a:r>
              <a:rPr lang="ko-KR" altLang="en-US" sz="1200" b="1" dirty="0"/>
              <a:t>에 대해 </a:t>
            </a:r>
            <a:r>
              <a:rPr lang="ko-KR" altLang="en-US" sz="1200" b="1" dirty="0" err="1"/>
              <a:t>설계패턴</a:t>
            </a:r>
            <a:r>
              <a:rPr lang="ko-KR" altLang="en-US" sz="1200" b="1" dirty="0"/>
              <a:t> </a:t>
            </a:r>
            <a:r>
              <a:rPr lang="en-US" altLang="ko-KR" sz="1200" b="1" dirty="0"/>
              <a:t>5</a:t>
            </a:r>
            <a:r>
              <a:rPr lang="ko-KR" altLang="en-US" sz="1200" b="1" dirty="0"/>
              <a:t>가지를 </a:t>
            </a:r>
            <a:r>
              <a:rPr lang="ko-KR" altLang="en-US" sz="1200" b="1" dirty="0" err="1"/>
              <a:t>적용하시오</a:t>
            </a:r>
            <a:r>
              <a:rPr lang="en-US" altLang="ko-KR" sz="1200" b="1" dirty="0"/>
              <a:t>.</a:t>
            </a:r>
          </a:p>
          <a:p>
            <a:pPr marL="361338" lvl="1" indent="0">
              <a:buNone/>
            </a:pPr>
            <a:r>
              <a:rPr lang="en-US" altLang="ko-KR" sz="1100" dirty="0"/>
              <a:t>(a) </a:t>
            </a:r>
            <a:r>
              <a:rPr lang="ko-KR" altLang="en-US" sz="1100" dirty="0">
                <a:solidFill>
                  <a:srgbClr val="00B0F0"/>
                </a:solidFill>
              </a:rPr>
              <a:t>기존 </a:t>
            </a:r>
            <a:r>
              <a:rPr lang="ko-KR" altLang="en-US" sz="1100" dirty="0" err="1">
                <a:solidFill>
                  <a:srgbClr val="00B0F0"/>
                </a:solidFill>
              </a:rPr>
              <a:t>설계안</a:t>
            </a:r>
            <a:r>
              <a:rPr lang="ko-KR" altLang="en-US" sz="1100" dirty="0" err="1"/>
              <a:t>에서</a:t>
            </a:r>
            <a:r>
              <a:rPr lang="ko-KR" altLang="en-US" sz="1100" dirty="0"/>
              <a:t> </a:t>
            </a:r>
            <a:r>
              <a:rPr lang="en-US" altLang="ko-KR" sz="1100" dirty="0">
                <a:solidFill>
                  <a:srgbClr val="FF0000"/>
                </a:solidFill>
              </a:rPr>
              <a:t>2</a:t>
            </a:r>
            <a:r>
              <a:rPr lang="ko-KR" altLang="en-US" sz="1100" dirty="0">
                <a:solidFill>
                  <a:srgbClr val="FF0000"/>
                </a:solidFill>
              </a:rPr>
              <a:t>개 적용</a:t>
            </a:r>
          </a:p>
          <a:p>
            <a:pPr marL="361338" lvl="1" indent="0">
              <a:buNone/>
            </a:pPr>
            <a:r>
              <a:rPr lang="en-US" altLang="ko-KR" sz="1100" dirty="0"/>
              <a:t>(b) </a:t>
            </a:r>
            <a:r>
              <a:rPr lang="ko-KR" altLang="en-US" sz="1100" dirty="0">
                <a:solidFill>
                  <a:srgbClr val="00B0F0"/>
                </a:solidFill>
              </a:rPr>
              <a:t>추가 </a:t>
            </a:r>
            <a:r>
              <a:rPr lang="en-US" altLang="ko-KR" sz="1100" dirty="0">
                <a:solidFill>
                  <a:srgbClr val="00B0F0"/>
                </a:solidFill>
              </a:rPr>
              <a:t>Requirement</a:t>
            </a:r>
            <a:r>
              <a:rPr lang="ko-KR" altLang="en-US" sz="1100" dirty="0"/>
              <a:t>를 고안하고 이에 대한 확장을 위해 필요한 패턴을 </a:t>
            </a:r>
            <a:r>
              <a:rPr lang="en-US" altLang="ko-KR" sz="1100" dirty="0">
                <a:solidFill>
                  <a:srgbClr val="FF0000"/>
                </a:solidFill>
              </a:rPr>
              <a:t>3</a:t>
            </a:r>
            <a:r>
              <a:rPr lang="ko-KR" altLang="en-US" sz="1100" dirty="0">
                <a:solidFill>
                  <a:srgbClr val="FF0000"/>
                </a:solidFill>
              </a:rPr>
              <a:t>개 이상 적용</a:t>
            </a:r>
          </a:p>
          <a:p>
            <a:pPr marL="361338" lvl="1" indent="0">
              <a:buNone/>
            </a:pPr>
            <a:r>
              <a:rPr lang="en-US" altLang="ko-KR" sz="1100" dirty="0"/>
              <a:t>(c) Step (a)</a:t>
            </a:r>
            <a:r>
              <a:rPr lang="ko-KR" altLang="en-US" sz="1100" dirty="0"/>
              <a:t>와 </a:t>
            </a:r>
            <a:r>
              <a:rPr lang="en-US" altLang="ko-KR" sz="1100" dirty="0"/>
              <a:t>(b)</a:t>
            </a:r>
            <a:r>
              <a:rPr lang="ko-KR" altLang="en-US" sz="1100" dirty="0"/>
              <a:t>에서 적용한 패턴의 개수가 </a:t>
            </a:r>
            <a:r>
              <a:rPr lang="en-US" altLang="ko-KR" sz="1100" dirty="0">
                <a:solidFill>
                  <a:srgbClr val="FF0000"/>
                </a:solidFill>
              </a:rPr>
              <a:t>5</a:t>
            </a:r>
            <a:r>
              <a:rPr lang="ko-KR" altLang="en-US" sz="1100" dirty="0">
                <a:solidFill>
                  <a:srgbClr val="FF0000"/>
                </a:solidFill>
              </a:rPr>
              <a:t>개 이상이어야 함</a:t>
            </a:r>
          </a:p>
          <a:p>
            <a:pPr marL="361338" lvl="1" indent="0">
              <a:buNone/>
            </a:pPr>
            <a:r>
              <a:rPr lang="en-US" altLang="ko-KR" sz="1100" dirty="0"/>
              <a:t>(d) </a:t>
            </a:r>
            <a:r>
              <a:rPr lang="ko-KR" altLang="en-US" sz="1100" dirty="0"/>
              <a:t>적용된 패턴의 설명을 위해 </a:t>
            </a:r>
            <a:r>
              <a:rPr lang="en-US" altLang="ko-KR" sz="1100" dirty="0"/>
              <a:t>Class Diagram, Sequence Diagram </a:t>
            </a:r>
            <a:r>
              <a:rPr lang="ko-KR" altLang="en-US" sz="1100" dirty="0"/>
              <a:t>등을 이용</a:t>
            </a:r>
            <a:r>
              <a:rPr lang="en-US" altLang="ko-KR" sz="1100" dirty="0"/>
              <a:t> (</a:t>
            </a:r>
            <a:r>
              <a:rPr lang="ko-KR" altLang="en-US" sz="1100" dirty="0"/>
              <a:t>효과적인 </a:t>
            </a:r>
            <a:r>
              <a:rPr lang="en-US" altLang="ko-KR" sz="1100" dirty="0"/>
              <a:t>UML </a:t>
            </a:r>
            <a:r>
              <a:rPr lang="ko-KR" altLang="en-US" sz="1100" dirty="0"/>
              <a:t>다이어그램을 상황에 맞게 선택</a:t>
            </a:r>
            <a:r>
              <a:rPr lang="en-US" altLang="ko-KR" sz="1100" dirty="0"/>
              <a:t>)</a:t>
            </a:r>
          </a:p>
          <a:p>
            <a:pPr marL="361338" lvl="1" indent="0">
              <a:buNone/>
            </a:pPr>
            <a:r>
              <a:rPr lang="en-US" altLang="ko-KR" sz="1100" dirty="0"/>
              <a:t>(e) </a:t>
            </a:r>
            <a:r>
              <a:rPr lang="ko-KR" altLang="en-US" sz="1100" dirty="0">
                <a:solidFill>
                  <a:srgbClr val="2A2D72"/>
                </a:solidFill>
              </a:rPr>
              <a:t>각 패턴을 적용한 합당한 근거를 제시</a:t>
            </a:r>
            <a:br>
              <a:rPr lang="en-US" altLang="ko-KR" sz="1100" dirty="0">
                <a:solidFill>
                  <a:srgbClr val="2A2D72"/>
                </a:solidFill>
              </a:rPr>
            </a:br>
            <a:r>
              <a:rPr lang="en-US" altLang="ko-KR" sz="1100" dirty="0"/>
              <a:t>    </a:t>
            </a:r>
            <a:r>
              <a:rPr lang="ko-KR" altLang="en-US" sz="1100" dirty="0"/>
              <a:t>특히 어떠한 변화가 예상되며</a:t>
            </a:r>
            <a:r>
              <a:rPr lang="en-US" altLang="ko-KR" sz="1100" dirty="0"/>
              <a:t>, </a:t>
            </a:r>
            <a:r>
              <a:rPr lang="ko-KR" altLang="en-US" sz="1100" dirty="0"/>
              <a:t>왜 이러한 설계가 적합하다고 생각하는지 설명 필수 기입</a:t>
            </a:r>
            <a:endParaRPr lang="en-US" altLang="ko-KR" sz="1100" dirty="0"/>
          </a:p>
          <a:p>
            <a:endParaRPr lang="en-US" altLang="ko-KR" sz="1200" dirty="0"/>
          </a:p>
          <a:p>
            <a:r>
              <a:rPr lang="ko-KR" altLang="en-US" sz="1200" b="1" dirty="0"/>
              <a:t>제출기한</a:t>
            </a:r>
            <a:r>
              <a:rPr lang="en-US" altLang="ko-KR" sz="1200" b="1" dirty="0"/>
              <a:t>: </a:t>
            </a:r>
            <a:r>
              <a:rPr lang="en-US" altLang="ko-KR" sz="1200" b="1" dirty="0" err="1"/>
              <a:t>Naver</a:t>
            </a:r>
            <a:r>
              <a:rPr lang="ko-KR" altLang="en-US" sz="1200" b="1" dirty="0"/>
              <a:t> 카페에 오늘 저녁 </a:t>
            </a:r>
            <a:r>
              <a:rPr lang="en-US" altLang="ko-KR" sz="1200" b="1" dirty="0"/>
              <a:t>8:00 </a:t>
            </a:r>
            <a:r>
              <a:rPr lang="ko-KR" altLang="en-US" sz="1200" b="1" dirty="0"/>
              <a:t>까지 업로드</a:t>
            </a:r>
          </a:p>
          <a:p>
            <a:r>
              <a:rPr lang="ko-KR" altLang="en-US" sz="1200" b="1" dirty="0"/>
              <a:t>발표</a:t>
            </a:r>
            <a:r>
              <a:rPr lang="en-US" altLang="ko-KR" sz="1200" b="1" dirty="0"/>
              <a:t>: 2</a:t>
            </a:r>
            <a:r>
              <a:rPr lang="ko-KR" altLang="en-US" sz="1200" b="1" dirty="0"/>
              <a:t>일차 아침</a:t>
            </a:r>
            <a:r>
              <a:rPr lang="en-US" altLang="ko-KR" sz="1200" b="1" dirty="0"/>
              <a:t> 8:30 </a:t>
            </a:r>
            <a:r>
              <a:rPr lang="ko-KR" altLang="en-US" sz="1200" b="1" dirty="0" err="1"/>
              <a:t>팀별</a:t>
            </a:r>
            <a:r>
              <a:rPr lang="ko-KR" altLang="en-US" sz="1200" b="1" dirty="0"/>
              <a:t> 발표 </a:t>
            </a:r>
            <a:r>
              <a:rPr lang="en-US" altLang="ko-KR" sz="1200" b="1" dirty="0"/>
              <a:t>(5</a:t>
            </a:r>
            <a:r>
              <a:rPr lang="ko-KR" altLang="en-US" sz="1200" b="1" dirty="0"/>
              <a:t>분</a:t>
            </a:r>
            <a:r>
              <a:rPr lang="en-US" altLang="ko-KR" sz="1200" b="1" dirty="0"/>
              <a:t>) </a:t>
            </a:r>
            <a:r>
              <a:rPr lang="ko-KR" altLang="en-US" sz="1200" b="1" dirty="0"/>
              <a:t>및 </a:t>
            </a:r>
            <a:r>
              <a:rPr lang="en-US" altLang="ko-KR" sz="1200" b="1" dirty="0"/>
              <a:t>Q&amp;A (3</a:t>
            </a:r>
            <a:r>
              <a:rPr lang="ko-KR" altLang="en-US" sz="1200" b="1" dirty="0"/>
              <a:t>분</a:t>
            </a:r>
            <a:r>
              <a:rPr lang="en-US" altLang="ko-KR" sz="1200" b="1" dirty="0"/>
              <a:t>)</a:t>
            </a:r>
            <a:endParaRPr lang="ko-KR" altLang="en-US" sz="1200" b="1" dirty="0"/>
          </a:p>
        </p:txBody>
      </p:sp>
      <p:sp>
        <p:nvSpPr>
          <p:cNvPr id="3" name="제목 2"/>
          <p:cNvSpPr>
            <a:spLocks noGrp="1"/>
          </p:cNvSpPr>
          <p:nvPr>
            <p:ph type="title"/>
          </p:nvPr>
        </p:nvSpPr>
        <p:spPr/>
        <p:txBody>
          <a:bodyPr vert="horz" lIns="75927" tIns="37964" rIns="75927" bIns="37964" rtlCol="0" anchor="ctr">
            <a:normAutofit/>
          </a:bodyPr>
          <a:lstStyle/>
          <a:p>
            <a:r>
              <a:rPr lang="en-US" altLang="ko-KR" spc="0" dirty="0"/>
              <a:t>(</a:t>
            </a:r>
            <a:r>
              <a:rPr lang="ko-KR" altLang="en-US" spc="0" dirty="0"/>
              <a:t>작성 안내</a:t>
            </a:r>
            <a:r>
              <a:rPr lang="en-US" altLang="ko-KR" spc="0" dirty="0"/>
              <a:t>) </a:t>
            </a:r>
            <a:r>
              <a:rPr lang="ko-KR" altLang="en-US" spc="0" dirty="0"/>
              <a:t>조별과제</a:t>
            </a:r>
            <a:r>
              <a:rPr lang="en-US" altLang="ko-KR" spc="0" dirty="0"/>
              <a:t> Design Pattern </a:t>
            </a:r>
            <a:r>
              <a:rPr lang="ko-KR" altLang="en-US" spc="0" dirty="0"/>
              <a:t>적용 </a:t>
            </a:r>
          </a:p>
        </p:txBody>
      </p:sp>
    </p:spTree>
    <p:extLst>
      <p:ext uri="{BB962C8B-B14F-4D97-AF65-F5344CB8AC3E}">
        <p14:creationId xmlns:p14="http://schemas.microsoft.com/office/powerpoint/2010/main" val="119052501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vert="horz" lIns="75927" tIns="37964" rIns="75927" bIns="37964" rtlCol="0" anchor="ctr">
            <a:normAutofit/>
          </a:bodyPr>
          <a:lstStyle/>
          <a:p>
            <a:r>
              <a:rPr lang="en-US" altLang="ko-KR" spc="0" dirty="0"/>
              <a:t>(</a:t>
            </a:r>
            <a:r>
              <a:rPr lang="ko-KR" altLang="en-US" spc="0" dirty="0"/>
              <a:t>작성 안내</a:t>
            </a:r>
            <a:r>
              <a:rPr lang="en-US" altLang="ko-KR" spc="0" dirty="0"/>
              <a:t>) Overall Class diagram</a:t>
            </a:r>
            <a:endParaRPr lang="ko-KR" altLang="en-US" spc="0" dirty="0"/>
          </a:p>
        </p:txBody>
      </p:sp>
      <p:sp>
        <p:nvSpPr>
          <p:cNvPr id="4" name="직사각형 3"/>
          <p:cNvSpPr/>
          <p:nvPr/>
        </p:nvSpPr>
        <p:spPr>
          <a:xfrm>
            <a:off x="1043608" y="1707654"/>
            <a:ext cx="2304256" cy="122413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ko-KR" dirty="0">
                <a:solidFill>
                  <a:schemeClr val="tx1"/>
                </a:solidFill>
              </a:rPr>
              <a:t>Facade</a:t>
            </a:r>
            <a:endParaRPr lang="ko-KR" altLang="en-US" dirty="0">
              <a:solidFill>
                <a:schemeClr val="tx1"/>
              </a:solidFill>
            </a:endParaRPr>
          </a:p>
        </p:txBody>
      </p:sp>
      <p:sp>
        <p:nvSpPr>
          <p:cNvPr id="5" name="직사각형 4"/>
          <p:cNvSpPr/>
          <p:nvPr/>
        </p:nvSpPr>
        <p:spPr>
          <a:xfrm>
            <a:off x="2843808" y="2211710"/>
            <a:ext cx="2160240" cy="1944216"/>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ko-KR" dirty="0">
                <a:solidFill>
                  <a:schemeClr val="tx1"/>
                </a:solidFill>
              </a:rPr>
              <a:t>Strategy</a:t>
            </a:r>
            <a:endParaRPr lang="ko-KR" altLang="en-US" dirty="0">
              <a:solidFill>
                <a:schemeClr val="tx1"/>
              </a:solidFill>
            </a:endParaRPr>
          </a:p>
        </p:txBody>
      </p:sp>
      <p:sp>
        <p:nvSpPr>
          <p:cNvPr id="6" name="직사각형 5"/>
          <p:cNvSpPr/>
          <p:nvPr/>
        </p:nvSpPr>
        <p:spPr>
          <a:xfrm>
            <a:off x="1403648" y="3507854"/>
            <a:ext cx="2520280" cy="15121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ko-KR" dirty="0">
                <a:solidFill>
                  <a:schemeClr val="tx1"/>
                </a:solidFill>
              </a:rPr>
              <a:t>Abstract Factory</a:t>
            </a:r>
            <a:endParaRPr lang="ko-KR" altLang="en-US" dirty="0">
              <a:solidFill>
                <a:schemeClr val="tx1"/>
              </a:solidFill>
            </a:endParaRPr>
          </a:p>
        </p:txBody>
      </p:sp>
      <p:sp>
        <p:nvSpPr>
          <p:cNvPr id="7" name="직사각형 6"/>
          <p:cNvSpPr/>
          <p:nvPr/>
        </p:nvSpPr>
        <p:spPr>
          <a:xfrm>
            <a:off x="4283968" y="1707654"/>
            <a:ext cx="2160240" cy="144016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ko-KR" dirty="0">
                <a:solidFill>
                  <a:schemeClr val="tx1"/>
                </a:solidFill>
              </a:rPr>
              <a:t>Observer</a:t>
            </a:r>
            <a:endParaRPr lang="ko-KR" altLang="en-US" dirty="0">
              <a:solidFill>
                <a:schemeClr val="tx1"/>
              </a:solidFill>
            </a:endParaRPr>
          </a:p>
        </p:txBody>
      </p:sp>
      <p:sp>
        <p:nvSpPr>
          <p:cNvPr id="8" name="직사각형 7"/>
          <p:cNvSpPr/>
          <p:nvPr/>
        </p:nvSpPr>
        <p:spPr>
          <a:xfrm>
            <a:off x="5724128" y="2355726"/>
            <a:ext cx="2664296" cy="23762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ko-KR" dirty="0">
                <a:solidFill>
                  <a:schemeClr val="tx1"/>
                </a:solidFill>
              </a:rPr>
              <a:t>Adapter</a:t>
            </a:r>
            <a:endParaRPr lang="ko-KR" altLang="en-US" dirty="0">
              <a:solidFill>
                <a:schemeClr val="tx1"/>
              </a:solidFill>
            </a:endParaRPr>
          </a:p>
        </p:txBody>
      </p:sp>
      <p:sp>
        <p:nvSpPr>
          <p:cNvPr id="9" name="내용 개체 틀 1"/>
          <p:cNvSpPr>
            <a:spLocks noGrp="1"/>
          </p:cNvSpPr>
          <p:nvPr>
            <p:ph idx="1"/>
          </p:nvPr>
        </p:nvSpPr>
        <p:spPr>
          <a:xfrm>
            <a:off x="251520" y="555526"/>
            <a:ext cx="8712968" cy="870942"/>
          </a:xfrm>
        </p:spPr>
        <p:txBody>
          <a:bodyPr>
            <a:normAutofit/>
          </a:bodyPr>
          <a:lstStyle/>
          <a:p>
            <a:r>
              <a:rPr lang="en-US" altLang="ko-KR" sz="1200" dirty="0"/>
              <a:t>5</a:t>
            </a:r>
            <a:r>
              <a:rPr lang="ko-KR" altLang="en-US" sz="1200" dirty="0"/>
              <a:t>개 패턴이 모두 적용된 </a:t>
            </a:r>
            <a:r>
              <a:rPr lang="ko-KR" altLang="en-US" sz="1200" dirty="0">
                <a:solidFill>
                  <a:srgbClr val="00B0F0"/>
                </a:solidFill>
              </a:rPr>
              <a:t>전체 그림을 </a:t>
            </a:r>
            <a:r>
              <a:rPr lang="en-US" altLang="ko-KR" sz="1200" dirty="0">
                <a:solidFill>
                  <a:srgbClr val="00B0F0"/>
                </a:solidFill>
              </a:rPr>
              <a:t>1</a:t>
            </a:r>
            <a:r>
              <a:rPr lang="ko-KR" altLang="en-US" sz="1200" dirty="0">
                <a:solidFill>
                  <a:srgbClr val="00B0F0"/>
                </a:solidFill>
              </a:rPr>
              <a:t>장</a:t>
            </a:r>
            <a:r>
              <a:rPr lang="ko-KR" altLang="en-US" sz="1200" dirty="0"/>
              <a:t>으로 표현</a:t>
            </a:r>
            <a:endParaRPr lang="en-US" altLang="ko-KR" sz="1200" dirty="0"/>
          </a:p>
          <a:p>
            <a:r>
              <a:rPr lang="en-US" altLang="ko-KR" sz="1200" dirty="0"/>
              <a:t>Class Name</a:t>
            </a:r>
            <a:r>
              <a:rPr lang="ko-KR" altLang="en-US" sz="1200" dirty="0"/>
              <a:t>과 </a:t>
            </a:r>
            <a:r>
              <a:rPr lang="en-US" altLang="ko-KR" sz="1200" dirty="0"/>
              <a:t>Relationship </a:t>
            </a:r>
            <a:r>
              <a:rPr lang="ko-KR" altLang="en-US" sz="1200" dirty="0"/>
              <a:t>중심으로 표현 </a:t>
            </a:r>
            <a:r>
              <a:rPr lang="en-US" altLang="ko-KR" sz="1200" dirty="0"/>
              <a:t>(</a:t>
            </a:r>
            <a:r>
              <a:rPr lang="ko-KR" altLang="en-US" sz="1200" dirty="0"/>
              <a:t>단</a:t>
            </a:r>
            <a:r>
              <a:rPr lang="en-US" altLang="ko-KR" sz="1200" dirty="0"/>
              <a:t>, dependency</a:t>
            </a:r>
            <a:r>
              <a:rPr lang="ko-KR" altLang="en-US" sz="1200" dirty="0"/>
              <a:t>는 제외 가능</a:t>
            </a:r>
            <a:r>
              <a:rPr lang="en-US" altLang="ko-KR" sz="1200" dirty="0"/>
              <a:t>)</a:t>
            </a:r>
            <a:endParaRPr lang="ko-KR" altLang="en-US" sz="1200" dirty="0"/>
          </a:p>
        </p:txBody>
      </p:sp>
    </p:spTree>
    <p:extLst>
      <p:ext uri="{BB962C8B-B14F-4D97-AF65-F5344CB8AC3E}">
        <p14:creationId xmlns:p14="http://schemas.microsoft.com/office/powerpoint/2010/main" val="267577851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a:xfrm>
            <a:off x="251520" y="548680"/>
            <a:ext cx="8712968" cy="1804682"/>
          </a:xfrm>
        </p:spPr>
        <p:txBody>
          <a:bodyPr>
            <a:normAutofit/>
          </a:bodyPr>
          <a:lstStyle/>
          <a:p>
            <a:r>
              <a:rPr lang="ko-KR" altLang="en-US" sz="1200" dirty="0"/>
              <a:t>근거</a:t>
            </a:r>
            <a:r>
              <a:rPr lang="en-US" altLang="ko-KR" sz="1200" dirty="0"/>
              <a:t>: </a:t>
            </a:r>
            <a:r>
              <a:rPr lang="ko-KR" altLang="en-US" sz="1200" dirty="0"/>
              <a:t>각</a:t>
            </a:r>
            <a:r>
              <a:rPr lang="en-US" altLang="ko-KR" sz="1200" dirty="0"/>
              <a:t> </a:t>
            </a:r>
            <a:r>
              <a:rPr lang="ko-KR" altLang="en-US" sz="1200" dirty="0"/>
              <a:t>패턴별로 해당 패턴을 적용한 근거 서술 </a:t>
            </a:r>
            <a:r>
              <a:rPr lang="en-US" altLang="ko-KR" sz="1200" dirty="0"/>
              <a:t>(</a:t>
            </a:r>
            <a:r>
              <a:rPr lang="ko-KR" altLang="en-US" sz="1200" dirty="0"/>
              <a:t>설계관점의 이점을 구체적으로 기입</a:t>
            </a:r>
            <a:r>
              <a:rPr lang="en-US" altLang="ko-KR" sz="1200" dirty="0"/>
              <a:t>)</a:t>
            </a:r>
          </a:p>
          <a:p>
            <a:r>
              <a:rPr lang="ko-KR" altLang="en-US" sz="1200" dirty="0"/>
              <a:t>주의사항</a:t>
            </a:r>
            <a:endParaRPr lang="en-US" altLang="ko-KR" sz="1200" dirty="0"/>
          </a:p>
          <a:p>
            <a:pPr lvl="1"/>
            <a:r>
              <a:rPr lang="ko-KR" altLang="en-US" sz="1000" dirty="0"/>
              <a:t>각 클래스에 빨간색 박스와 폰트로 패턴에서의 </a:t>
            </a:r>
            <a:r>
              <a:rPr lang="en-US" altLang="ko-KR" sz="1000" dirty="0">
                <a:solidFill>
                  <a:srgbClr val="00B0F0"/>
                </a:solidFill>
              </a:rPr>
              <a:t>participant</a:t>
            </a:r>
            <a:r>
              <a:rPr lang="ko-KR" altLang="en-US" sz="1000" dirty="0">
                <a:solidFill>
                  <a:srgbClr val="00B0F0"/>
                </a:solidFill>
              </a:rPr>
              <a:t>를 반드시 적어줄 </a:t>
            </a:r>
            <a:r>
              <a:rPr lang="ko-KR" altLang="en-US" sz="1000" dirty="0"/>
              <a:t>것 </a:t>
            </a:r>
            <a:r>
              <a:rPr lang="en-US" altLang="ko-KR" sz="1000" dirty="0"/>
              <a:t>(</a:t>
            </a:r>
            <a:r>
              <a:rPr lang="ko-KR" altLang="en-US" sz="1000" dirty="0"/>
              <a:t>특히 </a:t>
            </a:r>
            <a:r>
              <a:rPr lang="en-US" altLang="ko-KR" sz="1000" dirty="0"/>
              <a:t>Client</a:t>
            </a:r>
            <a:r>
              <a:rPr lang="ko-KR" altLang="en-US" sz="1000" dirty="0"/>
              <a:t>가 누락되는 경우 많음</a:t>
            </a:r>
            <a:r>
              <a:rPr lang="en-US" altLang="ko-KR" sz="1000" dirty="0"/>
              <a:t>)</a:t>
            </a:r>
          </a:p>
          <a:p>
            <a:pPr lvl="1"/>
            <a:r>
              <a:rPr lang="ko-KR" altLang="en-US" sz="1000" dirty="0"/>
              <a:t>클래스의 </a:t>
            </a:r>
            <a:r>
              <a:rPr lang="ko-KR" altLang="en-US" sz="1000" dirty="0">
                <a:solidFill>
                  <a:srgbClr val="00B0F0"/>
                </a:solidFill>
              </a:rPr>
              <a:t>주요 </a:t>
            </a:r>
            <a:r>
              <a:rPr lang="en-US" altLang="ko-KR" sz="1000" dirty="0">
                <a:solidFill>
                  <a:srgbClr val="00B0F0"/>
                </a:solidFill>
              </a:rPr>
              <a:t>variable</a:t>
            </a:r>
            <a:r>
              <a:rPr lang="ko-KR" altLang="en-US" sz="1000" dirty="0">
                <a:solidFill>
                  <a:srgbClr val="00B0F0"/>
                </a:solidFill>
              </a:rPr>
              <a:t>과</a:t>
            </a:r>
            <a:r>
              <a:rPr lang="en-US" altLang="ko-KR" sz="1000" dirty="0">
                <a:solidFill>
                  <a:srgbClr val="00B0F0"/>
                </a:solidFill>
              </a:rPr>
              <a:t> method</a:t>
            </a:r>
            <a:r>
              <a:rPr lang="ko-KR" altLang="en-US" sz="1000" dirty="0">
                <a:solidFill>
                  <a:srgbClr val="00B0F0"/>
                </a:solidFill>
              </a:rPr>
              <a:t>를 명시</a:t>
            </a:r>
            <a:r>
              <a:rPr lang="ko-KR" altLang="en-US" sz="1000" dirty="0"/>
              <a:t>할 것</a:t>
            </a:r>
            <a:endParaRPr lang="en-US" altLang="ko-KR" sz="1000" dirty="0"/>
          </a:p>
          <a:p>
            <a:pPr lvl="1"/>
            <a:r>
              <a:rPr lang="ko-KR" altLang="en-US" sz="1000" dirty="0"/>
              <a:t>자세한 설명을 위해 </a:t>
            </a:r>
            <a:r>
              <a:rPr lang="en-US" altLang="ko-KR" sz="1000" dirty="0">
                <a:solidFill>
                  <a:srgbClr val="00B0F0"/>
                </a:solidFill>
              </a:rPr>
              <a:t>dependency relationship </a:t>
            </a:r>
            <a:r>
              <a:rPr lang="ko-KR" altLang="en-US" sz="1000" dirty="0">
                <a:solidFill>
                  <a:srgbClr val="00B0F0"/>
                </a:solidFill>
              </a:rPr>
              <a:t>추가 가능  </a:t>
            </a:r>
            <a:r>
              <a:rPr lang="en-US" altLang="ko-KR" sz="1000" dirty="0"/>
              <a:t>(</a:t>
            </a:r>
            <a:r>
              <a:rPr lang="ko-KR" altLang="en-US" sz="1000" dirty="0"/>
              <a:t>특히</a:t>
            </a:r>
            <a:r>
              <a:rPr lang="en-US" altLang="ko-KR" sz="1000" dirty="0"/>
              <a:t>, Factory Method</a:t>
            </a:r>
            <a:r>
              <a:rPr lang="ko-KR" altLang="en-US" sz="1000" dirty="0"/>
              <a:t>와 </a:t>
            </a:r>
            <a:r>
              <a:rPr lang="en-US" altLang="ko-KR" sz="1000" dirty="0"/>
              <a:t>Abstract Factory Pattern</a:t>
            </a:r>
            <a:r>
              <a:rPr lang="ko-KR" altLang="en-US" sz="1000" dirty="0"/>
              <a:t>에서 ≪</a:t>
            </a:r>
            <a:r>
              <a:rPr lang="en-US" altLang="ko-KR" sz="1000" dirty="0"/>
              <a:t>create</a:t>
            </a:r>
            <a:r>
              <a:rPr lang="ko-KR" altLang="en-US" sz="1000" dirty="0"/>
              <a:t>≫</a:t>
            </a:r>
            <a:r>
              <a:rPr lang="en-US" altLang="ko-KR" sz="1000" dirty="0"/>
              <a:t> </a:t>
            </a:r>
            <a:r>
              <a:rPr lang="ko-KR" altLang="en-US" sz="1000" dirty="0"/>
              <a:t>관계</a:t>
            </a:r>
            <a:r>
              <a:rPr lang="en-US" altLang="ko-KR" sz="1000" dirty="0"/>
              <a:t>)</a:t>
            </a:r>
            <a:endParaRPr lang="ko-KR" altLang="en-US" sz="1200" dirty="0"/>
          </a:p>
        </p:txBody>
      </p:sp>
      <p:sp>
        <p:nvSpPr>
          <p:cNvPr id="3" name="제목 2"/>
          <p:cNvSpPr>
            <a:spLocks noGrp="1"/>
          </p:cNvSpPr>
          <p:nvPr>
            <p:ph type="title"/>
          </p:nvPr>
        </p:nvSpPr>
        <p:spPr/>
        <p:txBody>
          <a:bodyPr vert="horz" lIns="75927" tIns="37964" rIns="75927" bIns="37964" rtlCol="0" anchor="ctr">
            <a:normAutofit/>
          </a:bodyPr>
          <a:lstStyle/>
          <a:p>
            <a:r>
              <a:rPr lang="en-US" altLang="ko-KR" spc="0" dirty="0"/>
              <a:t>(</a:t>
            </a:r>
            <a:r>
              <a:rPr lang="ko-KR" altLang="en-US" spc="0" dirty="0"/>
              <a:t>작성 안내</a:t>
            </a:r>
            <a:r>
              <a:rPr lang="en-US" altLang="ko-KR" spc="0" dirty="0"/>
              <a:t>) Pattern1: Strategy</a:t>
            </a:r>
            <a:endParaRPr lang="ko-KR" altLang="en-US" spc="0" dirty="0"/>
          </a:p>
        </p:txBody>
      </p:sp>
      <p:grpSp>
        <p:nvGrpSpPr>
          <p:cNvPr id="8" name="그룹 7"/>
          <p:cNvGrpSpPr/>
          <p:nvPr/>
        </p:nvGrpSpPr>
        <p:grpSpPr>
          <a:xfrm>
            <a:off x="1907704" y="2281354"/>
            <a:ext cx="5688632" cy="2594652"/>
            <a:chOff x="1763688" y="1995686"/>
            <a:chExt cx="5688632" cy="2594652"/>
          </a:xfrm>
        </p:grpSpPr>
        <p:pic>
          <p:nvPicPr>
            <p:cNvPr id="4" name="그림 3"/>
            <p:cNvPicPr>
              <a:picLocks noChangeAspect="1"/>
            </p:cNvPicPr>
            <p:nvPr/>
          </p:nvPicPr>
          <p:blipFill>
            <a:blip r:embed="rId2"/>
            <a:stretch>
              <a:fillRect/>
            </a:stretch>
          </p:blipFill>
          <p:spPr>
            <a:xfrm>
              <a:off x="1953968" y="2283718"/>
              <a:ext cx="5308071" cy="2260598"/>
            </a:xfrm>
            <a:prstGeom prst="rect">
              <a:avLst/>
            </a:prstGeom>
          </p:spPr>
        </p:pic>
        <p:sp>
          <p:nvSpPr>
            <p:cNvPr id="5" name="직사각형 4"/>
            <p:cNvSpPr/>
            <p:nvPr/>
          </p:nvSpPr>
          <p:spPr>
            <a:xfrm>
              <a:off x="1763688" y="2067694"/>
              <a:ext cx="2088232" cy="13681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ko-KR" sz="1100" dirty="0">
                  <a:solidFill>
                    <a:srgbClr val="2A2D72"/>
                  </a:solidFill>
                </a:rPr>
                <a:t>Context</a:t>
              </a:r>
              <a:endParaRPr lang="ko-KR" altLang="en-US" sz="1400" dirty="0">
                <a:solidFill>
                  <a:srgbClr val="2A2D72"/>
                </a:solidFill>
              </a:endParaRPr>
            </a:p>
          </p:txBody>
        </p:sp>
        <p:sp>
          <p:nvSpPr>
            <p:cNvPr id="6" name="직사각형 5"/>
            <p:cNvSpPr/>
            <p:nvPr/>
          </p:nvSpPr>
          <p:spPr>
            <a:xfrm>
              <a:off x="4427984" y="1995686"/>
              <a:ext cx="1440160" cy="115212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ko-KR" sz="1100" dirty="0">
                  <a:solidFill>
                    <a:srgbClr val="2A2D72"/>
                  </a:solidFill>
                </a:rPr>
                <a:t>Strategy</a:t>
              </a:r>
              <a:endParaRPr lang="ko-KR" altLang="en-US" sz="1100" dirty="0">
                <a:solidFill>
                  <a:srgbClr val="2A2D72"/>
                </a:solidFill>
              </a:endParaRPr>
            </a:p>
          </p:txBody>
        </p:sp>
        <p:sp>
          <p:nvSpPr>
            <p:cNvPr id="7" name="직사각형 6"/>
            <p:cNvSpPr/>
            <p:nvPr/>
          </p:nvSpPr>
          <p:spPr>
            <a:xfrm>
              <a:off x="2987824" y="3507854"/>
              <a:ext cx="4464496" cy="108248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ko-KR" sz="1100" dirty="0">
                  <a:solidFill>
                    <a:srgbClr val="2A2D72"/>
                  </a:solidFill>
                </a:rPr>
                <a:t>Concrete Strategy</a:t>
              </a:r>
              <a:endParaRPr lang="ko-KR" altLang="en-US" sz="1100" dirty="0">
                <a:solidFill>
                  <a:srgbClr val="2A2D72"/>
                </a:solidFill>
              </a:endParaRPr>
            </a:p>
          </p:txBody>
        </p:sp>
      </p:grpSp>
    </p:spTree>
    <p:extLst>
      <p:ext uri="{BB962C8B-B14F-4D97-AF65-F5344CB8AC3E}">
        <p14:creationId xmlns:p14="http://schemas.microsoft.com/office/powerpoint/2010/main" val="166010897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2699791" y="1491630"/>
            <a:ext cx="6444209" cy="2880321"/>
          </a:xfrm>
        </p:spPr>
        <p:txBody>
          <a:bodyPr>
            <a:noAutofit/>
          </a:bodyPr>
          <a:lstStyle/>
          <a:p>
            <a:r>
              <a:rPr lang="en-US" altLang="ko-KR" sz="1600" dirty="0"/>
              <a:t>[</a:t>
            </a:r>
            <a:r>
              <a:rPr lang="ko-KR" altLang="en-US" sz="1600" dirty="0"/>
              <a:t>필수</a:t>
            </a:r>
            <a:r>
              <a:rPr lang="en-US" altLang="ko-KR" sz="1600" dirty="0"/>
              <a:t>]</a:t>
            </a:r>
            <a:br>
              <a:rPr lang="en-US" altLang="ko-KR" b="0" dirty="0"/>
            </a:br>
            <a:r>
              <a:rPr lang="en-US" altLang="ko-KR" sz="2000" b="0" dirty="0"/>
              <a:t>04 Proxy</a:t>
            </a:r>
            <a:r>
              <a:rPr lang="en-US" altLang="ko-KR" sz="1600" b="0" dirty="0"/>
              <a:t> (64min)</a:t>
            </a:r>
            <a:br>
              <a:rPr lang="en-US" altLang="ko-KR" b="0" dirty="0"/>
            </a:br>
            <a:r>
              <a:rPr lang="en-US" altLang="ko-KR" sz="2000" b="0" dirty="0"/>
              <a:t>06. Façade </a:t>
            </a:r>
            <a:r>
              <a:rPr lang="en-US" altLang="ko-KR" sz="1600" b="0" dirty="0"/>
              <a:t>(31min)</a:t>
            </a:r>
            <a:br>
              <a:rPr lang="en-US" altLang="ko-KR" b="0" dirty="0"/>
            </a:br>
            <a:br>
              <a:rPr lang="en-US" altLang="ko-KR" b="0" dirty="0"/>
            </a:br>
            <a:r>
              <a:rPr lang="en-US" altLang="ko-KR" sz="1600" spc="-150" dirty="0">
                <a:ln>
                  <a:noFill/>
                </a:ln>
                <a:solidFill>
                  <a:srgbClr val="B2CCEC"/>
                </a:solidFill>
                <a:latin typeface="+mn-ea"/>
              </a:rPr>
              <a:t>[</a:t>
            </a:r>
            <a:r>
              <a:rPr lang="ko-KR" altLang="en-US" sz="1600" spc="-150" dirty="0">
                <a:ln>
                  <a:noFill/>
                </a:ln>
                <a:solidFill>
                  <a:srgbClr val="B2CCEC"/>
                </a:solidFill>
                <a:latin typeface="+mn-ea"/>
              </a:rPr>
              <a:t>추가 학습</a:t>
            </a:r>
            <a:r>
              <a:rPr lang="en-US" altLang="ko-KR" sz="1600" spc="-150" dirty="0">
                <a:ln>
                  <a:noFill/>
                </a:ln>
                <a:solidFill>
                  <a:srgbClr val="B2CCEC"/>
                </a:solidFill>
                <a:latin typeface="+mn-ea"/>
              </a:rPr>
              <a:t>]</a:t>
            </a:r>
            <a:br>
              <a:rPr lang="en-US" altLang="ko-KR" b="0" dirty="0"/>
            </a:br>
            <a:r>
              <a:rPr lang="en-US" altLang="ko-KR" sz="2000" b="0" spc="-150" dirty="0">
                <a:ln>
                  <a:noFill/>
                </a:ln>
                <a:solidFill>
                  <a:srgbClr val="B2CCEC"/>
                </a:solidFill>
                <a:latin typeface="+mn-ea"/>
              </a:rPr>
              <a:t>18. MVC </a:t>
            </a:r>
            <a:r>
              <a:rPr lang="en-US" altLang="ko-KR" sz="1600" b="0" spc="-150" dirty="0">
                <a:ln>
                  <a:noFill/>
                </a:ln>
                <a:solidFill>
                  <a:srgbClr val="B2CCEC"/>
                </a:solidFill>
                <a:latin typeface="+mn-ea"/>
              </a:rPr>
              <a:t>(44min)</a:t>
            </a:r>
            <a:br>
              <a:rPr lang="en-US" altLang="ko-KR" sz="1600" b="0" spc="-150" dirty="0">
                <a:ln>
                  <a:noFill/>
                </a:ln>
                <a:solidFill>
                  <a:srgbClr val="B2CCEC"/>
                </a:solidFill>
                <a:latin typeface="+mn-ea"/>
              </a:rPr>
            </a:br>
            <a:r>
              <a:rPr lang="en-US" altLang="ko-KR" sz="2000" b="0" spc="-150" dirty="0">
                <a:ln>
                  <a:noFill/>
                </a:ln>
                <a:solidFill>
                  <a:srgbClr val="B2CCEC"/>
                </a:solidFill>
                <a:latin typeface="+mn-ea"/>
              </a:rPr>
              <a:t>19. Pattern Summary</a:t>
            </a:r>
            <a:r>
              <a:rPr lang="en-US" altLang="ko-KR" sz="1600" b="0" spc="-150" dirty="0">
                <a:ln>
                  <a:noFill/>
                </a:ln>
                <a:solidFill>
                  <a:srgbClr val="B2CCEC"/>
                </a:solidFill>
                <a:latin typeface="+mn-ea"/>
              </a:rPr>
              <a:t> (35min)</a:t>
            </a:r>
            <a:br>
              <a:rPr lang="en-US" altLang="ko-KR" sz="1600" b="0" dirty="0"/>
            </a:br>
            <a:br>
              <a:rPr lang="ko-KR" altLang="en-US" sz="1600" b="0" dirty="0"/>
            </a:br>
            <a:br>
              <a:rPr lang="en-US" altLang="ko-KR" sz="1600" b="0" dirty="0"/>
            </a:br>
            <a:r>
              <a:rPr lang="en-US" altLang="ko-KR" sz="1600" b="0" dirty="0"/>
              <a:t>* </a:t>
            </a:r>
            <a:r>
              <a:rPr lang="ko-KR" altLang="en-US" sz="1600" b="0" dirty="0"/>
              <a:t>사전 학습 등 </a:t>
            </a:r>
            <a:r>
              <a:rPr lang="en-US" altLang="ko-KR" sz="1600" b="0" dirty="0"/>
              <a:t>DP</a:t>
            </a:r>
            <a:r>
              <a:rPr lang="ko-KR" altLang="en-US" sz="1600" b="0" dirty="0"/>
              <a:t>에 익숙한 분은 영상 시청 없이 바로 </a:t>
            </a:r>
            <a:r>
              <a:rPr lang="en-US" altLang="ko-KR" sz="1600" b="0" dirty="0"/>
              <a:t>Practice </a:t>
            </a:r>
            <a:r>
              <a:rPr lang="ko-KR" altLang="en-US" sz="1600" b="0" dirty="0"/>
              <a:t> 도전</a:t>
            </a:r>
            <a:r>
              <a:rPr lang="en-US" altLang="ko-KR" sz="1600" b="0" dirty="0"/>
              <a:t>!</a:t>
            </a:r>
            <a:br>
              <a:rPr lang="ko-KR" altLang="en-US" b="0" dirty="0"/>
            </a:br>
            <a:endParaRPr lang="en-US" altLang="ko-KR" sz="1600" b="0" dirty="0"/>
          </a:p>
        </p:txBody>
      </p:sp>
      <p:sp>
        <p:nvSpPr>
          <p:cNvPr id="5" name="제목 1"/>
          <p:cNvSpPr txBox="1">
            <a:spLocks/>
          </p:cNvSpPr>
          <p:nvPr/>
        </p:nvSpPr>
        <p:spPr>
          <a:xfrm>
            <a:off x="2915816" y="483518"/>
            <a:ext cx="4752528" cy="533895"/>
          </a:xfrm>
          <a:prstGeom prst="rect">
            <a:avLst/>
          </a:prstGeom>
        </p:spPr>
        <p:txBody>
          <a:bodyPr vert="horz" lIns="75927" tIns="37964" rIns="75927" bIns="37964" rtlCol="0" anchor="ctr">
            <a:noAutofit/>
          </a:bodyPr>
          <a:lstStyle>
            <a:lvl1pPr algn="l" defTabSz="914400" rtl="0" eaLnBrk="1" latinLnBrk="1" hangingPunct="1">
              <a:spcBef>
                <a:spcPct val="0"/>
              </a:spcBef>
              <a:buNone/>
              <a:defRPr lang="ko-KR" altLang="en-US" sz="2400" b="1" kern="1200" spc="-100" baseline="0" dirty="0">
                <a:ln>
                  <a:solidFill>
                    <a:srgbClr val="2A2D72">
                      <a:alpha val="5000"/>
                    </a:srgbClr>
                  </a:solidFill>
                </a:ln>
                <a:solidFill>
                  <a:srgbClr val="5974BF"/>
                </a:solidFill>
                <a:latin typeface="+mj-ea"/>
                <a:ea typeface="+mj-ea"/>
                <a:cs typeface="Arial" panose="020B0604020202020204" pitchFamily="34" charset="0"/>
              </a:defRPr>
            </a:lvl1pPr>
          </a:lstStyle>
          <a:p>
            <a:pPr defTabSz="759253"/>
            <a:r>
              <a:rPr lang="en-US" altLang="ko-KR" sz="2800" spc="-150" dirty="0">
                <a:ln>
                  <a:noFill/>
                </a:ln>
                <a:solidFill>
                  <a:srgbClr val="B2CCEC"/>
                </a:solidFill>
                <a:latin typeface="+mn-ea"/>
                <a:ea typeface="+mn-ea"/>
              </a:rPr>
              <a:t>[</a:t>
            </a:r>
            <a:r>
              <a:rPr lang="ko-KR" altLang="en-US" sz="2800" spc="-150" dirty="0">
                <a:ln>
                  <a:noFill/>
                </a:ln>
                <a:solidFill>
                  <a:srgbClr val="B2CCEC"/>
                </a:solidFill>
                <a:latin typeface="+mn-ea"/>
                <a:ea typeface="+mn-ea"/>
              </a:rPr>
              <a:t>온라인 영상 학습</a:t>
            </a:r>
            <a:r>
              <a:rPr lang="en-US" altLang="ko-KR" sz="2800" spc="-150" dirty="0">
                <a:ln>
                  <a:noFill/>
                </a:ln>
                <a:solidFill>
                  <a:srgbClr val="B2CCEC"/>
                </a:solidFill>
                <a:latin typeface="+mn-ea"/>
                <a:ea typeface="+mn-ea"/>
              </a:rPr>
              <a:t>]</a:t>
            </a:r>
            <a:endParaRPr lang="ko-KR" altLang="en-US" sz="2800" spc="-150" dirty="0">
              <a:ln>
                <a:noFill/>
              </a:ln>
              <a:solidFill>
                <a:srgbClr val="B2CCEC"/>
              </a:solidFill>
              <a:latin typeface="+mn-ea"/>
              <a:ea typeface="+mn-ea"/>
            </a:endParaRPr>
          </a:p>
        </p:txBody>
      </p:sp>
      <p:sp>
        <p:nvSpPr>
          <p:cNvPr id="7" name="직사각형 6"/>
          <p:cNvSpPr/>
          <p:nvPr/>
        </p:nvSpPr>
        <p:spPr>
          <a:xfrm>
            <a:off x="395536" y="2283718"/>
            <a:ext cx="1843774" cy="954107"/>
          </a:xfrm>
          <a:prstGeom prst="rect">
            <a:avLst/>
          </a:prstGeom>
        </p:spPr>
        <p:txBody>
          <a:bodyPr wrap="none">
            <a:spAutoFit/>
          </a:bodyPr>
          <a:lstStyle/>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Behavioral</a:t>
            </a:r>
          </a:p>
          <a:p>
            <a:r>
              <a:rPr lang="en-US" altLang="ko-KR" sz="2800" b="1" spc="-100" dirty="0">
                <a:ln>
                  <a:solidFill>
                    <a:srgbClr val="2A2D72">
                      <a:alpha val="5000"/>
                    </a:srgbClr>
                  </a:solidFill>
                </a:ln>
                <a:solidFill>
                  <a:srgbClr val="5974BF"/>
                </a:solidFill>
                <a:latin typeface="+mj-ea"/>
                <a:ea typeface="+mj-ea"/>
                <a:cs typeface="Arial" panose="020B0604020202020204" pitchFamily="34" charset="0"/>
              </a:rPr>
              <a:t>Patterns</a:t>
            </a:r>
            <a:endParaRPr lang="ko-KR" altLang="en-US" sz="2800" b="1" spc="-100" dirty="0">
              <a:ln>
                <a:solidFill>
                  <a:srgbClr val="2A2D72">
                    <a:alpha val="5000"/>
                  </a:srgbClr>
                </a:solidFill>
              </a:ln>
              <a:solidFill>
                <a:srgbClr val="5974BF"/>
              </a:solidFill>
              <a:latin typeface="+mj-ea"/>
              <a:ea typeface="+mj-ea"/>
              <a:cs typeface="Arial" panose="020B0604020202020204" pitchFamily="34" charset="0"/>
            </a:endParaRPr>
          </a:p>
        </p:txBody>
      </p:sp>
    </p:spTree>
    <p:extLst>
      <p:ext uri="{BB962C8B-B14F-4D97-AF65-F5344CB8AC3E}">
        <p14:creationId xmlns:p14="http://schemas.microsoft.com/office/powerpoint/2010/main" val="155512434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a:xfrm>
            <a:off x="251520" y="771550"/>
            <a:ext cx="8712968" cy="3751262"/>
          </a:xfrm>
        </p:spPr>
        <p:txBody>
          <a:bodyPr>
            <a:normAutofit/>
          </a:bodyPr>
          <a:lstStyle/>
          <a:p>
            <a:r>
              <a:rPr lang="ko-KR" altLang="en-US" sz="1200" b="1" dirty="0"/>
              <a:t>각 조당 </a:t>
            </a:r>
            <a:r>
              <a:rPr lang="en-US" altLang="ko-KR" sz="1200" b="1" dirty="0"/>
              <a:t>7</a:t>
            </a:r>
            <a:r>
              <a:rPr lang="ko-KR" altLang="en-US" sz="1200" b="1" dirty="0"/>
              <a:t>분</a:t>
            </a:r>
            <a:endParaRPr lang="en-US" altLang="ko-KR" sz="1200" b="1" dirty="0"/>
          </a:p>
          <a:p>
            <a:pPr lvl="1"/>
            <a:r>
              <a:rPr lang="ko-KR" altLang="en-US" sz="1200" dirty="0"/>
              <a:t>발표 </a:t>
            </a:r>
            <a:r>
              <a:rPr lang="en-US" altLang="ko-KR" sz="1200" dirty="0"/>
              <a:t>5</a:t>
            </a:r>
            <a:r>
              <a:rPr lang="ko-KR" altLang="en-US" sz="1200" dirty="0"/>
              <a:t>분 이내</a:t>
            </a:r>
            <a:endParaRPr lang="en-US" altLang="ko-KR" sz="1200" dirty="0"/>
          </a:p>
          <a:p>
            <a:pPr lvl="1"/>
            <a:r>
              <a:rPr lang="en-US" altLang="ko-KR" sz="1200" dirty="0"/>
              <a:t>QA 2~3</a:t>
            </a:r>
            <a:r>
              <a:rPr lang="ko-KR" altLang="en-US" sz="1200" dirty="0"/>
              <a:t>분</a:t>
            </a:r>
          </a:p>
        </p:txBody>
      </p:sp>
      <p:sp>
        <p:nvSpPr>
          <p:cNvPr id="3" name="제목 2"/>
          <p:cNvSpPr>
            <a:spLocks noGrp="1"/>
          </p:cNvSpPr>
          <p:nvPr>
            <p:ph type="title"/>
          </p:nvPr>
        </p:nvSpPr>
        <p:spPr/>
        <p:txBody>
          <a:bodyPr vert="horz" lIns="75927" tIns="37964" rIns="75927" bIns="37964" rtlCol="0" anchor="ctr">
            <a:normAutofit/>
          </a:bodyPr>
          <a:lstStyle/>
          <a:p>
            <a:r>
              <a:rPr lang="en-US" altLang="ko-KR" spc="0" dirty="0"/>
              <a:t>(</a:t>
            </a:r>
            <a:r>
              <a:rPr lang="ko-KR" altLang="en-US" spc="0" dirty="0"/>
              <a:t>조별 과제 발표</a:t>
            </a:r>
            <a:r>
              <a:rPr lang="en-US" altLang="ko-KR" spc="0" dirty="0"/>
              <a:t>) </a:t>
            </a:r>
            <a:r>
              <a:rPr lang="ko-KR" altLang="en-US" spc="0" dirty="0"/>
              <a:t>패턴 적용 실습</a:t>
            </a:r>
          </a:p>
        </p:txBody>
      </p:sp>
    </p:spTree>
    <p:extLst>
      <p:ext uri="{BB962C8B-B14F-4D97-AF65-F5344CB8AC3E}">
        <p14:creationId xmlns:p14="http://schemas.microsoft.com/office/powerpoint/2010/main" val="333428398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2928428" y="1821831"/>
            <a:ext cx="5748028" cy="2190079"/>
          </a:xfrm>
        </p:spPr>
        <p:txBody>
          <a:bodyPr>
            <a:noAutofit/>
          </a:bodyPr>
          <a:lstStyle/>
          <a:p>
            <a:r>
              <a:rPr lang="ko-KR" altLang="en-US" sz="3600" dirty="0"/>
              <a:t>과정 정리</a:t>
            </a:r>
            <a:endParaRPr lang="en-US" altLang="ko-KR" sz="3600" dirty="0"/>
          </a:p>
        </p:txBody>
      </p:sp>
      <p:sp>
        <p:nvSpPr>
          <p:cNvPr id="5" name="제목 1"/>
          <p:cNvSpPr txBox="1">
            <a:spLocks/>
          </p:cNvSpPr>
          <p:nvPr/>
        </p:nvSpPr>
        <p:spPr>
          <a:xfrm>
            <a:off x="2915816" y="1203598"/>
            <a:ext cx="2376264" cy="533895"/>
          </a:xfrm>
          <a:prstGeom prst="rect">
            <a:avLst/>
          </a:prstGeom>
        </p:spPr>
        <p:txBody>
          <a:bodyPr vert="horz" lIns="75927" tIns="37964" rIns="75927" bIns="37964" rtlCol="0" anchor="ctr">
            <a:noAutofit/>
          </a:bodyPr>
          <a:lstStyle>
            <a:lvl1pPr algn="l" defTabSz="914400" rtl="0" eaLnBrk="1" latinLnBrk="1" hangingPunct="1">
              <a:spcBef>
                <a:spcPct val="0"/>
              </a:spcBef>
              <a:buNone/>
              <a:defRPr lang="ko-KR" altLang="en-US" sz="2400" b="1" kern="1200" spc="-100" baseline="0" dirty="0">
                <a:ln>
                  <a:solidFill>
                    <a:srgbClr val="2A2D72">
                      <a:alpha val="5000"/>
                    </a:srgbClr>
                  </a:solidFill>
                </a:ln>
                <a:solidFill>
                  <a:srgbClr val="5974BF"/>
                </a:solidFill>
                <a:latin typeface="+mj-ea"/>
                <a:ea typeface="+mj-ea"/>
                <a:cs typeface="Arial" panose="020B0604020202020204" pitchFamily="34" charset="0"/>
              </a:defRPr>
            </a:lvl1pPr>
          </a:lstStyle>
          <a:p>
            <a:pPr defTabSz="759272"/>
            <a:r>
              <a:rPr lang="en-US" altLang="ko-KR" sz="2800" spc="-150" dirty="0">
                <a:ln>
                  <a:noFill/>
                </a:ln>
                <a:solidFill>
                  <a:srgbClr val="B2CCEC"/>
                </a:solidFill>
                <a:latin typeface="+mn-ea"/>
                <a:ea typeface="+mn-ea"/>
              </a:rPr>
              <a:t>END</a:t>
            </a:r>
            <a:endParaRPr lang="ko-KR" altLang="en-US" sz="2800" spc="-150" dirty="0">
              <a:ln>
                <a:noFill/>
              </a:ln>
              <a:solidFill>
                <a:srgbClr val="B2CCEC"/>
              </a:solidFill>
              <a:latin typeface="+mn-ea"/>
              <a:ea typeface="+mn-ea"/>
            </a:endParaRPr>
          </a:p>
        </p:txBody>
      </p:sp>
    </p:spTree>
    <p:extLst>
      <p:ext uri="{BB962C8B-B14F-4D97-AF65-F5344CB8AC3E}">
        <p14:creationId xmlns:p14="http://schemas.microsoft.com/office/powerpoint/2010/main" val="58071876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en-US" altLang="ko-KR" spc="0" dirty="0"/>
              <a:t>Design Patterns</a:t>
            </a:r>
            <a:endParaRPr lang="ko-KR" altLang="en-US" spc="0" dirty="0"/>
          </a:p>
        </p:txBody>
      </p:sp>
      <p:sp>
        <p:nvSpPr>
          <p:cNvPr id="5" name="내용 개체 틀 4">
            <a:extLst>
              <a:ext uri="{FF2B5EF4-FFF2-40B4-BE49-F238E27FC236}">
                <a16:creationId xmlns:a16="http://schemas.microsoft.com/office/drawing/2014/main" id="{4461C5E4-34BD-4C19-B269-F9092C8C0532}"/>
              </a:ext>
            </a:extLst>
          </p:cNvPr>
          <p:cNvSpPr>
            <a:spLocks noGrp="1"/>
          </p:cNvSpPr>
          <p:nvPr>
            <p:ph idx="1"/>
          </p:nvPr>
        </p:nvSpPr>
        <p:spPr/>
        <p:txBody>
          <a:bodyPr/>
          <a:lstStyle/>
          <a:p>
            <a:endParaRPr lang="ko-KR" altLang="en-US"/>
          </a:p>
        </p:txBody>
      </p:sp>
      <p:pic>
        <p:nvPicPr>
          <p:cNvPr id="6" name="그림 5">
            <a:extLst>
              <a:ext uri="{FF2B5EF4-FFF2-40B4-BE49-F238E27FC236}">
                <a16:creationId xmlns:a16="http://schemas.microsoft.com/office/drawing/2014/main" id="{E3262414-0686-4905-883F-EAF0286A003E}"/>
              </a:ext>
            </a:extLst>
          </p:cNvPr>
          <p:cNvPicPr>
            <a:picLocks noChangeAspect="1"/>
          </p:cNvPicPr>
          <p:nvPr/>
        </p:nvPicPr>
        <p:blipFill rotWithShape="1">
          <a:blip r:embed="rId2"/>
          <a:stretch>
            <a:fillRect/>
          </a:stretch>
        </p:blipFill>
        <p:spPr>
          <a:xfrm>
            <a:off x="1403648" y="1131590"/>
            <a:ext cx="6048672" cy="3744782"/>
          </a:xfrm>
          <a:prstGeom prst="rect">
            <a:avLst/>
          </a:prstGeom>
        </p:spPr>
      </p:pic>
    </p:spTree>
    <p:extLst>
      <p:ext uri="{BB962C8B-B14F-4D97-AF65-F5344CB8AC3E}">
        <p14:creationId xmlns:p14="http://schemas.microsoft.com/office/powerpoint/2010/main" val="264377412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a:xfrm>
            <a:off x="251520" y="771550"/>
            <a:ext cx="8712968" cy="4183310"/>
          </a:xfrm>
        </p:spPr>
        <p:txBody>
          <a:bodyPr>
            <a:noAutofit/>
          </a:bodyPr>
          <a:lstStyle/>
          <a:p>
            <a:pPr>
              <a:lnSpc>
                <a:spcPct val="150000"/>
              </a:lnSpc>
            </a:pPr>
            <a:r>
              <a:rPr lang="en-US" altLang="ko-KR" sz="1600" spc="0" dirty="0"/>
              <a:t>Design Pattern </a:t>
            </a:r>
            <a:r>
              <a:rPr lang="ko-KR" altLang="en-US" sz="1600" spc="0" dirty="0"/>
              <a:t>적용 </a:t>
            </a:r>
            <a:r>
              <a:rPr lang="en-US" altLang="ko-KR" sz="1600" spc="0" dirty="0"/>
              <a:t>vs Over engineering</a:t>
            </a:r>
          </a:p>
          <a:p>
            <a:pPr lvl="1">
              <a:lnSpc>
                <a:spcPct val="150000"/>
              </a:lnSpc>
            </a:pPr>
            <a:r>
              <a:rPr lang="ko-KR" altLang="en-US" sz="1400" spc="0" dirty="0"/>
              <a:t>모든 코드와 상황에 </a:t>
            </a:r>
            <a:r>
              <a:rPr lang="en-US" altLang="ko-KR" sz="1400" spc="0" dirty="0"/>
              <a:t>Pattern</a:t>
            </a:r>
            <a:r>
              <a:rPr lang="ko-KR" altLang="en-US" sz="1400" spc="0" dirty="0"/>
              <a:t>적용은 불가능</a:t>
            </a:r>
            <a:r>
              <a:rPr lang="en-US" altLang="ko-KR" sz="1400" spc="0" dirty="0"/>
              <a:t>, </a:t>
            </a:r>
            <a:r>
              <a:rPr lang="ko-KR" altLang="en-US" sz="1400" spc="0" dirty="0"/>
              <a:t>수정 빈도와 효율을 고려하여 판단</a:t>
            </a:r>
            <a:endParaRPr lang="en-US" altLang="ko-KR" sz="1400" spc="0" dirty="0"/>
          </a:p>
          <a:p>
            <a:pPr lvl="1">
              <a:lnSpc>
                <a:spcPct val="150000"/>
              </a:lnSpc>
            </a:pPr>
            <a:r>
              <a:rPr lang="ko-KR" altLang="en-US" sz="1400" spc="0" dirty="0"/>
              <a:t>내가 개발하는 중에 동일 코드를 </a:t>
            </a:r>
            <a:r>
              <a:rPr lang="en-US" altLang="ko-KR" sz="1400" u="sng" spc="0" dirty="0">
                <a:solidFill>
                  <a:srgbClr val="0000FF"/>
                </a:solidFill>
              </a:rPr>
              <a:t>3</a:t>
            </a:r>
            <a:r>
              <a:rPr lang="ko-KR" altLang="en-US" sz="1400" u="sng" spc="0" dirty="0">
                <a:solidFill>
                  <a:srgbClr val="0000FF"/>
                </a:solidFill>
              </a:rPr>
              <a:t>회 이상 </a:t>
            </a:r>
            <a:r>
              <a:rPr lang="en-US" altLang="ko-KR" sz="1400" u="sng" spc="0" dirty="0" err="1">
                <a:solidFill>
                  <a:srgbClr val="0000FF"/>
                </a:solidFill>
              </a:rPr>
              <a:t>Copy&amp;Paste</a:t>
            </a:r>
            <a:r>
              <a:rPr lang="en-US" altLang="ko-KR" sz="1400" u="sng" spc="0" dirty="0">
                <a:solidFill>
                  <a:srgbClr val="0000FF"/>
                </a:solidFill>
              </a:rPr>
              <a:t> </a:t>
            </a:r>
            <a:r>
              <a:rPr lang="ko-KR" altLang="en-US" sz="1400" u="sng" spc="0" dirty="0">
                <a:solidFill>
                  <a:srgbClr val="0000FF"/>
                </a:solidFill>
              </a:rPr>
              <a:t>하고</a:t>
            </a:r>
            <a:r>
              <a:rPr lang="en-US" altLang="ko-KR" sz="1400" u="sng" spc="0" dirty="0">
                <a:solidFill>
                  <a:srgbClr val="0000FF"/>
                </a:solidFill>
              </a:rPr>
              <a:t> </a:t>
            </a:r>
            <a:r>
              <a:rPr lang="ko-KR" altLang="en-US" sz="1400" u="sng" spc="0" dirty="0">
                <a:solidFill>
                  <a:srgbClr val="0000FF"/>
                </a:solidFill>
              </a:rPr>
              <a:t>있다면</a:t>
            </a:r>
            <a:r>
              <a:rPr lang="en-US" altLang="ko-KR" sz="1400" u="sng" spc="0" dirty="0">
                <a:solidFill>
                  <a:srgbClr val="0000FF"/>
                </a:solidFill>
              </a:rPr>
              <a:t> </a:t>
            </a:r>
            <a:r>
              <a:rPr lang="en-US" altLang="ko-KR" sz="1400" spc="0" dirty="0"/>
              <a:t>Pattern</a:t>
            </a:r>
            <a:r>
              <a:rPr lang="ko-KR" altLang="en-US" sz="1400" spc="0" dirty="0"/>
              <a:t> 적용 검토</a:t>
            </a:r>
            <a:r>
              <a:rPr lang="en-US" altLang="ko-KR" sz="1400" spc="0" dirty="0"/>
              <a:t>!!</a:t>
            </a:r>
          </a:p>
          <a:p>
            <a:pPr marL="624863" lvl="2" indent="0">
              <a:lnSpc>
                <a:spcPct val="150000"/>
              </a:lnSpc>
              <a:buNone/>
            </a:pPr>
            <a:r>
              <a:rPr lang="en-US" altLang="ko-KR" sz="1200" spc="0" dirty="0" err="1"/>
              <a:t>e.g</a:t>
            </a:r>
            <a:r>
              <a:rPr lang="en-US" altLang="ko-KR" sz="1200" spc="0" dirty="0"/>
              <a:t>)  </a:t>
            </a:r>
            <a:r>
              <a:rPr lang="en-US" altLang="ko-KR" sz="1200" spc="0" dirty="0" err="1"/>
              <a:t>RubberDuck</a:t>
            </a:r>
            <a:r>
              <a:rPr lang="en-US" altLang="ko-KR" sz="1200" spc="0" dirty="0"/>
              <a:t>, </a:t>
            </a:r>
            <a:r>
              <a:rPr lang="en-US" altLang="ko-KR" sz="1200" spc="0" dirty="0" err="1"/>
              <a:t>DecoyDuck</a:t>
            </a:r>
            <a:r>
              <a:rPr lang="ko-KR" altLang="en-US" sz="1200" spc="0" dirty="0"/>
              <a:t>까지는 임시 수정</a:t>
            </a:r>
            <a:r>
              <a:rPr lang="en-US" altLang="ko-KR" sz="1200" spc="0" dirty="0"/>
              <a:t>, </a:t>
            </a:r>
            <a:r>
              <a:rPr lang="ko-KR" altLang="en-US" sz="1200" spc="0" dirty="0"/>
              <a:t>그 이후 </a:t>
            </a:r>
            <a:r>
              <a:rPr lang="en-US" altLang="ko-KR" sz="1200" spc="0" dirty="0" err="1"/>
              <a:t>ModelDuck</a:t>
            </a:r>
            <a:r>
              <a:rPr lang="ko-KR" altLang="en-US" sz="1200" spc="0" dirty="0"/>
              <a:t>이 추가된 다면 </a:t>
            </a:r>
            <a:r>
              <a:rPr lang="en-US" altLang="ko-KR" sz="1200" spc="0" dirty="0"/>
              <a:t>Strategy </a:t>
            </a:r>
            <a:r>
              <a:rPr lang="ko-KR" altLang="en-US" sz="1200" spc="0" dirty="0"/>
              <a:t>패턴</a:t>
            </a:r>
            <a:r>
              <a:rPr lang="en-US" altLang="ko-KR" sz="1200" spc="0" dirty="0"/>
              <a:t> </a:t>
            </a:r>
            <a:r>
              <a:rPr lang="ko-KR" altLang="en-US" sz="1200" spc="0" dirty="0"/>
              <a:t>적용</a:t>
            </a:r>
            <a:endParaRPr lang="en-US" altLang="ko-KR" sz="400" spc="0" dirty="0"/>
          </a:p>
          <a:p>
            <a:pPr>
              <a:lnSpc>
                <a:spcPct val="150000"/>
              </a:lnSpc>
            </a:pPr>
            <a:endParaRPr lang="en-US" altLang="ko-KR" sz="1600" spc="0" dirty="0"/>
          </a:p>
          <a:p>
            <a:pPr>
              <a:lnSpc>
                <a:spcPct val="150000"/>
              </a:lnSpc>
            </a:pPr>
            <a:r>
              <a:rPr lang="en-US" altLang="ko-KR" sz="1600" spc="0" dirty="0"/>
              <a:t>Flexible</a:t>
            </a:r>
            <a:r>
              <a:rPr lang="ko-KR" altLang="en-US" sz="1600" spc="0" dirty="0"/>
              <a:t>할 수록 </a:t>
            </a:r>
            <a:r>
              <a:rPr lang="ko-KR" altLang="en-US" sz="1600" b="1" u="sng" spc="0" dirty="0">
                <a:solidFill>
                  <a:srgbClr val="0000FF"/>
                </a:solidFill>
              </a:rPr>
              <a:t>좋은 디자인이라는 오해</a:t>
            </a:r>
            <a:endParaRPr lang="en-US" altLang="ko-KR" sz="1600" b="1" u="sng" spc="0" dirty="0">
              <a:solidFill>
                <a:srgbClr val="0000FF"/>
              </a:solidFill>
            </a:endParaRPr>
          </a:p>
          <a:p>
            <a:pPr lvl="1">
              <a:lnSpc>
                <a:spcPct val="150000"/>
              </a:lnSpc>
            </a:pPr>
            <a:r>
              <a:rPr lang="ko-KR" altLang="en-US" sz="1400" spc="0" dirty="0"/>
              <a:t>모든 가능성을 전부 설계에 반영하는 것은</a:t>
            </a:r>
            <a:r>
              <a:rPr lang="en-US" altLang="ko-KR" sz="1400" spc="0" dirty="0"/>
              <a:t>, </a:t>
            </a:r>
            <a:r>
              <a:rPr lang="ko-KR" altLang="en-US" sz="1400" spc="0" dirty="0"/>
              <a:t>오히려 </a:t>
            </a:r>
            <a:r>
              <a:rPr lang="ko-KR" altLang="en-US" sz="1400" u="sng" spc="0" dirty="0">
                <a:solidFill>
                  <a:srgbClr val="0000FF"/>
                </a:solidFill>
              </a:rPr>
              <a:t>더 큰 디자인 비용을 초래할 수도 있음</a:t>
            </a:r>
            <a:endParaRPr lang="en-US" altLang="ko-KR" sz="1400" u="sng" spc="0" dirty="0">
              <a:solidFill>
                <a:srgbClr val="0000FF"/>
              </a:solidFill>
            </a:endParaRPr>
          </a:p>
          <a:p>
            <a:pPr lvl="1">
              <a:lnSpc>
                <a:spcPct val="150000"/>
              </a:lnSpc>
            </a:pPr>
            <a:r>
              <a:rPr lang="ko-KR" altLang="en-US" sz="1400" spc="0" dirty="0">
                <a:highlight>
                  <a:srgbClr val="FFFF00"/>
                </a:highlight>
              </a:rPr>
              <a:t>과제에 필요한 수준으로 설계하는 것이 가장 좋은 디자인</a:t>
            </a:r>
            <a:endParaRPr lang="en-US" altLang="ko-KR" sz="1400" spc="0" dirty="0">
              <a:highlight>
                <a:srgbClr val="FFFF00"/>
              </a:highlight>
            </a:endParaRPr>
          </a:p>
          <a:p>
            <a:pPr marL="361338" lvl="1" indent="0">
              <a:lnSpc>
                <a:spcPct val="150000"/>
              </a:lnSpc>
              <a:buNone/>
            </a:pPr>
            <a:r>
              <a:rPr lang="ko-KR" altLang="en-US" sz="1400" spc="0" dirty="0"/>
              <a:t>   → 어느 정도가 필요한 수준인지 판단하기 위해서는 많은 개발 경험이 필요</a:t>
            </a:r>
            <a:endParaRPr lang="en-US" altLang="ko-KR" sz="500" spc="0" dirty="0"/>
          </a:p>
        </p:txBody>
      </p:sp>
      <p:sp>
        <p:nvSpPr>
          <p:cNvPr id="3" name="제목 2"/>
          <p:cNvSpPr>
            <a:spLocks noGrp="1"/>
          </p:cNvSpPr>
          <p:nvPr>
            <p:ph type="title"/>
          </p:nvPr>
        </p:nvSpPr>
        <p:spPr/>
        <p:txBody>
          <a:bodyPr/>
          <a:lstStyle/>
          <a:p>
            <a:r>
              <a:rPr lang="en-US" altLang="ko-KR" spc="0" dirty="0"/>
              <a:t>Design Pattern </a:t>
            </a:r>
            <a:r>
              <a:rPr lang="ko-KR" altLang="en-US" spc="0" dirty="0"/>
              <a:t>실무에서는</a:t>
            </a:r>
          </a:p>
        </p:txBody>
      </p:sp>
    </p:spTree>
    <p:extLst>
      <p:ext uri="{BB962C8B-B14F-4D97-AF65-F5344CB8AC3E}">
        <p14:creationId xmlns:p14="http://schemas.microsoft.com/office/powerpoint/2010/main" val="378282076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a:xfrm>
            <a:off x="251520" y="771550"/>
            <a:ext cx="8712968" cy="4183310"/>
          </a:xfrm>
        </p:spPr>
        <p:txBody>
          <a:bodyPr>
            <a:noAutofit/>
          </a:bodyPr>
          <a:lstStyle/>
          <a:p>
            <a:pPr>
              <a:lnSpc>
                <a:spcPct val="150000"/>
              </a:lnSpc>
            </a:pPr>
            <a:r>
              <a:rPr lang="en-US" altLang="ko-KR" sz="1200" b="1" dirty="0"/>
              <a:t>External Quality (Functional) of Software</a:t>
            </a:r>
          </a:p>
          <a:p>
            <a:pPr lvl="1">
              <a:lnSpc>
                <a:spcPct val="150000"/>
              </a:lnSpc>
            </a:pPr>
            <a:r>
              <a:rPr lang="en-US" altLang="ko-KR" sz="1200" dirty="0"/>
              <a:t>External quality is the usefulness of the system as perceived from outside. It provides </a:t>
            </a:r>
            <a:r>
              <a:rPr lang="en-US" altLang="ko-KR" sz="1200" u="sng" dirty="0">
                <a:solidFill>
                  <a:srgbClr val="4156BD"/>
                </a:solidFill>
              </a:rPr>
              <a:t>customer value </a:t>
            </a:r>
            <a:r>
              <a:rPr lang="en-US" altLang="ko-KR" sz="1200" dirty="0"/>
              <a:t>and meets the </a:t>
            </a:r>
            <a:r>
              <a:rPr lang="en-US" altLang="ko-KR" sz="1200" u="sng" dirty="0">
                <a:solidFill>
                  <a:srgbClr val="4156BD"/>
                </a:solidFill>
              </a:rPr>
              <a:t>product owner’s specifications</a:t>
            </a:r>
            <a:r>
              <a:rPr lang="en-US" altLang="ko-KR" sz="1200" dirty="0"/>
              <a:t>.</a:t>
            </a:r>
          </a:p>
          <a:p>
            <a:pPr>
              <a:lnSpc>
                <a:spcPct val="150000"/>
              </a:lnSpc>
            </a:pPr>
            <a:r>
              <a:rPr lang="en-US" altLang="ko-KR" sz="1200" b="1" dirty="0"/>
              <a:t>Internal Quality (Structural) of Software</a:t>
            </a:r>
          </a:p>
          <a:p>
            <a:pPr lvl="1">
              <a:lnSpc>
                <a:spcPct val="150000"/>
              </a:lnSpc>
            </a:pPr>
            <a:r>
              <a:rPr lang="en-US" altLang="ko-KR" sz="1200" dirty="0"/>
              <a:t>Internal quality has to do with the way that the system has been constructed. It is a much more granular measurement and considers things like </a:t>
            </a:r>
            <a:r>
              <a:rPr lang="en-US" altLang="ko-KR" sz="1200" u="sng" dirty="0">
                <a:solidFill>
                  <a:srgbClr val="4156BD"/>
                </a:solidFill>
              </a:rPr>
              <a:t>clean code, complexity, duplication, component reuse</a:t>
            </a:r>
          </a:p>
          <a:p>
            <a:pPr>
              <a:lnSpc>
                <a:spcPct val="150000"/>
              </a:lnSpc>
            </a:pPr>
            <a:r>
              <a:rPr lang="en-US" altLang="ko-KR" sz="1200" b="1" dirty="0"/>
              <a:t>External Quality &gt; </a:t>
            </a:r>
            <a:r>
              <a:rPr lang="en-US" altLang="ko-KR" sz="1200" dirty="0"/>
              <a:t>Internal Quality</a:t>
            </a:r>
            <a:r>
              <a:rPr lang="en-US" altLang="ko-KR" sz="1200" b="1" dirty="0"/>
              <a:t> </a:t>
            </a:r>
          </a:p>
          <a:p>
            <a:pPr lvl="1">
              <a:lnSpc>
                <a:spcPct val="150000"/>
              </a:lnSpc>
            </a:pPr>
            <a:r>
              <a:rPr lang="en-US" altLang="ko-KR" sz="1200" b="1" dirty="0"/>
              <a:t>External Quality </a:t>
            </a:r>
            <a:r>
              <a:rPr lang="en-US" altLang="ko-KR" sz="1200" dirty="0"/>
              <a:t>: </a:t>
            </a:r>
            <a:r>
              <a:rPr lang="ko-KR" altLang="en-US" sz="1200" dirty="0"/>
              <a:t>시장 문제는 눈에 잘 띄고</a:t>
            </a:r>
            <a:r>
              <a:rPr lang="en-US" altLang="ko-KR" sz="1200" dirty="0"/>
              <a:t>, </a:t>
            </a:r>
            <a:r>
              <a:rPr lang="ko-KR" altLang="en-US" sz="1200" dirty="0"/>
              <a:t>경우에 따라 어마어마한 비용이 발생</a:t>
            </a:r>
            <a:endParaRPr lang="en-US" altLang="ko-KR" sz="1200" dirty="0"/>
          </a:p>
          <a:p>
            <a:pPr lvl="1">
              <a:lnSpc>
                <a:spcPct val="150000"/>
              </a:lnSpc>
            </a:pPr>
            <a:r>
              <a:rPr lang="en-US" altLang="ko-KR" sz="1200" dirty="0"/>
              <a:t>Internal Quality</a:t>
            </a:r>
            <a:r>
              <a:rPr lang="en-US" altLang="ko-KR" sz="1200" b="1" dirty="0"/>
              <a:t> </a:t>
            </a:r>
            <a:r>
              <a:rPr lang="en-US" altLang="ko-KR" sz="1200" dirty="0"/>
              <a:t>: </a:t>
            </a:r>
            <a:r>
              <a:rPr lang="ko-KR" altLang="en-US" sz="1200" dirty="0"/>
              <a:t>유지보수 등 개발 편의성 향상 →</a:t>
            </a:r>
            <a:r>
              <a:rPr lang="en-US" altLang="ko-KR" sz="1200" dirty="0"/>
              <a:t> </a:t>
            </a:r>
            <a:r>
              <a:rPr lang="ko-KR" altLang="en-US" sz="1200" dirty="0"/>
              <a:t>드러나기 어려운 품질속성이라 등한시 하게 되는 경향</a:t>
            </a:r>
            <a:endParaRPr lang="en-US" altLang="ko-KR" sz="1200" dirty="0"/>
          </a:p>
          <a:p>
            <a:pPr lvl="1">
              <a:lnSpc>
                <a:spcPct val="150000"/>
              </a:lnSpc>
            </a:pPr>
            <a:r>
              <a:rPr lang="en-US" altLang="ko-KR" sz="1200" dirty="0"/>
              <a:t>External Quality</a:t>
            </a:r>
            <a:r>
              <a:rPr lang="ko-KR" altLang="en-US" sz="1200" dirty="0"/>
              <a:t>와 </a:t>
            </a:r>
            <a:r>
              <a:rPr lang="en-US" altLang="ko-KR" sz="1200" dirty="0"/>
              <a:t>Internal</a:t>
            </a:r>
            <a:r>
              <a:rPr lang="ko-KR" altLang="en-US" sz="1200" dirty="0"/>
              <a:t> </a:t>
            </a:r>
            <a:r>
              <a:rPr lang="en-US" altLang="ko-KR" sz="1200" dirty="0"/>
              <a:t>Quality</a:t>
            </a:r>
            <a:r>
              <a:rPr lang="ko-KR" altLang="en-US" sz="1200" dirty="0"/>
              <a:t>를 모두 관리하는 것이 </a:t>
            </a:r>
            <a:r>
              <a:rPr lang="en-US" altLang="ko-KR" sz="1200" dirty="0">
                <a:highlight>
                  <a:srgbClr val="FFFF00"/>
                </a:highlight>
              </a:rPr>
              <a:t>Architect</a:t>
            </a:r>
            <a:r>
              <a:rPr lang="ko-KR" altLang="en-US" sz="1200" dirty="0">
                <a:highlight>
                  <a:srgbClr val="FFFF00"/>
                </a:highlight>
              </a:rPr>
              <a:t>의 역할</a:t>
            </a:r>
            <a:r>
              <a:rPr lang="en-US" altLang="ko-KR" sz="1200" dirty="0">
                <a:highlight>
                  <a:srgbClr val="FFFF00"/>
                </a:highlight>
              </a:rPr>
              <a:t> </a:t>
            </a:r>
          </a:p>
          <a:p>
            <a:pPr lvl="1">
              <a:lnSpc>
                <a:spcPct val="150000"/>
              </a:lnSpc>
            </a:pPr>
            <a:endParaRPr lang="en-US" altLang="ko-KR" sz="1200" dirty="0"/>
          </a:p>
        </p:txBody>
      </p:sp>
      <p:sp>
        <p:nvSpPr>
          <p:cNvPr id="3" name="제목 2"/>
          <p:cNvSpPr>
            <a:spLocks noGrp="1"/>
          </p:cNvSpPr>
          <p:nvPr>
            <p:ph type="title"/>
          </p:nvPr>
        </p:nvSpPr>
        <p:spPr/>
        <p:txBody>
          <a:bodyPr vert="horz" lIns="75927" tIns="37964" rIns="75927" bIns="37964" rtlCol="0" anchor="ctr">
            <a:normAutofit/>
          </a:bodyPr>
          <a:lstStyle/>
          <a:p>
            <a:r>
              <a:rPr lang="en-US" altLang="ko-KR" spc="0" dirty="0"/>
              <a:t>Design Pattern </a:t>
            </a:r>
            <a:r>
              <a:rPr lang="ko-KR" altLang="en-US" spc="0" dirty="0"/>
              <a:t>실무에서는</a:t>
            </a:r>
          </a:p>
        </p:txBody>
      </p:sp>
    </p:spTree>
    <p:extLst>
      <p:ext uri="{BB962C8B-B14F-4D97-AF65-F5344CB8AC3E}">
        <p14:creationId xmlns:p14="http://schemas.microsoft.com/office/powerpoint/2010/main" val="187757160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a:xfrm>
            <a:off x="251520" y="771550"/>
            <a:ext cx="8712968" cy="4183310"/>
          </a:xfrm>
        </p:spPr>
        <p:txBody>
          <a:bodyPr>
            <a:noAutofit/>
          </a:bodyPr>
          <a:lstStyle/>
          <a:p>
            <a:pPr>
              <a:lnSpc>
                <a:spcPct val="150000"/>
              </a:lnSpc>
            </a:pPr>
            <a:r>
              <a:rPr lang="ko-KR" altLang="en-US" sz="1200" dirty="0"/>
              <a:t>안전한 </a:t>
            </a:r>
            <a:r>
              <a:rPr lang="en-US" altLang="ko-KR" sz="1200" dirty="0"/>
              <a:t>Design Patterns </a:t>
            </a:r>
            <a:r>
              <a:rPr lang="ko-KR" altLang="en-US" sz="1200" dirty="0"/>
              <a:t>적용과 </a:t>
            </a:r>
            <a:r>
              <a:rPr lang="en-US" altLang="ko-KR" sz="1200" dirty="0"/>
              <a:t>Refactoring</a:t>
            </a:r>
            <a:r>
              <a:rPr lang="ko-KR" altLang="en-US" sz="1200" dirty="0"/>
              <a:t>을 위해 </a:t>
            </a:r>
            <a:r>
              <a:rPr lang="en-US" altLang="ko-KR" sz="1200" b="1" u="sng" dirty="0">
                <a:solidFill>
                  <a:srgbClr val="4156BD"/>
                </a:solidFill>
              </a:rPr>
              <a:t>Unit Test</a:t>
            </a:r>
            <a:r>
              <a:rPr lang="ko-KR" altLang="en-US" sz="1200" b="1" u="sng" dirty="0">
                <a:solidFill>
                  <a:srgbClr val="4156BD"/>
                </a:solidFill>
              </a:rPr>
              <a:t> 추가는 필수</a:t>
            </a:r>
            <a:endParaRPr lang="en-US" altLang="ko-KR" sz="1200" b="1" u="sng" dirty="0">
              <a:solidFill>
                <a:srgbClr val="4156BD"/>
              </a:solidFill>
            </a:endParaRPr>
          </a:p>
          <a:p>
            <a:pPr lvl="1">
              <a:lnSpc>
                <a:spcPct val="150000"/>
              </a:lnSpc>
            </a:pPr>
            <a:r>
              <a:rPr lang="en-US" altLang="ko-KR" sz="1200" dirty="0"/>
              <a:t>Refactoring</a:t>
            </a:r>
            <a:r>
              <a:rPr lang="ko-KR" altLang="en-US" sz="1200" dirty="0"/>
              <a:t>은 향후 예상되는 유지보수를 위한 대비 작업</a:t>
            </a:r>
            <a:endParaRPr lang="en-US" altLang="ko-KR" sz="1200" dirty="0"/>
          </a:p>
          <a:p>
            <a:pPr lvl="1">
              <a:lnSpc>
                <a:spcPct val="150000"/>
              </a:lnSpc>
            </a:pPr>
            <a:r>
              <a:rPr lang="ko-KR" altLang="en-US" sz="1200" dirty="0"/>
              <a:t>그런데 다른 </a:t>
            </a:r>
            <a:r>
              <a:rPr lang="en-US" altLang="ko-KR" sz="1200" dirty="0"/>
              <a:t>side effect</a:t>
            </a:r>
            <a:r>
              <a:rPr lang="ko-KR" altLang="en-US" sz="1200" dirty="0"/>
              <a:t>가 발생한다면</a:t>
            </a:r>
            <a:r>
              <a:rPr lang="en-US" altLang="ko-KR" sz="1200" dirty="0"/>
              <a:t>?</a:t>
            </a:r>
          </a:p>
          <a:p>
            <a:pPr lvl="1">
              <a:lnSpc>
                <a:spcPct val="150000"/>
              </a:lnSpc>
            </a:pPr>
            <a:endParaRPr lang="en-US" altLang="ko-KR" sz="1200" dirty="0"/>
          </a:p>
          <a:p>
            <a:pPr>
              <a:lnSpc>
                <a:spcPct val="150000"/>
              </a:lnSpc>
            </a:pPr>
            <a:r>
              <a:rPr lang="en-US" altLang="ko-KR" sz="1200" dirty="0"/>
              <a:t>Dynamic Program Language(e.g., Python) </a:t>
            </a:r>
            <a:r>
              <a:rPr lang="ko-KR" altLang="en-US" sz="1200" dirty="0"/>
              <a:t>등 언어별로 </a:t>
            </a:r>
            <a:r>
              <a:rPr lang="en-US" altLang="ko-KR" sz="1200" dirty="0"/>
              <a:t>DP</a:t>
            </a:r>
            <a:r>
              <a:rPr lang="ko-KR" altLang="en-US" sz="1200" dirty="0"/>
              <a:t>가 다르게 사용 될 수도 있음</a:t>
            </a:r>
            <a:endParaRPr lang="en-US" altLang="ko-KR" sz="1200" dirty="0"/>
          </a:p>
          <a:p>
            <a:pPr lvl="1">
              <a:lnSpc>
                <a:spcPct val="150000"/>
              </a:lnSpc>
            </a:pPr>
            <a:r>
              <a:rPr lang="ko-KR" altLang="en-US" sz="1200" dirty="0"/>
              <a:t>구현 방식도 달라짐</a:t>
            </a:r>
            <a:r>
              <a:rPr lang="en-US" altLang="ko-KR" sz="1200" dirty="0"/>
              <a:t> (e.g., __</a:t>
            </a:r>
            <a:r>
              <a:rPr lang="en-US" altLang="ko-KR" sz="1200" dirty="0" err="1"/>
              <a:t>iter</a:t>
            </a:r>
            <a:r>
              <a:rPr lang="en-US" altLang="ko-KR" sz="1200" dirty="0"/>
              <a:t>__() for Iterator, </a:t>
            </a:r>
            <a:r>
              <a:rPr lang="en-US" altLang="ko-KR" sz="1200" dirty="0" err="1"/>
              <a:t>coroutine</a:t>
            </a:r>
            <a:r>
              <a:rPr lang="en-US" altLang="ko-KR" sz="1200" dirty="0"/>
              <a:t> for Visitor)</a:t>
            </a:r>
            <a:endParaRPr lang="ko-KR" altLang="en-US" sz="1200" dirty="0"/>
          </a:p>
        </p:txBody>
      </p:sp>
      <p:sp>
        <p:nvSpPr>
          <p:cNvPr id="3" name="제목 2"/>
          <p:cNvSpPr>
            <a:spLocks noGrp="1"/>
          </p:cNvSpPr>
          <p:nvPr>
            <p:ph type="title"/>
          </p:nvPr>
        </p:nvSpPr>
        <p:spPr/>
        <p:txBody>
          <a:bodyPr vert="horz" lIns="75927" tIns="37964" rIns="75927" bIns="37964" rtlCol="0" anchor="ctr">
            <a:normAutofit/>
          </a:bodyPr>
          <a:lstStyle/>
          <a:p>
            <a:r>
              <a:rPr lang="en-US" altLang="ko-KR" spc="0" dirty="0"/>
              <a:t>Design Pattern </a:t>
            </a:r>
            <a:r>
              <a:rPr lang="ko-KR" altLang="en-US" spc="0" dirty="0"/>
              <a:t>실무에서는</a:t>
            </a:r>
          </a:p>
        </p:txBody>
      </p:sp>
    </p:spTree>
    <p:extLst>
      <p:ext uri="{BB962C8B-B14F-4D97-AF65-F5344CB8AC3E}">
        <p14:creationId xmlns:p14="http://schemas.microsoft.com/office/powerpoint/2010/main" val="74158651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p:cNvSpPr>
            <a:spLocks noGrp="1"/>
          </p:cNvSpPr>
          <p:nvPr>
            <p:ph idx="1"/>
          </p:nvPr>
        </p:nvSpPr>
        <p:spPr>
          <a:xfrm>
            <a:off x="251520" y="771550"/>
            <a:ext cx="8712968" cy="3751262"/>
          </a:xfrm>
        </p:spPr>
        <p:txBody>
          <a:bodyPr>
            <a:normAutofit/>
          </a:bodyPr>
          <a:lstStyle/>
          <a:p>
            <a:pPr>
              <a:lnSpc>
                <a:spcPct val="150000"/>
              </a:lnSpc>
            </a:pPr>
            <a:r>
              <a:rPr lang="ko-KR" altLang="en-US" sz="1200" b="1" dirty="0"/>
              <a:t>개발자의 관점</a:t>
            </a:r>
            <a:r>
              <a:rPr lang="en-US" altLang="ko-KR" sz="1200" b="1" dirty="0"/>
              <a:t> </a:t>
            </a:r>
            <a:r>
              <a:rPr lang="en-US" altLang="ko-KR" sz="1200" dirty="0"/>
              <a:t>(</a:t>
            </a:r>
            <a:r>
              <a:rPr lang="ko-KR" altLang="en-US" sz="1200" dirty="0"/>
              <a:t>본인 담당 모듈 중심</a:t>
            </a:r>
            <a:r>
              <a:rPr lang="en-US" altLang="ko-KR" sz="1200" dirty="0"/>
              <a:t>)</a:t>
            </a:r>
          </a:p>
          <a:p>
            <a:pPr lvl="1">
              <a:lnSpc>
                <a:spcPct val="150000"/>
              </a:lnSpc>
            </a:pPr>
            <a:r>
              <a:rPr lang="en-US" altLang="ko-KR" sz="1200" dirty="0">
                <a:solidFill>
                  <a:srgbClr val="4156BD"/>
                </a:solidFill>
              </a:rPr>
              <a:t>A</a:t>
            </a:r>
            <a:r>
              <a:rPr lang="ko-KR" altLang="en-US" sz="1200" dirty="0">
                <a:solidFill>
                  <a:srgbClr val="4156BD"/>
                </a:solidFill>
              </a:rPr>
              <a:t>패턴</a:t>
            </a:r>
            <a:r>
              <a:rPr lang="ko-KR" altLang="en-US" sz="1200" dirty="0"/>
              <a:t>을 이용하면 코드가 잘 정리되겠군</a:t>
            </a:r>
            <a:r>
              <a:rPr lang="en-US" altLang="ko-KR" sz="1200" dirty="0"/>
              <a:t>…</a:t>
            </a:r>
          </a:p>
          <a:p>
            <a:pPr lvl="1">
              <a:lnSpc>
                <a:spcPct val="150000"/>
              </a:lnSpc>
            </a:pPr>
            <a:r>
              <a:rPr lang="ko-KR" altLang="en-US" sz="1200" dirty="0"/>
              <a:t>이 상황에서는 </a:t>
            </a:r>
            <a:r>
              <a:rPr lang="en-US" altLang="ko-KR" sz="1200" dirty="0">
                <a:solidFill>
                  <a:srgbClr val="4156BD"/>
                </a:solidFill>
              </a:rPr>
              <a:t>B</a:t>
            </a:r>
            <a:r>
              <a:rPr lang="ko-KR" altLang="en-US" sz="1200" dirty="0">
                <a:solidFill>
                  <a:srgbClr val="4156BD"/>
                </a:solidFill>
              </a:rPr>
              <a:t>패턴</a:t>
            </a:r>
            <a:r>
              <a:rPr lang="ko-KR" altLang="en-US" sz="1200" dirty="0"/>
              <a:t>이 가장 적합한 것 같군</a:t>
            </a:r>
            <a:r>
              <a:rPr lang="en-US" altLang="ko-KR" sz="1200" dirty="0"/>
              <a:t>…</a:t>
            </a:r>
          </a:p>
          <a:p>
            <a:pPr lvl="1">
              <a:lnSpc>
                <a:spcPct val="150000"/>
              </a:lnSpc>
            </a:pPr>
            <a:endParaRPr lang="en-US" altLang="ko-KR" sz="1200" dirty="0"/>
          </a:p>
          <a:p>
            <a:pPr>
              <a:lnSpc>
                <a:spcPct val="150000"/>
              </a:lnSpc>
            </a:pPr>
            <a:r>
              <a:rPr lang="en-US" altLang="ko-KR" sz="1200" b="1" dirty="0"/>
              <a:t>S/W Architect</a:t>
            </a:r>
            <a:r>
              <a:rPr lang="ko-KR" altLang="en-US" sz="1200" b="1" dirty="0"/>
              <a:t>의 관점</a:t>
            </a:r>
            <a:r>
              <a:rPr lang="en-US" altLang="ko-KR" sz="1200" b="1" dirty="0">
                <a:sym typeface="Wingdings" panose="05000000000000000000" pitchFamily="2" charset="2"/>
              </a:rPr>
              <a:t> </a:t>
            </a:r>
            <a:r>
              <a:rPr lang="en-US" altLang="ko-KR" sz="1200" dirty="0">
                <a:sym typeface="Wingdings" panose="05000000000000000000" pitchFamily="2" charset="2"/>
              </a:rPr>
              <a:t>(</a:t>
            </a:r>
            <a:r>
              <a:rPr lang="ko-KR" altLang="en-US" sz="1200" dirty="0">
                <a:sym typeface="Wingdings" panose="05000000000000000000" pitchFamily="2" charset="2"/>
              </a:rPr>
              <a:t>전체 설계 관점</a:t>
            </a:r>
            <a:r>
              <a:rPr lang="en-US" altLang="ko-KR" sz="1200" dirty="0">
                <a:sym typeface="Wingdings" panose="05000000000000000000" pitchFamily="2" charset="2"/>
              </a:rPr>
              <a:t>)</a:t>
            </a:r>
            <a:endParaRPr lang="en-US" altLang="ko-KR" sz="1200" dirty="0"/>
          </a:p>
          <a:p>
            <a:pPr lvl="1">
              <a:lnSpc>
                <a:spcPct val="150000"/>
              </a:lnSpc>
            </a:pPr>
            <a:r>
              <a:rPr lang="en-US" altLang="ko-KR" sz="1200" dirty="0" err="1"/>
              <a:t>QAW</a:t>
            </a:r>
            <a:r>
              <a:rPr lang="en-US" altLang="ko-KR" sz="1200" dirty="0"/>
              <a:t> → Utility Tree  → </a:t>
            </a:r>
            <a:r>
              <a:rPr lang="ko-KR" altLang="en-US" sz="1200" dirty="0"/>
              <a:t>요구사항 우선순위</a:t>
            </a:r>
            <a:r>
              <a:rPr lang="en-US" altLang="ko-KR" sz="1200" dirty="0"/>
              <a:t>/</a:t>
            </a:r>
            <a:r>
              <a:rPr lang="ko-KR" altLang="en-US" sz="1200" dirty="0"/>
              <a:t>난이도 분석 </a:t>
            </a:r>
            <a:r>
              <a:rPr lang="en-US" altLang="ko-KR" sz="1200" dirty="0"/>
              <a:t> → Architecture Driver </a:t>
            </a:r>
            <a:r>
              <a:rPr lang="ko-KR" altLang="en-US" sz="1200" dirty="0"/>
              <a:t>결정</a:t>
            </a:r>
            <a:endParaRPr lang="en-US" altLang="ko-KR" sz="1200" dirty="0"/>
          </a:p>
          <a:p>
            <a:pPr lvl="1">
              <a:lnSpc>
                <a:spcPct val="150000"/>
              </a:lnSpc>
            </a:pPr>
            <a:r>
              <a:rPr lang="en-US" altLang="ko-KR" sz="1200" dirty="0" err="1"/>
              <a:t>OOAD</a:t>
            </a:r>
            <a:r>
              <a:rPr lang="en-US" altLang="ko-KR" sz="1200" dirty="0"/>
              <a:t>  →  Skeleton Architecture → </a:t>
            </a:r>
            <a:r>
              <a:rPr lang="en-US" altLang="ko-KR" sz="1200" dirty="0" err="1"/>
              <a:t>ATAM</a:t>
            </a:r>
            <a:r>
              <a:rPr lang="en-US" altLang="ko-KR" sz="1200" dirty="0"/>
              <a:t>  → </a:t>
            </a:r>
            <a:r>
              <a:rPr lang="ko-KR" altLang="en-US" sz="1200" dirty="0"/>
              <a:t>최적 설계</a:t>
            </a:r>
            <a:endParaRPr lang="en-US" altLang="ko-KR" sz="1200" dirty="0"/>
          </a:p>
          <a:p>
            <a:pPr lvl="1">
              <a:lnSpc>
                <a:spcPct val="150000"/>
              </a:lnSpc>
            </a:pPr>
            <a:r>
              <a:rPr lang="ko-KR" altLang="en-US" sz="1200" dirty="0"/>
              <a:t>각 패턴의 </a:t>
            </a:r>
            <a:r>
              <a:rPr lang="en-US" altLang="ko-KR" sz="1200" dirty="0"/>
              <a:t>trade-off</a:t>
            </a:r>
            <a:r>
              <a:rPr lang="ko-KR" altLang="en-US" sz="1200" dirty="0"/>
              <a:t>를 고려하여 </a:t>
            </a:r>
            <a:r>
              <a:rPr lang="en-US" altLang="ko-KR" sz="1200" dirty="0">
                <a:solidFill>
                  <a:srgbClr val="4156BD"/>
                </a:solidFill>
              </a:rPr>
              <a:t>C</a:t>
            </a:r>
            <a:r>
              <a:rPr lang="ko-KR" altLang="en-US" sz="1200" dirty="0">
                <a:solidFill>
                  <a:srgbClr val="4156BD"/>
                </a:solidFill>
              </a:rPr>
              <a:t>패턴</a:t>
            </a:r>
            <a:r>
              <a:rPr lang="ko-KR" altLang="en-US" sz="1200" dirty="0"/>
              <a:t>을 최종 결정</a:t>
            </a:r>
            <a:endParaRPr lang="en-US" altLang="ko-KR" sz="1200" dirty="0"/>
          </a:p>
          <a:p>
            <a:pPr marL="361338" lvl="1" indent="0">
              <a:lnSpc>
                <a:spcPct val="150000"/>
              </a:lnSpc>
              <a:buNone/>
            </a:pPr>
            <a:r>
              <a:rPr lang="en-US" altLang="ko-KR" sz="1200" dirty="0"/>
              <a:t>    → but, </a:t>
            </a:r>
            <a:r>
              <a:rPr lang="ko-KR" altLang="en-US" sz="1200" dirty="0" err="1"/>
              <a:t>세부모듈</a:t>
            </a:r>
            <a:r>
              <a:rPr lang="ko-KR" altLang="en-US" sz="1200" dirty="0"/>
              <a:t> 단위에서는 </a:t>
            </a:r>
            <a:r>
              <a:rPr lang="en-US" altLang="ko-KR" sz="1200" dirty="0"/>
              <a:t>A</a:t>
            </a:r>
            <a:r>
              <a:rPr lang="ko-KR" altLang="en-US" sz="1200" dirty="0"/>
              <a:t>패턴 </a:t>
            </a:r>
            <a:r>
              <a:rPr lang="en-US" altLang="ko-KR" sz="1200" dirty="0"/>
              <a:t>or B</a:t>
            </a:r>
            <a:r>
              <a:rPr lang="ko-KR" altLang="en-US" sz="1200" dirty="0"/>
              <a:t>패턴이 보다 좋은 선택일 수도 있음</a:t>
            </a:r>
            <a:endParaRPr lang="en-US" altLang="ko-KR" sz="1200" dirty="0"/>
          </a:p>
          <a:p>
            <a:pPr>
              <a:lnSpc>
                <a:spcPct val="150000"/>
              </a:lnSpc>
            </a:pPr>
            <a:endParaRPr lang="en-US" altLang="ko-KR" sz="1200" dirty="0"/>
          </a:p>
        </p:txBody>
      </p:sp>
      <p:sp>
        <p:nvSpPr>
          <p:cNvPr id="3" name="제목 2"/>
          <p:cNvSpPr>
            <a:spLocks noGrp="1"/>
          </p:cNvSpPr>
          <p:nvPr>
            <p:ph type="title"/>
          </p:nvPr>
        </p:nvSpPr>
        <p:spPr/>
        <p:txBody>
          <a:bodyPr vert="horz" lIns="75927" tIns="37964" rIns="75927" bIns="37964" rtlCol="0" anchor="ctr">
            <a:normAutofit/>
          </a:bodyPr>
          <a:lstStyle/>
          <a:p>
            <a:r>
              <a:rPr lang="en-US" altLang="ko-KR" spc="0" dirty="0"/>
              <a:t>Architect </a:t>
            </a:r>
            <a:r>
              <a:rPr lang="ko-KR" altLang="en-US" spc="0" dirty="0"/>
              <a:t>관점의 </a:t>
            </a:r>
            <a:r>
              <a:rPr lang="en-US" altLang="ko-KR" spc="0" dirty="0"/>
              <a:t>Design Pattern</a:t>
            </a:r>
            <a:endParaRPr lang="ko-KR" altLang="en-US" spc="0" dirty="0"/>
          </a:p>
        </p:txBody>
      </p:sp>
      <p:pic>
        <p:nvPicPr>
          <p:cNvPr id="4" name="그림 3"/>
          <p:cNvPicPr>
            <a:picLocks noChangeAspect="1"/>
          </p:cNvPicPr>
          <p:nvPr/>
        </p:nvPicPr>
        <p:blipFill>
          <a:blip r:embed="rId2"/>
          <a:stretch>
            <a:fillRect/>
          </a:stretch>
        </p:blipFill>
        <p:spPr>
          <a:xfrm>
            <a:off x="6479704" y="2310956"/>
            <a:ext cx="2664296" cy="2552507"/>
          </a:xfrm>
          <a:prstGeom prst="rect">
            <a:avLst/>
          </a:prstGeom>
        </p:spPr>
      </p:pic>
      <p:sp>
        <p:nvSpPr>
          <p:cNvPr id="5" name="직사각형 4"/>
          <p:cNvSpPr/>
          <p:nvPr/>
        </p:nvSpPr>
        <p:spPr>
          <a:xfrm>
            <a:off x="6479704" y="1953586"/>
            <a:ext cx="2052165" cy="307777"/>
          </a:xfrm>
          <a:prstGeom prst="rect">
            <a:avLst/>
          </a:prstGeom>
        </p:spPr>
        <p:txBody>
          <a:bodyPr wrap="none">
            <a:spAutoFit/>
          </a:bodyPr>
          <a:lstStyle/>
          <a:p>
            <a:r>
              <a:rPr lang="en-US" altLang="ko-KR" sz="1400" b="1" dirty="0"/>
              <a:t>[optimal vs optimum]</a:t>
            </a:r>
            <a:endParaRPr lang="ko-KR" altLang="en-US" sz="1400" b="1" dirty="0"/>
          </a:p>
        </p:txBody>
      </p:sp>
    </p:spTree>
    <p:extLst>
      <p:ext uri="{BB962C8B-B14F-4D97-AF65-F5344CB8AC3E}">
        <p14:creationId xmlns:p14="http://schemas.microsoft.com/office/powerpoint/2010/main" val="123287127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43808" y="1995686"/>
            <a:ext cx="3376520" cy="753778"/>
          </a:xfrm>
          <a:prstGeom prst="rect">
            <a:avLst/>
          </a:prstGeom>
          <a:noFill/>
        </p:spPr>
        <p:txBody>
          <a:bodyPr wrap="square" lIns="0" tIns="37964" rIns="75927" bIns="37964" rtlCol="0">
            <a:spAutoFit/>
          </a:bodyPr>
          <a:lstStyle/>
          <a:p>
            <a:pPr algn="ctr"/>
            <a:r>
              <a:rPr lang="en-US" altLang="ko-KR" sz="4400" b="1" dirty="0">
                <a:solidFill>
                  <a:srgbClr val="83A1DD"/>
                </a:solidFill>
                <a:latin typeface="+mj-lt"/>
                <a:ea typeface="맑은 고딕" panose="020B0503020000020004" pitchFamily="50" charset="-127"/>
              </a:rPr>
              <a:t>Thank You</a:t>
            </a:r>
            <a:endParaRPr lang="ko-KR" altLang="en-US" sz="4400" b="1" dirty="0">
              <a:solidFill>
                <a:srgbClr val="83A1DD"/>
              </a:solidFill>
              <a:latin typeface="+mj-lt"/>
              <a:ea typeface="맑은 고딕" panose="020B0503020000020004" pitchFamily="50" charset="-127"/>
            </a:endParaRPr>
          </a:p>
        </p:txBody>
      </p:sp>
    </p:spTree>
    <p:extLst>
      <p:ext uri="{BB962C8B-B14F-4D97-AF65-F5344CB8AC3E}">
        <p14:creationId xmlns:p14="http://schemas.microsoft.com/office/powerpoint/2010/main" val="308707097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2699792" y="195486"/>
            <a:ext cx="5387988" cy="533895"/>
          </a:xfrm>
        </p:spPr>
        <p:txBody>
          <a:bodyPr>
            <a:normAutofit fontScale="90000"/>
          </a:bodyPr>
          <a:lstStyle/>
          <a:p>
            <a:r>
              <a:rPr lang="en-US" altLang="ko-KR" u="sng" dirty="0"/>
              <a:t>revision</a:t>
            </a:r>
            <a:endParaRPr lang="ko-KR" altLang="en-US" u="sng" dirty="0"/>
          </a:p>
        </p:txBody>
      </p:sp>
      <p:sp>
        <p:nvSpPr>
          <p:cNvPr id="3" name="내용 개체 틀 2"/>
          <p:cNvSpPr txBox="1">
            <a:spLocks/>
          </p:cNvSpPr>
          <p:nvPr/>
        </p:nvSpPr>
        <p:spPr>
          <a:xfrm>
            <a:off x="2915816" y="843558"/>
            <a:ext cx="6048672" cy="4062651"/>
          </a:xfrm>
          <a:prstGeom prst="rect">
            <a:avLst/>
          </a:prstGeom>
          <a:noFill/>
        </p:spPr>
        <p:txBody>
          <a:bodyPr wrap="square" lIns="0" tIns="0" rIns="0" bIns="0" rtlCol="0" anchor="t">
            <a:spAutoFit/>
          </a:bodyPr>
          <a:lstStyle>
            <a:lvl1pPr marL="247529" indent="-247529" algn="l" defTabSz="660076" rtl="0" eaLnBrk="1" latinLnBrk="1" hangingPunct="1">
              <a:spcBef>
                <a:spcPct val="20000"/>
              </a:spcBef>
              <a:buFont typeface="Arial" pitchFamily="34" charset="0"/>
              <a:buChar char="•"/>
              <a:defRPr sz="2400" kern="1200">
                <a:solidFill>
                  <a:schemeClr val="tx1"/>
                </a:solidFill>
                <a:latin typeface="+mn-lt"/>
                <a:ea typeface="+mn-ea"/>
                <a:cs typeface="+mn-cs"/>
              </a:defRPr>
            </a:lvl1pPr>
            <a:lvl2pPr marL="536312" indent="-206274" algn="l" defTabSz="660076" rtl="0" eaLnBrk="1" latinLnBrk="1" hangingPunct="1">
              <a:spcBef>
                <a:spcPct val="20000"/>
              </a:spcBef>
              <a:buFont typeface="Arial" pitchFamily="34" charset="0"/>
              <a:buChar char="–"/>
              <a:defRPr sz="2025" kern="1200">
                <a:solidFill>
                  <a:schemeClr val="tx1"/>
                </a:solidFill>
                <a:latin typeface="+mn-lt"/>
                <a:ea typeface="+mn-ea"/>
                <a:cs typeface="+mn-cs"/>
              </a:defRPr>
            </a:lvl2pPr>
            <a:lvl3pPr marL="825095" indent="-165020" algn="l" defTabSz="660076" rtl="0" eaLnBrk="1" latinLnBrk="1" hangingPunct="1">
              <a:spcBef>
                <a:spcPct val="20000"/>
              </a:spcBef>
              <a:buFont typeface="Arial" pitchFamily="34" charset="0"/>
              <a:buChar char="•"/>
              <a:defRPr sz="1725" kern="1200">
                <a:solidFill>
                  <a:schemeClr val="tx1"/>
                </a:solidFill>
                <a:latin typeface="+mn-lt"/>
                <a:ea typeface="+mn-ea"/>
                <a:cs typeface="+mn-cs"/>
              </a:defRPr>
            </a:lvl3pPr>
            <a:lvl4pPr marL="115513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4pPr>
            <a:lvl5pPr marL="1485172"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5pPr>
            <a:lvl6pPr marL="1815211"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6pPr>
            <a:lvl7pPr marL="2145248"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7pPr>
            <a:lvl8pPr marL="2475286"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8pPr>
            <a:lvl9pPr marL="280532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9pPr>
          </a:lstStyle>
          <a:p>
            <a:pPr defTabSz="715082">
              <a:lnSpc>
                <a:spcPct val="160000"/>
              </a:lnSpc>
              <a:buFont typeface="Wingdings" panose="05000000000000000000" pitchFamily="2" charset="2"/>
              <a:buChar char="§"/>
            </a:pPr>
            <a:r>
              <a:rPr lang="en-US" altLang="ko-KR" sz="1200" b="1" dirty="0">
                <a:solidFill>
                  <a:srgbClr val="1E1E2A"/>
                </a:solidFill>
                <a:latin typeface="맑은 고딕" panose="020B0503020000020004" pitchFamily="50" charset="-127"/>
                <a:ea typeface="맑은 고딕" panose="020B0503020000020004" pitchFamily="50" charset="-127"/>
              </a:rPr>
              <a:t>2023.12 </a:t>
            </a:r>
            <a:r>
              <a:rPr lang="ko-KR" altLang="en-US" sz="1200" b="1" dirty="0">
                <a:solidFill>
                  <a:srgbClr val="1E1E2A"/>
                </a:solidFill>
                <a:latin typeface="맑은 고딕" panose="020B0503020000020004" pitchFamily="50" charset="-127"/>
                <a:ea typeface="맑은 고딕" panose="020B0503020000020004" pitchFamily="50" charset="-127"/>
              </a:rPr>
              <a:t>첨단기술아카데미 초안 개발</a:t>
            </a:r>
            <a:endParaRPr lang="en-US" altLang="ko-KR" sz="1200" b="1" dirty="0">
              <a:solidFill>
                <a:srgbClr val="1E1E2A"/>
              </a:solidFill>
              <a:latin typeface="맑은 고딕" panose="020B0503020000020004" pitchFamily="50" charset="-127"/>
              <a:ea typeface="맑은 고딕" panose="020B0503020000020004" pitchFamily="50" charset="-127"/>
            </a:endParaRPr>
          </a:p>
          <a:p>
            <a:pPr defTabSz="715082">
              <a:lnSpc>
                <a:spcPct val="160000"/>
              </a:lnSpc>
              <a:buFont typeface="Wingdings" panose="05000000000000000000" pitchFamily="2" charset="2"/>
              <a:buChar char="§"/>
            </a:pPr>
            <a:r>
              <a:rPr lang="en-US" altLang="ko-KR" sz="1200" b="1" dirty="0">
                <a:solidFill>
                  <a:srgbClr val="1E1E2A"/>
                </a:solidFill>
                <a:latin typeface="맑은 고딕" panose="020B0503020000020004" pitchFamily="50" charset="-127"/>
                <a:ea typeface="맑은 고딕" panose="020B0503020000020004" pitchFamily="50" charset="-127"/>
              </a:rPr>
              <a:t>2024.03 24-1</a:t>
            </a:r>
            <a:r>
              <a:rPr lang="ko-KR" altLang="en-US" sz="1200" b="1" dirty="0">
                <a:solidFill>
                  <a:srgbClr val="1E1E2A"/>
                </a:solidFill>
                <a:latin typeface="맑은 고딕" panose="020B0503020000020004" pitchFamily="50" charset="-127"/>
                <a:ea typeface="맑은 고딕" panose="020B0503020000020004" pitchFamily="50" charset="-127"/>
              </a:rPr>
              <a:t>차 강의 수정사항</a:t>
            </a:r>
            <a:r>
              <a:rPr lang="en-US" altLang="ko-KR" sz="1200" b="1" dirty="0">
                <a:solidFill>
                  <a:srgbClr val="1E1E2A"/>
                </a:solidFill>
                <a:latin typeface="맑은 고딕" panose="020B0503020000020004" pitchFamily="50" charset="-127"/>
                <a:ea typeface="맑은 고딕" panose="020B0503020000020004" pitchFamily="50" charset="-127"/>
              </a:rPr>
              <a:t>, </a:t>
            </a:r>
            <a:r>
              <a:rPr lang="ko-KR" altLang="en-US" sz="1200" b="1" dirty="0">
                <a:solidFill>
                  <a:srgbClr val="1E1E2A"/>
                </a:solidFill>
                <a:latin typeface="맑은 고딕" panose="020B0503020000020004" pitchFamily="50" charset="-127"/>
                <a:ea typeface="맑은 고딕" panose="020B0503020000020004" pitchFamily="50" charset="-127"/>
              </a:rPr>
              <a:t>결과 반영</a:t>
            </a:r>
            <a:endParaRPr lang="en-US" altLang="ko-KR" sz="1200" b="1" dirty="0">
              <a:solidFill>
                <a:srgbClr val="1E1E2A"/>
              </a:solidFill>
              <a:latin typeface="맑은 고딕" panose="020B0503020000020004" pitchFamily="50" charset="-127"/>
              <a:ea typeface="맑은 고딕" panose="020B0503020000020004" pitchFamily="50" charset="-127"/>
            </a:endParaRPr>
          </a:p>
          <a:p>
            <a:pPr lvl="1" defTabSz="715082">
              <a:lnSpc>
                <a:spcPct val="160000"/>
              </a:lnSpc>
              <a:buFont typeface="Wingdings" panose="05000000000000000000" pitchFamily="2" charset="2"/>
              <a:buChar char="§"/>
            </a:pPr>
            <a:r>
              <a:rPr lang="ko-KR" altLang="en-US" sz="1000" dirty="0" err="1">
                <a:solidFill>
                  <a:srgbClr val="1E1E2A"/>
                </a:solidFill>
                <a:latin typeface="맑은 고딕" panose="020B0503020000020004" pitchFamily="50" charset="-127"/>
              </a:rPr>
              <a:t>황윤준</a:t>
            </a:r>
            <a:r>
              <a:rPr lang="en-US" altLang="ko-KR" sz="1000" dirty="0">
                <a:solidFill>
                  <a:srgbClr val="1E1E2A"/>
                </a:solidFill>
                <a:latin typeface="맑은 고딕" panose="020B0503020000020004" pitchFamily="50" charset="-127"/>
              </a:rPr>
              <a:t>: </a:t>
            </a:r>
            <a:r>
              <a:rPr lang="ko-KR" altLang="en-US" sz="1000" dirty="0" err="1">
                <a:solidFill>
                  <a:srgbClr val="1E1E2A"/>
                </a:solidFill>
                <a:latin typeface="맑은 고딕" panose="020B0503020000020004" pitchFamily="50" charset="-127"/>
              </a:rPr>
              <a:t>패턴별</a:t>
            </a:r>
            <a:r>
              <a:rPr lang="ko-KR" altLang="en-US" sz="1000" dirty="0">
                <a:solidFill>
                  <a:srgbClr val="1E1E2A"/>
                </a:solidFill>
                <a:latin typeface="맑은 고딕" panose="020B0503020000020004" pitchFamily="50" charset="-127"/>
              </a:rPr>
              <a:t> 설명 추가</a:t>
            </a:r>
            <a:r>
              <a:rPr lang="en-US" altLang="ko-KR" sz="1000" dirty="0">
                <a:solidFill>
                  <a:srgbClr val="1E1E2A"/>
                </a:solidFill>
                <a:latin typeface="맑은 고딕" panose="020B0503020000020004" pitchFamily="50" charset="-127"/>
              </a:rPr>
              <a:t>(Observer, State, Iterator </a:t>
            </a:r>
            <a:r>
              <a:rPr lang="ko-KR" altLang="en-US" sz="1000" dirty="0">
                <a:solidFill>
                  <a:srgbClr val="1E1E2A"/>
                </a:solidFill>
                <a:latin typeface="맑은 고딕" panose="020B0503020000020004" pitchFamily="50" charset="-127"/>
              </a:rPr>
              <a:t>등</a:t>
            </a:r>
            <a:r>
              <a:rPr lang="en-US" altLang="ko-KR" sz="1000" dirty="0">
                <a:solidFill>
                  <a:srgbClr val="1E1E2A"/>
                </a:solidFill>
                <a:latin typeface="맑은 고딕" panose="020B0503020000020004" pitchFamily="50" charset="-127"/>
              </a:rPr>
              <a:t>), Iterator cafe </a:t>
            </a:r>
            <a:r>
              <a:rPr lang="ko-KR" altLang="en-US" sz="1000" dirty="0">
                <a:solidFill>
                  <a:srgbClr val="1E1E2A"/>
                </a:solidFill>
                <a:latin typeface="맑은 고딕" panose="020B0503020000020004" pitchFamily="50" charset="-127"/>
              </a:rPr>
              <a:t>메뉴 코드 추가</a:t>
            </a:r>
          </a:p>
          <a:p>
            <a:pPr lvl="1" defTabSz="715082">
              <a:lnSpc>
                <a:spcPct val="160000"/>
              </a:lnSpc>
              <a:buFont typeface="Wingdings" panose="05000000000000000000" pitchFamily="2" charset="2"/>
              <a:buChar char="§"/>
            </a:pPr>
            <a:r>
              <a:rPr lang="ko-KR" altLang="en-US" sz="1000" dirty="0">
                <a:solidFill>
                  <a:srgbClr val="1E1E2A"/>
                </a:solidFill>
                <a:latin typeface="맑은 고딕" panose="020B0503020000020004" pitchFamily="50" charset="-127"/>
              </a:rPr>
              <a:t>이경한</a:t>
            </a:r>
            <a:r>
              <a:rPr lang="en-US" altLang="ko-KR" sz="1000" dirty="0">
                <a:solidFill>
                  <a:srgbClr val="1E1E2A"/>
                </a:solidFill>
                <a:latin typeface="맑은 고딕" panose="020B0503020000020004" pitchFamily="50" charset="-127"/>
              </a:rPr>
              <a:t>: Creational Pattern/Decorator Pattern</a:t>
            </a:r>
            <a:r>
              <a:rPr lang="ko-KR" altLang="en-US" sz="1000" dirty="0">
                <a:solidFill>
                  <a:srgbClr val="1E1E2A"/>
                </a:solidFill>
                <a:latin typeface="맑은 고딕" panose="020B0503020000020004" pitchFamily="50" charset="-127"/>
              </a:rPr>
              <a:t> </a:t>
            </a:r>
            <a:r>
              <a:rPr lang="en-US" altLang="ko-KR" sz="1000" dirty="0">
                <a:solidFill>
                  <a:srgbClr val="1E1E2A"/>
                </a:solidFill>
                <a:latin typeface="맑은 고딕" panose="020B0503020000020004" pitchFamily="50" charset="-127"/>
              </a:rPr>
              <a:t>Practice </a:t>
            </a:r>
            <a:r>
              <a:rPr lang="ko-KR" altLang="en-US" sz="1000" dirty="0">
                <a:solidFill>
                  <a:srgbClr val="1E1E2A"/>
                </a:solidFill>
                <a:latin typeface="맑은 고딕" panose="020B0503020000020004" pitchFamily="50" charset="-127"/>
              </a:rPr>
              <a:t>수정</a:t>
            </a:r>
            <a:r>
              <a:rPr lang="en-US" altLang="ko-KR" sz="1000" dirty="0">
                <a:solidFill>
                  <a:srgbClr val="1E1E2A"/>
                </a:solidFill>
                <a:latin typeface="맑은 고딕" panose="020B0503020000020004" pitchFamily="50" charset="-127"/>
              </a:rPr>
              <a:t>, Wrap-up </a:t>
            </a:r>
            <a:r>
              <a:rPr lang="ko-KR" altLang="en-US" sz="1000" dirty="0">
                <a:solidFill>
                  <a:srgbClr val="1E1E2A"/>
                </a:solidFill>
                <a:latin typeface="맑은 고딕" panose="020B0503020000020004" pitchFamily="50" charset="-127"/>
              </a:rPr>
              <a:t>추가</a:t>
            </a:r>
            <a:endParaRPr lang="en-US" altLang="ko-KR" sz="1000" dirty="0">
              <a:solidFill>
                <a:srgbClr val="1E1E2A"/>
              </a:solidFill>
              <a:latin typeface="맑은 고딕" panose="020B0503020000020004" pitchFamily="50" charset="-127"/>
            </a:endParaRPr>
          </a:p>
          <a:p>
            <a:pPr lvl="1" defTabSz="715082">
              <a:lnSpc>
                <a:spcPct val="160000"/>
              </a:lnSpc>
              <a:buFont typeface="Wingdings" panose="05000000000000000000" pitchFamily="2" charset="2"/>
              <a:buChar char="§"/>
            </a:pPr>
            <a:r>
              <a:rPr lang="ko-KR" altLang="en-US" sz="1000" dirty="0">
                <a:solidFill>
                  <a:srgbClr val="1E1E2A"/>
                </a:solidFill>
                <a:latin typeface="맑은 고딕" panose="020B0503020000020004" pitchFamily="50" charset="-127"/>
              </a:rPr>
              <a:t>안상원</a:t>
            </a:r>
            <a:r>
              <a:rPr lang="en-US" altLang="ko-KR" sz="1000" dirty="0">
                <a:solidFill>
                  <a:srgbClr val="1E1E2A"/>
                </a:solidFill>
                <a:latin typeface="맑은 고딕" panose="020B0503020000020004" pitchFamily="50" charset="-127"/>
              </a:rPr>
              <a:t>: Intro(OOP, </a:t>
            </a:r>
            <a:r>
              <a:rPr lang="ko-KR" altLang="en-US" sz="1000" dirty="0">
                <a:solidFill>
                  <a:srgbClr val="1E1E2A"/>
                </a:solidFill>
                <a:latin typeface="맑은 고딕" panose="020B0503020000020004" pitchFamily="50" charset="-127"/>
              </a:rPr>
              <a:t>디자인 패턴</a:t>
            </a:r>
            <a:r>
              <a:rPr lang="en-US" altLang="ko-KR" sz="1000" dirty="0">
                <a:solidFill>
                  <a:srgbClr val="1E1E2A"/>
                </a:solidFill>
                <a:latin typeface="맑은 고딕" panose="020B0503020000020004" pitchFamily="50" charset="-127"/>
              </a:rPr>
              <a:t>, SOLID, GRASP) </a:t>
            </a:r>
            <a:r>
              <a:rPr lang="ko-KR" altLang="en-US" sz="1000" dirty="0">
                <a:solidFill>
                  <a:srgbClr val="1E1E2A"/>
                </a:solidFill>
                <a:latin typeface="맑은 고딕" panose="020B0503020000020004" pitchFamily="50" charset="-127"/>
              </a:rPr>
              <a:t>추가</a:t>
            </a:r>
            <a:r>
              <a:rPr lang="en-US" altLang="ko-KR" sz="1000" dirty="0">
                <a:solidFill>
                  <a:srgbClr val="1E1E2A"/>
                </a:solidFill>
                <a:latin typeface="맑은 고딕" panose="020B0503020000020004" pitchFamily="50" charset="-127"/>
              </a:rPr>
              <a:t>, Class diagram </a:t>
            </a:r>
            <a:r>
              <a:rPr lang="ko-KR" altLang="en-US" sz="1000" dirty="0">
                <a:solidFill>
                  <a:srgbClr val="1E1E2A"/>
                </a:solidFill>
                <a:latin typeface="맑은 고딕" panose="020B0503020000020004" pitchFamily="50" charset="-127"/>
              </a:rPr>
              <a:t>추가</a:t>
            </a:r>
            <a:endParaRPr lang="en-US" altLang="ko-KR" sz="1000" dirty="0">
              <a:solidFill>
                <a:srgbClr val="1E1E2A"/>
              </a:solidFill>
              <a:latin typeface="맑은 고딕" panose="020B0503020000020004" pitchFamily="50" charset="-127"/>
            </a:endParaRPr>
          </a:p>
          <a:p>
            <a:pPr lvl="1" defTabSz="715082">
              <a:lnSpc>
                <a:spcPct val="160000"/>
              </a:lnSpc>
              <a:buFont typeface="Wingdings" panose="05000000000000000000" pitchFamily="2" charset="2"/>
              <a:buChar char="§"/>
            </a:pPr>
            <a:r>
              <a:rPr lang="ko-KR" altLang="en-US" sz="1000" dirty="0" err="1">
                <a:solidFill>
                  <a:srgbClr val="1E1E2A"/>
                </a:solidFill>
                <a:latin typeface="맑은 고딕" panose="020B0503020000020004" pitchFamily="50" charset="-127"/>
              </a:rPr>
              <a:t>박병찬</a:t>
            </a:r>
            <a:r>
              <a:rPr lang="en-US" altLang="ko-KR" sz="1000" dirty="0">
                <a:solidFill>
                  <a:srgbClr val="1E1E2A"/>
                </a:solidFill>
                <a:latin typeface="맑은 고딕" panose="020B0503020000020004" pitchFamily="50" charset="-127"/>
              </a:rPr>
              <a:t>: Pattern </a:t>
            </a:r>
            <a:r>
              <a:rPr lang="ko-KR" altLang="en-US" sz="1000" dirty="0" err="1">
                <a:solidFill>
                  <a:srgbClr val="1E1E2A"/>
                </a:solidFill>
                <a:latin typeface="맑은 고딕" panose="020B0503020000020004" pitchFamily="50" charset="-127"/>
              </a:rPr>
              <a:t>실습별</a:t>
            </a:r>
            <a:r>
              <a:rPr lang="ko-KR" altLang="en-US" sz="1000" dirty="0">
                <a:solidFill>
                  <a:srgbClr val="1E1E2A"/>
                </a:solidFill>
                <a:latin typeface="맑은 고딕" panose="020B0503020000020004" pitchFamily="50" charset="-127"/>
              </a:rPr>
              <a:t> </a:t>
            </a:r>
            <a:r>
              <a:rPr lang="en-US" altLang="ko-KR" sz="1000" dirty="0">
                <a:solidFill>
                  <a:srgbClr val="1E1E2A"/>
                </a:solidFill>
                <a:latin typeface="맑은 고딕" panose="020B0503020000020004" pitchFamily="50" charset="-127"/>
              </a:rPr>
              <a:t>Class diagram </a:t>
            </a:r>
            <a:r>
              <a:rPr lang="ko-KR" altLang="en-US" sz="1000" dirty="0">
                <a:solidFill>
                  <a:srgbClr val="1E1E2A"/>
                </a:solidFill>
                <a:latin typeface="맑은 고딕" panose="020B0503020000020004" pitchFamily="50" charset="-127"/>
              </a:rPr>
              <a:t>추가</a:t>
            </a:r>
            <a:endParaRPr lang="en-US" altLang="ko-KR" sz="1200" dirty="0">
              <a:solidFill>
                <a:srgbClr val="1E1E2A"/>
              </a:solidFill>
              <a:latin typeface="맑은 고딕" panose="020B0503020000020004" pitchFamily="50" charset="-127"/>
            </a:endParaRPr>
          </a:p>
          <a:p>
            <a:pPr defTabSz="715082">
              <a:lnSpc>
                <a:spcPct val="160000"/>
              </a:lnSpc>
              <a:buFont typeface="Wingdings" panose="05000000000000000000" pitchFamily="2" charset="2"/>
              <a:buChar char="§"/>
            </a:pPr>
            <a:r>
              <a:rPr lang="en-US" altLang="ko-KR" sz="1200" b="1" dirty="0">
                <a:solidFill>
                  <a:srgbClr val="1E1E2A"/>
                </a:solidFill>
                <a:latin typeface="맑은 고딕" panose="020B0503020000020004" pitchFamily="50" charset="-127"/>
              </a:rPr>
              <a:t>2024.04 24-2</a:t>
            </a:r>
            <a:r>
              <a:rPr lang="ko-KR" altLang="en-US" sz="1200" b="1" dirty="0">
                <a:solidFill>
                  <a:srgbClr val="1E1E2A"/>
                </a:solidFill>
                <a:latin typeface="맑은 고딕" panose="020B0503020000020004" pitchFamily="50" charset="-127"/>
              </a:rPr>
              <a:t>차 강의 수정사항</a:t>
            </a:r>
            <a:r>
              <a:rPr lang="en-US" altLang="ko-KR" sz="1200" b="1" dirty="0">
                <a:solidFill>
                  <a:srgbClr val="1E1E2A"/>
                </a:solidFill>
                <a:latin typeface="맑은 고딕" panose="020B0503020000020004" pitchFamily="50" charset="-127"/>
              </a:rPr>
              <a:t>, </a:t>
            </a:r>
            <a:r>
              <a:rPr lang="ko-KR" altLang="en-US" sz="1200" b="1" dirty="0">
                <a:solidFill>
                  <a:srgbClr val="1E1E2A"/>
                </a:solidFill>
                <a:latin typeface="맑은 고딕" panose="020B0503020000020004" pitchFamily="50" charset="-127"/>
              </a:rPr>
              <a:t>결과 반영</a:t>
            </a:r>
            <a:endParaRPr lang="en-US" altLang="ko-KR" sz="1200" b="1" dirty="0">
              <a:solidFill>
                <a:srgbClr val="1E1E2A"/>
              </a:solidFill>
              <a:latin typeface="맑은 고딕" panose="020B0503020000020004" pitchFamily="50" charset="-127"/>
            </a:endParaRPr>
          </a:p>
          <a:p>
            <a:pPr lvl="1" defTabSz="715082">
              <a:lnSpc>
                <a:spcPct val="160000"/>
              </a:lnSpc>
              <a:buFont typeface="Wingdings" panose="05000000000000000000" pitchFamily="2" charset="2"/>
              <a:buChar char="§"/>
            </a:pPr>
            <a:r>
              <a:rPr lang="ko-KR" altLang="en-US" sz="1000" dirty="0">
                <a:solidFill>
                  <a:srgbClr val="1E1E2A"/>
                </a:solidFill>
                <a:latin typeface="맑은 고딕" panose="020B0503020000020004" pitchFamily="50" charset="-127"/>
              </a:rPr>
              <a:t>곽경수</a:t>
            </a:r>
            <a:r>
              <a:rPr lang="en-US" altLang="ko-KR" sz="1000" dirty="0">
                <a:solidFill>
                  <a:srgbClr val="1E1E2A"/>
                </a:solidFill>
                <a:latin typeface="맑은 고딕" panose="020B0503020000020004" pitchFamily="50" charset="-127"/>
              </a:rPr>
              <a:t>: Iterator Pattern </a:t>
            </a:r>
            <a:r>
              <a:rPr lang="ko-KR" altLang="en-US" sz="1000" dirty="0">
                <a:solidFill>
                  <a:srgbClr val="1E1E2A"/>
                </a:solidFill>
                <a:latin typeface="맑은 고딕" panose="020B0503020000020004" pitchFamily="50" charset="-127"/>
              </a:rPr>
              <a:t>실습 분리</a:t>
            </a:r>
            <a:endParaRPr lang="en-US" altLang="ko-KR" sz="1000" dirty="0">
              <a:solidFill>
                <a:srgbClr val="1E1E2A"/>
              </a:solidFill>
              <a:latin typeface="맑은 고딕" panose="020B0503020000020004" pitchFamily="50" charset="-127"/>
            </a:endParaRPr>
          </a:p>
          <a:p>
            <a:pPr lvl="1" defTabSz="715082">
              <a:lnSpc>
                <a:spcPct val="160000"/>
              </a:lnSpc>
              <a:buFont typeface="Wingdings" panose="05000000000000000000" pitchFamily="2" charset="2"/>
              <a:buChar char="§"/>
            </a:pPr>
            <a:r>
              <a:rPr lang="ko-KR" altLang="en-US" sz="1000" dirty="0">
                <a:solidFill>
                  <a:srgbClr val="1E1E2A"/>
                </a:solidFill>
                <a:latin typeface="맑은 고딕" panose="020B0503020000020004" pitchFamily="50" charset="-127"/>
              </a:rPr>
              <a:t>강민구</a:t>
            </a:r>
            <a:r>
              <a:rPr lang="en-US" altLang="ko-KR" sz="1000" dirty="0">
                <a:solidFill>
                  <a:srgbClr val="1E1E2A"/>
                </a:solidFill>
                <a:latin typeface="맑은 고딕" panose="020B0503020000020004" pitchFamily="50" charset="-127"/>
              </a:rPr>
              <a:t>: SOLID/GRASP </a:t>
            </a:r>
            <a:r>
              <a:rPr lang="ko-KR" altLang="en-US" sz="1000" dirty="0">
                <a:solidFill>
                  <a:srgbClr val="1E1E2A"/>
                </a:solidFill>
                <a:latin typeface="맑은 고딕" panose="020B0503020000020004" pitchFamily="50" charset="-127"/>
              </a:rPr>
              <a:t>내용 보충</a:t>
            </a:r>
            <a:r>
              <a:rPr lang="en-US" altLang="ko-KR" sz="1000" dirty="0">
                <a:solidFill>
                  <a:srgbClr val="1E1E2A"/>
                </a:solidFill>
                <a:latin typeface="맑은 고딕" panose="020B0503020000020004" pitchFamily="50" charset="-127"/>
              </a:rPr>
              <a:t>, </a:t>
            </a:r>
            <a:r>
              <a:rPr lang="ko-KR" altLang="en-US" sz="1000" dirty="0">
                <a:solidFill>
                  <a:srgbClr val="1E1E2A"/>
                </a:solidFill>
                <a:latin typeface="맑은 고딕" panose="020B0503020000020004" pitchFamily="50" charset="-127"/>
              </a:rPr>
              <a:t>실습 </a:t>
            </a:r>
            <a:r>
              <a:rPr lang="en-US" altLang="ko-KR" sz="1000" dirty="0">
                <a:solidFill>
                  <a:srgbClr val="1E1E2A"/>
                </a:solidFill>
                <a:latin typeface="맑은 고딕" panose="020B0503020000020004" pitchFamily="50" charset="-127"/>
              </a:rPr>
              <a:t>Solution </a:t>
            </a:r>
            <a:r>
              <a:rPr lang="ko-KR" altLang="en-US" sz="1000" dirty="0">
                <a:solidFill>
                  <a:srgbClr val="1E1E2A"/>
                </a:solidFill>
                <a:latin typeface="맑은 고딕" panose="020B0503020000020004" pitchFamily="50" charset="-127"/>
              </a:rPr>
              <a:t>수정</a:t>
            </a:r>
            <a:endParaRPr lang="en-US" altLang="ko-KR" sz="1000" dirty="0">
              <a:solidFill>
                <a:srgbClr val="1E1E2A"/>
              </a:solidFill>
              <a:latin typeface="맑은 고딕" panose="020B0503020000020004" pitchFamily="50" charset="-127"/>
            </a:endParaRPr>
          </a:p>
          <a:p>
            <a:pPr lvl="1" defTabSz="715082">
              <a:lnSpc>
                <a:spcPct val="160000"/>
              </a:lnSpc>
              <a:buFont typeface="Wingdings" panose="05000000000000000000" pitchFamily="2" charset="2"/>
              <a:buChar char="§"/>
            </a:pPr>
            <a:r>
              <a:rPr lang="ko-KR" altLang="en-US" sz="1000" dirty="0" err="1">
                <a:solidFill>
                  <a:srgbClr val="1E1E2A"/>
                </a:solidFill>
                <a:latin typeface="맑은 고딕" panose="020B0503020000020004" pitchFamily="50" charset="-127"/>
              </a:rPr>
              <a:t>박병찬</a:t>
            </a:r>
            <a:r>
              <a:rPr lang="en-US" altLang="ko-KR" sz="1000" dirty="0">
                <a:solidFill>
                  <a:srgbClr val="1E1E2A"/>
                </a:solidFill>
                <a:latin typeface="맑은 고딕" panose="020B0503020000020004" pitchFamily="50" charset="-127"/>
              </a:rPr>
              <a:t>: </a:t>
            </a:r>
            <a:r>
              <a:rPr lang="ko-KR" altLang="en-US" sz="1000" dirty="0">
                <a:solidFill>
                  <a:srgbClr val="1E1E2A"/>
                </a:solidFill>
                <a:latin typeface="맑은 고딕" panose="020B0503020000020004" pitchFamily="50" charset="-127"/>
              </a:rPr>
              <a:t>실습 </a:t>
            </a:r>
            <a:r>
              <a:rPr lang="en-US" altLang="ko-KR" sz="1000" dirty="0">
                <a:solidFill>
                  <a:srgbClr val="1E1E2A"/>
                </a:solidFill>
                <a:latin typeface="맑은 고딕" panose="020B0503020000020004" pitchFamily="50" charset="-127"/>
              </a:rPr>
              <a:t>Solution diagram </a:t>
            </a:r>
            <a:r>
              <a:rPr lang="ko-KR" altLang="en-US" sz="1000" dirty="0">
                <a:solidFill>
                  <a:srgbClr val="1E1E2A"/>
                </a:solidFill>
                <a:latin typeface="맑은 고딕" panose="020B0503020000020004" pitchFamily="50" charset="-127"/>
              </a:rPr>
              <a:t>개선</a:t>
            </a:r>
            <a:r>
              <a:rPr lang="en-US" altLang="ko-KR" sz="1000" dirty="0">
                <a:solidFill>
                  <a:srgbClr val="1E1E2A"/>
                </a:solidFill>
                <a:latin typeface="맑은 고딕" panose="020B0503020000020004" pitchFamily="50" charset="-127"/>
              </a:rPr>
              <a:t>, Class Relationship </a:t>
            </a:r>
            <a:r>
              <a:rPr lang="ko-KR" altLang="en-US" sz="1000" dirty="0">
                <a:solidFill>
                  <a:srgbClr val="1E1E2A"/>
                </a:solidFill>
                <a:latin typeface="맑은 고딕" panose="020B0503020000020004" pitchFamily="50" charset="-127"/>
              </a:rPr>
              <a:t>자료 추가</a:t>
            </a:r>
            <a:endParaRPr lang="en-US" altLang="ko-KR" sz="1000" dirty="0">
              <a:solidFill>
                <a:srgbClr val="1E1E2A"/>
              </a:solidFill>
              <a:latin typeface="맑은 고딕" panose="020B0503020000020004" pitchFamily="50" charset="-127"/>
            </a:endParaRPr>
          </a:p>
          <a:p>
            <a:pPr defTabSz="715082">
              <a:lnSpc>
                <a:spcPct val="160000"/>
              </a:lnSpc>
              <a:buFont typeface="Wingdings" panose="05000000000000000000" pitchFamily="2" charset="2"/>
              <a:buChar char="§"/>
            </a:pPr>
            <a:r>
              <a:rPr lang="en-US" altLang="ko-KR" sz="1200" b="1" dirty="0">
                <a:solidFill>
                  <a:srgbClr val="1E1E2A"/>
                </a:solidFill>
                <a:latin typeface="맑은 고딕" panose="020B0503020000020004" pitchFamily="50" charset="-127"/>
              </a:rPr>
              <a:t>2025.03 25-1</a:t>
            </a:r>
            <a:r>
              <a:rPr lang="ko-KR" altLang="en-US" sz="1200" b="1" dirty="0">
                <a:solidFill>
                  <a:srgbClr val="1E1E2A"/>
                </a:solidFill>
                <a:latin typeface="맑은 고딕" panose="020B0503020000020004" pitchFamily="50" charset="-127"/>
              </a:rPr>
              <a:t>차 강의 수정사항</a:t>
            </a:r>
            <a:r>
              <a:rPr lang="en-US" altLang="ko-KR" sz="1200" b="1" dirty="0">
                <a:solidFill>
                  <a:srgbClr val="1E1E2A"/>
                </a:solidFill>
                <a:latin typeface="맑은 고딕" panose="020B0503020000020004" pitchFamily="50" charset="-127"/>
              </a:rPr>
              <a:t>, </a:t>
            </a:r>
            <a:r>
              <a:rPr lang="ko-KR" altLang="en-US" sz="1200" b="1" dirty="0">
                <a:solidFill>
                  <a:srgbClr val="1E1E2A"/>
                </a:solidFill>
                <a:latin typeface="맑은 고딕" panose="020B0503020000020004" pitchFamily="50" charset="-127"/>
              </a:rPr>
              <a:t>결과 반영</a:t>
            </a:r>
            <a:endParaRPr lang="en-US" altLang="ko-KR" sz="1200" b="1" dirty="0">
              <a:solidFill>
                <a:srgbClr val="1E1E2A"/>
              </a:solidFill>
              <a:latin typeface="맑은 고딕" panose="020B0503020000020004" pitchFamily="50" charset="-127"/>
            </a:endParaRPr>
          </a:p>
          <a:p>
            <a:pPr lvl="1" defTabSz="715082">
              <a:lnSpc>
                <a:spcPct val="160000"/>
              </a:lnSpc>
              <a:buFont typeface="Wingdings" panose="05000000000000000000" pitchFamily="2" charset="2"/>
              <a:buChar char="§"/>
            </a:pPr>
            <a:r>
              <a:rPr lang="ko-KR" altLang="en-US" sz="1000" dirty="0">
                <a:solidFill>
                  <a:srgbClr val="1E1E2A"/>
                </a:solidFill>
                <a:latin typeface="맑은 고딕" panose="020B0503020000020004" pitchFamily="50" charset="-127"/>
              </a:rPr>
              <a:t>최대수</a:t>
            </a:r>
            <a:r>
              <a:rPr lang="en-US" altLang="ko-KR" sz="1000" dirty="0">
                <a:solidFill>
                  <a:srgbClr val="1E1E2A"/>
                </a:solidFill>
                <a:latin typeface="맑은 고딕" panose="020B0503020000020004" pitchFamily="50" charset="-127"/>
              </a:rPr>
              <a:t>: Iterator Pattern </a:t>
            </a:r>
            <a:r>
              <a:rPr lang="ko-KR" altLang="en-US" sz="1000" dirty="0">
                <a:solidFill>
                  <a:srgbClr val="1E1E2A"/>
                </a:solidFill>
                <a:latin typeface="맑은 고딕" panose="020B0503020000020004" pitchFamily="50" charset="-127"/>
              </a:rPr>
              <a:t>실습 분리</a:t>
            </a:r>
            <a:r>
              <a:rPr lang="en-US" altLang="ko-KR" sz="1000" dirty="0">
                <a:solidFill>
                  <a:srgbClr val="1E1E2A"/>
                </a:solidFill>
                <a:latin typeface="맑은 고딕" panose="020B0503020000020004" pitchFamily="50" charset="-127"/>
              </a:rPr>
              <a:t>, DIP </a:t>
            </a:r>
            <a:r>
              <a:rPr lang="ko-KR" altLang="en-US" sz="1000" dirty="0">
                <a:solidFill>
                  <a:srgbClr val="1E1E2A"/>
                </a:solidFill>
                <a:latin typeface="맑은 고딕" panose="020B0503020000020004" pitchFamily="50" charset="-127"/>
              </a:rPr>
              <a:t>설명 용 그림 추가</a:t>
            </a:r>
          </a:p>
          <a:p>
            <a:pPr marL="948861" lvl="3" indent="0" defTabSz="715082">
              <a:lnSpc>
                <a:spcPct val="160000"/>
              </a:lnSpc>
              <a:buNone/>
            </a:pPr>
            <a:r>
              <a:rPr lang="en-US" altLang="ko-KR" sz="1000" dirty="0">
                <a:solidFill>
                  <a:srgbClr val="1E1E2A"/>
                </a:solidFill>
                <a:latin typeface="맑은 고딕" panose="020B0503020000020004" pitchFamily="50" charset="-127"/>
              </a:rPr>
              <a:t> Composition &amp; Delegation </a:t>
            </a:r>
            <a:r>
              <a:rPr lang="ko-KR" altLang="en-US" sz="1000" dirty="0">
                <a:solidFill>
                  <a:srgbClr val="1E1E2A"/>
                </a:solidFill>
                <a:latin typeface="맑은 고딕" panose="020B0503020000020004" pitchFamily="50" charset="-127"/>
              </a:rPr>
              <a:t>비교 코드 추가</a:t>
            </a:r>
          </a:p>
          <a:p>
            <a:pPr marL="948861" lvl="3" indent="0" defTabSz="715082">
              <a:lnSpc>
                <a:spcPct val="160000"/>
              </a:lnSpc>
              <a:buNone/>
            </a:pPr>
            <a:r>
              <a:rPr lang="en-US" altLang="ko-KR" sz="1000" dirty="0">
                <a:solidFill>
                  <a:srgbClr val="1E1E2A"/>
                </a:solidFill>
                <a:latin typeface="맑은 고딕" panose="020B0503020000020004" pitchFamily="50" charset="-127"/>
              </a:rPr>
              <a:t> Observer </a:t>
            </a:r>
            <a:r>
              <a:rPr lang="ko-KR" altLang="en-US" sz="1000" dirty="0">
                <a:solidFill>
                  <a:srgbClr val="1E1E2A"/>
                </a:solidFill>
                <a:latin typeface="맑은 고딕" panose="020B0503020000020004" pitchFamily="50" charset="-127"/>
              </a:rPr>
              <a:t>패턴 설명 그림 추가</a:t>
            </a:r>
          </a:p>
        </p:txBody>
      </p:sp>
    </p:spTree>
    <p:extLst>
      <p:ext uri="{BB962C8B-B14F-4D97-AF65-F5344CB8AC3E}">
        <p14:creationId xmlns:p14="http://schemas.microsoft.com/office/powerpoint/2010/main" val="257362731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2699792" y="195486"/>
            <a:ext cx="5387988" cy="533895"/>
          </a:xfrm>
        </p:spPr>
        <p:txBody>
          <a:bodyPr>
            <a:normAutofit fontScale="90000"/>
          </a:bodyPr>
          <a:lstStyle/>
          <a:p>
            <a:r>
              <a:rPr lang="en-US" altLang="ko-KR" u="sng" dirty="0"/>
              <a:t>revision</a:t>
            </a:r>
            <a:endParaRPr lang="ko-KR" altLang="en-US" u="sng" dirty="0"/>
          </a:p>
        </p:txBody>
      </p:sp>
      <p:sp>
        <p:nvSpPr>
          <p:cNvPr id="3" name="내용 개체 틀 2"/>
          <p:cNvSpPr txBox="1">
            <a:spLocks/>
          </p:cNvSpPr>
          <p:nvPr/>
        </p:nvSpPr>
        <p:spPr>
          <a:xfrm>
            <a:off x="2915816" y="843558"/>
            <a:ext cx="6048672" cy="3732560"/>
          </a:xfrm>
          <a:prstGeom prst="rect">
            <a:avLst/>
          </a:prstGeom>
          <a:noFill/>
        </p:spPr>
        <p:txBody>
          <a:bodyPr wrap="square" lIns="0" tIns="0" rIns="0" bIns="0" rtlCol="0" anchor="t">
            <a:spAutoFit/>
          </a:bodyPr>
          <a:lstStyle>
            <a:lvl1pPr marL="247529" indent="-247529" algn="l" defTabSz="660076" rtl="0" eaLnBrk="1" latinLnBrk="1" hangingPunct="1">
              <a:spcBef>
                <a:spcPct val="20000"/>
              </a:spcBef>
              <a:buFont typeface="Arial" pitchFamily="34" charset="0"/>
              <a:buChar char="•"/>
              <a:defRPr sz="2400" kern="1200">
                <a:solidFill>
                  <a:schemeClr val="tx1"/>
                </a:solidFill>
                <a:latin typeface="+mn-lt"/>
                <a:ea typeface="+mn-ea"/>
                <a:cs typeface="+mn-cs"/>
              </a:defRPr>
            </a:lvl1pPr>
            <a:lvl2pPr marL="536312" indent="-206274" algn="l" defTabSz="660076" rtl="0" eaLnBrk="1" latinLnBrk="1" hangingPunct="1">
              <a:spcBef>
                <a:spcPct val="20000"/>
              </a:spcBef>
              <a:buFont typeface="Arial" pitchFamily="34" charset="0"/>
              <a:buChar char="–"/>
              <a:defRPr sz="2025" kern="1200">
                <a:solidFill>
                  <a:schemeClr val="tx1"/>
                </a:solidFill>
                <a:latin typeface="+mn-lt"/>
                <a:ea typeface="+mn-ea"/>
                <a:cs typeface="+mn-cs"/>
              </a:defRPr>
            </a:lvl2pPr>
            <a:lvl3pPr marL="825095" indent="-165020" algn="l" defTabSz="660076" rtl="0" eaLnBrk="1" latinLnBrk="1" hangingPunct="1">
              <a:spcBef>
                <a:spcPct val="20000"/>
              </a:spcBef>
              <a:buFont typeface="Arial" pitchFamily="34" charset="0"/>
              <a:buChar char="•"/>
              <a:defRPr sz="1725" kern="1200">
                <a:solidFill>
                  <a:schemeClr val="tx1"/>
                </a:solidFill>
                <a:latin typeface="+mn-lt"/>
                <a:ea typeface="+mn-ea"/>
                <a:cs typeface="+mn-cs"/>
              </a:defRPr>
            </a:lvl3pPr>
            <a:lvl4pPr marL="115513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4pPr>
            <a:lvl5pPr marL="1485172"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5pPr>
            <a:lvl6pPr marL="1815211"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6pPr>
            <a:lvl7pPr marL="2145248"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7pPr>
            <a:lvl8pPr marL="2475286"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8pPr>
            <a:lvl9pPr marL="2805325" indent="-165020" algn="l" defTabSz="660076" rtl="0" eaLnBrk="1" latinLnBrk="1" hangingPunct="1">
              <a:spcBef>
                <a:spcPct val="20000"/>
              </a:spcBef>
              <a:buFont typeface="Arial" pitchFamily="34" charset="0"/>
              <a:buChar char="•"/>
              <a:defRPr sz="1350" kern="1200">
                <a:solidFill>
                  <a:schemeClr val="tx1"/>
                </a:solidFill>
                <a:latin typeface="+mn-lt"/>
                <a:ea typeface="+mn-ea"/>
                <a:cs typeface="+mn-cs"/>
              </a:defRPr>
            </a:lvl9pPr>
          </a:lstStyle>
          <a:p>
            <a:pPr defTabSz="715082">
              <a:lnSpc>
                <a:spcPct val="160000"/>
              </a:lnSpc>
              <a:buFont typeface="Wingdings" panose="05000000000000000000" pitchFamily="2" charset="2"/>
              <a:buChar char="§"/>
            </a:pPr>
            <a:r>
              <a:rPr lang="en-US" altLang="ko-KR" sz="1200" b="1" dirty="0">
                <a:solidFill>
                  <a:srgbClr val="1E1E2A"/>
                </a:solidFill>
                <a:latin typeface="맑은 고딕" panose="020B0503020000020004" pitchFamily="50" charset="-127"/>
              </a:rPr>
              <a:t>2025.03 25-1</a:t>
            </a:r>
            <a:r>
              <a:rPr lang="ko-KR" altLang="en-US" sz="1200" b="1" dirty="0">
                <a:solidFill>
                  <a:srgbClr val="1E1E2A"/>
                </a:solidFill>
                <a:latin typeface="맑은 고딕" panose="020B0503020000020004" pitchFamily="50" charset="-127"/>
              </a:rPr>
              <a:t>차 강의 수정사항</a:t>
            </a:r>
            <a:r>
              <a:rPr lang="en-US" altLang="ko-KR" sz="1200" b="1" dirty="0">
                <a:solidFill>
                  <a:srgbClr val="1E1E2A"/>
                </a:solidFill>
                <a:latin typeface="맑은 고딕" panose="020B0503020000020004" pitchFamily="50" charset="-127"/>
              </a:rPr>
              <a:t>, </a:t>
            </a:r>
            <a:r>
              <a:rPr lang="ko-KR" altLang="en-US" sz="1200" b="1" dirty="0">
                <a:solidFill>
                  <a:srgbClr val="1E1E2A"/>
                </a:solidFill>
                <a:latin typeface="맑은 고딕" panose="020B0503020000020004" pitchFamily="50" charset="-127"/>
              </a:rPr>
              <a:t>결과 반영</a:t>
            </a:r>
            <a:endParaRPr lang="en-US" altLang="ko-KR" sz="1200" b="1" dirty="0">
              <a:solidFill>
                <a:srgbClr val="1E1E2A"/>
              </a:solidFill>
              <a:latin typeface="맑은 고딕" panose="020B0503020000020004" pitchFamily="50" charset="-127"/>
            </a:endParaRPr>
          </a:p>
          <a:p>
            <a:pPr lvl="1" defTabSz="715082">
              <a:lnSpc>
                <a:spcPct val="160000"/>
              </a:lnSpc>
              <a:buFont typeface="Wingdings" panose="05000000000000000000" pitchFamily="2" charset="2"/>
              <a:buChar char="§"/>
            </a:pPr>
            <a:r>
              <a:rPr lang="ko-KR" altLang="en-US" sz="1000" dirty="0">
                <a:solidFill>
                  <a:srgbClr val="1E1E2A"/>
                </a:solidFill>
                <a:latin typeface="맑은 고딕" panose="020B0503020000020004" pitchFamily="50" charset="-127"/>
              </a:rPr>
              <a:t>최대수</a:t>
            </a:r>
            <a:r>
              <a:rPr lang="en-US" altLang="ko-KR" sz="1000" dirty="0">
                <a:solidFill>
                  <a:srgbClr val="1E1E2A"/>
                </a:solidFill>
                <a:latin typeface="맑은 고딕" panose="020B0503020000020004" pitchFamily="50" charset="-127"/>
              </a:rPr>
              <a:t>: State </a:t>
            </a:r>
            <a:r>
              <a:rPr lang="ko-KR" altLang="en-US" sz="1000" dirty="0">
                <a:solidFill>
                  <a:srgbClr val="1E1E2A"/>
                </a:solidFill>
                <a:latin typeface="맑은 고딕" panose="020B0503020000020004" pitchFamily="50" charset="-127"/>
              </a:rPr>
              <a:t>다이어그램 솔루션 추가</a:t>
            </a:r>
          </a:p>
          <a:p>
            <a:pPr marL="990115" lvl="3" indent="0" defTabSz="715082">
              <a:lnSpc>
                <a:spcPct val="160000"/>
              </a:lnSpc>
              <a:buNone/>
            </a:pPr>
            <a:r>
              <a:rPr lang="en-US" altLang="ko-KR" sz="1000" dirty="0">
                <a:solidFill>
                  <a:srgbClr val="1E1E2A"/>
                </a:solidFill>
                <a:latin typeface="맑은 고딕" panose="020B0503020000020004" pitchFamily="50" charset="-127"/>
              </a:rPr>
              <a:t>Decorator </a:t>
            </a:r>
            <a:r>
              <a:rPr lang="ko-KR" altLang="en-US" sz="1000" dirty="0">
                <a:solidFill>
                  <a:srgbClr val="1E1E2A"/>
                </a:solidFill>
                <a:latin typeface="맑은 고딕" panose="020B0503020000020004" pitchFamily="50" charset="-127"/>
              </a:rPr>
              <a:t>실습 과제 클래스 다이어그램 추가</a:t>
            </a:r>
          </a:p>
          <a:p>
            <a:pPr marL="990115" lvl="3" indent="0" defTabSz="715082">
              <a:lnSpc>
                <a:spcPct val="160000"/>
              </a:lnSpc>
              <a:buNone/>
            </a:pPr>
            <a:r>
              <a:rPr lang="en-US" altLang="ko-KR" sz="1000" dirty="0">
                <a:solidFill>
                  <a:srgbClr val="1E1E2A"/>
                </a:solidFill>
                <a:latin typeface="맑은 고딕" panose="020B0503020000020004" pitchFamily="50" charset="-127"/>
              </a:rPr>
              <a:t>Composite </a:t>
            </a:r>
            <a:r>
              <a:rPr lang="ko-KR" altLang="en-US" sz="1000" dirty="0">
                <a:solidFill>
                  <a:srgbClr val="1E1E2A"/>
                </a:solidFill>
                <a:latin typeface="맑은 고딕" panose="020B0503020000020004" pitchFamily="50" charset="-127"/>
              </a:rPr>
              <a:t>패턴</a:t>
            </a:r>
            <a:r>
              <a:rPr lang="en-US" altLang="ko-KR" sz="1000" dirty="0">
                <a:solidFill>
                  <a:srgbClr val="1E1E2A"/>
                </a:solidFill>
                <a:latin typeface="맑은 고딕" panose="020B0503020000020004" pitchFamily="50" charset="-127"/>
              </a:rPr>
              <a:t>, </a:t>
            </a:r>
            <a:r>
              <a:rPr lang="ko-KR" altLang="en-US" sz="1000" dirty="0">
                <a:solidFill>
                  <a:srgbClr val="1E1E2A"/>
                </a:solidFill>
                <a:latin typeface="맑은 고딕" panose="020B0503020000020004" pitchFamily="50" charset="-127"/>
              </a:rPr>
              <a:t>현업 사용 예시 추가</a:t>
            </a:r>
            <a:endParaRPr lang="en-US" altLang="ko-KR" sz="1000" dirty="0">
              <a:solidFill>
                <a:srgbClr val="1E1E2A"/>
              </a:solidFill>
              <a:latin typeface="맑은 고딕" panose="020B0503020000020004" pitchFamily="50" charset="-127"/>
            </a:endParaRPr>
          </a:p>
          <a:p>
            <a:pPr lvl="1" defTabSz="715082">
              <a:lnSpc>
                <a:spcPct val="160000"/>
              </a:lnSpc>
              <a:buFont typeface="Wingdings" panose="05000000000000000000" pitchFamily="2" charset="2"/>
              <a:buChar char="§"/>
            </a:pPr>
            <a:r>
              <a:rPr lang="ko-KR" altLang="en-US" sz="1000" dirty="0">
                <a:solidFill>
                  <a:srgbClr val="1E1E2A"/>
                </a:solidFill>
                <a:latin typeface="맑은 고딕" panose="020B0503020000020004" pitchFamily="50" charset="-127"/>
              </a:rPr>
              <a:t>김진웅 </a:t>
            </a:r>
            <a:r>
              <a:rPr lang="en-US" altLang="ko-KR" sz="1000" dirty="0">
                <a:solidFill>
                  <a:srgbClr val="1E1E2A"/>
                </a:solidFill>
                <a:latin typeface="맑은 고딕" panose="020B0503020000020004" pitchFamily="50" charset="-127"/>
              </a:rPr>
              <a:t>: </a:t>
            </a:r>
            <a:r>
              <a:rPr lang="en-US" altLang="ko-KR" sz="1000" dirty="0"/>
              <a:t>State Pattern </a:t>
            </a:r>
            <a:r>
              <a:rPr lang="ko-KR" altLang="en-US" sz="1000" dirty="0"/>
              <a:t>실습에서 버튼 이름을 영문으로 변경</a:t>
            </a:r>
            <a:endParaRPr lang="en-US" altLang="ko-KR" sz="1000" dirty="0">
              <a:solidFill>
                <a:srgbClr val="1E1E2A"/>
              </a:solidFill>
              <a:latin typeface="맑은 고딕" panose="020B0503020000020004" pitchFamily="50" charset="-127"/>
            </a:endParaRPr>
          </a:p>
          <a:p>
            <a:pPr defTabSz="715082">
              <a:lnSpc>
                <a:spcPct val="160000"/>
              </a:lnSpc>
              <a:buFont typeface="Wingdings" panose="05000000000000000000" pitchFamily="2" charset="2"/>
              <a:buChar char="§"/>
            </a:pPr>
            <a:r>
              <a:rPr lang="en-US" altLang="ko-KR" sz="1200" b="1" dirty="0">
                <a:solidFill>
                  <a:srgbClr val="1E1E2A"/>
                </a:solidFill>
                <a:latin typeface="맑은 고딕" panose="020B0503020000020004" pitchFamily="50" charset="-127"/>
              </a:rPr>
              <a:t>2025.04 25-2</a:t>
            </a:r>
            <a:r>
              <a:rPr lang="ko-KR" altLang="en-US" sz="1200" b="1" dirty="0">
                <a:solidFill>
                  <a:srgbClr val="1E1E2A"/>
                </a:solidFill>
                <a:latin typeface="맑은 고딕" panose="020B0503020000020004" pitchFamily="50" charset="-127"/>
              </a:rPr>
              <a:t>차 강의 수정사항</a:t>
            </a:r>
            <a:r>
              <a:rPr lang="en-US" altLang="ko-KR" sz="1200" b="1" dirty="0">
                <a:solidFill>
                  <a:srgbClr val="1E1E2A"/>
                </a:solidFill>
                <a:latin typeface="맑은 고딕" panose="020B0503020000020004" pitchFamily="50" charset="-127"/>
              </a:rPr>
              <a:t>, </a:t>
            </a:r>
            <a:r>
              <a:rPr lang="ko-KR" altLang="en-US" sz="1200" b="1" dirty="0">
                <a:solidFill>
                  <a:srgbClr val="1E1E2A"/>
                </a:solidFill>
                <a:latin typeface="맑은 고딕" panose="020B0503020000020004" pitchFamily="50" charset="-127"/>
              </a:rPr>
              <a:t>결과 반영</a:t>
            </a:r>
            <a:endParaRPr lang="en-US" altLang="ko-KR" sz="1200" b="1" dirty="0">
              <a:solidFill>
                <a:srgbClr val="1E1E2A"/>
              </a:solidFill>
              <a:latin typeface="맑은 고딕" panose="020B0503020000020004" pitchFamily="50" charset="-127"/>
            </a:endParaRPr>
          </a:p>
          <a:p>
            <a:pPr lvl="1" defTabSz="715082">
              <a:lnSpc>
                <a:spcPct val="160000"/>
              </a:lnSpc>
              <a:buFont typeface="Wingdings" panose="05000000000000000000" pitchFamily="2" charset="2"/>
              <a:buChar char="§"/>
            </a:pPr>
            <a:r>
              <a:rPr lang="ko-KR" altLang="en-US" sz="1000" dirty="0">
                <a:solidFill>
                  <a:srgbClr val="1E1E2A"/>
                </a:solidFill>
                <a:latin typeface="맑은 고딕" panose="020B0503020000020004" pitchFamily="50" charset="-127"/>
              </a:rPr>
              <a:t>김수현</a:t>
            </a:r>
            <a:r>
              <a:rPr lang="en-US" altLang="ko-KR" sz="1000" dirty="0">
                <a:solidFill>
                  <a:srgbClr val="1E1E2A"/>
                </a:solidFill>
                <a:latin typeface="맑은 고딕" panose="020B0503020000020004" pitchFamily="50" charset="-127"/>
              </a:rPr>
              <a:t>: SRP/OCP Good </a:t>
            </a:r>
            <a:r>
              <a:rPr lang="ko-KR" altLang="en-US" sz="1000" dirty="0">
                <a:solidFill>
                  <a:srgbClr val="1E1E2A"/>
                </a:solidFill>
                <a:latin typeface="맑은 고딕" panose="020B0503020000020004" pitchFamily="50" charset="-127"/>
              </a:rPr>
              <a:t>설계 포함 </a:t>
            </a:r>
            <a:r>
              <a:rPr lang="en-US" altLang="ko-KR" sz="1000" dirty="0">
                <a:solidFill>
                  <a:srgbClr val="1E1E2A"/>
                </a:solidFill>
                <a:latin typeface="맑은 고딕" panose="020B0503020000020004" pitchFamily="50" charset="-127"/>
              </a:rPr>
              <a:t>(from </a:t>
            </a:r>
            <a:r>
              <a:rPr lang="ko-KR" altLang="en-US" sz="1000" dirty="0">
                <a:solidFill>
                  <a:srgbClr val="1E1E2A"/>
                </a:solidFill>
                <a:latin typeface="맑은 고딕" panose="020B0503020000020004" pitchFamily="50" charset="-127"/>
              </a:rPr>
              <a:t>이론 교안</a:t>
            </a:r>
            <a:r>
              <a:rPr lang="en-US" altLang="ko-KR" sz="1000" dirty="0">
                <a:solidFill>
                  <a:srgbClr val="1E1E2A"/>
                </a:solidFill>
                <a:latin typeface="맑은 고딕" panose="020B0503020000020004" pitchFamily="50" charset="-127"/>
              </a:rPr>
              <a:t>)</a:t>
            </a:r>
            <a:endParaRPr lang="ko-KR" altLang="en-US" sz="1000" dirty="0">
              <a:solidFill>
                <a:srgbClr val="1E1E2A"/>
              </a:solidFill>
              <a:latin typeface="맑은 고딕" panose="020B0503020000020004" pitchFamily="50" charset="-127"/>
            </a:endParaRPr>
          </a:p>
          <a:p>
            <a:pPr marL="990115" lvl="3" indent="0" defTabSz="715082">
              <a:lnSpc>
                <a:spcPct val="160000"/>
              </a:lnSpc>
              <a:buNone/>
            </a:pPr>
            <a:r>
              <a:rPr lang="ko-KR" altLang="en-US" sz="1000" dirty="0">
                <a:solidFill>
                  <a:srgbClr val="1E1E2A"/>
                </a:solidFill>
                <a:latin typeface="맑은 고딕" panose="020B0503020000020004" pitchFamily="50" charset="-127"/>
              </a:rPr>
              <a:t>실습 대상 클래스 강조</a:t>
            </a:r>
            <a:r>
              <a:rPr lang="en-US" altLang="ko-KR" sz="1000" dirty="0">
                <a:solidFill>
                  <a:srgbClr val="1E1E2A"/>
                </a:solidFill>
                <a:latin typeface="맑은 고딕" panose="020B0503020000020004" pitchFamily="50" charset="-127"/>
              </a:rPr>
              <a:t>, </a:t>
            </a:r>
            <a:r>
              <a:rPr lang="ko-KR" altLang="en-US" sz="1000" dirty="0">
                <a:solidFill>
                  <a:srgbClr val="1E1E2A"/>
                </a:solidFill>
                <a:latin typeface="맑은 고딕" panose="020B0503020000020004" pitchFamily="50" charset="-127"/>
              </a:rPr>
              <a:t>실습 단계 설명을 전반적으로 보강</a:t>
            </a:r>
          </a:p>
          <a:p>
            <a:pPr lvl="1" defTabSz="715082">
              <a:lnSpc>
                <a:spcPct val="160000"/>
              </a:lnSpc>
              <a:buFont typeface="Wingdings" panose="05000000000000000000" pitchFamily="2" charset="2"/>
              <a:buChar char="§"/>
            </a:pPr>
            <a:r>
              <a:rPr lang="ko-KR" altLang="en-US" sz="1000" dirty="0" err="1">
                <a:solidFill>
                  <a:srgbClr val="1E1E2A"/>
                </a:solidFill>
                <a:latin typeface="맑은 고딕" panose="020B0503020000020004" pitchFamily="50" charset="-127"/>
              </a:rPr>
              <a:t>임진묵</a:t>
            </a:r>
            <a:r>
              <a:rPr lang="ko-KR" altLang="en-US" sz="1000" dirty="0">
                <a:solidFill>
                  <a:srgbClr val="1E1E2A"/>
                </a:solidFill>
                <a:latin typeface="맑은 고딕" panose="020B0503020000020004" pitchFamily="50" charset="-127"/>
              </a:rPr>
              <a:t> </a:t>
            </a:r>
            <a:r>
              <a:rPr lang="en-US" altLang="ko-KR" sz="1000" dirty="0">
                <a:solidFill>
                  <a:srgbClr val="1E1E2A"/>
                </a:solidFill>
                <a:latin typeface="맑은 고딕" panose="020B0503020000020004" pitchFamily="50" charset="-127"/>
              </a:rPr>
              <a:t>: Builder Pattern, Iterator Pattern </a:t>
            </a:r>
            <a:r>
              <a:rPr lang="ko-KR" altLang="en-US" sz="1000" dirty="0">
                <a:solidFill>
                  <a:srgbClr val="1E1E2A"/>
                </a:solidFill>
                <a:latin typeface="맑은 고딕" panose="020B0503020000020004" pitchFamily="50" charset="-127"/>
              </a:rPr>
              <a:t>의 클래스 다이어그램 추가 </a:t>
            </a:r>
            <a:r>
              <a:rPr lang="en-US" altLang="ko-KR" sz="1000" dirty="0">
                <a:solidFill>
                  <a:srgbClr val="1E1E2A"/>
                </a:solidFill>
                <a:latin typeface="맑은 고딕" panose="020B0503020000020004" pitchFamily="50" charset="-127"/>
              </a:rPr>
              <a:t>(from </a:t>
            </a:r>
            <a:r>
              <a:rPr lang="ko-KR" altLang="en-US" sz="1000" dirty="0">
                <a:solidFill>
                  <a:srgbClr val="1E1E2A"/>
                </a:solidFill>
                <a:latin typeface="맑은 고딕" panose="020B0503020000020004" pitchFamily="50" charset="-127"/>
              </a:rPr>
              <a:t>이론 교안</a:t>
            </a:r>
            <a:r>
              <a:rPr lang="en-US" altLang="ko-KR" sz="1000" dirty="0">
                <a:solidFill>
                  <a:srgbClr val="1E1E2A"/>
                </a:solidFill>
                <a:latin typeface="맑은 고딕" panose="020B0503020000020004" pitchFamily="50" charset="-127"/>
              </a:rPr>
              <a:t>)</a:t>
            </a:r>
          </a:p>
          <a:p>
            <a:pPr marL="330038" lvl="1" indent="0" defTabSz="715082">
              <a:lnSpc>
                <a:spcPct val="160000"/>
              </a:lnSpc>
              <a:buNone/>
            </a:pPr>
            <a:r>
              <a:rPr lang="en-US" altLang="ko-KR" sz="1000" dirty="0">
                <a:solidFill>
                  <a:srgbClr val="1E1E2A"/>
                </a:solidFill>
                <a:latin typeface="맑은 고딕" panose="020B0503020000020004" pitchFamily="50" charset="-127"/>
              </a:rPr>
              <a:t>                </a:t>
            </a:r>
            <a:r>
              <a:rPr lang="ko-KR" altLang="en-US" sz="1000" dirty="0">
                <a:solidFill>
                  <a:srgbClr val="1E1E2A"/>
                </a:solidFill>
                <a:latin typeface="맑은 고딕" panose="020B0503020000020004" pitchFamily="50" charset="-127"/>
              </a:rPr>
              <a:t>디자인 패턴 참고 사이트 </a:t>
            </a:r>
            <a:r>
              <a:rPr lang="en-US" altLang="ko-KR" sz="1000" dirty="0">
                <a:solidFill>
                  <a:srgbClr val="1E1E2A"/>
                </a:solidFill>
                <a:latin typeface="맑은 고딕" panose="020B0503020000020004" pitchFamily="50" charset="-127"/>
              </a:rPr>
              <a:t>(Refactoring Guru) </a:t>
            </a:r>
            <a:r>
              <a:rPr lang="ko-KR" altLang="en-US" sz="1000" dirty="0">
                <a:solidFill>
                  <a:srgbClr val="1E1E2A"/>
                </a:solidFill>
                <a:latin typeface="맑은 고딕" panose="020B0503020000020004" pitchFamily="50" charset="-127"/>
              </a:rPr>
              <a:t>소개</a:t>
            </a:r>
            <a:endParaRPr lang="en-US" altLang="ko-KR" sz="1000" dirty="0">
              <a:solidFill>
                <a:srgbClr val="1E1E2A"/>
              </a:solidFill>
              <a:latin typeface="맑은 고딕" panose="020B0503020000020004" pitchFamily="50" charset="-127"/>
            </a:endParaRPr>
          </a:p>
          <a:p>
            <a:pPr marL="330038" lvl="1" indent="0" defTabSz="715082">
              <a:lnSpc>
                <a:spcPct val="160000"/>
              </a:lnSpc>
              <a:buNone/>
            </a:pPr>
            <a:r>
              <a:rPr lang="en-US" altLang="ko-KR" sz="1000" dirty="0">
                <a:solidFill>
                  <a:srgbClr val="1E1E2A"/>
                </a:solidFill>
                <a:latin typeface="맑은 고딕" panose="020B0503020000020004" pitchFamily="50" charset="-127"/>
              </a:rPr>
              <a:t>                Chat GPT </a:t>
            </a:r>
            <a:r>
              <a:rPr lang="ko-KR" altLang="en-US" sz="1000" dirty="0">
                <a:solidFill>
                  <a:srgbClr val="1E1E2A"/>
                </a:solidFill>
                <a:latin typeface="맑은 고딕" panose="020B0503020000020004" pitchFamily="50" charset="-127"/>
              </a:rPr>
              <a:t>활용 예제 </a:t>
            </a:r>
            <a:r>
              <a:rPr lang="en-US" altLang="ko-KR" sz="1000" dirty="0">
                <a:solidFill>
                  <a:srgbClr val="1E1E2A"/>
                </a:solidFill>
                <a:latin typeface="맑은 고딕" panose="020B0503020000020004" pitchFamily="50" charset="-127"/>
              </a:rPr>
              <a:t>(w/ Prompt </a:t>
            </a:r>
            <a:r>
              <a:rPr lang="ko-KR" altLang="en-US" sz="1000" dirty="0">
                <a:solidFill>
                  <a:srgbClr val="1E1E2A"/>
                </a:solidFill>
                <a:latin typeface="맑은 고딕" panose="020B0503020000020004" pitchFamily="50" charset="-127"/>
              </a:rPr>
              <a:t>예제</a:t>
            </a:r>
            <a:r>
              <a:rPr lang="en-US" altLang="ko-KR" sz="1000" dirty="0">
                <a:solidFill>
                  <a:srgbClr val="1E1E2A"/>
                </a:solidFill>
                <a:latin typeface="맑은 고딕" panose="020B0503020000020004" pitchFamily="50" charset="-127"/>
              </a:rPr>
              <a:t>) </a:t>
            </a:r>
            <a:r>
              <a:rPr lang="ko-KR" altLang="en-US" sz="1000" dirty="0">
                <a:solidFill>
                  <a:srgbClr val="1E1E2A"/>
                </a:solidFill>
                <a:latin typeface="맑은 고딕" panose="020B0503020000020004" pitchFamily="50" charset="-127"/>
              </a:rPr>
              <a:t>소개</a:t>
            </a:r>
            <a:endParaRPr lang="en-US" altLang="ko-KR" sz="1375" dirty="0">
              <a:solidFill>
                <a:srgbClr val="1E1E2A"/>
              </a:solidFill>
              <a:latin typeface="맑은 고딕" panose="020B0503020000020004" pitchFamily="50" charset="-127"/>
            </a:endParaRPr>
          </a:p>
          <a:p>
            <a:pPr lvl="1" defTabSz="715082">
              <a:lnSpc>
                <a:spcPct val="160000"/>
              </a:lnSpc>
              <a:buFont typeface="Wingdings" panose="05000000000000000000" pitchFamily="2" charset="2"/>
              <a:buChar char="§"/>
            </a:pPr>
            <a:r>
              <a:rPr lang="ko-KR" altLang="en-US" sz="1000" dirty="0">
                <a:solidFill>
                  <a:srgbClr val="1E1E2A"/>
                </a:solidFill>
                <a:latin typeface="맑은 고딕" panose="020B0503020000020004" pitchFamily="50" charset="-127"/>
              </a:rPr>
              <a:t>최신호 </a:t>
            </a:r>
            <a:r>
              <a:rPr lang="en-US" altLang="ko-KR" sz="1000" dirty="0">
                <a:solidFill>
                  <a:srgbClr val="1E1E2A"/>
                </a:solidFill>
                <a:latin typeface="맑은 고딕" panose="020B0503020000020004" pitchFamily="50" charset="-127"/>
              </a:rPr>
              <a:t>: </a:t>
            </a:r>
            <a:r>
              <a:rPr lang="ko-KR" altLang="en-US" sz="1000" dirty="0">
                <a:solidFill>
                  <a:srgbClr val="1E1E2A"/>
                </a:solidFill>
                <a:latin typeface="맑은 고딕" panose="020B0503020000020004" pitchFamily="50" charset="-127"/>
              </a:rPr>
              <a:t>실습 순서에 맞게 실습 </a:t>
            </a:r>
            <a:r>
              <a:rPr lang="en-US" altLang="ko-KR" sz="1000" dirty="0">
                <a:solidFill>
                  <a:srgbClr val="1E1E2A"/>
                </a:solidFill>
                <a:latin typeface="맑은 고딕" panose="020B0503020000020004" pitchFamily="50" charset="-127"/>
              </a:rPr>
              <a:t>Code </a:t>
            </a:r>
            <a:r>
              <a:rPr lang="ko-KR" altLang="en-US" sz="1000" dirty="0">
                <a:solidFill>
                  <a:srgbClr val="1E1E2A"/>
                </a:solidFill>
                <a:latin typeface="맑은 고딕" panose="020B0503020000020004" pitchFamily="50" charset="-127"/>
              </a:rPr>
              <a:t>폴더 번호 수정 </a:t>
            </a:r>
            <a:r>
              <a:rPr lang="en-US" altLang="ko-KR" sz="1000" dirty="0">
                <a:solidFill>
                  <a:srgbClr val="1E1E2A"/>
                </a:solidFill>
                <a:latin typeface="맑은 고딕" panose="020B0503020000020004" pitchFamily="50" charset="-127"/>
              </a:rPr>
              <a:t>(Practice.zip </a:t>
            </a:r>
            <a:r>
              <a:rPr lang="ko-KR" altLang="en-US" sz="1000" dirty="0">
                <a:solidFill>
                  <a:srgbClr val="1E1E2A"/>
                </a:solidFill>
                <a:latin typeface="맑은 고딕" panose="020B0503020000020004" pitchFamily="50" charset="-127"/>
              </a:rPr>
              <a:t>포함</a:t>
            </a:r>
            <a:r>
              <a:rPr lang="en-US" altLang="ko-KR" sz="1000" dirty="0">
                <a:solidFill>
                  <a:srgbClr val="1E1E2A"/>
                </a:solidFill>
                <a:latin typeface="맑은 고딕" panose="020B0503020000020004" pitchFamily="50" charset="-127"/>
              </a:rPr>
              <a:t>)</a:t>
            </a:r>
            <a:endParaRPr lang="ko-KR" altLang="en-US" sz="1375" dirty="0">
              <a:solidFill>
                <a:srgbClr val="1E1E2A"/>
              </a:solidFill>
              <a:latin typeface="맑은 고딕" panose="020B0503020000020004" pitchFamily="50" charset="-127"/>
            </a:endParaRPr>
          </a:p>
          <a:p>
            <a:pPr defTabSz="715082">
              <a:lnSpc>
                <a:spcPct val="160000"/>
              </a:lnSpc>
              <a:buFont typeface="Wingdings" panose="05000000000000000000" pitchFamily="2" charset="2"/>
              <a:buChar char="§"/>
            </a:pPr>
            <a:r>
              <a:rPr lang="en-US" altLang="ko-KR" sz="1375" b="1" dirty="0">
                <a:solidFill>
                  <a:srgbClr val="1E1E2A"/>
                </a:solidFill>
                <a:latin typeface="맑은 고딕" panose="020B0503020000020004" pitchFamily="50" charset="-127"/>
              </a:rPr>
              <a:t>2025.10 3</a:t>
            </a:r>
            <a:r>
              <a:rPr lang="ko-KR" altLang="en-US" sz="1375" b="1" dirty="0">
                <a:solidFill>
                  <a:srgbClr val="1E1E2A"/>
                </a:solidFill>
                <a:latin typeface="맑은 고딕" panose="020B0503020000020004" pitchFamily="50" charset="-127"/>
              </a:rPr>
              <a:t>일과정으로 개편 반영</a:t>
            </a:r>
            <a:endParaRPr lang="ko-KR" altLang="en-US" sz="1000" dirty="0">
              <a:solidFill>
                <a:srgbClr val="1E1E2A"/>
              </a:solidFill>
              <a:latin typeface="맑은 고딕" panose="020B0503020000020004" pitchFamily="50" charset="-127"/>
            </a:endParaRPr>
          </a:p>
        </p:txBody>
      </p:sp>
    </p:spTree>
    <p:extLst>
      <p:ext uri="{BB962C8B-B14F-4D97-AF65-F5344CB8AC3E}">
        <p14:creationId xmlns:p14="http://schemas.microsoft.com/office/powerpoint/2010/main" val="46608627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10951</TotalTime>
  <Words>8273</Words>
  <Application>Microsoft Office PowerPoint</Application>
  <PresentationFormat>화면 슬라이드 쇼(16:9)</PresentationFormat>
  <Paragraphs>1175</Paragraphs>
  <Slides>131</Slides>
  <Notes>33</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131</vt:i4>
      </vt:variant>
    </vt:vector>
  </HeadingPairs>
  <TitlesOfParts>
    <vt:vector size="139" baseType="lpstr">
      <vt:lpstr>SamsungOne 700C</vt:lpstr>
      <vt:lpstr>맑은 고딕</vt:lpstr>
      <vt:lpstr>샘물체</vt:lpstr>
      <vt:lpstr>Arial</vt:lpstr>
      <vt:lpstr>Consolas</vt:lpstr>
      <vt:lpstr>Lucida Console</vt:lpstr>
      <vt:lpstr>Wingdings</vt:lpstr>
      <vt:lpstr>Office 테마</vt:lpstr>
      <vt:lpstr>PowerPoint 프레젠테이션</vt:lpstr>
      <vt:lpstr>강사 소개</vt:lpstr>
      <vt:lpstr>Overview</vt:lpstr>
      <vt:lpstr>Design Patterns 과목 안내</vt:lpstr>
      <vt:lpstr>시간표</vt:lpstr>
      <vt:lpstr>Why do we use patterns?</vt:lpstr>
      <vt:lpstr>Category of GoF Patterns</vt:lpstr>
      <vt:lpstr>Object-Oriented Paradigm Review</vt:lpstr>
      <vt:lpstr>R.C. Martin’s Software design principles (SOLID)</vt:lpstr>
      <vt:lpstr>R.C. Martin’s Software design principles (SOLID)</vt:lpstr>
      <vt:lpstr>R.C. Martin’s Software design principles (SOLID)</vt:lpstr>
      <vt:lpstr>R.C. Martin’s Software design principles (SOLID)</vt:lpstr>
      <vt:lpstr>R.C. Martin’s Software design principles (SOLID)</vt:lpstr>
      <vt:lpstr>R.C. Martin’s Software design principles (SOLID)</vt:lpstr>
      <vt:lpstr>R.C. Martin’s Software design principles (SOLID)</vt:lpstr>
      <vt:lpstr>General Responsibility Assignment Software Patterns (GRASP)</vt:lpstr>
      <vt:lpstr>General Responsibility Assignment Software Patterns(GRASP)</vt:lpstr>
      <vt:lpstr>General Responsibility Assignment Software Patterns(GRASP)</vt:lpstr>
      <vt:lpstr>Class Relationships (coupling)</vt:lpstr>
      <vt:lpstr>Environment Settings</vt:lpstr>
      <vt:lpstr>실습환경 구축 및 실습용 예제 확인</vt:lpstr>
      <vt:lpstr>Pattern Overview – 1일차 </vt:lpstr>
      <vt:lpstr>[필수] 2. SOLID Principle (77min) 5. Strategy (60min) 7. Template Method (22min)  [추가 학습] 1. 설계패턴 소개 (33min) 2. 객체지향 패러다임 (69min) 4. GRASP Principle (33min)  * 사전 학습 등 DP에 익숙한 분은 영상 시청 없이 바로 Practice 도전!</vt:lpstr>
      <vt:lpstr>Object Composition and Delegation </vt:lpstr>
      <vt:lpstr>Composition and Delegation </vt:lpstr>
      <vt:lpstr>[Practice 1] Delegation</vt:lpstr>
      <vt:lpstr>[Practice 1] Delegation (solution)</vt:lpstr>
      <vt:lpstr>Strategy Pattern</vt:lpstr>
      <vt:lpstr>Algorithmic Dependencies</vt:lpstr>
      <vt:lpstr>Strategy Pattern – Class Diagram</vt:lpstr>
      <vt:lpstr>Designing for Change</vt:lpstr>
      <vt:lpstr>[Practice 2] Strategy</vt:lpstr>
      <vt:lpstr>[Practice 2-1] Strategy: Quack Duck</vt:lpstr>
      <vt:lpstr>[Practice 2-1] Strategy : Quack Duck (solution)</vt:lpstr>
      <vt:lpstr>[Practice 2-2] Strategy: 새로운 Quack Behavior 추가</vt:lpstr>
      <vt:lpstr>[Practice 2-2] Strategy : 새로운 Quack Behavior 추가 (solution)</vt:lpstr>
      <vt:lpstr>[Practice 2-3] Strategy: Duck의 Behavior Type 확장</vt:lpstr>
      <vt:lpstr>[Practice 2-3] Strategy : Duck의 Behavior Type 확장 (solution)</vt:lpstr>
      <vt:lpstr>[Practice 2-4] Strategy: Duck의 Behavior 동적 복사</vt:lpstr>
      <vt:lpstr>[Practice 2-4] Strategy : Duck의 Behavior 동적 복사 (solution)</vt:lpstr>
      <vt:lpstr>[필수]  6. Observer (34min) 8. Iterator (36min) 9. State (36min) 10. Mediator (18min)  [추가 학습] 7. Template Method (22min)   * 사전 학습 등 DP에 익숙한 분은 영상 시청 없이 바로 Practice 4개 도전!</vt:lpstr>
      <vt:lpstr>Observer, State Patterns    </vt:lpstr>
      <vt:lpstr>[Practice 3] Observer Pattern</vt:lpstr>
      <vt:lpstr>[Practice 3] Observer Pattern</vt:lpstr>
      <vt:lpstr>[Practice 3] Observer Pattern</vt:lpstr>
      <vt:lpstr>[Practice 3] Observer Pattern</vt:lpstr>
      <vt:lpstr>[Practice 3] Observer Pattern (hint)</vt:lpstr>
      <vt:lpstr>[Practice 3] Observer Pattern (solution)</vt:lpstr>
      <vt:lpstr>[Practice 4] State Pattern – Class Diagram</vt:lpstr>
      <vt:lpstr>[Practice 4] State Pattern 예시</vt:lpstr>
      <vt:lpstr>[Practice 4] State Pattern 예시 – Class Diagram</vt:lpstr>
      <vt:lpstr>[Practice 4] State Pattern 예시 – State Diagram</vt:lpstr>
      <vt:lpstr>[Practice 4] State Pattern</vt:lpstr>
      <vt:lpstr>[Practice 4] State Pattern (solution)</vt:lpstr>
      <vt:lpstr>[Practice 4] State Pattern (solution)</vt:lpstr>
      <vt:lpstr>2일차</vt:lpstr>
      <vt:lpstr>일정표</vt:lpstr>
      <vt:lpstr>Pattern Review – 1일차 </vt:lpstr>
      <vt:lpstr>Iterator, Mediator Patterns</vt:lpstr>
      <vt:lpstr>Iterator Pattern – Class Diagram</vt:lpstr>
      <vt:lpstr>Iterator Pattern – Class Diagram</vt:lpstr>
      <vt:lpstr>Iterator Pattern – Class Diagram</vt:lpstr>
      <vt:lpstr>[Practice 5-1] Iterator Pattern: Java Iterator 실습</vt:lpstr>
      <vt:lpstr>[Practice 5-1] Iterator Pattern: Java Iterator (solution)</vt:lpstr>
      <vt:lpstr>[Practice 5-1] Iterator Pattern: Java Iterator 실습 (solution)</vt:lpstr>
      <vt:lpstr>[Practice 5-2] Iterator Pattern: Hashtable Iterator</vt:lpstr>
      <vt:lpstr>[Practice 5-2] Iterator Pattern: HashTable Iterator (solution)</vt:lpstr>
      <vt:lpstr>[Practice 5-2] Iterator Pattern: Hashtable Iterator (solution)</vt:lpstr>
      <vt:lpstr>Mediator Pattern – Class Diagram</vt:lpstr>
      <vt:lpstr>[Practice 6] Mediator Pattern</vt:lpstr>
      <vt:lpstr>[Practice 6] Mediator Pattern (solution)</vt:lpstr>
      <vt:lpstr>[필수] 11. Factory Method &amp; Abstract Factory Patterns (55min) 12. Builder (20min) 03. Prototype Pattern (38min)  - 2.2 Design Patterns 이론(추가패턴).pdf  [추가 학습] 13. Singleton (58min)  * 사전 학습 등 DP에 익숙한 분은 영상 시청 없이 바로 Practice  도전! </vt:lpstr>
      <vt:lpstr>Abstract Factory, Factory Method</vt:lpstr>
      <vt:lpstr>Factory Method, Abstract Factory 실습 개요</vt:lpstr>
      <vt:lpstr>SimpleMazeGame 실행</vt:lpstr>
      <vt:lpstr>SimpleMazeGame 실행 – arguments  (IntelliJ)</vt:lpstr>
      <vt:lpstr>SimpleMazeGame 실행 – arguments (vscode)</vt:lpstr>
      <vt:lpstr>Abstract Factory – Class Diagram</vt:lpstr>
      <vt:lpstr>[Practice 7-1] Abstract Factory 기반 Maze Game</vt:lpstr>
      <vt:lpstr>[Practice 7-1] Abstract Factory 기반 Maze Game (solution)</vt:lpstr>
      <vt:lpstr>Factory Method – Class Diagram</vt:lpstr>
      <vt:lpstr>Factory Method – Class Diagram</vt:lpstr>
      <vt:lpstr>[Practice 7-2] Factory Method 기반 Maze Game</vt:lpstr>
      <vt:lpstr>[Practice 7-2] Factory Method 기반 Maze Game (solution)</vt:lpstr>
      <vt:lpstr>Prototype Pattern – Class Diagram</vt:lpstr>
      <vt:lpstr>[Practice 7-3] Prototype 기반 Maze Game</vt:lpstr>
      <vt:lpstr>[Practice 7-3] Prototype 기반 Maze Game 코딩 (solution)</vt:lpstr>
      <vt:lpstr>[필수] 14. Decorator (43min) 15. Adapter (17min) 16. Composite (41min)  [추가 학습] 17. Bridge (51min)  * 사전 학습 등 DP에 익숙한 분은 영상 시청 없이 바로 Practice  도전! </vt:lpstr>
      <vt:lpstr>Decorator, Composite Patterns</vt:lpstr>
      <vt:lpstr>Avoiding Sub-classing for function extension</vt:lpstr>
      <vt:lpstr>Decorator Pattern – Class Diagram</vt:lpstr>
      <vt:lpstr>[Practice 8-1] Decorator : StarbuzzCoffee</vt:lpstr>
      <vt:lpstr>[Practice 8-1] Decorator : StarbuzzCoffee</vt:lpstr>
      <vt:lpstr>[Practice 8-1] Decorator : StarbuzzCoffee (solution)</vt:lpstr>
      <vt:lpstr>[Practice 8-2] Decorator : 새로운 Stream Filter 개발 </vt:lpstr>
      <vt:lpstr>A Sample of Java I/O Decorator</vt:lpstr>
      <vt:lpstr>Run our Java I/O decorator</vt:lpstr>
      <vt:lpstr>[Practice 8-2] Decorator : 새로운 Stream Filter 개발 (solution)</vt:lpstr>
      <vt:lpstr>Composite Pattern – Class Diagram</vt:lpstr>
      <vt:lpstr>[Practice 9] Composite Pattern</vt:lpstr>
      <vt:lpstr>[Practice 9] Composite Pattern (solution)</vt:lpstr>
      <vt:lpstr>[Practice 9] Composite Pattern (solution)</vt:lpstr>
      <vt:lpstr>Pattern Review – 2~3일차 </vt:lpstr>
      <vt:lpstr>3일차</vt:lpstr>
      <vt:lpstr>일정표</vt:lpstr>
      <vt:lpstr>Design Patterns Review</vt:lpstr>
      <vt:lpstr>[필수] 05 Visitor Pattern (71min)   - 2.2 Design Patterns 이론(추가패턴).pdf  [추가 학습] 06. Façade   - 2.2 Design Patterns 이론(추가패턴).pdf 19. Pattern Summary   * 사전 학습 등 DP에 익숙한 분은 영상 시청 없이 바로 Practice  도전! </vt:lpstr>
      <vt:lpstr>Visitor Pattern </vt:lpstr>
      <vt:lpstr>Visitor Pattern – Class Diagram</vt:lpstr>
      <vt:lpstr>Algorithmic Dependencies</vt:lpstr>
      <vt:lpstr>[Practice 11-1] Visitor 추가</vt:lpstr>
      <vt:lpstr>[Practice 11-1] Visitor 추가 (solution)</vt:lpstr>
      <vt:lpstr>[Practice 11-2] Visitor : Element 추가</vt:lpstr>
      <vt:lpstr>[Practice 11-2] Visitor : Element 추가 (solution)</vt:lpstr>
      <vt:lpstr>[Practice 11-3] Visitor : FileFindVisitor 확장</vt:lpstr>
      <vt:lpstr>[Practice 11-3] Visitor : FileFindVisitor 확장 (solution)</vt:lpstr>
      <vt:lpstr>조별 과제  설계패턴 적용</vt:lpstr>
      <vt:lpstr>(작성 안내) 조별과제 Design Pattern 적용 </vt:lpstr>
      <vt:lpstr>(작성 안내) Overall Class diagram</vt:lpstr>
      <vt:lpstr>(작성 안내) Pattern1: Strategy</vt:lpstr>
      <vt:lpstr>[필수] 04 Proxy (64min) 06. Façade (31min)  [추가 학습] 18. MVC (44min) 19. Pattern Summary (35min)   * 사전 학습 등 DP에 익숙한 분은 영상 시청 없이 바로 Practice  도전! </vt:lpstr>
      <vt:lpstr>(조별 과제 발표) 패턴 적용 실습</vt:lpstr>
      <vt:lpstr>과정 정리</vt:lpstr>
      <vt:lpstr>Design Patterns</vt:lpstr>
      <vt:lpstr>Design Pattern 실무에서는</vt:lpstr>
      <vt:lpstr>Design Pattern 실무에서는</vt:lpstr>
      <vt:lpstr>Design Pattern 실무에서는</vt:lpstr>
      <vt:lpstr>Architect 관점의 Design Pattern</vt:lpstr>
      <vt:lpstr>PowerPoint 프레젠테이션</vt:lpstr>
      <vt:lpstr>revision</vt:lpstr>
      <vt:lpstr>revision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강의 제목 입력</dc:title>
  <dc:creator>강혜진</dc:creator>
  <cp:lastModifiedBy>경운 방</cp:lastModifiedBy>
  <cp:revision>677</cp:revision>
  <dcterms:created xsi:type="dcterms:W3CDTF">2021-01-19T01:45:28Z</dcterms:created>
  <dcterms:modified xsi:type="dcterms:W3CDTF">2026-06-27T14:12:03Z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y fmtid="{D5CDD505-2E9C-101B-9397-08002B2CF9AE}" pid="3" name="FLCMData">
    <vt:lpwstr>8ECC06FE12128485CAA94CEA88FE31AE2DD1A4C9027EFDFD90EE026D5BF504FC21088B8DC66CBDD3F948D4BF9AD26B01984A5EF0B0AF71BE12F668D32D90DEAA</vt:lpwstr>
  </property>
</Properties>
</file>